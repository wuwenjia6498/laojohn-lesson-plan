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98" r:id="rId3"/>
    <p:sldId id="286" r:id="rId4"/>
    <p:sldId id="299" r:id="rId5"/>
    <p:sldId id="300" r:id="rId6"/>
    <p:sldId id="301" r:id="rId7"/>
    <p:sldId id="259" r:id="rId8"/>
    <p:sldId id="319" r:id="rId9"/>
    <p:sldId id="287" r:id="rId10"/>
    <p:sldId id="288" r:id="rId11"/>
    <p:sldId id="320" r:id="rId12"/>
    <p:sldId id="302" r:id="rId13"/>
    <p:sldId id="303" r:id="rId14"/>
    <p:sldId id="304" r:id="rId15"/>
    <p:sldId id="305" r:id="rId16"/>
    <p:sldId id="306" r:id="rId17"/>
    <p:sldId id="262" r:id="rId18"/>
    <p:sldId id="263" r:id="rId19"/>
    <p:sldId id="289" r:id="rId20"/>
    <p:sldId id="290" r:id="rId21"/>
    <p:sldId id="291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92" r:id="rId30"/>
    <p:sldId id="275" r:id="rId31"/>
    <p:sldId id="276" r:id="rId33"/>
    <p:sldId id="293" r:id="rId34"/>
    <p:sldId id="294" r:id="rId35"/>
    <p:sldId id="295" r:id="rId36"/>
    <p:sldId id="296" r:id="rId37"/>
    <p:sldId id="316" r:id="rId38"/>
    <p:sldId id="297" r:id="rId39"/>
    <p:sldId id="309" r:id="rId40"/>
    <p:sldId id="314" r:id="rId41"/>
    <p:sldId id="321" r:id="rId42"/>
    <p:sldId id="284" r:id="rId43"/>
    <p:sldId id="285" r:id="rId4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notesMaster" Target="notesMasters/notesMaster1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这三件都是已经做出来的实物，按单元制作，校区可以直接用在招生和家长沟通上。宣传短视频目前是《生活万花筒》一支样片。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9534525"/>
            <a:ext cx="3200400" cy="54768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86300" y="9534525"/>
            <a:ext cx="43434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9534525"/>
            <a:ext cx="3200400" cy="54768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tags" Target="../tags/tag16.xml"/><Relationship Id="rId7" Type="http://schemas.openxmlformats.org/officeDocument/2006/relationships/tags" Target="../tags/tag17.xml"/><Relationship Id="rId8" Type="http://schemas.openxmlformats.org/officeDocument/2006/relationships/tags" Target="../tags/tag18.xml"/><Relationship Id="rId9" Type="http://schemas.openxmlformats.org/officeDocument/2006/relationships/tags" Target="../tags/tag19.xml"/><Relationship Id="rId10" Type="http://schemas.openxmlformats.org/officeDocument/2006/relationships/tags" Target="../tags/tag20.xml"/><Relationship Id="rId11" Type="http://schemas.openxmlformats.org/officeDocument/2006/relationships/tags" Target="../tags/tag21.xml"/><Relationship Id="rId12" Type="http://schemas.openxmlformats.org/officeDocument/2006/relationships/tags" Target="../tags/tag22.xml"/><Relationship Id="rId13" Type="http://schemas.openxmlformats.org/officeDocument/2006/relationships/tags" Target="../tags/tag23.xml"/><Relationship Id="rId14" Type="http://schemas.openxmlformats.org/officeDocument/2006/relationships/tags" Target="../tags/tag24.xml"/><Relationship Id="rId15" Type="http://schemas.openxmlformats.org/officeDocument/2006/relationships/tags" Target="../tags/tag25.xml"/><Relationship Id="rId16" Type="http://schemas.openxmlformats.org/officeDocument/2006/relationships/tags" Target="../tags/tag26.xml"/><Relationship Id="rId17" Type="http://schemas.openxmlformats.org/officeDocument/2006/relationships/tags" Target="../tags/tag27.xml"/><Relationship Id="rId18" Type="http://schemas.openxmlformats.org/officeDocument/2006/relationships/tags" Target="../tags/tag28.xml"/><Relationship Id="rId19" Type="http://schemas.openxmlformats.org/officeDocument/2006/relationships/tags" Target="../tags/tag29.xml"/><Relationship Id="rId20" Type="http://schemas.openxmlformats.org/officeDocument/2006/relationships/tags" Target="../tags/tag30.xml"/><Relationship Id="rId21" Type="http://schemas.openxmlformats.org/officeDocument/2006/relationships/image" Target="../media/image1.png"/><Relationship Id="rId2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Relationship Id="rId8" Type="http://schemas.openxmlformats.org/officeDocument/2006/relationships/image" Target="../media/image1.png"/><Relationship Id="rId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tags" Target="../tags/tag40.xml"/><Relationship Id="rId4" Type="http://schemas.openxmlformats.org/officeDocument/2006/relationships/tags" Target="../tags/tag41.xml"/><Relationship Id="rId5" Type="http://schemas.openxmlformats.org/officeDocument/2006/relationships/tags" Target="../tags/tag42.xml"/><Relationship Id="rId6" Type="http://schemas.openxmlformats.org/officeDocument/2006/relationships/tags" Target="../tags/tag43.xml"/><Relationship Id="rId7" Type="http://schemas.openxmlformats.org/officeDocument/2006/relationships/tags" Target="../tags/tag44.xml"/><Relationship Id="rId8" Type="http://schemas.openxmlformats.org/officeDocument/2006/relationships/tags" Target="../tags/tag45.xml"/><Relationship Id="rId9" Type="http://schemas.openxmlformats.org/officeDocument/2006/relationships/tags" Target="../tags/tag46.xml"/><Relationship Id="rId10" Type="http://schemas.openxmlformats.org/officeDocument/2006/relationships/tags" Target="../tags/tag47.xml"/><Relationship Id="rId11" Type="http://schemas.openxmlformats.org/officeDocument/2006/relationships/tags" Target="../tags/tag48.xml"/><Relationship Id="rId12" Type="http://schemas.openxmlformats.org/officeDocument/2006/relationships/tags" Target="../tags/tag49.xml"/><Relationship Id="rId13" Type="http://schemas.openxmlformats.org/officeDocument/2006/relationships/tags" Target="../tags/tag50.xml"/><Relationship Id="rId14" Type="http://schemas.openxmlformats.org/officeDocument/2006/relationships/tags" Target="../tags/tag51.xml"/><Relationship Id="rId15" Type="http://schemas.openxmlformats.org/officeDocument/2006/relationships/tags" Target="../tags/tag52.xml"/><Relationship Id="rId16" Type="http://schemas.openxmlformats.org/officeDocument/2006/relationships/tags" Target="../tags/tag53.xml"/><Relationship Id="rId17" Type="http://schemas.openxmlformats.org/officeDocument/2006/relationships/image" Target="../media/image1.png"/><Relationship Id="rId1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image" Target="../media/image1.png"/><Relationship Id="rId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tags" Target="../tags/tag83.xml"/><Relationship Id="rId18" Type="http://schemas.openxmlformats.org/officeDocument/2006/relationships/tags" Target="../tags/tag84.xml"/><Relationship Id="rId19" Type="http://schemas.openxmlformats.org/officeDocument/2006/relationships/tags" Target="../tags/tag85.xml"/><Relationship Id="rId20" Type="http://schemas.openxmlformats.org/officeDocument/2006/relationships/tags" Target="../tags/tag86.xml"/><Relationship Id="rId21" Type="http://schemas.openxmlformats.org/officeDocument/2006/relationships/image" Target="../media/image1.png"/><Relationship Id="rId22" Type="http://schemas.openxmlformats.org/officeDocument/2006/relationships/tags" Target="../tags/tag87.xml"/><Relationship Id="rId23" Type="http://schemas.openxmlformats.org/officeDocument/2006/relationships/tags" Target="../tags/tag88.xml"/><Relationship Id="rId24" Type="http://schemas.openxmlformats.org/officeDocument/2006/relationships/tags" Target="../tags/tag89.xml"/><Relationship Id="rId25" Type="http://schemas.openxmlformats.org/officeDocument/2006/relationships/tags" Target="../tags/tag90.xml"/><Relationship Id="rId26" Type="http://schemas.openxmlformats.org/officeDocument/2006/relationships/tags" Target="../tags/tag91.xml"/><Relationship Id="rId27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Relationship Id="rId9" Type="http://schemas.openxmlformats.org/officeDocument/2006/relationships/tags" Target="../tags/tag100.xml"/><Relationship Id="rId10" Type="http://schemas.openxmlformats.org/officeDocument/2006/relationships/tags" Target="../tags/tag101.xml"/><Relationship Id="rId11" Type="http://schemas.openxmlformats.org/officeDocument/2006/relationships/tags" Target="../tags/tag102.xml"/><Relationship Id="rId12" Type="http://schemas.openxmlformats.org/officeDocument/2006/relationships/tags" Target="../tags/tag103.xml"/><Relationship Id="rId13" Type="http://schemas.openxmlformats.org/officeDocument/2006/relationships/tags" Target="../tags/tag104.xml"/><Relationship Id="rId14" Type="http://schemas.openxmlformats.org/officeDocument/2006/relationships/tags" Target="../tags/tag105.xml"/><Relationship Id="rId15" Type="http://schemas.openxmlformats.org/officeDocument/2006/relationships/tags" Target="../tags/tag106.xml"/><Relationship Id="rId16" Type="http://schemas.openxmlformats.org/officeDocument/2006/relationships/tags" Target="../tags/tag107.xml"/><Relationship Id="rId17" Type="http://schemas.openxmlformats.org/officeDocument/2006/relationships/tags" Target="../tags/tag108.xml"/><Relationship Id="rId18" Type="http://schemas.openxmlformats.org/officeDocument/2006/relationships/tags" Target="../tags/tag109.xml"/><Relationship Id="rId19" Type="http://schemas.openxmlformats.org/officeDocument/2006/relationships/tags" Target="../tags/tag110.xml"/><Relationship Id="rId20" Type="http://schemas.openxmlformats.org/officeDocument/2006/relationships/tags" Target="../tags/tag111.xml"/><Relationship Id="rId21" Type="http://schemas.openxmlformats.org/officeDocument/2006/relationships/image" Target="../media/image1.png"/><Relationship Id="rId22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12.xml"/><Relationship Id="rId2" Type="http://schemas.openxmlformats.org/officeDocument/2006/relationships/tags" Target="../tags/tag113.xml"/><Relationship Id="rId3" Type="http://schemas.openxmlformats.org/officeDocument/2006/relationships/tags" Target="../tags/tag114.xml"/><Relationship Id="rId4" Type="http://schemas.openxmlformats.org/officeDocument/2006/relationships/tags" Target="../tags/tag115.xml"/><Relationship Id="rId5" Type="http://schemas.openxmlformats.org/officeDocument/2006/relationships/tags" Target="../tags/tag116.xml"/><Relationship Id="rId6" Type="http://schemas.openxmlformats.org/officeDocument/2006/relationships/tags" Target="../tags/tag117.xml"/><Relationship Id="rId7" Type="http://schemas.openxmlformats.org/officeDocument/2006/relationships/tags" Target="../tags/tag118.xml"/><Relationship Id="rId8" Type="http://schemas.openxmlformats.org/officeDocument/2006/relationships/tags" Target="../tags/tag119.xml"/><Relationship Id="rId9" Type="http://schemas.openxmlformats.org/officeDocument/2006/relationships/tags" Target="../tags/tag120.xml"/><Relationship Id="rId10" Type="http://schemas.openxmlformats.org/officeDocument/2006/relationships/tags" Target="../tags/tag121.xml"/><Relationship Id="rId11" Type="http://schemas.openxmlformats.org/officeDocument/2006/relationships/tags" Target="../tags/tag122.xml"/><Relationship Id="rId12" Type="http://schemas.openxmlformats.org/officeDocument/2006/relationships/tags" Target="../tags/tag123.xml"/><Relationship Id="rId13" Type="http://schemas.openxmlformats.org/officeDocument/2006/relationships/tags" Target="../tags/tag124.xml"/><Relationship Id="rId14" Type="http://schemas.openxmlformats.org/officeDocument/2006/relationships/tags" Target="../tags/tag125.xml"/><Relationship Id="rId15" Type="http://schemas.openxmlformats.org/officeDocument/2006/relationships/tags" Target="../tags/tag126.xml"/><Relationship Id="rId16" Type="http://schemas.openxmlformats.org/officeDocument/2006/relationships/tags" Target="../tags/tag127.xml"/><Relationship Id="rId17" Type="http://schemas.openxmlformats.org/officeDocument/2006/relationships/tags" Target="../tags/tag128.xml"/><Relationship Id="rId18" Type="http://schemas.openxmlformats.org/officeDocument/2006/relationships/tags" Target="../tags/tag129.xml"/><Relationship Id="rId19" Type="http://schemas.openxmlformats.org/officeDocument/2006/relationships/tags" Target="../tags/tag130.xml"/><Relationship Id="rId20" Type="http://schemas.openxmlformats.org/officeDocument/2006/relationships/tags" Target="../tags/tag131.xml"/><Relationship Id="rId21" Type="http://schemas.openxmlformats.org/officeDocument/2006/relationships/image" Target="../media/image1.png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tags" Target="../tags/tag136.xml"/><Relationship Id="rId27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37.xml"/><Relationship Id="rId2" Type="http://schemas.openxmlformats.org/officeDocument/2006/relationships/tags" Target="../tags/tag138.xml"/><Relationship Id="rId3" Type="http://schemas.openxmlformats.org/officeDocument/2006/relationships/tags" Target="../tags/tag139.xml"/><Relationship Id="rId4" Type="http://schemas.openxmlformats.org/officeDocument/2006/relationships/tags" Target="../tags/tag140.xml"/><Relationship Id="rId5" Type="http://schemas.openxmlformats.org/officeDocument/2006/relationships/tags" Target="../tags/tag141.xml"/><Relationship Id="rId6" Type="http://schemas.openxmlformats.org/officeDocument/2006/relationships/tags" Target="../tags/tag142.xml"/><Relationship Id="rId7" Type="http://schemas.openxmlformats.org/officeDocument/2006/relationships/tags" Target="../tags/tag143.xml"/><Relationship Id="rId8" Type="http://schemas.openxmlformats.org/officeDocument/2006/relationships/tags" Target="../tags/tag144.xml"/><Relationship Id="rId9" Type="http://schemas.openxmlformats.org/officeDocument/2006/relationships/tags" Target="../tags/tag145.xml"/><Relationship Id="rId10" Type="http://schemas.openxmlformats.org/officeDocument/2006/relationships/tags" Target="../tags/tag146.xml"/><Relationship Id="rId11" Type="http://schemas.openxmlformats.org/officeDocument/2006/relationships/tags" Target="../tags/tag147.xml"/><Relationship Id="rId12" Type="http://schemas.openxmlformats.org/officeDocument/2006/relationships/tags" Target="../tags/tag148.xml"/><Relationship Id="rId13" Type="http://schemas.openxmlformats.org/officeDocument/2006/relationships/image" Target="../media/image1.png"/><Relationship Id="rId14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49.xml"/><Relationship Id="rId2" Type="http://schemas.openxmlformats.org/officeDocument/2006/relationships/tags" Target="../tags/tag150.xml"/><Relationship Id="rId3" Type="http://schemas.openxmlformats.org/officeDocument/2006/relationships/tags" Target="../tags/tag151.xml"/><Relationship Id="rId4" Type="http://schemas.openxmlformats.org/officeDocument/2006/relationships/tags" Target="../tags/tag152.xml"/><Relationship Id="rId5" Type="http://schemas.openxmlformats.org/officeDocument/2006/relationships/tags" Target="../tags/tag153.xml"/><Relationship Id="rId6" Type="http://schemas.openxmlformats.org/officeDocument/2006/relationships/tags" Target="../tags/tag154.xml"/><Relationship Id="rId7" Type="http://schemas.openxmlformats.org/officeDocument/2006/relationships/tags" Target="../tags/tag155.xml"/><Relationship Id="rId8" Type="http://schemas.openxmlformats.org/officeDocument/2006/relationships/tags" Target="../tags/tag156.xml"/><Relationship Id="rId9" Type="http://schemas.openxmlformats.org/officeDocument/2006/relationships/tags" Target="../tags/tag157.xml"/><Relationship Id="rId10" Type="http://schemas.openxmlformats.org/officeDocument/2006/relationships/tags" Target="../tags/tag158.xml"/><Relationship Id="rId11" Type="http://schemas.openxmlformats.org/officeDocument/2006/relationships/tags" Target="../tags/tag159.xml"/><Relationship Id="rId12" Type="http://schemas.openxmlformats.org/officeDocument/2006/relationships/tags" Target="../tags/tag160.xml"/><Relationship Id="rId13" Type="http://schemas.openxmlformats.org/officeDocument/2006/relationships/tags" Target="../tags/tag161.xml"/><Relationship Id="rId14" Type="http://schemas.openxmlformats.org/officeDocument/2006/relationships/tags" Target="../tags/tag162.xml"/><Relationship Id="rId15" Type="http://schemas.openxmlformats.org/officeDocument/2006/relationships/tags" Target="../tags/tag163.xml"/><Relationship Id="rId16" Type="http://schemas.openxmlformats.org/officeDocument/2006/relationships/tags" Target="../tags/tag164.xml"/><Relationship Id="rId17" Type="http://schemas.openxmlformats.org/officeDocument/2006/relationships/tags" Target="../tags/tag165.xml"/><Relationship Id="rId18" Type="http://schemas.openxmlformats.org/officeDocument/2006/relationships/tags" Target="../tags/tag166.xml"/><Relationship Id="rId19" Type="http://schemas.openxmlformats.org/officeDocument/2006/relationships/tags" Target="../tags/tag167.xml"/><Relationship Id="rId20" Type="http://schemas.openxmlformats.org/officeDocument/2006/relationships/tags" Target="../tags/tag168.xml"/><Relationship Id="rId21" Type="http://schemas.openxmlformats.org/officeDocument/2006/relationships/image" Target="../media/image1.png"/><Relationship Id="rId22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tags" Target="../tags/tag173.xml"/><Relationship Id="rId7" Type="http://schemas.openxmlformats.org/officeDocument/2006/relationships/tags" Target="../tags/tag174.xml"/><Relationship Id="rId8" Type="http://schemas.openxmlformats.org/officeDocument/2006/relationships/image" Target="../media/image1.png"/><Relationship Id="rId9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tags" Target="../tags/tag179.xml"/><Relationship Id="rId6" Type="http://schemas.openxmlformats.org/officeDocument/2006/relationships/tags" Target="../tags/tag180.xml"/><Relationship Id="rId7" Type="http://schemas.openxmlformats.org/officeDocument/2006/relationships/tags" Target="../tags/tag181.xml"/><Relationship Id="rId8" Type="http://schemas.openxmlformats.org/officeDocument/2006/relationships/tags" Target="../tags/tag182.xml"/><Relationship Id="rId9" Type="http://schemas.openxmlformats.org/officeDocument/2006/relationships/tags" Target="../tags/tag183.xml"/><Relationship Id="rId10" Type="http://schemas.openxmlformats.org/officeDocument/2006/relationships/tags" Target="../tags/tag184.xml"/><Relationship Id="rId11" Type="http://schemas.openxmlformats.org/officeDocument/2006/relationships/tags" Target="../tags/tag185.xml"/><Relationship Id="rId12" Type="http://schemas.openxmlformats.org/officeDocument/2006/relationships/tags" Target="../tags/tag186.xml"/><Relationship Id="rId13" Type="http://schemas.openxmlformats.org/officeDocument/2006/relationships/tags" Target="../tags/tag187.xml"/><Relationship Id="rId14" Type="http://schemas.openxmlformats.org/officeDocument/2006/relationships/tags" Target="../tags/tag188.xml"/><Relationship Id="rId15" Type="http://schemas.openxmlformats.org/officeDocument/2006/relationships/tags" Target="../tags/tag189.xml"/><Relationship Id="rId16" Type="http://schemas.openxmlformats.org/officeDocument/2006/relationships/tags" Target="../tags/tag190.xml"/><Relationship Id="rId17" Type="http://schemas.openxmlformats.org/officeDocument/2006/relationships/image" Target="../media/image1.png"/><Relationship Id="rId18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191.xml"/><Relationship Id="rId2" Type="http://schemas.openxmlformats.org/officeDocument/2006/relationships/tags" Target="../tags/tag192.xml"/><Relationship Id="rId3" Type="http://schemas.openxmlformats.org/officeDocument/2006/relationships/tags" Target="../tags/tag193.xml"/><Relationship Id="rId4" Type="http://schemas.openxmlformats.org/officeDocument/2006/relationships/tags" Target="../tags/tag194.xml"/><Relationship Id="rId5" Type="http://schemas.openxmlformats.org/officeDocument/2006/relationships/tags" Target="../tags/tag195.xml"/><Relationship Id="rId6" Type="http://schemas.openxmlformats.org/officeDocument/2006/relationships/tags" Target="../tags/tag196.xml"/><Relationship Id="rId7" Type="http://schemas.openxmlformats.org/officeDocument/2006/relationships/tags" Target="../tags/tag197.xml"/><Relationship Id="rId8" Type="http://schemas.openxmlformats.org/officeDocument/2006/relationships/tags" Target="../tags/tag198.xml"/><Relationship Id="rId9" Type="http://schemas.openxmlformats.org/officeDocument/2006/relationships/tags" Target="../tags/tag199.xml"/><Relationship Id="rId10" Type="http://schemas.openxmlformats.org/officeDocument/2006/relationships/tags" Target="../tags/tag200.xml"/><Relationship Id="rId11" Type="http://schemas.openxmlformats.org/officeDocument/2006/relationships/tags" Target="../tags/tag201.xml"/><Relationship Id="rId12" Type="http://schemas.openxmlformats.org/officeDocument/2006/relationships/tags" Target="../tags/tag202.xml"/><Relationship Id="rId13" Type="http://schemas.openxmlformats.org/officeDocument/2006/relationships/tags" Target="../tags/tag203.xml"/><Relationship Id="rId14" Type="http://schemas.openxmlformats.org/officeDocument/2006/relationships/tags" Target="../tags/tag204.xml"/><Relationship Id="rId15" Type="http://schemas.openxmlformats.org/officeDocument/2006/relationships/tags" Target="../tags/tag205.xml"/><Relationship Id="rId16" Type="http://schemas.openxmlformats.org/officeDocument/2006/relationships/tags" Target="../tags/tag206.xml"/><Relationship Id="rId17" Type="http://schemas.openxmlformats.org/officeDocument/2006/relationships/tags" Target="../tags/tag207.xml"/><Relationship Id="rId18" Type="http://schemas.openxmlformats.org/officeDocument/2006/relationships/tags" Target="../tags/tag208.xml"/><Relationship Id="rId19" Type="http://schemas.openxmlformats.org/officeDocument/2006/relationships/tags" Target="../tags/tag209.xml"/><Relationship Id="rId20" Type="http://schemas.openxmlformats.org/officeDocument/2006/relationships/tags" Target="../tags/tag210.xml"/><Relationship Id="rId21" Type="http://schemas.openxmlformats.org/officeDocument/2006/relationships/image" Target="../media/image1.png"/><Relationship Id="rId22" Type="http://schemas.openxmlformats.org/officeDocument/2006/relationships/tags" Target="../tags/tag211.xml"/><Relationship Id="rId23" Type="http://schemas.openxmlformats.org/officeDocument/2006/relationships/tags" Target="../tags/tag212.xml"/><Relationship Id="rId24" Type="http://schemas.openxmlformats.org/officeDocument/2006/relationships/tags" Target="../tags/tag213.xml"/><Relationship Id="rId25" Type="http://schemas.openxmlformats.org/officeDocument/2006/relationships/tags" Target="../tags/tag214.xml"/><Relationship Id="rId26" Type="http://schemas.openxmlformats.org/officeDocument/2006/relationships/tags" Target="../tags/tag215.xml"/><Relationship Id="rId27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216.xml"/><Relationship Id="rId2" Type="http://schemas.openxmlformats.org/officeDocument/2006/relationships/tags" Target="../tags/tag217.xml"/><Relationship Id="rId3" Type="http://schemas.openxmlformats.org/officeDocument/2006/relationships/tags" Target="../tags/tag218.xml"/><Relationship Id="rId4" Type="http://schemas.openxmlformats.org/officeDocument/2006/relationships/tags" Target="../tags/tag219.xml"/><Relationship Id="rId5" Type="http://schemas.openxmlformats.org/officeDocument/2006/relationships/tags" Target="../tags/tag220.xml"/><Relationship Id="rId6" Type="http://schemas.openxmlformats.org/officeDocument/2006/relationships/tags" Target="../tags/tag221.xml"/><Relationship Id="rId7" Type="http://schemas.openxmlformats.org/officeDocument/2006/relationships/image" Target="../media/image1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222.xml"/><Relationship Id="rId2" Type="http://schemas.openxmlformats.org/officeDocument/2006/relationships/tags" Target="../tags/tag223.xml"/><Relationship Id="rId3" Type="http://schemas.openxmlformats.org/officeDocument/2006/relationships/tags" Target="../tags/tag224.xml"/><Relationship Id="rId4" Type="http://schemas.openxmlformats.org/officeDocument/2006/relationships/tags" Target="../tags/tag225.xml"/><Relationship Id="rId5" Type="http://schemas.openxmlformats.org/officeDocument/2006/relationships/tags" Target="../tags/tag226.xml"/><Relationship Id="rId6" Type="http://schemas.openxmlformats.org/officeDocument/2006/relationships/tags" Target="../tags/tag227.xml"/><Relationship Id="rId7" Type="http://schemas.openxmlformats.org/officeDocument/2006/relationships/tags" Target="../tags/tag228.xml"/><Relationship Id="rId8" Type="http://schemas.openxmlformats.org/officeDocument/2006/relationships/tags" Target="../tags/tag229.xml"/><Relationship Id="rId9" Type="http://schemas.openxmlformats.org/officeDocument/2006/relationships/tags" Target="../tags/tag230.xml"/><Relationship Id="rId10" Type="http://schemas.openxmlformats.org/officeDocument/2006/relationships/tags" Target="../tags/tag231.xml"/><Relationship Id="rId11" Type="http://schemas.openxmlformats.org/officeDocument/2006/relationships/tags" Target="../tags/tag232.xml"/><Relationship Id="rId12" Type="http://schemas.openxmlformats.org/officeDocument/2006/relationships/tags" Target="../tags/tag233.xml"/><Relationship Id="rId13" Type="http://schemas.openxmlformats.org/officeDocument/2006/relationships/tags" Target="../tags/tag234.xml"/><Relationship Id="rId14" Type="http://schemas.openxmlformats.org/officeDocument/2006/relationships/tags" Target="../tags/tag235.xml"/><Relationship Id="rId15" Type="http://schemas.openxmlformats.org/officeDocument/2006/relationships/tags" Target="../tags/tag236.xml"/><Relationship Id="rId16" Type="http://schemas.openxmlformats.org/officeDocument/2006/relationships/tags" Target="../tags/tag237.xml"/><Relationship Id="rId17" Type="http://schemas.openxmlformats.org/officeDocument/2006/relationships/tags" Target="../tags/tag238.xml"/><Relationship Id="rId18" Type="http://schemas.openxmlformats.org/officeDocument/2006/relationships/tags" Target="../tags/tag239.xml"/><Relationship Id="rId19" Type="http://schemas.openxmlformats.org/officeDocument/2006/relationships/tags" Target="../tags/tag240.xml"/><Relationship Id="rId20" Type="http://schemas.openxmlformats.org/officeDocument/2006/relationships/tags" Target="../tags/tag241.xml"/><Relationship Id="rId21" Type="http://schemas.openxmlformats.org/officeDocument/2006/relationships/image" Target="../media/image1.png"/><Relationship Id="rId22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242.xml"/><Relationship Id="rId2" Type="http://schemas.openxmlformats.org/officeDocument/2006/relationships/tags" Target="../tags/tag243.xml"/><Relationship Id="rId3" Type="http://schemas.openxmlformats.org/officeDocument/2006/relationships/tags" Target="../tags/tag244.xml"/><Relationship Id="rId4" Type="http://schemas.openxmlformats.org/officeDocument/2006/relationships/tags" Target="../tags/tag245.xml"/><Relationship Id="rId5" Type="http://schemas.openxmlformats.org/officeDocument/2006/relationships/tags" Target="../tags/tag246.xml"/><Relationship Id="rId6" Type="http://schemas.openxmlformats.org/officeDocument/2006/relationships/tags" Target="../tags/tag247.xml"/><Relationship Id="rId7" Type="http://schemas.openxmlformats.org/officeDocument/2006/relationships/tags" Target="../tags/tag248.xml"/><Relationship Id="rId8" Type="http://schemas.openxmlformats.org/officeDocument/2006/relationships/tags" Target="../tags/tag249.xml"/><Relationship Id="rId9" Type="http://schemas.openxmlformats.org/officeDocument/2006/relationships/tags" Target="../tags/tag250.xml"/><Relationship Id="rId10" Type="http://schemas.openxmlformats.org/officeDocument/2006/relationships/tags" Target="../tags/tag251.xml"/><Relationship Id="rId11" Type="http://schemas.openxmlformats.org/officeDocument/2006/relationships/tags" Target="../tags/tag252.xml"/><Relationship Id="rId12" Type="http://schemas.openxmlformats.org/officeDocument/2006/relationships/tags" Target="../tags/tag253.xml"/><Relationship Id="rId13" Type="http://schemas.openxmlformats.org/officeDocument/2006/relationships/tags" Target="../tags/tag254.xml"/><Relationship Id="rId14" Type="http://schemas.openxmlformats.org/officeDocument/2006/relationships/tags" Target="../tags/tag255.xml"/><Relationship Id="rId15" Type="http://schemas.openxmlformats.org/officeDocument/2006/relationships/tags" Target="../tags/tag256.xml"/><Relationship Id="rId16" Type="http://schemas.openxmlformats.org/officeDocument/2006/relationships/image" Target="../media/image1.png"/><Relationship Id="rId17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143000" y="2924175"/>
            <a:ext cx="457200" cy="762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4" name="Text 4"/>
          <p:cNvSpPr/>
          <p:nvPr/>
        </p:nvSpPr>
        <p:spPr>
          <a:xfrm>
            <a:off x="1104900" y="4229100"/>
            <a:ext cx="160020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525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三到六年级 · 与教材单元同步的写作课程</a:t>
            </a:r>
            <a:endParaRPr lang="en-US" sz="1950" b="1" dirty="0"/>
          </a:p>
        </p:txBody>
      </p:sp>
      <p:sp>
        <p:nvSpPr>
          <p:cNvPr id="5" name="Text 5"/>
          <p:cNvSpPr/>
          <p:nvPr/>
        </p:nvSpPr>
        <p:spPr>
          <a:xfrm>
            <a:off x="1066800" y="5048250"/>
            <a:ext cx="16078200" cy="2381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0" b="1" kern="0" spc="-93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老约翰 ·同步写作</a:t>
            </a:r>
            <a:r>
              <a:rPr lang="zh-CN" altLang="en-US" sz="9300" b="1" kern="0" spc="-93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课程介绍</a:t>
            </a:r>
            <a:endParaRPr lang="zh-CN" altLang="en-US" sz="9300" b="1" kern="0" spc="-93" dirty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43000"/>
            <a:ext cx="2048182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451455" y="632460"/>
            <a:ext cx="1845945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672471"/>
            <a:ext cx="163830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00" name="Text 5"/>
          <p:cNvSpPr/>
          <p:nvPr>
            <p:custDataLst>
              <p:tags r:id="rId2"/>
            </p:custDataLst>
          </p:nvPr>
        </p:nvSpPr>
        <p:spPr>
          <a:xfrm>
            <a:off x="914400" y="2500000"/>
            <a:ext cx="1219200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450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</a:t>
            </a:r>
            <a:endParaRPr lang="en-US" sz="4500" dirty="0"/>
          </a:p>
        </p:txBody>
      </p:sp>
      <p:sp>
        <p:nvSpPr>
          <p:cNvPr id="101" name="Text 6"/>
          <p:cNvSpPr/>
          <p:nvPr>
            <p:custDataLst>
              <p:tags r:id="rId3"/>
            </p:custDataLst>
          </p:nvPr>
        </p:nvSpPr>
        <p:spPr>
          <a:xfrm>
            <a:off x="2438400" y="2595245"/>
            <a:ext cx="4478020" cy="590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课程定位与内容</a:t>
            </a:r>
            <a:endParaRPr lang="en-US" sz="3000" dirty="0"/>
          </a:p>
        </p:txBody>
      </p:sp>
      <p:sp>
        <p:nvSpPr>
          <p:cNvPr id="102" name="Text 7"/>
          <p:cNvSpPr/>
          <p:nvPr/>
        </p:nvSpPr>
        <p:spPr>
          <a:xfrm>
            <a:off x="10058400" y="2690500"/>
            <a:ext cx="796290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pitchFamily="34" charset="-120"/>
                <a:sym typeface="+mn-ea"/>
              </a:rPr>
              <a:t>儿童阅读推广十多年</a:t>
            </a:r>
            <a:r>
              <a:rPr 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的反馈</a:t>
            </a:r>
            <a:r>
              <a:rPr lang="zh-CN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；</a:t>
            </a:r>
            <a:r>
              <a:rPr 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这门课教什么</a:t>
            </a:r>
            <a:endParaRPr lang="en-US" sz="22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914400" y="3480000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04" name="Text 5"/>
          <p:cNvSpPr/>
          <p:nvPr>
            <p:custDataLst>
              <p:tags r:id="rId4"/>
            </p:custDataLst>
          </p:nvPr>
        </p:nvSpPr>
        <p:spPr>
          <a:xfrm>
            <a:off x="914400" y="3800000"/>
            <a:ext cx="1219200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450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4500" dirty="0"/>
          </a:p>
        </p:txBody>
      </p:sp>
      <p:sp>
        <p:nvSpPr>
          <p:cNvPr id="105" name="Text 6"/>
          <p:cNvSpPr/>
          <p:nvPr>
            <p:custDataLst>
              <p:tags r:id="rId5"/>
            </p:custDataLst>
          </p:nvPr>
        </p:nvSpPr>
        <p:spPr>
          <a:xfrm>
            <a:off x="2438400" y="3895250"/>
            <a:ext cx="7962900" cy="590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dirty="0"/>
              <a:t>写作教学的基本方法</a:t>
            </a:r>
            <a:endParaRPr lang="zh-CN" altLang="en-US" sz="3000" dirty="0"/>
          </a:p>
        </p:txBody>
      </p:sp>
      <p:sp>
        <p:nvSpPr>
          <p:cNvPr id="107" name="Shape 4"/>
          <p:cNvSpPr/>
          <p:nvPr/>
        </p:nvSpPr>
        <p:spPr>
          <a:xfrm>
            <a:off x="914400" y="4780000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08" name="Text 5"/>
          <p:cNvSpPr/>
          <p:nvPr>
            <p:custDataLst>
              <p:tags r:id="rId6"/>
            </p:custDataLst>
          </p:nvPr>
        </p:nvSpPr>
        <p:spPr>
          <a:xfrm>
            <a:off x="914400" y="5100000"/>
            <a:ext cx="1219200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450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4500" dirty="0"/>
          </a:p>
        </p:txBody>
      </p:sp>
      <p:sp>
        <p:nvSpPr>
          <p:cNvPr id="109" name="Text 6"/>
          <p:cNvSpPr/>
          <p:nvPr>
            <p:custDataLst>
              <p:tags r:id="rId7"/>
            </p:custDataLst>
          </p:nvPr>
        </p:nvSpPr>
        <p:spPr>
          <a:xfrm>
            <a:off x="2438400" y="5195250"/>
            <a:ext cx="7962900" cy="590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写作</a:t>
            </a:r>
            <a:r>
              <a:rPr 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课的上法</a:t>
            </a:r>
            <a:endParaRPr lang="en-US" sz="3000" dirty="0"/>
          </a:p>
        </p:txBody>
      </p:sp>
      <p:sp>
        <p:nvSpPr>
          <p:cNvPr id="111" name="Shape 4"/>
          <p:cNvSpPr/>
          <p:nvPr/>
        </p:nvSpPr>
        <p:spPr>
          <a:xfrm>
            <a:off x="914400" y="6080000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12" name="Text 5"/>
          <p:cNvSpPr/>
          <p:nvPr>
            <p:custDataLst>
              <p:tags r:id="rId8"/>
            </p:custDataLst>
          </p:nvPr>
        </p:nvSpPr>
        <p:spPr>
          <a:xfrm>
            <a:off x="914400" y="6400000"/>
            <a:ext cx="1219200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450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</a:t>
            </a:r>
            <a:endParaRPr lang="en-US" sz="4500" dirty="0"/>
          </a:p>
        </p:txBody>
      </p:sp>
      <p:sp>
        <p:nvSpPr>
          <p:cNvPr id="113" name="Text 6"/>
          <p:cNvSpPr/>
          <p:nvPr>
            <p:custDataLst>
              <p:tags r:id="rId9"/>
            </p:custDataLst>
          </p:nvPr>
        </p:nvSpPr>
        <p:spPr>
          <a:xfrm>
            <a:off x="2438400" y="6495250"/>
            <a:ext cx="7962900" cy="590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课程文件</a:t>
            </a:r>
            <a:r>
              <a:rPr 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与</a:t>
            </a:r>
            <a:r>
              <a:rPr lang="zh-CN" alt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习作</a:t>
            </a:r>
            <a:r>
              <a:rPr 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批改</a:t>
            </a:r>
            <a:endParaRPr lang="en-US" sz="3000" dirty="0"/>
          </a:p>
        </p:txBody>
      </p:sp>
      <p:sp>
        <p:nvSpPr>
          <p:cNvPr id="114" name="Text 7"/>
          <p:cNvSpPr/>
          <p:nvPr/>
        </p:nvSpPr>
        <p:spPr>
          <a:xfrm>
            <a:off x="10058400" y="6590500"/>
            <a:ext cx="796290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详案、课件PPT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及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三份配套；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习作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拍照上传，逐份生成批语</a:t>
            </a:r>
            <a:endParaRPr lang="en-US" sz="2250" dirty="0"/>
          </a:p>
        </p:txBody>
      </p:sp>
      <p:sp>
        <p:nvSpPr>
          <p:cNvPr id="115" name="Shape 4"/>
          <p:cNvSpPr/>
          <p:nvPr/>
        </p:nvSpPr>
        <p:spPr>
          <a:xfrm>
            <a:off x="914400" y="7380000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16" name="Text 5"/>
          <p:cNvSpPr/>
          <p:nvPr>
            <p:custDataLst>
              <p:tags r:id="rId10"/>
            </p:custDataLst>
          </p:nvPr>
        </p:nvSpPr>
        <p:spPr>
          <a:xfrm>
            <a:off x="914400" y="7700000"/>
            <a:ext cx="1219200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450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</a:t>
            </a:r>
            <a:endParaRPr lang="en-US" sz="4500" dirty="0"/>
          </a:p>
        </p:txBody>
      </p:sp>
      <p:sp>
        <p:nvSpPr>
          <p:cNvPr id="117" name="Text 6"/>
          <p:cNvSpPr/>
          <p:nvPr>
            <p:custDataLst>
              <p:tags r:id="rId11"/>
            </p:custDataLst>
          </p:nvPr>
        </p:nvSpPr>
        <p:spPr>
          <a:xfrm>
            <a:off x="2438400" y="7795250"/>
            <a:ext cx="7962900" cy="590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怎么用这门课</a:t>
            </a:r>
            <a:endParaRPr lang="en-US" sz="3000" dirty="0"/>
          </a:p>
        </p:txBody>
      </p:sp>
      <p:sp>
        <p:nvSpPr>
          <p:cNvPr id="118" name="Text 7"/>
          <p:cNvSpPr/>
          <p:nvPr/>
        </p:nvSpPr>
        <p:spPr>
          <a:xfrm>
            <a:off x="10058400" y="7890500"/>
            <a:ext cx="796290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三种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用法与补充说明</a:t>
            </a:r>
            <a:endParaRPr lang="en-US" sz="2250" dirty="0"/>
          </a:p>
        </p:txBody>
      </p:sp>
      <p:sp>
        <p:nvSpPr>
          <p:cNvPr id="119" name="Shape 4"/>
          <p:cNvSpPr/>
          <p:nvPr/>
        </p:nvSpPr>
        <p:spPr>
          <a:xfrm>
            <a:off x="914400" y="8680000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3" name="Text 7"/>
          <p:cNvSpPr/>
          <p:nvPr/>
        </p:nvSpPr>
        <p:spPr>
          <a:xfrm>
            <a:off x="10058400" y="3990500"/>
            <a:ext cx="796290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lnSpc>
                <a:spcPct val="10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作文的生成过程、常用技法、结构章法与常见问题</a:t>
            </a:r>
            <a:endParaRPr lang="en-US" sz="2250" dirty="0"/>
          </a:p>
        </p:txBody>
      </p:sp>
      <p:sp>
        <p:nvSpPr>
          <p:cNvPr id="4" name="Text 7"/>
          <p:cNvSpPr/>
          <p:nvPr/>
        </p:nvSpPr>
        <p:spPr>
          <a:xfrm>
            <a:off x="10058400" y="5290500"/>
            <a:ext cx="796290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lnSpc>
                <a:spcPct val="10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如何把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写作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方法落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到两节连排的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作文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堂</a:t>
            </a:r>
            <a:endParaRPr lang="zh-CN" altLang="en-US" sz="2250" dirty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228975"/>
            <a:ext cx="18105120" cy="1752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15000" b="1" kern="0" spc="-4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914400" y="5172075"/>
            <a:ext cx="8782685" cy="1247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课程定位与内容</a:t>
            </a:r>
            <a:endParaRPr lang="en-US" sz="66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2454255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开发源由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247775"/>
            <a:ext cx="15910560" cy="865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4500" b="1" dirty="0">
                <a:solidFill>
                  <a:srgbClr val="1C3D5A"/>
                </a:solidFill>
                <a:cs typeface="微软雅黑" panose="020B0503020204020204" pitchFamily="34" charset="-120"/>
                <a:sym typeface="+mn-ea"/>
              </a:rPr>
              <a:t>儿童阅读推广十多年</a:t>
            </a:r>
            <a:r>
              <a:rPr lang="en-US" sz="4500" b="1" dirty="0">
                <a:solidFill>
                  <a:srgbClr val="1C3D5A"/>
                </a:solidFill>
                <a:cs typeface="微软雅黑" panose="020B0503020204020204" pitchFamily="34" charset="-120"/>
                <a:sym typeface="+mn-ea"/>
              </a:rPr>
              <a:t>的反馈</a:t>
            </a:r>
            <a:r>
              <a:rPr sz="4500" b="1" i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，指向同一个需求</a:t>
            </a:r>
            <a:endParaRPr sz="4500" b="1" i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209800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2571750"/>
            <a:ext cx="15910560" cy="110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zh-CN" altLang="en-US"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老约翰推广儿童阅读十五年，包括绘本阅读、桥梁书、小学整本书阅读，很多</a:t>
            </a:r>
            <a:r>
              <a:rPr lang="zh-CN" altLang="en-US"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家长关心的是：孩子读了这么多书，这些积累怎样才能转化为语文课里的阅读能力和写作能力？</a:t>
            </a:r>
            <a:endParaRPr lang="zh-CN" altLang="en-US"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3999421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92149" y="4362037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92149" y="4401090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9181" y="5128246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阅读为写作打底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9360" y="5998210"/>
            <a:ext cx="3117850" cy="2215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读书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积累的素材、语感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思考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和生命成长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变成深厚的写作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底子，这份提升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很重要，但缓慢。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983480" y="3999421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5261229" y="4362037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5261229" y="4401090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5298261" y="5128246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家长的诉求很直接</a:t>
            </a:r>
            <a:endParaRPr lang="zh-CN"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5298261" y="599840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校内写作要求与升学压力之下，家长最直接的衡量标准，仍是单元习作与作文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的提升。</a:t>
            </a:r>
            <a:endParaRPr lang="zh-CN"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9052560" y="3999421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9330309" y="4362037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9330309" y="4401090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9367341" y="5128246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校内习作需对应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9367341" y="599840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整本书阅读的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书目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和学习目标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，难以直接对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应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上单元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习作的写作。</a:t>
            </a:r>
            <a:endParaRPr lang="zh-CN"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3121640" y="3999421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3399389" y="4362037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3399389" y="4401090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3436421" y="5128246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阅读积累</a:t>
            </a:r>
            <a:r>
              <a:rPr lang="zh-CN"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的转化</a:t>
            </a:r>
            <a:endParaRPr lang="zh-CN"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13436421" y="5998527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把阅读积累转化为单元习作的提升，需要系统地学习写作方法。</a:t>
            </a:r>
            <a:endParaRPr lang="zh-CN" altLang="en-US"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762762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课程定位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7620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阅读与写作，各归其位、相互支撑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14400" y="2209800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2571750"/>
            <a:ext cx="1471612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老约翰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总部单独开发校内同步写作课程：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完全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与统编教材习作单元对应，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讲授写作技法。</a:t>
            </a:r>
            <a:endParaRPr lang="en-US" sz="2250" dirty="0"/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914400" y="3495180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1230630" y="3792360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读书会 · 深度阅读</a:t>
            </a:r>
            <a:endParaRPr lang="en-US" sz="255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1475740" y="4587240"/>
            <a:ext cx="7534910" cy="8108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整本书</a:t>
            </a:r>
            <a:r>
              <a:rPr lang="zh-CN" alt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深度</a:t>
            </a: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阅读，</a:t>
            </a:r>
            <a:r>
              <a:rPr lang="zh-CN" alt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是在阅读经典童书的同时，重点</a:t>
            </a: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培养</a:t>
            </a:r>
            <a:r>
              <a:rPr lang="zh-CN" alt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长文本</a:t>
            </a: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</a:t>
            </a:r>
            <a:r>
              <a:rPr lang="zh-CN" alt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能力、掌握整本书阅读方法和策略；学习</a:t>
            </a: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思辨</a:t>
            </a:r>
            <a:r>
              <a:rPr lang="zh-CN" alt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和表达</a:t>
            </a: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zh-CN" altLang="en-US" sz="2100" dirty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1304925" y="5190630"/>
            <a:ext cx="7534910" cy="9486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21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9277350" y="3588525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9667875" y="3940950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同步写作 · 校内习作</a:t>
            </a:r>
            <a:endParaRPr lang="en-US" sz="255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9667875" y="4578985"/>
            <a:ext cx="7534910" cy="1131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sz="2100">
                <a:solidFill>
                  <a:srgbClr val="55514A"/>
                </a:solidFill>
                <a:sym typeface="+mn-ea"/>
              </a:rPr>
              <a:t>跟随</a:t>
            </a:r>
            <a:r>
              <a:rPr lang="zh-CN" sz="2100">
                <a:solidFill>
                  <a:srgbClr val="55514A"/>
                </a:solidFill>
                <a:sym typeface="+mn-ea"/>
              </a:rPr>
              <a:t>语文</a:t>
            </a:r>
            <a:r>
              <a:rPr sz="2100">
                <a:solidFill>
                  <a:srgbClr val="55514A"/>
                </a:solidFill>
                <a:sym typeface="+mn-ea"/>
              </a:rPr>
              <a:t>教材习作单元，训练审题、选材、构思、表达与修改。</a:t>
            </a:r>
            <a:endParaRPr sz="2100">
              <a:solidFill>
                <a:srgbClr val="55514A"/>
              </a:solidFill>
              <a:sym typeface="+mn-ea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zh-CN" alt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学会</a:t>
            </a:r>
            <a:r>
              <a:rPr 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校内</a:t>
            </a:r>
            <a:r>
              <a:rPr lang="zh-CN" alt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同步</a:t>
            </a:r>
            <a:r>
              <a:rPr 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习作</a:t>
            </a:r>
            <a:r>
              <a:rPr lang="zh-CN" alt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写作的方法</a:t>
            </a:r>
            <a:r>
              <a:rPr 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。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43585" y="6728878"/>
            <a:ext cx="16459200" cy="2087761"/>
          </a:xfrm>
          <a:prstGeom prst="rect">
            <a:avLst/>
          </a:prstGeom>
          <a:solidFill>
            <a:srgbClr val="1C3D5A"/>
          </a:solidFill>
        </p:spPr>
        <p:txBody>
          <a:bodyPr/>
          <a:p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16" name="Text 13"/>
          <p:cNvSpPr/>
          <p:nvPr/>
        </p:nvSpPr>
        <p:spPr>
          <a:xfrm>
            <a:off x="1295400" y="7032625"/>
            <a:ext cx="15697200" cy="1729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阅读课不加入写作技法教学，写作课不讲整本书</a:t>
            </a:r>
            <a:r>
              <a:rPr lang="zh-CN" alt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阅读。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两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门课各有目标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，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又有机融合。多读书、会读书是基础，写作自有方法。</a:t>
            </a:r>
            <a:endParaRPr lang="zh-CN" altLang="en-US" sz="2100" dirty="0">
              <a:solidFill>
                <a:srgbClr val="FFFFFF"/>
              </a:solidFill>
              <a:cs typeface="微软雅黑" panose="020B0503020204020204" pitchFamily="34" charset="-120"/>
              <a:sym typeface="+mn-ea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28B7F"/>
                </a:solidFill>
                <a:cs typeface="微软雅黑" panose="020B0503020204020204" pitchFamily="34" charset="-120"/>
                <a:sym typeface="+mn-ea"/>
              </a:rPr>
              <a:t>特别提醒：</a:t>
            </a:r>
            <a:r>
              <a:rPr lang="zh-CN" altLang="en-US" sz="2100" dirty="0">
                <a:solidFill>
                  <a:srgbClr val="F28B7F"/>
                </a:solidFill>
                <a:cs typeface="微软雅黑" panose="020B0503020204020204" pitchFamily="34" charset="-120"/>
                <a:sym typeface="+mn-ea"/>
              </a:rPr>
              <a:t>双减后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各地对写作类课程的开设要求不尽相同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；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排课和对外招生之前，先了解当地相关规定，结合自身情况选择合适的开课形式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。</a:t>
            </a:r>
            <a:endParaRPr lang="en-US" sz="2100" dirty="0"/>
          </a:p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295400" y="7573398"/>
            <a:ext cx="1569720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565785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课程规模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5657850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一条完整的课程序列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914400" y="2209800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2571750"/>
            <a:ext cx="12753975" cy="5561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从三年级上册第一个单元起，到六年级下册最后一个单元。</a:t>
            </a:r>
            <a:endParaRPr lang="en-US" sz="2400" dirty="0"/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914400" y="3699421"/>
            <a:ext cx="3914775" cy="348406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1266825" y="4168051"/>
            <a:ext cx="3530918" cy="11010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6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9300" b="1" kern="0" spc="-279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63</a:t>
            </a:r>
            <a:endParaRPr lang="en-US" sz="930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1266825" y="5343376"/>
            <a:ext cx="3530918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个习作任务</a:t>
            </a:r>
            <a:endParaRPr lang="en-US" sz="255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1266825" y="5962501"/>
            <a:ext cx="353091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5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三上至六下，一个单元对应一课</a:t>
            </a:r>
            <a:endParaRPr lang="en-US" sz="195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5095875" y="3699421"/>
            <a:ext cx="3914775" cy="348406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5448300" y="4168051"/>
            <a:ext cx="3530918" cy="11010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6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9300" b="1" kern="0" spc="-279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8</a:t>
            </a:r>
            <a:endParaRPr lang="en-US" sz="930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5448300" y="5343376"/>
            <a:ext cx="3530918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个</a:t>
            </a:r>
            <a:r>
              <a:rPr lang="zh-CN" alt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单元</a:t>
            </a:r>
            <a:endParaRPr lang="zh-CN" altLang="en-US" sz="2550" b="1" dirty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5448300" y="5962501"/>
            <a:ext cx="3306223" cy="8304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5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每学期，与学校进度同步</a:t>
            </a:r>
            <a:endParaRPr lang="en-US" sz="1950" dirty="0"/>
          </a:p>
        </p:txBody>
      </p:sp>
      <p:sp>
        <p:nvSpPr>
          <p:cNvPr id="15" name="Shape 12"/>
          <p:cNvSpPr/>
          <p:nvPr>
            <p:custDataLst>
              <p:tags r:id="rId9"/>
            </p:custDataLst>
          </p:nvPr>
        </p:nvSpPr>
        <p:spPr>
          <a:xfrm>
            <a:off x="9277350" y="3699421"/>
            <a:ext cx="3914775" cy="348406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9629775" y="4168051"/>
            <a:ext cx="3530918" cy="11010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6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9300" b="1" kern="0" spc="-279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6</a:t>
            </a:r>
            <a:endParaRPr lang="en-US" sz="9300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9629775" y="5343376"/>
            <a:ext cx="3530918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大文体</a:t>
            </a:r>
            <a:endParaRPr lang="en-US" sz="2550" dirty="0"/>
          </a:p>
        </p:txBody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9629775" y="5962501"/>
            <a:ext cx="3306223" cy="8304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5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写人·写景·记事·</a:t>
            </a:r>
            <a:br>
              <a:rPr lang="en-US" sz="195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</a:br>
            <a:r>
              <a:rPr lang="en-US" sz="195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想象·说理·说明</a:t>
            </a:r>
            <a:endParaRPr lang="en-US" sz="1950" dirty="0"/>
          </a:p>
        </p:txBody>
      </p:sp>
      <p:sp>
        <p:nvSpPr>
          <p:cNvPr id="19" name="Shape 16"/>
          <p:cNvSpPr/>
          <p:nvPr>
            <p:custDataLst>
              <p:tags r:id="rId13"/>
            </p:custDataLst>
          </p:nvPr>
        </p:nvSpPr>
        <p:spPr>
          <a:xfrm>
            <a:off x="13458825" y="3699421"/>
            <a:ext cx="3914775" cy="348406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>
            <p:custDataLst>
              <p:tags r:id="rId14"/>
            </p:custDataLst>
          </p:nvPr>
        </p:nvSpPr>
        <p:spPr>
          <a:xfrm>
            <a:off x="13811250" y="4168051"/>
            <a:ext cx="3530918" cy="11010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6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9300" b="1" kern="0" spc="-279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90</a:t>
            </a:r>
            <a:endParaRPr lang="en-US" sz="9300" dirty="0"/>
          </a:p>
        </p:txBody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13811250" y="5343376"/>
            <a:ext cx="3530918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分钟一次课</a:t>
            </a:r>
            <a:endParaRPr lang="en-US" sz="2550" dirty="0"/>
          </a:p>
        </p:txBody>
      </p:sp>
      <p:sp>
        <p:nvSpPr>
          <p:cNvPr id="22" name="Text 19"/>
          <p:cNvSpPr/>
          <p:nvPr>
            <p:custDataLst>
              <p:tags r:id="rId16"/>
            </p:custDataLst>
          </p:nvPr>
        </p:nvSpPr>
        <p:spPr>
          <a:xfrm>
            <a:off x="13811250" y="5962501"/>
            <a:ext cx="353091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5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两节连排，当堂写作、当堂评改</a:t>
            </a:r>
            <a:endParaRPr lang="en-US" sz="19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762762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精准同步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11730355" cy="1190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zh-CN" altLang="en-US" sz="42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学校会教，为什么还要来学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14400" y="2209800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2571750"/>
            <a:ext cx="1471612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同一个习作题目，孩子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提前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完整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</a:t>
            </a: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一遍、改一遍。</a:t>
            </a:r>
            <a:endParaRPr lang="en-US" sz="2250" dirty="0"/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914400" y="3495180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1230630" y="3792360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上在学校讲之前</a:t>
            </a:r>
            <a:endParaRPr lang="en-US" sz="255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1304925" y="4471035"/>
            <a:ext cx="7534910" cy="8108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每一课都上在学校讲到该单元之前。孩子带着方法和一稿回校再写，第二遍时，方法学过、素材备过、初稿写过。</a:t>
            </a:r>
            <a:endParaRPr lang="zh-CN" altLang="en-US" sz="2100" dirty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9277350" y="3588525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9667875" y="3940950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一次走完整闭环</a:t>
            </a:r>
            <a:endParaRPr lang="en-US" sz="255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9667875" y="4578985"/>
            <a:ext cx="7534910" cy="1131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sz="2100">
                <a:solidFill>
                  <a:srgbClr val="55514A"/>
                </a:solidFill>
                <a:sym typeface="+mn-ea"/>
              </a:rPr>
              <a:t>作前指导、当堂成稿、当堂评改，两节连排一次走完。</a:t>
            </a:r>
            <a:endParaRPr sz="2100">
              <a:solidFill>
                <a:srgbClr val="55514A"/>
              </a:solidFill>
              <a:sym typeface="+mn-ea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不背范文、不套模板，写作不留到课后。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43585" y="6728878"/>
            <a:ext cx="16459200" cy="2087761"/>
          </a:xfrm>
          <a:prstGeom prst="rect">
            <a:avLst/>
          </a:prstGeom>
          <a:solidFill>
            <a:srgbClr val="1C3D5A"/>
          </a:solidFill>
        </p:spPr>
        <p:txBody>
          <a:bodyPr/>
          <a:p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16" name="Text 13"/>
          <p:cNvSpPr/>
          <p:nvPr/>
        </p:nvSpPr>
        <p:spPr>
          <a:xfrm>
            <a:off x="1295400" y="7032625"/>
            <a:ext cx="15697200" cy="18103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覆盖统编教材全部 63 个习作任务，一个不落；三到六年级逐阶练扎实。</a:t>
            </a:r>
            <a:endParaRPr lang="zh-CN" altLang="en-US" sz="2100" dirty="0">
              <a:solidFill>
                <a:srgbClr val="FFFFFF"/>
              </a:solidFill>
              <a:cs typeface="微软雅黑" panose="020B0503020204020204" pitchFamily="34" charset="-120"/>
              <a:sym typeface="+mn-ea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28B7F"/>
                </a:solidFill>
                <a:cs typeface="微软雅黑" panose="020B0503020204020204" pitchFamily="34" charset="-120"/>
                <a:sym typeface="+mn-ea"/>
              </a:rPr>
              <a:t>写好作文不</a:t>
            </a:r>
            <a:r>
              <a:rPr lang="zh-CN" altLang="en-US" sz="2100" dirty="0">
                <a:solidFill>
                  <a:srgbClr val="F28B7F"/>
                </a:solidFill>
                <a:cs typeface="微软雅黑" panose="020B0503020204020204" pitchFamily="34" charset="-120"/>
                <a:sym typeface="+mn-ea"/>
              </a:rPr>
              <a:t>只</a:t>
            </a:r>
            <a:r>
              <a:rPr lang="en-US" sz="2100" dirty="0">
                <a:solidFill>
                  <a:srgbClr val="F28B7F"/>
                </a:solidFill>
                <a:cs typeface="微软雅黑" panose="020B0503020204020204" pitchFamily="34" charset="-120"/>
                <a:sym typeface="+mn-ea"/>
              </a:rPr>
              <a:t>靠天赋：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靠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多练。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一篇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篇习作详细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教过、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认真写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过、</a:t>
            </a:r>
            <a:r>
              <a:rPr 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认真改过。</a:t>
            </a:r>
            <a:endParaRPr lang="en-US" sz="2100" dirty="0"/>
          </a:p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295400" y="7573398"/>
            <a:ext cx="1569720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1357982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能力进阶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209675"/>
            <a:ext cx="6915150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一条贯通六年的</a:t>
            </a:r>
            <a:r>
              <a:rPr lang="zh-CN" alt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写作</a:t>
            </a:r>
            <a:r>
              <a:rPr 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能力阶梯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914400" y="2190750"/>
            <a:ext cx="165735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14400" y="2466975"/>
            <a:ext cx="2800350" cy="11525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00150" y="2657475"/>
            <a:ext cx="2409825" cy="40957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说清楚 · 写完整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200150" y="3086100"/>
            <a:ext cx="24098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一年级</a:t>
            </a:r>
            <a:r>
              <a:rPr lang="zh-CN" altLang="en-US" sz="1875" dirty="0">
                <a:solidFill>
                  <a:srgbClr val="2B292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（看图说话）</a:t>
            </a:r>
            <a:endParaRPr lang="zh-CN" altLang="en-US" sz="1875" dirty="0">
              <a:solidFill>
                <a:srgbClr val="2B2926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67100" y="2466975"/>
            <a:ext cx="3009900" cy="11525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962400" y="2657475"/>
            <a:ext cx="2409825" cy="40957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写连贯 · 讲成故事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3962400" y="3086100"/>
            <a:ext cx="24098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二年级</a:t>
            </a:r>
            <a:r>
              <a:rPr lang="zh-CN" altLang="en-US" sz="1875" dirty="0">
                <a:solidFill>
                  <a:srgbClr val="2B292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（看图写话）</a:t>
            </a:r>
            <a:endParaRPr lang="zh-CN" altLang="en-US" sz="1875" dirty="0">
              <a:solidFill>
                <a:srgbClr val="2B2926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29350" y="2466975"/>
            <a:ext cx="3009900" cy="1152525"/>
          </a:xfrm>
          <a:prstGeom prst="rect">
            <a:avLst/>
          </a:prstGeom>
          <a:solidFill>
            <a:srgbClr val="8197AD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24650" y="2657475"/>
            <a:ext cx="2409825" cy="40957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写清楚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6724650" y="3086100"/>
            <a:ext cx="24098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三年级上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8991600" y="2466975"/>
            <a:ext cx="3009900" cy="1152525"/>
          </a:xfrm>
          <a:prstGeom prst="rect">
            <a:avLst/>
          </a:prstGeom>
          <a:solidFill>
            <a:srgbClr val="4F6B86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486900" y="2657475"/>
            <a:ext cx="2409825" cy="40957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写具体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9486900" y="3086100"/>
            <a:ext cx="2409825" cy="3810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三下—四上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1753850" y="2466975"/>
            <a:ext cx="3009900" cy="1152525"/>
          </a:xfrm>
          <a:prstGeom prst="rect">
            <a:avLst/>
          </a:prstGeom>
          <a:solidFill>
            <a:srgbClr val="2B4A68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2249150" y="2657475"/>
            <a:ext cx="2409825" cy="40957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写生动</a:t>
            </a:r>
            <a:endParaRPr lang="en-US" sz="2025" dirty="0"/>
          </a:p>
        </p:txBody>
      </p:sp>
      <p:sp>
        <p:nvSpPr>
          <p:cNvPr id="21" name="Text 18"/>
          <p:cNvSpPr/>
          <p:nvPr/>
        </p:nvSpPr>
        <p:spPr>
          <a:xfrm>
            <a:off x="12249150" y="3086100"/>
            <a:ext cx="2409825" cy="3810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四下—五上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4516100" y="2466975"/>
            <a:ext cx="2971800" cy="115252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5011400" y="2657475"/>
            <a:ext cx="2409825" cy="40957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写深刻 · 有章法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15011400" y="3086100"/>
            <a:ext cx="2409825" cy="3810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五下—六下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914400" y="3886200"/>
            <a:ext cx="16573500" cy="4467225"/>
          </a:xfrm>
          <a:prstGeom prst="rect">
            <a:avLst/>
          </a:prstGeom>
          <a:solidFill>
            <a:srgbClr val="DDD3C4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23925" y="3895725"/>
            <a:ext cx="2247900" cy="733425"/>
          </a:xfrm>
          <a:prstGeom prst="rect">
            <a:avLst/>
          </a:prstGeom>
          <a:solidFill>
            <a:srgbClr val="EDE4D6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52525" y="4076700"/>
            <a:ext cx="18669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 人</a:t>
            </a:r>
            <a:endParaRPr lang="en-US" sz="2025" dirty="0"/>
          </a:p>
        </p:txBody>
      </p:sp>
      <p:sp>
        <p:nvSpPr>
          <p:cNvPr id="28" name="Shape 25"/>
          <p:cNvSpPr/>
          <p:nvPr/>
        </p:nvSpPr>
        <p:spPr>
          <a:xfrm>
            <a:off x="3181350" y="38957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3409950" y="40767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猜猜他是谁</a:t>
            </a:r>
            <a:endParaRPr lang="en-US" sz="1875" dirty="0"/>
          </a:p>
        </p:txBody>
      </p:sp>
      <p:sp>
        <p:nvSpPr>
          <p:cNvPr id="30" name="Shape 27"/>
          <p:cNvSpPr/>
          <p:nvPr/>
        </p:nvSpPr>
        <p:spPr>
          <a:xfrm>
            <a:off x="6757988" y="38957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986588" y="40767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我的家人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10334625" y="38957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563225" y="40767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“漫画”老师</a:t>
            </a:r>
            <a:endParaRPr lang="en-US" sz="1875" dirty="0"/>
          </a:p>
        </p:txBody>
      </p:sp>
      <p:sp>
        <p:nvSpPr>
          <p:cNvPr id="34" name="Shape 31"/>
          <p:cNvSpPr/>
          <p:nvPr/>
        </p:nvSpPr>
        <p:spPr>
          <a:xfrm>
            <a:off x="13911263" y="38957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4139863" y="40767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形形色色的人</a:t>
            </a:r>
            <a:endParaRPr lang="en-US" sz="1875" dirty="0"/>
          </a:p>
        </p:txBody>
      </p:sp>
      <p:sp>
        <p:nvSpPr>
          <p:cNvPr id="36" name="Shape 33"/>
          <p:cNvSpPr/>
          <p:nvPr/>
        </p:nvSpPr>
        <p:spPr>
          <a:xfrm>
            <a:off x="923925" y="4638675"/>
            <a:ext cx="2247900" cy="733425"/>
          </a:xfrm>
          <a:prstGeom prst="rect">
            <a:avLst/>
          </a:prstGeom>
          <a:solidFill>
            <a:srgbClr val="EDE4D6"/>
          </a:solidFill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152525" y="4819650"/>
            <a:ext cx="18669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写景状物</a:t>
            </a:r>
            <a:endParaRPr lang="en-US" sz="2025" dirty="0"/>
          </a:p>
        </p:txBody>
      </p:sp>
      <p:sp>
        <p:nvSpPr>
          <p:cNvPr id="38" name="Shape 35"/>
          <p:cNvSpPr/>
          <p:nvPr/>
        </p:nvSpPr>
        <p:spPr>
          <a:xfrm>
            <a:off x="3181350" y="46386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3409950" y="48196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这儿真美</a:t>
            </a:r>
            <a:endParaRPr lang="en-US" sz="1875" dirty="0"/>
          </a:p>
        </p:txBody>
      </p:sp>
      <p:sp>
        <p:nvSpPr>
          <p:cNvPr id="40" name="Shape 37"/>
          <p:cNvSpPr/>
          <p:nvPr/>
        </p:nvSpPr>
        <p:spPr>
          <a:xfrm>
            <a:off x="6757988" y="46386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6986588" y="48196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我的乐园</a:t>
            </a:r>
            <a:endParaRPr lang="en-US" sz="1875" dirty="0"/>
          </a:p>
        </p:txBody>
      </p:sp>
      <p:sp>
        <p:nvSpPr>
          <p:cNvPr id="42" name="Shape 39"/>
          <p:cNvSpPr/>
          <p:nvPr/>
        </p:nvSpPr>
        <p:spPr>
          <a:xfrm>
            <a:off x="10334625" y="46386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563225" y="48196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游＿＿</a:t>
            </a:r>
            <a:endParaRPr lang="en-US" sz="1875" dirty="0"/>
          </a:p>
        </p:txBody>
      </p:sp>
      <p:sp>
        <p:nvSpPr>
          <p:cNvPr id="44" name="Shape 41"/>
          <p:cNvSpPr/>
          <p:nvPr/>
        </p:nvSpPr>
        <p:spPr>
          <a:xfrm>
            <a:off x="13911263" y="46386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4139863" y="48196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＿＿即景</a:t>
            </a:r>
            <a:endParaRPr lang="en-US" sz="1875" dirty="0"/>
          </a:p>
        </p:txBody>
      </p:sp>
      <p:sp>
        <p:nvSpPr>
          <p:cNvPr id="46" name="Shape 43"/>
          <p:cNvSpPr/>
          <p:nvPr/>
        </p:nvSpPr>
        <p:spPr>
          <a:xfrm>
            <a:off x="923925" y="5381625"/>
            <a:ext cx="2247900" cy="733425"/>
          </a:xfrm>
          <a:prstGeom prst="rect">
            <a:avLst/>
          </a:prstGeom>
          <a:solidFill>
            <a:srgbClr val="EDE4D6"/>
          </a:solidFill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1152525" y="5562600"/>
            <a:ext cx="18669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 事</a:t>
            </a:r>
            <a:endParaRPr lang="en-US" sz="2025" dirty="0"/>
          </a:p>
        </p:txBody>
      </p:sp>
      <p:sp>
        <p:nvSpPr>
          <p:cNvPr id="48" name="Shape 45"/>
          <p:cNvSpPr/>
          <p:nvPr/>
        </p:nvSpPr>
        <p:spPr>
          <a:xfrm>
            <a:off x="3181350" y="53816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3409950" y="55626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那次玩得真高兴</a:t>
            </a:r>
            <a:endParaRPr lang="en-US" sz="1875" dirty="0"/>
          </a:p>
        </p:txBody>
      </p:sp>
      <p:sp>
        <p:nvSpPr>
          <p:cNvPr id="50" name="Shape 47"/>
          <p:cNvSpPr/>
          <p:nvPr/>
        </p:nvSpPr>
        <p:spPr>
          <a:xfrm>
            <a:off x="6757988" y="53816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6986588" y="55626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记一次游戏</a:t>
            </a:r>
            <a:endParaRPr lang="en-US" sz="1875" dirty="0"/>
          </a:p>
        </p:txBody>
      </p:sp>
      <p:sp>
        <p:nvSpPr>
          <p:cNvPr id="52" name="Shape 49"/>
          <p:cNvSpPr/>
          <p:nvPr/>
        </p:nvSpPr>
        <p:spPr>
          <a:xfrm>
            <a:off x="10334625" y="53816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10563225" y="55626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我学会了＿＿</a:t>
            </a:r>
            <a:endParaRPr lang="en-US" sz="1875" dirty="0"/>
          </a:p>
        </p:txBody>
      </p:sp>
      <p:sp>
        <p:nvSpPr>
          <p:cNvPr id="54" name="Shape 51"/>
          <p:cNvSpPr/>
          <p:nvPr/>
        </p:nvSpPr>
        <p:spPr>
          <a:xfrm>
            <a:off x="13911263" y="53816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14139863" y="55626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有你，真好</a:t>
            </a:r>
            <a:endParaRPr lang="en-US" sz="1875" dirty="0"/>
          </a:p>
        </p:txBody>
      </p:sp>
      <p:sp>
        <p:nvSpPr>
          <p:cNvPr id="56" name="Shape 53"/>
          <p:cNvSpPr/>
          <p:nvPr/>
        </p:nvSpPr>
        <p:spPr>
          <a:xfrm>
            <a:off x="923925" y="6124575"/>
            <a:ext cx="2247900" cy="733425"/>
          </a:xfrm>
          <a:prstGeom prst="rect">
            <a:avLst/>
          </a:prstGeom>
          <a:solidFill>
            <a:srgbClr val="EDE4D6"/>
          </a:solidFill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1152525" y="6305550"/>
            <a:ext cx="18669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想 象</a:t>
            </a:r>
            <a:endParaRPr lang="en-US" sz="2025" dirty="0"/>
          </a:p>
        </p:txBody>
      </p:sp>
      <p:sp>
        <p:nvSpPr>
          <p:cNvPr id="58" name="Shape 55"/>
          <p:cNvSpPr/>
          <p:nvPr/>
        </p:nvSpPr>
        <p:spPr>
          <a:xfrm>
            <a:off x="3181350" y="61245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3409950" y="63055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我来编童话</a:t>
            </a:r>
            <a:endParaRPr lang="en-US" sz="1875" dirty="0"/>
          </a:p>
        </p:txBody>
      </p:sp>
      <p:sp>
        <p:nvSpPr>
          <p:cNvPr id="60" name="Shape 57"/>
          <p:cNvSpPr/>
          <p:nvPr/>
        </p:nvSpPr>
        <p:spPr>
          <a:xfrm>
            <a:off x="6757988" y="61245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6986588" y="63055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我和＿＿过一天</a:t>
            </a:r>
            <a:endParaRPr lang="en-US" sz="1875" dirty="0"/>
          </a:p>
        </p:txBody>
      </p:sp>
      <p:sp>
        <p:nvSpPr>
          <p:cNvPr id="62" name="Shape 59"/>
          <p:cNvSpPr/>
          <p:nvPr/>
        </p:nvSpPr>
        <p:spPr>
          <a:xfrm>
            <a:off x="10334625" y="61245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10563225" y="63055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神奇的探险之旅</a:t>
            </a:r>
            <a:endParaRPr lang="en-US" sz="1875" dirty="0"/>
          </a:p>
        </p:txBody>
      </p:sp>
      <p:sp>
        <p:nvSpPr>
          <p:cNvPr id="64" name="Shape 61"/>
          <p:cNvSpPr/>
          <p:nvPr/>
        </p:nvSpPr>
        <p:spPr>
          <a:xfrm>
            <a:off x="13911263" y="61245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14139863" y="63055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变形记</a:t>
            </a:r>
            <a:endParaRPr lang="en-US" sz="1875" dirty="0"/>
          </a:p>
        </p:txBody>
      </p:sp>
      <p:sp>
        <p:nvSpPr>
          <p:cNvPr id="66" name="Shape 63"/>
          <p:cNvSpPr/>
          <p:nvPr/>
        </p:nvSpPr>
        <p:spPr>
          <a:xfrm>
            <a:off x="923925" y="6867525"/>
            <a:ext cx="2247900" cy="733425"/>
          </a:xfrm>
          <a:prstGeom prst="rect">
            <a:avLst/>
          </a:prstGeom>
          <a:solidFill>
            <a:srgbClr val="EDE4D6"/>
          </a:solidFill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1152525" y="7048500"/>
            <a:ext cx="18669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应用 · 说理</a:t>
            </a:r>
            <a:endParaRPr lang="en-US" sz="2025" dirty="0"/>
          </a:p>
        </p:txBody>
      </p:sp>
      <p:sp>
        <p:nvSpPr>
          <p:cNvPr id="68" name="Shape 65"/>
          <p:cNvSpPr/>
          <p:nvPr/>
        </p:nvSpPr>
        <p:spPr>
          <a:xfrm>
            <a:off x="3181350" y="68675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3409950" y="70485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我有一个想法</a:t>
            </a:r>
            <a:endParaRPr lang="en-US" sz="1875" dirty="0"/>
          </a:p>
        </p:txBody>
      </p:sp>
      <p:sp>
        <p:nvSpPr>
          <p:cNvPr id="70" name="Shape 67"/>
          <p:cNvSpPr/>
          <p:nvPr/>
        </p:nvSpPr>
        <p:spPr>
          <a:xfrm>
            <a:off x="6757988" y="68675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6986588" y="70485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推荐一本书</a:t>
            </a:r>
            <a:endParaRPr lang="en-US" sz="1875" dirty="0"/>
          </a:p>
        </p:txBody>
      </p:sp>
      <p:sp>
        <p:nvSpPr>
          <p:cNvPr id="72" name="Shape 69"/>
          <p:cNvSpPr/>
          <p:nvPr/>
        </p:nvSpPr>
        <p:spPr>
          <a:xfrm>
            <a:off x="10334625" y="68675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0563225" y="70485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漫画的启示</a:t>
            </a:r>
            <a:endParaRPr lang="en-US" sz="1875" dirty="0"/>
          </a:p>
        </p:txBody>
      </p:sp>
      <p:sp>
        <p:nvSpPr>
          <p:cNvPr id="74" name="Shape 71"/>
          <p:cNvSpPr/>
          <p:nvPr/>
        </p:nvSpPr>
        <p:spPr>
          <a:xfrm>
            <a:off x="13911263" y="686752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4139863" y="704850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学写倡议书</a:t>
            </a:r>
            <a:endParaRPr lang="en-US" sz="1875" dirty="0"/>
          </a:p>
        </p:txBody>
      </p:sp>
      <p:sp>
        <p:nvSpPr>
          <p:cNvPr id="76" name="Shape 73"/>
          <p:cNvSpPr/>
          <p:nvPr/>
        </p:nvSpPr>
        <p:spPr>
          <a:xfrm>
            <a:off x="923925" y="7610475"/>
            <a:ext cx="2247900" cy="733425"/>
          </a:xfrm>
          <a:prstGeom prst="rect">
            <a:avLst/>
          </a:prstGeom>
          <a:solidFill>
            <a:srgbClr val="EDE4D6"/>
          </a:solidFill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1152525" y="7791450"/>
            <a:ext cx="18669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观察 · 说明</a:t>
            </a:r>
            <a:endParaRPr lang="en-US" sz="2025" dirty="0"/>
          </a:p>
        </p:txBody>
      </p:sp>
      <p:sp>
        <p:nvSpPr>
          <p:cNvPr id="78" name="Shape 75"/>
          <p:cNvSpPr/>
          <p:nvPr/>
        </p:nvSpPr>
        <p:spPr>
          <a:xfrm>
            <a:off x="3181350" y="76104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3409950" y="77914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我的植物朋友</a:t>
            </a:r>
            <a:endParaRPr lang="en-US" sz="1875" dirty="0"/>
          </a:p>
        </p:txBody>
      </p:sp>
      <p:sp>
        <p:nvSpPr>
          <p:cNvPr id="80" name="Shape 77"/>
          <p:cNvSpPr/>
          <p:nvPr/>
        </p:nvSpPr>
        <p:spPr>
          <a:xfrm>
            <a:off x="6757988" y="76104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6986588" y="77914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写观察日记</a:t>
            </a:r>
            <a:endParaRPr lang="en-US" sz="1875" dirty="0"/>
          </a:p>
        </p:txBody>
      </p:sp>
      <p:sp>
        <p:nvSpPr>
          <p:cNvPr id="82" name="Shape 79"/>
          <p:cNvSpPr/>
          <p:nvPr/>
        </p:nvSpPr>
        <p:spPr>
          <a:xfrm>
            <a:off x="10334625" y="76104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10563225" y="77914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介绍一种事物</a:t>
            </a:r>
            <a:endParaRPr lang="en-US" sz="1875" dirty="0"/>
          </a:p>
        </p:txBody>
      </p:sp>
      <p:sp>
        <p:nvSpPr>
          <p:cNvPr id="84" name="Shape 81"/>
          <p:cNvSpPr/>
          <p:nvPr/>
        </p:nvSpPr>
        <p:spPr>
          <a:xfrm>
            <a:off x="13911263" y="7610475"/>
            <a:ext cx="3567113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5" name="Text 82"/>
          <p:cNvSpPr/>
          <p:nvPr/>
        </p:nvSpPr>
        <p:spPr>
          <a:xfrm>
            <a:off x="14139863" y="7791450"/>
            <a:ext cx="3216926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中国的世界文化遗产</a:t>
            </a:r>
            <a:endParaRPr lang="en-US" sz="1875" dirty="0"/>
          </a:p>
        </p:txBody>
      </p:sp>
      <p:sp>
        <p:nvSpPr>
          <p:cNvPr id="86" name="Text 83"/>
          <p:cNvSpPr/>
          <p:nvPr/>
        </p:nvSpPr>
        <p:spPr>
          <a:xfrm>
            <a:off x="914400" y="8620125"/>
            <a:ext cx="18230850" cy="4513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同类习作跨年级连成一条线：三年级训练过的能力，四、五、六年级在更高要求上继续提升。</a:t>
            </a:r>
            <a:endParaRPr lang="en-US" sz="2100" dirty="0"/>
          </a:p>
        </p:txBody>
      </p:sp>
      <p:pic>
        <p:nvPicPr>
          <p:cNvPr id="87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54670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237642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每篇练什么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457325"/>
            <a:ext cx="7795260" cy="8304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63 篇任务，每篇都有明确目标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2421136"/>
            <a:ext cx="779526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每篇的核心能力点，提炼自统编教材的单元教学重点。</a:t>
            </a:r>
            <a:r>
              <a:rPr lang="zh-CN" altLang="en-US" sz="232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示例：</a:t>
            </a:r>
            <a:endParaRPr lang="zh-CN" altLang="en-US" sz="2325" dirty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14400" y="3331666"/>
            <a:ext cx="163830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4417516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3645991"/>
            <a:ext cx="440055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《这儿真美》三上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5257800" y="3703141"/>
            <a:ext cx="220027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写清楚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7600950" y="3703141"/>
            <a:ext cx="1066609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围绕一个意思，按顺序、用五感写具体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914400" y="5484316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4400" y="4712791"/>
            <a:ext cx="440055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《记一次游戏》四上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5257800" y="4769941"/>
            <a:ext cx="220027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写具体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600950" y="4769941"/>
            <a:ext cx="1066609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把游戏过程和当时的感受写具体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914400" y="6551116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14400" y="5779591"/>
            <a:ext cx="440055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《＿＿即景》五上</a:t>
            </a:r>
            <a:endParaRPr lang="en-US" sz="2625" dirty="0"/>
          </a:p>
        </p:txBody>
      </p:sp>
      <p:sp>
        <p:nvSpPr>
          <p:cNvPr id="18" name="Text 15"/>
          <p:cNvSpPr/>
          <p:nvPr/>
        </p:nvSpPr>
        <p:spPr>
          <a:xfrm>
            <a:off x="5257800" y="5836741"/>
            <a:ext cx="220027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写生动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7600950" y="5836741"/>
            <a:ext cx="1066609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按顺序写景，写出景物的动态变化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914400" y="7617916"/>
            <a:ext cx="163830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14400" y="6846391"/>
            <a:ext cx="440055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《围绕中心意思写》六上</a:t>
            </a:r>
            <a:endParaRPr lang="en-US" sz="2625" dirty="0"/>
          </a:p>
        </p:txBody>
      </p:sp>
      <p:sp>
        <p:nvSpPr>
          <p:cNvPr id="22" name="Text 19"/>
          <p:cNvSpPr/>
          <p:nvPr/>
        </p:nvSpPr>
        <p:spPr>
          <a:xfrm>
            <a:off x="5257800" y="6903541"/>
            <a:ext cx="220027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有章法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7600950" y="6903541"/>
            <a:ext cx="1066609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确定中心，选材谋篇，围绕中心写</a:t>
            </a:r>
            <a:endParaRPr lang="en-US" sz="2175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4514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762762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新教材风向标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9046210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新教材全面换新，</a:t>
            </a:r>
            <a:r>
              <a:rPr lang="zh-CN" altLang="en-US" sz="42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这门课与它同步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14400" y="2209800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2571750"/>
            <a:ext cx="1471612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altLang="zh-CN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2026 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年秋起，依据</a:t>
            </a:r>
            <a:r>
              <a:rPr lang="en-US" altLang="zh-CN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2022 </a:t>
            </a:r>
            <a:r>
              <a:rPr lang="zh-CN" alt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年版课标修订的统编教材覆盖所有年级。</a:t>
            </a:r>
            <a:endParaRPr lang="en-US" sz="2250" dirty="0"/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914400" y="3495180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1230630" y="3792360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新教材的写作风向</a:t>
            </a:r>
            <a:endParaRPr lang="en-US" sz="255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1304925" y="4471035"/>
            <a:ext cx="7534910" cy="8108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写作从「会写一篇文」转向「素养导向的表达能力培养」，课程通过对写作各环节拆解和训练，培养通用的写作能力。</a:t>
            </a:r>
            <a:endParaRPr lang="en-US" sz="2100" dirty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1304925" y="5190630"/>
            <a:ext cx="7534910" cy="9486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21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9277350" y="3588525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9667875" y="3940950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这门课的对接</a:t>
            </a:r>
            <a:endParaRPr lang="en-US" sz="255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9667875" y="4578985"/>
            <a:ext cx="7534910" cy="1131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sz="2100">
                <a:solidFill>
                  <a:srgbClr val="55514A"/>
                </a:solidFill>
                <a:sym typeface="+mn-ea"/>
              </a:rPr>
              <a:t>每课</a:t>
            </a:r>
            <a:r>
              <a:rPr lang="zh-CN" sz="2100">
                <a:solidFill>
                  <a:srgbClr val="55514A"/>
                </a:solidFill>
                <a:sym typeface="+mn-ea"/>
              </a:rPr>
              <a:t>的</a:t>
            </a:r>
            <a:r>
              <a:rPr sz="2100">
                <a:solidFill>
                  <a:srgbClr val="55514A"/>
                </a:solidFill>
                <a:sym typeface="+mn-ea"/>
              </a:rPr>
              <a:t>能力点提炼自</a:t>
            </a:r>
            <a:r>
              <a:rPr lang="zh-CN" sz="2100">
                <a:solidFill>
                  <a:srgbClr val="55514A"/>
                </a:solidFill>
                <a:sym typeface="+mn-ea"/>
              </a:rPr>
              <a:t>教材</a:t>
            </a:r>
            <a:r>
              <a:rPr sz="2100">
                <a:solidFill>
                  <a:srgbClr val="55514A"/>
                </a:solidFill>
                <a:sym typeface="+mn-ea"/>
              </a:rPr>
              <a:t>单元教学重点，教材怎么要求，课就怎么教。</a:t>
            </a:r>
            <a:endParaRPr sz="2100">
              <a:solidFill>
                <a:srgbClr val="55514A"/>
              </a:solidFill>
              <a:sym typeface="+mn-ea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写清楚、写具体、写生动、写深刻的四年阶梯，</a:t>
            </a:r>
            <a:r>
              <a:rPr lang="zh-CN" altLang="en-US" sz="2100" dirty="0">
                <a:solidFill>
                  <a:srgbClr val="55514A"/>
                </a:solidFill>
                <a:cs typeface="微软雅黑" panose="020B0503020204020204" pitchFamily="34" charset="-120"/>
                <a:sym typeface="+mn-ea"/>
              </a:rPr>
              <a:t>与新教材各学段的写作要求逐一对应。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43585" y="6728878"/>
            <a:ext cx="16459200" cy="2087761"/>
          </a:xfrm>
          <a:prstGeom prst="rect">
            <a:avLst/>
          </a:prstGeom>
          <a:solidFill>
            <a:srgbClr val="1C3D5A"/>
          </a:solidFill>
        </p:spPr>
        <p:txBody>
          <a:bodyPr/>
          <a:p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16" name="Text 13"/>
          <p:cNvSpPr/>
          <p:nvPr/>
        </p:nvSpPr>
        <p:spPr>
          <a:xfrm>
            <a:off x="1295400" y="7032625"/>
            <a:ext cx="15697200" cy="13919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课程与教材单元同步推进</a:t>
            </a:r>
            <a:r>
              <a:rPr lang="zh-CN" alt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和更新</a:t>
            </a: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r>
              <a:rPr lang="zh-CN" altLang="en-US" sz="2100" dirty="0">
                <a:solidFill>
                  <a:srgbClr val="F28B7F"/>
                </a:solidFill>
                <a:cs typeface="微软雅黑" panose="020B0503020204020204" pitchFamily="34" charset="-120"/>
                <a:sym typeface="+mn-ea"/>
              </a:rPr>
              <a:t>课程用的就是新教材的标准</a:t>
            </a:r>
            <a:r>
              <a:rPr lang="zh-CN" altLang="en-US" sz="2100" dirty="0">
                <a:solidFill>
                  <a:srgbClr val="FFFFFF"/>
                </a:solidFill>
                <a:cs typeface="微软雅黑" panose="020B0503020204020204" pitchFamily="34" charset="-120"/>
                <a:sym typeface="+mn-ea"/>
              </a:rPr>
              <a:t>。</a:t>
            </a: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zh-CN" altLang="en-US" sz="2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228975"/>
            <a:ext cx="18105120" cy="1752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15000" b="1" kern="0" spc="-4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914400" y="5172075"/>
            <a:ext cx="6276340" cy="1247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buNone/>
            </a:pPr>
            <a:r>
              <a:rPr lang="zh-CN" alt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写作教学的基本方法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914400" y="6355715"/>
            <a:ext cx="1427607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50" dirty="0">
                <a:solidFill>
                  <a:srgbClr val="C9D2DC"/>
                </a:solidFill>
                <a:cs typeface="微软雅黑" panose="020B0503020204020204" pitchFamily="34" charset="-120"/>
                <a:sym typeface="+mn-ea"/>
              </a:rPr>
              <a:t>不论用哪套教材、哪种课程，教作文都绕不开的几件事。</a:t>
            </a:r>
            <a:endParaRPr lang="en-US" sz="2550"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9940"/>
            <a:ext cx="13058140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95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生成过程</a:t>
            </a:r>
            <a:endParaRPr lang="zh-CN" altLang="en-US"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44331"/>
            <a:ext cx="15910560" cy="980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一篇作文是怎么来的：五步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5910560" cy="657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无论哪个年级、哪种文体，一篇作文都要经过这五步。课堂的七个环节，就是把这五步拆开来教。</a:t>
            </a:r>
            <a:endParaRPr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8872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8872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529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审题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5550" y="6062345"/>
            <a:ext cx="2294890" cy="2116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先明确题目要求写的是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什么？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写偏了题，写得再具体也</a:t>
            </a:r>
            <a:r>
              <a:rPr lang="zh-CN"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没用</a:t>
            </a:r>
            <a:endParaRPr lang="zh-CN"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16052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443484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443484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47141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选材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471416" y="6062471"/>
            <a:ext cx="2295144" cy="207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从自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己真实的生活中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材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越熟悉</a:t>
            </a: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越好写，越具体越真实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740664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768096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768096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771753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构思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7717536" y="6062471"/>
            <a:ext cx="2295144" cy="207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用构思表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先确定顺序与重点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填入</a:t>
            </a: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关键词，不凭空动笔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065276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092708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092708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096365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表达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10963910" y="6062345"/>
            <a:ext cx="2625725" cy="207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一次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课重点学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一种写法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五感、慢镜头、对话，把画面写出来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  <p:sp>
        <p:nvSpPr>
          <p:cNvPr id="28" name="Rounded Rectangle 21"/>
          <p:cNvSpPr/>
          <p:nvPr>
            <p:custDataLst>
              <p:tags r:id="rId22"/>
            </p:custDataLst>
          </p:nvPr>
        </p:nvSpPr>
        <p:spPr>
          <a:xfrm>
            <a:off x="1389888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9" name="Oval 22"/>
          <p:cNvSpPr/>
          <p:nvPr>
            <p:custDataLst>
              <p:tags r:id="rId23"/>
            </p:custDataLst>
          </p:nvPr>
        </p:nvSpPr>
        <p:spPr>
          <a:xfrm>
            <a:off x="1417320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0" name="TextBox 23"/>
          <p:cNvSpPr txBox="1"/>
          <p:nvPr>
            <p:custDataLst>
              <p:tags r:id="rId24"/>
            </p:custDataLst>
          </p:nvPr>
        </p:nvSpPr>
        <p:spPr>
          <a:xfrm>
            <a:off x="1417320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24"/>
          <p:cNvSpPr txBox="1"/>
          <p:nvPr>
            <p:custDataLst>
              <p:tags r:id="rId25"/>
            </p:custDataLst>
          </p:nvPr>
        </p:nvSpPr>
        <p:spPr>
          <a:xfrm>
            <a:off x="1420977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修改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25"/>
          <p:cNvSpPr txBox="1"/>
          <p:nvPr>
            <p:custDataLst>
              <p:tags r:id="rId26"/>
            </p:custDataLst>
          </p:nvPr>
        </p:nvSpPr>
        <p:spPr>
          <a:xfrm>
            <a:off x="14172946" y="6010401"/>
            <a:ext cx="2295144" cy="2493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写完再改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先看切题，再看具体，最后改错字</a:t>
            </a:r>
            <a:r>
              <a:rPr lang="zh-CN"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病句</a:t>
            </a:r>
            <a:r>
              <a:rPr lang="zh-CN"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；好作文是自己改出来的。</a:t>
            </a:r>
            <a:endParaRPr lang="zh-CN"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9940"/>
            <a:ext cx="12454255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95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写作技法</a:t>
            </a:r>
            <a:endParaRPr lang="zh-CN" altLang="en-US"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701799"/>
            <a:ext cx="15910560" cy="865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从「写清楚」到「写生动」：四种可直接教学的技法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59105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每一种技法都对应课程中某一课的核心能力点。每课只讲一种，配一段示范，让学生当堂运用。</a:t>
            </a:r>
            <a:endParaRPr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9214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9214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918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慢镜头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9181" y="606247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把一个动作拆成三四步，一步一句。《我学会了＿＿》一类题目主要运用这一技法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98348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526122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526122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529826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五感开关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5298261" y="6062471"/>
            <a:ext cx="3073758" cy="2215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视觉、听觉、嗅觉、触觉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、味觉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，一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段中至少调动两种感官，景物就写活了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905256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933030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933030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936734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加一句心里话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9367341" y="6062471"/>
            <a:ext cx="3073758" cy="2215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事情写完，补上当时的感受。感受要落在具体的一瞬，不写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我很开心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312164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339938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339938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343642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换个说法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13436421" y="606247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比喻、拟人只用在最需要突出的一处，一段一处即可，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用多了反而失真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117348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950" dirty="0" b="1">
                <a:solidFill>
                  <a:srgbClr val="C8352B"/>
                </a:solidFill>
              </a:rPr>
              <a:t>结构章法</a:t>
            </a:r>
            <a:endParaRPr lang="zh-CN" alt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790700"/>
            <a:ext cx="11734800" cy="704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写有章法：先把「顺序」和「中心」两件事教会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14400" y="2686050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3009900"/>
            <a:ext cx="1471612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三到六年级的结构要求就这四条，按年级逐步提高，每一条在课程中都有对应单元。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14400" y="3857625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4400" y="4152900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按时间顺序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143500" y="4133850"/>
            <a:ext cx="905891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记事、游记：先……然后……最后，三年级先把这一条练扎实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14400" y="4857750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14400" y="5153025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按空间顺序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143500" y="5133975"/>
            <a:ext cx="8669655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写景状物：确定一个观察点，由近到远、由上到下，不东一句西一句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14400" y="5857875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4400" y="6153150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围绕一个意思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5143500" y="6134100"/>
            <a:ext cx="886968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写人、说理：开头一句点明，每一段都围绕这一句展开，不偏离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914400" y="7858125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14400" y="6858000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4400" y="7153275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详略取舍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5143500" y="7134225"/>
            <a:ext cx="9109075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五六年级：最重要的一处写充分，其余一句带过，不平均用力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914400" y="8210550"/>
            <a:ext cx="16459200" cy="998190"/>
          </a:xfrm>
          <a:prstGeom prst="rect">
            <a:avLst/>
          </a:prstGeom>
          <a:solidFill>
            <a:srgbClr val="1C3D5A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295400" y="8496300"/>
            <a:ext cx="16190976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提醒：技法只</a:t>
            </a:r>
            <a:r>
              <a:rPr lang="zh-CN" alt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有</a:t>
            </a: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效果高下，没有对错；只有审题一步有对错。</a:t>
            </a:r>
            <a:endParaRPr lang="en-US" sz="2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305814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常见问题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44331"/>
            <a:ext cx="15910560" cy="980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三到六年级作文中最常见的五个问题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727837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以下为通用归纳，每一条都对应课堂中的某个环节。</a:t>
            </a:r>
            <a:endParaRPr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8872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8872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529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写偏题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5296" y="6062471"/>
            <a:ext cx="2295144" cy="263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题目要求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猜猜他是谁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，写成了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我的好朋友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对策：审题辨析，先判断是否切题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16052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443484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443484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47141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流水账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471416" y="6062471"/>
            <a:ext cx="2295144" cy="110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从早上起床写到晚上睡觉，一件不落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对策：选一件小事，只写最关键的一段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740664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768096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768096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771753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空话套话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7717536" y="6062471"/>
            <a:ext cx="2295144" cy="263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我很开心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””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景色真美</a:t>
            </a:r>
            <a:r>
              <a:rPr lang="en-US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，看不到画面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对策：换成做了什么、看见了什么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065276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092708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092708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096365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开头难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10963656" y="6062471"/>
            <a:ext cx="2295144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盯着稿纸半天，一个字也写不下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对策：落笔起步，先写下开头几句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  <p:sp>
        <p:nvSpPr>
          <p:cNvPr id="28" name="Rounded Rectangle 21"/>
          <p:cNvSpPr/>
          <p:nvPr>
            <p:custDataLst>
              <p:tags r:id="rId22"/>
            </p:custDataLst>
          </p:nvPr>
        </p:nvSpPr>
        <p:spPr>
          <a:xfrm>
            <a:off x="1389888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9" name="Oval 22"/>
          <p:cNvSpPr/>
          <p:nvPr>
            <p:custDataLst>
              <p:tags r:id="rId23"/>
            </p:custDataLst>
          </p:nvPr>
        </p:nvSpPr>
        <p:spPr>
          <a:xfrm>
            <a:off x="1417320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0" name="TextBox 23"/>
          <p:cNvSpPr txBox="1"/>
          <p:nvPr>
            <p:custDataLst>
              <p:tags r:id="rId24"/>
            </p:custDataLst>
          </p:nvPr>
        </p:nvSpPr>
        <p:spPr>
          <a:xfrm>
            <a:off x="1417320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24"/>
          <p:cNvSpPr txBox="1"/>
          <p:nvPr>
            <p:custDataLst>
              <p:tags r:id="rId25"/>
            </p:custDataLst>
          </p:nvPr>
        </p:nvSpPr>
        <p:spPr>
          <a:xfrm>
            <a:off x="1420977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只改错字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25"/>
          <p:cNvSpPr txBox="1"/>
          <p:nvPr>
            <p:custDataLst>
              <p:tags r:id="rId26"/>
            </p:custDataLst>
          </p:nvPr>
        </p:nvSpPr>
        <p:spPr>
          <a:xfrm>
            <a:off x="14209776" y="6062471"/>
            <a:ext cx="2295144" cy="207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修改只挑错别字，内容一动不动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对策：三档评价标准，先切题再具体</a:t>
            </a:r>
            <a:endParaRPr lang="zh-CN"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228975"/>
            <a:ext cx="18105120" cy="1752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15000" b="1" kern="0" spc="-4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914400" y="5172075"/>
            <a:ext cx="18105120" cy="1247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一节课的上法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914400" y="6591300"/>
            <a:ext cx="181051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两节连排，七个环节，结构固定。</a:t>
            </a:r>
            <a:endParaRPr lang="en-US" sz="2550"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88011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课堂结构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1190"/>
            <a:ext cx="8801100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5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两节连排，当次写完，当次评完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914400" y="2863215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3225165"/>
            <a:ext cx="13735050" cy="5561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不拆分为单节授课；第 1 节结束时不布置任何课后写作任务。</a:t>
            </a:r>
            <a:endParaRPr lang="en-US" sz="2400" dirty="0"/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914400" y="4505236"/>
            <a:ext cx="5283101" cy="3548955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1343025" y="5048161"/>
            <a:ext cx="4868436" cy="1169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9900" b="1" kern="0" spc="-297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45</a:t>
            </a:r>
            <a:endParaRPr lang="en-US" sz="990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1343025" y="6370201"/>
            <a:ext cx="4868436" cy="561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分钟 × 2</a:t>
            </a:r>
            <a:endParaRPr lang="en-US" sz="285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1343025" y="7084576"/>
            <a:ext cx="4868436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中间课间休息，同一次连排完成</a:t>
            </a:r>
            <a:endParaRPr lang="en-US" sz="21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6502301" y="4505236"/>
            <a:ext cx="5283250" cy="3548955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6930926" y="5048161"/>
            <a:ext cx="4868600" cy="1169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9900" b="1" kern="0" spc="-297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7</a:t>
            </a:r>
            <a:endParaRPr lang="en-US" sz="990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6930926" y="6370201"/>
            <a:ext cx="4868600" cy="561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个固定环节</a:t>
            </a:r>
            <a:endParaRPr lang="en-US" sz="2850" dirty="0"/>
          </a:p>
        </p:txBody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930926" y="7084576"/>
            <a:ext cx="486860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顺序固定，教师无需自行安排</a:t>
            </a:r>
            <a:endParaRPr lang="en-US" sz="2100" dirty="0"/>
          </a:p>
        </p:txBody>
      </p:sp>
      <p:sp>
        <p:nvSpPr>
          <p:cNvPr id="15" name="Shape 12"/>
          <p:cNvSpPr/>
          <p:nvPr>
            <p:custDataLst>
              <p:tags r:id="rId9"/>
            </p:custDataLst>
          </p:nvPr>
        </p:nvSpPr>
        <p:spPr>
          <a:xfrm>
            <a:off x="12090350" y="4505236"/>
            <a:ext cx="5283250" cy="3548955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12518975" y="5048161"/>
            <a:ext cx="4868600" cy="1169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9900" b="1" kern="0" spc="-297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</a:t>
            </a:r>
            <a:endParaRPr lang="en-US" sz="9900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12518975" y="6370201"/>
            <a:ext cx="4868600" cy="561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项课后写作任务</a:t>
            </a:r>
            <a:endParaRPr lang="en-US" sz="2850" dirty="0"/>
          </a:p>
        </p:txBody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12518975" y="7084576"/>
            <a:ext cx="486860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作品当次完成、当次评改</a:t>
            </a:r>
            <a:endParaRPr lang="zh-CN" altLang="en-US" sz="2100" dirty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04" name="Rectangle 803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2991465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课堂流程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44331"/>
            <a:ext cx="15910560" cy="980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七个固定环节，八个教学步骤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Rectangle 5"/>
          <p:cNvSpPr/>
          <p:nvPr/>
        </p:nvSpPr>
        <p:spPr>
          <a:xfrm>
            <a:off x="914400" y="5606415"/>
            <a:ext cx="9944100" cy="39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ectangle 6"/>
          <p:cNvSpPr/>
          <p:nvPr/>
        </p:nvSpPr>
        <p:spPr>
          <a:xfrm>
            <a:off x="10858500" y="5606415"/>
            <a:ext cx="5966460" cy="3900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TextBox 7"/>
          <p:cNvSpPr txBox="1"/>
          <p:nvPr/>
        </p:nvSpPr>
        <p:spPr>
          <a:xfrm>
            <a:off x="95417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创设情境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57962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0" name="TextBox 9"/>
          <p:cNvSpPr txBox="1"/>
          <p:nvPr/>
        </p:nvSpPr>
        <p:spPr>
          <a:xfrm>
            <a:off x="1579627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4299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观察体验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56844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/>
        </p:nvSpPr>
        <p:spPr>
          <a:xfrm>
            <a:off x="3568447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3181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学写法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55726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TextBox 17"/>
          <p:cNvSpPr txBox="1"/>
          <p:nvPr/>
        </p:nvSpPr>
        <p:spPr>
          <a:xfrm>
            <a:off x="555726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2063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借助构思表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54608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2" name="TextBox 21"/>
          <p:cNvSpPr txBox="1"/>
          <p:nvPr/>
        </p:nvSpPr>
        <p:spPr>
          <a:xfrm>
            <a:off x="754608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0945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出示示范文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53490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6" name="TextBox 25"/>
          <p:cNvSpPr txBox="1"/>
          <p:nvPr/>
        </p:nvSpPr>
        <p:spPr>
          <a:xfrm>
            <a:off x="953490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89827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写下开头几句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523728" y="5296733"/>
            <a:ext cx="658367" cy="658367"/>
          </a:xfrm>
          <a:prstGeom prst="ellipse">
            <a:avLst/>
          </a:prstGeom>
          <a:solidFill>
            <a:srgbClr val="1C3D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0" name="TextBox 29"/>
          <p:cNvSpPr txBox="1"/>
          <p:nvPr/>
        </p:nvSpPr>
        <p:spPr>
          <a:xfrm>
            <a:off x="1152372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88709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自由写作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3512548" y="5296733"/>
            <a:ext cx="658367" cy="658367"/>
          </a:xfrm>
          <a:prstGeom prst="ellipse">
            <a:avLst/>
          </a:prstGeom>
          <a:solidFill>
            <a:srgbClr val="1C3D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4" name="TextBox 33"/>
          <p:cNvSpPr txBox="1"/>
          <p:nvPr/>
        </p:nvSpPr>
        <p:spPr>
          <a:xfrm>
            <a:off x="1351254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875916" y="4768850"/>
            <a:ext cx="1909268" cy="3746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19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交流评议</a:t>
            </a:r>
            <a:endParaRPr sz="19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5501368" y="5296733"/>
            <a:ext cx="658367" cy="658367"/>
          </a:xfrm>
          <a:prstGeom prst="ellipse">
            <a:avLst/>
          </a:prstGeom>
          <a:solidFill>
            <a:srgbClr val="1C3D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8" name="TextBox 37"/>
          <p:cNvSpPr txBox="1"/>
          <p:nvPr/>
        </p:nvSpPr>
        <p:spPr>
          <a:xfrm>
            <a:off x="1550136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4400" y="7764780"/>
            <a:ext cx="994410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第 1 节 · </a:t>
            </a:r>
            <a:r>
              <a:rPr lang="zh-CN" sz="225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写作</a:t>
            </a:r>
            <a:r>
              <a:rPr sz="225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指导</a:t>
            </a:r>
            <a:r>
              <a:rPr lang="zh-CN" sz="225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课</a:t>
            </a:r>
            <a:endParaRPr lang="zh-CN" sz="2250" b="1" i="0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858500" y="7764780"/>
            <a:ext cx="596646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第 2 节 · 当堂写作、当堂评改</a:t>
            </a:r>
            <a:endParaRPr sz="2250" b="1" i="0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1" name="Bracket"/>
          <p:cNvSpPr/>
          <p:nvPr/>
        </p:nvSpPr>
        <p:spPr>
          <a:xfrm>
            <a:off x="11523728" y="6350000"/>
            <a:ext cx="2647187" cy="39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02" name="BracketLabel"/>
          <p:cNvSpPr txBox="1"/>
          <p:nvPr/>
        </p:nvSpPr>
        <p:spPr>
          <a:xfrm>
            <a:off x="10898276" y="6480000"/>
            <a:ext cx="420000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步骤 6、7 合为第 6 环节 · 当堂写作</a:t>
            </a:r>
            <a:endParaRPr sz="1800" b="1" i="0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3" name="Intro"/>
          <p:cNvSpPr txBox="1"/>
          <p:nvPr/>
        </p:nvSpPr>
        <p:spPr>
          <a:xfrm>
            <a:off x="914400" y="3086100"/>
            <a:ext cx="1591056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25" b="1" i="0">
                <a:solidFill>
                  <a:srgbClr val="3A5873"/>
                </a:solidFill>
                <a:latin typeface="微软雅黑" panose="020B0503020204020204" charset="-122"/>
                <a:ea typeface="微软雅黑" panose="020B0503020204020204" charset="-122"/>
              </a:rPr>
              <a:t>第 1–5 步和第 8 步各为一个环节；第 6、7 步同属「当堂写作」环节，合计七个环节。</a:t>
            </a:r>
            <a:endParaRPr sz="2025" b="1" i="0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2454255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设计原则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701799"/>
            <a:ext cx="15910560" cy="865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四条原则，条条落到具体环节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59105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每一条都落实在课堂上某一个具体环节里。</a:t>
            </a:r>
            <a:endParaRPr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9214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9214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918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真实情境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9181" y="606247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写作要有真实的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生活体验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和用途，不是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为了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写完交给老师评分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98348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526122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526122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529826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先体验，再动笔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5298261" y="606247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构思之前必有一个体验环节，不直接发表格让学生凭空构思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905256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933030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933030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936734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当堂就有回应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9367341" y="606247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写完当堂即得到具体到某一句的肯定，不依赖课后批改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312164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339938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339938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343642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初稿不打断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13436421" y="6062471"/>
            <a:ext cx="307375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学生写初稿时不打断、不纠错，错字病句一律留到修改环节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2371705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第 3 环节 · 学写法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374073"/>
            <a:ext cx="15910560" cy="1405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63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每节课只教一种写法，讲透</a:t>
            </a:r>
            <a:endParaRPr sz="63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5979795"/>
            <a:ext cx="1280160" cy="51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6442710"/>
            <a:ext cx="16146145" cy="1411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7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一节课只讲一个主要写法，最多再带一两个小点。难度以本单元教材要求为限，不额外拔高，第 2 节要留足时间供学生写作。</a:t>
            </a:r>
            <a:endParaRPr sz="27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762762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3 环节 · 审题辨析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25955"/>
            <a:ext cx="7627620" cy="704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「学写法」环节从审题辨析开始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14400" y="2821305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3145155"/>
            <a:ext cx="1471612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老师当场给出两段对比例子，让学生判断哪一段切题，再引出本课要学的写法。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14400" y="4011930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04925" y="4364355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 段 · 偏题的写法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304925" y="5002530"/>
            <a:ext cx="7534656" cy="47803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写得具体、写得像样，在「具体不具体」上不输 B 段。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304925" y="5613916"/>
            <a:ext cx="7534656" cy="9179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它只错在一处：没有写题目真正要求的那件事。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277350" y="4011930"/>
            <a:ext cx="8096250" cy="283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667875" y="4364355"/>
            <a:ext cx="80467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 段 · 切题的写法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9667875" y="5002530"/>
            <a:ext cx="7534656" cy="47803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同样写得具体，但落点正确。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667875" y="5613916"/>
            <a:ext cx="7534656" cy="9179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老师顺着两段的差别完成两件事：点明这一课要写什么，再引出本课的写法。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14400" y="7151013"/>
            <a:ext cx="16459200" cy="2087761"/>
          </a:xfrm>
          <a:prstGeom prst="rect">
            <a:avLst/>
          </a:prstGeom>
          <a:solidFill>
            <a:srgbClr val="1C3D5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295400" y="7455813"/>
            <a:ext cx="1726692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审题辨析：比是否切题，有对错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95400" y="7996803"/>
            <a:ext cx="1726692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讲技法处：比效果高下，无对错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295400" y="8537793"/>
            <a:ext cx="17266920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9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</a:t>
            </a:r>
            <a:r>
              <a:rPr lang="en-US" sz="19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两处分开</a:t>
            </a:r>
            <a:r>
              <a:rPr lang="zh-CN" altLang="en-US" sz="19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举例</a:t>
            </a:r>
            <a:r>
              <a:rPr lang="en-US" sz="19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讲</a:t>
            </a:r>
            <a:r>
              <a:rPr lang="zh-CN" altLang="en-US" sz="19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；清晰不混淆</a:t>
            </a:r>
            <a:endParaRPr lang="zh-CN" altLang="en-US" sz="1950" dirty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1074991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审题辨析 · 课件页面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7845"/>
            <a:ext cx="10749915" cy="681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两段对比例</a:t>
            </a:r>
            <a:r>
              <a:rPr lang="zh-CN" altLang="en-US" sz="40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</a:t>
            </a:r>
            <a:r>
              <a:rPr lang="en-US" sz="40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课件中已备好，教师无需自行编写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914400" y="2698433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3155633"/>
            <a:ext cx="10115550" cy="5698331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55633"/>
            <a:ext cx="10115550" cy="5698331"/>
          </a:xfrm>
          <a:prstGeom prst="rect">
            <a:avLst/>
          </a:prstGeom>
        </p:spPr>
      </p:pic>
      <p:sp>
        <p:nvSpPr>
          <p:cNvPr id="8" name="Shape 4"/>
          <p:cNvSpPr/>
          <p:nvPr>
            <p:custDataLst>
              <p:tags r:id="rId2"/>
            </p:custDataLst>
          </p:nvPr>
        </p:nvSpPr>
        <p:spPr>
          <a:xfrm>
            <a:off x="11563350" y="4647486"/>
            <a:ext cx="485775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9" name="Text 5"/>
          <p:cNvSpPr/>
          <p:nvPr>
            <p:custDataLst>
              <p:tags r:id="rId3"/>
            </p:custDataLst>
          </p:nvPr>
        </p:nvSpPr>
        <p:spPr>
          <a:xfrm>
            <a:off x="11563350" y="4866561"/>
            <a:ext cx="5003483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两段对</a:t>
            </a:r>
            <a:r>
              <a:rPr lang="zh-CN" alt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比</a:t>
            </a: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直接投屏，学生看着屏幕判断</a:t>
            </a:r>
            <a:endParaRPr lang="en-US" sz="2250" dirty="0"/>
          </a:p>
        </p:txBody>
      </p:sp>
      <p:sp>
        <p:nvSpPr>
          <p:cNvPr id="10" name="Shape 6"/>
          <p:cNvSpPr/>
          <p:nvPr>
            <p:custDataLst>
              <p:tags r:id="rId4"/>
            </p:custDataLst>
          </p:nvPr>
        </p:nvSpPr>
        <p:spPr>
          <a:xfrm>
            <a:off x="11563350" y="5666661"/>
            <a:ext cx="485775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1" name="Text 7"/>
          <p:cNvSpPr/>
          <p:nvPr>
            <p:custDataLst>
              <p:tags r:id="rId5"/>
            </p:custDataLst>
          </p:nvPr>
        </p:nvSpPr>
        <p:spPr>
          <a:xfrm>
            <a:off x="11563350" y="5885736"/>
            <a:ext cx="5003483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 段写得同样具体，只在切题这一条上有误</a:t>
            </a:r>
            <a:endParaRPr lang="en-US" sz="2250" dirty="0"/>
          </a:p>
        </p:txBody>
      </p:sp>
      <p:sp>
        <p:nvSpPr>
          <p:cNvPr id="12" name="Shape 8"/>
          <p:cNvSpPr/>
          <p:nvPr>
            <p:custDataLst>
              <p:tags r:id="rId6"/>
            </p:custDataLst>
          </p:nvPr>
        </p:nvSpPr>
        <p:spPr>
          <a:xfrm>
            <a:off x="11563350" y="6685836"/>
            <a:ext cx="485775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3" name="Text 9"/>
          <p:cNvSpPr/>
          <p:nvPr>
            <p:custDataLst>
              <p:tags r:id="rId7"/>
            </p:custDataLst>
          </p:nvPr>
        </p:nvSpPr>
        <p:spPr>
          <a:xfrm>
            <a:off x="11563350" y="6904911"/>
            <a:ext cx="5003483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教师照详案讲解，无需临时编例子</a:t>
            </a:r>
            <a:endParaRPr lang="en-US" sz="2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/>
          <p:cNvSpPr/>
          <p:nvPr/>
        </p:nvSpPr>
        <p:spPr>
          <a:xfrm>
            <a:off x="914400" y="3110230"/>
            <a:ext cx="580834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5 环节 · 示范文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914400" y="4009132"/>
            <a:ext cx="16764000" cy="9638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4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给学生看的是「教师示范文」，不是名家范文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914400" y="5353943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5772785"/>
            <a:ext cx="14716125" cy="17062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示范文</a:t>
            </a:r>
            <a:r>
              <a:rPr lang="zh-CN" alt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设定为</a:t>
            </a:r>
            <a:r>
              <a:rPr 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</a:t>
            </a:r>
            <a:r>
              <a:rPr lang="zh-CN" alt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按该年级中上水平的学生</a:t>
            </a:r>
            <a:r>
              <a:rPr 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</a:t>
            </a:r>
            <a:r>
              <a:rPr lang="zh-CN" alt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，切合课堂教学目标</a:t>
            </a:r>
            <a:r>
              <a:rPr 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，用的</a:t>
            </a:r>
            <a:r>
              <a:rPr lang="zh-CN" alt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就</a:t>
            </a:r>
            <a:r>
              <a:rPr 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是学生刚填过的那张构思表——几个关键词如何扩展为一段话，学生看得见，也够得着。示范文放在学生填完素材之后</a:t>
            </a:r>
            <a:r>
              <a:rPr lang="zh-CN" alt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</a:t>
            </a:r>
            <a:r>
              <a:rPr 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先想自己的，再看老师</a:t>
            </a:r>
            <a:r>
              <a:rPr lang="zh-CN" alt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</a:t>
            </a:r>
            <a:r>
              <a:rPr lang="en-US" sz="270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，避免照样套写。</a:t>
            </a:r>
            <a:endParaRPr lang="en-US" sz="2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13358813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示范文 · 讲解要点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3358813" cy="6334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7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不只讲结构如何搭建，</a:t>
            </a:r>
            <a:r>
              <a:rPr lang="zh-CN" altLang="en-US" sz="37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用旁批表说明这</a:t>
            </a:r>
            <a:r>
              <a:rPr lang="en-US" sz="37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句话</a:t>
            </a:r>
            <a:r>
              <a:rPr lang="zh-CN" altLang="en-US" sz="37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的用处</a:t>
            </a:r>
            <a:endParaRPr lang="zh-CN" altLang="en-US" sz="3750" b="1" dirty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14400" y="2717483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3174683"/>
            <a:ext cx="10115550" cy="5698331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74683"/>
            <a:ext cx="10115550" cy="56983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563350" y="4437936"/>
            <a:ext cx="581025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1563350" y="4657090"/>
            <a:ext cx="623252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左侧是示范文中的句子，右侧点明这一句的作用</a:t>
            </a:r>
            <a:endParaRPr lang="en-US" sz="2250" dirty="0"/>
          </a:p>
        </p:txBody>
      </p:sp>
      <p:sp>
        <p:nvSpPr>
          <p:cNvPr id="10" name="Shape 6"/>
          <p:cNvSpPr/>
          <p:nvPr/>
        </p:nvSpPr>
        <p:spPr>
          <a:xfrm>
            <a:off x="11563350" y="5487591"/>
            <a:ext cx="581025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1563350" y="5706666"/>
            <a:ext cx="5984558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颜色、声音、味道、比喻，逐句列出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1563350" y="6506766"/>
            <a:ext cx="581025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1563350" y="6725841"/>
            <a:ext cx="5984558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学生看得见好在哪一句、哪个词上</a:t>
            </a:r>
            <a:endParaRPr lang="en-US" sz="2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2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117348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2 节 · 落笔起步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17370"/>
            <a:ext cx="11734800" cy="704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动笔之前，先化解「面对空白稿纸」的压力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14400" y="2712720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3036570"/>
            <a:ext cx="1471612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2 节开场设五分钟起步环节，按文体选用四种方式之一。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14400" y="3884295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4400" y="4179570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写人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143500" y="4160520"/>
            <a:ext cx="750570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教师连问三个具体问题，学生速记后组合成一两句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14400" y="4884420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14400" y="5179695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写景状物 · 观察说明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143500" y="5160645"/>
            <a:ext cx="6769418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盯住一处看清楚，教师引导一步，学生写一句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14400" y="5884545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4400" y="6179820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记事 · 书信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5143500" y="6160770"/>
            <a:ext cx="5592128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回想最关键的那一瞬，写下当时的几种感受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914400" y="7884795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14400" y="6884670"/>
            <a:ext cx="16459200" cy="9525"/>
          </a:xfrm>
          <a:prstGeom prst="rect">
            <a:avLst/>
          </a:prstGeom>
          <a:solidFill>
            <a:srgbClr val="DDD3C4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4400" y="7179945"/>
            <a:ext cx="41910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想象 · 抒情 · 读后感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5143500" y="7160895"/>
            <a:ext cx="6769418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限时快写三分钟，笔尖不离纸，不会写的字画圈跳过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914400" y="8237220"/>
            <a:ext cx="16459200" cy="998190"/>
          </a:xfrm>
          <a:prstGeom prst="rect">
            <a:avLst/>
          </a:prstGeom>
          <a:solidFill>
            <a:srgbClr val="1C3D5A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295400" y="8522970"/>
            <a:ext cx="16190976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前提：先让学生取出第 1 节填好的构思表，翻到某一格再动笔，不凭空想。</a:t>
            </a:r>
            <a:endParaRPr lang="en-US" sz="2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88011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7 环节 · 交流评议与修改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17395"/>
            <a:ext cx="8801100" cy="704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先肯定，再优化，教师只做轻点评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14400" y="2912745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3236595"/>
            <a:ext cx="1569720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顺序固定：即时反馈 → 按标准自改与同桌互改 → 教师轻点评 → 自然收尾。</a:t>
            </a:r>
            <a:endParaRPr lang="en-US" sz="2250" dirty="0"/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914400" y="4141470"/>
            <a:ext cx="16459200" cy="108004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1304925" y="4596765"/>
            <a:ext cx="3314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3300" b="1" dirty="0">
                <a:solidFill>
                  <a:srgbClr val="DDD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1884015" y="4474845"/>
            <a:ext cx="345757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即时反馈</a:t>
            </a:r>
            <a:endParaRPr lang="en-US" sz="24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5351145" y="4484370"/>
            <a:ext cx="7317105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多请几位学生发言，人人都被听到，好在哪句说哪句</a:t>
            </a:r>
            <a:endParaRPr lang="en-US" sz="2175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914400" y="5412016"/>
            <a:ext cx="16459200" cy="108004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1304925" y="5867311"/>
            <a:ext cx="3314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3300" b="1" dirty="0">
                <a:solidFill>
                  <a:srgbClr val="DDD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330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1884015" y="5745391"/>
            <a:ext cx="345757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自改与互改</a:t>
            </a:r>
            <a:endParaRPr lang="en-US" sz="2400" dirty="0"/>
          </a:p>
        </p:txBody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5351115" y="5754916"/>
            <a:ext cx="7900035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依据三档评价标准修改，使用修改符号</a:t>
            </a:r>
            <a:r>
              <a:rPr lang="zh-CN" alt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zh-CN" altLang="en-US" sz="2175" dirty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9"/>
            </p:custDataLst>
          </p:nvPr>
        </p:nvSpPr>
        <p:spPr>
          <a:xfrm>
            <a:off x="914400" y="6682561"/>
            <a:ext cx="16459200" cy="108004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1304925" y="7137856"/>
            <a:ext cx="3314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3300" b="1" dirty="0">
                <a:solidFill>
                  <a:srgbClr val="DDD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1884015" y="7015936"/>
            <a:ext cx="345757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教师轻点评</a:t>
            </a:r>
            <a:endParaRPr lang="en-US" sz="2400" dirty="0"/>
          </a:p>
        </p:txBody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5351115" y="7025461"/>
            <a:ext cx="6380798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具体肯定一两句，再指出一处马上能改的地方</a:t>
            </a:r>
            <a:endParaRPr lang="en-US" sz="2175" dirty="0"/>
          </a:p>
        </p:txBody>
      </p:sp>
      <p:sp>
        <p:nvSpPr>
          <p:cNvPr id="19" name="Shape 16"/>
          <p:cNvSpPr/>
          <p:nvPr>
            <p:custDataLst>
              <p:tags r:id="rId13"/>
            </p:custDataLst>
          </p:nvPr>
        </p:nvSpPr>
        <p:spPr>
          <a:xfrm>
            <a:off x="914400" y="7953107"/>
            <a:ext cx="16459200" cy="1080046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>
            <p:custDataLst>
              <p:tags r:id="rId14"/>
            </p:custDataLst>
          </p:nvPr>
        </p:nvSpPr>
        <p:spPr>
          <a:xfrm>
            <a:off x="1304925" y="8408402"/>
            <a:ext cx="3314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3300" b="1" dirty="0">
                <a:solidFill>
                  <a:srgbClr val="DDD3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</a:t>
            </a:r>
            <a:endParaRPr lang="en-US" sz="3300" dirty="0"/>
          </a:p>
        </p:txBody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1884015" y="8286482"/>
            <a:ext cx="345757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自然收尾</a:t>
            </a:r>
            <a:endParaRPr lang="en-US" sz="2400" dirty="0"/>
          </a:p>
        </p:txBody>
      </p:sp>
      <p:sp>
        <p:nvSpPr>
          <p:cNvPr id="22" name="Text 19"/>
          <p:cNvSpPr/>
          <p:nvPr>
            <p:custDataLst>
              <p:tags r:id="rId16"/>
            </p:custDataLst>
          </p:nvPr>
        </p:nvSpPr>
        <p:spPr>
          <a:xfrm>
            <a:off x="5351145" y="8296275"/>
            <a:ext cx="4766945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结尾只谈今天所写的这一篇，不</a:t>
            </a:r>
            <a:r>
              <a:rPr lang="zh-CN" altLang="en-US" sz="2175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随意扩展。</a:t>
            </a:r>
            <a:endParaRPr lang="zh-CN" altLang="en-US" sz="2175" dirty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228975"/>
            <a:ext cx="18105120" cy="1752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15000" b="1" kern="0" spc="-4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914400" y="5172075"/>
            <a:ext cx="18105120" cy="1247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配套</a:t>
            </a:r>
            <a:r>
              <a:rPr lang="zh-CN" alt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资料</a:t>
            </a:r>
            <a:r>
              <a:rPr 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与</a:t>
            </a:r>
            <a:r>
              <a:rPr lang="zh-CN" alt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习作</a:t>
            </a:r>
            <a:r>
              <a:rPr 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批改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914400" y="6591300"/>
            <a:ext cx="1810512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课前的交付与课后的批改，一份完整清单。</a:t>
            </a:r>
            <a:endParaRPr lang="en-US" sz="2550"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305814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交付清单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44331"/>
            <a:ext cx="15910560" cy="980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一个课次交付五项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59105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课件</a:t>
            </a:r>
            <a:r>
              <a:rPr lang="zh-CN"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详案、</a:t>
            </a:r>
            <a:r>
              <a:rPr lang="en-US" altLang="zh-CN"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与三份配套。</a:t>
            </a:r>
            <a:endParaRPr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8872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8872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529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逐字稿详案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5296" y="6062471"/>
            <a:ext cx="2295144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两节连排完整教学设计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含教师示范文与可选讲评环节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16052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443484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443484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481830" y="5192395"/>
            <a:ext cx="258826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投屏课件</a:t>
            </a:r>
            <a:r>
              <a:rPr lang="en-US"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endParaRPr lang="en-US"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471416" y="6062471"/>
            <a:ext cx="2295144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按上课节奏分页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740664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768096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768096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771753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学生配套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7717790" y="6062345"/>
            <a:ext cx="2294890" cy="2116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A4 四页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构思表 + 格子稿纸 + 备用续页 + 范文页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065276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092708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092708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096365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教师配套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10963656" y="6062471"/>
            <a:ext cx="2295144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A4 两页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速览页、教学提示旁注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  <p:sp>
        <p:nvSpPr>
          <p:cNvPr id="28" name="Rounded Rectangle 21"/>
          <p:cNvSpPr/>
          <p:nvPr>
            <p:custDataLst>
              <p:tags r:id="rId22"/>
            </p:custDataLst>
          </p:nvPr>
        </p:nvSpPr>
        <p:spPr>
          <a:xfrm>
            <a:off x="13898880" y="4063365"/>
            <a:ext cx="292608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9" name="Oval 22"/>
          <p:cNvSpPr/>
          <p:nvPr>
            <p:custDataLst>
              <p:tags r:id="rId23"/>
            </p:custDataLst>
          </p:nvPr>
        </p:nvSpPr>
        <p:spPr>
          <a:xfrm>
            <a:off x="14173200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0" name="TextBox 23"/>
          <p:cNvSpPr txBox="1"/>
          <p:nvPr>
            <p:custDataLst>
              <p:tags r:id="rId24"/>
            </p:custDataLst>
          </p:nvPr>
        </p:nvSpPr>
        <p:spPr>
          <a:xfrm>
            <a:off x="14173200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24"/>
          <p:cNvSpPr txBox="1"/>
          <p:nvPr>
            <p:custDataLst>
              <p:tags r:id="rId25"/>
            </p:custDataLst>
          </p:nvPr>
        </p:nvSpPr>
        <p:spPr>
          <a:xfrm>
            <a:off x="14209776" y="5192190"/>
            <a:ext cx="229514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家长配套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25"/>
          <p:cNvSpPr txBox="1"/>
          <p:nvPr>
            <p:custDataLst>
              <p:tags r:id="rId26"/>
            </p:custDataLst>
          </p:nvPr>
        </p:nvSpPr>
        <p:spPr>
          <a:xfrm>
            <a:off x="14209776" y="6062471"/>
            <a:ext cx="2295144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A4 一页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不用术语，讲清本课训练什么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1188148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详案 · 第一页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70685"/>
            <a:ext cx="11881485" cy="681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50" b="1" dirty="0">
                <a:solidFill>
                  <a:srgbClr val="2B2926"/>
                </a:solidFill>
                <a:cs typeface="微软雅黑" panose="020B0503020204020204" pitchFamily="34" charset="-120"/>
                <a:sym typeface="+mn-ea"/>
              </a:rPr>
              <a:t>详案第一页</a:t>
            </a:r>
            <a:r>
              <a:rPr lang="zh-CN" altLang="en-US" sz="4050" b="1" dirty="0">
                <a:solidFill>
                  <a:srgbClr val="2B2926"/>
                </a:solidFill>
                <a:cs typeface="微软雅黑" panose="020B0503020204020204" pitchFamily="34" charset="-120"/>
                <a:sym typeface="+mn-ea"/>
              </a:rPr>
              <a:t>是</a:t>
            </a:r>
            <a:r>
              <a:rPr lang="en-US" sz="40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每一课在整个体系中的坐标</a:t>
            </a:r>
            <a:r>
              <a:rPr lang="zh-CN" altLang="en-US" sz="40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和要点</a:t>
            </a:r>
            <a:endParaRPr lang="en-US" sz="4050" b="1" dirty="0">
              <a:solidFill>
                <a:srgbClr val="2B2926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14400" y="2542223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3372326"/>
            <a:ext cx="4058841" cy="57340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>
            <p:custDataLst>
              <p:tags r:id="rId1"/>
            </p:custDataLst>
          </p:nvPr>
        </p:nvSpPr>
        <p:spPr>
          <a:xfrm>
            <a:off x="5582841" y="4862989"/>
            <a:ext cx="68580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9" name="Text 5"/>
          <p:cNvSpPr/>
          <p:nvPr>
            <p:custDataLst>
              <p:tags r:id="rId2"/>
            </p:custDataLst>
          </p:nvPr>
        </p:nvSpPr>
        <p:spPr>
          <a:xfrm>
            <a:off x="5582841" y="5082064"/>
            <a:ext cx="706374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能力阶段一行，标明这一课处于能力阶梯的哪一阶</a:t>
            </a:r>
            <a:endParaRPr lang="en-US" sz="2250" dirty="0"/>
          </a:p>
        </p:txBody>
      </p:sp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5582841" y="5901214"/>
            <a:ext cx="68580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1" name="Text 7"/>
          <p:cNvSpPr/>
          <p:nvPr>
            <p:custDataLst>
              <p:tags r:id="rId4"/>
            </p:custDataLst>
          </p:nvPr>
        </p:nvSpPr>
        <p:spPr>
          <a:xfrm>
            <a:off x="5582841" y="6120289"/>
            <a:ext cx="706374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同类习作顺序一行，标明它的上一篇和下一篇</a:t>
            </a:r>
            <a:endParaRPr lang="en-US" sz="2250" dirty="0"/>
          </a:p>
        </p:txBody>
      </p:sp>
      <p:sp>
        <p:nvSpPr>
          <p:cNvPr id="12" name="Shape 8"/>
          <p:cNvSpPr/>
          <p:nvPr>
            <p:custDataLst>
              <p:tags r:id="rId5"/>
            </p:custDataLst>
          </p:nvPr>
        </p:nvSpPr>
        <p:spPr>
          <a:xfrm>
            <a:off x="5582841" y="6939439"/>
            <a:ext cx="68580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3" name="Text 9"/>
          <p:cNvSpPr/>
          <p:nvPr>
            <p:custDataLst>
              <p:tags r:id="rId6"/>
            </p:custDataLst>
          </p:nvPr>
        </p:nvSpPr>
        <p:spPr>
          <a:xfrm>
            <a:off x="5582920" y="7158355"/>
            <a:ext cx="7555230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教材要求一行，</a:t>
            </a:r>
            <a:r>
              <a:rPr lang="zh-CN" alt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引自统编教材</a:t>
            </a:r>
            <a:endParaRPr lang="en-US" sz="2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845" y="3494405"/>
            <a:ext cx="3795395" cy="54902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14400" y="762000"/>
            <a:ext cx="622363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详案 · 内页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77340"/>
            <a:ext cx="6223635" cy="681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405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详案</a:t>
            </a:r>
            <a:r>
              <a:rPr lang="en-US" sz="405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是逐字稿，不是方法提纲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914400" y="2448878"/>
            <a:ext cx="6096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3452336"/>
            <a:ext cx="4058841" cy="57340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52336"/>
            <a:ext cx="4058841" cy="57340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96116" y="4809649"/>
            <a:ext cx="62865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0196195" y="5028565"/>
            <a:ext cx="6891655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教师要说的话都已写出，新教师照着讲也能上</a:t>
            </a:r>
            <a:endParaRPr lang="en-US" sz="2250" dirty="0"/>
          </a:p>
        </p:txBody>
      </p:sp>
      <p:sp>
        <p:nvSpPr>
          <p:cNvPr id="10" name="Shape 6"/>
          <p:cNvSpPr/>
          <p:nvPr/>
        </p:nvSpPr>
        <p:spPr>
          <a:xfrm>
            <a:off x="10196116" y="5847874"/>
            <a:ext cx="62865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0196116" y="6066949"/>
            <a:ext cx="6475095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学生可能怎么答、教师如何追问，都已提前设计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0196116" y="6886099"/>
            <a:ext cx="6286500" cy="28575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0196195" y="7105015"/>
            <a:ext cx="6286500" cy="9645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zh-CN" altLang="en-US" sz="2250" dirty="0">
                <a:latin typeface="微软雅黑" panose="020B0503020204020204" charset="-122"/>
                <a:ea typeface="微软雅黑" panose="020B0503020204020204" charset="-122"/>
              </a:rPr>
              <a:t>正文中标注这一处对应课件第几页</a:t>
            </a:r>
            <a:endParaRPr lang="zh-CN" altLang="en-US" sz="22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90000"/>
          </a:blip>
          <a:srcRect l="-1" r="-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60" y="3452495"/>
            <a:ext cx="4206875" cy="57492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1357982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投屏课件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655445"/>
            <a:ext cx="8801100" cy="769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5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课件PPT</a:t>
            </a:r>
            <a:r>
              <a:rPr lang="zh-CN" altLang="en-US" sz="45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切合</a:t>
            </a:r>
            <a:r>
              <a:rPr lang="en-US" sz="45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上课节奏</a:t>
            </a:r>
            <a:endParaRPr lang="zh-CN" altLang="en-US" sz="4500" b="1" dirty="0">
              <a:solidFill>
                <a:srgbClr val="2B2926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740025"/>
            <a:ext cx="5359400" cy="59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rcRect l="-2" r="-2"/>
          <a:stretch>
            <a:fillRect/>
          </a:stretch>
        </p:blipFill>
        <p:spPr>
          <a:xfrm>
            <a:off x="1057275" y="4053780"/>
            <a:ext cx="5073551" cy="28537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8791575"/>
            <a:ext cx="5895231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创设情境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14400" y="9344025"/>
            <a:ext cx="5895231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用一个真实的对比开场，学生立刻有反应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6521450" y="2740025"/>
            <a:ext cx="5359400" cy="59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64226" y="4053632"/>
            <a:ext cx="5073700" cy="2853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1351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审题辨析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521351" y="9344025"/>
            <a:ext cx="589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两段对照直接上屏，学生自行判断</a:t>
            </a:r>
            <a:endParaRPr lang="en-US" sz="1950" dirty="0"/>
          </a:p>
        </p:txBody>
      </p:sp>
      <p:sp>
        <p:nvSpPr>
          <p:cNvPr id="14" name="Shape 9"/>
          <p:cNvSpPr/>
          <p:nvPr/>
        </p:nvSpPr>
        <p:spPr>
          <a:xfrm>
            <a:off x="12128500" y="2740025"/>
            <a:ext cx="5359400" cy="59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71325" y="4053632"/>
            <a:ext cx="5073700" cy="28539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28450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示范文旁批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12128450" y="9344025"/>
            <a:ext cx="589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每一句的作用，逐句呈现给学生</a:t>
            </a:r>
            <a:endParaRPr lang="en-US" sz="1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" r="-1"/>
          <a:stretch>
            <a:fillRect/>
          </a:stretch>
        </p:blipFill>
        <p:spPr>
          <a:xfrm>
            <a:off x="1554670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1357982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学生配套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5945818" cy="769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A4 四页，可直接打印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914400" y="2303115"/>
            <a:ext cx="5359301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rcRect l="-1" r="-1"/>
          <a:stretch>
            <a:fillRect/>
          </a:stretch>
        </p:blipFill>
        <p:spPr>
          <a:xfrm>
            <a:off x="1445121" y="2445990"/>
            <a:ext cx="4297859" cy="60692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8791575"/>
            <a:ext cx="5895231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构思表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14400" y="9344025"/>
            <a:ext cx="5895231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只填关键词、不填句子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6521351" y="2303115"/>
            <a:ext cx="5359450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rcRect l="-1" r="-1"/>
          <a:stretch>
            <a:fillRect/>
          </a:stretch>
        </p:blipFill>
        <p:spPr>
          <a:xfrm>
            <a:off x="7052072" y="2445990"/>
            <a:ext cx="4297859" cy="60692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1351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格子稿纸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521351" y="9344025"/>
            <a:ext cx="589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带字数刻度、教师批改栏与修改符号表</a:t>
            </a:r>
            <a:endParaRPr lang="en-US" sz="1950" dirty="0"/>
          </a:p>
        </p:txBody>
      </p:sp>
      <p:sp>
        <p:nvSpPr>
          <p:cNvPr id="14" name="Shape 9"/>
          <p:cNvSpPr/>
          <p:nvPr/>
        </p:nvSpPr>
        <p:spPr>
          <a:xfrm>
            <a:off x="12128450" y="2303115"/>
            <a:ext cx="5359450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rcRect l="-1" r="-1"/>
          <a:stretch>
            <a:fillRect/>
          </a:stretch>
        </p:blipFill>
        <p:spPr>
          <a:xfrm>
            <a:off x="12659171" y="2445990"/>
            <a:ext cx="4297859" cy="606921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28450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范文页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12430125" y="9300210"/>
            <a:ext cx="6124575" cy="4324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写法句高亮，旁注说明好在哪里，末尾一句话总结</a:t>
            </a:r>
            <a:endParaRPr lang="en-US" sz="1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" r="-1"/>
          <a:stretch>
            <a:fillRect/>
          </a:stretch>
        </p:blipFill>
        <p:spPr>
          <a:xfrm>
            <a:off x="1554670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3055337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教师配套与家长配套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5657850" cy="769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教师两页，家长一页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914400" y="2303115"/>
            <a:ext cx="5359301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rcRect l="-1" r="-1"/>
          <a:stretch>
            <a:fillRect/>
          </a:stretch>
        </p:blipFill>
        <p:spPr>
          <a:xfrm>
            <a:off x="1445121" y="2445990"/>
            <a:ext cx="4297859" cy="60692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8791575"/>
            <a:ext cx="5895231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教师速览页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14400" y="9344025"/>
            <a:ext cx="536829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一句话目标 + 两节时间轴，分钟数与详案一致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6521351" y="2303115"/>
            <a:ext cx="5359450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rcRect l="-1" r="-1"/>
          <a:stretch>
            <a:fillRect/>
          </a:stretch>
        </p:blipFill>
        <p:spPr>
          <a:xfrm>
            <a:off x="7052072" y="2445990"/>
            <a:ext cx="4297859" cy="60692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1351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教学提示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521351" y="9344025"/>
            <a:ext cx="589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每个环节都标明：哪里必须守、哪里可放开、为什么</a:t>
            </a:r>
            <a:endParaRPr lang="en-US" sz="1950" dirty="0"/>
          </a:p>
        </p:txBody>
      </p:sp>
      <p:sp>
        <p:nvSpPr>
          <p:cNvPr id="14" name="Shape 9"/>
          <p:cNvSpPr/>
          <p:nvPr/>
        </p:nvSpPr>
        <p:spPr>
          <a:xfrm>
            <a:off x="12128450" y="2303115"/>
            <a:ext cx="5359450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rcRect l="-1" r="-1"/>
          <a:stretch>
            <a:fillRect/>
          </a:stretch>
        </p:blipFill>
        <p:spPr>
          <a:xfrm>
            <a:off x="12659171" y="2445990"/>
            <a:ext cx="4297859" cy="606921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27280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家长一页纸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12927280" y="9344025"/>
            <a:ext cx="589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不用术语，讲清本课训练什么</a:t>
            </a:r>
            <a:endParaRPr lang="en-US" sz="1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" r="-1"/>
          <a:stretch>
            <a:fillRect/>
          </a:stretch>
        </p:blipFill>
        <p:spPr>
          <a:xfrm>
            <a:off x="1554670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06" name="Rectangle 805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2"/>
          <p:cNvSpPr txBox="1"/>
          <p:nvPr/>
        </p:nvSpPr>
        <p:spPr>
          <a:xfrm>
            <a:off x="914400" y="819785"/>
            <a:ext cx="11587480" cy="299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cs typeface="微软雅黑" panose="020B0503020204020204" pitchFamily="34" charset="-120"/>
                <a:sym typeface="+mn-ea"/>
              </a:rPr>
              <a:t>批改助手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"/>
          <p:cNvSpPr txBox="1"/>
          <p:nvPr/>
        </p:nvSpPr>
        <p:spPr>
          <a:xfrm>
            <a:off x="914400" y="1644331"/>
            <a:ext cx="15910560" cy="980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批改一个班的完整流程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38" name="Rectangle 5"/>
          <p:cNvSpPr/>
          <p:nvPr/>
        </p:nvSpPr>
        <p:spPr>
          <a:xfrm>
            <a:off x="914400" y="5606415"/>
            <a:ext cx="10607040" cy="39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39" name="Rectangle 6"/>
          <p:cNvSpPr/>
          <p:nvPr/>
        </p:nvSpPr>
        <p:spPr>
          <a:xfrm>
            <a:off x="11521440" y="5606415"/>
            <a:ext cx="5303520" cy="3900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40" name="TextBox 7"/>
          <p:cNvSpPr txBox="1"/>
          <p:nvPr/>
        </p:nvSpPr>
        <p:spPr>
          <a:xfrm>
            <a:off x="967434" y="4711065"/>
            <a:ext cx="2545691" cy="43243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p>
            <a:pPr algn="ctr">
              <a:lnSpc>
                <a:spcPct val="125000"/>
              </a:lnSpc>
            </a:pPr>
            <a:r>
              <a:rPr sz="22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选课</a:t>
            </a:r>
            <a:endParaRPr sz="22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Oval 8"/>
          <p:cNvSpPr/>
          <p:nvPr/>
        </p:nvSpPr>
        <p:spPr>
          <a:xfrm>
            <a:off x="191109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42" name="TextBox 9"/>
          <p:cNvSpPr txBox="1"/>
          <p:nvPr/>
        </p:nvSpPr>
        <p:spPr>
          <a:xfrm>
            <a:off x="191109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10"/>
          <p:cNvSpPr txBox="1"/>
          <p:nvPr/>
        </p:nvSpPr>
        <p:spPr>
          <a:xfrm>
            <a:off x="914400" y="6609715"/>
            <a:ext cx="2651760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195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选择当天所上的一课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11"/>
          <p:cNvSpPr txBox="1"/>
          <p:nvPr/>
        </p:nvSpPr>
        <p:spPr>
          <a:xfrm>
            <a:off x="3619194" y="4711065"/>
            <a:ext cx="2545691" cy="43243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p>
            <a:pPr algn="ctr">
              <a:lnSpc>
                <a:spcPct val="125000"/>
              </a:lnSpc>
            </a:pPr>
            <a:r>
              <a:rPr sz="22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连拍</a:t>
            </a:r>
            <a:endParaRPr sz="22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12"/>
          <p:cNvSpPr/>
          <p:nvPr/>
        </p:nvSpPr>
        <p:spPr>
          <a:xfrm>
            <a:off x="456285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46" name="TextBox 13"/>
          <p:cNvSpPr txBox="1"/>
          <p:nvPr/>
        </p:nvSpPr>
        <p:spPr>
          <a:xfrm>
            <a:off x="4562857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14"/>
          <p:cNvSpPr txBox="1"/>
          <p:nvPr/>
        </p:nvSpPr>
        <p:spPr>
          <a:xfrm>
            <a:off x="3566160" y="6609715"/>
            <a:ext cx="2651760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195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一次一张，拍摄全班稿纸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15"/>
          <p:cNvSpPr txBox="1"/>
          <p:nvPr/>
        </p:nvSpPr>
        <p:spPr>
          <a:xfrm>
            <a:off x="6270954" y="4711065"/>
            <a:ext cx="2545691" cy="43243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p>
            <a:pPr algn="ctr">
              <a:lnSpc>
                <a:spcPct val="125000"/>
              </a:lnSpc>
            </a:pPr>
            <a:r>
              <a:rPr sz="22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逐份出批语</a:t>
            </a:r>
            <a:endParaRPr sz="22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Oval 16"/>
          <p:cNvSpPr/>
          <p:nvPr/>
        </p:nvSpPr>
        <p:spPr>
          <a:xfrm>
            <a:off x="721461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50" name="TextBox 17"/>
          <p:cNvSpPr txBox="1"/>
          <p:nvPr/>
        </p:nvSpPr>
        <p:spPr>
          <a:xfrm>
            <a:off x="721461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18"/>
          <p:cNvSpPr txBox="1"/>
          <p:nvPr/>
        </p:nvSpPr>
        <p:spPr>
          <a:xfrm>
            <a:off x="6217920" y="6609715"/>
            <a:ext cx="2651760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195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给教师看的判断与建议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8922714" y="4711065"/>
            <a:ext cx="2545691" cy="43243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p>
            <a:pPr algn="ctr">
              <a:lnSpc>
                <a:spcPct val="125000"/>
              </a:lnSpc>
            </a:pPr>
            <a:r>
              <a:rPr sz="22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家长点评卡</a:t>
            </a:r>
            <a:endParaRPr sz="22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Oval 20"/>
          <p:cNvSpPr/>
          <p:nvPr/>
        </p:nvSpPr>
        <p:spPr>
          <a:xfrm>
            <a:off x="9866378" y="5296733"/>
            <a:ext cx="658367" cy="658367"/>
          </a:xfrm>
          <a:prstGeom prst="ellipse">
            <a:avLst/>
          </a:prstGeom>
          <a:solidFill>
            <a:srgbClr val="C835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54" name="TextBox 21"/>
          <p:cNvSpPr txBox="1"/>
          <p:nvPr/>
        </p:nvSpPr>
        <p:spPr>
          <a:xfrm>
            <a:off x="986637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22"/>
          <p:cNvSpPr txBox="1"/>
          <p:nvPr/>
        </p:nvSpPr>
        <p:spPr>
          <a:xfrm>
            <a:off x="8869680" y="6609715"/>
            <a:ext cx="2651760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195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可直接发至家长群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23"/>
          <p:cNvSpPr txBox="1"/>
          <p:nvPr/>
        </p:nvSpPr>
        <p:spPr>
          <a:xfrm>
            <a:off x="11574474" y="4711065"/>
            <a:ext cx="2545691" cy="43243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p>
            <a:pPr algn="ctr">
              <a:lnSpc>
                <a:spcPct val="125000"/>
              </a:lnSpc>
            </a:pPr>
            <a:r>
              <a:rPr sz="22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班级问题汇总</a:t>
            </a:r>
            <a:endParaRPr sz="22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Oval 24"/>
          <p:cNvSpPr/>
          <p:nvPr/>
        </p:nvSpPr>
        <p:spPr>
          <a:xfrm>
            <a:off x="12518138" y="5296733"/>
            <a:ext cx="658367" cy="658367"/>
          </a:xfrm>
          <a:prstGeom prst="ellipse">
            <a:avLst/>
          </a:prstGeom>
          <a:solidFill>
            <a:srgbClr val="1C3D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58" name="TextBox 25"/>
          <p:cNvSpPr txBox="1"/>
          <p:nvPr/>
        </p:nvSpPr>
        <p:spPr>
          <a:xfrm>
            <a:off x="1251813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26"/>
          <p:cNvSpPr txBox="1"/>
          <p:nvPr/>
        </p:nvSpPr>
        <p:spPr>
          <a:xfrm>
            <a:off x="11521440" y="6609715"/>
            <a:ext cx="2651760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195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这个班整体卡在哪一步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27"/>
          <p:cNvSpPr txBox="1"/>
          <p:nvPr/>
        </p:nvSpPr>
        <p:spPr>
          <a:xfrm>
            <a:off x="14226234" y="4711065"/>
            <a:ext cx="2545691" cy="43243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p>
            <a:pPr algn="ctr">
              <a:lnSpc>
                <a:spcPct val="125000"/>
              </a:lnSpc>
            </a:pPr>
            <a:r>
              <a:rPr sz="225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选讲评篇目</a:t>
            </a:r>
            <a:endParaRPr sz="225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Oval 28"/>
          <p:cNvSpPr/>
          <p:nvPr/>
        </p:nvSpPr>
        <p:spPr>
          <a:xfrm>
            <a:off x="15169898" y="5296733"/>
            <a:ext cx="658367" cy="658367"/>
          </a:xfrm>
          <a:prstGeom prst="ellipse">
            <a:avLst/>
          </a:prstGeom>
          <a:solidFill>
            <a:srgbClr val="1C3D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2700"/>
          </a:p>
        </p:txBody>
      </p:sp>
      <p:sp>
        <p:nvSpPr>
          <p:cNvPr id="62" name="TextBox 29"/>
          <p:cNvSpPr txBox="1"/>
          <p:nvPr/>
        </p:nvSpPr>
        <p:spPr>
          <a:xfrm>
            <a:off x="15169898" y="5418271"/>
            <a:ext cx="658366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30"/>
          <p:cNvSpPr txBox="1"/>
          <p:nvPr/>
        </p:nvSpPr>
        <p:spPr>
          <a:xfrm>
            <a:off x="14173200" y="6609715"/>
            <a:ext cx="2651760" cy="359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195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哪几篇适合下次课讲评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31"/>
          <p:cNvSpPr txBox="1"/>
          <p:nvPr/>
        </p:nvSpPr>
        <p:spPr>
          <a:xfrm>
            <a:off x="914400" y="7764780"/>
            <a:ext cx="1060704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逐份批改</a:t>
            </a:r>
            <a:endParaRPr sz="2250" b="1" i="0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32"/>
          <p:cNvSpPr txBox="1"/>
          <p:nvPr/>
        </p:nvSpPr>
        <p:spPr>
          <a:xfrm>
            <a:off x="11521440" y="7764780"/>
            <a:ext cx="530352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sz="2250" b="1" i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班级汇总</a:t>
            </a:r>
            <a:endParaRPr sz="2250" b="1" i="0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Intro"/>
          <p:cNvSpPr txBox="1"/>
          <p:nvPr/>
        </p:nvSpPr>
        <p:spPr>
          <a:xfrm>
            <a:off x="914400" y="3349093"/>
            <a:ext cx="15910560" cy="3740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l">
              <a:lnSpc>
                <a:spcPct val="120000"/>
              </a:lnSpc>
            </a:pPr>
            <a:r>
              <a:rPr sz="2025" i="0">
                <a:solidFill>
                  <a:srgbClr val="3A5873"/>
                </a:solidFill>
                <a:latin typeface="微软雅黑" panose="020B0503020204020204" charset="-122"/>
                <a:ea typeface="微软雅黑" panose="020B0503020204020204" charset="-122"/>
              </a:rPr>
              <a:t>批改由配套的「同步习作批改助手」完成，网页端与手机端均可使用。</a:t>
            </a:r>
            <a:endParaRPr sz="2025" i="0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1357982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批改助手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8801100" cy="769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5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同步习作批改助手：网页端与手机端均可使用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914400" y="2303115"/>
            <a:ext cx="5359301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rcRect l="-2" r="-2"/>
          <a:stretch>
            <a:fillRect/>
          </a:stretch>
        </p:blipFill>
        <p:spPr>
          <a:xfrm>
            <a:off x="1852094" y="2530670"/>
            <a:ext cx="3483912" cy="590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8791575"/>
            <a:ext cx="5895231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选择课次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14400" y="9344025"/>
            <a:ext cx="5895231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搜索或从最近使用中选择本次批改的课次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6521351" y="2303115"/>
            <a:ext cx="5359450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01076" y="3902003"/>
            <a:ext cx="4800000" cy="31573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1351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拍照上传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521351" y="9344025"/>
            <a:ext cx="589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支持连拍或从相册多选，一次上传全班稿纸</a:t>
            </a:r>
            <a:endParaRPr lang="en-US" sz="1950" dirty="0"/>
          </a:p>
        </p:txBody>
      </p:sp>
      <p:sp>
        <p:nvSpPr>
          <p:cNvPr id="14" name="Shape 9"/>
          <p:cNvSpPr/>
          <p:nvPr/>
        </p:nvSpPr>
        <p:spPr>
          <a:xfrm>
            <a:off x="12128450" y="2303115"/>
            <a:ext cx="5359450" cy="63551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834735" y="2530670"/>
            <a:ext cx="3946879" cy="5900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28450" y="8791575"/>
            <a:ext cx="589539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逐份批改结果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12128450" y="9344025"/>
            <a:ext cx="589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讲评要点、亮点句、评价判据、稿纸批语与</a:t>
            </a:r>
            <a:r>
              <a:rPr lang="zh-CN" alt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家长反馈卡</a:t>
            </a:r>
            <a:endParaRPr lang="en-US" sz="1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" r="-1"/>
          <a:stretch>
            <a:fillRect/>
          </a:stretch>
        </p:blipFill>
        <p:spPr>
          <a:xfrm>
            <a:off x="1554670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0705465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批改依据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701799"/>
            <a:ext cx="15910560" cy="865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按本课教</a:t>
            </a:r>
            <a:r>
              <a:rPr lang="zh-CN"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学目标</a:t>
            </a: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批改</a:t>
            </a:r>
            <a:r>
              <a:rPr lang="zh-CN"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为主，其余参考</a:t>
            </a: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通用作文标准</a:t>
            </a:r>
            <a:endParaRPr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59105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这是它与通用 AI 批改</a:t>
            </a:r>
            <a:r>
              <a:rPr lang="zh-CN"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作文</a:t>
            </a: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主要</a:t>
            </a:r>
            <a:r>
              <a:rPr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区别。</a:t>
            </a:r>
            <a:endParaRPr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9214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9214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918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三条依据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9181" y="6062471"/>
            <a:ext cx="3073758" cy="159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本课所教写法是否学会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评等级只看这一条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498348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526122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526122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529826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整篇三项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5298261" y="6062471"/>
            <a:ext cx="3073758" cy="159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完整性、条理、是否通顺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供教师参考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905256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933030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933030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936734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亮点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9367341" y="6062471"/>
            <a:ext cx="3073758" cy="159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学生自己写得好的那一处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一条都没有也可以，勉强夸奖家长看得出来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3121640" y="4063365"/>
            <a:ext cx="370332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Oval 22"/>
          <p:cNvSpPr/>
          <p:nvPr>
            <p:custDataLst>
              <p:tags r:id="rId17"/>
            </p:custDataLst>
          </p:nvPr>
        </p:nvSpPr>
        <p:spPr>
          <a:xfrm>
            <a:off x="1339938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339938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13436421" y="5192190"/>
            <a:ext cx="30737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一件事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13436421" y="6062471"/>
            <a:ext cx="3073758" cy="159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这一篇最值得说的一点</a:t>
            </a:r>
            <a:endParaRPr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点评卡从这一点说起</a:t>
            </a:r>
            <a:endParaRPr sz="21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228975"/>
            <a:ext cx="18105120" cy="1752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2000"/>
              </a:lnSpc>
              <a:buNone/>
            </a:pPr>
            <a:r>
              <a:rPr lang="en-US" sz="15000" b="1" kern="0" spc="-450" dirty="0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914400" y="5172075"/>
            <a:ext cx="6276340" cy="1247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怎么用这门课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914400" y="6591300"/>
            <a:ext cx="670306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三种用法，</a:t>
            </a:r>
            <a:r>
              <a:rPr lang="zh-CN" altLang="en-US" sz="25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按具体</a:t>
            </a:r>
            <a:r>
              <a:rPr lang="en-US" sz="25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情况选</a:t>
            </a:r>
            <a:r>
              <a:rPr lang="zh-CN" altLang="en-US" sz="25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择</a:t>
            </a:r>
            <a:r>
              <a:rPr lang="en-US" sz="2550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en-US" sz="2550" dirty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78" name="Rectangle 777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2454255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i="0" spc="273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三种用法</a:t>
            </a:r>
            <a:endParaRPr sz="195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701799"/>
            <a:ext cx="15910560" cy="865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三种用法，按馆内情况</a:t>
            </a:r>
            <a:r>
              <a:rPr lang="zh-CN" sz="45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选择</a:t>
            </a:r>
            <a:endParaRPr lang="zh-CN" sz="45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59786"/>
            <a:ext cx="609600" cy="381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59105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0" i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</a:rPr>
              <a:t>适用于已开设读书会的馆，也适用于开设绘本多维课程或尚未开设相关课程的馆。</a:t>
            </a:r>
            <a:endParaRPr lang="zh-CN" altLang="en-US" sz="240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914400" y="4063365"/>
            <a:ext cx="524256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19214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9214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229181" y="5192190"/>
            <a:ext cx="461299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读书会配</a:t>
            </a:r>
            <a:r>
              <a:rPr lang="zh-CN"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合</a:t>
            </a:r>
            <a:endParaRPr lang="zh-CN"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29181" y="6062471"/>
            <a:ext cx="4612998" cy="110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读书会安排不变，增设同步写作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作为写作配套，现有学员直接加课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6522720" y="4063365"/>
            <a:ext cx="524256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680046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80046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6837501" y="5192190"/>
            <a:ext cx="461299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与快乐读书吧阅读组合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6837501" y="6062471"/>
            <a:ext cx="4612998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同步写作与快乐读书吧交替开展，每学期 16 次课，8 次同步写作课，8 次快乐读书吧，均依据统编教材。</a:t>
            </a:r>
            <a:endParaRPr lang="zh-CN"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12131040" y="4063365"/>
            <a:ext cx="5242560" cy="48348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Oval 17"/>
          <p:cNvSpPr/>
          <p:nvPr>
            <p:custDataLst>
              <p:tags r:id="rId12"/>
            </p:custDataLst>
          </p:nvPr>
        </p:nvSpPr>
        <p:spPr>
          <a:xfrm>
            <a:off x="12408789" y="4425981"/>
            <a:ext cx="548640" cy="54864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12408789" y="4465034"/>
            <a:ext cx="548640" cy="470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12445821" y="5192190"/>
            <a:ext cx="461299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独立模块</a:t>
            </a:r>
            <a:endParaRPr sz="3000" b="1" i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12445821" y="6062471"/>
            <a:ext cx="4612998" cy="110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作为相对独立的课程模块单独排课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以写作课为招生入口</a:t>
            </a:r>
            <a:r>
              <a:rPr lang="zh-CN" sz="240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2400" b="0" i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7" name="Note"/>
          <p:cNvSpPr txBox="1"/>
          <p:nvPr/>
        </p:nvSpPr>
        <p:spPr>
          <a:xfrm>
            <a:off x="914400" y="9150000"/>
            <a:ext cx="159105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920" b="0" i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说明：原读书会课程中「快乐读书吧」缺失的书目，后续将分期分批补全。</a:t>
            </a:r>
            <a:endParaRPr lang="zh-CN" altLang="en-US" sz="1920" b="0" i="0">
              <a:solidFill>
                <a:srgbClr val="5551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 l="-1" r="-1"/>
          <a:stretch>
            <a:fillRect/>
          </a:stretch>
        </p:blipFill>
        <p:spPr>
          <a:xfrm>
            <a:off x="1521523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1357982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招生支持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655445"/>
            <a:ext cx="13716000" cy="769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50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招生物料：按单元制作，校区直接可用</a:t>
            </a:r>
            <a:endParaRPr lang="zh-CN" altLang="en-US" sz="4500" b="1" dirty="0">
              <a:solidFill>
                <a:srgbClr val="2B2926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740025"/>
            <a:ext cx="5359400" cy="59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19" name="Picture 18" descr="poster_3a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035" y="2916936"/>
            <a:ext cx="3009114" cy="5550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8791575"/>
            <a:ext cx="53594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单元招生海报 · 三上《猜猜他是谁》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14400" y="9344025"/>
            <a:ext cx="53594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一课一张，写清这课解决什么问题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6521450" y="2740025"/>
            <a:ext cx="5359400" cy="59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20" name="Picture 19" descr="poster_4a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819" y="2916936"/>
            <a:ext cx="2676089" cy="5550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1351" y="8791575"/>
            <a:ext cx="53594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单元招生海报 · 四上《生活万花筒》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521351" y="9344025"/>
            <a:ext cx="53594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插画按单元主题绘制，版式统一</a:t>
            </a:r>
            <a:endParaRPr lang="en-US" sz="1950" dirty="0"/>
          </a:p>
        </p:txBody>
      </p:sp>
      <p:sp>
        <p:nvSpPr>
          <p:cNvPr id="14" name="Shape 9"/>
          <p:cNvSpPr/>
          <p:nvPr/>
        </p:nvSpPr>
        <p:spPr>
          <a:xfrm>
            <a:off x="12128500" y="2740025"/>
            <a:ext cx="5359400" cy="59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D3C4"/>
            </a:solidFill>
            <a:prstDash val="solid"/>
          </a:ln>
        </p:spPr>
        <p:txBody>
          <a:bodyPr/>
          <a:p/>
        </p:txBody>
      </p:sp>
      <p:pic>
        <p:nvPicPr>
          <p:cNvPr id="21" name="Picture 20" descr="video_4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075" y="2916936"/>
            <a:ext cx="3120122" cy="55504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28450" y="8791575"/>
            <a:ext cx="535940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家长宣传短视频 · 四上《生活万花筒》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12128450" y="9344025"/>
            <a:ext cx="53594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50" dirty="0">
                <a:solidFill>
                  <a:srgbClr val="5551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竖屏约一分钟，讲清这课练什么</a:t>
            </a:r>
            <a:endParaRPr lang="en-US" sz="1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" r="-1"/>
          <a:stretch>
            <a:fillRect/>
          </a:stretch>
        </p:blipFill>
        <p:spPr>
          <a:xfrm>
            <a:off x="15546705" y="632460"/>
            <a:ext cx="184594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9555" y="632460"/>
            <a:ext cx="1845945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900000"/>
            <a:ext cx="1810512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950" kern="0" spc="273" dirty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课程小结</a:t>
            </a:r>
            <a:endParaRPr lang="zh-CN" alt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914400" y="2480000"/>
            <a:ext cx="16459200" cy="1000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5400" b="1" kern="0" spc="-150" dirty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这门课要解决的，始终是两件事</a:t>
            </a:r>
            <a:endParaRPr lang="zh-CN" altLang="en-US" sz="5400" dirty="0"/>
          </a:p>
        </p:txBody>
      </p:sp>
      <p:sp>
        <p:nvSpPr>
          <p:cNvPr id="6" name="Shape 2"/>
          <p:cNvSpPr/>
          <p:nvPr/>
        </p:nvSpPr>
        <p:spPr>
          <a:xfrm>
            <a:off x="914400" y="3900000"/>
            <a:ext cx="762000" cy="38100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Block"/>
          <p:cNvSpPr/>
          <p:nvPr/>
        </p:nvSpPr>
        <p:spPr>
          <a:xfrm>
            <a:off x="914400" y="4600000"/>
            <a:ext cx="16459200" cy="3500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Num 1"/>
          <p:cNvSpPr/>
          <p:nvPr/>
        </p:nvSpPr>
        <p:spPr>
          <a:xfrm>
            <a:off x="1419225" y="4980000"/>
            <a:ext cx="1000000" cy="950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66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zh-CN" altLang="en-US" sz="6600" dirty="0"/>
          </a:p>
        </p:txBody>
      </p:sp>
      <p:sp>
        <p:nvSpPr>
          <p:cNvPr id="9" name="Text 4"/>
          <p:cNvSpPr/>
          <p:nvPr/>
        </p:nvSpPr>
        <p:spPr>
          <a:xfrm>
            <a:off x="2790825" y="5130000"/>
            <a:ext cx="14200000" cy="1000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7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让学生当堂写出一篇属于自己的文章——不背范文、不套模板，写自己的真情实感</a:t>
            </a:r>
            <a:endParaRPr lang="zh-CN" altLang="en-US" sz="2700" dirty="0"/>
          </a:p>
        </p:txBody>
      </p:sp>
      <p:sp>
        <p:nvSpPr>
          <p:cNvPr id="10" name="Rule"/>
          <p:cNvSpPr/>
          <p:nvPr/>
        </p:nvSpPr>
        <p:spPr>
          <a:xfrm>
            <a:off x="1419225" y="6350000"/>
            <a:ext cx="15449200" cy="9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Num 2"/>
          <p:cNvSpPr/>
          <p:nvPr/>
        </p:nvSpPr>
        <p:spPr>
          <a:xfrm>
            <a:off x="1419225" y="6680000"/>
            <a:ext cx="1000000" cy="950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66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zh-CN" altLang="en-US" sz="6600" dirty="0"/>
          </a:p>
        </p:txBody>
      </p:sp>
      <p:sp>
        <p:nvSpPr>
          <p:cNvPr id="12" name="Text 5"/>
          <p:cNvSpPr/>
          <p:nvPr/>
        </p:nvSpPr>
        <p:spPr>
          <a:xfrm>
            <a:off x="2790825" y="6830000"/>
            <a:ext cx="14200000" cy="1000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7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减少教师</a:t>
            </a:r>
            <a:r>
              <a:rPr lang="zh-CN" altLang="en-US" sz="27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备课工作——基本照详案就能上，换谁来教都不走样</a:t>
            </a:r>
            <a:endParaRPr lang="zh-CN" altLang="en-US" sz="2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76690" y="5081290"/>
            <a:ext cx="6088082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234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老约翰 · 校内同步写作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8763000" y="6329065"/>
            <a:ext cx="762000" cy="38100"/>
          </a:xfrm>
          <a:prstGeom prst="rect">
            <a:avLst/>
          </a:prstGeom>
          <a:solidFill>
            <a:srgbClr val="C8352B"/>
          </a:solidFill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610945" y="6900565"/>
            <a:ext cx="5572557" cy="561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kern="0" spc="399" dirty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写清楚 · 写生动 · 有章法</a:t>
            </a:r>
            <a:endParaRPr lang="en-US" sz="285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941832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D2DC"/>
                </a:solidFill>
                <a:latin typeface="微软雅黑" panose="020B0503020204020204" charset="-122"/>
              </a:rPr>
              <a:t>按 Esc 返回主宣讲</a:t>
            </a:r>
            <a:endParaRPr sz="1400" b="0">
              <a:solidFill>
                <a:srgbClr val="7A7468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2862411"/>
            <a:ext cx="4000500" cy="168547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2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3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4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5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6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7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8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9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10.xml><?xml version="1.0" encoding="utf-8"?>
<p:tagLst xmlns:p="http://schemas.openxmlformats.org/presentationml/2006/main">
  <p:tag name="KSO_WM_DIAGRAM_VIRTUALLY_FRAME" val="{&quot;height&quot;:463.4488188976378,&quot;left&quot;:72,&quot;top&quot;:196.85039370078738,&quot;width&quot;:747}"/>
</p:tagLst>
</file>

<file path=ppt/tags/tag11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2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3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4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5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6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7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8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19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0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1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2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3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4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5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6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7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8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29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30.xml><?xml version="1.0" encoding="utf-8"?>
<p:tagLst xmlns:p="http://schemas.openxmlformats.org/presentationml/2006/main">
  <p:tag name="KSO_WM_DIAGRAM_VIRTUALLY_FRAME" val="{&quot;height&quot;:385.73496062992126,&quot;left&quot;:72,&quot;top&quot;:314.9150393700787,&quot;width&quot;:1252.8}"/>
</p:tagLst>
</file>

<file path=ppt/tags/tag31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32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33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34.xml><?xml version="1.0" encoding="utf-8"?>
<p:tagLst xmlns:p="http://schemas.openxmlformats.org/presentationml/2006/main">
  <p:tag name="KSO_WM_DIAGRAM_VIRTUALLY_FRAME" val="{&quot;height&quot;:223.17188976377946,&quot;left&quot;:72,&quot;top&quot;:255,&quot;width&quot;:1322.85}"/>
</p:tagLst>
</file>

<file path=ppt/tags/tag35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36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37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38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39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0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1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2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3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4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5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6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7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8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49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50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51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52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53.xml><?xml version="1.0" encoding="utf-8"?>
<p:tagLst xmlns:p="http://schemas.openxmlformats.org/presentationml/2006/main">
  <p:tag name="KSO_WM_DIAGRAM_VIRTUALLY_FRAME" val="{&quot;height&quot;:274.33590551181106,&quot;left&quot;:72,&quot;top&quot;:291.29299212598426,&quot;width&quot;:1296}"/>
</p:tagLst>
</file>

<file path=ppt/tags/tag54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55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56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57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58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59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60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61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62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63.xml><?xml version="1.0" encoding="utf-8"?>
<p:tagLst xmlns:p="http://schemas.openxmlformats.org/presentationml/2006/main">
  <p:tag name="KSO_WM_DIAGRAM_VIRTUALLY_FRAME" val="{&quot;height&quot;:223.17188976377946,&quot;left&quot;:72,&quot;top&quot;:255,&quot;width&quot;:1322.85}"/>
</p:tagLst>
</file>

<file path=ppt/tags/tag64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65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66.xml><?xml version="1.0" encoding="utf-8"?>
<p:tagLst xmlns:p="http://schemas.openxmlformats.org/presentationml/2006/main">
  <p:tag name="KSO_WM_DIAGRAM_VIRTUALLY_FRAME" val="{&quot;height&quot;:250.73291338582675,&quot;left&quot;:72,&quot;top&quot;:255,&quot;width&quot;:1322.85}"/>
</p:tagLst>
</file>

<file path=ppt/tags/tag6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6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6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7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8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9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0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1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2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37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38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39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0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1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2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3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4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5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6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7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8.xml><?xml version="1.0" encoding="utf-8"?>
<p:tagLst xmlns:p="http://schemas.openxmlformats.org/presentationml/2006/main">
  <p:tag name="KSO_WM_DIAGRAM_VIRTUALLY_FRAME" val="{&quot;height&quot;:279.4452755905512,&quot;left&quot;:72,&quot;top&quot;:354.74299212598424,&quot;width&quot;:1297.1003937007874}"/>
</p:tagLst>
</file>

<file path=ppt/tags/tag14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5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69.xml><?xml version="1.0" encoding="utf-8"?>
<p:tagLst xmlns:p="http://schemas.openxmlformats.org/presentationml/2006/main">
  <p:tag name="KSO_WM_DIAGRAM_VIRTUALLY_FRAME" val="{&quot;height&quot;:216.75,&quot;left&quot;:910.5,&quot;top&quot;:321.84377952755904,&quot;width&quot;:393.9750393700788}"/>
</p:tagLst>
</file>

<file path=ppt/tags/tag170.xml><?xml version="1.0" encoding="utf-8"?>
<p:tagLst xmlns:p="http://schemas.openxmlformats.org/presentationml/2006/main">
  <p:tag name="KSO_WM_DIAGRAM_VIRTUALLY_FRAME" val="{&quot;height&quot;:216.75,&quot;left&quot;:910.5,&quot;top&quot;:321.84377952755904,&quot;width&quot;:393.9750393700788}"/>
</p:tagLst>
</file>

<file path=ppt/tags/tag171.xml><?xml version="1.0" encoding="utf-8"?>
<p:tagLst xmlns:p="http://schemas.openxmlformats.org/presentationml/2006/main">
  <p:tag name="KSO_WM_DIAGRAM_VIRTUALLY_FRAME" val="{&quot;height&quot;:216.75,&quot;left&quot;:910.5,&quot;top&quot;:321.84377952755904,&quot;width&quot;:393.9750393700788}"/>
</p:tagLst>
</file>

<file path=ppt/tags/tag172.xml><?xml version="1.0" encoding="utf-8"?>
<p:tagLst xmlns:p="http://schemas.openxmlformats.org/presentationml/2006/main">
  <p:tag name="KSO_WM_DIAGRAM_VIRTUALLY_FRAME" val="{&quot;height&quot;:216.75,&quot;left&quot;:910.5,&quot;top&quot;:321.84377952755904,&quot;width&quot;:393.9750393700788}"/>
</p:tagLst>
</file>

<file path=ppt/tags/tag173.xml><?xml version="1.0" encoding="utf-8"?>
<p:tagLst xmlns:p="http://schemas.openxmlformats.org/presentationml/2006/main">
  <p:tag name="KSO_WM_DIAGRAM_VIRTUALLY_FRAME" val="{&quot;height&quot;:216.75,&quot;left&quot;:910.5,&quot;top&quot;:321.84377952755904,&quot;width&quot;:393.9750393700788}"/>
</p:tagLst>
</file>

<file path=ppt/tags/tag174.xml><?xml version="1.0" encoding="utf-8"?>
<p:tagLst xmlns:p="http://schemas.openxmlformats.org/presentationml/2006/main">
  <p:tag name="KSO_WM_DIAGRAM_VIRTUALLY_FRAME" val="{&quot;height&quot;:216.75,&quot;left&quot;:910.5,&quot;top&quot;:321.84377952755904,&quot;width&quot;:393.9750393700788}"/>
</p:tagLst>
</file>

<file path=ppt/tags/tag175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76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77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78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79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0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1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2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3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4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5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6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7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8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89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90.xml><?xml version="1.0" encoding="utf-8"?>
<p:tagLst xmlns:p="http://schemas.openxmlformats.org/presentationml/2006/main">
  <p:tag name="KSO_WM_DIAGRAM_VIRTUALLY_FRAME" val="{&quot;height&quot;:450.27188976377954,&quot;left&quot;:72,&quot;top&quot;:261,&quot;width&quot;:1296}"/>
</p:tagLst>
</file>

<file path=ppt/tags/tag19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19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0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1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1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1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1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1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1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16.xml><?xml version="1.0" encoding="utf-8"?>
<p:tagLst xmlns:p="http://schemas.openxmlformats.org/presentationml/2006/main">
  <p:tag name="KSO_WM_DIAGRAM_VIRTUALLY_FRAME" val="{&quot;height&quot;:219.73748031496066,&quot;left&quot;:439.59377952755904,&quot;top&quot;:382.91251968503934,&quot;width&quot;:594.906220472441}"/>
</p:tagLst>
</file>

<file path=ppt/tags/tag217.xml><?xml version="1.0" encoding="utf-8"?>
<p:tagLst xmlns:p="http://schemas.openxmlformats.org/presentationml/2006/main">
  <p:tag name="KSO_WM_DIAGRAM_VIRTUALLY_FRAME" val="{&quot;height&quot;:219.73748031496066,&quot;left&quot;:439.59377952755904,&quot;top&quot;:382.91251968503934,&quot;width&quot;:594.906220472441}"/>
</p:tagLst>
</file>

<file path=ppt/tags/tag218.xml><?xml version="1.0" encoding="utf-8"?>
<p:tagLst xmlns:p="http://schemas.openxmlformats.org/presentationml/2006/main">
  <p:tag name="KSO_WM_DIAGRAM_VIRTUALLY_FRAME" val="{&quot;height&quot;:219.73748031496066,&quot;left&quot;:439.59377952755904,&quot;top&quot;:382.91251968503934,&quot;width&quot;:594.906220472441}"/>
</p:tagLst>
</file>

<file path=ppt/tags/tag219.xml><?xml version="1.0" encoding="utf-8"?>
<p:tagLst xmlns:p="http://schemas.openxmlformats.org/presentationml/2006/main">
  <p:tag name="KSO_WM_DIAGRAM_VIRTUALLY_FRAME" val="{&quot;height&quot;:219.73748031496066,&quot;left&quot;:439.59377952755904,&quot;top&quot;:382.91251968503934,&quot;width&quot;:594.906220472441}"/>
</p:tagLst>
</file>

<file path=ppt/tags/tag220.xml><?xml version="1.0" encoding="utf-8"?>
<p:tagLst xmlns:p="http://schemas.openxmlformats.org/presentationml/2006/main">
  <p:tag name="KSO_WM_DIAGRAM_VIRTUALLY_FRAME" val="{&quot;height&quot;:219.73748031496066,&quot;left&quot;:439.59377952755904,&quot;top&quot;:382.91251968503934,&quot;width&quot;:594.906220472441}"/>
</p:tagLst>
</file>

<file path=ppt/tags/tag221.xml><?xml version="1.0" encoding="utf-8"?>
<p:tagLst xmlns:p="http://schemas.openxmlformats.org/presentationml/2006/main">
  <p:tag name="KSO_WM_DIAGRAM_VIRTUALLY_FRAME" val="{&quot;height&quot;:219.73748031496066,&quot;left&quot;:439.59377952755904,&quot;top&quot;:382.91251968503934,&quot;width&quot;:594.906220472441}"/>
</p:tagLst>
</file>

<file path=ppt/tags/tag22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2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2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2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2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2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2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2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2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3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4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5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6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7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8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39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40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41.xml><?xml version="1.0" encoding="utf-8"?>
<p:tagLst xmlns:p="http://schemas.openxmlformats.org/presentationml/2006/main">
  <p:tag name="KSO_WM_DIAGRAM_VIRTUALLY_FRAME" val="{&quot;height&quot;:380.7,&quot;left&quot;:72,&quot;top&quot;:319.95,&quot;width&quot;:1252.8}"/>
</p:tagLst>
</file>

<file path=ppt/tags/tag242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43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44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45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46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47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48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49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50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51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52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53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54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55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ags/tag256.xml><?xml version="1.0" encoding="utf-8"?>
<p:tagLst xmlns:p="http://schemas.openxmlformats.org/presentationml/2006/main">
  <p:tag name="KSO_WM_DIAGRAM_VIRTUALLY_FRAME" val="{&quot;height&quot;:380.7,&quot;left&quot;:72,&quot;top&quot;:319.95,&quot;width&quot;:12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微软雅黑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微软雅黑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5532</Words>
  <Application>WPS 演示</Application>
  <PresentationFormat>On-screen Show (16:9)</PresentationFormat>
  <Paragraphs>911</Paragraphs>
  <Slides>41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微软雅黑</vt:lpstr>
      <vt:lpstr>Arial Unicode MS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57</cp:revision>
  <dcterms:created xsi:type="dcterms:W3CDTF">2026-08-25T08:53:00Z</dcterms:created>
  <dcterms:modified xsi:type="dcterms:W3CDTF">2026-10-11T12:03:36Z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1D9FF7D48CCE4D1F97AAFBC879920C32_13</vt:lpwstr>
  </property>
  <property fmtid="{D5CDD505-2E9C-101B-9397-08002B2CF9AE}" pid="3" name="KSOProductBuildVer">
    <vt:lpwstr>2052-12.1.0.20305</vt:lpwstr>
  </property>
</Properties>
</file>