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98" r:id="rId3"/>
    <p:sldId id="286" r:id="rId4"/>
    <p:sldId id="321" r:id="rId6"/>
    <p:sldId id="322" r:id="rId7"/>
    <p:sldId id="323" r:id="rId8"/>
    <p:sldId id="324" r:id="rId9"/>
    <p:sldId id="325" r:id="rId10"/>
    <p:sldId id="326" r:id="rId11"/>
    <p:sldId id="327" r:id="rId12"/>
    <p:sldId id="328" r:id="rId13"/>
    <p:sldId id="338" r:id="rId27"/>
    <p:sldId id="330" r:id="rId15"/>
    <p:sldId id="331" r:id="rId16"/>
    <p:sldId id="332" r:id="rId17"/>
    <p:sldId id="333" r:id="rId18"/>
    <p:sldId id="334" r:id="rId19"/>
    <p:sldId id="335" r:id="rId20"/>
    <p:sldId id="336" r:id="rId21"/>
    <p:sldId id="337" r:id="rId22"/>
    <p:sldId id="285" r:id="rId23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微软雅黑" panose="020B0503020204020204" charset="-122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3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第一部分点右侧按钮进入完整介绍，讲完按 Esc 回到这一页，再讲第二、三部分。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点下方按钮进入《同步写作课程完整介绍》放映，讲完按 Esc 回到这一页，接着讲第二部分。两份文件要放在同一个文件夹里，按钮才打得开。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第二部分讲总部下一阶段的两项重点工作：后续开发与自媒体运营。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先用一页把四件事和时间讲清，后面逐项展开。已定的时间：低段快乐读书吧 11 月前完成；同步写作春季用的新教材预计 12 月出来，出来后做最后一轮更新。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重点说清楚两件事：秋季班已按新教材走；春季班要等 12 月新教材出来再做最后更新，校区拿到的始终是对应新教材的版本。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二、三年级已列的是已经建档的书，一年级书目由总部补上，以最终书目为准。组合排课的方式在完整介绍的「三种用法」里讲过。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一年级重点是敢说敢写、不怕动笔；二年级开始像小作家一样讲故事。每学期 16 次课，四个学期共 64 次，每次课两节连排 90 分钟。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右栏是三年级同步写作里接得上的课。和课本的三层关系：对齐课本、在课本之上加深一层、为三年级作文提前铺路。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这一项是改已有的，不是新开发。可以现场请伙伴们继续提反馈。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左边总部现状由总部补数据；右边同行现状是总体情况，具体例子现场可以补充。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这一页是本节的核心，讲慢一点。直播不做，不是不重视宣传，是现阶段性价比不高。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海报和宣传短视频的样例在完整介绍的「招生支持」一页。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第三部分从课标和教材讲起，再落到家长需求，最后说对我们意味着什么。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这一页只讲事实脉络，不展开评论。第四行由总部补充。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与完整介绍里「新教材风向标」一页的口径一致。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与完整介绍里「开发源由」一页的口径一致。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这三条是已有口径；总部如有进一步判断，可以在这里补充。讲完直接进收尾。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两类课程都还没有立项，这一页讲清方向和价值即可，不承诺时间。可以现场请伙伴们说说自己校区的需求。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85800" y="9534525"/>
            <a:ext cx="3200400" cy="547688"/>
          </a:xfrm>
        </p:spPr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4686300" y="9534525"/>
            <a:ext cx="4343400" cy="547688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29800" y="9534525"/>
            <a:ext cx="3200400" cy="547688"/>
          </a:xfrm>
        </p:spPr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微软雅黑" panose="020B0503020204020204" charset="-122"/>
          <a:ea typeface="微软雅黑" panose="020B0503020204020204" charset="-122"/>
          <a:cs typeface="微软雅黑" panose="020B0503020204020204" charset="-122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tags" Target="../tags/tag1.xml"/><Relationship Id="rId3" Type="http://schemas.openxmlformats.org/officeDocument/2006/relationships/tags" Target="../tags/tag2.xml"/><Relationship Id="rId4" Type="http://schemas.openxmlformats.org/officeDocument/2006/relationships/tags" Target="../tags/tag3.xml"/><Relationship Id="rId5" Type="http://schemas.openxmlformats.org/officeDocument/2006/relationships/tags" Target="../tags/tag4.xml"/><Relationship Id="rId6" Type="http://schemas.openxmlformats.org/officeDocument/2006/relationships/tags" Target="../tags/tag5.xml"/><Relationship Id="rId7" Type="http://schemas.openxmlformats.org/officeDocument/2006/relationships/tags" Target="../tags/tag6.xml"/><Relationship Id="rId8" Type="http://schemas.openxmlformats.org/officeDocument/2006/relationships/hyperlink" Target="2-&#21516;&#27493;&#20889;&#20316;&#35838;&#31243;&#23436;&#25972;&#20171;&#32461;.pptx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hyperlink" Target="2-&#21516;&#27493;&#20889;&#20316;&#35838;&#31243;&#23436;&#25972;&#20171;&#32461;.ppt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" y="1143000"/>
            <a:ext cx="2048182" cy="838200"/>
          </a:xfrm>
          <a:prstGeom prst="rect">
            <a:avLst/>
          </a:prstGeom>
        </p:spPr>
      </p:pic>
      <p:sp>
        <p:nvSpPr>
          <p:cNvPr id="3" name="Text 3"/>
          <p:cNvSpPr/>
          <p:nvPr/>
        </p:nvSpPr>
        <p:spPr>
          <a:xfrm>
            <a:off x="12382500" y="1333500"/>
            <a:ext cx="4762500" cy="571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buNone/>
            </a:pPr>
            <a:r>
              <a:rPr lang="en-US" sz="1650" kern="0" spc="750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老约翰深度阅读</a:t>
            </a:r>
            <a:endParaRPr lang="en-US" sz="1650" dirty="0"/>
          </a:p>
        </p:txBody>
      </p:sp>
      <p:sp>
        <p:nvSpPr>
          <p:cNvPr id="10" name="Shape 10"/>
          <p:cNvSpPr/>
          <p:nvPr/>
        </p:nvSpPr>
        <p:spPr>
          <a:xfrm>
            <a:off x="1143000" y="2924175"/>
            <a:ext cx="457200" cy="762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4" name="Text 4"/>
          <p:cNvSpPr/>
          <p:nvPr/>
        </p:nvSpPr>
        <p:spPr>
          <a:xfrm>
            <a:off x="1104900" y="4229100"/>
            <a:ext cx="16002000" cy="5715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b="1" kern="0" spc="525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同步写作正式发布 · 总部近期重点工作 · 语文教育与市场变化</a:t>
            </a:r>
            <a:endParaRPr lang="en-US" sz="1950" b="1" dirty="0"/>
          </a:p>
        </p:txBody>
      </p:sp>
      <p:sp>
        <p:nvSpPr>
          <p:cNvPr id="5" name="Text 5"/>
          <p:cNvSpPr/>
          <p:nvPr/>
        </p:nvSpPr>
        <p:spPr>
          <a:xfrm>
            <a:off x="1066800" y="5048250"/>
            <a:ext cx="16078200" cy="23812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300" b="1" kern="0" spc="-93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2026 秋季宣讲</a:t>
            </a:r>
            <a:endParaRPr lang="en-US" sz="9300" dirty="0"/>
          </a:p>
        </p:txBody>
      </p:sp>
      <p:sp>
        <p:nvSpPr>
          <p:cNvPr id="7" name="Text 7"/>
          <p:cNvSpPr/>
          <p:nvPr/>
        </p:nvSpPr>
        <p:spPr>
          <a:xfrm>
            <a:off x="1114425" y="8553450"/>
            <a:ext cx="4762500" cy="5905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75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主讲：</a:t>
            </a:r>
            <a:endParaRPr lang="en-US" sz="1950" dirty="0"/>
          </a:p>
          <a:p>
            <a:pPr marL="0" indent="0" algn="l">
              <a:buNone/>
            </a:pPr>
            <a:r>
              <a:rPr lang="en-US" sz="1950" kern="0" spc="75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时间：【待填】</a:t>
            </a:r>
            <a:endParaRPr lang="en-US" sz="1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51455" y="632460"/>
            <a:ext cx="1845945" cy="7772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14400" y="1672471"/>
            <a:ext cx="16383000" cy="28575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100" name="Text 5"/>
          <p:cNvSpPr/>
          <p:nvPr>
            <p:custDataLst>
              <p:tags r:id="rId2"/>
            </p:custDataLst>
          </p:nvPr>
        </p:nvSpPr>
        <p:spPr>
          <a:xfrm>
            <a:off x="914400" y="2500000"/>
            <a:ext cx="1219200" cy="609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80000"/>
          </a:bodyPr>
          <a:lstStyle/>
          <a:p>
            <a:pPr marL="0" indent="0" algn="l">
              <a:lnSpc>
                <a:spcPct val="69000"/>
              </a:lnSpc>
              <a:buNone/>
            </a:pPr>
            <a:r>
              <a:rPr lang="en-US" sz="450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</a:t>
            </a:r>
            <a:endParaRPr lang="en-US" sz="4500" dirty="0"/>
          </a:p>
        </p:txBody>
      </p:sp>
      <p:sp>
        <p:nvSpPr>
          <p:cNvPr id="101" name="Text 6"/>
          <p:cNvSpPr/>
          <p:nvPr>
            <p:custDataLst>
              <p:tags r:id="rId3"/>
            </p:custDataLst>
          </p:nvPr>
        </p:nvSpPr>
        <p:spPr>
          <a:xfrm>
            <a:off x="2438400" y="2595245"/>
            <a:ext cx="4478020" cy="5905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00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同步写作正式发布</a:t>
            </a:r>
            <a:endParaRPr lang="en-US" sz="3000" dirty="0"/>
          </a:p>
        </p:txBody>
      </p:sp>
      <p:sp>
        <p:nvSpPr>
          <p:cNvPr id="103" name="Shape 4"/>
          <p:cNvSpPr/>
          <p:nvPr/>
        </p:nvSpPr>
        <p:spPr>
          <a:xfrm>
            <a:off x="914400" y="4120080"/>
            <a:ext cx="163830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04" name="Text 5"/>
          <p:cNvSpPr/>
          <p:nvPr>
            <p:custDataLst>
              <p:tags r:id="rId4"/>
            </p:custDataLst>
          </p:nvPr>
        </p:nvSpPr>
        <p:spPr>
          <a:xfrm>
            <a:off x="914400" y="4440080"/>
            <a:ext cx="1219200" cy="609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80000"/>
          </a:bodyPr>
          <a:lstStyle/>
          <a:p>
            <a:pPr marL="0" indent="0" algn="l">
              <a:lnSpc>
                <a:spcPct val="69000"/>
              </a:lnSpc>
              <a:buNone/>
            </a:pPr>
            <a:r>
              <a:rPr lang="en-US" sz="450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二</a:t>
            </a:r>
            <a:endParaRPr lang="en-US" sz="4500" dirty="0"/>
          </a:p>
        </p:txBody>
      </p:sp>
      <p:sp>
        <p:nvSpPr>
          <p:cNvPr id="105" name="Text 6"/>
          <p:cNvSpPr/>
          <p:nvPr>
            <p:custDataLst>
              <p:tags r:id="rId5"/>
            </p:custDataLst>
          </p:nvPr>
        </p:nvSpPr>
        <p:spPr>
          <a:xfrm>
            <a:off x="2438400" y="4535330"/>
            <a:ext cx="7962900" cy="5905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000" dirty="0"/>
              <a:t>总部近期重点工作</a:t>
            </a:r>
            <a:endParaRPr lang="zh-CN" altLang="en-US" sz="3000" dirty="0"/>
          </a:p>
        </p:txBody>
      </p:sp>
      <p:sp>
        <p:nvSpPr>
          <p:cNvPr id="107" name="Shape 4"/>
          <p:cNvSpPr/>
          <p:nvPr/>
        </p:nvSpPr>
        <p:spPr>
          <a:xfrm>
            <a:off x="914400" y="6060160"/>
            <a:ext cx="163830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08" name="Text 5"/>
          <p:cNvSpPr/>
          <p:nvPr>
            <p:custDataLst>
              <p:tags r:id="rId6"/>
            </p:custDataLst>
          </p:nvPr>
        </p:nvSpPr>
        <p:spPr>
          <a:xfrm>
            <a:off x="914400" y="6380160"/>
            <a:ext cx="1219200" cy="609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80000"/>
          </a:bodyPr>
          <a:lstStyle/>
          <a:p>
            <a:pPr marL="0" indent="0" algn="l">
              <a:lnSpc>
                <a:spcPct val="69000"/>
              </a:lnSpc>
              <a:buNone/>
            </a:pPr>
            <a:r>
              <a:rPr lang="en-US" sz="450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三</a:t>
            </a:r>
            <a:endParaRPr lang="en-US" sz="4500" dirty="0"/>
          </a:p>
        </p:txBody>
      </p:sp>
      <p:sp>
        <p:nvSpPr>
          <p:cNvPr id="109" name="Text 6"/>
          <p:cNvSpPr/>
          <p:nvPr>
            <p:custDataLst>
              <p:tags r:id="rId7"/>
            </p:custDataLst>
          </p:nvPr>
        </p:nvSpPr>
        <p:spPr>
          <a:xfrm>
            <a:off x="2438400" y="6475410"/>
            <a:ext cx="7962900" cy="5905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300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小学语文教育与市场变化</a:t>
            </a:r>
            <a:endParaRPr lang="en-US" sz="3000" dirty="0"/>
          </a:p>
        </p:txBody>
      </p:sp>
      <p:sp>
        <p:nvSpPr>
          <p:cNvPr id="111" name="Shape 4"/>
          <p:cNvSpPr/>
          <p:nvPr/>
        </p:nvSpPr>
        <p:spPr>
          <a:xfrm>
            <a:off x="914400" y="8000240"/>
            <a:ext cx="163830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3" name="Text 7"/>
          <p:cNvSpPr/>
          <p:nvPr/>
        </p:nvSpPr>
        <p:spPr>
          <a:xfrm>
            <a:off x="10058400" y="4630580"/>
            <a:ext cx="796290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p>
            <a:pPr marL="0" indent="0" algn="l">
              <a:lnSpc>
                <a:spcPct val="10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后续开发方向；自媒体运营思路</a:t>
            </a:r>
            <a:endParaRPr lang="en-US" sz="2250" dirty="0"/>
          </a:p>
        </p:txBody>
      </p:sp>
      <p:sp>
        <p:nvSpPr>
          <p:cNvPr id="4" name="Text 7"/>
          <p:cNvSpPr/>
          <p:nvPr/>
        </p:nvSpPr>
        <p:spPr>
          <a:xfrm>
            <a:off x="10058400" y="6570660"/>
            <a:ext cx="7962900" cy="481012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p>
            <a:pPr marL="0" indent="0" algn="l">
              <a:lnSpc>
                <a:spcPct val="10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课标教材、教学方向与家长需求的变化，以及对我们的影响</a:t>
            </a:r>
            <a:endParaRPr lang="zh-CN" altLang="en-US" sz="225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12" name="Rounded Rectangle 111">
            <a:hlinkClick r:id="rId8"/>
          </p:cNvPr>
          <p:cNvSpPr/>
          <p:nvPr/>
        </p:nvSpPr>
        <p:spPr>
          <a:xfrm>
            <a:off x="10058400" y="2542032"/>
            <a:ext cx="4754880" cy="658368"/>
          </a:xfrm>
          <a:prstGeom prst="round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 panose="020B0503020204020204" charset="-122"/>
              </a:rPr>
              <a:t>进入同步写作课程介绍</a:t>
            </a:r>
            <a:endParaRPr sz="16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28975"/>
            <a:ext cx="18105120" cy="1752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15000" b="1" kern="0" spc="-450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第一部分</a:t>
            </a:r>
            <a:endParaRPr lang="en-US" sz="15000" dirty="0"/>
          </a:p>
        </p:txBody>
      </p:sp>
      <p:sp>
        <p:nvSpPr>
          <p:cNvPr id="4" name="Text 1"/>
          <p:cNvSpPr/>
          <p:nvPr/>
        </p:nvSpPr>
        <p:spPr>
          <a:xfrm>
            <a:off x="914400" y="5172075"/>
            <a:ext cx="14630400" cy="1247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同步写作正式发布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914400" y="6591300"/>
            <a:ext cx="1280160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550" dirty="0">
                <a:solidFill>
                  <a:schemeClr val="tx1">
                    <a:lumMod val="65000"/>
                    <a:lumOff val="35000"/>
                  </a:schemeClr>
                </a:solidFill>
                <a:cs typeface="微软雅黑" panose="020B0503020204020204" pitchFamily="34" charset="-120"/>
                <a:sym typeface="+mn-ea"/>
              </a:rPr>
              <a:t>课程定位、写作教学方法、课堂上法、课程文件与批改、用法。</a:t>
            </a:r>
            <a:endParaRPr lang="en-US" sz="2550" dirty="0"/>
          </a:p>
        </p:txBody>
      </p:sp>
      <p:sp>
        <p:nvSpPr>
          <p:cNvPr id="900" name="Brand Bar"/>
          <p:cNvSpPr/>
          <p:nvPr/>
        </p:nvSpPr>
        <p:spPr>
          <a:xfrm>
            <a:off x="0" y="7593965"/>
            <a:ext cx="18288000" cy="2693035"/>
          </a:xfrm>
          <a:prstGeom prst="rect">
            <a:avLst/>
          </a:prstGeom>
          <a:solidFill>
            <a:srgbClr val="C8352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1" name="Rounded Rectangle 900">
            <a:hlinkClick r:id="rId2"/>
          </p:cNvPr>
          <p:cNvSpPr/>
          <p:nvPr/>
        </p:nvSpPr>
        <p:spPr>
          <a:xfrm>
            <a:off x="914400" y="8275320"/>
            <a:ext cx="5852160" cy="10972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C8352B"/>
                </a:solidFill>
                <a:latin typeface="微软雅黑" panose="020B0503020204020204" charset="-122"/>
              </a:rPr>
              <a:t>进入同步写作课程介绍</a:t>
            </a:r>
            <a:endParaRPr sz="2400" b="1">
              <a:solidFill>
                <a:srgbClr val="C8352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28975"/>
            <a:ext cx="18105120" cy="1752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15000" b="1" kern="0" spc="-450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第二部分</a:t>
            </a:r>
            <a:endParaRPr lang="en-US" sz="15000" dirty="0"/>
          </a:p>
        </p:txBody>
      </p:sp>
      <p:sp>
        <p:nvSpPr>
          <p:cNvPr id="4" name="Text 1"/>
          <p:cNvSpPr/>
          <p:nvPr/>
        </p:nvSpPr>
        <p:spPr>
          <a:xfrm>
            <a:off x="914400" y="5172075"/>
            <a:ext cx="14630400" cy="1247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总部近期重点工作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914400" y="6591300"/>
            <a:ext cx="1280160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550" dirty="0">
                <a:solidFill>
                  <a:schemeClr val="tx1">
                    <a:lumMod val="65000"/>
                    <a:lumOff val="35000"/>
                  </a:schemeClr>
                </a:solidFill>
                <a:cs typeface="微软雅黑" panose="020B0503020204020204" pitchFamily="34" charset="-120"/>
                <a:sym typeface="+mn-ea"/>
              </a:rPr>
              <a:t>后续开发方向；自媒体运营思路。</a:t>
            </a:r>
            <a:endParaRPr lang="en-US" sz="2550" dirty="0"/>
          </a:p>
        </p:txBody>
      </p:sp>
      <p:sp>
        <p:nvSpPr>
          <p:cNvPr id="900" name="Brand Bar"/>
          <p:cNvSpPr/>
          <p:nvPr/>
        </p:nvSpPr>
        <p:spPr>
          <a:xfrm>
            <a:off x="0" y="7593965"/>
            <a:ext cx="18288000" cy="2693035"/>
          </a:xfrm>
          <a:prstGeom prst="rect">
            <a:avLst/>
          </a:prstGeom>
          <a:solidFill>
            <a:srgbClr val="C8352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762000"/>
            <a:ext cx="117348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1950" dirty="0"/>
              <a:t>后续开发</a:t>
            </a:r>
            <a:endParaRPr lang="zh-CN" alt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790700"/>
            <a:ext cx="11734800" cy="704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下一阶段开发：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68605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300990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按推进顺序排列，后面逐项展开。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385762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400" y="415290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同步写作后续单元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5143500" y="4133850"/>
            <a:ext cx="74980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跟着更新后的统编教材，完成后续单元课案</a:t>
            </a:r>
            <a:endParaRPr lang="en-US" sz="2250" dirty="0"/>
          </a:p>
        </p:txBody>
      </p:sp>
      <p:sp>
        <p:nvSpPr>
          <p:cNvPr id="23" name="Text 6"/>
          <p:cNvSpPr/>
          <p:nvPr/>
        </p:nvSpPr>
        <p:spPr>
          <a:xfrm>
            <a:off x="12618720" y="4133850"/>
            <a:ext cx="47548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09000"/>
              </a:lnSpc>
              <a:buNone/>
            </a:pPr>
            <a:r>
              <a:rPr lang="en-US" sz="2250" b="1" dirty="0">
                <a:solidFill>
                  <a:srgbClr val="2B2A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春季教材 12 月后定稿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914400" y="485775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515302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低段快乐读书吧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5143500" y="5133975"/>
            <a:ext cx="74980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一至三年级快乐读书吧，共 10 本书</a:t>
            </a:r>
            <a:endParaRPr lang="en-US" sz="2250" dirty="0"/>
          </a:p>
        </p:txBody>
      </p:sp>
      <p:sp>
        <p:nvSpPr>
          <p:cNvPr id="24" name="Text 9"/>
          <p:cNvSpPr/>
          <p:nvPr/>
        </p:nvSpPr>
        <p:spPr>
          <a:xfrm>
            <a:off x="12618720" y="5133975"/>
            <a:ext cx="47548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09000"/>
              </a:lnSpc>
              <a:buNone/>
            </a:pPr>
            <a:r>
              <a:rPr lang="en-US" sz="2250" b="1" dirty="0">
                <a:solidFill>
                  <a:srgbClr val="2B2A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11 月前完成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914400" y="585787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4400" y="615315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整套看图写话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5143500" y="6134100"/>
            <a:ext cx="74980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一、二年级，四个学期、64 次课</a:t>
            </a:r>
            <a:endParaRPr lang="en-US" sz="2250" dirty="0"/>
          </a:p>
        </p:txBody>
      </p:sp>
      <p:sp>
        <p:nvSpPr>
          <p:cNvPr id="25" name="Text 12"/>
          <p:cNvSpPr/>
          <p:nvPr/>
        </p:nvSpPr>
        <p:spPr>
          <a:xfrm>
            <a:off x="13954125" y="6134100"/>
            <a:ext cx="3419475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09000"/>
              </a:lnSpc>
              <a:buNone/>
            </a:pPr>
            <a:r>
              <a:rPr lang="zh-CN" altLang="en-US" sz="2250" b="1" dirty="0">
                <a:solidFill>
                  <a:srgbClr val="2B2A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做好规划，并已在进行中</a:t>
            </a:r>
            <a:endParaRPr lang="en-US" sz="2250" dirty="0"/>
          </a:p>
        </p:txBody>
      </p:sp>
      <p:sp>
        <p:nvSpPr>
          <p:cNvPr id="16" name="Shape 13"/>
          <p:cNvSpPr/>
          <p:nvPr/>
        </p:nvSpPr>
        <p:spPr>
          <a:xfrm>
            <a:off x="914400" y="785812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14400" y="685800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14400" y="715327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读书会课件迭代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5143500" y="7134225"/>
            <a:ext cx="74980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按加盟商反馈，更新原有读书会课件</a:t>
            </a:r>
            <a:endParaRPr lang="en-US" sz="2250" dirty="0"/>
          </a:p>
        </p:txBody>
      </p:sp>
      <p:sp>
        <p:nvSpPr>
          <p:cNvPr id="26" name="Text 16"/>
          <p:cNvSpPr/>
          <p:nvPr/>
        </p:nvSpPr>
        <p:spPr>
          <a:xfrm>
            <a:off x="12618720" y="7134225"/>
            <a:ext cx="47548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09000"/>
              </a:lnSpc>
              <a:buNone/>
            </a:pPr>
            <a:r>
              <a:rPr lang="zh-CN" altLang="en-US" sz="2250" b="1" dirty="0">
                <a:solidFill>
                  <a:srgbClr val="2B2A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不定期</a:t>
            </a:r>
            <a:endParaRPr lang="en-US" sz="2250" dirty="0"/>
          </a:p>
        </p:txBody>
      </p:sp>
      <p:sp>
        <p:nvSpPr>
          <p:cNvPr id="20" name="Shape 17"/>
          <p:cNvSpPr/>
          <p:nvPr/>
        </p:nvSpPr>
        <p:spPr>
          <a:xfrm>
            <a:off x="914400" y="8210550"/>
            <a:ext cx="16459200" cy="998190"/>
          </a:xfrm>
          <a:prstGeom prst="rect">
            <a:avLst/>
          </a:prstGeom>
          <a:solidFill>
            <a:srgbClr val="26241F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295400" y="8496300"/>
            <a:ext cx="16190976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小古文、主题阅读等课程，列为后续设想。</a:t>
            </a:r>
            <a:endParaRPr lang="en-US" sz="21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762000"/>
            <a:ext cx="117348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1950" dirty="0"/>
              <a:t>开发方向一</a:t>
            </a:r>
            <a:endParaRPr lang="zh-CN" alt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790700"/>
            <a:ext cx="11734800" cy="704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同步写作后续单元：跟着新教材走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68605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300990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2026 年秋起，统编教材四、五、六年级换用新版；春季用的下册新教材预计 12 月出来。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385762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400" y="415290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核对教材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5143500" y="4133850"/>
            <a:ext cx="1216152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按新版教材逐单元核对课文、语文要素与习作题目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914400" y="485775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515302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换题重备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5143500" y="5133975"/>
            <a:ext cx="1216152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新教材换了题目的单元，按新题重新备课，不沿用旧稿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914400" y="585787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4400" y="615315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配套齐全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5143500" y="6134100"/>
            <a:ext cx="1216152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每个单元同样交付详案、课件与学生、教师、家长三份配套</a:t>
            </a:r>
            <a:endParaRPr lang="en-US" sz="2250" dirty="0"/>
          </a:p>
        </p:txBody>
      </p:sp>
      <p:sp>
        <p:nvSpPr>
          <p:cNvPr id="16" name="Shape 13"/>
          <p:cNvSpPr/>
          <p:nvPr/>
        </p:nvSpPr>
        <p:spPr>
          <a:xfrm>
            <a:off x="914400" y="785812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14400" y="685800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14400" y="715327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春季更新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5143500" y="7134225"/>
            <a:ext cx="1216152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下册新教材 12 月出来后，按新教材做最后一轮更新</a:t>
            </a:r>
            <a:endParaRPr lang="en-US" sz="2250" dirty="0"/>
          </a:p>
        </p:txBody>
      </p:sp>
      <p:sp>
        <p:nvSpPr>
          <p:cNvPr id="20" name="Shape 17"/>
          <p:cNvSpPr/>
          <p:nvPr/>
        </p:nvSpPr>
        <p:spPr>
          <a:xfrm>
            <a:off x="914400" y="8210550"/>
            <a:ext cx="16459200" cy="998190"/>
          </a:xfrm>
          <a:prstGeom prst="rect">
            <a:avLst/>
          </a:prstGeom>
          <a:solidFill>
            <a:srgbClr val="26241F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295400" y="8496300"/>
            <a:ext cx="16190976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教材版次调整由总部统一核对修订、推送更新，校区不用自己盯着改。</a:t>
            </a:r>
            <a:endParaRPr lang="en-US" sz="21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762000"/>
            <a:ext cx="762762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开发方向二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47775"/>
            <a:ext cx="14264640" cy="752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低段快乐读书吧：一至三年级 10 本书，11 月前完成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20980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257175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一至三年级快乐读书吧的全部书目，按读书会深度阅读课的标准开发。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3495180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30630" y="379236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书目（共 10 本）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1304925" y="4471035"/>
            <a:ext cx="7534910" cy="8108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一年级：【待填：书目】</a:t>
            </a:r>
            <a:endParaRPr lang="en-US" sz="210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二年级：《孤独的小螃蟹》《小狗的小房子》《神笔马良》《大头儿子和小头爸爸》</a:t>
            </a:r>
            <a:endParaRPr lang="en-US" sz="210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三年级：《稻草人》《克雷洛夫寓言》</a:t>
            </a:r>
            <a:endParaRPr lang="en-US" sz="210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304925" y="5190630"/>
            <a:ext cx="7534910" cy="9486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9277350" y="3588525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667875" y="394095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怎么用</a:t>
            </a:r>
            <a:endParaRPr lang="en-US" sz="2550" dirty="0"/>
          </a:p>
        </p:txBody>
      </p:sp>
      <p:sp>
        <p:nvSpPr>
          <p:cNvPr id="13" name="Text 10"/>
          <p:cNvSpPr/>
          <p:nvPr/>
        </p:nvSpPr>
        <p:spPr>
          <a:xfrm>
            <a:off x="9667875" y="4578985"/>
            <a:ext cx="7534910" cy="1131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sz="2100">
                <a:solidFill>
                  <a:srgbClr val="55514A"/>
                </a:solidFill>
                <a:sym typeface="+mn-ea"/>
              </a:rPr>
              <a:t>与同步写作组合排课：每学期 16 次课，8 次同步写作、8 次快乐读书吧，均依据统编教材。</a:t>
            </a:r>
            <a:endParaRPr sz="2100">
              <a:solidFill>
                <a:srgbClr val="55514A"/>
              </a:solidFill>
              <a:sym typeface="+mn-ea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43585" y="6728878"/>
            <a:ext cx="16459200" cy="2087761"/>
          </a:xfrm>
          <a:prstGeom prst="rect">
            <a:avLst/>
          </a:prstGeom>
          <a:solidFill>
            <a:srgbClr val="26241F"/>
          </a:solidFill>
        </p:spPr>
        <p:txBody>
          <a:bodyPr/>
          <a:p>
            <a:pPr marL="0" indent="0" algn="l">
              <a:lnSpc>
                <a:spcPct val="112000"/>
              </a:lnSpc>
              <a:buNone/>
            </a:pPr>
          </a:p>
        </p:txBody>
      </p:sp>
      <p:sp>
        <p:nvSpPr>
          <p:cNvPr id="16" name="Text 13"/>
          <p:cNvSpPr/>
          <p:nvPr/>
        </p:nvSpPr>
        <p:spPr>
          <a:xfrm>
            <a:off x="1295400" y="7032625"/>
            <a:ext cx="15697200" cy="17297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课时与读书会现有体例一致：一、二年级每本书两课时，三年级每本书四课时，每课时 60 分钟。</a:t>
            </a:r>
            <a:endParaRPr lang="zh-CN" altLang="en-US" sz="2100" dirty="0">
              <a:solidFill>
                <a:srgbClr val="FFFFFF"/>
              </a:solidFill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295400" y="7573398"/>
            <a:ext cx="15697200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762000"/>
            <a:ext cx="762762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开发方向三 · 看图写话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47775"/>
            <a:ext cx="14264640" cy="752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整套看图写话：从看懂一幅图，到写成一个故事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20980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257175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全六阶写作体系的第一、二阶：4 个学期主题、24 个方法主题、7 大能力模块、5 条能力线。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3495180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30630" y="379236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第一阶 · 一年级 · 说清楚，写完整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1304925" y="4471035"/>
            <a:ext cx="7534910" cy="8108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看懂一幅图，大方讲清楚，写出完整通顺的一两句话。</a:t>
            </a:r>
            <a:endParaRPr lang="en-US" sz="210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会看图会讲图、写完整的一句话、把句子写「胖」、标点会说话</a:t>
            </a:r>
            <a:endParaRPr lang="en-US" sz="210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304925" y="5190630"/>
            <a:ext cx="7534910" cy="9486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9277350" y="3588525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667875" y="394095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第二阶 · 二年级 · 写连贯，讲成故事</a:t>
            </a:r>
            <a:endParaRPr lang="en-US" sz="2550" dirty="0"/>
          </a:p>
        </p:txBody>
      </p:sp>
      <p:sp>
        <p:nvSpPr>
          <p:cNvPr id="13" name="Text 10"/>
          <p:cNvSpPr/>
          <p:nvPr/>
        </p:nvSpPr>
        <p:spPr>
          <a:xfrm>
            <a:off x="9667875" y="4578985"/>
            <a:ext cx="7534910" cy="1131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sz="2100">
                <a:solidFill>
                  <a:srgbClr val="55514A"/>
                </a:solidFill>
                <a:sym typeface="+mn-ea"/>
              </a:rPr>
              <a:t>把几句话写连贯，把一组图写成有细节、有波澜的小故事。</a:t>
            </a:r>
            <a:endParaRPr sz="2100">
              <a:solidFill>
                <a:srgbClr val="55514A"/>
              </a:solidFill>
              <a:sym typeface="+mn-ea"/>
            </a:endParaRPr>
          </a:p>
          <a:p>
            <a:pPr marL="0" indent="0" algn="l">
              <a:lnSpc>
                <a:spcPct val="116000"/>
              </a:lnSpc>
              <a:buNone/>
            </a:pPr>
            <a:r>
              <a:rPr sz="2100">
                <a:solidFill>
                  <a:srgbClr val="55514A"/>
                </a:solidFill>
                <a:sym typeface="+mn-ea"/>
              </a:rPr>
              <a:t>画面写具体、四图连成故事、写出「没想到」、句子会「变身」</a:t>
            </a:r>
            <a:endParaRPr sz="2100">
              <a:solidFill>
                <a:srgbClr val="55514A"/>
              </a:solidFill>
              <a:sym typeface="+mn-ea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43585" y="6728878"/>
            <a:ext cx="16459200" cy="2087761"/>
          </a:xfrm>
          <a:prstGeom prst="rect">
            <a:avLst/>
          </a:prstGeom>
          <a:solidFill>
            <a:srgbClr val="26241F"/>
          </a:solidFill>
        </p:spPr>
        <p:txBody>
          <a:bodyPr/>
          <a:p>
            <a:pPr marL="0" indent="0" algn="l">
              <a:lnSpc>
                <a:spcPct val="112000"/>
              </a:lnSpc>
              <a:buNone/>
            </a:pPr>
          </a:p>
        </p:txBody>
      </p:sp>
      <p:sp>
        <p:nvSpPr>
          <p:cNvPr id="16" name="Text 13"/>
          <p:cNvSpPr/>
          <p:nvPr/>
        </p:nvSpPr>
        <p:spPr>
          <a:xfrm>
            <a:off x="1295400" y="7032625"/>
            <a:ext cx="15697200" cy="17297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迈向三年级作文：认识作文的样子，完成第一篇「准作文」。中途加入也接得上：入班前有小测评和衔接课。</a:t>
            </a:r>
            <a:endParaRPr lang="zh-CN" altLang="en-US" sz="2100" dirty="0">
              <a:solidFill>
                <a:srgbClr val="FFFFFF"/>
              </a:solidFill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295400" y="7573398"/>
            <a:ext cx="15697200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762000"/>
            <a:ext cx="117348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1950" dirty="0"/>
              <a:t>开发方向三 · 看图写话</a:t>
            </a:r>
            <a:endParaRPr lang="zh-CN" alt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790700"/>
            <a:ext cx="11734800" cy="704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看图写话，是六年写作的第一步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68605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300990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练成的能力一路长到三年级作文：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385762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400" y="415290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会观察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5143500" y="4133850"/>
            <a:ext cx="74980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看懂图 → 写清楚一句话 → 抓住细节 → 有顺序地看</a:t>
            </a:r>
            <a:endParaRPr lang="en-US" sz="2250" dirty="0"/>
          </a:p>
        </p:txBody>
      </p:sp>
      <p:sp>
        <p:nvSpPr>
          <p:cNvPr id="23" name="Text 6"/>
          <p:cNvSpPr/>
          <p:nvPr/>
        </p:nvSpPr>
        <p:spPr>
          <a:xfrm>
            <a:off x="12618720" y="4133850"/>
            <a:ext cx="47548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09000"/>
              </a:lnSpc>
              <a:buNone/>
            </a:pPr>
            <a:r>
              <a:rPr lang="en-US" sz="2250" b="1" dirty="0">
                <a:solidFill>
                  <a:srgbClr val="2B2A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接《我们眼中的缤纷世界》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914400" y="485775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515302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会讲故事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5143500" y="5133975"/>
            <a:ext cx="74980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讲清一件事 → 前因后果 → 完整情节 → 写出波澜</a:t>
            </a:r>
            <a:endParaRPr lang="en-US" sz="2250" dirty="0"/>
          </a:p>
        </p:txBody>
      </p:sp>
      <p:sp>
        <p:nvSpPr>
          <p:cNvPr id="24" name="Text 9"/>
          <p:cNvSpPr/>
          <p:nvPr/>
        </p:nvSpPr>
        <p:spPr>
          <a:xfrm>
            <a:off x="12618720" y="5133975"/>
            <a:ext cx="47548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09000"/>
              </a:lnSpc>
              <a:buNone/>
            </a:pPr>
            <a:r>
              <a:rPr lang="en-US" sz="2250" b="1" dirty="0">
                <a:solidFill>
                  <a:srgbClr val="2B2A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接《那次玩得真高兴》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914400" y="585787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4400" y="615315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会想象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5143500" y="6134100"/>
            <a:ext cx="74980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补对话 → 写心里话 → 补全情节 → 写出新故事</a:t>
            </a:r>
            <a:endParaRPr lang="en-US" sz="2250" dirty="0"/>
          </a:p>
        </p:txBody>
      </p:sp>
      <p:sp>
        <p:nvSpPr>
          <p:cNvPr id="25" name="Text 12"/>
          <p:cNvSpPr/>
          <p:nvPr/>
        </p:nvSpPr>
        <p:spPr>
          <a:xfrm>
            <a:off x="12618720" y="6134100"/>
            <a:ext cx="47548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09000"/>
              </a:lnSpc>
              <a:buNone/>
            </a:pPr>
            <a:r>
              <a:rPr lang="en-US" sz="2250" b="1" dirty="0">
                <a:solidFill>
                  <a:srgbClr val="2B2A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接《续写故事》《我来编童话》</a:t>
            </a:r>
            <a:endParaRPr lang="en-US" sz="2250" dirty="0"/>
          </a:p>
        </p:txBody>
      </p:sp>
      <p:sp>
        <p:nvSpPr>
          <p:cNvPr id="16" name="Shape 13"/>
          <p:cNvSpPr/>
          <p:nvPr/>
        </p:nvSpPr>
        <p:spPr>
          <a:xfrm>
            <a:off x="914400" y="785812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14400" y="685800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14400" y="715327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会用词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5143500" y="7134225"/>
            <a:ext cx="74980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标点语气 → 叠词拟声 → 比喻拟人 → 好词入句</a:t>
            </a:r>
            <a:endParaRPr lang="en-US" sz="2250" dirty="0"/>
          </a:p>
        </p:txBody>
      </p:sp>
      <p:sp>
        <p:nvSpPr>
          <p:cNvPr id="26" name="Text 16"/>
          <p:cNvSpPr/>
          <p:nvPr/>
        </p:nvSpPr>
        <p:spPr>
          <a:xfrm>
            <a:off x="12618720" y="7134225"/>
            <a:ext cx="475488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r">
              <a:lnSpc>
                <a:spcPct val="109000"/>
              </a:lnSpc>
              <a:buNone/>
            </a:pPr>
            <a:r>
              <a:rPr lang="en-US" sz="2250" b="1" dirty="0">
                <a:solidFill>
                  <a:srgbClr val="2B2A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接《这儿真美》</a:t>
            </a:r>
            <a:endParaRPr lang="en-US" sz="2250" dirty="0"/>
          </a:p>
        </p:txBody>
      </p:sp>
      <p:sp>
        <p:nvSpPr>
          <p:cNvPr id="20" name="Shape 17"/>
          <p:cNvSpPr/>
          <p:nvPr/>
        </p:nvSpPr>
        <p:spPr>
          <a:xfrm>
            <a:off x="914400" y="8210550"/>
            <a:ext cx="16459200" cy="998190"/>
          </a:xfrm>
          <a:prstGeom prst="rect">
            <a:avLst/>
          </a:prstGeom>
          <a:solidFill>
            <a:srgbClr val="26241F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295400" y="8496300"/>
            <a:ext cx="16190976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和学校课本的关系：跟得上、学得深、走在前。学校教到哪，我们对齐到哪，再往前走一步。</a:t>
            </a:r>
            <a:endParaRPr lang="en-US" sz="21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62000"/>
            <a:ext cx="12371705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i="0" spc="273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开发方向四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374073"/>
            <a:ext cx="15910560" cy="14052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63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读书会课件迭代：按加盟商反馈逐本修订</a:t>
            </a:r>
            <a:endParaRPr sz="63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5979795"/>
            <a:ext cx="1280160" cy="51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6442710"/>
            <a:ext cx="16146145" cy="1411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7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收集加盟商在使用中反馈的问题，按书修订原有读书会课件，改过的版本统一推送更新。【待填：主要反馈问题、首批修订的书目与时间】</a:t>
            </a:r>
            <a:endParaRPr sz="27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762000"/>
            <a:ext cx="762762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自媒体运营 · 现状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47775"/>
            <a:ext cx="7627620" cy="752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先看现状：我们和同行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20980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257175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做法之前，先把现状看清楚。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3495180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30630" y="379236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总部目前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1304925" y="4471035"/>
            <a:ext cx="7534910" cy="8108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【待填：已有账号与平台、主要内容、更新频率、关注与互动情况】</a:t>
            </a:r>
            <a:endParaRPr lang="en-US" sz="210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304925" y="5190630"/>
            <a:ext cx="7534910" cy="9486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9277350" y="3588525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667875" y="394095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同行现状</a:t>
            </a:r>
            <a:endParaRPr lang="en-US" sz="2550" dirty="0"/>
          </a:p>
        </p:txBody>
      </p:sp>
      <p:sp>
        <p:nvSpPr>
          <p:cNvPr id="13" name="Text 10"/>
          <p:cNvSpPr/>
          <p:nvPr/>
        </p:nvSpPr>
        <p:spPr>
          <a:xfrm>
            <a:off x="9667875" y="4578985"/>
            <a:ext cx="7534910" cy="1131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sz="2100">
                <a:solidFill>
                  <a:srgbClr val="55514A"/>
                </a:solidFill>
                <a:sym typeface="+mn-ea"/>
              </a:rPr>
              <a:t>不少同行把直播当作主要的引流手段：直播公开课、直播带课，再配合短视频投放。</a:t>
            </a:r>
            <a:endParaRPr sz="2100">
              <a:solidFill>
                <a:srgbClr val="55514A"/>
              </a:solidFill>
              <a:sym typeface="+mn-ea"/>
            </a:endParaRPr>
          </a:p>
          <a:p>
            <a:pPr marL="0" indent="0" algn="l">
              <a:lnSpc>
                <a:spcPct val="116000"/>
              </a:lnSpc>
              <a:buNone/>
            </a:pPr>
            <a:r>
              <a:rPr sz="2100">
                <a:solidFill>
                  <a:srgbClr val="55514A"/>
                </a:solidFill>
                <a:sym typeface="+mn-ea"/>
              </a:rPr>
              <a:t>这种做法要有稳定的主播、持续的投放和专门的运营团队。【待填：总部掌握的具体情况】</a:t>
            </a:r>
            <a:endParaRPr sz="2100">
              <a:solidFill>
                <a:srgbClr val="55514A"/>
              </a:solidFill>
              <a:sym typeface="+mn-ea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43585" y="6728878"/>
            <a:ext cx="16459200" cy="2087761"/>
          </a:xfrm>
          <a:prstGeom prst="rect">
            <a:avLst/>
          </a:prstGeom>
          <a:solidFill>
            <a:srgbClr val="26241F"/>
          </a:solidFill>
        </p:spPr>
        <p:txBody>
          <a:bodyPr/>
          <a:p>
            <a:pPr marL="0" indent="0" algn="l">
              <a:lnSpc>
                <a:spcPct val="112000"/>
              </a:lnSpc>
              <a:buNone/>
            </a:pPr>
          </a:p>
        </p:txBody>
      </p:sp>
      <p:sp>
        <p:nvSpPr>
          <p:cNvPr id="16" name="Text 13"/>
          <p:cNvSpPr/>
          <p:nvPr/>
        </p:nvSpPr>
        <p:spPr>
          <a:xfrm>
            <a:off x="1295400" y="7032625"/>
            <a:ext cx="15697200" cy="17297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同行做得热闹，不等于适合我们。关键看投入和回报。</a:t>
            </a:r>
            <a:endParaRPr lang="zh-CN" altLang="en-US" sz="2100" dirty="0">
              <a:solidFill>
                <a:srgbClr val="FFFFFF"/>
              </a:solidFill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295400" y="7573398"/>
            <a:ext cx="15697200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62000"/>
            <a:ext cx="12371705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i="0" spc="273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自媒体运营 · 思路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374073"/>
            <a:ext cx="15910560" cy="14052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63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以做好内容为主，做好服务、做好口碑</a:t>
            </a:r>
            <a:endParaRPr sz="63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5979795"/>
            <a:ext cx="1280160" cy="51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6442710"/>
            <a:ext cx="16146145" cy="1411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7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总部目前不具备做直播引流的条件，投入大、性价比不高，现阶段不做。把力气放在内容上：课程本身做扎实，每次课后的服务做到位，家长认可了，口碑自然会传开。</a:t>
            </a:r>
            <a:endParaRPr sz="27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762000"/>
            <a:ext cx="117348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1950" dirty="0"/>
              <a:t>自媒体运营 · 落点</a:t>
            </a:r>
            <a:endParaRPr lang="zh-CN" alt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790700"/>
            <a:ext cx="11734800" cy="704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内容、服务、口碑，分别落在哪里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68605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300990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总部出内容，校区在本地用好。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385762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400" y="415290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做好内容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5143500" y="4133850"/>
            <a:ext cx="1216152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课程本身做扎实；单元招生海报、家长宣传短视频由总部统一制作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914400" y="485775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515302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做好服务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5143500" y="5133975"/>
            <a:ext cx="1216152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每次课后有东西交到家长手上：孩子的成稿、点评卡、家长一页纸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914400" y="585787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4400" y="615315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做好口碑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5143500" y="6134100"/>
            <a:ext cx="1216152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家长看得到孩子的变化，愿意向身边人推荐；【待填：口碑收集与展示方式】</a:t>
            </a:r>
            <a:endParaRPr lang="en-US" sz="2250" dirty="0"/>
          </a:p>
        </p:txBody>
      </p:sp>
      <p:sp>
        <p:nvSpPr>
          <p:cNvPr id="16" name="Shape 13"/>
          <p:cNvSpPr/>
          <p:nvPr/>
        </p:nvSpPr>
        <p:spPr>
          <a:xfrm>
            <a:off x="914400" y="785812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14400" y="685800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14400" y="715327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总部与校区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5143500" y="7134225"/>
            <a:ext cx="1216152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总部统一出品素材，校区在本地家长群与账号使用；【待填：发放方式与使用规范】</a:t>
            </a:r>
            <a:endParaRPr lang="en-US" sz="2250" dirty="0"/>
          </a:p>
        </p:txBody>
      </p:sp>
      <p:sp>
        <p:nvSpPr>
          <p:cNvPr id="20" name="Shape 17"/>
          <p:cNvSpPr/>
          <p:nvPr/>
        </p:nvSpPr>
        <p:spPr>
          <a:xfrm>
            <a:off x="914400" y="8210550"/>
            <a:ext cx="16459200" cy="998190"/>
          </a:xfrm>
          <a:prstGeom prst="rect">
            <a:avLst/>
          </a:prstGeom>
          <a:solidFill>
            <a:srgbClr val="26241F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295400" y="8496300"/>
            <a:ext cx="16190976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直播引流：现阶段不做。</a:t>
            </a:r>
            <a:endParaRPr lang="en-US" sz="21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3228975"/>
            <a:ext cx="18105120" cy="17526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62000"/>
              </a:lnSpc>
              <a:buNone/>
            </a:pPr>
            <a:r>
              <a:rPr lang="en-US" sz="15000" b="1" kern="0" spc="-450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第三部分</a:t>
            </a:r>
            <a:endParaRPr lang="en-US" sz="15000" dirty="0"/>
          </a:p>
        </p:txBody>
      </p:sp>
      <p:sp>
        <p:nvSpPr>
          <p:cNvPr id="4" name="Text 1"/>
          <p:cNvSpPr/>
          <p:nvPr/>
        </p:nvSpPr>
        <p:spPr>
          <a:xfrm>
            <a:off x="914400" y="5172075"/>
            <a:ext cx="14630400" cy="12477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66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小学语文教育与市场变化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914400" y="6591300"/>
            <a:ext cx="1280160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2550" dirty="0">
                <a:solidFill>
                  <a:schemeClr val="tx1">
                    <a:lumMod val="65000"/>
                    <a:lumOff val="35000"/>
                  </a:schemeClr>
                </a:solidFill>
                <a:cs typeface="微软雅黑" panose="020B0503020204020204" pitchFamily="34" charset="-120"/>
                <a:sym typeface="+mn-ea"/>
              </a:rPr>
              <a:t>课标教材、教学方向、家长需求的变化，以及对我们的影响。</a:t>
            </a:r>
            <a:endParaRPr lang="en-US" sz="2550" dirty="0"/>
          </a:p>
        </p:txBody>
      </p:sp>
      <p:sp>
        <p:nvSpPr>
          <p:cNvPr id="900" name="Brand Bar"/>
          <p:cNvSpPr/>
          <p:nvPr/>
        </p:nvSpPr>
        <p:spPr>
          <a:xfrm>
            <a:off x="0" y="7593965"/>
            <a:ext cx="18288000" cy="2693035"/>
          </a:xfrm>
          <a:prstGeom prst="rect">
            <a:avLst/>
          </a:prstGeom>
          <a:solidFill>
            <a:srgbClr val="C8352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762000"/>
            <a:ext cx="1173480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1950" dirty="0"/>
              <a:t>课标与教材</a:t>
            </a:r>
            <a:endParaRPr lang="zh-CN" alt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790700"/>
            <a:ext cx="11734800" cy="70485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这几年，小学语文发生了什么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68605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300990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课标先更新，教材跟着换，最后落到每一个单元的课堂上。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385762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914400" y="415290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2022 年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5143500" y="4133850"/>
            <a:ext cx="1216152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《义务教育语文课程标准（2022 年版）》颁布</a:t>
            </a:r>
            <a:endParaRPr lang="en-US" sz="2250" dirty="0"/>
          </a:p>
        </p:txBody>
      </p:sp>
      <p:sp>
        <p:nvSpPr>
          <p:cNvPr id="10" name="Shape 7"/>
          <p:cNvSpPr/>
          <p:nvPr/>
        </p:nvSpPr>
        <p:spPr>
          <a:xfrm>
            <a:off x="914400" y="485775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914400" y="515302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2024 年秋起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5143500" y="5133975"/>
            <a:ext cx="1216152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统编教材依据新课标修订，逐年换新</a:t>
            </a:r>
            <a:endParaRPr lang="en-US" sz="2250" dirty="0"/>
          </a:p>
        </p:txBody>
      </p:sp>
      <p:sp>
        <p:nvSpPr>
          <p:cNvPr id="13" name="Shape 10"/>
          <p:cNvSpPr/>
          <p:nvPr/>
        </p:nvSpPr>
        <p:spPr>
          <a:xfrm>
            <a:off x="914400" y="585787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914400" y="6153150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2026 年秋</a:t>
            </a:r>
            <a:endParaRPr lang="en-US" sz="2250" dirty="0"/>
          </a:p>
        </p:txBody>
      </p:sp>
      <p:sp>
        <p:nvSpPr>
          <p:cNvPr id="15" name="Text 12"/>
          <p:cNvSpPr/>
          <p:nvPr/>
        </p:nvSpPr>
        <p:spPr>
          <a:xfrm>
            <a:off x="5143500" y="6134100"/>
            <a:ext cx="1216152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四、五、六年级换用新教材，新教材覆盖小学所有年级</a:t>
            </a:r>
            <a:endParaRPr lang="en-US" sz="2250" dirty="0"/>
          </a:p>
        </p:txBody>
      </p:sp>
      <p:sp>
        <p:nvSpPr>
          <p:cNvPr id="16" name="Shape 13"/>
          <p:cNvSpPr/>
          <p:nvPr/>
        </p:nvSpPr>
        <p:spPr>
          <a:xfrm>
            <a:off x="914400" y="7858125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914400" y="6858000"/>
            <a:ext cx="16459200" cy="9525"/>
          </a:xfrm>
          <a:prstGeom prst="rect">
            <a:avLst/>
          </a:prstGeom>
          <a:solidFill>
            <a:srgbClr val="DFD9CE"/>
          </a:solidFill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14400" y="7153275"/>
            <a:ext cx="4191000" cy="4572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接下来</a:t>
            </a:r>
            <a:endParaRPr lang="en-US" sz="2250" dirty="0"/>
          </a:p>
        </p:txBody>
      </p:sp>
      <p:sp>
        <p:nvSpPr>
          <p:cNvPr id="19" name="Text 16"/>
          <p:cNvSpPr/>
          <p:nvPr/>
        </p:nvSpPr>
        <p:spPr>
          <a:xfrm>
            <a:off x="5143500" y="7134225"/>
            <a:ext cx="12161520" cy="4953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9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【待填：总部补充的其他变化，如考试与评价】</a:t>
            </a:r>
            <a:endParaRPr lang="en-US" sz="2250" dirty="0"/>
          </a:p>
        </p:txBody>
      </p:sp>
      <p:sp>
        <p:nvSpPr>
          <p:cNvPr id="20" name="Shape 17"/>
          <p:cNvSpPr/>
          <p:nvPr/>
        </p:nvSpPr>
        <p:spPr>
          <a:xfrm>
            <a:off x="914400" y="8210550"/>
            <a:ext cx="16459200" cy="998190"/>
          </a:xfrm>
          <a:prstGeom prst="rect">
            <a:avLst/>
          </a:prstGeom>
          <a:solidFill>
            <a:srgbClr val="26241F"/>
          </a:solidFill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295400" y="8496300"/>
            <a:ext cx="16190976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教材每换一次版，各单元的写作要求都跟着调整。</a:t>
            </a:r>
            <a:endParaRPr lang="en-US" sz="21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62000"/>
            <a:ext cx="12371705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i="0" spc="273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教学方向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374073"/>
            <a:ext cx="15910560" cy="14052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63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写作：从会写一篇文，转向素养导向的表达</a:t>
            </a:r>
            <a:endParaRPr sz="63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5979795"/>
            <a:ext cx="1280160" cy="51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6442710"/>
            <a:ext cx="16146145" cy="1411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7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写作不再只是完成一篇作文，而是培养在真实情境中表达的能力。审题、选材、构思、表达、修改，每一步都要拆开来练扎实。【待填：总部补充的判断】</a:t>
            </a:r>
            <a:endParaRPr sz="27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914400" y="762000"/>
            <a:ext cx="12371705" cy="4152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950" i="0" spc="273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</a:rPr>
              <a:t>家长需求</a:t>
            </a:r>
            <a:endParaRPr sz="1950" b="0" i="0">
              <a:solidFill>
                <a:srgbClr val="8A8477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14400" y="3374073"/>
            <a:ext cx="15910560" cy="14052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45000"/>
              </a:lnSpc>
            </a:pPr>
            <a:r>
              <a:rPr sz="6300" b="1" i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</a:rPr>
              <a:t>家长要的，是看得见的变化</a:t>
            </a:r>
            <a:endParaRPr sz="6300" b="1" i="0">
              <a:solidFill>
                <a:srgbClr val="2B292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5979795"/>
            <a:ext cx="1280160" cy="51000"/>
          </a:xfrm>
          <a:prstGeom prst="rect">
            <a:avLst/>
          </a:prstGeom>
          <a:solidFill>
            <a:srgbClr val="C835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700"/>
          </a:p>
        </p:txBody>
      </p:sp>
      <p:sp>
        <p:nvSpPr>
          <p:cNvPr id="6" name="TextBox 5"/>
          <p:cNvSpPr txBox="1"/>
          <p:nvPr/>
        </p:nvSpPr>
        <p:spPr>
          <a:xfrm>
            <a:off x="914400" y="6442710"/>
            <a:ext cx="16146145" cy="14116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700" b="0" i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</a:rPr>
              <a:t>孩子读了很多书，家长关心这些积累怎样转化为写作能力；在校内写作要求与升学压力之下，最直接的衡量标准仍是单元习作与作文的提升。【待填：总部观察到的其他变化】</a:t>
            </a:r>
            <a:endParaRPr sz="2700" b="0" i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>
            <a:alphaModFix amt="90000"/>
          </a:blip>
          <a:srcRect l="-1" r="-1"/>
          <a:stretch>
            <a:fillRect/>
          </a:stretch>
        </p:blipFill>
        <p:spPr>
          <a:xfrm>
            <a:off x="1521523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914400" y="894160"/>
            <a:ext cx="1810512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zh-CN" alt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对我们意味着什么</a:t>
            </a:r>
            <a:endParaRPr lang="zh-CN" altLang="en-US" sz="1950" dirty="0"/>
          </a:p>
        </p:txBody>
      </p:sp>
      <p:sp>
        <p:nvSpPr>
          <p:cNvPr id="5" name="Text 1"/>
          <p:cNvSpPr/>
          <p:nvPr/>
        </p:nvSpPr>
        <p:spPr>
          <a:xfrm>
            <a:off x="914400" y="1474160"/>
            <a:ext cx="16459200" cy="1000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zh-CN" altLang="en-US" sz="5400" b="1" kern="0" spc="-150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变化之下，我们要做好的三件事</a:t>
            </a:r>
            <a:endParaRPr lang="zh-CN" altLang="en-US" sz="5400" dirty="0"/>
          </a:p>
        </p:txBody>
      </p:sp>
      <p:sp>
        <p:nvSpPr>
          <p:cNvPr id="6" name="Shape 2"/>
          <p:cNvSpPr/>
          <p:nvPr/>
        </p:nvSpPr>
        <p:spPr>
          <a:xfrm>
            <a:off x="914400" y="2894160"/>
            <a:ext cx="762000" cy="38100"/>
          </a:xfrm>
          <a:prstGeom prst="rect">
            <a:avLst/>
          </a:prstGeom>
          <a:solidFill>
            <a:srgbClr val="C8352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Block"/>
          <p:cNvSpPr/>
          <p:nvPr/>
        </p:nvSpPr>
        <p:spPr>
          <a:xfrm>
            <a:off x="914400" y="3594160"/>
            <a:ext cx="16459200" cy="5200784"/>
          </a:xfrm>
          <a:prstGeom prst="rect">
            <a:avLst/>
          </a:prstGeom>
          <a:solidFill>
            <a:srgbClr val="C8352B"/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um 1"/>
          <p:cNvSpPr/>
          <p:nvPr/>
        </p:nvSpPr>
        <p:spPr>
          <a:xfrm>
            <a:off x="1419225" y="3974160"/>
            <a:ext cx="1000000" cy="950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66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1</a:t>
            </a:r>
            <a:endParaRPr lang="zh-CN" altLang="en-US" sz="6600" dirty="0"/>
          </a:p>
        </p:txBody>
      </p:sp>
      <p:sp>
        <p:nvSpPr>
          <p:cNvPr id="9" name="Text 4"/>
          <p:cNvSpPr/>
          <p:nvPr/>
        </p:nvSpPr>
        <p:spPr>
          <a:xfrm>
            <a:off x="2790825" y="4124160"/>
            <a:ext cx="14200000" cy="1000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700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招生：中高年级家长普遍看重作文，同步写作可以作为招生入口</a:t>
            </a:r>
            <a:endParaRPr lang="zh-CN" altLang="en-US" sz="2700" dirty="0"/>
          </a:p>
        </p:txBody>
      </p:sp>
      <p:sp>
        <p:nvSpPr>
          <p:cNvPr id="10" name="Rule"/>
          <p:cNvSpPr/>
          <p:nvPr/>
        </p:nvSpPr>
        <p:spPr>
          <a:xfrm>
            <a:off x="1419225" y="5344160"/>
            <a:ext cx="15449200" cy="95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Rule"/>
          <p:cNvSpPr/>
          <p:nvPr/>
        </p:nvSpPr>
        <p:spPr>
          <a:xfrm>
            <a:off x="1419225" y="7044944"/>
            <a:ext cx="15449200" cy="95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Num 2"/>
          <p:cNvSpPr/>
          <p:nvPr/>
        </p:nvSpPr>
        <p:spPr>
          <a:xfrm>
            <a:off x="1419225" y="5674160"/>
            <a:ext cx="1000000" cy="950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66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2</a:t>
            </a:r>
            <a:endParaRPr lang="zh-CN" altLang="en-US" sz="6600" dirty="0"/>
          </a:p>
        </p:txBody>
      </p:sp>
      <p:sp>
        <p:nvSpPr>
          <p:cNvPr id="14" name="Num 2"/>
          <p:cNvSpPr/>
          <p:nvPr/>
        </p:nvSpPr>
        <p:spPr>
          <a:xfrm>
            <a:off x="1419225" y="7374944"/>
            <a:ext cx="1000000" cy="950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6600" b="1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3</a:t>
            </a:r>
            <a:endParaRPr lang="zh-CN" altLang="en-US" sz="6600" dirty="0"/>
          </a:p>
        </p:txBody>
      </p:sp>
      <p:sp>
        <p:nvSpPr>
          <p:cNvPr id="12" name="Text 5"/>
          <p:cNvSpPr/>
          <p:nvPr/>
        </p:nvSpPr>
        <p:spPr>
          <a:xfrm>
            <a:off x="2790825" y="5824160"/>
            <a:ext cx="14200000" cy="1000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700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推广：跟着学校教材单元走、上在学校讲之前，向家长说得清楚</a:t>
            </a:r>
            <a:endParaRPr lang="zh-CN" altLang="en-US" sz="2700" dirty="0"/>
          </a:p>
        </p:txBody>
      </p:sp>
      <p:sp>
        <p:nvSpPr>
          <p:cNvPr id="15" name="Text 5"/>
          <p:cNvSpPr/>
          <p:nvPr/>
        </p:nvSpPr>
        <p:spPr>
          <a:xfrm>
            <a:off x="2790825" y="7524944"/>
            <a:ext cx="14200000" cy="100000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2700" kern="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教学：按单元教学重点落实写法，每次课让孩子当堂写出一篇</a:t>
            </a:r>
            <a:endParaRPr lang="zh-CN" altLang="en-US" sz="2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43750" y="2862411"/>
            <a:ext cx="4000500" cy="168547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376690" y="5081290"/>
            <a:ext cx="6088082" cy="752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900" b="1" kern="0" spc="234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老约翰深度阅读</a:t>
            </a:r>
            <a:endParaRPr lang="en-US" sz="3900" dirty="0"/>
          </a:p>
        </p:txBody>
      </p:sp>
      <p:sp>
        <p:nvSpPr>
          <p:cNvPr id="4" name="Shape 1"/>
          <p:cNvSpPr/>
          <p:nvPr/>
        </p:nvSpPr>
        <p:spPr>
          <a:xfrm>
            <a:off x="8763000" y="6329065"/>
            <a:ext cx="7620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5" name="Text 2"/>
          <p:cNvSpPr/>
          <p:nvPr/>
        </p:nvSpPr>
        <p:spPr>
          <a:xfrm>
            <a:off x="6610945" y="6900565"/>
            <a:ext cx="5572557" cy="5619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850" kern="0" spc="399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阅读 · 思辨 · 表达</a:t>
            </a:r>
            <a:endParaRPr lang="en-US" sz="2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3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762000"/>
            <a:ext cx="7627620" cy="3905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950" kern="0" spc="273" dirty="0">
                <a:solidFill>
                  <a:srgbClr val="8A8477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后续设想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47775"/>
            <a:ext cx="13716000" cy="7524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 fontScale="90000"/>
          </a:bodyPr>
          <a:lstStyle/>
          <a:p>
            <a:pPr marL="0" indent="0" algn="l">
              <a:lnSpc>
                <a:spcPct val="86000"/>
              </a:lnSpc>
              <a:buNone/>
            </a:pPr>
            <a:r>
              <a:rPr lang="en-US" sz="420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来自老师们的建议：小古文、主题阅读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914400" y="2209800"/>
            <a:ext cx="609600" cy="38100"/>
          </a:xfrm>
          <a:prstGeom prst="rect">
            <a:avLst/>
          </a:prstGeom>
          <a:solidFill>
            <a:srgbClr val="C8352B"/>
          </a:solidFill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14400" y="2571750"/>
            <a:ext cx="14716125" cy="52387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25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有老师建议后续开发这两类课程。总部先列为后续设想，评估校区需求后再定。</a:t>
            </a:r>
            <a:endParaRPr lang="en-US" sz="2250" dirty="0"/>
          </a:p>
        </p:txBody>
      </p:sp>
      <p:sp>
        <p:nvSpPr>
          <p:cNvPr id="7" name="Shape 4"/>
          <p:cNvSpPr/>
          <p:nvPr/>
        </p:nvSpPr>
        <p:spPr>
          <a:xfrm>
            <a:off x="914400" y="3495180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230630" y="379236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2B2926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小古文</a:t>
            </a:r>
            <a:endParaRPr lang="en-US" sz="2550" dirty="0"/>
          </a:p>
        </p:txBody>
      </p:sp>
      <p:sp>
        <p:nvSpPr>
          <p:cNvPr id="9" name="Text 6"/>
          <p:cNvSpPr/>
          <p:nvPr/>
        </p:nvSpPr>
        <p:spPr>
          <a:xfrm>
            <a:off x="1304925" y="4471035"/>
            <a:ext cx="7534910" cy="81089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统编教材从三年级起选入文言文，孩子初读小古文，常卡在读不顺、读不懂。</a:t>
            </a:r>
            <a:endParaRPr lang="en-US" sz="210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  <a:p>
            <a:pPr marL="0" indent="0" algn="l">
              <a:lnSpc>
                <a:spcPct val="116000"/>
              </a:lnSpc>
              <a:buNone/>
            </a:pPr>
            <a:r>
              <a:rPr lang="en-US" sz="2100" dirty="0">
                <a:solidFill>
                  <a:srgbClr val="5551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可以围绕教材篇目和同类短文，练朗读、断句和理解，打好文言基础。</a:t>
            </a:r>
            <a:endParaRPr lang="en-US" sz="2100" dirty="0">
              <a:solidFill>
                <a:srgbClr val="5551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304925" y="5190630"/>
            <a:ext cx="7534910" cy="9486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9277350" y="3588525"/>
            <a:ext cx="8096250" cy="2834283"/>
          </a:xfrm>
          <a:prstGeom prst="rect">
            <a:avLst/>
          </a:prstGeom>
          <a:solidFill>
            <a:srgbClr val="FFFFFF"/>
          </a:solidFill>
          <a:ln w="9525">
            <a:solidFill>
              <a:srgbClr val="DFD9C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9667875" y="3940950"/>
            <a:ext cx="8046720" cy="504825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C8352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主题阅读</a:t>
            </a:r>
            <a:endParaRPr lang="en-US" sz="2550" dirty="0"/>
          </a:p>
        </p:txBody>
      </p:sp>
      <p:sp>
        <p:nvSpPr>
          <p:cNvPr id="13" name="Text 10"/>
          <p:cNvSpPr/>
          <p:nvPr/>
        </p:nvSpPr>
        <p:spPr>
          <a:xfrm>
            <a:off x="9667875" y="4578985"/>
            <a:ext cx="7534910" cy="113157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sz="2100">
                <a:solidFill>
                  <a:srgbClr val="55514A"/>
                </a:solidFill>
                <a:sym typeface="+mn-ea"/>
              </a:rPr>
              <a:t>围绕一个主题，把几篇文章或几本书放在一起读，比较、归纳，再表达自己的看法。</a:t>
            </a:r>
            <a:endParaRPr sz="2100">
              <a:solidFill>
                <a:srgbClr val="55514A"/>
              </a:solidFill>
              <a:sym typeface="+mn-ea"/>
            </a:endParaRPr>
          </a:p>
          <a:p>
            <a:pPr marL="0" indent="0" algn="l">
              <a:lnSpc>
                <a:spcPct val="116000"/>
              </a:lnSpc>
              <a:buNone/>
            </a:pPr>
            <a:r>
              <a:rPr sz="2100">
                <a:solidFill>
                  <a:srgbClr val="55514A"/>
                </a:solidFill>
                <a:sym typeface="+mn-ea"/>
              </a:rPr>
              <a:t>与整本书阅读互补：整本书阅读读深一本，主题阅读读宽一类。</a:t>
            </a:r>
            <a:endParaRPr sz="2100">
              <a:solidFill>
                <a:srgbClr val="55514A"/>
              </a:solidFill>
              <a:sym typeface="+mn-ea"/>
            </a:endParaRPr>
          </a:p>
        </p:txBody>
      </p:sp>
      <p:sp>
        <p:nvSpPr>
          <p:cNvPr id="15" name="Shape 12"/>
          <p:cNvSpPr/>
          <p:nvPr/>
        </p:nvSpPr>
        <p:spPr>
          <a:xfrm>
            <a:off x="743585" y="6728878"/>
            <a:ext cx="16459200" cy="2087761"/>
          </a:xfrm>
          <a:prstGeom prst="rect">
            <a:avLst/>
          </a:prstGeom>
          <a:solidFill>
            <a:srgbClr val="26241F"/>
          </a:solidFill>
        </p:spPr>
        <p:txBody>
          <a:bodyPr/>
          <a:p>
            <a:pPr marL="0" indent="0" algn="l">
              <a:lnSpc>
                <a:spcPct val="112000"/>
              </a:lnSpc>
              <a:buNone/>
            </a:pPr>
          </a:p>
        </p:txBody>
      </p:sp>
      <p:sp>
        <p:nvSpPr>
          <p:cNvPr id="16" name="Text 13"/>
          <p:cNvSpPr/>
          <p:nvPr/>
        </p:nvSpPr>
        <p:spPr>
          <a:xfrm>
            <a:off x="1295400" y="7032625"/>
            <a:ext cx="15697200" cy="172974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pitchFamily="34" charset="-120"/>
              </a:rPr>
              <a:t>目前处在收集建议阶段。【待填：是否纳入计划、大致时间】欢迎伙伴们继续提需求。</a:t>
            </a:r>
            <a:endParaRPr lang="zh-CN" altLang="en-US" sz="2100" dirty="0">
              <a:solidFill>
                <a:srgbClr val="FFFFFF"/>
              </a:solidFill>
              <a:cs typeface="微软雅黑" panose="020B0503020204020204" pitchFamily="34" charset="-120"/>
              <a:sym typeface="+mn-ea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1295400" y="7573398"/>
            <a:ext cx="15697200" cy="464790"/>
          </a:xfrm>
          <a:prstGeom prst="rect">
            <a:avLst/>
          </a:prstGeom>
          <a:noFill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12000"/>
              </a:lnSpc>
              <a:buNone/>
            </a:pPr>
            <a:endParaRPr lang="zh-CN" altLang="en-US" sz="2100" dirty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pitchFamily="34" charset="-120"/>
            </a:endParaRPr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2">
            <a:alphaModFix amt="90000"/>
          </a:blip>
          <a:srcRect l="-1" r="-1"/>
          <a:stretch>
            <a:fillRect/>
          </a:stretch>
        </p:blipFill>
        <p:spPr>
          <a:xfrm>
            <a:off x="15489555" y="632460"/>
            <a:ext cx="1845945" cy="77724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2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3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4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5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ags/tag6.xml><?xml version="1.0" encoding="utf-8"?>
<p:tagLst xmlns:p="http://schemas.openxmlformats.org/presentationml/2006/main">
  <p:tag name="KSO_WM_DIAGRAM_VIRTUALLY_FRAME" val="{&quot;height&quot;:463.4488188976378,&quot;left&quot;:72,&quot;top&quot;:196.85039370078738,&quot;width&quot;:747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微软雅黑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微软雅黑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2498</Words>
  <Application>WPS 演示</Application>
  <PresentationFormat>On-screen Show (16:9)</PresentationFormat>
  <Paragraphs>286</Paragraphs>
  <Slides>20</Slides>
  <Notes>30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9" baseType="lpstr">
      <vt:lpstr>Arial</vt:lpstr>
      <vt:lpstr>宋体</vt:lpstr>
      <vt:lpstr>Wingdings</vt:lpstr>
      <vt:lpstr>微软雅黑</vt:lpstr>
      <vt:lpstr>微软雅黑</vt:lpstr>
      <vt:lpstr>Arial Unicode MS</vt:lpstr>
      <vt:lpstr>Calibri</vt:lpstr>
      <vt:lpstr>等线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飞鱼</cp:lastModifiedBy>
  <cp:revision>48</cp:revision>
  <dcterms:created xsi:type="dcterms:W3CDTF">2026-08-25T08:53:00Z</dcterms:created>
  <dcterms:modified xsi:type="dcterms:W3CDTF">2026-09-29T09:16:06Z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F1344613F9E342E48706538A22D7EC56_13</vt:lpwstr>
  </property>
  <property fmtid="{D5CDD505-2E9C-101B-9397-08002B2CF9AE}" pid="3" name="KSOProductBuildVer">
    <vt:lpwstr>2052-12.1.0.20305</vt:lpwstr>
  </property>
</Properties>
</file>