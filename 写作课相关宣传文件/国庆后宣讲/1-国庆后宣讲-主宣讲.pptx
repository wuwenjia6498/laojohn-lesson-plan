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80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标题「读写并重，正当其时」：新课标新教材把阅读和写作推到台前，读书会与同步写作两条课程线正赶上这一轮。“读写并重”取自新教材解读的总结口径（阅读为本、读写并重、文化为魂）。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先讲来路：老约翰从绘本阅读起步，延伸出绘本多维课程，后来拓展到小学生读书会，现在推出同步习作，每一步都是顺应市场需求和家长需求的变化。重点讲清楚：新课程不是否定绘本阅读，绘本阅读的价值一直都在；新课程是在原有基础上把课程体系进一步丰富和完善。讲完进入今天的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先讲第一部分市场变化；第二部分点中间卡片里的按钮进入完整介绍，讲完按 Esc 回到这一页，再讲第三部分。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第一部分先讲课标和教材怎么变，再讲变化落在阅读和写作上，最后讲为什么这是我们的机会、要做好哪三件事。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这一页只讲事实脉络，不展开评论。依据是《四至六年级教材换新全面梳理》（0907）：此次修订经 550 多所学校、10 万余名学生试教试用；下册以出版社正式发布为准。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前两条（阅读、写作）标红，是和我们两条课程线直接相关的；后两条是阅读面的拓宽。口径与《四至六年级教材换新全面梳理》的「五大改版趋势」一致。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这一页是第一部分的核心：新课标新教材要的，正是我们一直在做的读和写。读书会是早几年就推出的产品，这一轮改版等于给它补上了官方依据；同步写作则正好接住习作换新。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阅读和写作两条线分开讲：读书会回应「读得深」，同步写作回应「写得出」。单元习作与作文仍是家长最直接的衡量标准。</a:t>
            </a:r>
            <a:endParaRPr 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这三条是已有口径；总部如有进一步判断，可以在这里补充。讲完进入第二部分：同步写作课程正式发布及课程介绍。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点下方按钮进入《同步写作课程完整介绍》放映，讲完按 Esc 回到这一页，接着讲第三部分。两份文件要放在同一个文件夹里，按钮才打得开。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第三部分讲总部下一阶段的两项重点工作：后续开发与自媒体运营。先讲开发。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先用一页把四件事和时间讲清，后面逐项展开。已定的时间：低段快乐读书吧 11 月左右完成；同步写作春季用的新教材预计 12 月出来，出来后做最后一轮更新。底部两类课程还没有立项，讲清方向和价值即可，不承诺时间，可以现场请伙伴们说说自己加盟馆的需求。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重点说清楚两件事：秋季班已按新教材走；春季班要等 12 月新教材出来再做最后更新，加盟馆拿到的始终是对应新教材的版本。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一至三年级快乐读书吧共 10 本：一年级《和大人一起读》四册，二年级四本，三年级两本。组合排课的方式在完整介绍的「三种用法」里讲过。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讲为什么要做看图写话：同步写作从三年级开始，一二年级是空着的。补上这两年，写作课就是一至六年级一条线，孩子从一年级进来可以一直学到六年级。看图写话是全六阶写作体系的第一、二阶：一年级重点是敢说敢写、不怕动笔，二年级开始像小作家一样讲故事。每学期 16 次课，四个学期共 64 次，每次课两节连排 90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这一页讲衔接：左边是看图写话两年练的四条能力线，右边是三年级同步写作里直接接上的单元习作。对加盟馆来说，一二年级的学员升到三年级，可以自然转进同步写作，不用重新招生。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这一项是改已有的，不是新开发。可以现场请伙伴们报一报：哪些书在本地买不到、哪些课上起来难。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发计划讲完，用这一页收一下：公司之前已有一至六年级的读书会阅读课；写作课这边，三至六年级同步写作已上线，一二年级看图写话补上之后，一至六年级的写作课也完整了。也就是说，阅读、写作两条线一至六年级都已完整。后续再加上小古文、寒暑假主题阅读，就是一个很完善的课程体系。虚线框是后续设想，还没有排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开发计划到这里讲完。下面换一个话题，讲自媒体运营。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左边总部现状由总部补数据；右边同行现状是总体情况，具体例子现场可以补充。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这一页是本节的核心，讲慢一点。直播不做，不是不重视宣传，是现阶段性价比不高。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四块都要把读书会和同步写作一起说到，不只讲写作课。写作课海报和宣传短视频的样例在完整介绍的「招生支持」一页；读书会的书目卡、海报、阅读单沿用已有做法。讲完进入加盟馆推广渠道。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核心原则：私域转介绍优先于线下社区，线下社区优先于视频号、小红书，抖音同城只作备选。A 类是绘本馆（借阅加绘本课，主打学前），B 类是整本书阅读馆（三至六年级）。第一，老会员转介绍 ROI 最高：阅读类服务信任门槛高，老家长口碑转化率最高、获客成本最低，馆长只需在社群定期温和提醒；激励优先给阅读类物料，不以现金为主，规避教培返现风险。第二，线下社区活动：同城客户面对面最快建立信任。绘本故事会天然适合低龄孩子；B 馆家长最关心孩子读不完书、读了没效果，读书沙龙直击这个痛点。活动不当场逼单，重点是加到微信，在私域慢慢培育。第三，视频号为主：依托微信，看完一键转发到家长群，引流加微信的链路最短；手机随手拍即可，合规风险更低。小红书作辅助：人群就是宝妈，适合图文笔记，但平台限制导流、不能直接留微信，要委婉引导私信。B 馆选题可以讲“两周一本书在家怎么安排阅读计划”，就是我们双节点微反馈这套方法。为什么不主推抖音：多数馆长没有短视频和直播能力；阅读是慢决策，看完很少直接下单，投流成本高、投产难打平；教育类内容平台规则严，容易违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用这一页收一下：前两个渠道两类馆都是满分，线上排第三，抖音同城只作备选，自愿参与、不投流，不作为硬性任务。讲完直接进收尾。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hyperlink" Target="2-&#21516;&#27493;&#20889;&#20316;&#35838;&#31243;&#23436;&#25972;&#20171;&#32461;.pptx" TargetMode="Externa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hyperlink" Target="2-&#21516;&#27493;&#20889;&#20316;&#35838;&#31243;&#23436;&#25972;&#20171;&#32461;.pptx" TargetMode="Externa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55680" cy="1028700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77240"/>
            <a:ext cx="2120348" cy="731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3063240"/>
            <a:ext cx="822960" cy="82296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2026.10 宣讲</a:t>
            </a:r>
            <a:endParaRPr sz="2600" b="1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读写并重，正当其时</a:t>
            </a:r>
            <a:endParaRPr sz="8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新课标、新教材把阅读和写作推到台前，</a:t>
            </a:r>
            <a:endParaRPr sz="22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读书会与同步写作，两条线正当其时。</a:t>
            </a:r>
            <a:endParaRPr sz="22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070080" y="19202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6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90320" y="202996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新变化</a:t>
            </a:r>
            <a:endParaRPr sz="19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0" y="246888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新课标、新教材下的小学语文市场变化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115800" y="3657600"/>
            <a:ext cx="548640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0" y="425196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6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990320" y="436168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新课程</a:t>
            </a:r>
            <a:endParaRPr sz="19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90320" y="480060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同步写作课程正式发布及课程介绍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115800" y="5989320"/>
            <a:ext cx="548640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0" y="6583679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6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990320" y="6693407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新计划</a:t>
            </a:r>
            <a:endParaRPr sz="19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990320" y="7132319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总部后续产品开发规划与自媒体运营思路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我们的来路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从绘本阅读起步，一步步丰富课程体系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每一次拓展，都是顺应市场需求和家长需求的变化。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3886200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3886200" cy="10972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4440" y="315468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B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15468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起步</a:t>
            </a:r>
            <a:endParaRPr sz="1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34440" y="3977639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绘本阅读</a:t>
            </a:r>
            <a:endParaRPr sz="3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34440" y="4937760"/>
            <a:ext cx="3108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20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老约翰从绘本阅读起步，陪孩子走进阅读、爱上阅读。</a:t>
            </a:r>
            <a:endParaRPr sz="20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09160" y="4480560"/>
            <a:ext cx="3657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74920" y="2697480"/>
            <a:ext cx="3886200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2697480"/>
            <a:ext cx="3886200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0" y="315468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315468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延伸</a:t>
            </a:r>
            <a:endParaRPr sz="1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0" y="3977639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绘本多维课程</a:t>
            </a:r>
            <a:endParaRPr sz="3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0" y="4937760"/>
            <a:ext cx="3108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20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在绘本阅读的基础上延伸，让一本绘本带出更多维度的收获。</a:t>
            </a:r>
            <a:endParaRPr sz="20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0" y="4480560"/>
            <a:ext cx="3657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326880" y="2697480"/>
            <a:ext cx="3886200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0" y="2697480"/>
            <a:ext cx="3886200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8360" y="315468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315468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拓展</a:t>
            </a:r>
            <a:endParaRPr sz="1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38360" y="3977639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小学生读书会</a:t>
            </a:r>
            <a:endParaRPr sz="3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38360" y="4937760"/>
            <a:ext cx="3108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20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孩子上了小学，整本书深度阅读接上来，读得更深、想得更透。</a:t>
            </a:r>
            <a:endParaRPr sz="20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13080" y="4480560"/>
            <a:ext cx="3657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3578840" y="2697480"/>
            <a:ext cx="3886200" cy="434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578840" y="2697480"/>
            <a:ext cx="3886200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990320" y="315468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90320" y="315468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新增</a:t>
            </a:r>
            <a:endParaRPr sz="1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990320" y="3977639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同步习作</a:t>
            </a:r>
            <a:endParaRPr sz="3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990320" y="4937760"/>
            <a:ext cx="310896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20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跟着统编教材单元走，把读到的、想到的，变成自己写出来的。</a:t>
            </a:r>
            <a:endParaRPr sz="20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22960" y="7406640"/>
            <a:ext cx="16642080" cy="192024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7406640"/>
            <a:ext cx="15727680" cy="192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新课程都是以儿童阅读为基础，持续拓展课程内容，</a:t>
            </a:r>
            <a:r>
              <a:rPr sz="2700" b="1">
                <a:solidFill>
                  <a:srgbClr val="F28B7F"/>
                </a:solidFill>
                <a:latin typeface="微软雅黑" panose="020B0503020204020204" charset="-122"/>
                <a:ea typeface="微软雅黑" panose="020B0503020204020204" charset="-122"/>
              </a:rPr>
              <a:t>逐步构建更加完整的课程体系。</a:t>
            </a:r>
            <a:endParaRPr sz="2700" b="1">
              <a:solidFill>
                <a:srgbClr val="F2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今天的安排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今天讲三件事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2514600"/>
            <a:ext cx="5257800" cy="63550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514600"/>
            <a:ext cx="5257800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06324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64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25880" y="4434840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新课标、新教材下的小学语文市场变化</a:t>
            </a:r>
            <a:endParaRPr sz="31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5806440"/>
            <a:ext cx="43434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新课标、新教材的重点，以及为什么这对读写机构是结构性利好。</a:t>
            </a:r>
            <a:endParaRPr sz="20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46520" y="2514600"/>
            <a:ext cx="5257800" cy="63550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2514600"/>
            <a:ext cx="5257800" cy="10972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06324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6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4434840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同步写作课程正式发布及课程介绍</a:t>
            </a:r>
            <a:endParaRPr sz="31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49440" y="5806440"/>
            <a:ext cx="43434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课程定位、写作教学方法、课堂上法、课程文件与批改、用法。</a:t>
            </a:r>
            <a:endParaRPr sz="20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6949440" y="7818120"/>
            <a:ext cx="4251960" cy="658368"/>
          </a:xfrm>
          <a:prstGeom prst="roundRect">
            <a:avLst>
              <a:gd name="adj" fmla="val 50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进入同步写作课程介绍  →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070080" y="2514600"/>
            <a:ext cx="5257800" cy="63550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70080" y="2514600"/>
            <a:ext cx="5257800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73000" y="306324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64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73000" y="4434840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总部后续产品开发规划与自媒体运营思路</a:t>
            </a:r>
            <a:endParaRPr sz="31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73000" y="5806440"/>
            <a:ext cx="43434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上半：后续开发任务</a:t>
            </a:r>
            <a:endParaRPr sz="20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下半：自媒体运营思路</a:t>
            </a:r>
            <a:endParaRPr sz="20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88720"/>
            <a:ext cx="822960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23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3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第一部分</a:t>
            </a:r>
            <a:endParaRPr sz="2400" b="1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55448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6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新课标、新教材下的小学语文市场变化</a:t>
            </a:r>
            <a:endParaRPr sz="6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6492240"/>
            <a:ext cx="1463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新课标、新教材把阅读和写作推到台前——对我们这类读写机构，是结构性利好。</a:t>
            </a:r>
            <a:endParaRPr sz="23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课标与教材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这几年，小学语文发生了什么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课标先更新，教材跟着换，最后落到每一个单元的课堂上。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88720" y="3703320"/>
            <a:ext cx="15910559" cy="54864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502152"/>
            <a:ext cx="457200" cy="45720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2022 年</a:t>
            </a:r>
            <a:endParaRPr sz="32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3977639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1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《义务教育语文课程标准（2022 年版）》颁布</a:t>
            </a:r>
            <a:endParaRPr sz="21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230368" y="3502152"/>
            <a:ext cx="457200" cy="45720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43434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2024 年秋起</a:t>
            </a:r>
            <a:endParaRPr sz="32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47488" y="5120640"/>
            <a:ext cx="3977639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1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统编教材依据新课标修订，一年级率先启用，逐年换新</a:t>
            </a:r>
            <a:endParaRPr sz="21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54896" y="3502152"/>
            <a:ext cx="457200" cy="45720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43434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2026 年秋</a:t>
            </a:r>
            <a:endParaRPr sz="32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72016" y="5120640"/>
            <a:ext cx="3977639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1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四、五、六年级换用新教材，义务教育全学段完成替换</a:t>
            </a:r>
            <a:endParaRPr sz="21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679424" y="350215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3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496544" y="43434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接下来</a:t>
            </a:r>
            <a:endParaRPr sz="3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496544" y="5120640"/>
            <a:ext cx="3977639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1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下册新版目录待发布，四至六年级下册已确定多个单元有变</a:t>
            </a:r>
            <a:endParaRPr sz="21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2960" y="7726679"/>
            <a:ext cx="16642080" cy="128016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7726679"/>
            <a:ext cx="1554480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统编教材使用以来的首次大修：不是换几篇课文，而是单元、篇目、习作与学习任务的系统调整。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新教材的方向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新教材的重点，落在阅读和写作上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这一轮改版的几条趋势，几乎都指向读和写。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3950208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3950208" cy="10972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39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5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阅读地位提升</a:t>
            </a:r>
            <a:endParaRPr sz="25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80"/>
            <a:ext cx="324612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整本书阅读要求提高，快乐读书吧分量加重；高年级更多训练信息整合、逻辑和思辨。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47488" y="2697480"/>
            <a:ext cx="3950208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7488" y="2697480"/>
            <a:ext cx="3950208" cy="10972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3248" y="3063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13248" y="3749039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5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习作回到真实表达</a:t>
            </a:r>
            <a:endParaRPr sz="25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13248" y="4526280"/>
            <a:ext cx="324612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多个习作换题或移位，新题贴近真实生活，套模板、背范文的收益在下降。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272016" y="2697480"/>
            <a:ext cx="3950208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72016" y="2697480"/>
            <a:ext cx="3950208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7776" y="3063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37776" y="3749039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5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传统文化加强</a:t>
            </a:r>
            <a:endParaRPr sz="25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37776" y="4526280"/>
            <a:ext cx="324612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新建“中国的世界文化遗产”单元，文言文篇目调整，从孩子熟悉的故事入门。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3496544" y="2697480"/>
            <a:ext cx="3950208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496544" y="2697480"/>
            <a:ext cx="3950208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62304" y="3063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862304" y="3749039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5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科学与想象</a:t>
            </a:r>
            <a:endParaRPr sz="25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862304" y="4526280"/>
            <a:ext cx="3246120" cy="2651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航天、科技题材进入课本，科普与说明性文本应当纳入课外阅读。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22960" y="7726679"/>
            <a:ext cx="16642080" cy="128016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7726679"/>
            <a:ext cx="1554480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从“教课文”走向“育素养”：</a:t>
            </a: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阅读为本、读写并重、文化为魂。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对我们意味着什么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对我们这类读写机构，这是结构性利好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2240280"/>
            <a:ext cx="8092440" cy="2697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240280"/>
            <a:ext cx="128016" cy="269748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读书会深度阅读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2898648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整本书阅读被推到台前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717804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整本书阅读要求提高、快乐读书吧持续强化，读书会与教材导向正面重合，这是“为什么要上阅读课”最有力的官方依据。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81160" y="2240280"/>
            <a:ext cx="8092440" cy="2697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81160" y="2240280"/>
            <a:ext cx="128016" cy="269748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51460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同步写作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29800" y="2898648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习作跟着新教材重排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29800" y="3566160"/>
            <a:ext cx="717804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新题没有历年范文可背，写真实的事、真实的感受才拉得开差距；跟着单元、当堂写成一篇，正对这个需求。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" y="5166360"/>
            <a:ext cx="8092440" cy="2697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166360"/>
            <a:ext cx="128016" cy="269748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44068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后续课程</a:t>
            </a:r>
            <a:endParaRPr sz="17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1600" y="5824728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文言文与传统文化需求上升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6492240"/>
            <a:ext cx="717804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文言篇目调整、世界文化遗产单元新建，小古文、文化主题读写有了明确的教材抓手。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281160" y="5166360"/>
            <a:ext cx="8092440" cy="2697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5166360"/>
            <a:ext cx="128016" cy="269748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544068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竞品格局</a:t>
            </a:r>
            <a:endParaRPr sz="17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29800" y="5824728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素养导向下，竞品在分化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29800" y="6492240"/>
            <a:ext cx="717804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机械刷题类产品与新教材的错位越来越明显，以读促写、素养培养类机构的价值相应提升。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22960" y="8229600"/>
            <a:ext cx="16642080" cy="1097280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8229600"/>
            <a:ext cx="91440" cy="109728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8229600"/>
            <a:ext cx="15910559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对外表达从“补差提分”转向“与新教材同频的读写素养培养”，用教材变化本身说明课程的价值。</a:t>
            </a:r>
            <a:endParaRPr sz="21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576072"/>
            <a:ext cx="13990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b="1" kern="0" spc="200" dirty="0">
                <a:solidFill>
                  <a:srgbClr val="C04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家长需求</a:t>
            </a:r>
            <a:endParaRPr lang="zh-CN" b="1" kern="0" spc="200" dirty="0">
              <a:solidFill>
                <a:srgbClr val="C0442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822960" y="987552"/>
            <a:ext cx="1399032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5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阅读与写作：两条主线怎么抓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8229600" cy="6652261"/>
          </a:xfrm>
          <a:prstGeom prst="roundRect">
            <a:avLst>
              <a:gd name="adj" fmla="val 2500"/>
            </a:avLst>
          </a:prstGeom>
          <a:solidFill>
            <a:srgbClr val="E9F1F8"/>
          </a:solidFill>
        </p:spPr>
        <p:txBody>
          <a:bodyPr/>
          <a:p>
            <a:endParaRPr sz="2700"/>
          </a:p>
        </p:txBody>
      </p:sp>
      <p:sp>
        <p:nvSpPr>
          <p:cNvPr id="6" name="Shape 3"/>
          <p:cNvSpPr/>
          <p:nvPr/>
        </p:nvSpPr>
        <p:spPr>
          <a:xfrm>
            <a:off x="1303020" y="2715768"/>
            <a:ext cx="754380" cy="754380"/>
          </a:xfrm>
          <a:prstGeom prst="ellipse">
            <a:avLst/>
          </a:prstGeom>
          <a:solidFill>
            <a:srgbClr val="FFFFFF"/>
          </a:solidFill>
        </p:spPr>
        <p:txBody>
          <a:bodyPr/>
          <a:p>
            <a:endParaRPr sz="2700"/>
          </a:p>
        </p:txBody>
      </p:sp>
      <p:pic>
        <p:nvPicPr>
          <p:cNvPr id="7" name="Image 1" descr="assets/book_in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702" y="2919450"/>
            <a:ext cx="347015" cy="34701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31720" y="2825496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阅读主线</a:t>
            </a:r>
            <a:endParaRPr lang="en-US" sz="3800" b="1" dirty="0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1303020" y="3928263"/>
            <a:ext cx="7269480" cy="4674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3000"/>
              </a:spcAft>
              <a:buNone/>
            </a:pPr>
            <a:r>
              <a:rPr lang="zh-CN" sz="2900" dirty="0">
                <a:solidFill>
                  <a:srgbClr val="2430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整本书阅读要求提高，快乐读书吧分量加重。只读节选、只做题，已经跟不上新教材。</a:t>
            </a:r>
            <a:endParaRPr lang="en-US" altLang="zh-CN" sz="2900" dirty="0">
              <a:solidFill>
                <a:srgbClr val="2430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spcAft>
                <a:spcPts val="3000"/>
              </a:spcAft>
              <a:buNone/>
            </a:pPr>
            <a:r>
              <a:rPr lang="zh-CN" altLang="zh-CN" sz="2900" b="1" dirty="0">
                <a:solidFill>
                  <a:srgbClr val="C04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怎么做：</a:t>
            </a:r>
            <a:r>
              <a:rPr lang="zh-CN" altLang="zh-CN" sz="2900" dirty="0">
                <a:solidFill>
                  <a:srgbClr val="2430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读完、读透一本书，把读到的东西想清楚、说出来。</a:t>
            </a:r>
            <a:endParaRPr lang="zh-CN" altLang="zh-CN" sz="2900" dirty="0">
              <a:solidFill>
                <a:srgbClr val="2430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9299448" y="2331720"/>
            <a:ext cx="8229600" cy="6652261"/>
          </a:xfrm>
          <a:prstGeom prst="roundRect">
            <a:avLst>
              <a:gd name="adj" fmla="val 2500"/>
            </a:avLst>
          </a:prstGeom>
          <a:solidFill>
            <a:srgbClr val="EEF3F8"/>
          </a:solidFill>
        </p:spPr>
        <p:txBody>
          <a:bodyPr/>
          <a:p>
            <a:endParaRPr sz="2700"/>
          </a:p>
        </p:txBody>
      </p:sp>
      <p:sp>
        <p:nvSpPr>
          <p:cNvPr id="11" name="Shape 7"/>
          <p:cNvSpPr/>
          <p:nvPr/>
        </p:nvSpPr>
        <p:spPr>
          <a:xfrm>
            <a:off x="9779508" y="2715768"/>
            <a:ext cx="754380" cy="754380"/>
          </a:xfrm>
          <a:prstGeom prst="ellipse">
            <a:avLst/>
          </a:prstGeom>
          <a:solidFill>
            <a:srgbClr val="FFFFFF"/>
          </a:solidFill>
        </p:spPr>
        <p:txBody>
          <a:bodyPr/>
          <a:p>
            <a:endParaRPr sz="2700"/>
          </a:p>
        </p:txBody>
      </p:sp>
      <p:pic>
        <p:nvPicPr>
          <p:cNvPr id="12" name="Image 2" descr="assets/pen_cinna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190" y="2919450"/>
            <a:ext cx="347015" cy="34701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808208" y="2825496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写作主线</a:t>
            </a:r>
            <a:endParaRPr lang="en-US" sz="3800" b="1" dirty="0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9779508" y="3928263"/>
            <a:ext cx="7269480" cy="4674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spcAft>
                <a:spcPts val="3000"/>
              </a:spcAft>
              <a:buNone/>
            </a:pPr>
            <a:r>
              <a:rPr lang="zh-CN" sz="2900" dirty="0">
                <a:solidFill>
                  <a:srgbClr val="2430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新习作题目贴近真实生活，套模板、背范文的收益在下降。</a:t>
            </a:r>
            <a:endParaRPr lang="en-US" altLang="zh-CN" sz="2900" dirty="0">
              <a:solidFill>
                <a:srgbClr val="2430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spcAft>
                <a:spcPts val="3000"/>
              </a:spcAft>
              <a:buNone/>
            </a:pPr>
            <a:r>
              <a:rPr lang="zh-CN" altLang="zh-CN" sz="2900" b="1" dirty="0">
                <a:solidFill>
                  <a:srgbClr val="C0442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怎么做：</a:t>
            </a:r>
            <a:r>
              <a:rPr lang="zh-CN" altLang="zh-CN" sz="2900" dirty="0">
                <a:solidFill>
                  <a:srgbClr val="2430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写真实的事、真实的感受，把一篇作文写清楚、写具体。</a:t>
            </a:r>
            <a:endParaRPr lang="zh-CN" altLang="zh-CN" sz="2900" dirty="0">
              <a:solidFill>
                <a:srgbClr val="2430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822960" y="9683496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1350" dirty="0">
                <a:solidFill>
                  <a:srgbClr val="9AA7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老约翰</a:t>
            </a:r>
            <a:r>
              <a:rPr lang="en-US" altLang="zh-CN" sz="1350" dirty="0">
                <a:solidFill>
                  <a:srgbClr val="9AA7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· 2026.10 </a:t>
            </a:r>
            <a:r>
              <a:rPr lang="zh-CN" altLang="en-US" sz="1350" dirty="0">
                <a:solidFill>
                  <a:srgbClr val="9AA7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宣讲会</a:t>
            </a:r>
            <a:endParaRPr lang="zh-CN" altLang="en-US" sz="1350" dirty="0">
              <a:solidFill>
                <a:srgbClr val="9AA7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16939260" y="9683496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9AA7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08</a:t>
            </a:r>
            <a:endParaRPr lang="en-US" sz="1350" dirty="0">
              <a:solidFill>
                <a:srgbClr val="9AA7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21" name="图片 20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1190" y="548640"/>
            <a:ext cx="15900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对我们意味着什么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变化之下，我们要做好的三件事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5257800" cy="576072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15468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9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5880" y="48463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招生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25880" y="5760720"/>
            <a:ext cx="731520" cy="6400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6126480"/>
            <a:ext cx="42976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读书会和同步写作都能在新教材里找到依据：整本书阅读、单元习作，家长一听就懂</a:t>
            </a:r>
            <a:endParaRPr sz="24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46520" y="2743200"/>
            <a:ext cx="5257800" cy="576072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15468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9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49440" y="48463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推广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49440" y="5760720"/>
            <a:ext cx="731520" cy="6400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6126480"/>
            <a:ext cx="42976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从“补差提分”转向“与新教材同频的读写素养”，用教材变化说明课程价值</a:t>
            </a:r>
            <a:endParaRPr sz="24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70080" y="2743200"/>
            <a:ext cx="5257800" cy="576072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73000" y="315468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96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73000" y="484632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教学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573000" y="5760720"/>
            <a:ext cx="731520" cy="6400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73000" y="6126480"/>
            <a:ext cx="429768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读书会读透一本书，同步写作当堂写好一篇，两条线都跟着新教材走</a:t>
            </a:r>
            <a:endParaRPr sz="24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88720"/>
            <a:ext cx="822960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23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3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2400" b="1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55448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6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同步写作课程正式发布及课程介绍</a:t>
            </a:r>
            <a:endParaRPr sz="6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6492240"/>
            <a:ext cx="1463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课程定位、写作教学方法、课堂上法、课程文件与批改、用法。</a:t>
            </a:r>
            <a:endParaRPr sz="23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914400" y="7680960"/>
            <a:ext cx="512064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进入同步写作课程介绍  →</a:t>
            </a:r>
            <a:endParaRPr sz="2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88720"/>
            <a:ext cx="822960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23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3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第三部分</a:t>
            </a:r>
            <a:endParaRPr sz="2400" b="1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55448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6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总部后续产品开发规划与自媒体运营思路</a:t>
            </a:r>
            <a:endParaRPr sz="6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6492240"/>
            <a:ext cx="1463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分上下两半：先讲后续开发任务，再讲自媒体运营思路。</a:t>
            </a:r>
            <a:endParaRPr sz="23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914400" y="7882127"/>
            <a:ext cx="237744" cy="237744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7772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后续开发任务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6583680" y="7882127"/>
            <a:ext cx="237744" cy="237744"/>
          </a:xfrm>
          <a:prstGeom prst="ellipse">
            <a:avLst/>
          </a:prstGeom>
          <a:noFill/>
          <a:ln w="1587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7772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自媒体运营思路</a:t>
            </a:r>
            <a:endParaRPr sz="21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后续开发 · 总览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下一阶段开发：四项任务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按推进顺序排列，后面逐项展开。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3950208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任务一</a:t>
            </a:r>
            <a:endParaRPr sz="1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同步写作后续单元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跟着更新后的统编教材，完成后续单元课案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88720" y="5486400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4864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春季教材 12 月后定稿</a:t>
            </a:r>
            <a:endParaRPr sz="1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47488" y="2697480"/>
            <a:ext cx="3950208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3248" y="3017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任务二</a:t>
            </a:r>
            <a:endParaRPr sz="1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13248" y="34747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低段快乐读书吧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13248" y="4206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一至三年级快乐读书吧，共 10 本书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13248" y="5486400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3248" y="54864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11 月左右完成</a:t>
            </a:r>
            <a:endParaRPr sz="1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272016" y="2697480"/>
            <a:ext cx="3950208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7776" y="3017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任务三</a:t>
            </a:r>
            <a:endParaRPr sz="1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37776" y="34747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整套看图写话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37776" y="4206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补上一、二年级，写作课贯通一至六年级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637776" y="5486400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37776" y="54864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已规划，开发中</a:t>
            </a:r>
            <a:endParaRPr sz="1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3496544" y="2697480"/>
            <a:ext cx="3950208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62304" y="3017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任务四</a:t>
            </a:r>
            <a:endParaRPr sz="1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862304" y="34747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读书会课件迭代</a:t>
            </a:r>
            <a:endParaRPr sz="2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862304" y="4206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买不到的书、难上的课，按反馈做替换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3862304" y="5486400"/>
            <a:ext cx="3200400" cy="502920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62304" y="54864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不定期</a:t>
            </a:r>
            <a:endParaRPr sz="1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" y="6629400"/>
            <a:ext cx="16642080" cy="269748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90372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后续设想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80160" y="7589520"/>
            <a:ext cx="7498079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小古文　</a:t>
            </a:r>
            <a:r>
              <a:rPr sz="18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统编教材从三年级起选入文言文，孩子初读常卡在读不顺、读不懂。可围绕教材篇目和同类短文，练朗读、断句和理解，打好文言基础。</a:t>
            </a:r>
            <a:endParaRPr sz="18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418320" y="7589520"/>
            <a:ext cx="76809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5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主题阅读　</a:t>
            </a:r>
            <a:r>
              <a:rPr sz="18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寒暑假安排连续几天，只读一本大部头，如《苏东坡传》、四大名著、《儒林外史》等。平时课时读不完的经典，用一整段时间读透。</a:t>
            </a:r>
            <a:endParaRPr sz="18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2011680" cy="530352"/>
          </a:xfrm>
          <a:prstGeom prst="roundRect">
            <a:avLst>
              <a:gd name="adj" fmla="val 50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开发任务一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同步写作后续单元：跟着新教材走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3063240"/>
            <a:ext cx="91440" cy="3429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926080"/>
            <a:ext cx="15544800" cy="548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75000"/>
              </a:lnSpc>
            </a:pPr>
            <a:r>
              <a:rPr sz="32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2026 年秋起，统编教材四、五、六年级换用新版，春季用的下册新教材预计 12 月出来。</a:t>
            </a:r>
            <a:r>
              <a:rPr sz="32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总部按新版教材逐单元核对课文、语文要素与习作题目，新教材换了题目的单元，按新题开发。</a:t>
            </a:r>
            <a:r>
              <a:rPr sz="32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教材版次调整由总部统一核对修订、推送更新。</a:t>
            </a:r>
            <a:endParaRPr sz="32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2011680" cy="530352"/>
          </a:xfrm>
          <a:prstGeom prst="roundRect">
            <a:avLst>
              <a:gd name="adj" fmla="val 50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开发任务二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低段快乐读书吧：一至三年级 10 本书，11 月左右完成</a:t>
            </a:r>
            <a:endParaRPr sz="3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完成一至三年级快乐读书吧的剩余全部书目，按读书会深度阅读课的标准开发。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525780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97480"/>
            <a:ext cx="5257800" cy="105156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27432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一年级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79" y="269748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4 本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34440" y="4069080"/>
            <a:ext cx="45720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《和大人一起读（一）》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《和大人一起读（二）》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《和大人一起读（三）》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《和大人一起读（四）》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46520" y="2697480"/>
            <a:ext cx="525780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2697480"/>
            <a:ext cx="5257800" cy="105156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697480"/>
            <a:ext cx="27432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二年级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06840" y="269748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4 本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4069080"/>
            <a:ext cx="45720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《孤独的小螃蟹》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《小狗的小房子》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《神笔马良》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《大头儿子和小头爸爸》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70080" y="2697480"/>
            <a:ext cx="525780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70080" y="2697480"/>
            <a:ext cx="5257800" cy="105156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81560" y="2697480"/>
            <a:ext cx="27432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三年级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630400" y="269748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2 本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481560" y="4069080"/>
            <a:ext cx="45720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《稻草人》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《克雷洛夫寓言》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22960" y="7589520"/>
            <a:ext cx="16642080" cy="1737360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7589520"/>
            <a:ext cx="91440" cy="173736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7818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怎么用</a:t>
            </a:r>
            <a:endParaRPr sz="2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25880" y="8366760"/>
            <a:ext cx="155448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与同步写作组合排课：每学期 16 次课，8 次同步写作、8 次快乐读书吧，均依据统编教材。</a:t>
            </a:r>
            <a:endParaRPr sz="2300" b="0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2011680" cy="530352"/>
          </a:xfrm>
          <a:prstGeom prst="roundRect">
            <a:avLst>
              <a:gd name="adj" fmla="val 50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开发任务三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整套看图写话</a:t>
            </a:r>
            <a:endParaRPr sz="21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补上一二年级，写作课贯通一至六年级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2960" y="2240280"/>
            <a:ext cx="271272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2712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一年级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08832" y="2240280"/>
            <a:ext cx="271272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8832" y="2240280"/>
            <a:ext cx="2712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二年级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94704" y="2240280"/>
            <a:ext cx="271272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4704" y="2240280"/>
            <a:ext cx="2712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三年级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80576" y="2240280"/>
            <a:ext cx="271272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2240280"/>
            <a:ext cx="2712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四年级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966448" y="2240280"/>
            <a:ext cx="271272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66448" y="2240280"/>
            <a:ext cx="2712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五年级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752320" y="2240280"/>
            <a:ext cx="271272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52320" y="2240280"/>
            <a:ext cx="27127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六年级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2960" y="2880360"/>
            <a:ext cx="5498592" cy="77724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880360"/>
            <a:ext cx="5498592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看图写话 · 这次补上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94704" y="2880360"/>
            <a:ext cx="11070336" cy="77724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4704" y="2880360"/>
            <a:ext cx="11070336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同步写作 · 已上线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3931920"/>
            <a:ext cx="1664208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1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同步写作从三年级起步，而一二年级正是孩子第一次拿笔写话的时候。</a:t>
            </a:r>
            <a:r>
              <a:rPr sz="21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补上看图写话，写作课就从一年级贯通到六年级——同一套能力线，一级一级往上走。</a:t>
            </a:r>
            <a:endParaRPr sz="21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2960" y="5166360"/>
            <a:ext cx="809244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166360"/>
            <a:ext cx="8092440" cy="91440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1663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第一阶 · 一年级　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说清楚，写完整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80160" y="626364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看懂一幅图，大方讲清楚，写出完整通顺的一两句话。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280160" y="6812280"/>
            <a:ext cx="3474720" cy="64008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68122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会看图会讲图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937760" y="6812280"/>
            <a:ext cx="3474720" cy="64008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68122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写完整的一句话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280160" y="7562088"/>
            <a:ext cx="3474720" cy="64008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756208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把句子写“胖”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937760" y="7562088"/>
            <a:ext cx="3474720" cy="64008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756208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标点会说话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81160" y="5166360"/>
            <a:ext cx="809244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5166360"/>
            <a:ext cx="8092440" cy="9144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8360" y="516636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BEBE8"/>
                </a:solidFill>
                <a:latin typeface="微软雅黑" panose="020B0503020204020204" charset="-122"/>
                <a:ea typeface="微软雅黑" panose="020B0503020204020204" charset="-122"/>
              </a:rPr>
              <a:t>第二阶 · 二年级　</a:t>
            </a:r>
            <a:r>
              <a:rPr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写连贯，讲成故事</a:t>
            </a:r>
            <a:endParaRPr sz="2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38360" y="626364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把一组图写成有细节、有波澜的小故事。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738360" y="6812280"/>
            <a:ext cx="3474720" cy="64008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12680" y="68122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把画面写具体</a:t>
            </a:r>
            <a:endParaRPr sz="19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3395960" y="6812280"/>
            <a:ext cx="3474720" cy="64008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670280" y="68122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四图连成故事</a:t>
            </a:r>
            <a:endParaRPr sz="19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738360" y="7562088"/>
            <a:ext cx="3474720" cy="64008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756208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故事有“没想到”</a:t>
            </a:r>
            <a:endParaRPr sz="19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395960" y="7562088"/>
            <a:ext cx="3474720" cy="64008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670280" y="7562088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句子会“变身”</a:t>
            </a:r>
            <a:endParaRPr sz="19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22960" y="8549640"/>
            <a:ext cx="16642080" cy="777240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0" y="85496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sz="2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  个学期</a:t>
            </a:r>
            <a:endParaRPr sz="2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94960" y="85496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64</a:t>
            </a:r>
            <a:r>
              <a:rPr sz="2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  次课</a:t>
            </a:r>
            <a:endParaRPr sz="2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09760" y="85496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r>
              <a:rPr sz="2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  个方法主题</a:t>
            </a:r>
            <a:endParaRPr sz="2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3624560" y="85496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sz="2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  条能力线</a:t>
            </a:r>
            <a:endParaRPr sz="2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2011680" cy="530352"/>
          </a:xfrm>
          <a:prstGeom prst="roundRect">
            <a:avLst>
              <a:gd name="adj" fmla="val 50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开发任务三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63240" y="384048"/>
            <a:ext cx="91440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整套看图写话</a:t>
            </a:r>
            <a:endParaRPr sz="21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一二年级练的本领，三年级写作文直接用上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看图写话不是单独一门课：它的四条能力线，一条条接进三年级同步写作的单元习作。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3240" y="2606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看图写话 · 一二年级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01600" y="26060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同步写作 · 三年级接上</a:t>
            </a:r>
            <a:endParaRPr sz="17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4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会观察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63240" y="313639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313639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看懂图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313639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40680" y="313639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313639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写清楚一句话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06640" y="313639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818120" y="313639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313639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抓住细节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84080" y="313639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195560" y="313639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313639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有顺序地看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545568" y="3136392"/>
            <a:ext cx="27432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2801600" y="3136392"/>
            <a:ext cx="4663440" cy="768096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030200" y="313639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《我们眼中的缤纷世界》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" y="425196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5196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会讲故事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63240" y="432511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32511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讲清一件事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0" y="432511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40680" y="432511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432511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前因后果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06640" y="432511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818120" y="432511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432511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完整情节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784080" y="432511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0195560" y="432511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5560" y="432511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写出波澜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2545568" y="4325112"/>
            <a:ext cx="27432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2801600" y="4325112"/>
            <a:ext cx="4663440" cy="768096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030200" y="432511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《那次玩得真高兴》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22960" y="544068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4406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会想象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063240" y="551383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551383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补对话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29200" y="551383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40680" y="551383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551383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写心里话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406640" y="551383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818120" y="551383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18120" y="551383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补全情节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784080" y="551383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195560" y="551383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95560" y="551383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写出新故事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545568" y="5513832"/>
            <a:ext cx="27432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2801600" y="5513832"/>
            <a:ext cx="4663440" cy="768096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030200" y="551383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《续写故事》《我来编童话》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22960" y="6629400"/>
            <a:ext cx="2011680" cy="914400"/>
          </a:xfrm>
          <a:prstGeom prst="roundRect">
            <a:avLst>
              <a:gd name="adj" fmla="val 15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662940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会用词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063240" y="670255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63240" y="670255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标点语气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029200" y="670255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440680" y="670255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40680" y="670255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叠词拟声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406640" y="670255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818120" y="670255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18120" y="670255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比喻拟人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784080" y="6702552"/>
            <a:ext cx="4114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28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0195560" y="6702552"/>
            <a:ext cx="1965960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95560" y="6702552"/>
            <a:ext cx="196596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好词入句</a:t>
            </a:r>
            <a:endParaRPr sz="18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2545568" y="6702552"/>
            <a:ext cx="27432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2801600" y="6702552"/>
            <a:ext cx="4663440" cy="768096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030200" y="6702552"/>
            <a:ext cx="4297680" cy="7680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《这儿真美》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22960" y="8001000"/>
            <a:ext cx="16642080" cy="1325880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22960" y="8001000"/>
            <a:ext cx="91440" cy="132588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71600" y="8092440"/>
            <a:ext cx="15910559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一年级进来，同一套能力线、同一套教法，一路写到六年级。</a:t>
            </a:r>
            <a:endParaRPr sz="24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371600" y="8686800"/>
            <a:ext cx="1591055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中途加入也接得上：入班前有小测评和衔接课，把前面的关键方法补齐，再并入当前进度。</a:t>
            </a:r>
            <a:endParaRPr sz="18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384048"/>
            <a:ext cx="2011680" cy="530352"/>
          </a:xfrm>
          <a:prstGeom prst="roundRect">
            <a:avLst>
              <a:gd name="adj" fmla="val 50000"/>
            </a:avLst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开发任务四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读书会课件迭代：买不到的书、难上的课，做替换</a:t>
            </a:r>
            <a:endParaRPr sz="3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按加盟商在使用中的反馈，替换原有读书会课程里的两类，改过的版本统一推送更新。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809244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97480"/>
            <a:ext cx="128016" cy="507492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买不到的书</a:t>
            </a:r>
            <a:endParaRPr sz="4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书已绝版或长期断货。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5897880"/>
            <a:ext cx="6858000" cy="123444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5897880"/>
            <a:ext cx="64008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替换　</a:t>
            </a:r>
            <a:r>
              <a:rPr sz="24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换成主题相近、买得到的书</a:t>
            </a:r>
            <a:endParaRPr sz="24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281160" y="2697480"/>
            <a:ext cx="809244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2697480"/>
            <a:ext cx="128016" cy="507492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3108960"/>
            <a:ext cx="71323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难上的课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21240" y="416052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23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老师讲起来吃力、学生接不住，课堂效果打折扣。</a:t>
            </a:r>
            <a:endParaRPr sz="23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921240" y="5897880"/>
            <a:ext cx="6858000" cy="123444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5897880"/>
            <a:ext cx="6400800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替换　</a:t>
            </a:r>
            <a:r>
              <a:rPr sz="24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换成更好上的书目与课案</a:t>
            </a:r>
            <a:endParaRPr sz="24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开发计划讲完 · 看全貌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一至六年级，阅读课、写作课都已完整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1920" y="2240280"/>
            <a:ext cx="219456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240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一年级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9631" y="2240280"/>
            <a:ext cx="219456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2240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二年级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67344" y="2240280"/>
            <a:ext cx="219456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2240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三年级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735055" y="2240280"/>
            <a:ext cx="219456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35055" y="2240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四年级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3002767" y="2240280"/>
            <a:ext cx="219456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002767" y="2240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五年级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5270480" y="2240280"/>
            <a:ext cx="2194560" cy="566928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70480" y="224028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六年级</a:t>
            </a:r>
            <a:endParaRPr sz="19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01752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阅读课</a:t>
            </a:r>
            <a:endParaRPr sz="2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3794759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早几年推出</a:t>
            </a:r>
            <a:endParaRPr sz="16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4526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写作课</a:t>
            </a:r>
            <a:endParaRPr sz="2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960" y="5303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一至六年级贯通</a:t>
            </a:r>
            <a:endParaRPr sz="16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60350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后续设想</a:t>
            </a:r>
            <a:endParaRPr sz="2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6812279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让体系更完善</a:t>
            </a:r>
            <a:endParaRPr sz="16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31920" y="3017520"/>
            <a:ext cx="13533119" cy="128016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3017520"/>
            <a:ext cx="13167359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读书会深度阅读</a:t>
            </a:r>
            <a:r>
              <a:rPr sz="18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　整本书阅读，一至六年级全覆盖</a:t>
            </a:r>
            <a:endParaRPr sz="1800" b="1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931920" y="4526280"/>
            <a:ext cx="4462272" cy="128016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4526280"/>
            <a:ext cx="4096511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看图写话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BEBE8"/>
                </a:solidFill>
                <a:latin typeface="微软雅黑" panose="020B0503020204020204" charset="-122"/>
                <a:ea typeface="微软雅黑" panose="020B0503020204020204" charset="-122"/>
              </a:rPr>
              <a:t>一、二年级</a:t>
            </a:r>
            <a:endParaRPr sz="1700" b="1">
              <a:solidFill>
                <a:srgbClr val="FBEB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467344" y="4526280"/>
            <a:ext cx="8997696" cy="128016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4526280"/>
            <a:ext cx="8631936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同步写作</a:t>
            </a:r>
            <a:r>
              <a:rPr sz="18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　三至六年级，跟着统编教材单元走</a:t>
            </a:r>
            <a:endParaRPr sz="1800" b="1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931920" y="6035040"/>
            <a:ext cx="6729983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35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6035040"/>
            <a:ext cx="6364223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小古文</a:t>
            </a:r>
            <a:endParaRPr sz="2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从教材文言篇目起步，练朗读、断句、理解</a:t>
            </a:r>
            <a:endParaRPr sz="16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0735055" y="6035040"/>
            <a:ext cx="6729983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35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7935" y="6035040"/>
            <a:ext cx="6364223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主题阅读</a:t>
            </a:r>
            <a:endParaRPr sz="2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寒暑假集中几天，精读一本大部头</a:t>
            </a:r>
            <a:endParaRPr sz="16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22960" y="7818120"/>
            <a:ext cx="16642080" cy="150876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7818120"/>
            <a:ext cx="15910559" cy="1508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4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阅读课、写作课，一至六年级都已贯通；</a:t>
            </a:r>
            <a:r>
              <a:rPr sz="2500" b="1">
                <a:solidFill>
                  <a:srgbClr val="F28B7F"/>
                </a:solidFill>
                <a:latin typeface="微软雅黑" panose="020B0503020204020204" charset="-122"/>
                <a:ea typeface="微软雅黑" panose="020B0503020204020204" charset="-122"/>
              </a:rPr>
              <a:t>再加上小古文和主题阅读，就是一套完整的读写课程体系。</a:t>
            </a:r>
            <a:endParaRPr sz="2500" b="1">
              <a:solidFill>
                <a:srgbClr val="F28B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88720"/>
            <a:ext cx="822960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23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3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第三部分 · 下半</a:t>
            </a:r>
            <a:endParaRPr sz="2400" b="1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55448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6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自媒体运营思路</a:t>
            </a:r>
            <a:endParaRPr sz="6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6492240"/>
            <a:ext cx="14630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3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开发计划讲完，接下来讲宣传：先看现状，再定思路，落到总部与加盟馆各做什么，最后给加盟馆排推广渠道。</a:t>
            </a:r>
            <a:endParaRPr sz="23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914400" y="7882127"/>
            <a:ext cx="237744" cy="237744"/>
          </a:xfrm>
          <a:prstGeom prst="ellipse">
            <a:avLst/>
          </a:prstGeom>
          <a:noFill/>
          <a:ln w="1587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7772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后续开发任务（已讲完）</a:t>
            </a:r>
            <a:endParaRPr sz="21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6583680" y="7882127"/>
            <a:ext cx="237744" cy="237744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7772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自媒体运营思路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自媒体运营 · 现状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先看现状：我们和同行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做法之前，先把现状看清楚。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8092440" cy="466344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8092440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总部目前</a:t>
            </a:r>
            <a:endParaRPr sz="3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3977639"/>
            <a:ext cx="7040880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21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【待填：已有账号与平台、主要内容、更新频率、关注与互动情况】</a:t>
            </a:r>
            <a:endParaRPr sz="21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81160" y="2697480"/>
            <a:ext cx="8092440" cy="466344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81160" y="2697480"/>
            <a:ext cx="8092440" cy="10972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31089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同行现状</a:t>
            </a:r>
            <a:endParaRPr sz="3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29800" y="3977639"/>
            <a:ext cx="7040880" cy="320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21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不少同行把直播当作主要的引流手段：直播公开课、直播带课，再配合短视频投放。</a:t>
            </a:r>
            <a:endParaRPr sz="21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21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这种做法要有稳定的主播、持续的投放和专门的运营团队。【待填：总部掌握的具体情况】</a:t>
            </a:r>
            <a:endParaRPr sz="21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7726679"/>
            <a:ext cx="16642080" cy="1280160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7726679"/>
            <a:ext cx="91440" cy="128016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7726679"/>
            <a:ext cx="1554480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同行做得热闹，不等于适合我们。关键看投入和回报。</a:t>
            </a:r>
            <a:endParaRPr sz="26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自媒体运营 · 思路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以做好内容为主，做好服务、做好口碑</a:t>
            </a:r>
            <a:endParaRPr sz="46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22960" y="2743200"/>
            <a:ext cx="2651760" cy="2651760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651760" cy="2651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内容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840480" y="2743200"/>
            <a:ext cx="2651760" cy="2651760"/>
          </a:xfrm>
          <a:prstGeom prst="ellipse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743200"/>
            <a:ext cx="2651760" cy="2651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858000" y="2743200"/>
            <a:ext cx="2651760" cy="2651760"/>
          </a:xfrm>
          <a:prstGeom prst="ellipse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743200"/>
            <a:ext cx="2651760" cy="2651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口碑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41280" y="2743200"/>
            <a:ext cx="7223760" cy="2926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总部目前不具备做直播引流的条件，投入大、性价比不高，现阶段不做。</a:t>
            </a:r>
            <a:endParaRPr sz="26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" y="6035040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1664208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sz="27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把力气放在内容上：读书会深度阅读课、同步写作课本身做扎实，每次课后的服务做到位，家长认可了，口碑自然会传开。</a:t>
            </a:r>
            <a:endParaRPr sz="27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自媒体运营 · 落点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内容、服务、口碑，分别落在哪里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总部出内容，加盟馆在本地用好；读书会与同步写作两条课程线都覆盖。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80924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4560" y="2926079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做好内容</a:t>
            </a:r>
            <a:endParaRPr sz="2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4560" y="365760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读书会、同步写作两条课程线都做扎实。</a:t>
            </a:r>
            <a:endParaRPr sz="20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81160" y="2651760"/>
            <a:ext cx="80924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3017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52760" y="2926079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做好服务</a:t>
            </a:r>
            <a:endParaRPr sz="2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52760" y="365760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每次课后有东西交到家长手上：读书会有阅读单与课后反馈，写作课有孩子的成稿、点评卡、家长一页纸。</a:t>
            </a:r>
            <a:endParaRPr sz="20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5486400"/>
            <a:ext cx="80924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852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4560" y="576072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做好口碑</a:t>
            </a:r>
            <a:endParaRPr sz="2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4560" y="649224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家长看到孩子读得更深、写得更好，愿意向身边人推荐。</a:t>
            </a:r>
            <a:endParaRPr sz="20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281160" y="5486400"/>
            <a:ext cx="809244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5852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0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2760" y="576072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总部与加盟馆</a:t>
            </a:r>
            <a:endParaRPr sz="2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652760" y="649224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总部为两条课程线统一出品素材，加盟馆在本地家长群与账号使用。</a:t>
            </a:r>
            <a:endParaRPr sz="20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" y="8503920"/>
            <a:ext cx="4572000" cy="640080"/>
          </a:xfrm>
          <a:prstGeom prst="roundRect">
            <a:avLst>
              <a:gd name="adj" fmla="val 50000"/>
            </a:avLst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85039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直播引流：现阶段不做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加盟馆推广渠道 · 优先级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私域转介绍 ＞ 线下社区 ＞ 线上种草 ＞ 抖音同城</a:t>
            </a:r>
            <a:endParaRPr sz="38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38528"/>
            <a:ext cx="160020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阅读是高信任、慢决策的消费：短视频适合种草引流，成交靠社群、线下活动和老会员口碑。</a:t>
            </a:r>
            <a:endParaRPr sz="21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3950208" cy="489204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3950208" cy="109728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第一优先级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34290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老会员转介绍</a:t>
            </a:r>
            <a:endParaRPr sz="25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88720" y="45720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B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A 绘本馆</a:t>
            </a:r>
            <a:endParaRPr sz="1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5047488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推荐办借阅卡、报体验课，双方赠借阅延期等权益</a:t>
            </a:r>
            <a:endParaRPr sz="17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88720" y="6035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60350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B 整本书馆</a:t>
            </a:r>
            <a:endParaRPr sz="14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720" y="6510527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推荐试听思辨课，双方赠阅读单等物料，不返现金</a:t>
            </a:r>
            <a:endParaRPr sz="17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47488" y="2697480"/>
            <a:ext cx="3950208" cy="489204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2697480"/>
            <a:ext cx="3950208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3017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第二优先级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13248" y="34290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线下社区活动</a:t>
            </a:r>
            <a:endParaRPr sz="25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13248" y="45720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B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3248" y="45720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A 绘本馆</a:t>
            </a:r>
            <a:endParaRPr sz="1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13248" y="5047488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社区公益绘本故事会；母婴、早教异业互换名额</a:t>
            </a:r>
            <a:endParaRPr sz="17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13248" y="6035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3248" y="60350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B 整本书馆</a:t>
            </a:r>
            <a:endParaRPr sz="14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13248" y="6510527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小学家长读书沙龙，只分享方法；文具、托管异业互荐</a:t>
            </a:r>
            <a:endParaRPr sz="17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272016" y="2697480"/>
            <a:ext cx="3950208" cy="489204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72016" y="2697480"/>
            <a:ext cx="3950208" cy="109728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7776" y="3017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第三优先级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37776" y="34290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视频号为主</a:t>
            </a:r>
            <a:endParaRPr sz="25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25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小红书为辅</a:t>
            </a:r>
            <a:endParaRPr sz="25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637776" y="45720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B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7776" y="457200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A 绘本馆</a:t>
            </a:r>
            <a:endParaRPr sz="1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37776" y="5047488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绘本实拍、故事会片段、亲子共读小技巧</a:t>
            </a:r>
            <a:endParaRPr sz="17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637776" y="6035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7776" y="603504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B 整本书馆</a:t>
            </a:r>
            <a:endParaRPr sz="14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37776" y="6510527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读书方法干货、课堂思辨片段（不露脸）、阅读成果</a:t>
            </a:r>
            <a:endParaRPr sz="17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3496544" y="2697480"/>
            <a:ext cx="3950208" cy="4892040"/>
          </a:xfrm>
          <a:prstGeom prst="rect">
            <a:avLst/>
          </a:prstGeom>
          <a:solidFill>
            <a:srgbClr val="F7F3EC"/>
          </a:solidFill>
          <a:ln w="15875">
            <a:solidFill>
              <a:srgbClr val="7A746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496544" y="2697480"/>
            <a:ext cx="3950208" cy="109728"/>
          </a:xfrm>
          <a:prstGeom prst="rect">
            <a:avLst/>
          </a:prstGeom>
          <a:solidFill>
            <a:srgbClr val="7A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862304" y="3017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备选 · 不主推</a:t>
            </a:r>
            <a:endParaRPr sz="17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862304" y="34290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抖音同城</a:t>
            </a:r>
            <a:endParaRPr sz="25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862304" y="4572000"/>
            <a:ext cx="324612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仅限愿意持续拍的馆长自愿做，不强制。只发短视频，内容同视频号；不直播、不投流、不挂团购。</a:t>
            </a:r>
            <a:endParaRPr sz="18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22960" y="7863840"/>
            <a:ext cx="10332720" cy="146304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7863840"/>
            <a:ext cx="950976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40000"/>
              </a:lnSpc>
            </a:pPr>
            <a:r>
              <a:rPr sz="2300" b="1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线上只做种草引流，不直接卖课：</a:t>
            </a: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不投流、不直播带货、不挂团购。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1430000" y="7863840"/>
            <a:ext cx="6035040" cy="1463040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7863840"/>
            <a:ext cx="91440" cy="146304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887200" y="7863840"/>
            <a:ext cx="539496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40000"/>
              </a:lnSpc>
            </a:pPr>
            <a:r>
              <a:rPr sz="21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不推荐　</a:t>
            </a:r>
            <a:r>
              <a:rPr sz="21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街边地推、校门口发传单</a:t>
            </a:r>
            <a:endParaRPr sz="21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意向低、抵触感强、人力成本高</a:t>
            </a:r>
            <a:endParaRPr sz="17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28700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加盟馆推广渠道 · 汇总</a:t>
            </a:r>
            <a:endParaRPr sz="17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481328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四个渠道：适配度与核心目标</a:t>
            </a:r>
            <a:endParaRPr sz="40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770" y="502920"/>
            <a:ext cx="1643270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9720072"/>
            <a:ext cx="16642080" cy="10972"/>
          </a:xfrm>
          <a:prstGeom prst="rect">
            <a:avLst/>
          </a:prstGeom>
          <a:solidFill>
            <a:srgbClr val="DD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829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老约翰 · 2026.10 宣讲会</a:t>
            </a:r>
            <a:endParaRPr sz="12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636240" y="9829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sz="1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16642080" cy="685800"/>
          </a:xfrm>
          <a:prstGeom prst="rect">
            <a:avLst/>
          </a:prstGeom>
          <a:solidFill>
            <a:srgbClr val="1C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优先级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06040" y="2331720"/>
            <a:ext cx="4754879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渠道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0" y="23317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 绘本馆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20" y="23317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 整本书馆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578840" y="2331720"/>
            <a:ext cx="3840479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核心目标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3108960"/>
            <a:ext cx="1664208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10896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3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06040" y="310896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老会员转介绍</a:t>
            </a:r>
            <a:endParaRPr sz="22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882127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2752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23376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64624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08208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28832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49456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070080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490704" y="351129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78840" y="3108960"/>
            <a:ext cx="3749039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私域裂变：高信任、低成本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22960" y="4297680"/>
            <a:ext cx="1664208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2976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3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06040" y="429768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社区线下公益活动＋本地异业</a:t>
            </a:r>
            <a:endParaRPr sz="22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882127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2752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23376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44000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64624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08208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228832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49456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070080" y="470001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490704" y="470001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578840" y="4297680"/>
            <a:ext cx="3749039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面对面建立信任，引流进微信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22960" y="5486400"/>
            <a:ext cx="1664208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48640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C8352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3400" b="1">
              <a:solidFill>
                <a:srgbClr val="C83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606040" y="548640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视频号（主）＋小红书（辅）种草</a:t>
            </a:r>
            <a:endParaRPr sz="22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882127" y="588873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02752" y="588873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723376" y="588873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44000" y="588873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564624" y="588873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808208" y="588873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28832" y="588873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649456" y="588873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2070080" y="5888736"/>
            <a:ext cx="292608" cy="292608"/>
          </a:xfrm>
          <a:prstGeom prst="ellipse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490704" y="588873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578840" y="5486400"/>
            <a:ext cx="3749039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2B2926"/>
                </a:solidFill>
                <a:latin typeface="微软雅黑" panose="020B0503020204020204" charset="-122"/>
                <a:ea typeface="微软雅黑" panose="020B0503020204020204" charset="-122"/>
              </a:rPr>
              <a:t>同城种草加私域，不直接卖课</a:t>
            </a:r>
            <a:endParaRPr sz="1900" b="0">
              <a:solidFill>
                <a:srgbClr val="2B29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822960" y="6675120"/>
            <a:ext cx="16642080" cy="1097280"/>
          </a:xfrm>
          <a:prstGeom prst="rect">
            <a:avLst/>
          </a:prstGeom>
          <a:solidFill>
            <a:srgbClr val="F7F3EC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667512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34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606040" y="6675120"/>
            <a:ext cx="466344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抖音同城短视频（备选）</a:t>
            </a:r>
            <a:endParaRPr sz="2200" b="1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7882127" y="7077456"/>
            <a:ext cx="292608" cy="292608"/>
          </a:xfrm>
          <a:prstGeom prst="ellipse">
            <a:avLst/>
          </a:prstGeom>
          <a:solidFill>
            <a:srgbClr val="7A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02752" y="7077456"/>
            <a:ext cx="292608" cy="292608"/>
          </a:xfrm>
          <a:prstGeom prst="ellipse">
            <a:avLst/>
          </a:prstGeom>
          <a:solidFill>
            <a:srgbClr val="7A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723376" y="707745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44000" y="707745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564624" y="707745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808208" y="7077456"/>
            <a:ext cx="292608" cy="292608"/>
          </a:xfrm>
          <a:prstGeom prst="ellipse">
            <a:avLst/>
          </a:prstGeom>
          <a:solidFill>
            <a:srgbClr val="7A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228832" y="7077456"/>
            <a:ext cx="292608" cy="292608"/>
          </a:xfrm>
          <a:prstGeom prst="ellipse">
            <a:avLst/>
          </a:prstGeom>
          <a:solidFill>
            <a:srgbClr val="7A7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649456" y="707745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2070080" y="707745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2490704" y="7077456"/>
            <a:ext cx="292608" cy="2926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D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578840" y="6675120"/>
            <a:ext cx="3749039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7A7468"/>
                </a:solidFill>
                <a:latin typeface="微软雅黑" panose="020B0503020204020204" charset="-122"/>
                <a:ea typeface="微软雅黑" panose="020B0503020204020204" charset="-122"/>
              </a:rPr>
              <a:t>自愿参与、零投流，不作硬性任务</a:t>
            </a:r>
            <a:endParaRPr sz="1900" b="0">
              <a:solidFill>
                <a:srgbClr val="7A74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22960" y="8092440"/>
            <a:ext cx="16642080" cy="1234440"/>
          </a:xfrm>
          <a:prstGeom prst="rect">
            <a:avLst/>
          </a:prstGeom>
          <a:solidFill>
            <a:srgbClr val="ED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2960" y="8092440"/>
            <a:ext cx="91440" cy="1234440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8092440"/>
            <a:ext cx="15910559" cy="1234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2300" b="1">
                <a:solidFill>
                  <a:srgbClr val="1C3D5A"/>
                </a:solidFill>
                <a:latin typeface="微软雅黑" panose="020B0503020204020204" charset="-122"/>
                <a:ea typeface="微软雅黑" panose="020B0503020204020204" charset="-122"/>
              </a:rPr>
              <a:t>线上渠道只种草、不卖课，和总部“直播引流现阶段不做”是同一个判断：先把信任做起来。</a:t>
            </a:r>
            <a:endParaRPr sz="2300" b="1">
              <a:solidFill>
                <a:srgbClr val="1C3D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D5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743200"/>
            <a:ext cx="4754880" cy="1640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86800" y="4892040"/>
            <a:ext cx="914400" cy="73152"/>
          </a:xfrm>
          <a:prstGeom prst="rect">
            <a:avLst/>
          </a:prstGeom>
          <a:solidFill>
            <a:srgbClr val="C8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5349240"/>
            <a:ext cx="182880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读写并重，正当其时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263640"/>
            <a:ext cx="1828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阅读 · 思辨 · 表达</a:t>
            </a:r>
            <a:endParaRPr sz="24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7863840"/>
            <a:ext cx="18288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C9D2DC"/>
                </a:solidFill>
                <a:latin typeface="微软雅黑" panose="020B0503020204020204" charset="-122"/>
                <a:ea typeface="微软雅黑" panose="020B0503020204020204" charset="-122"/>
              </a:rPr>
              <a:t>谢谢各位伙伴</a:t>
            </a:r>
            <a:endParaRPr sz="2400" b="0">
              <a:solidFill>
                <a:srgbClr val="C9D2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4863</Words>
  <Application>WPS 演示</Application>
  <PresentationFormat>On-screen Show (4:3)</PresentationFormat>
  <Paragraphs>789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微软雅黑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海天一线</cp:lastModifiedBy>
  <cp:revision>2</cp:revision>
  <dcterms:created xsi:type="dcterms:W3CDTF">2013-01-27T09:14:00Z</dcterms:created>
  <dcterms:modified xsi:type="dcterms:W3CDTF">2026-10-11T11:26:58Z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E85A006522A64D878406B78D3670350A_12</vt:lpwstr>
  </property>
  <property fmtid="{D5CDD505-2E9C-101B-9397-08002B2CF9AE}" pid="3" name="KSOProductBuildVer">
    <vt:lpwstr>2052-12.1.0.28488</vt:lpwstr>
  </property>
</Properties>
</file>