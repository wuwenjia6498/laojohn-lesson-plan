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标题「读写并重，正当其时」：新课标新教材把阅读和写作推到台前，读书会与同步写作两条课程线正赶上这一轮。“读写并重”取自新教材解读的总结口径（阅读为本、读写并重、文化为魂）。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第一部分点左侧卡片里的按钮进入完整介绍，讲完按 Esc 回到这一页，再讲第二、三部分。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点下方按钮进入《同步写作课程完整介绍》放映，讲完按 Esc 回到这一页，接着讲第二部分。两份文件要放在同一个文件夹里，按钮才打得开。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第二部分讲总部下一阶段的两项重点工作：后续开发与自媒体运营。先讲开发。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先用一页把四件事和时间讲清，后面逐项展开。已定的时间：低段快乐读书吧 11 月左右完成；同步写作春季用的新教材预计 12 月出来，出来后做最后一轮更新。底部两类课程还没有立项，讲清方向和价值即可，不承诺时间，可以现场请伙伴们说说自己加盟馆的需求。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重点说清楚两件事：秋季班已按新教材走；春季班要等 12 月新教材出来再做最后更新，加盟馆拿到的始终是对应新教材的版本。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一至三年级快乐读书吧共 10 本：一年级《和大人一起读》四册，二年级四本，三年级两本。组合排课的方式在完整介绍的「三种用法」里讲过。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为什么要做看图写话：同步写作从三年级开始，一二年级是空着的。补上这两年，写作课就是一至六年级一条线，孩子从一年级进来可以一直学到六年级。看图写话是全六阶写作体系的第一、二阶：一年级重点是敢说敢写、不怕动笔，二年级开始像小作家一样讲故事。每学期 16 次课，四个学期共 64 次，每次课两节连排 90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这一页讲衔接：左边是看图写话两年练的四条能力线，右边是三年级同步写作里直接接上的单元习作。对加盟馆来说，一二年级的学员升到三年级，可以自然转进同步写作，不用重新招生。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这一项是改已有的，不是新开发。可以现场请伙伴们报一报：哪些书在本地买不到、哪些课上起来难。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发计划讲完，用这一页收一下：公司之前已有一至六年级的读书会阅读课；写作课这边，三至六年级同步写作已上线，一二年级看图写话补上之后，一至六年级的写作课也完整了。也就是说，阅读、写作两条线一至六年级都已完整。后续再加上小古文、寒暑假主题阅读，就是一个很完善的课程体系。虚线框是后续设想，还没有排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开发计划到这里讲完。下面换一个话题，讲自媒体运营。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左边总部现状由总部补数据；右边同行现状是总体情况，具体例子现场可以补充。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这一页是本节的核心，讲慢一点。直播不做，不是不重视宣传，是现阶段性价比不高。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四块都要把读书会和同步写作一起说到，不只讲写作课。写作课海报和宣传短视频的样例在完整介绍的「招生支持」一页；读书会的书目卡、海报、阅读单沿用已有做法。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第三部分先讲课标和教材怎么变，再讲变化落在阅读和写作上，最后讲为什么这是我们的机会、要做好哪三件事。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这一页只讲事实脉络，不展开评论。依据是《四至六年级教材换新全面梳理》（0907）：此次修订经 550 多所学校、10 万余名学生试教试用；下册以出版社正式发布为准。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前两条（阅读、写作）标红，是和我们两条课程线直接相关的；后两条是阅读面的拓宽。口径与《四至六年级教材换新全面梳理》的「五大改版趋势」一致。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这一页是第三部分的核心：新课标新教材要的，正是我们一直在做的读和写。读书会是早几年就推出的产品，这一轮改版等于给它补上了官方依据；同步写作则正好接住习作换新。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阅读和写作两头都要讲：读书会回应「读得深」，同步写作回应「写得出」。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这三条是已有口径；总部如有进一步判断，可以在这里补充。讲完直接进收尾。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2-&#21516;&#27493;&#20889;&#20316;&#35838;&#31243;&#23436;&#25972;&#20171;&#32461;.pptx" TargetMode="Externa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2-&#21516;&#27493;&#20889;&#20316;&#35838;&#31243;&#23436;&#25972;&#20171;&#32461;.pptx" TargetMode="Externa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155680" cy="10287000"/>
          </a:xfrm>
          <a:prstGeom prst="rect">
            <a:avLst/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777240"/>
            <a:ext cx="2120348" cy="7315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3063240"/>
            <a:ext cx="822960" cy="82296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C9D2DC"/>
                </a:solidFill>
                <a:latin typeface="微软雅黑"/>
                <a:ea typeface="微软雅黑"/>
              </a:rPr>
              <a:t>2026.10 宣讲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微软雅黑"/>
                <a:ea typeface="微软雅黑"/>
              </a:rPr>
              <a:t>读写并重，正当其时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9788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C9D2DC"/>
                </a:solidFill>
                <a:latin typeface="微软雅黑"/>
                <a:ea typeface="微软雅黑"/>
              </a:rPr>
              <a:t>新课标、新教材把阅读和写作推到台前，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C9D2DC"/>
                </a:solidFill>
                <a:latin typeface="微软雅黑"/>
                <a:ea typeface="微软雅黑"/>
              </a:rPr>
              <a:t>读书会与同步写作，两条线正当其时。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0" y="192024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C8352B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90320" y="2029968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7A7468"/>
                </a:solidFill>
                <a:latin typeface="微软雅黑"/>
                <a:ea typeface="微软雅黑"/>
              </a:rPr>
              <a:t>新课程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0" y="2468880"/>
            <a:ext cx="40233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E2B3A"/>
                </a:solidFill>
                <a:latin typeface="微软雅黑"/>
                <a:ea typeface="微软雅黑"/>
              </a:rPr>
              <a:t>同步写作正式发布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115800" y="3657600"/>
            <a:ext cx="5486400" cy="10972"/>
          </a:xfrm>
          <a:prstGeom prst="rect">
            <a:avLst/>
          </a:prstGeom>
          <a:solidFill>
            <a:srgbClr val="DD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0" y="425196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C8352B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20" y="4361688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7A7468"/>
                </a:solidFill>
                <a:latin typeface="微软雅黑"/>
                <a:ea typeface="微软雅黑"/>
              </a:rPr>
              <a:t>新计划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0" y="4800600"/>
            <a:ext cx="40233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E2B3A"/>
                </a:solidFill>
                <a:latin typeface="微软雅黑"/>
                <a:ea typeface="微软雅黑"/>
              </a:rPr>
              <a:t>总部近期重点工作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115800" y="5989320"/>
            <a:ext cx="5486400" cy="10972"/>
          </a:xfrm>
          <a:prstGeom prst="rect">
            <a:avLst/>
          </a:prstGeom>
          <a:solidFill>
            <a:srgbClr val="DD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80" y="6583679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C8352B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90320" y="6693407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7A7468"/>
                </a:solidFill>
                <a:latin typeface="微软雅黑"/>
                <a:ea typeface="微软雅黑"/>
              </a:rPr>
              <a:t>新变化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20" y="7132319"/>
            <a:ext cx="40233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E2B3A"/>
                </a:solidFill>
                <a:latin typeface="微软雅黑"/>
                <a:ea typeface="微软雅黑"/>
              </a:rPr>
              <a:t>小学语文教育与市场变化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C8352B"/>
                </a:solidFill>
                <a:latin typeface="微软雅黑"/>
                <a:ea typeface="微软雅黑"/>
              </a:rPr>
              <a:t>今天的安排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87552"/>
            <a:ext cx="1481328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E2B3A"/>
                </a:solidFill>
                <a:latin typeface="微软雅黑"/>
                <a:ea typeface="微软雅黑"/>
              </a:rPr>
              <a:t>今天讲三件事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1770" y="502920"/>
            <a:ext cx="1643270" cy="5669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9720072"/>
            <a:ext cx="16642080" cy="10972"/>
          </a:xfrm>
          <a:prstGeom prst="rect">
            <a:avLst/>
          </a:prstGeom>
          <a:solidFill>
            <a:srgbClr val="DD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829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A7468"/>
                </a:solidFill>
                <a:latin typeface="微软雅黑"/>
                <a:ea typeface="微软雅黑"/>
              </a:rPr>
              <a:t>老约翰 · 2026.10 宣讲会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636240" y="9829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7A7468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514600"/>
            <a:ext cx="5257800" cy="635508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514600"/>
            <a:ext cx="5257800" cy="109728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063240"/>
            <a:ext cx="274320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C8352B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434840"/>
            <a:ext cx="43891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1E2B3A"/>
                </a:solidFill>
                <a:latin typeface="微软雅黑"/>
                <a:ea typeface="微软雅黑"/>
              </a:rPr>
              <a:t>同步写作正式发布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5806440"/>
            <a:ext cx="4343400" cy="1828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7A7468"/>
                </a:solidFill>
                <a:latin typeface="微软雅黑"/>
                <a:ea typeface="微软雅黑"/>
              </a:rPr>
              <a:t>课程定位、写作教学方法、课堂上法、课程文件与批改、用法。</a:t>
            </a:r>
          </a:p>
        </p:txBody>
      </p:sp>
      <p:sp>
        <p:nvSpPr>
          <p:cNvPr id="14" name="Rounded Rectangle 13">
            <a:hlinkClick r:id="rId3"/>
          </p:cNvPr>
          <p:cNvSpPr/>
          <p:nvPr/>
        </p:nvSpPr>
        <p:spPr>
          <a:xfrm>
            <a:off x="1325880" y="7818120"/>
            <a:ext cx="4251960" cy="658368"/>
          </a:xfrm>
          <a:prstGeom prst="roundRect">
            <a:avLst>
              <a:gd name="adj" fmla="val 50000"/>
            </a:avLst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进入同步写作课程介绍  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2514600"/>
            <a:ext cx="5257800" cy="635508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2514600"/>
            <a:ext cx="5257800" cy="109728"/>
          </a:xfrm>
          <a:prstGeom prst="rect">
            <a:avLst/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3063240"/>
            <a:ext cx="274320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1E2B3A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434840"/>
            <a:ext cx="43891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1E2B3A"/>
                </a:solidFill>
                <a:latin typeface="微软雅黑"/>
                <a:ea typeface="微软雅黑"/>
              </a:rPr>
              <a:t>总部近期重点工作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5806440"/>
            <a:ext cx="4343400" cy="1828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7A7468"/>
                </a:solidFill>
                <a:latin typeface="微软雅黑"/>
                <a:ea typeface="微软雅黑"/>
              </a:rPr>
              <a:t>上半：后续开发任务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7A7468"/>
                </a:solidFill>
                <a:latin typeface="微软雅黑"/>
                <a:ea typeface="微软雅黑"/>
              </a:rPr>
              <a:t>下半：自媒体运营思路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070080" y="2514600"/>
            <a:ext cx="5257800" cy="635508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070080" y="2514600"/>
            <a:ext cx="5257800" cy="109728"/>
          </a:xfrm>
          <a:prstGeom prst="rect">
            <a:avLst/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573000" y="3063240"/>
            <a:ext cx="274320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1E2B3A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73000" y="4434840"/>
            <a:ext cx="43891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1E2B3A"/>
                </a:solidFill>
                <a:latin typeface="微软雅黑"/>
                <a:ea typeface="微软雅黑"/>
              </a:rPr>
              <a:t>小学语文教育与市场变化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573000" y="5806440"/>
            <a:ext cx="4343400" cy="1828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7A7468"/>
                </a:solidFill>
                <a:latin typeface="微软雅黑"/>
                <a:ea typeface="微软雅黑"/>
              </a:rPr>
              <a:t>新课标、新教材的重点，以及为什么这对读写机构是结构性利好。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B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1770" y="502920"/>
            <a:ext cx="1643270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188720"/>
            <a:ext cx="8229600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0000"/>
              </a:lnSpc>
            </a:pPr>
            <a:r>
              <a:rPr sz="23000" b="1">
                <a:solidFill>
                  <a:srgbClr val="C8352B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C9D2DC"/>
                </a:solidFill>
                <a:latin typeface="微软雅黑"/>
                <a:ea typeface="微软雅黑"/>
              </a:rPr>
              <a:t>第一部分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66360"/>
            <a:ext cx="1554480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</a:pPr>
            <a:r>
              <a:rPr sz="6400" b="1">
                <a:solidFill>
                  <a:srgbClr val="FFFFFF"/>
                </a:solidFill>
                <a:latin typeface="微软雅黑"/>
                <a:ea typeface="微软雅黑"/>
              </a:rPr>
              <a:t>同步写作正式发布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492240"/>
            <a:ext cx="146304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300" b="0">
                <a:solidFill>
                  <a:srgbClr val="C9D2DC"/>
                </a:solidFill>
                <a:latin typeface="微软雅黑"/>
                <a:ea typeface="微软雅黑"/>
              </a:rPr>
              <a:t>课程定位、写作教学方法、课堂上法、课程文件与批改、用法。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914400" y="7680960"/>
            <a:ext cx="5120640" cy="7772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E2B3A"/>
                </a:solidFill>
                <a:latin typeface="微软雅黑"/>
                <a:ea typeface="微软雅黑"/>
              </a:rPr>
              <a:t>进入同步写作课程介绍 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B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1770" y="502920"/>
            <a:ext cx="1643270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188720"/>
            <a:ext cx="8229600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0000"/>
              </a:lnSpc>
            </a:pPr>
            <a:r>
              <a:rPr sz="23000" b="1">
                <a:solidFill>
                  <a:srgbClr val="C8352B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C9D2DC"/>
                </a:solidFill>
                <a:latin typeface="微软雅黑"/>
                <a:ea typeface="微软雅黑"/>
              </a:rP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66360"/>
            <a:ext cx="1554480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</a:pPr>
            <a:r>
              <a:rPr sz="6400" b="1">
                <a:solidFill>
                  <a:srgbClr val="FFFFFF"/>
                </a:solidFill>
                <a:latin typeface="微软雅黑"/>
                <a:ea typeface="微软雅黑"/>
              </a:rPr>
              <a:t>总部近期重点工作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492240"/>
            <a:ext cx="146304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300" b="0">
                <a:solidFill>
                  <a:srgbClr val="C9D2DC"/>
                </a:solidFill>
                <a:latin typeface="微软雅黑"/>
                <a:ea typeface="微软雅黑"/>
              </a:rPr>
              <a:t>分上下两半：先讲后续开发任务，再讲自媒体运营思路。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7882127"/>
            <a:ext cx="237744" cy="237744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77724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100" b="1">
                <a:solidFill>
                  <a:srgbClr val="FFFFFF"/>
                </a:solidFill>
                <a:latin typeface="微软雅黑"/>
                <a:ea typeface="微软雅黑"/>
              </a:rPr>
              <a:t>后续开发任务</a:t>
            </a:r>
          </a:p>
        </p:txBody>
      </p:sp>
      <p:sp>
        <p:nvSpPr>
          <p:cNvPr id="9" name="Oval 8"/>
          <p:cNvSpPr/>
          <p:nvPr/>
        </p:nvSpPr>
        <p:spPr>
          <a:xfrm>
            <a:off x="6583680" y="7882127"/>
            <a:ext cx="237744" cy="237744"/>
          </a:xfrm>
          <a:prstGeom prst="ellipse">
            <a:avLst/>
          </a:prstGeom>
          <a:noFill/>
          <a:ln w="1587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77724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C9D2DC"/>
                </a:solidFill>
                <a:latin typeface="微软雅黑"/>
                <a:ea typeface="微软雅黑"/>
              </a:rPr>
              <a:t>自媒体运营思路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C8352B"/>
                </a:solidFill>
                <a:latin typeface="微软雅黑"/>
                <a:ea typeface="微软雅黑"/>
              </a:rPr>
              <a:t>后续开发 · 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87552"/>
            <a:ext cx="1481328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E2B3A"/>
                </a:solidFill>
                <a:latin typeface="微软雅黑"/>
                <a:ea typeface="微软雅黑"/>
              </a:rPr>
              <a:t>下一阶段开发：四项任务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38528"/>
            <a:ext cx="1600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7A7468"/>
                </a:solidFill>
                <a:latin typeface="微软雅黑"/>
                <a:ea typeface="微软雅黑"/>
              </a:rPr>
              <a:t>按推进顺序排列，后面逐项展开。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1770" y="502920"/>
            <a:ext cx="1643270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9720072"/>
            <a:ext cx="16642080" cy="10972"/>
          </a:xfrm>
          <a:prstGeom prst="rect">
            <a:avLst/>
          </a:prstGeom>
          <a:solidFill>
            <a:srgbClr val="DD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29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A7468"/>
                </a:solidFill>
                <a:latin typeface="微软雅黑"/>
                <a:ea typeface="微软雅黑"/>
              </a:rPr>
              <a:t>老约翰 · 2026.10 宣讲会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636240" y="9829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7A7468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697480"/>
            <a:ext cx="3950208" cy="361188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0175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C8352B"/>
                </a:solidFill>
                <a:latin typeface="微软雅黑"/>
                <a:ea typeface="微软雅黑"/>
              </a:rPr>
              <a:t>任务一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47472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1E2B3A"/>
                </a:solidFill>
                <a:latin typeface="微软雅黑"/>
                <a:ea typeface="微软雅黑"/>
              </a:rPr>
              <a:t>同步写作后续单元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206240"/>
            <a:ext cx="32461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900" b="0">
                <a:solidFill>
                  <a:srgbClr val="2B2926"/>
                </a:solidFill>
                <a:latin typeface="微软雅黑"/>
                <a:ea typeface="微软雅黑"/>
              </a:rPr>
              <a:t>跟着更新后的统编教材，完成后续单元课案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88720" y="5486400"/>
            <a:ext cx="3200400" cy="502920"/>
          </a:xfrm>
          <a:prstGeom prst="roundRect">
            <a:avLst>
              <a:gd name="adj" fmla="val 50000"/>
            </a:avLst>
          </a:prstGeom>
          <a:solidFill>
            <a:srgbClr val="ED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548640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700" b="1">
                <a:solidFill>
                  <a:srgbClr val="1E2B3A"/>
                </a:solidFill>
                <a:latin typeface="微软雅黑"/>
                <a:ea typeface="微软雅黑"/>
              </a:rPr>
              <a:t>春季教材 12 月后定稿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47488" y="2697480"/>
            <a:ext cx="3950208" cy="361188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248" y="30175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C8352B"/>
                </a:solidFill>
                <a:latin typeface="微软雅黑"/>
                <a:ea typeface="微软雅黑"/>
              </a:rPr>
              <a:t>任务二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13248" y="347472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1E2B3A"/>
                </a:solidFill>
                <a:latin typeface="微软雅黑"/>
                <a:ea typeface="微软雅黑"/>
              </a:rPr>
              <a:t>低段快乐读书吧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13248" y="4206240"/>
            <a:ext cx="32461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900" b="0">
                <a:solidFill>
                  <a:srgbClr val="2B2926"/>
                </a:solidFill>
                <a:latin typeface="微软雅黑"/>
                <a:ea typeface="微软雅黑"/>
              </a:rPr>
              <a:t>一至三年级快乐读书吧，共 10 本书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13248" y="5486400"/>
            <a:ext cx="3200400" cy="502920"/>
          </a:xfrm>
          <a:prstGeom prst="roundRect">
            <a:avLst>
              <a:gd name="adj" fmla="val 50000"/>
            </a:avLst>
          </a:prstGeom>
          <a:solidFill>
            <a:srgbClr val="ED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13248" y="548640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700" b="1">
                <a:solidFill>
                  <a:srgbClr val="1E2B3A"/>
                </a:solidFill>
                <a:latin typeface="微软雅黑"/>
                <a:ea typeface="微软雅黑"/>
              </a:rPr>
              <a:t>11 月左右完成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72016" y="2697480"/>
            <a:ext cx="3950208" cy="361188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37776" y="30175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C8352B"/>
                </a:solidFill>
                <a:latin typeface="微软雅黑"/>
                <a:ea typeface="微软雅黑"/>
              </a:rPr>
              <a:t>任务三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37776" y="347472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1E2B3A"/>
                </a:solidFill>
                <a:latin typeface="微软雅黑"/>
                <a:ea typeface="微软雅黑"/>
              </a:rPr>
              <a:t>整套看图写话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37776" y="4206240"/>
            <a:ext cx="32461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900" b="0">
                <a:solidFill>
                  <a:srgbClr val="2B2926"/>
                </a:solidFill>
                <a:latin typeface="微软雅黑"/>
                <a:ea typeface="微软雅黑"/>
              </a:rPr>
              <a:t>补上一、二年级，写作课贯通一至六年级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37776" y="5486400"/>
            <a:ext cx="3200400" cy="502920"/>
          </a:xfrm>
          <a:prstGeom prst="roundRect">
            <a:avLst>
              <a:gd name="adj" fmla="val 50000"/>
            </a:avLst>
          </a:prstGeom>
          <a:solidFill>
            <a:srgbClr val="ED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37776" y="548640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700" b="1">
                <a:solidFill>
                  <a:srgbClr val="1E2B3A"/>
                </a:solidFill>
                <a:latin typeface="微软雅黑"/>
                <a:ea typeface="微软雅黑"/>
              </a:rPr>
              <a:t>已规划，开发中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496544" y="2697480"/>
            <a:ext cx="3950208" cy="361188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862304" y="30175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C8352B"/>
                </a:solidFill>
                <a:latin typeface="微软雅黑"/>
                <a:ea typeface="微软雅黑"/>
              </a:rPr>
              <a:t>任务四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62304" y="347472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1E2B3A"/>
                </a:solidFill>
                <a:latin typeface="微软雅黑"/>
                <a:ea typeface="微软雅黑"/>
              </a:rPr>
              <a:t>读书会课件迭代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862304" y="4206240"/>
            <a:ext cx="32461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900" b="0">
                <a:solidFill>
                  <a:srgbClr val="2B2926"/>
                </a:solidFill>
                <a:latin typeface="微软雅黑"/>
                <a:ea typeface="微软雅黑"/>
              </a:rPr>
              <a:t>买不到的书、难上的课，按反馈做替换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3862304" y="5486400"/>
            <a:ext cx="3200400" cy="502920"/>
          </a:xfrm>
          <a:prstGeom prst="roundRect">
            <a:avLst>
              <a:gd name="adj" fmla="val 50000"/>
            </a:avLst>
          </a:prstGeom>
          <a:solidFill>
            <a:srgbClr val="ED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862304" y="548640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700" b="1">
                <a:solidFill>
                  <a:srgbClr val="1E2B3A"/>
                </a:solidFill>
                <a:latin typeface="微软雅黑"/>
                <a:ea typeface="微软雅黑"/>
              </a:rPr>
              <a:t>不定期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6629400"/>
            <a:ext cx="16642080" cy="2697480"/>
          </a:xfrm>
          <a:prstGeom prst="rect">
            <a:avLst/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0160" y="6903720"/>
            <a:ext cx="15544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后续设想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80160" y="7589520"/>
            <a:ext cx="7498079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小古文　</a:t>
            </a:r>
            <a:r>
              <a:rPr sz="1800" b="0">
                <a:solidFill>
                  <a:srgbClr val="C9D2DC"/>
                </a:solidFill>
                <a:latin typeface="微软雅黑"/>
                <a:ea typeface="微软雅黑"/>
              </a:rPr>
              <a:t>统编教材从三年级起选入文言文，孩子初读常卡在读不顺、读不懂。可围绕教材篇目和同类短文，练朗读、断句和理解，打好文言基础。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20" y="7589520"/>
            <a:ext cx="768096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主题阅读　</a:t>
            </a:r>
            <a:r>
              <a:rPr sz="1800" b="0">
                <a:solidFill>
                  <a:srgbClr val="C9D2DC"/>
                </a:solidFill>
                <a:latin typeface="微软雅黑"/>
                <a:ea typeface="微软雅黑"/>
              </a:rPr>
              <a:t>寒暑假安排连续几天，只读一本大部头，如《苏东坡传》、四大名著、《儒林外史》等。平时课时读不完的经典，用一整段时间读透。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384048"/>
            <a:ext cx="2011680" cy="530352"/>
          </a:xfrm>
          <a:prstGeom prst="roundRect">
            <a:avLst>
              <a:gd name="adj" fmla="val 50000"/>
            </a:avLst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2011680" cy="5303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100" b="1">
                <a:solidFill>
                  <a:srgbClr val="FFFFFF"/>
                </a:solidFill>
                <a:latin typeface="微软雅黑"/>
                <a:ea typeface="微软雅黑"/>
              </a:rPr>
              <a:t>开发任务一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87552"/>
            <a:ext cx="1481328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E2B3A"/>
                </a:solidFill>
                <a:latin typeface="微软雅黑"/>
                <a:ea typeface="微软雅黑"/>
              </a:rPr>
              <a:t>同步写作后续单元：跟着新教材走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1770" y="502920"/>
            <a:ext cx="1643270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9720072"/>
            <a:ext cx="16642080" cy="10972"/>
          </a:xfrm>
          <a:prstGeom prst="rect">
            <a:avLst/>
          </a:prstGeom>
          <a:solidFill>
            <a:srgbClr val="DD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29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A7468"/>
                </a:solidFill>
                <a:latin typeface="微软雅黑"/>
                <a:ea typeface="微软雅黑"/>
              </a:rPr>
              <a:t>老约翰 · 2026.10 宣讲会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636240" y="9829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7A7468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63240"/>
            <a:ext cx="91440" cy="34290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2926080"/>
            <a:ext cx="15544800" cy="5486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5000"/>
              </a:lnSpc>
            </a:pPr>
            <a:r>
              <a:rPr sz="3200" b="0">
                <a:solidFill>
                  <a:srgbClr val="2B2926"/>
                </a:solidFill>
                <a:latin typeface="微软雅黑"/>
                <a:ea typeface="微软雅黑"/>
              </a:rPr>
              <a:t>2026 年秋起，统编教材四、五、六年级换用新版，春季用的下册新教材预计 12 月出来。</a:t>
            </a:r>
            <a:r>
              <a:rPr sz="3200" b="0">
                <a:solidFill>
                  <a:srgbClr val="2B2926"/>
                </a:solidFill>
                <a:latin typeface="微软雅黑"/>
                <a:ea typeface="微软雅黑"/>
              </a:rPr>
              <a:t>总部按新版教材逐单元核对课文、语文要素与习作题目，新教材换了题目的单元，按新题开发。</a:t>
            </a:r>
            <a:r>
              <a:rPr sz="3200" b="1">
                <a:solidFill>
                  <a:srgbClr val="C8352B"/>
                </a:solidFill>
                <a:latin typeface="微软雅黑"/>
                <a:ea typeface="微软雅黑"/>
              </a:rPr>
              <a:t>教材版次调整由总部统一核对修订、推送更新。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384048"/>
            <a:ext cx="2011680" cy="530352"/>
          </a:xfrm>
          <a:prstGeom prst="roundRect">
            <a:avLst>
              <a:gd name="adj" fmla="val 50000"/>
            </a:avLst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2011680" cy="5303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100" b="1">
                <a:solidFill>
                  <a:srgbClr val="FFFFFF"/>
                </a:solidFill>
                <a:latin typeface="微软雅黑"/>
                <a:ea typeface="微软雅黑"/>
              </a:rPr>
              <a:t>开发任务二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87552"/>
            <a:ext cx="1481328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3800" b="1">
                <a:solidFill>
                  <a:srgbClr val="1E2B3A"/>
                </a:solidFill>
                <a:latin typeface="微软雅黑"/>
                <a:ea typeface="微软雅黑"/>
              </a:rPr>
              <a:t>低段快乐读书吧：一至三年级 10 本书，11 月左右完成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38528"/>
            <a:ext cx="1600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7A7468"/>
                </a:solidFill>
                <a:latin typeface="微软雅黑"/>
                <a:ea typeface="微软雅黑"/>
              </a:rPr>
              <a:t>完成一至三年级快乐读书吧的剩余全部书目，按读书会深度阅读课的标准开发。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1770" y="502920"/>
            <a:ext cx="1643270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9720072"/>
            <a:ext cx="16642080" cy="10972"/>
          </a:xfrm>
          <a:prstGeom prst="rect">
            <a:avLst/>
          </a:prstGeom>
          <a:solidFill>
            <a:srgbClr val="DD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9829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A7468"/>
                </a:solidFill>
                <a:latin typeface="微软雅黑"/>
                <a:ea typeface="微软雅黑"/>
              </a:rPr>
              <a:t>老约翰 · 2026.10 宣讲会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636240" y="9829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7A7468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697480"/>
            <a:ext cx="5257800" cy="457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697480"/>
            <a:ext cx="5257800" cy="1051560"/>
          </a:xfrm>
          <a:prstGeom prst="rect">
            <a:avLst/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2697480"/>
            <a:ext cx="2743200" cy="10515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一年级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79" y="2697480"/>
            <a:ext cx="2286000" cy="10515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C8352B"/>
                </a:solidFill>
                <a:latin typeface="微软雅黑"/>
                <a:ea typeface="微软雅黑"/>
              </a:rPr>
              <a:t>4 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069080"/>
            <a:ext cx="4572000" cy="3017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2300" b="0">
                <a:solidFill>
                  <a:srgbClr val="2B2926"/>
                </a:solidFill>
                <a:latin typeface="微软雅黑"/>
                <a:ea typeface="微软雅黑"/>
              </a:rPr>
              <a:t>《和大人一起读（一）》</a:t>
            </a:r>
          </a:p>
          <a:p>
            <a:pPr algn="l">
              <a:lnSpc>
                <a:spcPct val="160000"/>
              </a:lnSpc>
            </a:pPr>
            <a:r>
              <a:rPr sz="2300" b="0">
                <a:solidFill>
                  <a:srgbClr val="2B2926"/>
                </a:solidFill>
                <a:latin typeface="微软雅黑"/>
                <a:ea typeface="微软雅黑"/>
              </a:rPr>
              <a:t>《和大人一起读（二）》</a:t>
            </a:r>
          </a:p>
          <a:p>
            <a:pPr algn="l">
              <a:lnSpc>
                <a:spcPct val="160000"/>
              </a:lnSpc>
            </a:pPr>
            <a:r>
              <a:rPr sz="2300" b="0">
                <a:solidFill>
                  <a:srgbClr val="2B2926"/>
                </a:solidFill>
                <a:latin typeface="微软雅黑"/>
                <a:ea typeface="微软雅黑"/>
              </a:rPr>
              <a:t>《和大人一起读（三）》</a:t>
            </a:r>
          </a:p>
          <a:p>
            <a:pPr algn="l">
              <a:lnSpc>
                <a:spcPct val="160000"/>
              </a:lnSpc>
            </a:pPr>
            <a:r>
              <a:rPr sz="2300" b="0">
                <a:solidFill>
                  <a:srgbClr val="2B2926"/>
                </a:solidFill>
                <a:latin typeface="微软雅黑"/>
                <a:ea typeface="微软雅黑"/>
              </a:rPr>
              <a:t>《和大人一起读（四）》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697480"/>
            <a:ext cx="5257800" cy="457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46520" y="2697480"/>
            <a:ext cx="5257800" cy="1051560"/>
          </a:xfrm>
          <a:prstGeom prst="rect">
            <a:avLst/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2697480"/>
            <a:ext cx="2743200" cy="10515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二年级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2697480"/>
            <a:ext cx="2286000" cy="10515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C8352B"/>
                </a:solidFill>
                <a:latin typeface="微软雅黑"/>
                <a:ea typeface="微软雅黑"/>
              </a:rPr>
              <a:t>4 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4069080"/>
            <a:ext cx="4572000" cy="3017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2300" b="0">
                <a:solidFill>
                  <a:srgbClr val="2B2926"/>
                </a:solidFill>
                <a:latin typeface="微软雅黑"/>
                <a:ea typeface="微软雅黑"/>
              </a:rPr>
              <a:t>《孤独的小螃蟹》</a:t>
            </a:r>
          </a:p>
          <a:p>
            <a:pPr algn="l">
              <a:lnSpc>
                <a:spcPct val="160000"/>
              </a:lnSpc>
            </a:pPr>
            <a:r>
              <a:rPr sz="2300" b="0">
                <a:solidFill>
                  <a:srgbClr val="2B2926"/>
                </a:solidFill>
                <a:latin typeface="微软雅黑"/>
                <a:ea typeface="微软雅黑"/>
              </a:rPr>
              <a:t>《小狗的小房子》</a:t>
            </a:r>
          </a:p>
          <a:p>
            <a:pPr algn="l">
              <a:lnSpc>
                <a:spcPct val="160000"/>
              </a:lnSpc>
            </a:pPr>
            <a:r>
              <a:rPr sz="2300" b="0">
                <a:solidFill>
                  <a:srgbClr val="2B2926"/>
                </a:solidFill>
                <a:latin typeface="微软雅黑"/>
                <a:ea typeface="微软雅黑"/>
              </a:rPr>
              <a:t>《神笔马良》</a:t>
            </a:r>
          </a:p>
          <a:p>
            <a:pPr algn="l">
              <a:lnSpc>
                <a:spcPct val="160000"/>
              </a:lnSpc>
            </a:pPr>
            <a:r>
              <a:rPr sz="2300" b="0">
                <a:solidFill>
                  <a:srgbClr val="2B2926"/>
                </a:solidFill>
                <a:latin typeface="微软雅黑"/>
                <a:ea typeface="微软雅黑"/>
              </a:rPr>
              <a:t>《大头儿子和小头爸爸》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070080" y="2697480"/>
            <a:ext cx="5257800" cy="457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2070080" y="2697480"/>
            <a:ext cx="5257800" cy="1051560"/>
          </a:xfrm>
          <a:prstGeom prst="rect">
            <a:avLst/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81560" y="2697480"/>
            <a:ext cx="2743200" cy="10515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三年级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0" y="2697480"/>
            <a:ext cx="2286000" cy="10515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C8352B"/>
                </a:solidFill>
                <a:latin typeface="微软雅黑"/>
                <a:ea typeface="微软雅黑"/>
              </a:rPr>
              <a:t>2 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481560" y="4069080"/>
            <a:ext cx="4572000" cy="3017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2300" b="0">
                <a:solidFill>
                  <a:srgbClr val="2B2926"/>
                </a:solidFill>
                <a:latin typeface="微软雅黑"/>
                <a:ea typeface="微软雅黑"/>
              </a:rPr>
              <a:t>《稻草人》</a:t>
            </a:r>
          </a:p>
          <a:p>
            <a:pPr algn="l">
              <a:lnSpc>
                <a:spcPct val="160000"/>
              </a:lnSpc>
            </a:pPr>
            <a:r>
              <a:rPr sz="2300" b="0">
                <a:solidFill>
                  <a:srgbClr val="2B2926"/>
                </a:solidFill>
                <a:latin typeface="微软雅黑"/>
                <a:ea typeface="微软雅黑"/>
              </a:rPr>
              <a:t>《克雷洛夫寓言》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7589520"/>
            <a:ext cx="16642080" cy="1737360"/>
          </a:xfrm>
          <a:prstGeom prst="rect">
            <a:avLst/>
          </a:prstGeom>
          <a:solidFill>
            <a:srgbClr val="ED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7589520"/>
            <a:ext cx="91440" cy="173736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25880" y="78181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C8352B"/>
                </a:solidFill>
                <a:latin typeface="微软雅黑"/>
                <a:ea typeface="微软雅黑"/>
              </a:rPr>
              <a:t>怎么用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8366760"/>
            <a:ext cx="1554480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300" b="0">
                <a:solidFill>
                  <a:srgbClr val="1E2B3A"/>
                </a:solidFill>
                <a:latin typeface="微软雅黑"/>
                <a:ea typeface="微软雅黑"/>
              </a:rPr>
              <a:t>与同步写作组合排课：每学期 16 次课，8 次同步写作、8 次快乐读书吧，均依据统编教材。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384048"/>
            <a:ext cx="2011680" cy="530352"/>
          </a:xfrm>
          <a:prstGeom prst="roundRect">
            <a:avLst>
              <a:gd name="adj" fmla="val 50000"/>
            </a:avLst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2011680" cy="5303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100" b="1">
                <a:solidFill>
                  <a:srgbClr val="FFFFFF"/>
                </a:solidFill>
                <a:latin typeface="微软雅黑"/>
                <a:ea typeface="微软雅黑"/>
              </a:rPr>
              <a:t>开发任务三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384048"/>
            <a:ext cx="9144000" cy="5303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2100" b="1">
                <a:solidFill>
                  <a:srgbClr val="C8352B"/>
                </a:solidFill>
                <a:latin typeface="微软雅黑"/>
                <a:ea typeface="微软雅黑"/>
              </a:rPr>
              <a:t>整套看图写话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87552"/>
            <a:ext cx="1481328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E2B3A"/>
                </a:solidFill>
                <a:latin typeface="微软雅黑"/>
                <a:ea typeface="微软雅黑"/>
              </a:rPr>
              <a:t>补上一二年级，写作课贯通一至六年级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1770" y="502920"/>
            <a:ext cx="1643270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9720072"/>
            <a:ext cx="16642080" cy="10972"/>
          </a:xfrm>
          <a:prstGeom prst="rect">
            <a:avLst/>
          </a:prstGeom>
          <a:solidFill>
            <a:srgbClr val="DD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9829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A7468"/>
                </a:solidFill>
                <a:latin typeface="微软雅黑"/>
                <a:ea typeface="微软雅黑"/>
              </a:rPr>
              <a:t>老约翰 · 2026.10 宣讲会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636240" y="9829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7A7468"/>
                </a:solidFill>
                <a:latin typeface="微软雅黑"/>
                <a:ea typeface="微软雅黑"/>
              </a:rPr>
              <a:t>08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40280"/>
            <a:ext cx="2712720" cy="566928"/>
          </a:xfrm>
          <a:prstGeom prst="rect">
            <a:avLst/>
          </a:prstGeom>
          <a:solidFill>
            <a:srgbClr val="ED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240280"/>
            <a:ext cx="271272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900" b="1">
                <a:solidFill>
                  <a:srgbClr val="1E2B3A"/>
                </a:solidFill>
                <a:latin typeface="微软雅黑"/>
                <a:ea typeface="微软雅黑"/>
              </a:rPr>
              <a:t>一年级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08832" y="2240280"/>
            <a:ext cx="2712720" cy="566928"/>
          </a:xfrm>
          <a:prstGeom prst="rect">
            <a:avLst/>
          </a:prstGeom>
          <a:solidFill>
            <a:srgbClr val="ED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8832" y="2240280"/>
            <a:ext cx="271272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900" b="1">
                <a:solidFill>
                  <a:srgbClr val="1E2B3A"/>
                </a:solidFill>
                <a:latin typeface="微软雅黑"/>
                <a:ea typeface="微软雅黑"/>
              </a:rPr>
              <a:t>二年级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94704" y="2240280"/>
            <a:ext cx="2712720" cy="566928"/>
          </a:xfrm>
          <a:prstGeom prst="rect">
            <a:avLst/>
          </a:prstGeom>
          <a:solidFill>
            <a:srgbClr val="ED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4704" y="2240280"/>
            <a:ext cx="271272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900" b="1">
                <a:solidFill>
                  <a:srgbClr val="1E2B3A"/>
                </a:solidFill>
                <a:latin typeface="微软雅黑"/>
                <a:ea typeface="微软雅黑"/>
              </a:rPr>
              <a:t>三年级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0576" y="2240280"/>
            <a:ext cx="2712720" cy="566928"/>
          </a:xfrm>
          <a:prstGeom prst="rect">
            <a:avLst/>
          </a:prstGeom>
          <a:solidFill>
            <a:srgbClr val="ED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0576" y="2240280"/>
            <a:ext cx="271272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900" b="1">
                <a:solidFill>
                  <a:srgbClr val="1E2B3A"/>
                </a:solidFill>
                <a:latin typeface="微软雅黑"/>
                <a:ea typeface="微软雅黑"/>
              </a:rPr>
              <a:t>四年级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966448" y="2240280"/>
            <a:ext cx="2712720" cy="566928"/>
          </a:xfrm>
          <a:prstGeom prst="rect">
            <a:avLst/>
          </a:prstGeom>
          <a:solidFill>
            <a:srgbClr val="ED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66448" y="2240280"/>
            <a:ext cx="271272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900" b="1">
                <a:solidFill>
                  <a:srgbClr val="1E2B3A"/>
                </a:solidFill>
                <a:latin typeface="微软雅黑"/>
                <a:ea typeface="微软雅黑"/>
              </a:rPr>
              <a:t>五年级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752320" y="2240280"/>
            <a:ext cx="2712720" cy="566928"/>
          </a:xfrm>
          <a:prstGeom prst="rect">
            <a:avLst/>
          </a:prstGeom>
          <a:solidFill>
            <a:srgbClr val="ED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752320" y="2240280"/>
            <a:ext cx="271272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900" b="1">
                <a:solidFill>
                  <a:srgbClr val="1E2B3A"/>
                </a:solidFill>
                <a:latin typeface="微软雅黑"/>
                <a:ea typeface="微软雅黑"/>
              </a:rPr>
              <a:t>六年级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2880360"/>
            <a:ext cx="5498592" cy="77724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2880360"/>
            <a:ext cx="5498592" cy="7772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看图写话 · 这次补上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94704" y="2880360"/>
            <a:ext cx="11070336" cy="777240"/>
          </a:xfrm>
          <a:prstGeom prst="rect">
            <a:avLst/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94704" y="2880360"/>
            <a:ext cx="11070336" cy="7772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同步写作 · 已上线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931920"/>
            <a:ext cx="1664208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100" b="0">
                <a:solidFill>
                  <a:srgbClr val="2B2926"/>
                </a:solidFill>
                <a:latin typeface="微软雅黑"/>
                <a:ea typeface="微软雅黑"/>
              </a:rPr>
              <a:t>同步写作从三年级起步，而一二年级正是孩子第一次拿笔写话的时候。</a:t>
            </a:r>
            <a:r>
              <a:rPr sz="2100" b="1">
                <a:solidFill>
                  <a:srgbClr val="C8352B"/>
                </a:solidFill>
                <a:latin typeface="微软雅黑"/>
                <a:ea typeface="微软雅黑"/>
              </a:rPr>
              <a:t>补上看图写话，写作课就从一年级贯通到六年级——同一套能力线，一级一级往上走。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5166360"/>
            <a:ext cx="809244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" y="5166360"/>
            <a:ext cx="8092440" cy="914400"/>
          </a:xfrm>
          <a:prstGeom prst="rect">
            <a:avLst/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80160" y="5166360"/>
            <a:ext cx="731520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第一阶 · 一年级　</a:t>
            </a:r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说清楚，写完整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626364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2B2926"/>
                </a:solidFill>
                <a:latin typeface="微软雅黑"/>
                <a:ea typeface="微软雅黑"/>
              </a:rPr>
              <a:t>看懂一幅图，大方讲清楚，写出完整通顺的一两句话。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80160" y="6812280"/>
            <a:ext cx="3474720" cy="64008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54480" y="6812280"/>
            <a:ext cx="3108960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1E2B3A"/>
                </a:solidFill>
                <a:latin typeface="微软雅黑"/>
                <a:ea typeface="微软雅黑"/>
              </a:rPr>
              <a:t>会看图会讲图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37760" y="6812280"/>
            <a:ext cx="3474720" cy="64008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12080" y="6812280"/>
            <a:ext cx="3108960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1E2B3A"/>
                </a:solidFill>
                <a:latin typeface="微软雅黑"/>
                <a:ea typeface="微软雅黑"/>
              </a:rPr>
              <a:t>写完整的一句话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80160" y="7562088"/>
            <a:ext cx="3474720" cy="64008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554480" y="7562088"/>
            <a:ext cx="3108960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1E2B3A"/>
                </a:solidFill>
                <a:latin typeface="微软雅黑"/>
                <a:ea typeface="微软雅黑"/>
              </a:rPr>
              <a:t>把句子写“胖”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7562088"/>
            <a:ext cx="3474720" cy="64008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80" y="7562088"/>
            <a:ext cx="3108960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1E2B3A"/>
                </a:solidFill>
                <a:latin typeface="微软雅黑"/>
                <a:ea typeface="微软雅黑"/>
              </a:rPr>
              <a:t>标点会说话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81160" y="5166360"/>
            <a:ext cx="809244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81160" y="5166360"/>
            <a:ext cx="8092440" cy="9144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38360" y="5166360"/>
            <a:ext cx="731520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FBEBE8"/>
                </a:solidFill>
                <a:latin typeface="微软雅黑"/>
                <a:ea typeface="微软雅黑"/>
              </a:rPr>
              <a:t>第二阶 · 二年级　</a:t>
            </a:r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写连贯，讲成故事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38360" y="626364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2B2926"/>
                </a:solidFill>
                <a:latin typeface="微软雅黑"/>
                <a:ea typeface="微软雅黑"/>
              </a:rPr>
              <a:t>把一组图写成有细节、有波澜的小故事。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38360" y="6812280"/>
            <a:ext cx="3474720" cy="64008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12680" y="6812280"/>
            <a:ext cx="3108960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C8352B"/>
                </a:solidFill>
                <a:latin typeface="微软雅黑"/>
                <a:ea typeface="微软雅黑"/>
              </a:rPr>
              <a:t>把画面写具体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3395960" y="6812280"/>
            <a:ext cx="3474720" cy="64008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670280" y="6812280"/>
            <a:ext cx="3108960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C8352B"/>
                </a:solidFill>
                <a:latin typeface="微软雅黑"/>
                <a:ea typeface="微软雅黑"/>
              </a:rPr>
              <a:t>四图连成故事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738360" y="7562088"/>
            <a:ext cx="3474720" cy="64008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12680" y="7562088"/>
            <a:ext cx="3108960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C8352B"/>
                </a:solidFill>
                <a:latin typeface="微软雅黑"/>
                <a:ea typeface="微软雅黑"/>
              </a:rPr>
              <a:t>故事有“没想到”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3395960" y="7562088"/>
            <a:ext cx="3474720" cy="64008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670280" y="7562088"/>
            <a:ext cx="3108960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C8352B"/>
                </a:solidFill>
                <a:latin typeface="微软雅黑"/>
                <a:ea typeface="微软雅黑"/>
              </a:rPr>
              <a:t>句子会“变身”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60" y="8549640"/>
            <a:ext cx="16642080" cy="777240"/>
          </a:xfrm>
          <a:prstGeom prst="rect">
            <a:avLst/>
          </a:prstGeom>
          <a:solidFill>
            <a:srgbClr val="ED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80160" y="8549640"/>
            <a:ext cx="3931920" cy="7772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C8352B"/>
                </a:solidFill>
                <a:latin typeface="微软雅黑"/>
                <a:ea typeface="微软雅黑"/>
              </a:rPr>
              <a:t>4</a:t>
            </a:r>
            <a:r>
              <a:rPr sz="2000" b="1">
                <a:solidFill>
                  <a:srgbClr val="1E2B3A"/>
                </a:solidFill>
                <a:latin typeface="微软雅黑"/>
                <a:ea typeface="微软雅黑"/>
              </a:rPr>
              <a:t>  个学期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8549640"/>
            <a:ext cx="3931920" cy="7772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C8352B"/>
                </a:solidFill>
                <a:latin typeface="微软雅黑"/>
                <a:ea typeface="微软雅黑"/>
              </a:rPr>
              <a:t>64</a:t>
            </a:r>
            <a:r>
              <a:rPr sz="2000" b="1">
                <a:solidFill>
                  <a:srgbClr val="1E2B3A"/>
                </a:solidFill>
                <a:latin typeface="微软雅黑"/>
                <a:ea typeface="微软雅黑"/>
              </a:rPr>
              <a:t>  次课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09760" y="8549640"/>
            <a:ext cx="3931920" cy="7772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C8352B"/>
                </a:solidFill>
                <a:latin typeface="微软雅黑"/>
                <a:ea typeface="微软雅黑"/>
              </a:rPr>
              <a:t>24</a:t>
            </a:r>
            <a:r>
              <a:rPr sz="2000" b="1">
                <a:solidFill>
                  <a:srgbClr val="1E2B3A"/>
                </a:solidFill>
                <a:latin typeface="微软雅黑"/>
                <a:ea typeface="微软雅黑"/>
              </a:rPr>
              <a:t>  个方法主题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624560" y="8549640"/>
            <a:ext cx="3931920" cy="7772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C8352B"/>
                </a:solidFill>
                <a:latin typeface="微软雅黑"/>
                <a:ea typeface="微软雅黑"/>
              </a:rPr>
              <a:t>5</a:t>
            </a:r>
            <a:r>
              <a:rPr sz="2000" b="1">
                <a:solidFill>
                  <a:srgbClr val="1E2B3A"/>
                </a:solidFill>
                <a:latin typeface="微软雅黑"/>
                <a:ea typeface="微软雅黑"/>
              </a:rPr>
              <a:t>  条能力线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384048"/>
            <a:ext cx="2011680" cy="530352"/>
          </a:xfrm>
          <a:prstGeom prst="roundRect">
            <a:avLst>
              <a:gd name="adj" fmla="val 50000"/>
            </a:avLst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2011680" cy="5303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100" b="1">
                <a:solidFill>
                  <a:srgbClr val="FFFFFF"/>
                </a:solidFill>
                <a:latin typeface="微软雅黑"/>
                <a:ea typeface="微软雅黑"/>
              </a:rPr>
              <a:t>开发任务三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384048"/>
            <a:ext cx="9144000" cy="5303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2100" b="1">
                <a:solidFill>
                  <a:srgbClr val="C8352B"/>
                </a:solidFill>
                <a:latin typeface="微软雅黑"/>
                <a:ea typeface="微软雅黑"/>
              </a:rPr>
              <a:t>整套看图写话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87552"/>
            <a:ext cx="1481328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E2B3A"/>
                </a:solidFill>
                <a:latin typeface="微软雅黑"/>
                <a:ea typeface="微软雅黑"/>
              </a:rPr>
              <a:t>一二年级练的本领，三年级写作文直接用上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38528"/>
            <a:ext cx="1600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7A7468"/>
                </a:solidFill>
                <a:latin typeface="微软雅黑"/>
                <a:ea typeface="微软雅黑"/>
              </a:rPr>
              <a:t>看图写话不是单独一门课：它的四条能力线，一条条接进三年级同步写作的单元习作。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1770" y="502920"/>
            <a:ext cx="1643270" cy="5669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" y="9720072"/>
            <a:ext cx="16642080" cy="10972"/>
          </a:xfrm>
          <a:prstGeom prst="rect">
            <a:avLst/>
          </a:prstGeom>
          <a:solidFill>
            <a:srgbClr val="DD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9829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A7468"/>
                </a:solidFill>
                <a:latin typeface="微软雅黑"/>
                <a:ea typeface="微软雅黑"/>
              </a:rPr>
              <a:t>老约翰 · 2026.10 宣讲会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36240" y="9829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7A7468"/>
                </a:solidFill>
                <a:latin typeface="微软雅黑"/>
                <a:ea typeface="微软雅黑"/>
              </a:rPr>
              <a:t>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6060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C8352B"/>
                </a:solidFill>
                <a:latin typeface="微软雅黑"/>
                <a:ea typeface="微软雅黑"/>
              </a:rPr>
              <a:t>看图写话 · 一二年级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0" y="260604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E2B3A"/>
                </a:solidFill>
                <a:latin typeface="微软雅黑"/>
                <a:ea typeface="微软雅黑"/>
              </a:rPr>
              <a:t>同步写作 · 三年级接上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063240"/>
            <a:ext cx="2011680" cy="914400"/>
          </a:xfrm>
          <a:prstGeom prst="roundRect">
            <a:avLst>
              <a:gd name="adj" fmla="val 15000"/>
            </a:avLst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201168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会观察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63240" y="3136392"/>
            <a:ext cx="1965960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63240" y="3136392"/>
            <a:ext cx="196596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2B2926"/>
                </a:solidFill>
                <a:latin typeface="微软雅黑"/>
                <a:ea typeface="微软雅黑"/>
              </a:rPr>
              <a:t>看懂图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136392"/>
            <a:ext cx="41148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C8352B"/>
                </a:solidFill>
                <a:latin typeface="微软雅黑"/>
                <a:ea typeface="微软雅黑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40680" y="3136392"/>
            <a:ext cx="1965960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680" y="3136392"/>
            <a:ext cx="196596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2B2926"/>
                </a:solidFill>
                <a:latin typeface="微软雅黑"/>
                <a:ea typeface="微软雅黑"/>
              </a:rPr>
              <a:t>写清楚一句话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3136392"/>
            <a:ext cx="41148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C8352B"/>
                </a:solidFill>
                <a:latin typeface="微软雅黑"/>
                <a:ea typeface="微软雅黑"/>
              </a:rPr>
              <a:t>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18120" y="3136392"/>
            <a:ext cx="1965960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18120" y="3136392"/>
            <a:ext cx="196596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2B2926"/>
                </a:solidFill>
                <a:latin typeface="微软雅黑"/>
                <a:ea typeface="微软雅黑"/>
              </a:rPr>
              <a:t>抓住细节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3136392"/>
            <a:ext cx="41148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C8352B"/>
                </a:solidFill>
                <a:latin typeface="微软雅黑"/>
                <a:ea typeface="微软雅黑"/>
              </a:rPr>
              <a:t>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195560" y="3136392"/>
            <a:ext cx="1965960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95560" y="3136392"/>
            <a:ext cx="196596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2B2926"/>
                </a:solidFill>
                <a:latin typeface="微软雅黑"/>
                <a:ea typeface="微软雅黑"/>
              </a:rPr>
              <a:t>有顺序地看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45568" y="3136392"/>
            <a:ext cx="27432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400" b="1">
                <a:solidFill>
                  <a:srgbClr val="C8352B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801600" y="3136392"/>
            <a:ext cx="4663440" cy="768096"/>
          </a:xfrm>
          <a:prstGeom prst="rect">
            <a:avLst/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030200" y="3136392"/>
            <a:ext cx="429768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《我们眼中的缤纷世界》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4251960"/>
            <a:ext cx="2011680" cy="914400"/>
          </a:xfrm>
          <a:prstGeom prst="roundRect">
            <a:avLst>
              <a:gd name="adj" fmla="val 15000"/>
            </a:avLst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51960"/>
            <a:ext cx="201168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会讲故事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63240" y="4325112"/>
            <a:ext cx="1965960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63240" y="4325112"/>
            <a:ext cx="196596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2B2926"/>
                </a:solidFill>
                <a:latin typeface="微软雅黑"/>
                <a:ea typeface="微软雅黑"/>
              </a:rPr>
              <a:t>讲清一件事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325112"/>
            <a:ext cx="41148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C8352B"/>
                </a:solidFill>
                <a:latin typeface="微软雅黑"/>
                <a:ea typeface="微软雅黑"/>
              </a:rPr>
              <a:t>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40680" y="4325112"/>
            <a:ext cx="1965960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40680" y="4325112"/>
            <a:ext cx="196596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2B2926"/>
                </a:solidFill>
                <a:latin typeface="微软雅黑"/>
                <a:ea typeface="微软雅黑"/>
              </a:rPr>
              <a:t>前因后果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4325112"/>
            <a:ext cx="41148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C8352B"/>
                </a:solidFill>
                <a:latin typeface="微软雅黑"/>
                <a:ea typeface="微软雅黑"/>
              </a:rPr>
              <a:t>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18120" y="4325112"/>
            <a:ext cx="1965960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18120" y="4325112"/>
            <a:ext cx="196596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2B2926"/>
                </a:solidFill>
                <a:latin typeface="微软雅黑"/>
                <a:ea typeface="微软雅黑"/>
              </a:rPr>
              <a:t>完整情节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4325112"/>
            <a:ext cx="41148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C8352B"/>
                </a:solidFill>
                <a:latin typeface="微软雅黑"/>
                <a:ea typeface="微软雅黑"/>
              </a:rPr>
              <a:t>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95560" y="4325112"/>
            <a:ext cx="1965960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95560" y="4325112"/>
            <a:ext cx="196596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2B2926"/>
                </a:solidFill>
                <a:latin typeface="微软雅黑"/>
                <a:ea typeface="微软雅黑"/>
              </a:rPr>
              <a:t>写出波澜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545568" y="4325112"/>
            <a:ext cx="27432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400" b="1">
                <a:solidFill>
                  <a:srgbClr val="C8352B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801600" y="4325112"/>
            <a:ext cx="4663440" cy="768096"/>
          </a:xfrm>
          <a:prstGeom prst="rect">
            <a:avLst/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030200" y="4325112"/>
            <a:ext cx="429768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《那次玩得真高兴》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2960" y="5440680"/>
            <a:ext cx="2011680" cy="914400"/>
          </a:xfrm>
          <a:prstGeom prst="roundRect">
            <a:avLst>
              <a:gd name="adj" fmla="val 15000"/>
            </a:avLst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440680"/>
            <a:ext cx="201168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会想象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63240" y="5513832"/>
            <a:ext cx="1965960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63240" y="5513832"/>
            <a:ext cx="196596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2B2926"/>
                </a:solidFill>
                <a:latin typeface="微软雅黑"/>
                <a:ea typeface="微软雅黑"/>
              </a:rPr>
              <a:t>补对话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0" y="5513832"/>
            <a:ext cx="41148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C8352B"/>
                </a:solidFill>
                <a:latin typeface="微软雅黑"/>
                <a:ea typeface="微软雅黑"/>
              </a:rPr>
              <a:t>›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40680" y="5513832"/>
            <a:ext cx="1965960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40680" y="5513832"/>
            <a:ext cx="196596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2B2926"/>
                </a:solidFill>
                <a:latin typeface="微软雅黑"/>
                <a:ea typeface="微软雅黑"/>
              </a:rPr>
              <a:t>写心里话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06640" y="5513832"/>
            <a:ext cx="41148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C8352B"/>
                </a:solidFill>
                <a:latin typeface="微软雅黑"/>
                <a:ea typeface="微软雅黑"/>
              </a:rPr>
              <a:t>›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818120" y="5513832"/>
            <a:ext cx="1965960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8120" y="5513832"/>
            <a:ext cx="196596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2B2926"/>
                </a:solidFill>
                <a:latin typeface="微软雅黑"/>
                <a:ea typeface="微软雅黑"/>
              </a:rPr>
              <a:t>补全情节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84080" y="5513832"/>
            <a:ext cx="41148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C8352B"/>
                </a:solidFill>
                <a:latin typeface="微软雅黑"/>
                <a:ea typeface="微软雅黑"/>
              </a:rPr>
              <a:t>›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195560" y="5513832"/>
            <a:ext cx="1965960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195560" y="5513832"/>
            <a:ext cx="196596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2B2926"/>
                </a:solidFill>
                <a:latin typeface="微软雅黑"/>
                <a:ea typeface="微软雅黑"/>
              </a:rPr>
              <a:t>写出新故事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545568" y="5513832"/>
            <a:ext cx="27432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400" b="1">
                <a:solidFill>
                  <a:srgbClr val="C8352B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801600" y="5513832"/>
            <a:ext cx="4663440" cy="768096"/>
          </a:xfrm>
          <a:prstGeom prst="rect">
            <a:avLst/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3030200" y="5513832"/>
            <a:ext cx="429768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《续写故事》《我来编童话》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22960" y="6629400"/>
            <a:ext cx="2011680" cy="914400"/>
          </a:xfrm>
          <a:prstGeom prst="roundRect">
            <a:avLst>
              <a:gd name="adj" fmla="val 15000"/>
            </a:avLst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2960" y="6629400"/>
            <a:ext cx="201168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会用词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63240" y="6702552"/>
            <a:ext cx="1965960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63240" y="6702552"/>
            <a:ext cx="196596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2B2926"/>
                </a:solidFill>
                <a:latin typeface="微软雅黑"/>
                <a:ea typeface="微软雅黑"/>
              </a:rPr>
              <a:t>标点语气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0" y="6702552"/>
            <a:ext cx="41148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C8352B"/>
                </a:solidFill>
                <a:latin typeface="微软雅黑"/>
                <a:ea typeface="微软雅黑"/>
              </a:rPr>
              <a:t>›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40680" y="6702552"/>
            <a:ext cx="1965960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40680" y="6702552"/>
            <a:ext cx="196596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2B2926"/>
                </a:solidFill>
                <a:latin typeface="微软雅黑"/>
                <a:ea typeface="微软雅黑"/>
              </a:rPr>
              <a:t>叠词拟声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06640" y="6702552"/>
            <a:ext cx="41148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C8352B"/>
                </a:solidFill>
                <a:latin typeface="微软雅黑"/>
                <a:ea typeface="微软雅黑"/>
              </a:rPr>
              <a:t>›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818120" y="6702552"/>
            <a:ext cx="1965960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818120" y="6702552"/>
            <a:ext cx="196596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2B2926"/>
                </a:solidFill>
                <a:latin typeface="微软雅黑"/>
                <a:ea typeface="微软雅黑"/>
              </a:rPr>
              <a:t>比喻拟人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784080" y="6702552"/>
            <a:ext cx="41148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C8352B"/>
                </a:solidFill>
                <a:latin typeface="微软雅黑"/>
                <a:ea typeface="微软雅黑"/>
              </a:rPr>
              <a:t>›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195560" y="6702552"/>
            <a:ext cx="1965960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195560" y="6702552"/>
            <a:ext cx="196596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2B2926"/>
                </a:solidFill>
                <a:latin typeface="微软雅黑"/>
                <a:ea typeface="微软雅黑"/>
              </a:rPr>
              <a:t>好词入句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545568" y="6702552"/>
            <a:ext cx="27432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400" b="1">
                <a:solidFill>
                  <a:srgbClr val="C8352B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2801600" y="6702552"/>
            <a:ext cx="4663440" cy="768096"/>
          </a:xfrm>
          <a:prstGeom prst="rect">
            <a:avLst/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3030200" y="6702552"/>
            <a:ext cx="4297680" cy="7680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《这儿真美》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22960" y="8001000"/>
            <a:ext cx="16642080" cy="1325880"/>
          </a:xfrm>
          <a:prstGeom prst="rect">
            <a:avLst/>
          </a:prstGeom>
          <a:solidFill>
            <a:srgbClr val="ED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22960" y="8001000"/>
            <a:ext cx="91440" cy="132588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371600" y="8092440"/>
            <a:ext cx="15910559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E2B3A"/>
                </a:solidFill>
                <a:latin typeface="微软雅黑"/>
                <a:ea typeface="微软雅黑"/>
              </a:rPr>
              <a:t>一年级进来，同一套能力线、同一套教法，一路写到六年级。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371600" y="8686800"/>
            <a:ext cx="15910559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7A7468"/>
                </a:solidFill>
                <a:latin typeface="微软雅黑"/>
                <a:ea typeface="微软雅黑"/>
              </a:rPr>
              <a:t>中途加入也接得上：入班前有小测评和衔接课，把前面的关键方法补齐，再并入当前进度。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384048"/>
            <a:ext cx="2011680" cy="530352"/>
          </a:xfrm>
          <a:prstGeom prst="roundRect">
            <a:avLst>
              <a:gd name="adj" fmla="val 50000"/>
            </a:avLst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2011680" cy="5303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100" b="1">
                <a:solidFill>
                  <a:srgbClr val="FFFFFF"/>
                </a:solidFill>
                <a:latin typeface="微软雅黑"/>
                <a:ea typeface="微软雅黑"/>
              </a:rPr>
              <a:t>开发任务四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87552"/>
            <a:ext cx="1481328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3800" b="1">
                <a:solidFill>
                  <a:srgbClr val="1E2B3A"/>
                </a:solidFill>
                <a:latin typeface="微软雅黑"/>
                <a:ea typeface="微软雅黑"/>
              </a:rPr>
              <a:t>读书会课件迭代：买不到的书、难上的课，做替换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38528"/>
            <a:ext cx="1600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7A7468"/>
                </a:solidFill>
                <a:latin typeface="微软雅黑"/>
                <a:ea typeface="微软雅黑"/>
              </a:rPr>
              <a:t>按加盟商在使用中的反馈，替换原有读书会课程里的两类，改过的版本统一推送更新。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1770" y="502920"/>
            <a:ext cx="1643270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9720072"/>
            <a:ext cx="16642080" cy="10972"/>
          </a:xfrm>
          <a:prstGeom prst="rect">
            <a:avLst/>
          </a:prstGeom>
          <a:solidFill>
            <a:srgbClr val="DD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9829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A7468"/>
                </a:solidFill>
                <a:latin typeface="微软雅黑"/>
                <a:ea typeface="微软雅黑"/>
              </a:rPr>
              <a:t>老约翰 · 2026.10 宣讲会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636240" y="9829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7A7468"/>
                </a:solidFill>
                <a:latin typeface="微软雅黑"/>
                <a:ea typeface="微软雅黑"/>
              </a:rPr>
              <a:t>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697480"/>
            <a:ext cx="809244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697480"/>
            <a:ext cx="128016" cy="507492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3108960"/>
            <a:ext cx="713232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4000" b="1">
                <a:solidFill>
                  <a:srgbClr val="C8352B"/>
                </a:solidFill>
                <a:latin typeface="微软雅黑"/>
                <a:ea typeface="微软雅黑"/>
              </a:rPr>
              <a:t>买不到的书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160520"/>
            <a:ext cx="6949440" cy="1371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2300" b="0">
                <a:solidFill>
                  <a:srgbClr val="2B2926"/>
                </a:solidFill>
                <a:latin typeface="微软雅黑"/>
                <a:ea typeface="微软雅黑"/>
              </a:rPr>
              <a:t>书已绝版或长期断货。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" y="5897880"/>
            <a:ext cx="6858000" cy="123444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37360" y="5897880"/>
            <a:ext cx="6400800" cy="12344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C8352B"/>
                </a:solidFill>
                <a:latin typeface="微软雅黑"/>
                <a:ea typeface="微软雅黑"/>
              </a:rPr>
              <a:t>替换　</a:t>
            </a:r>
            <a:r>
              <a:rPr sz="2400" b="1">
                <a:solidFill>
                  <a:srgbClr val="1E2B3A"/>
                </a:solidFill>
                <a:latin typeface="微软雅黑"/>
                <a:ea typeface="微软雅黑"/>
              </a:rPr>
              <a:t>换成主题相近、买得到的书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81160" y="2697480"/>
            <a:ext cx="809244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81160" y="2697480"/>
            <a:ext cx="128016" cy="5074920"/>
          </a:xfrm>
          <a:prstGeom prst="rect">
            <a:avLst/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21240" y="3108960"/>
            <a:ext cx="713232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4000" b="1">
                <a:solidFill>
                  <a:srgbClr val="1E2B3A"/>
                </a:solidFill>
                <a:latin typeface="微软雅黑"/>
                <a:ea typeface="微软雅黑"/>
              </a:rPr>
              <a:t>难上的课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4160520"/>
            <a:ext cx="6949440" cy="1371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2300" b="0">
                <a:solidFill>
                  <a:srgbClr val="2B2926"/>
                </a:solidFill>
                <a:latin typeface="微软雅黑"/>
                <a:ea typeface="微软雅黑"/>
              </a:rPr>
              <a:t>老师讲起来吃力、学生接不住，课堂效果打折扣。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921240" y="5897880"/>
            <a:ext cx="6858000" cy="123444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95560" y="5897880"/>
            <a:ext cx="6400800" cy="12344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C8352B"/>
                </a:solidFill>
                <a:latin typeface="微软雅黑"/>
                <a:ea typeface="微软雅黑"/>
              </a:rPr>
              <a:t>替换　</a:t>
            </a:r>
            <a:r>
              <a:rPr sz="2400" b="1">
                <a:solidFill>
                  <a:srgbClr val="1E2B3A"/>
                </a:solidFill>
                <a:latin typeface="微软雅黑"/>
                <a:ea typeface="微软雅黑"/>
              </a:rPr>
              <a:t>换成更好上的书目与课案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C8352B"/>
                </a:solidFill>
                <a:latin typeface="微软雅黑"/>
                <a:ea typeface="微软雅黑"/>
              </a:rPr>
              <a:t>开发计划讲完 · 看全貌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87552"/>
            <a:ext cx="1481328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E2B3A"/>
                </a:solidFill>
                <a:latin typeface="微软雅黑"/>
                <a:ea typeface="微软雅黑"/>
              </a:rPr>
              <a:t>一至六年级，阅读课、写作课都已完整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1770" y="502920"/>
            <a:ext cx="1643270" cy="5669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9720072"/>
            <a:ext cx="16642080" cy="10972"/>
          </a:xfrm>
          <a:prstGeom prst="rect">
            <a:avLst/>
          </a:prstGeom>
          <a:solidFill>
            <a:srgbClr val="DD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829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A7468"/>
                </a:solidFill>
                <a:latin typeface="微软雅黑"/>
                <a:ea typeface="微软雅黑"/>
              </a:rPr>
              <a:t>老约翰 · 2026.10 宣讲会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636240" y="9829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7A7468"/>
                </a:solidFill>
                <a:latin typeface="微软雅黑"/>
                <a:ea typeface="微软雅黑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2240280"/>
            <a:ext cx="2194560" cy="566928"/>
          </a:xfrm>
          <a:prstGeom prst="rect">
            <a:avLst/>
          </a:prstGeom>
          <a:solidFill>
            <a:srgbClr val="ED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0" y="2240280"/>
            <a:ext cx="219456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900" b="1">
                <a:solidFill>
                  <a:srgbClr val="1E2B3A"/>
                </a:solidFill>
                <a:latin typeface="微软雅黑"/>
                <a:ea typeface="微软雅黑"/>
              </a:rPr>
              <a:t>一年级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1" y="2240280"/>
            <a:ext cx="2194560" cy="566928"/>
          </a:xfrm>
          <a:prstGeom prst="rect">
            <a:avLst/>
          </a:prstGeom>
          <a:solidFill>
            <a:srgbClr val="ED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631" y="2240280"/>
            <a:ext cx="219456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900" b="1">
                <a:solidFill>
                  <a:srgbClr val="1E2B3A"/>
                </a:solidFill>
                <a:latin typeface="微软雅黑"/>
                <a:ea typeface="微软雅黑"/>
              </a:rPr>
              <a:t>二年级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67344" y="2240280"/>
            <a:ext cx="2194560" cy="566928"/>
          </a:xfrm>
          <a:prstGeom prst="rect">
            <a:avLst/>
          </a:prstGeom>
          <a:solidFill>
            <a:srgbClr val="ED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67344" y="2240280"/>
            <a:ext cx="219456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900" b="1">
                <a:solidFill>
                  <a:srgbClr val="1E2B3A"/>
                </a:solidFill>
                <a:latin typeface="微软雅黑"/>
                <a:ea typeface="微软雅黑"/>
              </a:rPr>
              <a:t>三年级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735055" y="2240280"/>
            <a:ext cx="2194560" cy="566928"/>
          </a:xfrm>
          <a:prstGeom prst="rect">
            <a:avLst/>
          </a:prstGeom>
          <a:solidFill>
            <a:srgbClr val="ED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35055" y="2240280"/>
            <a:ext cx="219456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900" b="1">
                <a:solidFill>
                  <a:srgbClr val="1E2B3A"/>
                </a:solidFill>
                <a:latin typeface="微软雅黑"/>
                <a:ea typeface="微软雅黑"/>
              </a:rPr>
              <a:t>四年级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002767" y="2240280"/>
            <a:ext cx="2194560" cy="566928"/>
          </a:xfrm>
          <a:prstGeom prst="rect">
            <a:avLst/>
          </a:prstGeom>
          <a:solidFill>
            <a:srgbClr val="ED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002767" y="2240280"/>
            <a:ext cx="219456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900" b="1">
                <a:solidFill>
                  <a:srgbClr val="1E2B3A"/>
                </a:solidFill>
                <a:latin typeface="微软雅黑"/>
                <a:ea typeface="微软雅黑"/>
              </a:rPr>
              <a:t>五年级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270480" y="2240280"/>
            <a:ext cx="2194560" cy="566928"/>
          </a:xfrm>
          <a:prstGeom prst="rect">
            <a:avLst/>
          </a:prstGeom>
          <a:solidFill>
            <a:srgbClr val="ED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270480" y="2240280"/>
            <a:ext cx="219456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1900" b="1">
                <a:solidFill>
                  <a:srgbClr val="1E2B3A"/>
                </a:solidFill>
                <a:latin typeface="微软雅黑"/>
                <a:ea typeface="微软雅黑"/>
              </a:rPr>
              <a:t>六年级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017520"/>
            <a:ext cx="29260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E2B3A"/>
                </a:solidFill>
                <a:latin typeface="微软雅黑"/>
                <a:ea typeface="微软雅黑"/>
              </a:rPr>
              <a:t>阅读课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794759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7A7468"/>
                </a:solidFill>
                <a:latin typeface="微软雅黑"/>
                <a:ea typeface="微软雅黑"/>
              </a:rPr>
              <a:t>早几年推出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526280"/>
            <a:ext cx="29260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E2B3A"/>
                </a:solidFill>
                <a:latin typeface="微软雅黑"/>
                <a:ea typeface="微软雅黑"/>
              </a:rPr>
              <a:t>写作课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3035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7A7468"/>
                </a:solidFill>
                <a:latin typeface="微软雅黑"/>
                <a:ea typeface="微软雅黑"/>
              </a:rPr>
              <a:t>一至六年级贯通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035040"/>
            <a:ext cx="29260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E2B3A"/>
                </a:solidFill>
                <a:latin typeface="微软雅黑"/>
                <a:ea typeface="微软雅黑"/>
              </a:rPr>
              <a:t>后续设想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812279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7A7468"/>
                </a:solidFill>
                <a:latin typeface="微软雅黑"/>
                <a:ea typeface="微软雅黑"/>
              </a:rPr>
              <a:t>让体系更完善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31920" y="3017520"/>
            <a:ext cx="13533119" cy="1280160"/>
          </a:xfrm>
          <a:prstGeom prst="rect">
            <a:avLst/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0" y="3017520"/>
            <a:ext cx="13167359" cy="12801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读书会深度阅读</a:t>
            </a:r>
            <a:r>
              <a:rPr sz="1800" b="1">
                <a:solidFill>
                  <a:srgbClr val="C9D2DC"/>
                </a:solidFill>
                <a:latin typeface="微软雅黑"/>
                <a:ea typeface="微软雅黑"/>
              </a:rPr>
              <a:t>　整本书阅读，一至六年级全覆盖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31920" y="4526280"/>
            <a:ext cx="4462272" cy="128016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526280"/>
            <a:ext cx="4096511" cy="12801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看图写话</a:t>
            </a:r>
          </a:p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BEBE8"/>
                </a:solidFill>
                <a:latin typeface="微软雅黑"/>
                <a:ea typeface="微软雅黑"/>
              </a:rPr>
              <a:t>一、二年级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67344" y="4526280"/>
            <a:ext cx="8997696" cy="1280160"/>
          </a:xfrm>
          <a:prstGeom prst="rect">
            <a:avLst/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50224" y="4526280"/>
            <a:ext cx="8631936" cy="12801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同步写作</a:t>
            </a:r>
            <a:r>
              <a:rPr sz="1800" b="1">
                <a:solidFill>
                  <a:srgbClr val="C9D2DC"/>
                </a:solidFill>
                <a:latin typeface="微软雅黑"/>
                <a:ea typeface="微软雅黑"/>
              </a:rPr>
              <a:t>　三至六年级，跟着统编教材单元走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31920" y="6035040"/>
            <a:ext cx="6729983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C835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0" y="6035040"/>
            <a:ext cx="6364223" cy="12801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25000"/>
              </a:lnSpc>
            </a:pPr>
            <a:r>
              <a:rPr sz="2400" b="1">
                <a:solidFill>
                  <a:srgbClr val="C8352B"/>
                </a:solidFill>
                <a:latin typeface="微软雅黑"/>
                <a:ea typeface="微软雅黑"/>
              </a:rPr>
              <a:t>小古文</a:t>
            </a:r>
          </a:p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7A7468"/>
                </a:solidFill>
                <a:latin typeface="微软雅黑"/>
                <a:ea typeface="微软雅黑"/>
              </a:rPr>
              <a:t>从教材文言篇目起步，练朗读、断句、理解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735055" y="6035040"/>
            <a:ext cx="6729983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C835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17935" y="6035040"/>
            <a:ext cx="6364223" cy="12801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25000"/>
              </a:lnSpc>
            </a:pPr>
            <a:r>
              <a:rPr sz="2400" b="1">
                <a:solidFill>
                  <a:srgbClr val="C8352B"/>
                </a:solidFill>
                <a:latin typeface="微软雅黑"/>
                <a:ea typeface="微软雅黑"/>
              </a:rPr>
              <a:t>主题阅读</a:t>
            </a:r>
          </a:p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7A7468"/>
                </a:solidFill>
                <a:latin typeface="微软雅黑"/>
                <a:ea typeface="微软雅黑"/>
              </a:rPr>
              <a:t>寒暑假集中几天，精读一本大部头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7818120"/>
            <a:ext cx="16642080" cy="1508760"/>
          </a:xfrm>
          <a:prstGeom prst="rect">
            <a:avLst/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71600" y="7818120"/>
            <a:ext cx="15910559" cy="1508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40000"/>
              </a:lnSpc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阅读课、写作课，一至六年级都已贯通；</a:t>
            </a:r>
            <a:r>
              <a:rPr sz="2500" b="1">
                <a:solidFill>
                  <a:srgbClr val="F28B7F"/>
                </a:solidFill>
                <a:latin typeface="微软雅黑"/>
                <a:ea typeface="微软雅黑"/>
              </a:rPr>
              <a:t>再加上小古文和主题阅读，就是一套完整的读写课程体系。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B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1770" y="502920"/>
            <a:ext cx="1643270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188720"/>
            <a:ext cx="8229600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0000"/>
              </a:lnSpc>
            </a:pPr>
            <a:r>
              <a:rPr sz="23000" b="1">
                <a:solidFill>
                  <a:srgbClr val="C8352B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C9D2DC"/>
                </a:solidFill>
                <a:latin typeface="微软雅黑"/>
                <a:ea typeface="微软雅黑"/>
              </a:rPr>
              <a:t>第二部分 · 下半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66360"/>
            <a:ext cx="1554480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</a:pPr>
            <a:r>
              <a:rPr sz="6400" b="1">
                <a:solidFill>
                  <a:srgbClr val="FFFFFF"/>
                </a:solidFill>
                <a:latin typeface="微软雅黑"/>
                <a:ea typeface="微软雅黑"/>
              </a:rPr>
              <a:t>自媒体运营思路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492240"/>
            <a:ext cx="146304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300" b="0">
                <a:solidFill>
                  <a:srgbClr val="C9D2DC"/>
                </a:solidFill>
                <a:latin typeface="微软雅黑"/>
                <a:ea typeface="微软雅黑"/>
              </a:rPr>
              <a:t>开发计划讲完，接下来讲宣传：先看现状，再定思路，最后落到总部与加盟馆各做什么。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7882127"/>
            <a:ext cx="237744" cy="237744"/>
          </a:xfrm>
          <a:prstGeom prst="ellipse">
            <a:avLst/>
          </a:prstGeom>
          <a:noFill/>
          <a:ln w="1587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77724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C9D2DC"/>
                </a:solidFill>
                <a:latin typeface="微软雅黑"/>
                <a:ea typeface="微软雅黑"/>
              </a:rPr>
              <a:t>后续开发任务（已讲完）</a:t>
            </a:r>
          </a:p>
        </p:txBody>
      </p:sp>
      <p:sp>
        <p:nvSpPr>
          <p:cNvPr id="9" name="Oval 8"/>
          <p:cNvSpPr/>
          <p:nvPr/>
        </p:nvSpPr>
        <p:spPr>
          <a:xfrm>
            <a:off x="6583680" y="7882127"/>
            <a:ext cx="237744" cy="237744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77724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100" b="1">
                <a:solidFill>
                  <a:srgbClr val="FFFFFF"/>
                </a:solidFill>
                <a:latin typeface="微软雅黑"/>
                <a:ea typeface="微软雅黑"/>
              </a:rPr>
              <a:t>自媒体运营思路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C8352B"/>
                </a:solidFill>
                <a:latin typeface="微软雅黑"/>
                <a:ea typeface="微软雅黑"/>
              </a:rPr>
              <a:t>自媒体运营 · 现状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87552"/>
            <a:ext cx="1481328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E2B3A"/>
                </a:solidFill>
                <a:latin typeface="微软雅黑"/>
                <a:ea typeface="微软雅黑"/>
              </a:rPr>
              <a:t>先看现状：我们和同行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38528"/>
            <a:ext cx="1600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7A7468"/>
                </a:solidFill>
                <a:latin typeface="微软雅黑"/>
                <a:ea typeface="微软雅黑"/>
              </a:rPr>
              <a:t>做法之前，先把现状看清楚。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1770" y="502920"/>
            <a:ext cx="1643270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9720072"/>
            <a:ext cx="16642080" cy="10972"/>
          </a:xfrm>
          <a:prstGeom prst="rect">
            <a:avLst/>
          </a:prstGeom>
          <a:solidFill>
            <a:srgbClr val="DD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29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A7468"/>
                </a:solidFill>
                <a:latin typeface="微软雅黑"/>
                <a:ea typeface="微软雅黑"/>
              </a:rPr>
              <a:t>老约翰 · 2026.10 宣讲会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636240" y="9829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7A7468"/>
                </a:solidFill>
                <a:latin typeface="微软雅黑"/>
                <a:ea typeface="微软雅黑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697480"/>
            <a:ext cx="8092440" cy="466344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697480"/>
            <a:ext cx="8092440" cy="109728"/>
          </a:xfrm>
          <a:prstGeom prst="rect">
            <a:avLst/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1089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E2B3A"/>
                </a:solidFill>
                <a:latin typeface="微软雅黑"/>
                <a:ea typeface="微软雅黑"/>
              </a:rPr>
              <a:t>总部目前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77639"/>
            <a:ext cx="7040880" cy="3200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2100" b="0">
                <a:solidFill>
                  <a:srgbClr val="2B2926"/>
                </a:solidFill>
                <a:latin typeface="微软雅黑"/>
                <a:ea typeface="微软雅黑"/>
              </a:rPr>
              <a:t>【待填：已有账号与平台、主要内容、更新频率、关注与互动情况】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81160" y="2697480"/>
            <a:ext cx="8092440" cy="466344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281160" y="2697480"/>
            <a:ext cx="8092440" cy="109728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29800" y="31089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C8352B"/>
                </a:solidFill>
                <a:latin typeface="微软雅黑"/>
                <a:ea typeface="微软雅黑"/>
              </a:rPr>
              <a:t>同行现状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29800" y="3977639"/>
            <a:ext cx="7040880" cy="3200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  <a:spcAft>
                <a:spcPts val="1000"/>
              </a:spcAft>
            </a:pPr>
            <a:r>
              <a:rPr sz="2100" b="0">
                <a:solidFill>
                  <a:srgbClr val="2B2926"/>
                </a:solidFill>
                <a:latin typeface="微软雅黑"/>
                <a:ea typeface="微软雅黑"/>
              </a:rPr>
              <a:t>不少同行把直播当作主要的引流手段：直播公开课、直播带课，再配合短视频投放。</a:t>
            </a:r>
          </a:p>
          <a:p>
            <a:pPr algn="l">
              <a:lnSpc>
                <a:spcPct val="155000"/>
              </a:lnSpc>
            </a:pPr>
            <a:r>
              <a:rPr sz="2100" b="0">
                <a:solidFill>
                  <a:srgbClr val="2B2926"/>
                </a:solidFill>
                <a:latin typeface="微软雅黑"/>
                <a:ea typeface="微软雅黑"/>
              </a:rPr>
              <a:t>这种做法要有稳定的主播、持续的投放和专门的运营团队。【待填：总部掌握的具体情况】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7726679"/>
            <a:ext cx="16642080" cy="1280160"/>
          </a:xfrm>
          <a:prstGeom prst="rect">
            <a:avLst/>
          </a:prstGeom>
          <a:solidFill>
            <a:srgbClr val="ED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7726679"/>
            <a:ext cx="91440" cy="128016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7726679"/>
            <a:ext cx="15544800" cy="12801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1E2B3A"/>
                </a:solidFill>
                <a:latin typeface="微软雅黑"/>
                <a:ea typeface="微软雅黑"/>
              </a:rPr>
              <a:t>同行做得热闹，不等于适合我们。关键看投入和回报。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C8352B"/>
                </a:solidFill>
                <a:latin typeface="微软雅黑"/>
                <a:ea typeface="微软雅黑"/>
              </a:rPr>
              <a:t>自媒体运营 · 思路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87552"/>
            <a:ext cx="1481328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600" b="1">
                <a:solidFill>
                  <a:srgbClr val="1E2B3A"/>
                </a:solidFill>
                <a:latin typeface="微软雅黑"/>
                <a:ea typeface="微软雅黑"/>
              </a:rPr>
              <a:t>以做好内容为主，做好服务、做好口碑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1770" y="502920"/>
            <a:ext cx="1643270" cy="5669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9720072"/>
            <a:ext cx="16642080" cy="10972"/>
          </a:xfrm>
          <a:prstGeom prst="rect">
            <a:avLst/>
          </a:prstGeom>
          <a:solidFill>
            <a:srgbClr val="DD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829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A7468"/>
                </a:solidFill>
                <a:latin typeface="微软雅黑"/>
                <a:ea typeface="微软雅黑"/>
              </a:rPr>
              <a:t>老约翰 · 2026.10 宣讲会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636240" y="9829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7A7468"/>
                </a:solidFill>
                <a:latin typeface="微软雅黑"/>
                <a:ea typeface="微软雅黑"/>
              </a:rPr>
              <a:t>14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743200"/>
            <a:ext cx="2651760" cy="265176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743200"/>
            <a:ext cx="2651760" cy="2651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内容</a:t>
            </a:r>
          </a:p>
        </p:txBody>
      </p:sp>
      <p:sp>
        <p:nvSpPr>
          <p:cNvPr id="11" name="Oval 10"/>
          <p:cNvSpPr/>
          <p:nvPr/>
        </p:nvSpPr>
        <p:spPr>
          <a:xfrm>
            <a:off x="3840480" y="2743200"/>
            <a:ext cx="2651760" cy="2651760"/>
          </a:xfrm>
          <a:prstGeom prst="ellipse">
            <a:avLst/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0" y="2743200"/>
            <a:ext cx="2651760" cy="2651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服务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0" y="2743200"/>
            <a:ext cx="2651760" cy="2651760"/>
          </a:xfrm>
          <a:prstGeom prst="ellipse">
            <a:avLst/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2743200"/>
            <a:ext cx="2651760" cy="2651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口碑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2743200"/>
            <a:ext cx="7223760" cy="2926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50000"/>
              </a:lnSpc>
            </a:pPr>
            <a:r>
              <a:rPr sz="2600" b="1">
                <a:solidFill>
                  <a:srgbClr val="1E2B3A"/>
                </a:solidFill>
                <a:latin typeface="微软雅黑"/>
                <a:ea typeface="微软雅黑"/>
              </a:rPr>
              <a:t>总部目前不具备做直播引流的条件，投入大、性价比不高，现阶段不做。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035040"/>
            <a:ext cx="16642080" cy="10972"/>
          </a:xfrm>
          <a:prstGeom prst="rect">
            <a:avLst/>
          </a:prstGeom>
          <a:solidFill>
            <a:srgbClr val="DD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400800"/>
            <a:ext cx="16642080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2700" b="0">
                <a:solidFill>
                  <a:srgbClr val="2B2926"/>
                </a:solidFill>
                <a:latin typeface="微软雅黑"/>
                <a:ea typeface="微软雅黑"/>
              </a:rPr>
              <a:t>把力气放在内容上：读书会深度阅读课、同步写作课本身做扎实，每次课后的服务做到位，家长认可了，口碑自然会传开。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C8352B"/>
                </a:solidFill>
                <a:latin typeface="微软雅黑"/>
                <a:ea typeface="微软雅黑"/>
              </a:rPr>
              <a:t>自媒体运营 · 落点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87552"/>
            <a:ext cx="1481328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E2B3A"/>
                </a:solidFill>
                <a:latin typeface="微软雅黑"/>
                <a:ea typeface="微软雅黑"/>
              </a:rPr>
              <a:t>内容、服务、口碑，分别落在哪里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38528"/>
            <a:ext cx="1600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7A7468"/>
                </a:solidFill>
                <a:latin typeface="微软雅黑"/>
                <a:ea typeface="微软雅黑"/>
              </a:rPr>
              <a:t>总部出内容，加盟馆在本地用好；读书会与同步写作两条课程线都覆盖。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1770" y="502920"/>
            <a:ext cx="1643270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9720072"/>
            <a:ext cx="16642080" cy="10972"/>
          </a:xfrm>
          <a:prstGeom prst="rect">
            <a:avLst/>
          </a:prstGeom>
          <a:solidFill>
            <a:srgbClr val="DD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29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A7468"/>
                </a:solidFill>
                <a:latin typeface="微软雅黑"/>
                <a:ea typeface="微软雅黑"/>
              </a:rPr>
              <a:t>老约翰 · 2026.10 宣讲会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636240" y="9829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7A7468"/>
                </a:solidFill>
                <a:latin typeface="微软雅黑"/>
                <a:ea typeface="微软雅黑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651760"/>
            <a:ext cx="8092440" cy="251460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0175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C8352B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2926079"/>
            <a:ext cx="59436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E2B3A"/>
                </a:solidFill>
                <a:latin typeface="微软雅黑"/>
                <a:ea typeface="微软雅黑"/>
              </a:rPr>
              <a:t>做好内容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3657600"/>
            <a:ext cx="6400800" cy="1371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2B2926"/>
                </a:solidFill>
                <a:latin typeface="微软雅黑"/>
                <a:ea typeface="微软雅黑"/>
              </a:rPr>
              <a:t>读书会、同步写作两条课程线都做扎实。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81160" y="2651760"/>
            <a:ext cx="8092440" cy="251460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29800" y="30175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C8352B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52760" y="2926079"/>
            <a:ext cx="59436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E2B3A"/>
                </a:solidFill>
                <a:latin typeface="微软雅黑"/>
                <a:ea typeface="微软雅黑"/>
              </a:rPr>
              <a:t>做好服务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3657600"/>
            <a:ext cx="6400800" cy="1371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2B2926"/>
                </a:solidFill>
                <a:latin typeface="微软雅黑"/>
                <a:ea typeface="微软雅黑"/>
              </a:rPr>
              <a:t>每次课后有东西交到家长手上：读书会有阅读单与课后反馈，写作课有孩子的成稿、点评卡、家长一页纸。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486400"/>
            <a:ext cx="8092440" cy="251460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58521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C8352B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5760720"/>
            <a:ext cx="59436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E2B3A"/>
                </a:solidFill>
                <a:latin typeface="微软雅黑"/>
                <a:ea typeface="微软雅黑"/>
              </a:rPr>
              <a:t>做好口碑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6492240"/>
            <a:ext cx="6400800" cy="1371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2B2926"/>
                </a:solidFill>
                <a:latin typeface="微软雅黑"/>
                <a:ea typeface="微软雅黑"/>
              </a:rPr>
              <a:t>家长看到孩子读得更深、写得更好，愿意向身边人推荐。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81160" y="5486400"/>
            <a:ext cx="8092440" cy="251460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29800" y="58521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C8352B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52760" y="5760720"/>
            <a:ext cx="59436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E2B3A"/>
                </a:solidFill>
                <a:latin typeface="微软雅黑"/>
                <a:ea typeface="微软雅黑"/>
              </a:rPr>
              <a:t>总部与加盟馆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6492240"/>
            <a:ext cx="6400800" cy="1371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2B2926"/>
                </a:solidFill>
                <a:latin typeface="微软雅黑"/>
                <a:ea typeface="微软雅黑"/>
              </a:rPr>
              <a:t>总部为两条课程线统一出品素材，加盟馆在本地家长群与账号使用。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8503920"/>
            <a:ext cx="4572000" cy="640080"/>
          </a:xfrm>
          <a:prstGeom prst="roundRect">
            <a:avLst>
              <a:gd name="adj" fmla="val 50000"/>
            </a:avLst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8503920"/>
            <a:ext cx="4572000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直播引流：现阶段不做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B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1770" y="502920"/>
            <a:ext cx="1643270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188720"/>
            <a:ext cx="8229600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0000"/>
              </a:lnSpc>
            </a:pPr>
            <a:r>
              <a:rPr sz="23000" b="1">
                <a:solidFill>
                  <a:srgbClr val="C8352B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C9D2DC"/>
                </a:solidFill>
                <a:latin typeface="微软雅黑"/>
                <a:ea typeface="微软雅黑"/>
              </a:rPr>
              <a:t>第三部分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66360"/>
            <a:ext cx="1554480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</a:pPr>
            <a:r>
              <a:rPr sz="6400" b="1">
                <a:solidFill>
                  <a:srgbClr val="FFFFFF"/>
                </a:solidFill>
                <a:latin typeface="微软雅黑"/>
                <a:ea typeface="微软雅黑"/>
              </a:rPr>
              <a:t>小学语文教育与市场变化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492240"/>
            <a:ext cx="146304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300" b="0">
                <a:solidFill>
                  <a:srgbClr val="C9D2DC"/>
                </a:solidFill>
                <a:latin typeface="微软雅黑"/>
                <a:ea typeface="微软雅黑"/>
              </a:rPr>
              <a:t>新课标、新教材把阅读和写作推到台前——对我们这类读写机构，是结构性利好。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C8352B"/>
                </a:solidFill>
                <a:latin typeface="微软雅黑"/>
                <a:ea typeface="微软雅黑"/>
              </a:rPr>
              <a:t>课标与教材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87552"/>
            <a:ext cx="1481328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E2B3A"/>
                </a:solidFill>
                <a:latin typeface="微软雅黑"/>
                <a:ea typeface="微软雅黑"/>
              </a:rPr>
              <a:t>这几年，小学语文发生了什么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38528"/>
            <a:ext cx="1600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7A7468"/>
                </a:solidFill>
                <a:latin typeface="微软雅黑"/>
                <a:ea typeface="微软雅黑"/>
              </a:rPr>
              <a:t>课标先更新，教材跟着换，最后落到每一个单元的课堂上。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1770" y="502920"/>
            <a:ext cx="1643270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9720072"/>
            <a:ext cx="16642080" cy="10972"/>
          </a:xfrm>
          <a:prstGeom prst="rect">
            <a:avLst/>
          </a:prstGeom>
          <a:solidFill>
            <a:srgbClr val="DD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29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A7468"/>
                </a:solidFill>
                <a:latin typeface="微软雅黑"/>
                <a:ea typeface="微软雅黑"/>
              </a:rPr>
              <a:t>老约翰 · 2026.10 宣讲会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636240" y="9829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7A7468"/>
                </a:solidFill>
                <a:latin typeface="微软雅黑"/>
                <a:ea typeface="微软雅黑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3703320"/>
            <a:ext cx="15910559" cy="54864"/>
          </a:xfrm>
          <a:prstGeom prst="rect">
            <a:avLst/>
          </a:prstGeom>
          <a:solidFill>
            <a:srgbClr val="DD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5840" y="3502152"/>
            <a:ext cx="457200" cy="45720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43400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C8352B"/>
                </a:solidFill>
                <a:latin typeface="微软雅黑"/>
                <a:ea typeface="微软雅黑"/>
              </a:rPr>
              <a:t>2022 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20640"/>
            <a:ext cx="3977639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100" b="0">
                <a:solidFill>
                  <a:srgbClr val="2B2926"/>
                </a:solidFill>
                <a:latin typeface="微软雅黑"/>
                <a:ea typeface="微软雅黑"/>
              </a:rPr>
              <a:t>《义务教育语文课程标准（2022 年版）》颁布</a:t>
            </a:r>
          </a:p>
        </p:txBody>
      </p:sp>
      <p:sp>
        <p:nvSpPr>
          <p:cNvPr id="14" name="Oval 13"/>
          <p:cNvSpPr/>
          <p:nvPr/>
        </p:nvSpPr>
        <p:spPr>
          <a:xfrm>
            <a:off x="5230368" y="3502152"/>
            <a:ext cx="457200" cy="45720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7488" y="4343400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C8352B"/>
                </a:solidFill>
                <a:latin typeface="微软雅黑"/>
                <a:ea typeface="微软雅黑"/>
              </a:rPr>
              <a:t>2024 年秋起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488" y="5120640"/>
            <a:ext cx="3977639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100" b="0">
                <a:solidFill>
                  <a:srgbClr val="2B2926"/>
                </a:solidFill>
                <a:latin typeface="微软雅黑"/>
                <a:ea typeface="微软雅黑"/>
              </a:rPr>
              <a:t>统编教材依据新课标修订，一年级率先启用，逐年换新</a:t>
            </a:r>
          </a:p>
        </p:txBody>
      </p:sp>
      <p:sp>
        <p:nvSpPr>
          <p:cNvPr id="17" name="Oval 16"/>
          <p:cNvSpPr/>
          <p:nvPr/>
        </p:nvSpPr>
        <p:spPr>
          <a:xfrm>
            <a:off x="9454896" y="3502152"/>
            <a:ext cx="457200" cy="45720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72016" y="4343400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C8352B"/>
                </a:solidFill>
                <a:latin typeface="微软雅黑"/>
                <a:ea typeface="微软雅黑"/>
              </a:rPr>
              <a:t>2026 年秋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2016" y="5120640"/>
            <a:ext cx="3977639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100" b="0">
                <a:solidFill>
                  <a:srgbClr val="2B2926"/>
                </a:solidFill>
                <a:latin typeface="微软雅黑"/>
                <a:ea typeface="微软雅黑"/>
              </a:rPr>
              <a:t>四、五、六年级换用新教材，义务教育全学段完成替换</a:t>
            </a:r>
          </a:p>
        </p:txBody>
      </p:sp>
      <p:sp>
        <p:nvSpPr>
          <p:cNvPr id="20" name="Oval 19"/>
          <p:cNvSpPr/>
          <p:nvPr/>
        </p:nvSpPr>
        <p:spPr>
          <a:xfrm>
            <a:off x="13679424" y="3502152"/>
            <a:ext cx="457200" cy="457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3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496544" y="4343400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7A7468"/>
                </a:solidFill>
                <a:latin typeface="微软雅黑"/>
                <a:ea typeface="微软雅黑"/>
              </a:rPr>
              <a:t>接下来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96544" y="5120640"/>
            <a:ext cx="3977639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100" b="0">
                <a:solidFill>
                  <a:srgbClr val="2B2926"/>
                </a:solidFill>
                <a:latin typeface="微软雅黑"/>
                <a:ea typeface="微软雅黑"/>
              </a:rPr>
              <a:t>下册新版目录待发布，四至六年级下册已确定多个单元有变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7726679"/>
            <a:ext cx="16642080" cy="1280160"/>
          </a:xfrm>
          <a:prstGeom prst="rect">
            <a:avLst/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0" y="7726679"/>
            <a:ext cx="15544800" cy="12801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统编教材使用以来的首次大修：不是换几篇课文，而是单元、篇目、习作与学习任务的系统调整。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C8352B"/>
                </a:solidFill>
                <a:latin typeface="微软雅黑"/>
                <a:ea typeface="微软雅黑"/>
              </a:rPr>
              <a:t>新教材的方向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87552"/>
            <a:ext cx="1481328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E2B3A"/>
                </a:solidFill>
                <a:latin typeface="微软雅黑"/>
                <a:ea typeface="微软雅黑"/>
              </a:rPr>
              <a:t>新教材的重点，落在阅读和写作上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38528"/>
            <a:ext cx="1600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7A7468"/>
                </a:solidFill>
                <a:latin typeface="微软雅黑"/>
                <a:ea typeface="微软雅黑"/>
              </a:rPr>
              <a:t>这一轮改版的几条趋势，几乎都指向读和写。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1770" y="502920"/>
            <a:ext cx="1643270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9720072"/>
            <a:ext cx="16642080" cy="10972"/>
          </a:xfrm>
          <a:prstGeom prst="rect">
            <a:avLst/>
          </a:prstGeom>
          <a:solidFill>
            <a:srgbClr val="DD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29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A7468"/>
                </a:solidFill>
                <a:latin typeface="微软雅黑"/>
                <a:ea typeface="微软雅黑"/>
              </a:rPr>
              <a:t>老约翰 · 2026.10 宣讲会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636240" y="9829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7A7468"/>
                </a:solidFill>
                <a:latin typeface="微软雅黑"/>
                <a:ea typeface="微软雅黑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697480"/>
            <a:ext cx="3950208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697480"/>
            <a:ext cx="3950208" cy="109728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0632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C8352B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749039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500" b="1">
                <a:solidFill>
                  <a:srgbClr val="1E2B3A"/>
                </a:solidFill>
                <a:latin typeface="微软雅黑"/>
                <a:ea typeface="微软雅黑"/>
              </a:rPr>
              <a:t>阅读地位提升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26280"/>
            <a:ext cx="3246120" cy="2651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900" b="0">
                <a:solidFill>
                  <a:srgbClr val="2B2926"/>
                </a:solidFill>
                <a:latin typeface="微软雅黑"/>
                <a:ea typeface="微软雅黑"/>
              </a:rPr>
              <a:t>整本书阅读要求提高，快乐读书吧分量加重；高年级更多训练信息整合、逻辑和思辨。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47488" y="2697480"/>
            <a:ext cx="3950208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47488" y="2697480"/>
            <a:ext cx="3950208" cy="109728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248" y="30632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C8352B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13248" y="3749039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500" b="1">
                <a:solidFill>
                  <a:srgbClr val="1E2B3A"/>
                </a:solidFill>
                <a:latin typeface="微软雅黑"/>
                <a:ea typeface="微软雅黑"/>
              </a:rPr>
              <a:t>习作回到真实表达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13248" y="4526280"/>
            <a:ext cx="3246120" cy="2651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900" b="0">
                <a:solidFill>
                  <a:srgbClr val="2B2926"/>
                </a:solidFill>
                <a:latin typeface="微软雅黑"/>
                <a:ea typeface="微软雅黑"/>
              </a:rPr>
              <a:t>多个习作换题或移位，新题贴近真实生活，套模板、背范文的收益在下降。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72016" y="2697480"/>
            <a:ext cx="3950208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72016" y="2697480"/>
            <a:ext cx="3950208" cy="109728"/>
          </a:xfrm>
          <a:prstGeom prst="rect">
            <a:avLst/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37776" y="30632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E2B3A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37776" y="3749039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500" b="1">
                <a:solidFill>
                  <a:srgbClr val="1E2B3A"/>
                </a:solidFill>
                <a:latin typeface="微软雅黑"/>
                <a:ea typeface="微软雅黑"/>
              </a:rPr>
              <a:t>传统文化加强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37776" y="4526280"/>
            <a:ext cx="3246120" cy="2651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900" b="0">
                <a:solidFill>
                  <a:srgbClr val="2B2926"/>
                </a:solidFill>
                <a:latin typeface="微软雅黑"/>
                <a:ea typeface="微软雅黑"/>
              </a:rPr>
              <a:t>新建“中国的世界文化遗产”单元，文言文篇目调整，从孩子熟悉的故事入门。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496544" y="2697480"/>
            <a:ext cx="3950208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496544" y="2697480"/>
            <a:ext cx="3950208" cy="109728"/>
          </a:xfrm>
          <a:prstGeom prst="rect">
            <a:avLst/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862304" y="30632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E2B3A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62304" y="3749039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500" b="1">
                <a:solidFill>
                  <a:srgbClr val="1E2B3A"/>
                </a:solidFill>
                <a:latin typeface="微软雅黑"/>
                <a:ea typeface="微软雅黑"/>
              </a:rPr>
              <a:t>科学与想象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2304" y="4526280"/>
            <a:ext cx="3246120" cy="2651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900" b="0">
                <a:solidFill>
                  <a:srgbClr val="2B2926"/>
                </a:solidFill>
                <a:latin typeface="微软雅黑"/>
                <a:ea typeface="微软雅黑"/>
              </a:rPr>
              <a:t>航天、科技题材进入课本，科普与说明性文本应当纳入课外阅读。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7726679"/>
            <a:ext cx="16642080" cy="1280160"/>
          </a:xfrm>
          <a:prstGeom prst="rect">
            <a:avLst/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7726679"/>
            <a:ext cx="15544800" cy="12801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C9D2DC"/>
                </a:solidFill>
                <a:latin typeface="微软雅黑"/>
                <a:ea typeface="微软雅黑"/>
              </a:rPr>
              <a:t>从“教课文”走向“育素养”：</a:t>
            </a: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阅读为本、读写并重、文化为魂。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C8352B"/>
                </a:solidFill>
                <a:latin typeface="微软雅黑"/>
                <a:ea typeface="微软雅黑"/>
              </a:rPr>
              <a:t>对我们意味着什么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87552"/>
            <a:ext cx="1481328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E2B3A"/>
                </a:solidFill>
                <a:latin typeface="微软雅黑"/>
                <a:ea typeface="微软雅黑"/>
              </a:rPr>
              <a:t>对我们这类读写机构，这是结构性利好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1770" y="502920"/>
            <a:ext cx="1643270" cy="5669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9720072"/>
            <a:ext cx="16642080" cy="10972"/>
          </a:xfrm>
          <a:prstGeom prst="rect">
            <a:avLst/>
          </a:prstGeom>
          <a:solidFill>
            <a:srgbClr val="DD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829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A7468"/>
                </a:solidFill>
                <a:latin typeface="微软雅黑"/>
                <a:ea typeface="微软雅黑"/>
              </a:rPr>
              <a:t>老约翰 · 2026.10 宣讲会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636240" y="9829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7A7468"/>
                </a:solidFill>
                <a:latin typeface="微软雅黑"/>
                <a:ea typeface="微软雅黑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240280"/>
            <a:ext cx="8092440" cy="269748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240280"/>
            <a:ext cx="128016" cy="269748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2514600"/>
            <a:ext cx="71323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C8352B"/>
                </a:solidFill>
                <a:latin typeface="微软雅黑"/>
                <a:ea typeface="微软雅黑"/>
              </a:rPr>
              <a:t>读书会深度阅读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898648"/>
            <a:ext cx="713232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1E2B3A"/>
                </a:solidFill>
                <a:latin typeface="微软雅黑"/>
                <a:ea typeface="微软雅黑"/>
              </a:rPr>
              <a:t>整本书阅读被推到台前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566160"/>
            <a:ext cx="717804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2B2926"/>
                </a:solidFill>
                <a:latin typeface="微软雅黑"/>
                <a:ea typeface="微软雅黑"/>
              </a:rPr>
              <a:t>整本书阅读要求提高、快乐读书吧持续强化，读书会与教材导向正面重合，这是“为什么要上阅读课”最有力的官方依据。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81160" y="2240280"/>
            <a:ext cx="8092440" cy="269748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281160" y="2240280"/>
            <a:ext cx="128016" cy="269748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29800" y="2514600"/>
            <a:ext cx="71323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C8352B"/>
                </a:solidFill>
                <a:latin typeface="微软雅黑"/>
                <a:ea typeface="微软雅黑"/>
              </a:rPr>
              <a:t>同步写作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29800" y="2898648"/>
            <a:ext cx="713232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1E2B3A"/>
                </a:solidFill>
                <a:latin typeface="微软雅黑"/>
                <a:ea typeface="微软雅黑"/>
              </a:rPr>
              <a:t>习作跟着新教材重排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9800" y="3566160"/>
            <a:ext cx="717804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2B2926"/>
                </a:solidFill>
                <a:latin typeface="微软雅黑"/>
                <a:ea typeface="微软雅黑"/>
              </a:rPr>
              <a:t>新题没有历年范文可背，写真实的事、真实的感受才拉得开差距；跟着单元、当堂写成一篇，正对这个需求。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166360"/>
            <a:ext cx="8092440" cy="269748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5166360"/>
            <a:ext cx="128016" cy="2697480"/>
          </a:xfrm>
          <a:prstGeom prst="rect">
            <a:avLst/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440680"/>
            <a:ext cx="71323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7A7468"/>
                </a:solidFill>
                <a:latin typeface="微软雅黑"/>
                <a:ea typeface="微软雅黑"/>
              </a:rPr>
              <a:t>后续课程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824728"/>
            <a:ext cx="713232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1E2B3A"/>
                </a:solidFill>
                <a:latin typeface="微软雅黑"/>
                <a:ea typeface="微软雅黑"/>
              </a:rPr>
              <a:t>文言文与传统文化需求上升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6492240"/>
            <a:ext cx="717804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2B2926"/>
                </a:solidFill>
                <a:latin typeface="微软雅黑"/>
                <a:ea typeface="微软雅黑"/>
              </a:rPr>
              <a:t>文言篇目调整、世界文化遗产单元新建，小古文、文化主题读写有了明确的教材抓手。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81160" y="5166360"/>
            <a:ext cx="8092440" cy="269748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81160" y="5166360"/>
            <a:ext cx="128016" cy="2697480"/>
          </a:xfrm>
          <a:prstGeom prst="rect">
            <a:avLst/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9800" y="5440680"/>
            <a:ext cx="71323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7A7468"/>
                </a:solidFill>
                <a:latin typeface="微软雅黑"/>
                <a:ea typeface="微软雅黑"/>
              </a:rPr>
              <a:t>竞品格局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5824728"/>
            <a:ext cx="713232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1E2B3A"/>
                </a:solidFill>
                <a:latin typeface="微软雅黑"/>
                <a:ea typeface="微软雅黑"/>
              </a:rPr>
              <a:t>素养导向下，竞品在分化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6492240"/>
            <a:ext cx="717804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2B2926"/>
                </a:solidFill>
                <a:latin typeface="微软雅黑"/>
                <a:ea typeface="微软雅黑"/>
              </a:rPr>
              <a:t>机械刷题类产品与新教材的错位越来越明显，以读促写、素养培养类机构的价值相应提升。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8229600"/>
            <a:ext cx="16642080" cy="1097280"/>
          </a:xfrm>
          <a:prstGeom prst="rect">
            <a:avLst/>
          </a:prstGeom>
          <a:solidFill>
            <a:srgbClr val="ED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2960" y="8229600"/>
            <a:ext cx="91440" cy="109728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8229600"/>
            <a:ext cx="15910559" cy="10972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</a:pPr>
            <a:r>
              <a:rPr sz="2100" b="1">
                <a:solidFill>
                  <a:srgbClr val="1E2B3A"/>
                </a:solidFill>
                <a:latin typeface="微软雅黑"/>
                <a:ea typeface="微软雅黑"/>
              </a:rPr>
              <a:t>对外表达从“补差提分”转向“与新教材同频的读写素养培养”，用教材变化本身说明课程的价值。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C8352B"/>
                </a:solidFill>
                <a:latin typeface="微软雅黑"/>
                <a:ea typeface="微软雅黑"/>
              </a:rPr>
              <a:t>家长需求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87552"/>
            <a:ext cx="1481328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E2B3A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1770" y="502920"/>
            <a:ext cx="1643270" cy="5669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9720072"/>
            <a:ext cx="16642080" cy="10972"/>
          </a:xfrm>
          <a:prstGeom prst="rect">
            <a:avLst/>
          </a:prstGeom>
          <a:solidFill>
            <a:srgbClr val="DD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829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A7468"/>
                </a:solidFill>
                <a:latin typeface="微软雅黑"/>
                <a:ea typeface="微软雅黑"/>
              </a:rPr>
              <a:t>老约翰 · 2026.10 宣讲会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636240" y="9829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7A7468"/>
                </a:solidFill>
                <a:latin typeface="微软雅黑"/>
                <a:ea typeface="微软雅黑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34640"/>
            <a:ext cx="1645920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1E2B3A"/>
                </a:solidFill>
                <a:latin typeface="微软雅黑"/>
                <a:ea typeface="微软雅黑"/>
              </a:rPr>
              <a:t>家长要的，是读得深、写得出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434840"/>
            <a:ext cx="1097280" cy="82296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937760"/>
            <a:ext cx="16093440" cy="3474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5000"/>
              </a:lnSpc>
            </a:pPr>
            <a:r>
              <a:rPr sz="2700" b="0">
                <a:solidFill>
                  <a:srgbClr val="2B2926"/>
                </a:solidFill>
                <a:latin typeface="微软雅黑"/>
                <a:ea typeface="微软雅黑"/>
              </a:rPr>
              <a:t>只读节选、只做题的方式，已经跟不上新教材。家长开始关心：孩子能不能读完、读透一本书，读到的东西能不能变成自己笔下的文字。在校内习作与升学压力之下，单元习作与作文仍是最直接的衡量标准。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C8352B"/>
                </a:solidFill>
                <a:latin typeface="微软雅黑"/>
                <a:ea typeface="微软雅黑"/>
              </a:rPr>
              <a:t>对我们意味着什么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87552"/>
            <a:ext cx="1481328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E2B3A"/>
                </a:solidFill>
                <a:latin typeface="微软雅黑"/>
                <a:ea typeface="微软雅黑"/>
              </a:rPr>
              <a:t>变化之下，我们要做好的三件事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1770" y="502920"/>
            <a:ext cx="1643270" cy="5669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9720072"/>
            <a:ext cx="16642080" cy="10972"/>
          </a:xfrm>
          <a:prstGeom prst="rect">
            <a:avLst/>
          </a:prstGeom>
          <a:solidFill>
            <a:srgbClr val="DD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829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A7468"/>
                </a:solidFill>
                <a:latin typeface="微软雅黑"/>
                <a:ea typeface="微软雅黑"/>
              </a:rPr>
              <a:t>老约翰 · 2026.10 宣讲会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636240" y="9829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7A7468"/>
                </a:solidFill>
                <a:latin typeface="微软雅黑"/>
                <a:ea typeface="微软雅黑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743200"/>
            <a:ext cx="5257800" cy="5760720"/>
          </a:xfrm>
          <a:prstGeom prst="rect">
            <a:avLst/>
          </a:prstGeom>
          <a:solidFill>
            <a:srgbClr val="1E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315468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C8352B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4846320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招生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25880" y="5760720"/>
            <a:ext cx="731520" cy="64008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6126480"/>
            <a:ext cx="4297680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C9D2DC"/>
                </a:solidFill>
                <a:latin typeface="微软雅黑"/>
                <a:ea typeface="微软雅黑"/>
              </a:rPr>
              <a:t>读书会和同步写作都能在新教材里找到依据：整本书阅读、单元习作，家长一听就懂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2743200"/>
            <a:ext cx="5257800" cy="576072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0" y="315468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C8352B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4846320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4000" b="1">
                <a:solidFill>
                  <a:srgbClr val="1E2B3A"/>
                </a:solidFill>
                <a:latin typeface="微软雅黑"/>
                <a:ea typeface="微软雅黑"/>
              </a:rPr>
              <a:t>推广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0" y="5760720"/>
            <a:ext cx="731520" cy="64008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6126480"/>
            <a:ext cx="4297680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2B2926"/>
                </a:solidFill>
                <a:latin typeface="微软雅黑"/>
                <a:ea typeface="微软雅黑"/>
              </a:rPr>
              <a:t>从“补差提分”转向“与新教材同频的读写素养”，用教材变化说明课程价值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070080" y="2743200"/>
            <a:ext cx="5257800" cy="5760720"/>
          </a:xfrm>
          <a:prstGeom prst="rect">
            <a:avLst/>
          </a:prstGeom>
          <a:solidFill>
            <a:srgbClr val="FFFFFF"/>
          </a:solidFill>
          <a:ln w="15875">
            <a:solidFill>
              <a:srgbClr val="DD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573000" y="315468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C8352B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73000" y="4846320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4000" b="1">
                <a:solidFill>
                  <a:srgbClr val="1E2B3A"/>
                </a:solidFill>
                <a:latin typeface="微软雅黑"/>
                <a:ea typeface="微软雅黑"/>
              </a:rPr>
              <a:t>教学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73000" y="5760720"/>
            <a:ext cx="731520" cy="64008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573000" y="6126480"/>
            <a:ext cx="4297680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2B2926"/>
                </a:solidFill>
                <a:latin typeface="微软雅黑"/>
                <a:ea typeface="微软雅黑"/>
              </a:rPr>
              <a:t>读书会读透一本书，同步写作当堂写好一篇，两条线都跟着新教材走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B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743200"/>
            <a:ext cx="4754880" cy="164043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686800" y="4892040"/>
            <a:ext cx="914400" cy="73152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5349240"/>
            <a:ext cx="1828800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读写并重，正当其时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263640"/>
            <a:ext cx="182880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2400" b="0">
                <a:solidFill>
                  <a:srgbClr val="C9D2DC"/>
                </a:solidFill>
                <a:latin typeface="微软雅黑"/>
                <a:ea typeface="微软雅黑"/>
              </a:rPr>
              <a:t>阅读 · 思辨 · 表达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7863840"/>
            <a:ext cx="182880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2400" b="0">
                <a:solidFill>
                  <a:srgbClr val="C9D2DC"/>
                </a:solidFill>
                <a:latin typeface="微软雅黑"/>
                <a:ea typeface="微软雅黑"/>
              </a:rPr>
              <a:t>谢谢各位伙伴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