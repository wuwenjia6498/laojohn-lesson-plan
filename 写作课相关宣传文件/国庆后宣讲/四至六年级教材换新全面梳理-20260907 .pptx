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21.pn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4" Type="http://schemas.openxmlformats.org/officeDocument/2006/relationships/notesSlide" Target="../notesSlides/notesSlide16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image" Target="../media/image14.png"/><Relationship Id="rId2" Type="http://schemas.openxmlformats.org/officeDocument/2006/relationships/image" Target="../media/image20.png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image" Target="../media/image3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19.png"/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image" Target="../media/image26.png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4" Type="http://schemas.openxmlformats.org/officeDocument/2006/relationships/notesSlide" Target="../notesSlides/notesSlide20.xml"/><Relationship Id="rId23" Type="http://schemas.openxmlformats.org/officeDocument/2006/relationships/slideLayout" Target="../slideLayouts/slideLayout1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image" Target="../media/image18.png"/><Relationship Id="rId2" Type="http://schemas.openxmlformats.org/officeDocument/2006/relationships/tags" Target="../tags/tag21.xml"/><Relationship Id="rId19" Type="http://schemas.openxmlformats.org/officeDocument/2006/relationships/tags" Target="../tags/tag36.xml"/><Relationship Id="rId18" Type="http://schemas.openxmlformats.org/officeDocument/2006/relationships/tags" Target="../tags/tag35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image" Target="../media/image27.png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image" Target="../media/image28.png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1" Type="http://schemas.openxmlformats.org/officeDocument/2006/relationships/notesSlide" Target="../notesSlides/notesSlide22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39.xml"/><Relationship Id="rId19" Type="http://schemas.openxmlformats.org/officeDocument/2006/relationships/tags" Target="../tags/tag53.xml"/><Relationship Id="rId18" Type="http://schemas.openxmlformats.org/officeDocument/2006/relationships/tags" Target="../tags/tag52.xml"/><Relationship Id="rId17" Type="http://schemas.openxmlformats.org/officeDocument/2006/relationships/image" Target="../media/image30.png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image" Target="../media/image29.png"/><Relationship Id="rId10" Type="http://schemas.openxmlformats.org/officeDocument/2006/relationships/tags" Target="../tags/tag46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image" Target="../media/image31.png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5" Type="http://schemas.openxmlformats.org/officeDocument/2006/relationships/notesSlide" Target="../notesSlides/notesSlide2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image" Target="../media/image32.png"/><Relationship Id="rId10" Type="http://schemas.openxmlformats.org/officeDocument/2006/relationships/tags" Target="../tags/tag6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103120"/>
            <a:ext cx="5852160" cy="5852160"/>
          </a:xfrm>
          <a:prstGeom prst="ellipse">
            <a:avLst/>
          </a:prstGeom>
          <a:solidFill>
            <a:srgbClr val="1C3D5A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1C3D5A"/>
          </a:solidFill>
        </p:spPr>
        <p:txBody>
          <a:bodyPr/>
          <a:p/>
        </p:txBody>
      </p:sp>
      <p:pic>
        <p:nvPicPr>
          <p:cNvPr id="4" name="Image 0" descr="assets/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8489" y="457200"/>
            <a:ext cx="1641823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783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年秋季学期 · 统编版小学语文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240280"/>
            <a:ext cx="1060704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四至六年级教材换新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 面 梳 理 与 双 维 度 解 读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61772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机构视角</a:t>
            </a:r>
            <a:r>
              <a:rPr lang="en-US" sz="1500" dirty="0">
                <a:solidFill>
                  <a:srgbClr val="B9C6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读写培训机构如何应对教研冲击、抓住增长窗口      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0292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家长视角</a:t>
            </a:r>
            <a:r>
              <a:rPr lang="en-US" sz="1500" dirty="0">
                <a:solidFill>
                  <a:srgbClr val="B9C6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少焦虑、抓主线，帮孩子平稳过渡到新教材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8076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1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依据教育部公开信息与已印行新版教材目录整理 · 以 2026 年 9 月实体课本为准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变化总览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政策背景：三年换新，2026 秋收官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18288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2024 秋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042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率先启用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教育部宣布语文等三科统编教材完成修订，小学一年级、初中一年级率先使用新教材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468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C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70832" y="160020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45152" y="18288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 秋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645152" y="23042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逐步扩展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645152" y="265176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新教材按计划向更多年级推进，中低年级陆续完成替换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7936992" y="24688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7C4C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193024" y="160020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1C3D5A"/>
          </a:solidFill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467344" y="18288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秋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467344" y="2304288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全面覆盖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467344" y="2651760"/>
            <a:ext cx="30175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6E0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四、五、六年级启用新修订教材，义务教育全学段完成替换；四年级此前已用过修订版三年级教材，五、六年级的衔接变化更为明显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389120"/>
            <a:ext cx="475488" cy="47548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20" name="Image 1" descr="assets/flag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4517502"/>
            <a:ext cx="218724" cy="21872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25296" y="4343400"/>
            <a:ext cx="48097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统编教材使用以来的首次大修</a:t>
            </a:r>
            <a:endParaRPr lang="en-US" sz="1450" dirty="0"/>
          </a:p>
        </p:txBody>
      </p:sp>
      <p:sp>
        <p:nvSpPr>
          <p:cNvPr id="22" name="Text 18"/>
          <p:cNvSpPr txBox="1"/>
          <p:nvPr/>
        </p:nvSpPr>
        <p:spPr>
          <a:xfrm>
            <a:off x="1225296" y="4636008"/>
            <a:ext cx="48097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此次修订经 550 多所学校、10 万余名学生试教试用，并经骨干教师精细审读后审定，并非小幅修补。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355080" y="4389120"/>
            <a:ext cx="475488" cy="475488"/>
          </a:xfrm>
          <a:prstGeom prst="ellipse">
            <a:avLst/>
          </a:prstGeom>
          <a:solidFill>
            <a:srgbClr val="F9EDE9"/>
          </a:solidFill>
        </p:spPr>
        <p:txBody>
          <a:bodyPr/>
          <a:p/>
        </p:txBody>
      </p:sp>
      <p:pic>
        <p:nvPicPr>
          <p:cNvPr id="24" name="Image 2" descr="assets/warn_cin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462" y="4517502"/>
            <a:ext cx="218724" cy="21872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31736" y="4343400"/>
            <a:ext cx="4626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高年级教材衔接需重点关注</a:t>
            </a:r>
            <a:endParaRPr lang="en-US" sz="1450" dirty="0"/>
          </a:p>
        </p:txBody>
      </p:sp>
      <p:sp>
        <p:nvSpPr>
          <p:cNvPr id="26" name="Text 21"/>
          <p:cNvSpPr txBox="1"/>
          <p:nvPr/>
        </p:nvSpPr>
        <p:spPr>
          <a:xfrm>
            <a:off x="7031736" y="4636008"/>
            <a:ext cx="46268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五、六年级此前使用的仍是旧版教材，单元、篇目与习作的变化带来的衔接感更明显，旧教辅无法直接沿用。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5532120"/>
            <a:ext cx="11109960" cy="621792"/>
          </a:xfrm>
          <a:prstGeom prst="roundRect">
            <a:avLst>
              <a:gd name="adj" fmla="val 10294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28" name="Text 23"/>
          <p:cNvSpPr txBox="1"/>
          <p:nvPr/>
        </p:nvSpPr>
        <p:spPr>
          <a:xfrm>
            <a:off x="822960" y="5641848"/>
            <a:ext cx="106070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一句话概括：</a:t>
            </a:r>
            <a:r>
              <a:rPr lang="en-US" sz="135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这不是简单替换几篇课文，而是在总体框架稳定的基础上，对部分单元、篇目、习作与学习任务进行系统调整。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变化总览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变动规模一览（上册）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15727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移出 </a:t>
            </a:r>
            <a:r>
              <a:rPr lang="en-US" sz="26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篇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423160" y="2286000"/>
            <a:ext cx="15727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 </a:t>
            </a:r>
            <a:r>
              <a:rPr lang="en-US" sz="2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篇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习作换1题、两题互换位置；新组建“中国的世界文化遗产”单元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645152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五年级上册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45152" y="2286000"/>
            <a:ext cx="15727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移出 </a:t>
            </a:r>
            <a:r>
              <a:rPr lang="en-US" sz="26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篇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245352" y="2286000"/>
            <a:ext cx="15727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 </a:t>
            </a:r>
            <a:r>
              <a:rPr lang="en-US" sz="2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篇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45152" y="315468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另有1首古诗替换；习作换2题；《白鹭》等篇目册内移位，篇序大幅调整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93024" y="155448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467344" y="178308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六年级上册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467344" y="2286000"/>
            <a:ext cx="15727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移出 </a:t>
            </a:r>
            <a:r>
              <a:rPr lang="en-US" sz="26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篇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67544" y="2286000"/>
            <a:ext cx="15727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 </a:t>
            </a:r>
            <a:r>
              <a:rPr lang="en-US" sz="2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篇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67344" y="315468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第七单元由“艺术之美”整体重构为“科学与想象”；习作换2题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48640" y="4800600"/>
            <a:ext cx="475488" cy="47548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21" name="Image 1" descr="assets/layers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022" y="4928982"/>
            <a:ext cx="218724" cy="21872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25296" y="4754880"/>
            <a:ext cx="48097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框架未变：8 个单元 · 双线编排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1225296" y="5047488"/>
            <a:ext cx="48097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各册仍保留 8 个单元、“人文主题 + 语文要素”双线框架；变的是单元主题、篇目与习作体系。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355080" y="4800600"/>
            <a:ext cx="475488" cy="475488"/>
          </a:xfrm>
          <a:prstGeom prst="ellipse">
            <a:avLst/>
          </a:prstGeom>
          <a:solidFill>
            <a:srgbClr val="F9EDE9"/>
          </a:solidFill>
        </p:spPr>
        <p:txBody>
          <a:bodyPr/>
          <a:p/>
        </p:txBody>
      </p:sp>
      <p:pic>
        <p:nvPicPr>
          <p:cNvPr id="25" name="Image 2" descr="assets/clock_cin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462" y="4928982"/>
            <a:ext cx="218724" cy="21872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7031736" y="4754880"/>
            <a:ext cx="4626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下册变化尚未完全落地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7031736" y="5047488"/>
            <a:ext cx="462686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目前公开信息以上册为主，下册目录待新教材陆续发布，需持续跟踪、二次校准。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注：篇数按已印行的新版教材目录逐单元核对（文言文二则按2篇计），与部分自媒体统计口径不同；最终以实体课本为准。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分年级细看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四年级上册：传统文化单元登场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F9EDE9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68680" y="168249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移出与调出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67128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课文（6篇）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《走月亮》《呼风唤雨的世纪》《蝴蝶的家》《西门豹治邺》《故事二则》删去；《梅兰芳蓄须》移入五年级上册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11296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习作《记一次游戏》删去；口语交际《讲历史人物故事》删去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E9F1F8"/>
          </a:solidFill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519672" y="168249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新增与移入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2167128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课文（6篇）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《方帽子店》（原三下）、《田忌赛马》（原五下）、《长城》《颐和园》《秦兵马俑》（经典课文回归）、《我将无我，不负人民》（新）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3511296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《中国的世界文化遗产》（原五下移入）；口语交际《我是小小讲解员》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14" name="Image 1" descr="assets/scroll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" y="5178613"/>
            <a:ext cx="176662" cy="17666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78992" y="5093208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新组建“中国的世界文化遗产”单元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长城、颐和园、秦兵马俑成组出现，传统文化教育显著加强。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550408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17" name="Image 2" descr="assets/shield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5654101"/>
            <a:ext cx="176662" cy="1766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78992" y="5568696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《女娲补天》《王戎不取道旁李》均保留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网传“删除”与实体目录不符；后者由第8单元移入第7单元“童年成长”。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6025896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20" name="Image 3" descr="assets/swap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6129589"/>
            <a:ext cx="176662" cy="17666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78992" y="6044184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习作互换位置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《写信》移至第8单元、《我的心儿怦怦跳》移至第7单元，同步课程需相应调整排期。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分年级细看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五年级上册：改动幅度最大的一册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F9EDE9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68680" y="168249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移出与调出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67128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课文（8篇）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《搭石》《小岛》《松鼠》《“精彩极了”和“糟糕透了”》《四季之美》《鸟的天堂》《月迹》《我的“长生果”》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11296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《缩写故事》《______即景》换题；古诗《长相思》替换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E9F1F8"/>
          </a:solidFill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519672" y="168249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新增与移入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2167128"/>
            <a:ext cx="489204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课文（6篇）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“诺曼底号”遇难记》（原四下）、《梅兰芳蓄须明志》（原四上）、《金字塔》（原五下）、《航天员写给孩子的信》（新版新编入）、《第一场雪》《走遍天下书为侣》；古诗《早春呈水部张十八员外》（原六下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3831336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《故事新编》（原四下）、《我最喜爱的季节》（新题）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14" name="Image 1" descr="assets/swap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" y="5178613"/>
            <a:ext cx="176662" cy="17666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78992" y="5093208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册内移位明显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《白鹭》由第1单元移至第7单元，各单元篇序普遍调整，旧教辅页码已无法对应。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550408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17" name="Image 2" descr="assets/book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5654101"/>
            <a:ext cx="176662" cy="1766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78992" y="5568696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读书单元仍是第8单元压轴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“前移为第一单元”的网传说法与实体目录不符；习作《推荐一本书》保留。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6025896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20" name="Image 3" descr="assets/rocket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6129589"/>
            <a:ext cx="176662" cy="17666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78992" y="6044184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新时代题材进一步丰富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《航天员写给孩子的信》为新版新编入课文，进入“父母之爱”单元，现实题材与课本的连接更紧密。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分年级细看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六年级上册：第七单元整体重构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F9EDE9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68680" y="168249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移出与调出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67128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课文（6篇）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《花之歌》《夏天里的成长》《伯牙鼓琴》《书戴嵩画牛》《月光曲》《京剧趣谈》，原“艺术之美”单元整体移除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11296"/>
            <a:ext cx="48920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《我的拿手好戏》《有你，真好》换题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9632" y="1481328"/>
            <a:ext cx="5486400" cy="3383280"/>
          </a:xfrm>
          <a:prstGeom prst="roundRect">
            <a:avLst>
              <a:gd name="adj" fmla="val 2432"/>
            </a:avLst>
          </a:prstGeom>
          <a:solidFill>
            <a:srgbClr val="E9F1F8"/>
          </a:solidFill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519672" y="1682496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新增与移入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519672" y="2167128"/>
            <a:ext cx="489204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课文（4篇）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文言文二则《两小儿辩日》（原六下）《曹冲称象》（改选文言原文）；《表里的生物》《他们那时候多有趣啊》（均原六下）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519672" y="3511296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  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《插上科学的翅膀飞》（原六下）、《传承好家风》（新题）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14" name="Image 1" descr="assets/bulb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" y="5178613"/>
            <a:ext cx="176662" cy="17666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078992" y="5093208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“艺术之美”→“科学与想象”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从传统审美转向科学素养与想象力培养，是本册最大的导向变化。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5550408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17" name="Image 2" descr="assets/target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" y="5654101"/>
            <a:ext cx="176662" cy="1766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78992" y="5568696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《灯光》升精读并移入习作单元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替换《夏天里的成长》承担“围绕中心意思写”示范；《邱少云》仍为略读。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6025896"/>
            <a:ext cx="384048" cy="38404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20" name="Image 3" descr="assets/swap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" y="6129589"/>
            <a:ext cx="176662" cy="17666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78992" y="6044184"/>
            <a:ext cx="10561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多项六下内容上移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部分学习内容前移至上册，高年级学习节奏随之调整；对六下安排的具体影响，需结合新版下册进一步判断。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附表一 单元习作新旧对比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四年级上册：8 个习作，一题更换、两题互换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371600"/>
          <a:ext cx="11109960" cy="4361688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3017520"/>
                <a:gridCol w="4160520"/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旧版习作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新版习作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变动说明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推荐一个好地方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推荐一个好地方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小小“动物园”（近年印次已为《我的家人》）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我的家人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沿用近年印次的调整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写观察日记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写观察日记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我和______过一天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我和______过一天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五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生活万花筒（习作单元）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生活万花筒（习作单元）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记一次游戏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中国的世界文化遗产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换题：原题删去；新题原为五下习作，对应新建的文化遗产单元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写信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我的心儿怦怦跳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位置互换：原第8单元习作移入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八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我的心儿怦怦跳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写信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位置互换：原第7单元习作移入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61888"/>
            <a:ext cx="11109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解读：</a:t>
            </a: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实际更换仅第6单元一题，第7、8单元为位置互换；同步写作课程调整排期即可，第6单元需新建课程。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5" name="Text 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附表一 单元习作新旧对比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五年级上册：8 个习作，仅更换两题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1371600"/>
          <a:ext cx="11109960" cy="4361688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3017520"/>
                <a:gridCol w="4160520"/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旧版习作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新版习作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变动说明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我的心爱之物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我的心爱之物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“漫画”老师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“漫画”老师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缩写故事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故事新编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换题：新题原为四下习作，由缩写改为创编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二十年后的家乡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二十年后的家乡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五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介绍一种事物（习作单元）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介绍一种事物（习作单元）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题目不变；单元课文《松鼠》换为《金字塔》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我想对您说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我想对您说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______即景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我最喜爱的季节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换题：全新题目，写景由片段观察转向整体抒写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八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推荐一本书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推荐一本书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保留（网传“移出”与实体目录不符）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61888"/>
            <a:ext cx="11109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解读：</a:t>
            </a: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习作体系整体稳定，6 题原样保留；《故事新编》系四下移入，需按五年级能力重标目标与难度；《我最喜爱的季节》为新题，是新增教研重点。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附表一 单元习作新旧对比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六年级上册：8 个习作，后两单元更换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371600"/>
          <a:ext cx="11109960" cy="4361688"/>
        </p:xfrm>
        <a:graphic>
          <a:graphicData uri="http://schemas.openxmlformats.org/drawingml/2006/table">
            <a:tbl>
              <a:tblPr/>
              <a:tblGrid>
                <a:gridCol w="640080"/>
                <a:gridCol w="3291840"/>
                <a:gridCol w="3017520"/>
                <a:gridCol w="4160520"/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单元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旧版习作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新版习作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变动说明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变形记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变形记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多彩的活动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多彩的活动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______让生活更美好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______让生活更美好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笔尖流出的故事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笔尖流出的故事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五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围绕中心意思写（习作单元）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围绕中心意思写（习作单元）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题目不变；精读课文《夏天里的成长》换为《灯光》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学写倡议书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学写倡议书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我的拿手好戏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插上科学的翅膀飞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换题：原六下习作上移，对应“科学与想象”新单元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八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有你，真好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传承好家风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换题：全新题目，位于“走近鲁迅”单元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61888"/>
            <a:ext cx="11109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解读：</a:t>
            </a: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 6 个单元习作全部原样保留；变化集中在重构的第7单元与压轴的第8单元，想象类与文化类写作的权重上升。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附表二 单元课文篇目对比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四年级上册：新版单元与篇目变动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371600"/>
          <a:ext cx="11109960" cy="3785616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16052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单元 · 主题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新版课文篇目（* 为略读）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较旧版的主要变动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 · 自然之美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观潮、现代诗二首、繁星*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删《走月亮》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 · 提问策略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一个豆荚里的五粒豆、夜间飞行的秘密、方帽子店、田忌赛马*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删《呼风唤雨的世纪》《蝴蝶的家》；增《方帽子店》（原三下）《田忌赛马》（原五下）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 · 连续观察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古诗三首、爬山虎的脚、蟋蟀的住宅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 · 神话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盘古开天地、精卫填海、普罗米修斯、女娲补天*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不变（《女娲补天》保留，网传删除不实）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五 · 习作单元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麻雀、爬天都峰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 · 中国的世界文化遗产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长城、颐和园、秦兵马俑*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全新单元：三篇经典老课文成组回归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七 · 童年成长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牛和鹅、一只窝囊的大老虎、陀螺*、王戎不取道旁李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《王戎不取道旁李》由原第8单元移入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八 · 家国情怀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我将无我，不负人民、为中华之崛起而读书、延安，我把你追寻*、古诗三首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增《我将无我，不负人民》（新）；删《梅兰芳蓄须》（移五上）《西门豹治邺》《故事二则》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61888"/>
            <a:ext cx="11109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解读：</a:t>
            </a: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个单元框架仍在，但第6单元全新、第7与第8单元重组；文化遗产与家国主题的分量明显加重。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附表二 单元课文篇目对比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五年级上册：新版单元与篇目变动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371600"/>
          <a:ext cx="11109960" cy="3785616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16052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单元 · 主题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新版课文篇目（* 为略读）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较旧版的主要变动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 · 万物有灵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桂花雨、落花生、珍珠鸟*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《白鹭》移至第7单元；篇序调整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 · 快速阅读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冀中的地道战、将相和、什么比猎豹的速度更快、“诺曼底号”遇难记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删《搭石》；增《诺曼底号》（原四下）；篇序调整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 · 民间故事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猎人海力布、牛郎织女（一）（二）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 · 家国情怀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古诗三首、少年中国说（节选）、圆明园的毁灭、梅兰芳蓄须明志*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删《小岛》；增《梅兰芳蓄须明志》（原四上）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五 · 说明文习作单元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太阳、金字塔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《松鼠》换为《金字塔》（原五下）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 · 父母之爱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慈母情深、父爱之舟、航天员写给孩子的信*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《“精彩极了”和“糟糕透了”》换为《航天员写给孩子的信》（新编入）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七 · 四时景物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古诗词三首、第一场雪、白鹭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删《四季之美》《鸟的天堂》《月迹》；增《第一场雪》；《白鹭》移入；《长相思》换为《早春呈水部张十八员外》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八 · 读书明智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古人谈读书、忆读书、走遍天下书为侣*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《我的“长生果”》换为《走遍天下书为侣》；仍为压轴单元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61888"/>
            <a:ext cx="11109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解读：</a:t>
            </a: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三册中变动幅度最大：8 个单元中 7 个有变动，且存在大量册内移位，须逐课对照新版目录重新排课。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附表二 单元课文篇目对比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六年级上册：新版单元与篇目变动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1371600"/>
          <a:ext cx="11109960" cy="3785616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16052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单元 · 主题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新版课文篇目（* 为略读）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较旧版的主要变动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 · 山川湖海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草原、丁香结、古诗词三首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删《花之歌》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二 · 革命岁月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七律·长征、狼牙山五壮士、开国大典、我的战友邱少云*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《灯光》移出至第5单元；《邱少云》仍为略读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三 · 有目的地阅读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竹节人、宇宙生命之谜、故宫博物院*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古诗三首移至第6单元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 · 小说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桥、穷人、金色的鱼钩*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五 · 习作单元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灯光、盼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删《夏天里的成长》；《灯光》移入并升为精读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 · 保护环境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只有一个地球、青山不老*、三黑和土地*、古诗三首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古诗三首自第3单元移入；篇序调整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七 · 科学与想象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文言文二则（两小儿辩日、曹冲称象）、表里的生物、他们那时候多有趣啊*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整体重构：原“艺术之美”四课全部移除；三篇自六下上移，《曹冲称象》改选文言原文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八 · 走近鲁迅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少年闰土、好的故事、我的伯父鲁迅先生*、有的人*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8C9AA7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不变</a:t>
                      </a:r>
                      <a:endParaRPr lang="en-US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61888"/>
            <a:ext cx="11109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解读：</a:t>
            </a: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变动高度集中：第5单元更换示范文本，第7单元整体更换，其余单元以移位为主；文言文由“艺术鉴赏”转向“科学思辨”。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下册跟踪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下册前瞻：目录未出，但这些变化已确定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04672" y="1572768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7" name="Image 1" descr="assets/clock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1696212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1517904"/>
            <a:ext cx="4434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现状与时间表  </a:t>
            </a: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权威渠道目前仅收录到上册新版；参照前两年换版节奏，新版下册通常在春季开学前发行，具体时间以出版社正式发布为准。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217920" y="13716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9EDE9"/>
          </a:solidFill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473952" y="1572768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1" name="Image 2" descr="assets/warn_cin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1696212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86600" y="1517904"/>
            <a:ext cx="4434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谨慎对待非官方“新版下册”  </a:t>
            </a: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对来源不明、发布时间明显提前的所谓新版下册电子课本，应先核验出版社、版次与版权页信息，不宜直接作为课程调整依据。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3017520"/>
          <a:ext cx="11109960" cy="2267712"/>
        </p:xfrm>
        <a:graphic>
          <a:graphicData uri="http://schemas.openxmlformats.org/drawingml/2006/table">
            <a:tbl>
              <a:tblPr/>
              <a:tblGrid>
                <a:gridCol w="1554480"/>
                <a:gridCol w="5806440"/>
                <a:gridCol w="374904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册次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已上移至上册的内容（新去处）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由此确定的下册变化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D5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四年级下册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《“诺曼底号”遇难记》（→五上）；习作《故事新编》（→五上第3单元）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第7单元课文、第8单元习作确定有变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五年级下册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《田忌赛马》（→四上）；《金字塔》（→五上）；习作《中国的世界文化遗产》（→四上第6单元）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至少两个单元的课文与一个习作确定有变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六年级下册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430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《两小儿辩日》《表里的生物》《他们那时候多有趣啊》、习作《插上科学的翅膀飞》（→六上第7单元）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442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“科学精神”单元内容大部分移出，属单元级空缺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548640" y="5577840"/>
            <a:ext cx="11109960" cy="658368"/>
          </a:xfrm>
          <a:prstGeom prst="roundRect">
            <a:avLst>
              <a:gd name="adj" fmla="val 9722"/>
            </a:avLst>
          </a:prstGeom>
          <a:solidFill>
            <a:srgbClr val="1C3D5A"/>
          </a:solidFill>
        </p:spPr>
        <p:txBody>
          <a:bodyPr/>
          <a:p/>
        </p:txBody>
      </p:sp>
      <p:sp>
        <p:nvSpPr>
          <p:cNvPr id="15" name="Text 9"/>
          <p:cNvSpPr txBox="1"/>
          <p:nvPr/>
        </p:nvSpPr>
        <p:spPr>
          <a:xfrm>
            <a:off x="822960" y="5705856"/>
            <a:ext cx="106070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使用建议：</a:t>
            </a:r>
            <a:r>
              <a:rPr lang="en-US" sz="125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下册教研可先行处理上表中已确定的变动点，待新版目录发布后再作增量校准；对外统一口径为“随教材同步更新”。</a:t>
            </a:r>
            <a:endParaRPr lang="en-US" sz="125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 · 变化总览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五大改版趋势：把握变化的方向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04672" y="1856232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7" name="Image 1" descr="assets/scroll_cinna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" y="197967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46120" y="1783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9D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46888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传统文化加强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825496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世界文化遗产单元新建，文言文启蒙篇目调整，文化认同贯穿选文。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70832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626864" y="1856232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3" name="Image 2" descr="assets/rocket_cin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308" y="19796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68312" y="1783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9D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4645152" y="246888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时代性增强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4645152" y="2825496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航天、科技题材进入课本，“科学与想象”成为独立单元导向。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193024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449056" y="1856232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9" name="Image 3" descr="assets/book_cinna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1979676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890504" y="17830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9D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5"/>
          <p:cNvSpPr txBox="1"/>
          <p:nvPr/>
        </p:nvSpPr>
        <p:spPr>
          <a:xfrm>
            <a:off x="8467344" y="246888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阅读地位提升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8467344" y="2825496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整本书阅读要求提高，文言文启蒙节奏提前；小学高年级更多训练逻辑、思辨，抒情写景类篇目比重有所下降。经典阅读的分量持续加重。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37490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25" name="Image 4" descr="assets/pen_cinna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128516"/>
            <a:ext cx="210312" cy="21031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246120" y="39319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9D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61772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习作体系重排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4974336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多个习作题目更换或移位，新题更贴近真实生活与真实表达。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370832" y="37490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4626864" y="4005072"/>
            <a:ext cx="457200" cy="45720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31" name="Image 5" descr="assets/balance_cinna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308" y="4128516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68312" y="39319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C9D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4645152" y="461772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难度节奏调整</a:t>
            </a:r>
            <a:endParaRPr lang="en-US" sz="1550" dirty="0"/>
          </a:p>
        </p:txBody>
      </p:sp>
      <p:sp>
        <p:nvSpPr>
          <p:cNvPr id="34" name="Text 26"/>
          <p:cNvSpPr txBox="1"/>
          <p:nvPr/>
        </p:nvSpPr>
        <p:spPr>
          <a:xfrm>
            <a:off x="4645152" y="4974336"/>
            <a:ext cx="301752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选文优化、语文要素调整，部分下册内容前移，重排学习节奏。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193024" y="37490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1C3D5A"/>
          </a:solidFill>
        </p:spPr>
        <p:txBody>
          <a:bodyPr/>
          <a:p/>
        </p:txBody>
      </p:sp>
      <p:sp>
        <p:nvSpPr>
          <p:cNvPr id="36" name="Text 28"/>
          <p:cNvSpPr txBox="1"/>
          <p:nvPr/>
        </p:nvSpPr>
        <p:spPr>
          <a:xfrm>
            <a:off x="8467344" y="397764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综合来看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8467344" y="4389120"/>
            <a:ext cx="3017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从“教课文”走向“育素养”：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阅读为本、读写并重、文化为魂。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5029200" cy="5029200"/>
          </a:xfrm>
          <a:prstGeom prst="ellipse">
            <a:avLst/>
          </a:prstGeom>
          <a:solidFill>
            <a:srgbClr val="1C3D5A"/>
          </a:solidFill>
        </p:spPr>
        <p:txBody>
          <a:bodyPr/>
          <a:p/>
        </p:txBody>
      </p:sp>
      <p:pic>
        <p:nvPicPr>
          <p:cNvPr id="3" name="Image 0" descr="assets/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261" y="457200"/>
            <a:ext cx="1324051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2344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1 · 机构视角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从教研冲击，到增长窗口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110807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00" dirty="0">
                <a:solidFill>
                  <a:srgbClr val="B9C6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对读写类培训机构而言，教材换新首先意味着一次必须完成的教研适配，同时也是重新向家长说明课程价值与专业能力的窗口。</a:t>
            </a:r>
            <a:endParaRPr lang="en-US" sz="1500" dirty="0"/>
          </a:p>
        </p:txBody>
      </p:sp>
      <p:sp>
        <p:nvSpPr>
          <p:cNvPr id="7" name="Shape 4"/>
          <p:cNvSpPr/>
          <p:nvPr>
            <p:custDataLst>
              <p:tags r:id="rId2"/>
            </p:custDataLst>
          </p:nvPr>
        </p:nvSpPr>
        <p:spPr>
          <a:xfrm>
            <a:off x="868680" y="3739896"/>
            <a:ext cx="146304" cy="146304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sp>
        <p:nvSpPr>
          <p:cNvPr id="8" name="Text 5"/>
          <p:cNvSpPr txBox="1"/>
          <p:nvPr>
            <p:custDataLst>
              <p:tags r:id="rId3"/>
            </p:custDataLst>
          </p:nvPr>
        </p:nvSpPr>
        <p:spPr>
          <a:xfrm>
            <a:off x="1188720" y="36576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B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课程对标：同步课程的单元与任务映射必须重建</a:t>
            </a:r>
            <a:endParaRPr lang="en-US" sz="140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868680" y="4372737"/>
            <a:ext cx="146304" cy="146304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sp>
        <p:nvSpPr>
          <p:cNvPr id="12" name="Text 9"/>
          <p:cNvSpPr txBox="1"/>
          <p:nvPr>
            <p:custDataLst>
              <p:tags r:id="rId5"/>
            </p:custDataLst>
          </p:nvPr>
        </p:nvSpPr>
        <p:spPr>
          <a:xfrm>
            <a:off x="1188720" y="4260596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B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定位红利：整本书阅读与素养导向，与读写机构正面同频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1 · 机构视角 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同步类课程：单元与任务的映射必须重建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4892040" cy="4160520"/>
          </a:xfrm>
          <a:prstGeom prst="roundRect">
            <a:avLst>
              <a:gd name="adj" fmla="val 1978"/>
            </a:avLst>
          </a:prstGeom>
          <a:solidFill>
            <a:srgbClr val="1C3D5A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pic>
        <p:nvPicPr>
          <p:cNvPr id="7" name="Image 1" descr="assets/sync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68" y="196458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5146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为什么是“必须”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971800"/>
            <a:ext cx="420624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6E0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与教材逐单元同步的读写课程（同步习作、单元精讲类），其价值就建立在“与课本一一对应”上。</a:t>
            </a:r>
            <a:r>
              <a:rPr lang="zh-CN" altLang="en-US" sz="1250" dirty="0">
                <a:solidFill>
                  <a:srgbClr val="D6E0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部分旧版映射已经失效，尤其是涉及单元重组、习作换题和跨年级移位的内容。</a:t>
            </a:r>
            <a:r>
              <a:rPr lang="en-US" sz="1250" dirty="0">
                <a:solidFill>
                  <a:srgbClr val="D6E0E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不重建，“同步”便名存实亡。</a:t>
            </a:r>
            <a:endParaRPr lang="en-US" sz="1250" dirty="0">
              <a:solidFill>
                <a:srgbClr val="D6E0E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480060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典型例证：习作《故事新编》由四下移至五上，《中国的世界文化遗产》由五下移至四上。同一任务，年级定位已变。</a:t>
            </a:r>
            <a:endParaRPr lang="en-US" sz="1100" dirty="0"/>
          </a:p>
        </p:txBody>
      </p:sp>
      <p:sp>
        <p:nvSpPr>
          <p:cNvPr id="11" name="Shape 7"/>
          <p:cNvSpPr/>
          <p:nvPr>
            <p:custDataLst>
              <p:tags r:id="rId3"/>
            </p:custDataLst>
          </p:nvPr>
        </p:nvSpPr>
        <p:spPr>
          <a:xfrm>
            <a:off x="5806440" y="1645920"/>
            <a:ext cx="475488" cy="47548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12" name="Image 2" descr="assets/list_ink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934822" y="1774302"/>
            <a:ext cx="218724" cy="218724"/>
          </a:xfrm>
          <a:prstGeom prst="rect">
            <a:avLst/>
          </a:prstGeom>
        </p:spPr>
      </p:pic>
      <p:sp>
        <p:nvSpPr>
          <p:cNvPr id="13" name="Text 8"/>
          <p:cNvSpPr txBox="1"/>
          <p:nvPr>
            <p:custDataLst>
              <p:tags r:id="rId6"/>
            </p:custDataLst>
          </p:nvPr>
        </p:nvSpPr>
        <p:spPr>
          <a:xfrm>
            <a:off x="6483096" y="1600200"/>
            <a:ext cx="5129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按新目录重排课表</a:t>
            </a:r>
            <a:endParaRPr lang="en-US" sz="1450" dirty="0"/>
          </a:p>
        </p:txBody>
      </p:sp>
      <p:sp>
        <p:nvSpPr>
          <p:cNvPr id="14" name="Text 9"/>
          <p:cNvSpPr txBox="1"/>
          <p:nvPr>
            <p:custDataLst>
              <p:tags r:id="rId7"/>
            </p:custDataLst>
          </p:nvPr>
        </p:nvSpPr>
        <p:spPr>
          <a:xfrm>
            <a:off x="6483096" y="1892808"/>
            <a:ext cx="5129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逐册核对新版单元顺序与习作题目，重建“单元 × 课次 × 任务”映射表，上册先行。</a:t>
            </a:r>
            <a:endParaRPr lang="en-US" sz="1200" dirty="0"/>
          </a:p>
        </p:txBody>
      </p:sp>
      <p:sp>
        <p:nvSpPr>
          <p:cNvPr id="15" name="Shape 10"/>
          <p:cNvSpPr/>
          <p:nvPr>
            <p:custDataLst>
              <p:tags r:id="rId8"/>
            </p:custDataLst>
          </p:nvPr>
        </p:nvSpPr>
        <p:spPr>
          <a:xfrm>
            <a:off x="5806440" y="2697480"/>
            <a:ext cx="475488" cy="47548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16" name="Image 3" descr="assets/target_ink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934822" y="2825862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 txBox="1"/>
          <p:nvPr>
            <p:custDataLst>
              <p:tags r:id="rId11"/>
            </p:custDataLst>
          </p:nvPr>
        </p:nvSpPr>
        <p:spPr>
          <a:xfrm>
            <a:off x="6483096" y="2651760"/>
            <a:ext cx="5129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重定移位任务的难度</a:t>
            </a:r>
            <a:endParaRPr lang="en-US" sz="1450" dirty="0"/>
          </a:p>
        </p:txBody>
      </p:sp>
      <p:sp>
        <p:nvSpPr>
          <p:cNvPr id="18" name="Text 12"/>
          <p:cNvSpPr txBox="1"/>
          <p:nvPr>
            <p:custDataLst>
              <p:tags r:id="rId12"/>
            </p:custDataLst>
          </p:nvPr>
        </p:nvSpPr>
        <p:spPr>
          <a:xfrm>
            <a:off x="6483096" y="2944368"/>
            <a:ext cx="5129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移位习作和课文的年级定位变了，教学目标、评价标准、示范文难度都要随之重新标定。</a:t>
            </a:r>
            <a:endParaRPr lang="en-US" sz="1200" dirty="0"/>
          </a:p>
        </p:txBody>
      </p:sp>
      <p:sp>
        <p:nvSpPr>
          <p:cNvPr id="19" name="Shape 13"/>
          <p:cNvSpPr/>
          <p:nvPr>
            <p:custDataLst>
              <p:tags r:id="rId13"/>
            </p:custDataLst>
          </p:nvPr>
        </p:nvSpPr>
        <p:spPr>
          <a:xfrm>
            <a:off x="5806440" y="3749040"/>
            <a:ext cx="475488" cy="47548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20" name="Image 4" descr="assets/flag_ink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934822" y="3877422"/>
            <a:ext cx="218724" cy="218724"/>
          </a:xfrm>
          <a:prstGeom prst="rect">
            <a:avLst/>
          </a:prstGeom>
        </p:spPr>
      </p:pic>
      <p:sp>
        <p:nvSpPr>
          <p:cNvPr id="21" name="Text 14"/>
          <p:cNvSpPr txBox="1"/>
          <p:nvPr>
            <p:custDataLst>
              <p:tags r:id="rId16"/>
            </p:custDataLst>
          </p:nvPr>
        </p:nvSpPr>
        <p:spPr>
          <a:xfrm>
            <a:off x="6483096" y="3703320"/>
            <a:ext cx="5129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确立“新教材首发”认知</a:t>
            </a:r>
            <a:endParaRPr lang="en-US" sz="1450" dirty="0"/>
          </a:p>
        </p:txBody>
      </p:sp>
      <p:sp>
        <p:nvSpPr>
          <p:cNvPr id="22" name="Text 15"/>
          <p:cNvSpPr txBox="1"/>
          <p:nvPr>
            <p:custDataLst>
              <p:tags r:id="rId17"/>
            </p:custDataLst>
          </p:nvPr>
        </p:nvSpPr>
        <p:spPr>
          <a:xfrm>
            <a:off x="6483096" y="3995928"/>
            <a:ext cx="5129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越早完成新版课程对齐，并能够清楚说明</a:t>
            </a:r>
            <a:r>
              <a:rPr lang="en-US" altLang="zh-CN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zh-CN" alt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改了什么、课程怎么跟</a:t>
            </a:r>
            <a:r>
              <a:rPr lang="en-US" altLang="zh-CN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</a:t>
            </a:r>
            <a:r>
              <a:rPr lang="zh-CN" alt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，越容易建立家长对机构教学能力的信任。</a:t>
            </a:r>
            <a:endParaRPr lang="en-US" sz="1200" dirty="0"/>
          </a:p>
        </p:txBody>
      </p:sp>
      <p:sp>
        <p:nvSpPr>
          <p:cNvPr id="23" name="Shape 16"/>
          <p:cNvSpPr/>
          <p:nvPr>
            <p:custDataLst>
              <p:tags r:id="rId18"/>
            </p:custDataLst>
          </p:nvPr>
        </p:nvSpPr>
        <p:spPr>
          <a:xfrm>
            <a:off x="5806440" y="4800600"/>
            <a:ext cx="475488" cy="475488"/>
          </a:xfrm>
          <a:prstGeom prst="ellipse">
            <a:avLst/>
          </a:prstGeom>
          <a:solidFill>
            <a:srgbClr val="EEF3F8"/>
          </a:solidFill>
        </p:spPr>
        <p:txBody>
          <a:bodyPr/>
          <a:p/>
        </p:txBody>
      </p:sp>
      <p:pic>
        <p:nvPicPr>
          <p:cNvPr id="24" name="Image 5" descr="assets/clock_ink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5934822" y="4928982"/>
            <a:ext cx="218724" cy="218724"/>
          </a:xfrm>
          <a:prstGeom prst="rect">
            <a:avLst/>
          </a:prstGeom>
        </p:spPr>
      </p:pic>
      <p:sp>
        <p:nvSpPr>
          <p:cNvPr id="25" name="Text 17"/>
          <p:cNvSpPr txBox="1"/>
          <p:nvPr>
            <p:custDataLst>
              <p:tags r:id="rId21"/>
            </p:custDataLst>
          </p:nvPr>
        </p:nvSpPr>
        <p:spPr>
          <a:xfrm>
            <a:off x="6483096" y="4754880"/>
            <a:ext cx="51297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预留下册二次校准</a:t>
            </a:r>
            <a:endParaRPr lang="en-US" sz="1450" dirty="0"/>
          </a:p>
        </p:txBody>
      </p:sp>
      <p:sp>
        <p:nvSpPr>
          <p:cNvPr id="26" name="Text 18"/>
          <p:cNvSpPr txBox="1"/>
          <p:nvPr>
            <p:custDataLst>
              <p:tags r:id="rId22"/>
            </p:custDataLst>
          </p:nvPr>
        </p:nvSpPr>
        <p:spPr>
          <a:xfrm>
            <a:off x="6483096" y="5047488"/>
            <a:ext cx="5129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下册目录发布后再作一轮校准，课程宣传中主动说明“随教材同步更新”，反而成为信任点。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1 · 机构视角 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阅读写作类机构的结构性利好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109960" cy="987552"/>
          </a:xfrm>
          <a:prstGeom prst="roundRect">
            <a:avLst>
              <a:gd name="adj" fmla="val 7407"/>
            </a:avLst>
          </a:prstGeom>
          <a:solidFill>
            <a:srgbClr val="E9F1F8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77240" y="1847088"/>
            <a:ext cx="493776" cy="493776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7" name="Image 1" descr="assets/book_cinna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60" y="1980408"/>
            <a:ext cx="227137" cy="22713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81328" y="1719072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整本书阅读被推到台前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1709928"/>
            <a:ext cx="67208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整本书阅读要求提高、快乐读书吧持续强化，读书会、深度阅读类产品与教材导向正面重合，这是“为什么要上阅读课”最有力的官方依据。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715768"/>
            <a:ext cx="11109960" cy="987552"/>
          </a:xfrm>
          <a:prstGeom prst="roundRect">
            <a:avLst>
              <a:gd name="adj" fmla="val 7407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777240" y="2962656"/>
            <a:ext cx="493776" cy="493776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2" name="Image 2" descr="assets/scroll_cin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60" y="3095976"/>
            <a:ext cx="227137" cy="2271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81328" y="283464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文言文与传统文化需求上升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709160" y="2825496"/>
            <a:ext cx="67208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《曹冲称象》《两小儿辩日》等文言文调整、世界文化遗产单元新建，小古文课程、文化主题读写活动有了明确的教材抓手。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831336"/>
            <a:ext cx="11109960" cy="987552"/>
          </a:xfrm>
          <a:prstGeom prst="roundRect">
            <a:avLst>
              <a:gd name="adj" fmla="val 7407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777240" y="4078224"/>
            <a:ext cx="493776" cy="493776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7" name="Image 3" descr="assets/balance_cinna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60" y="4211544"/>
            <a:ext cx="227137" cy="2271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81328" y="3950208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素养导向下的竞品分化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4709160" y="3941064"/>
            <a:ext cx="67208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选文优化、减负导向下，机械刷题类产品与新教材的错位会越来越明显；以读促写、素养培养类机构的定位价值相应提升。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946904"/>
            <a:ext cx="11109960" cy="987552"/>
          </a:xfrm>
          <a:prstGeom prst="roundRect">
            <a:avLst>
              <a:gd name="adj" fmla="val 7407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777240" y="5193792"/>
            <a:ext cx="493776" cy="493776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22" name="Image 4" descr="assets/megaphone_cinna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60" y="5327112"/>
            <a:ext cx="227137" cy="22713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81328" y="5065776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话术升级：从补差到同频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4709160" y="5056632"/>
            <a:ext cx="672084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对外表达从“补差提分”转向“与新教材同频的读写素养培养”，用教材变化本身说明课程的价值。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931920"/>
            <a:ext cx="5029200" cy="5029200"/>
          </a:xfrm>
          <a:prstGeom prst="ellipse">
            <a:avLst/>
          </a:prstGeom>
          <a:solidFill>
            <a:srgbClr val="1C3D5A"/>
          </a:solidFill>
        </p:spPr>
        <p:txBody>
          <a:bodyPr/>
          <a:p/>
        </p:txBody>
      </p:sp>
      <p:pic>
        <p:nvPicPr>
          <p:cNvPr id="3" name="Image 0" descr="assets/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261" y="457200"/>
            <a:ext cx="1324051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2344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2 · 家长视角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少焦虑、抓主线、做对几件事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9C6D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教材换新对孩子不是坏消息；家长真正要做的，是把注意力从“篇目”移到“能力”。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68680" y="3739896"/>
            <a:ext cx="146304" cy="146304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1188720" y="36576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B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稳心态：变的是篇目，不变的是能力主线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306824"/>
            <a:ext cx="146304" cy="146304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188720" y="4224528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B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换资料、看目录、抓习作：开学前后做对三件事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8680" y="4873752"/>
            <a:ext cx="146304" cy="146304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188720" y="4791456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B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阅读与写作两条主线，比任何单篇课文都重要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5440680"/>
            <a:ext cx="146304" cy="146304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188720" y="5358384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B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高年级家长：读懂六年级节奏前移的信号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2 · 家长视角 ①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先稳心态：变的是篇目，不变的是能力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7" name="Image 1" descr="assets/layers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48" y="201030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476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框架没变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51460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各册仍是 8 个单元、“人文主题 + 语文要素”双线编排，孩子的学习方式不需要推倒重来。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17920" y="16002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492240" y="1874520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2" name="Image 2" descr="assets/balance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028" y="2010308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78040" y="19476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方向是减负，不是加码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251460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修订思路包含优化选文、调整要素、减轻负担；部分调整（如文言文换成孩子熟悉的《曹冲称象》）反而降低了入门难度。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7033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7" name="Image 3" descr="assets/warn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48" y="4113428"/>
            <a:ext cx="231343" cy="231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05079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不必抢跑，不必囤旧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868680" y="461772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不必突击预习新课文，更不要囤积旧版教辅。旧资料与新版目录无法对应，反而干扰预习。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7920" y="37033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E9F1F8"/>
          </a:solidFill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6492240" y="3977640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22" name="Image 4" descr="assets/seed_cinna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028" y="4113428"/>
            <a:ext cx="231343" cy="23134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178040" y="405079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真正值钱的是迁移力</a:t>
            </a:r>
            <a:endParaRPr lang="en-US" sz="1550" dirty="0"/>
          </a:p>
        </p:txBody>
      </p:sp>
      <p:sp>
        <p:nvSpPr>
          <p:cNvPr id="24" name="Text 17"/>
          <p:cNvSpPr txBox="1"/>
          <p:nvPr/>
        </p:nvSpPr>
        <p:spPr>
          <a:xfrm>
            <a:off x="6537960" y="461772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阅读习惯、理解与表达能力不随篇目更换而贬值。课文会更换，能力不会。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2 · 家长视角 ②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开学前后，做对三件事</a:t>
            </a:r>
            <a:endParaRPr lang="en-US" sz="27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6" name="Text 3"/>
          <p:cNvSpPr txBox="1"/>
          <p:nvPr>
            <p:custDataLst>
              <p:tags r:id="rId3"/>
            </p:custDataLst>
          </p:nvPr>
        </p:nvSpPr>
        <p:spPr>
          <a:xfrm>
            <a:off x="822960" y="18288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D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4"/>
          <p:cNvSpPr/>
          <p:nvPr>
            <p:custDataLst>
              <p:tags r:id="rId4"/>
            </p:custDataLst>
          </p:nvPr>
        </p:nvSpPr>
        <p:spPr>
          <a:xfrm>
            <a:off x="3246120" y="1938528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8" name="Image 1" descr="assets/sync_cinnabar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81908" y="2074316"/>
            <a:ext cx="231343" cy="231343"/>
          </a:xfrm>
          <a:prstGeom prst="rect">
            <a:avLst/>
          </a:prstGeom>
        </p:spPr>
      </p:pic>
      <p:sp>
        <p:nvSpPr>
          <p:cNvPr id="9" name="Text 5"/>
          <p:cNvSpPr txBox="1"/>
          <p:nvPr>
            <p:custDataLst>
              <p:tags r:id="rId7"/>
            </p:custDataLst>
          </p:nvPr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换资料</a:t>
            </a:r>
            <a:endParaRPr lang="en-US" sz="1900" dirty="0"/>
          </a:p>
        </p:txBody>
      </p:sp>
      <p:sp>
        <p:nvSpPr>
          <p:cNvPr id="10" name="Text 6"/>
          <p:cNvSpPr txBox="1"/>
          <p:nvPr>
            <p:custDataLst>
              <p:tags r:id="rId8"/>
            </p:custDataLst>
          </p:nvPr>
        </p:nvSpPr>
        <p:spPr>
          <a:xfrm>
            <a:off x="822960" y="329184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zh-CN" alt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四至六年级购买同步教辅时，要认准与</a:t>
            </a:r>
            <a:r>
              <a:rPr lang="en-US" altLang="zh-CN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r>
              <a:rPr lang="zh-CN" alt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秋修订教材匹配的版本。旧版资料中部分目录、页码和学习任务已经不能准确对应。</a:t>
            </a:r>
            <a:endParaRPr lang="en-US" sz="1200" dirty="0"/>
          </a:p>
        </p:txBody>
      </p:sp>
      <p:sp>
        <p:nvSpPr>
          <p:cNvPr id="11" name="Shape 7"/>
          <p:cNvSpPr/>
          <p:nvPr>
            <p:custDataLst>
              <p:tags r:id="rId9"/>
            </p:custDataLst>
          </p:nvPr>
        </p:nvSpPr>
        <p:spPr>
          <a:xfrm>
            <a:off x="4370832" y="164592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2" name="Text 8"/>
          <p:cNvSpPr txBox="1"/>
          <p:nvPr>
            <p:custDataLst>
              <p:tags r:id="rId10"/>
            </p:custDataLst>
          </p:nvPr>
        </p:nvSpPr>
        <p:spPr>
          <a:xfrm>
            <a:off x="4645152" y="18288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D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Shape 9"/>
          <p:cNvSpPr/>
          <p:nvPr>
            <p:custDataLst>
              <p:tags r:id="rId11"/>
            </p:custDataLst>
          </p:nvPr>
        </p:nvSpPr>
        <p:spPr>
          <a:xfrm>
            <a:off x="7068312" y="1938528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4" name="Image 2" descr="assets/search_cinnabar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204100" y="2074316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 txBox="1"/>
          <p:nvPr>
            <p:custDataLst>
              <p:tags r:id="rId14"/>
            </p:custDataLst>
          </p:nvPr>
        </p:nvSpPr>
        <p:spPr>
          <a:xfrm>
            <a:off x="4645152" y="2743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看目录</a:t>
            </a:r>
            <a:endParaRPr lang="en-US" sz="1900" dirty="0"/>
          </a:p>
        </p:txBody>
      </p:sp>
      <p:sp>
        <p:nvSpPr>
          <p:cNvPr id="16" name="Text 11"/>
          <p:cNvSpPr txBox="1"/>
          <p:nvPr>
            <p:custDataLst>
              <p:tags r:id="rId15"/>
            </p:custDataLst>
          </p:nvPr>
        </p:nvSpPr>
        <p:spPr>
          <a:xfrm>
            <a:off x="4645152" y="329184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和孩子一起浏览新课本目录，圈出新增与陌生篇目，聊一聊“这学期会读到什么”。先建立熟悉感，预习就成功了一半。</a:t>
            </a:r>
            <a:endParaRPr lang="en-US" sz="1200" dirty="0"/>
          </a:p>
        </p:txBody>
      </p:sp>
      <p:sp>
        <p:nvSpPr>
          <p:cNvPr id="17" name="Shape 12"/>
          <p:cNvSpPr/>
          <p:nvPr>
            <p:custDataLst>
              <p:tags r:id="rId16"/>
            </p:custDataLst>
          </p:nvPr>
        </p:nvSpPr>
        <p:spPr>
          <a:xfrm>
            <a:off x="8193024" y="164592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E9F1F8"/>
          </a:solidFill>
        </p:spPr>
        <p:txBody>
          <a:bodyPr/>
          <a:p/>
        </p:txBody>
      </p:sp>
      <p:sp>
        <p:nvSpPr>
          <p:cNvPr id="18" name="Text 13"/>
          <p:cNvSpPr txBox="1"/>
          <p:nvPr>
            <p:custDataLst>
              <p:tags r:id="rId17"/>
            </p:custDataLst>
          </p:nvPr>
        </p:nvSpPr>
        <p:spPr>
          <a:xfrm>
            <a:off x="8467344" y="182880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D5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Shape 14"/>
          <p:cNvSpPr/>
          <p:nvPr>
            <p:custDataLst>
              <p:tags r:id="rId18"/>
            </p:custDataLst>
          </p:nvPr>
        </p:nvSpPr>
        <p:spPr>
          <a:xfrm>
            <a:off x="10890504" y="1938528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20" name="Image 3" descr="assets/pen_cinnabar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1026292" y="2074316"/>
            <a:ext cx="231343" cy="231343"/>
          </a:xfrm>
          <a:prstGeom prst="rect">
            <a:avLst/>
          </a:prstGeom>
        </p:spPr>
      </p:pic>
      <p:sp>
        <p:nvSpPr>
          <p:cNvPr id="21" name="Text 15"/>
          <p:cNvSpPr txBox="1"/>
          <p:nvPr>
            <p:custDataLst>
              <p:tags r:id="rId21"/>
            </p:custDataLst>
          </p:nvPr>
        </p:nvSpPr>
        <p:spPr>
          <a:xfrm>
            <a:off x="8467344" y="27432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抓习作</a:t>
            </a:r>
            <a:endParaRPr lang="en-US" sz="1900" dirty="0"/>
          </a:p>
        </p:txBody>
      </p:sp>
      <p:sp>
        <p:nvSpPr>
          <p:cNvPr id="22" name="Text 16"/>
          <p:cNvSpPr txBox="1"/>
          <p:nvPr>
            <p:custDataLst>
              <p:tags r:id="rId22"/>
            </p:custDataLst>
          </p:nvPr>
        </p:nvSpPr>
        <p:spPr>
          <a:xfrm>
            <a:off x="8467344" y="329184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多个习作是新题（如《我最喜爱的季节》《传承好家风》），没有“历年范文”可供背诵。鼓励孩子写真实的事、真实的感受，这正是拉开差距的地方。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2 · 家长视角 ③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阅读与写作：两条主线怎么抓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E9F1F8"/>
          </a:solidFill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7" name="Image 1" descr="assets/book_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68" y="1946300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188366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阅读主线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246888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整本书阅读要求提高，快乐读书吧分量加重，只读节选、只做题的方式已不适应新要求</a:t>
            </a:r>
            <a:r>
              <a:rPr lang="en-US" sz="1200" dirty="0">
                <a:solidFill>
                  <a:srgbClr val="24303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zh-CN" altLang="en-US" sz="1200" dirty="0">
                <a:solidFill>
                  <a:srgbClr val="24303B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小学高年级更多训练信息整合、逻辑和思辨。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
</a:t>
            </a: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怎么做：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保持家庭共读节奏；沿着“快乐读书吧”与单元主题延伸整本书；文学之外，补充科普与说明性文本（对应“科学与想象”导向）。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199632" y="1554480"/>
            <a:ext cx="5486400" cy="3291840"/>
          </a:xfrm>
          <a:prstGeom prst="roundRect">
            <a:avLst>
              <a:gd name="adj" fmla="val 2500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519672" y="1810512"/>
            <a:ext cx="502920" cy="502920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2" name="Image 2" descr="assets/pen_cinna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60" y="1946300"/>
            <a:ext cx="231343" cy="231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05472" y="188366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写作主线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46888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新习作题目更贴近真实生活（季节、家风、科学想象），套用模板、背诵范文的收益正在下降。
</a:t>
            </a:r>
            <a:r>
              <a:rPr lang="en-US" sz="1200" b="1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怎么做：</a:t>
            </a:r>
            <a:r>
              <a:rPr lang="en-US" sz="1200" dirty="0">
                <a:solidFill>
                  <a:srgbClr val="2430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鼓励孩子写真实的事、真实的感受；把观察、出游、家庭故事等生活素材作为作文素材库；关注“写清楚、写具体”的过程，而非只看分数。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507492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04672" y="5276088"/>
            <a:ext cx="493776" cy="493776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7" name="Image 3" descr="assets/scroll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92" y="5409408"/>
            <a:ext cx="227137" cy="22713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81328" y="5230368"/>
            <a:ext cx="100584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再提示一点：小古文不必畏难。  </a:t>
            </a:r>
            <a:r>
              <a:rPr lang="en-US" sz="12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新版从孩子熟悉的故事入手（如《曹冲称象》），亲子先读故事、再读原文，文言文入门并不困难。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_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1071" y="365760"/>
            <a:ext cx="1059241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442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2 · 家长视角 ④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3268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高年级家长：读懂三个信号</a:t>
            </a:r>
            <a:endParaRPr lang="en-US" sz="27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548640" y="1645920"/>
            <a:ext cx="11109960" cy="1261872"/>
          </a:xfrm>
          <a:prstGeom prst="roundRect">
            <a:avLst>
              <a:gd name="adj" fmla="val 5797"/>
            </a:avLst>
          </a:prstGeom>
          <a:solidFill>
            <a:srgbClr val="E9F1F8"/>
          </a:solidFill>
        </p:spPr>
        <p:txBody>
          <a:bodyPr/>
          <a:p/>
        </p:txBody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804672" y="2011680"/>
            <a:ext cx="512064" cy="512064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7" name="Image 1" descr="assets/swap_cinnabar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42929" y="2149937"/>
            <a:ext cx="235549" cy="235549"/>
          </a:xfrm>
          <a:prstGeom prst="rect">
            <a:avLst/>
          </a:prstGeom>
        </p:spPr>
      </p:pic>
      <p:sp>
        <p:nvSpPr>
          <p:cNvPr id="8" name="Text 4"/>
          <p:cNvSpPr txBox="1"/>
          <p:nvPr>
            <p:custDataLst>
              <p:tags r:id="rId6"/>
            </p:custDataLst>
          </p:nvPr>
        </p:nvSpPr>
        <p:spPr>
          <a:xfrm>
            <a:off x="1536192" y="18288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六年级节奏前移</a:t>
            </a:r>
            <a:endParaRPr lang="en-US" sz="1450" dirty="0"/>
          </a:p>
        </p:txBody>
      </p:sp>
      <p:sp>
        <p:nvSpPr>
          <p:cNvPr id="9" name="Text 5"/>
          <p:cNvSpPr txBox="1"/>
          <p:nvPr>
            <p:custDataLst>
              <p:tags r:id="rId7"/>
            </p:custDataLst>
          </p:nvPr>
        </p:nvSpPr>
        <p:spPr>
          <a:xfrm>
            <a:off x="4526280" y="1792224"/>
            <a:ext cx="6903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《两小儿辩日》《表里的生物》、习作《插上科学的翅膀飞》等多项六下内容移入六上，上学期学习任务更为充实，高年级节奏随之变化；不要把六年级上学期当作过渡学期，六下如何安排需结合新版下册进一步判断。</a:t>
            </a:r>
            <a:endParaRPr lang="en-US" sz="1150" dirty="0">
              <a:solidFill>
                <a:srgbClr val="5C6B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>
              <a:lnSpc>
                <a:spcPct val="122000"/>
              </a:lnSpc>
              <a:buNone/>
            </a:pPr>
            <a:endParaRPr lang="en-US" sz="1150" dirty="0"/>
          </a:p>
        </p:txBody>
      </p:sp>
      <p:sp>
        <p:nvSpPr>
          <p:cNvPr id="10" name="Shape 6"/>
          <p:cNvSpPr/>
          <p:nvPr>
            <p:custDataLst>
              <p:tags r:id="rId8"/>
            </p:custDataLst>
          </p:nvPr>
        </p:nvSpPr>
        <p:spPr>
          <a:xfrm>
            <a:off x="548640" y="3063240"/>
            <a:ext cx="11109960" cy="1261872"/>
          </a:xfrm>
          <a:prstGeom prst="roundRect">
            <a:avLst>
              <a:gd name="adj" fmla="val 5797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1" name="Shape 7"/>
          <p:cNvSpPr/>
          <p:nvPr>
            <p:custDataLst>
              <p:tags r:id="rId9"/>
            </p:custDataLst>
          </p:nvPr>
        </p:nvSpPr>
        <p:spPr>
          <a:xfrm>
            <a:off x="804672" y="3429000"/>
            <a:ext cx="512064" cy="512064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2" name="Image 2" descr="assets/bulb_cinnabar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42929" y="3567257"/>
            <a:ext cx="235549" cy="235549"/>
          </a:xfrm>
          <a:prstGeom prst="rect">
            <a:avLst/>
          </a:prstGeom>
        </p:spPr>
      </p:pic>
      <p:sp>
        <p:nvSpPr>
          <p:cNvPr id="13" name="Text 8"/>
          <p:cNvSpPr txBox="1"/>
          <p:nvPr>
            <p:custDataLst>
              <p:tags r:id="rId12"/>
            </p:custDataLst>
          </p:nvPr>
        </p:nvSpPr>
        <p:spPr>
          <a:xfrm>
            <a:off x="1536192" y="324612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思辨与说明性阅读比重上升</a:t>
            </a:r>
            <a:endParaRPr lang="en-US" sz="1450" dirty="0"/>
          </a:p>
        </p:txBody>
      </p:sp>
      <p:sp>
        <p:nvSpPr>
          <p:cNvPr id="14" name="Text 9"/>
          <p:cNvSpPr txBox="1"/>
          <p:nvPr>
            <p:custDataLst>
              <p:tags r:id="rId13"/>
            </p:custDataLst>
          </p:nvPr>
        </p:nvSpPr>
        <p:spPr>
          <a:xfrm>
            <a:off x="4526280" y="3209544"/>
            <a:ext cx="6903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“科学与想象”单元、科技题材课文增加，意味着孩子的课外阅读结构要多元：文学之外，科普、传记、说明性文本都应当纳入书单。</a:t>
            </a:r>
            <a:endParaRPr lang="en-US" sz="1150" dirty="0"/>
          </a:p>
        </p:txBody>
      </p:sp>
      <p:sp>
        <p:nvSpPr>
          <p:cNvPr id="15" name="Shape 10"/>
          <p:cNvSpPr/>
          <p:nvPr>
            <p:custDataLst>
              <p:tags r:id="rId14"/>
            </p:custDataLst>
          </p:nvPr>
        </p:nvSpPr>
        <p:spPr>
          <a:xfrm>
            <a:off x="548640" y="4480560"/>
            <a:ext cx="11109960" cy="1261872"/>
          </a:xfrm>
          <a:prstGeom prst="roundRect">
            <a:avLst>
              <a:gd name="adj" fmla="val 5797"/>
            </a:avLst>
          </a:prstGeom>
          <a:solidFill>
            <a:srgbClr val="EEF3F8"/>
          </a:solidFill>
        </p:spPr>
        <p:txBody>
          <a:bodyPr/>
          <a:p/>
        </p:txBody>
      </p:sp>
      <p:sp>
        <p:nvSpPr>
          <p:cNvPr id="16" name="Shape 11"/>
          <p:cNvSpPr/>
          <p:nvPr>
            <p:custDataLst>
              <p:tags r:id="rId15"/>
            </p:custDataLst>
          </p:nvPr>
        </p:nvSpPr>
        <p:spPr>
          <a:xfrm>
            <a:off x="804672" y="4846320"/>
            <a:ext cx="512064" cy="512064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17" name="Image 3" descr="assets/home_cinnabar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942929" y="498457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 txBox="1"/>
          <p:nvPr>
            <p:custDataLst>
              <p:tags r:id="rId18"/>
            </p:custDataLst>
          </p:nvPr>
        </p:nvSpPr>
        <p:spPr>
          <a:xfrm>
            <a:off x="1536192" y="466344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C3D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传统文化融入生活体验</a:t>
            </a:r>
            <a:endParaRPr lang="en-US" sz="1450" dirty="0"/>
          </a:p>
        </p:txBody>
      </p:sp>
      <p:sp>
        <p:nvSpPr>
          <p:cNvPr id="19" name="Text 13"/>
          <p:cNvSpPr txBox="1"/>
          <p:nvPr>
            <p:custDataLst>
              <p:tags r:id="rId19"/>
            </p:custDataLst>
          </p:nvPr>
        </p:nvSpPr>
        <p:spPr>
          <a:xfrm>
            <a:off x="4526280" y="4626864"/>
            <a:ext cx="6903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世界文化遗产、家风等主题贴近生活。博物馆、纪录片、家庭故事都是很好的课外延伸，也是新习作最真实的素材来源。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934075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50" i="1" dirty="0">
                <a:solidFill>
                  <a:srgbClr val="8C9AA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四、五年级同样应尽早稳定阅读与表达习惯，为进入高年级做好持续积累。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5566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老约翰 · 2026秋新教材解读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292840" y="6455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577840"/>
            <a:ext cx="3291840" cy="3291840"/>
          </a:xfrm>
          <a:prstGeom prst="ellipse">
            <a:avLst/>
          </a:prstGeom>
          <a:solidFill>
            <a:srgbClr val="1C3D5A"/>
          </a:solidFill>
        </p:spPr>
        <p:txBody>
          <a:bodyPr/>
          <a:p/>
        </p:txBody>
      </p:sp>
      <p:pic>
        <p:nvPicPr>
          <p:cNvPr id="3" name="Image 0" descr="assets/logo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261" y="457200"/>
            <a:ext cx="1324051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82296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双维度 · 一句话总结</a:t>
            </a:r>
            <a:endParaRPr lang="en-US" sz="1500" dirty="0"/>
          </a:p>
        </p:txBody>
      </p:sp>
      <p:sp>
        <p:nvSpPr>
          <p:cNvPr id="5" name="Shape 2"/>
          <p:cNvSpPr/>
          <p:nvPr>
            <p:custDataLst>
              <p:tags r:id="rId2"/>
            </p:custDataLst>
          </p:nvPr>
        </p:nvSpPr>
        <p:spPr>
          <a:xfrm>
            <a:off x="822960" y="1554480"/>
            <a:ext cx="10561320" cy="1737360"/>
          </a:xfrm>
          <a:prstGeom prst="roundRect">
            <a:avLst>
              <a:gd name="adj" fmla="val 5263"/>
            </a:avLst>
          </a:prstGeom>
          <a:solidFill>
            <a:srgbClr val="1C3D5A"/>
          </a:solidFill>
        </p:spPr>
        <p:txBody>
          <a:bodyPr/>
          <a:p/>
        </p:txBody>
      </p:sp>
      <p:sp>
        <p:nvSpPr>
          <p:cNvPr id="6" name="Shape 3"/>
          <p:cNvSpPr/>
          <p:nvPr>
            <p:custDataLst>
              <p:tags r:id="rId3"/>
            </p:custDataLst>
          </p:nvPr>
        </p:nvSpPr>
        <p:spPr>
          <a:xfrm>
            <a:off x="1143000" y="1874520"/>
            <a:ext cx="548640" cy="548640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pic>
        <p:nvPicPr>
          <p:cNvPr id="7" name="Image 1" descr="assets/chart_white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91133" y="202265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>
            <p:custDataLst>
              <p:tags r:id="rId6"/>
            </p:custDataLst>
          </p:nvPr>
        </p:nvSpPr>
        <p:spPr>
          <a:xfrm>
            <a:off x="1965960" y="1965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给机构</a:t>
            </a:r>
            <a:endParaRPr lang="en-US" sz="1500" dirty="0"/>
          </a:p>
        </p:txBody>
      </p:sp>
      <p:sp>
        <p:nvSpPr>
          <p:cNvPr id="9" name="Text 5"/>
          <p:cNvSpPr txBox="1"/>
          <p:nvPr>
            <p:custDataLst>
              <p:tags r:id="rId7"/>
            </p:custDataLst>
          </p:nvPr>
        </p:nvSpPr>
        <p:spPr>
          <a:xfrm>
            <a:off x="1965960" y="2377440"/>
            <a:ext cx="846709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教材换新首先是一场教学适配：越早完成新版对齐、越能讲清课程如何跟随教材变化，越容易建立专业信任。</a:t>
            </a:r>
            <a:endParaRPr lang="en-US" sz="1550" dirty="0"/>
          </a:p>
        </p:txBody>
      </p:sp>
      <p:sp>
        <p:nvSpPr>
          <p:cNvPr id="10" name="Shape 6"/>
          <p:cNvSpPr/>
          <p:nvPr>
            <p:custDataLst>
              <p:tags r:id="rId8"/>
            </p:custDataLst>
          </p:nvPr>
        </p:nvSpPr>
        <p:spPr>
          <a:xfrm>
            <a:off x="822960" y="3520440"/>
            <a:ext cx="10561320" cy="1737360"/>
          </a:xfrm>
          <a:prstGeom prst="roundRect">
            <a:avLst>
              <a:gd name="adj" fmla="val 5263"/>
            </a:avLst>
          </a:prstGeom>
          <a:solidFill>
            <a:srgbClr val="20456B"/>
          </a:solidFill>
        </p:spPr>
        <p:txBody>
          <a:bodyPr/>
          <a:p/>
        </p:txBody>
      </p:sp>
      <p:sp>
        <p:nvSpPr>
          <p:cNvPr id="11" name="Shape 7"/>
          <p:cNvSpPr/>
          <p:nvPr>
            <p:custDataLst>
              <p:tags r:id="rId9"/>
            </p:custDataLst>
          </p:nvPr>
        </p:nvSpPr>
        <p:spPr>
          <a:xfrm>
            <a:off x="1143000" y="3840480"/>
            <a:ext cx="548640" cy="548640"/>
          </a:xfrm>
          <a:prstGeom prst="ellipse">
            <a:avLst/>
          </a:prstGeom>
          <a:solidFill>
            <a:srgbClr val="C0442C"/>
          </a:solidFill>
        </p:spPr>
        <p:txBody>
          <a:bodyPr/>
          <a:p/>
        </p:txBody>
      </p:sp>
      <p:pic>
        <p:nvPicPr>
          <p:cNvPr id="12" name="Image 2" descr="assets/heart_white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1291133" y="3988613"/>
            <a:ext cx="252374" cy="252374"/>
          </a:xfrm>
          <a:prstGeom prst="rect">
            <a:avLst/>
          </a:prstGeom>
        </p:spPr>
      </p:pic>
      <p:sp>
        <p:nvSpPr>
          <p:cNvPr id="13" name="Text 8"/>
          <p:cNvSpPr txBox="1"/>
          <p:nvPr>
            <p:custDataLst>
              <p:tags r:id="rId12"/>
            </p:custDataLst>
          </p:nvPr>
        </p:nvSpPr>
        <p:spPr>
          <a:xfrm>
            <a:off x="1965960" y="39319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9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给家长</a:t>
            </a:r>
            <a:endParaRPr lang="en-US" sz="1500" dirty="0"/>
          </a:p>
        </p:txBody>
      </p:sp>
      <p:sp>
        <p:nvSpPr>
          <p:cNvPr id="14" name="Text 9"/>
          <p:cNvSpPr txBox="1"/>
          <p:nvPr>
            <p:custDataLst>
              <p:tags r:id="rId13"/>
            </p:custDataLst>
          </p:nvPr>
        </p:nvSpPr>
        <p:spPr>
          <a:xfrm>
            <a:off x="1965960" y="4343400"/>
            <a:ext cx="863473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教材换新不是简单</a:t>
            </a:r>
            <a:r>
              <a:rPr lang="en-US" altLang="zh-CN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“</a:t>
            </a:r>
            <a:r>
              <a:rPr lang="zh-CN" alt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加码</a:t>
            </a:r>
            <a:r>
              <a:rPr lang="en-US" altLang="zh-CN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”</a:t>
            </a:r>
            <a:r>
              <a:rPr lang="zh-CN" altLang="en-US" sz="15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：认准新版资料，稳住阅读与写作两条能力主线，比追着单篇课文抢跑更重要。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5715000"/>
            <a:ext cx="10561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1050" dirty="0">
                <a:solidFill>
                  <a:srgbClr val="8FA1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信息来源：教育部、人民教育出版社公开资料及</a:t>
            </a:r>
            <a:r>
              <a:rPr lang="en-US" altLang="zh-CN" sz="1050" dirty="0">
                <a:solidFill>
                  <a:srgbClr val="8FA1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r>
              <a:rPr lang="zh-CN" altLang="en-US" sz="1050" dirty="0">
                <a:solidFill>
                  <a:srgbClr val="8FA1B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年秋季正式发行教材；涉及具体篇目、单元与习作安排，以正式出版教材为最终依据。</a:t>
            </a:r>
            <a:endParaRPr lang="en-US" sz="1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4.15999999999994,&quot;left&quot;:68.4,&quot;top&quot;:288,&quot;width&quot;:781.2}"/>
</p:tagLst>
</file>

<file path=ppt/tags/tag2.xml><?xml version="1.0" encoding="utf-8"?>
<p:tagLst xmlns:p="http://schemas.openxmlformats.org/presentationml/2006/main">
  <p:tag name="KSO_WM_DIAGRAM_VIRTUALLY_FRAME" val="{&quot;height&quot;:164.15999999999994,&quot;left&quot;:68.4,&quot;top&quot;:288,&quot;width&quot;:781.2}"/>
</p:tagLst>
</file>

<file path=ppt/tags/tag3.xml><?xml version="1.0" encoding="utf-8"?>
<p:tagLst xmlns:p="http://schemas.openxmlformats.org/presentationml/2006/main">
  <p:tag name="KSO_WM_DIAGRAM_VIRTUALLY_FRAME" val="{&quot;height&quot;:164.15999999999994,&quot;left&quot;:68.4,&quot;top&quot;:288,&quot;width&quot;:781.2}"/>
</p:tagLst>
</file>

<file path=ppt/tags/tag4.xml><?xml version="1.0" encoding="utf-8"?>
<p:tagLst xmlns:p="http://schemas.openxmlformats.org/presentationml/2006/main">
  <p:tag name="KSO_WM_DIAGRAM_VIRTUALLY_FRAME" val="{&quot;height&quot;:164.15999999999994,&quot;left&quot;:68.4,&quot;top&quot;:288,&quot;width&quot;:781.2}"/>
</p:tagLst>
</file>

<file path=ppt/tags/tag5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6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7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8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9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0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1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2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3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4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5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6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7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8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19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20.xml><?xml version="1.0" encoding="utf-8"?>
<p:tagLst xmlns:p="http://schemas.openxmlformats.org/presentationml/2006/main">
  <p:tag name="KSO_WM_DIAGRAM_VIRTUALLY_FRAME" val="{&quot;height&quot;:316.08000000000004,&quot;left&quot;:457.2,&quot;top&quot;:126,&quot;width&quot;:457.2}"/>
</p:tagLst>
</file>

<file path=ppt/tags/tag21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22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23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24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25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26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27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28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29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0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1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2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3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4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5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6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7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8.xml><?xml version="1.0" encoding="utf-8"?>
<p:tagLst xmlns:p="http://schemas.openxmlformats.org/presentationml/2006/main">
  <p:tag name="KSO_WM_DIAGRAM_VIRTUALLY_FRAME" val="{&quot;height&quot;:316.8,&quot;left&quot;:43.2,&quot;top&quot;:129.6,&quot;width&quot;:882.72}"/>
</p:tagLst>
</file>

<file path=ppt/tags/tag39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0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1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2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3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4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5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6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7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8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49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50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51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52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53.xml><?xml version="1.0" encoding="utf-8"?>
<p:tagLst xmlns:p="http://schemas.openxmlformats.org/presentationml/2006/main">
  <p:tag name="KSO_WM_DIAGRAM_VIRTUALLY_FRAME" val="{&quot;height&quot;:322.56000000000006,&quot;left&quot;:43.2,&quot;top&quot;:129.6,&quot;width&quot;:874.8}"/>
</p:tagLst>
</file>

<file path=ppt/tags/tag54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55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56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57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58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59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60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61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62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ags/tag63.xml><?xml version="1.0" encoding="utf-8"?>
<p:tagLst xmlns:p="http://schemas.openxmlformats.org/presentationml/2006/main">
  <p:tag name="KSO_WM_DIAGRAM_VIRTUALLY_FRAME" val="{&quot;height&quot;:291.6,&quot;left&quot;:64.8,&quot;top&quot;:122.4,&quot;width&quot;:831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7676</Words>
  <Application>WPS 演示</Application>
  <PresentationFormat>On-screen Show (16:9)</PresentationFormat>
  <Paragraphs>880</Paragraphs>
  <Slides>23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飞鱼</cp:lastModifiedBy>
  <cp:revision>7</cp:revision>
  <dcterms:created xsi:type="dcterms:W3CDTF">2026-09-04T16:22:00Z</dcterms:created>
  <dcterms:modified xsi:type="dcterms:W3CDTF">2026-09-07T08:37:46Z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EC68966A3C2B417D89F0D06E021D93F6_13</vt:lpwstr>
  </property>
</Properties>
</file>