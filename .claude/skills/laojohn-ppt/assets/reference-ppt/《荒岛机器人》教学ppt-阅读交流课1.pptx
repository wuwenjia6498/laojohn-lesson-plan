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6" Type="http://schemas.openxmlformats.org/officeDocument/2006/relationships/viewProps" Target="viewProps.xml"/><Relationship Id="rId25" Type="http://schemas.openxmlformats.org/officeDocument/2006/relationships/tableStyles" Target="tableStyles.xml"/><Relationship Id="rId24" Type="http://schemas.openxmlformats.org/officeDocument/2006/relationships/presProps" Target="presProps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419947" y="1531873"/>
            <a:ext cx="5432425" cy="1950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9575" algn="l" rtl="0" eaLnBrk="0">
              <a:lnSpc>
                <a:spcPts val="8441"/>
              </a:lnSpc>
              <a:tabLst/>
            </a:pPr>
            <a:r>
              <a:rPr sz="6100" i="1" kern="0" spc="-4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《荒岛机器人》</a:t>
            </a:r>
            <a:endParaRPr sz="6100" dirty="0">
              <a:latin typeface="Microsoft YaHei"/>
              <a:ea typeface="Microsoft YaHei"/>
              <a:cs typeface="Microsoft YaHei"/>
            </a:endParaRPr>
          </a:p>
          <a:p>
            <a:pPr marL="1195069" algn="l" rtl="0" eaLnBrk="0">
              <a:lnSpc>
                <a:spcPts val="6710"/>
              </a:lnSpc>
              <a:tabLst/>
            </a:pPr>
            <a:r>
              <a:rPr sz="4000" i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交流课（</a:t>
            </a:r>
            <a:r>
              <a:rPr sz="4000" kern="0" spc="6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000" i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40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000" i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4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196340"/>
            <a:ext cx="758952" cy="1527047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382212" y="5192469"/>
            <a:ext cx="1795145" cy="638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244"/>
              </a:lnSpc>
              <a:tabLst/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【美】</a:t>
            </a:r>
            <a:r>
              <a:rPr sz="15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彼得·布朗  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著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汤瑞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陈芳歌  译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25580" y="491117"/>
            <a:ext cx="1141786" cy="4412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4318788" y="2345874"/>
            <a:ext cx="7274559" cy="4206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06780" algn="l" rtl="0" eaLnBrk="0">
              <a:lnSpc>
                <a:spcPct val="88000"/>
              </a:lnSpc>
              <a:tabLst/>
            </a:pP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新的一周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8819" algn="l" rtl="0" eaLnBrk="0">
              <a:lnSpc>
                <a:spcPct val="88000"/>
              </a:lnSpc>
              <a:spcBef>
                <a:spcPts val="814"/>
              </a:spcBef>
              <a:tabLst/>
            </a:pPr>
            <a:r>
              <a:rPr sz="27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见到你真好 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932"/>
              </a:lnSpc>
              <a:spcBef>
                <a:spcPts val="1556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关于《荒岛机器人》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82245" algn="l" rtl="0" eaLnBrk="0">
              <a:lnSpc>
                <a:spcPct val="88000"/>
              </a:lnSpc>
              <a:spcBef>
                <a:spcPts val="1710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你阅读得怎么样了</a:t>
            </a:r>
            <a:r>
              <a:rPr sz="2700" kern="0" spc="-2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56819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分享阅读感受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6402" y="5769495"/>
            <a:ext cx="740638" cy="740637"/>
          </a:xfrm>
          <a:prstGeom prst="rect">
            <a:avLst/>
          </a:prstGeom>
        </p:spPr>
      </p:pic>
      <p:sp>
        <p:nvSpPr>
          <p:cNvPr id="18" name="rect 18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63395" y="1923415"/>
            <a:ext cx="9414509" cy="3966844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4776904" y="2854897"/>
            <a:ext cx="6239509" cy="2329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60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请</a:t>
            </a:r>
            <a:r>
              <a:rPr sz="2000" kern="0" spc="-3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</a:t>
            </a:r>
            <a:r>
              <a:rPr sz="2000" kern="0" spc="-2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用一</a:t>
            </a:r>
            <a:r>
              <a:rPr sz="2000" kern="0" spc="-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</a:t>
            </a:r>
            <a:r>
              <a:rPr sz="20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</a:t>
            </a:r>
            <a:r>
              <a:rPr sz="2000" kern="0" spc="-2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来</a:t>
            </a:r>
            <a:r>
              <a:rPr sz="20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形</a:t>
            </a:r>
            <a:r>
              <a:rPr sz="20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</a:t>
            </a:r>
            <a:r>
              <a:rPr sz="2000" kern="0" spc="-1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</a:t>
            </a:r>
            <a:r>
              <a:rPr sz="20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</a:t>
            </a:r>
            <a:r>
              <a:rPr sz="2000" kern="0" spc="-3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</a:t>
            </a:r>
            <a:r>
              <a:rPr sz="2000" kern="0" spc="-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</a:t>
            </a:r>
            <a:r>
              <a:rPr sz="20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书</a:t>
            </a:r>
            <a:r>
              <a:rPr sz="20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0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感</a:t>
            </a:r>
            <a:r>
              <a:rPr sz="20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受</a:t>
            </a:r>
            <a:r>
              <a:rPr sz="2000" kern="0" spc="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50520" algn="l" rtl="0" eaLnBrk="0">
              <a:lnSpc>
                <a:spcPts val="3323"/>
              </a:lnSpc>
              <a:tabLst/>
            </a:pPr>
            <a:r>
              <a:rPr sz="2000" kern="0" spc="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说说你的理由</a:t>
            </a:r>
            <a:r>
              <a:rPr sz="2000" kern="0" spc="-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5440" algn="l" rtl="0" eaLnBrk="0">
              <a:lnSpc>
                <a:spcPct val="87000"/>
              </a:lnSpc>
              <a:spcBef>
                <a:spcPts val="426"/>
              </a:spcBef>
              <a:tabLst/>
            </a:pP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比如</a:t>
            </a:r>
            <a:r>
              <a:rPr sz="1400" kern="0" spc="-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44170" indent="-635" algn="l" rtl="0" eaLnBrk="0">
              <a:lnSpc>
                <a:spcPct val="145000"/>
              </a:lnSpc>
              <a:spcBef>
                <a:spcPts val="252"/>
              </a:spcBef>
              <a:tabLst/>
            </a:pPr>
            <a:r>
              <a:rPr sz="1400" b="1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感动 ：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机器人和小</a:t>
            </a: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鹅之间的母子之情（ 还有哪些地方让你觉得特别感动 </a:t>
            </a:r>
            <a:r>
              <a:rPr sz="1400" kern="0" spc="-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？）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新奇 ：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机器人原来也会有感情 </a:t>
            </a:r>
            <a:r>
              <a:rPr sz="1400" kern="0" spc="-2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！（</a:t>
            </a:r>
            <a:r>
              <a:rPr sz="1400" kern="0" spc="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还有哪些地方让你觉得特别新</a:t>
            </a: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奇 </a:t>
            </a:r>
            <a:r>
              <a:rPr sz="1400" kern="0" spc="-2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？）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51154" algn="l" rtl="0" eaLnBrk="0">
              <a:lnSpc>
                <a:spcPts val="267"/>
              </a:lnSpc>
              <a:spcBef>
                <a:spcPts val="1"/>
              </a:spcBef>
              <a:tabLst/>
            </a:pPr>
            <a:r>
              <a:rPr sz="1400" kern="0" spc="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......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0163" y="2366771"/>
            <a:ext cx="3861815" cy="3080003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-12700" y="490220"/>
            <a:ext cx="3095625" cy="783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2"/>
              </a:spcBef>
              <a:tabLst>
                <a:tab pos="89661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分享阅读感受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path 28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41547" y="0"/>
            <a:ext cx="8950452" cy="6858000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766879" y="678794"/>
            <a:ext cx="3916679" cy="3813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8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6839" algn="l" rtl="0" eaLnBrk="0">
              <a:lnSpc>
                <a:spcPct val="88000"/>
              </a:lnSpc>
              <a:tabLst/>
            </a:pP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分享阅读感受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572"/>
              </a:spcBef>
              <a:tabLst/>
            </a:pP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900" kern="0" spc="-67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</a:t>
            </a:r>
            <a:r>
              <a:rPr sz="19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</a:t>
            </a:r>
            <a:r>
              <a:rPr sz="1900" kern="0" spc="-1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喜</a:t>
            </a:r>
            <a:r>
              <a:rPr sz="1900" kern="0" spc="-3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欢</a:t>
            </a:r>
            <a:r>
              <a:rPr sz="19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9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</a:t>
            </a:r>
            <a:r>
              <a:rPr sz="19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哪 一</a:t>
            </a:r>
            <a:r>
              <a:rPr sz="1900" kern="0" spc="-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</a:t>
            </a:r>
            <a:r>
              <a:rPr sz="19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</a:t>
            </a:r>
            <a:r>
              <a:rPr sz="19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</a:t>
            </a:r>
            <a:r>
              <a:rPr sz="19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 ？</a:t>
            </a:r>
            <a:endParaRPr sz="1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571"/>
              </a:spcBef>
              <a:tabLst/>
            </a:pP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900" kern="0" spc="-67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</a:t>
            </a:r>
            <a:r>
              <a:rPr sz="19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</a:t>
            </a:r>
            <a:r>
              <a:rPr sz="19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别</a:t>
            </a:r>
            <a:r>
              <a:rPr sz="19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喜</a:t>
            </a:r>
            <a:r>
              <a:rPr sz="1900" kern="0" spc="-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欢</a:t>
            </a:r>
            <a:r>
              <a:rPr sz="19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9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</a:t>
            </a:r>
            <a:r>
              <a:rPr sz="19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哪 </a:t>
            </a:r>
            <a:r>
              <a:rPr sz="19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19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幅</a:t>
            </a:r>
            <a:r>
              <a:rPr sz="19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插</a:t>
            </a:r>
            <a:r>
              <a:rPr sz="19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 ？</a:t>
            </a:r>
            <a:endParaRPr sz="1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7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</a:t>
            </a:r>
            <a:r>
              <a:rPr sz="20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</a:t>
            </a:r>
            <a:r>
              <a:rPr sz="20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什</a:t>
            </a:r>
            <a:r>
              <a:rPr sz="20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么</a:t>
            </a:r>
            <a:r>
              <a:rPr sz="20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</a:t>
            </a:r>
            <a:r>
              <a:rPr sz="2000" kern="0" spc="-2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</a:t>
            </a:r>
            <a:r>
              <a:rPr sz="2000" kern="0" spc="-3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疑</a:t>
            </a:r>
            <a:r>
              <a:rPr sz="20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</a:t>
            </a:r>
            <a:r>
              <a:rPr sz="20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或</a:t>
            </a:r>
            <a:r>
              <a:rPr sz="20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者</a:t>
            </a:r>
            <a:r>
              <a:rPr sz="2000" kern="0" spc="-3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</a:t>
            </a:r>
            <a:r>
              <a:rPr sz="2000" kern="0" spc="-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rect 34"/>
          <p:cNvSpPr/>
          <p:nvPr/>
        </p:nvSpPr>
        <p:spPr>
          <a:xfrm>
            <a:off x="0" y="502920"/>
            <a:ext cx="719327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2882" y="1002791"/>
            <a:ext cx="11406844" cy="5329841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5626808" y="1364731"/>
            <a:ext cx="5728970" cy="1180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7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400" b="1" kern="0" spc="-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这幅图看上去特别温馨 ，机器人萝丝受伤了 ，熊妈妈让受伤</a:t>
            </a:r>
            <a:r>
              <a:rPr sz="1400" b="1" kern="0" spc="-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的机器人坐在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5240" indent="-1905" algn="l" rtl="0" eaLnBrk="0">
              <a:lnSpc>
                <a:spcPct val="152000"/>
              </a:lnSpc>
              <a:spcBef>
                <a:spcPts val="33"/>
              </a:spcBef>
              <a:tabLst/>
            </a:pPr>
            <a:r>
              <a:rPr sz="1400" b="1" kern="0" spc="-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她的背上 ，两只调皮的小熊和荒岛上的其他动物们跟在后面 </a:t>
            </a:r>
            <a:r>
              <a:rPr sz="1400" b="1" kern="0" spc="-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，一幅其乐融</a:t>
            </a:r>
            <a:r>
              <a:rPr sz="1400" b="1" kern="0" spc="-1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融的画面。</a:t>
            </a:r>
            <a:r>
              <a:rPr sz="1400" b="1" kern="0" spc="-29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也是从这时候开始 ，原来把</a:t>
            </a:r>
            <a:r>
              <a:rPr sz="1400" b="1" kern="0" spc="-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萝丝看作怪物的荒岛上的动物们开</a:t>
            </a:r>
            <a:r>
              <a:rPr sz="1400" b="1" kern="0" spc="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始慢慢接受萝丝 ，把萝丝看作荒岛的一</a:t>
            </a:r>
            <a:r>
              <a:rPr sz="1400" b="1" kern="0" spc="-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员。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476684" y="1612202"/>
            <a:ext cx="4338320" cy="1221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900" kern="0" spc="43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</a:t>
            </a:r>
            <a:r>
              <a:rPr sz="19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</a:t>
            </a:r>
            <a:r>
              <a:rPr sz="19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</a:t>
            </a:r>
            <a:r>
              <a:rPr sz="19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</a:t>
            </a:r>
            <a:r>
              <a:rPr sz="19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幅</a:t>
            </a:r>
            <a:r>
              <a:rPr sz="19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插</a:t>
            </a:r>
            <a:r>
              <a:rPr sz="19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</a:t>
            </a:r>
            <a:r>
              <a:rPr sz="19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19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哪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19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章</a:t>
            </a:r>
            <a:r>
              <a:rPr sz="19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</a:t>
            </a:r>
            <a:r>
              <a:rPr sz="19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吗 ？</a:t>
            </a:r>
            <a:endParaRPr sz="19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1448"/>
              </a:spcBef>
              <a:tabLst/>
            </a:pP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39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 一</a:t>
            </a:r>
            <a:r>
              <a:rPr sz="20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章</a:t>
            </a:r>
            <a:r>
              <a:rPr sz="20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</a:t>
            </a:r>
            <a:r>
              <a:rPr sz="2000" kern="0" spc="-3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</a:t>
            </a:r>
            <a:r>
              <a:rPr sz="20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 了</a:t>
            </a:r>
            <a:r>
              <a:rPr sz="20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什</a:t>
            </a:r>
            <a:r>
              <a:rPr sz="20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么</a:t>
            </a:r>
            <a:r>
              <a:rPr sz="20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</a:t>
            </a:r>
            <a:r>
              <a:rPr sz="20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30225" algn="l" rtl="0" eaLnBrk="0">
              <a:lnSpc>
                <a:spcPct val="89000"/>
              </a:lnSpc>
              <a:spcBef>
                <a:spcPts val="3"/>
              </a:spcBef>
              <a:tabLst/>
            </a:pP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参考 ：P137  第四十七章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游行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871432" y="678794"/>
            <a:ext cx="2211704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8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分享阅读感受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12288" y="166247"/>
            <a:ext cx="1415965" cy="463362"/>
          </a:xfrm>
          <a:prstGeom prst="rect">
            <a:avLst/>
          </a:prstGeom>
        </p:spPr>
      </p:pic>
      <p:sp>
        <p:nvSpPr>
          <p:cNvPr id="46" name="rect 46"/>
          <p:cNvSpPr/>
          <p:nvPr/>
        </p:nvSpPr>
        <p:spPr>
          <a:xfrm>
            <a:off x="0" y="502920"/>
            <a:ext cx="719327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3437952" y="2286819"/>
            <a:ext cx="8155305" cy="426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43964" algn="l" rtl="0" eaLnBrk="0">
              <a:lnSpc>
                <a:spcPct val="88000"/>
              </a:lnSpc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对于本书的故事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62989" algn="l" rtl="0" eaLnBrk="0">
              <a:lnSpc>
                <a:spcPct val="88000"/>
              </a:lnSpc>
              <a:spcBef>
                <a:spcPts val="820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你也许已经很熟悉</a:t>
            </a:r>
            <a:r>
              <a:rPr sz="2700" kern="0" spc="-2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81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我们一起再到这个故事里走一走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04875" algn="l" rtl="0" eaLnBrk="0">
              <a:lnSpc>
                <a:spcPct val="87000"/>
              </a:lnSpc>
              <a:spcBef>
                <a:spcPts val="812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看看有什么新的发现</a:t>
            </a:r>
            <a:r>
              <a:rPr sz="2700" kern="0" spc="-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0192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梳理情节 ：求生——共生——离开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05462" y="5769495"/>
            <a:ext cx="740638" cy="740637"/>
          </a:xfrm>
          <a:prstGeom prst="rect">
            <a:avLst/>
          </a:prstGeom>
        </p:spPr>
      </p:pic>
      <p:sp>
        <p:nvSpPr>
          <p:cNvPr id="54" name="rect 54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2608" y="304800"/>
            <a:ext cx="11606784" cy="62484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76415" y="1673351"/>
            <a:ext cx="4213860" cy="4338828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1110306" y="3550302"/>
            <a:ext cx="4051934" cy="1943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45769" algn="l" rtl="0" eaLnBrk="0">
              <a:lnSpc>
                <a:spcPct val="81000"/>
              </a:lnSpc>
              <a:spcBef>
                <a:spcPts val="2"/>
              </a:spcBef>
              <a:tabLst>
                <a:tab pos="638809" algn="l"/>
              </a:tabLst>
            </a:pPr>
            <a:r>
              <a:rPr sz="2300" kern="0" spc="0" dirty="0">
                <a:solidFill>
                  <a:srgbClr val="3D3D3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-110" dirty="0">
                <a:solidFill>
                  <a:srgbClr val="3D3D3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小组讨论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2450" indent="-400684" algn="l" rtl="0" eaLnBrk="0">
              <a:lnSpc>
                <a:spcPct val="128000"/>
              </a:lnSpc>
              <a:spcBef>
                <a:spcPts val="511"/>
              </a:spcBef>
              <a:tabLst/>
            </a:pP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你是如何将 目</a:t>
            </a:r>
            <a:r>
              <a:rPr sz="17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录结构划分为“</a:t>
            </a:r>
            <a:r>
              <a:rPr sz="1700" kern="0" spc="-3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求</a:t>
            </a:r>
            <a:r>
              <a:rPr sz="17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7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sz="1700" kern="0" spc="-3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——共生——离开</a:t>
            </a:r>
            <a:r>
              <a:rPr sz="1700" kern="0" spc="-3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”三步</a:t>
            </a:r>
            <a:r>
              <a:rPr sz="17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曲的 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1764" algn="l" rtl="0" eaLnBrk="0">
              <a:lnSpc>
                <a:spcPct val="98000"/>
              </a:lnSpc>
              <a:spcBef>
                <a:spcPts val="2"/>
              </a:spcBef>
              <a:tabLst/>
            </a:pPr>
            <a:r>
              <a:rPr sz="1700" kern="0" spc="17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1700" kern="0" spc="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你的划分依据是什么 ？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23006" y="3563002"/>
            <a:ext cx="433687" cy="408905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-12700" y="490220"/>
            <a:ext cx="6433820" cy="781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4"/>
              </a:spcBef>
              <a:tabLst>
                <a:tab pos="89153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梳理情节 ：求生——共生——离开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path 66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8"/>
          <p:cNvSpPr/>
          <p:nvPr/>
        </p:nvSpPr>
        <p:spPr>
          <a:xfrm>
            <a:off x="1980855" y="1720240"/>
            <a:ext cx="9669144" cy="4737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ts val="2162"/>
              </a:lnSpc>
              <a:tabLst/>
            </a:pPr>
            <a:r>
              <a:rPr sz="1700" kern="0" spc="40" dirty="0">
                <a:solidFill>
                  <a:srgbClr val="4F6E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"求生"</a:t>
            </a:r>
            <a:r>
              <a:rPr sz="1700" b="1" kern="0" spc="4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——第一章（</a:t>
            </a:r>
            <a:r>
              <a:rPr sz="1700" b="1" kern="0" spc="33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4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大海</a:t>
            </a:r>
            <a:r>
              <a:rPr sz="1700" b="1" kern="0" spc="18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4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）——第</a:t>
            </a:r>
            <a:r>
              <a:rPr sz="1700" b="1" kern="0" spc="3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</a:t>
            </a:r>
            <a:r>
              <a:rPr sz="1700" b="1" kern="0" spc="-22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3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十章（</a:t>
            </a:r>
            <a:r>
              <a:rPr sz="1700" b="1" kern="0" spc="33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3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鸟言兽语</a:t>
            </a:r>
            <a:r>
              <a:rPr sz="1700" b="1" kern="0" spc="28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3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          共20章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3495" algn="l" rtl="0" eaLnBrk="0">
              <a:lnSpc>
                <a:spcPct val="83000"/>
              </a:lnSpc>
              <a:spcBef>
                <a:spcPts val="1309"/>
              </a:spcBef>
              <a:tabLst/>
            </a:pPr>
            <a:r>
              <a:rPr sz="1400" kern="0" spc="8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 目</a:t>
            </a:r>
            <a:r>
              <a:rPr sz="1400" kern="0" spc="-20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8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录标题我们可以看出 ，在这一部分 ，萝丝完成了从流落荒岛到学会鸟言兽语等生存技能 ，终于能在</a:t>
            </a:r>
            <a:r>
              <a:rPr sz="1400" kern="0" spc="7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荒岛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1115" algn="l" rtl="0" eaLnBrk="0">
              <a:lnSpc>
                <a:spcPts val="2418"/>
              </a:lnSpc>
              <a:tabLst/>
            </a:pPr>
            <a:r>
              <a:rPr sz="1400" kern="0" spc="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生存下去 了。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522"/>
              </a:spcBef>
              <a:tabLst/>
            </a:pPr>
            <a:r>
              <a:rPr sz="1700" kern="0" spc="-20" dirty="0">
                <a:solidFill>
                  <a:srgbClr val="E9833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"共生"</a:t>
            </a:r>
            <a:r>
              <a:rPr sz="1700" b="1" kern="0" spc="-2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——第二</a:t>
            </a:r>
            <a:r>
              <a:rPr sz="1700" b="1" kern="0" spc="-23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2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1700" b="1" kern="0" spc="-3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一章（</a:t>
            </a:r>
            <a:r>
              <a:rPr sz="1700" b="1" kern="0" spc="48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自我介绍</a:t>
            </a:r>
            <a:r>
              <a:rPr sz="1700" b="1" kern="0" spc="14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）——第六十六章（</a:t>
            </a:r>
            <a:r>
              <a:rPr sz="1700" b="1" kern="0" spc="21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庆祝会</a:t>
            </a:r>
            <a:r>
              <a:rPr sz="1700" b="1" kern="0" spc="24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700" b="1" kern="0" spc="43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3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共46章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3495" algn="l" rtl="0" eaLnBrk="0">
              <a:lnSpc>
                <a:spcPct val="83000"/>
              </a:lnSpc>
              <a:spcBef>
                <a:spcPts val="1389"/>
              </a:spcBef>
              <a:tabLst/>
            </a:pPr>
            <a:r>
              <a:rPr sz="1400" kern="0" spc="9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 目</a:t>
            </a:r>
            <a:r>
              <a:rPr sz="1400" kern="0" spc="-19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9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录标题我们可以看出 ，在这一部分 ，萝丝完成了从开始和荒岛上的动物们相识到和动物们一起举</a:t>
            </a:r>
            <a:r>
              <a:rPr sz="1400" kern="0" spc="8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行盛大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8100" algn="l" rtl="0" eaLnBrk="0">
              <a:lnSpc>
                <a:spcPts val="2520"/>
              </a:lnSpc>
              <a:tabLst/>
            </a:pPr>
            <a:r>
              <a:rPr sz="1400" kern="0" spc="4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的狂欢</a:t>
            </a:r>
            <a:r>
              <a:rPr sz="1400" kern="0" spc="20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，故事达到高潮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ts val="2053"/>
              </a:lnSpc>
              <a:spcBef>
                <a:spcPts val="520"/>
              </a:spcBef>
              <a:tabLst/>
            </a:pPr>
            <a:r>
              <a:rPr sz="1700" kern="0" spc="30" dirty="0">
                <a:solidFill>
                  <a:srgbClr val="D4B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"离开</a:t>
            </a:r>
            <a:r>
              <a:rPr sz="1700" kern="0" spc="310" dirty="0">
                <a:solidFill>
                  <a:srgbClr val="D4BC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3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——第六十七章（  日</a:t>
            </a:r>
            <a:r>
              <a:rPr sz="1700" b="1" kern="0" spc="-15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3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</a:t>
            </a:r>
            <a:r>
              <a:rPr sz="1700" b="1" kern="0" spc="19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3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）——第八十章（</a:t>
            </a:r>
            <a:r>
              <a:rPr sz="1700" b="1" kern="0" spc="29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3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天</a:t>
            </a:r>
            <a:r>
              <a:rPr sz="1700" b="1" kern="0" spc="2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空</a:t>
            </a:r>
            <a:r>
              <a:rPr sz="1700" b="1" kern="0" spc="28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2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          共14章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3495" algn="l" rtl="0" eaLnBrk="0">
              <a:lnSpc>
                <a:spcPct val="84000"/>
              </a:lnSpc>
              <a:spcBef>
                <a:spcPts val="1412"/>
              </a:spcBef>
              <a:tabLst/>
            </a:pPr>
            <a:r>
              <a:rPr sz="1400" kern="0" spc="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 目</a:t>
            </a:r>
            <a:r>
              <a:rPr sz="1400" kern="0" spc="-20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录标题我们可以看出</a:t>
            </a:r>
            <a:r>
              <a:rPr sz="1400" kern="0" spc="1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，在</a:t>
            </a:r>
            <a:r>
              <a:rPr sz="1400" kern="0" spc="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这一部分的开始和结束都跟“</a:t>
            </a:r>
            <a:r>
              <a:rPr sz="1400" kern="0" spc="-29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天空”有关</a:t>
            </a:r>
            <a:r>
              <a:rPr sz="1400" kern="0" spc="1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，狂欢之后</a:t>
            </a:r>
            <a:r>
              <a:rPr sz="1400" kern="0" spc="13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，一个看似平淡的 日</a:t>
            </a:r>
            <a:r>
              <a:rPr sz="1400" kern="0" spc="-16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常却透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3019" algn="l" rtl="0" eaLnBrk="0">
              <a:lnSpc>
                <a:spcPts val="2519"/>
              </a:lnSpc>
              <a:tabLst/>
            </a:pPr>
            <a:r>
              <a:rPr sz="1400" kern="0" spc="8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露出一丝不详的气息 ，飞船出现在天空 ，经过一系列战斗 ，最后飞船带走了萝</a:t>
            </a:r>
            <a:r>
              <a:rPr sz="1400" kern="0" spc="70" dirty="0">
                <a:solidFill>
                  <a:srgbClr val="222A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丝 ，从天空消失。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答案不唯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29466" y="5075580"/>
            <a:ext cx="115404" cy="110324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-12700" y="490220"/>
            <a:ext cx="6433820" cy="781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4"/>
              </a:spcBef>
              <a:tabLst>
                <a:tab pos="89153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梳理情节 ：求生——共生——离开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path 74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944638" y="1794395"/>
            <a:ext cx="535800" cy="535813"/>
            <a:chOff x="0" y="0"/>
            <a:chExt cx="535800" cy="535813"/>
          </a:xfrm>
        </p:grpSpPr>
        <p:sp>
          <p:nvSpPr>
            <p:cNvPr id="78" name="path 78"/>
            <p:cNvSpPr/>
            <p:nvPr/>
          </p:nvSpPr>
          <p:spPr>
            <a:xfrm>
              <a:off x="0" y="0"/>
              <a:ext cx="535800" cy="535813"/>
            </a:xfrm>
            <a:custGeom>
              <a:avLst/>
              <a:gdLst/>
              <a:ahLst/>
              <a:cxnLst/>
              <a:rect l="0" t="0" r="0" b="0"/>
              <a:pathLst>
                <a:path w="843" h="843">
                  <a:moveTo>
                    <a:pt x="0" y="421"/>
                  </a:moveTo>
                  <a:cubicBezTo>
                    <a:pt x="0" y="188"/>
                    <a:pt x="188" y="0"/>
                    <a:pt x="421" y="0"/>
                  </a:cubicBezTo>
                  <a:cubicBezTo>
                    <a:pt x="654" y="0"/>
                    <a:pt x="843" y="188"/>
                    <a:pt x="843" y="421"/>
                  </a:cubicBezTo>
                  <a:cubicBezTo>
                    <a:pt x="843" y="654"/>
                    <a:pt x="654" y="843"/>
                    <a:pt x="421" y="843"/>
                  </a:cubicBezTo>
                  <a:cubicBezTo>
                    <a:pt x="188" y="843"/>
                    <a:pt x="0" y="654"/>
                    <a:pt x="0" y="421"/>
                  </a:cubicBezTo>
                </a:path>
              </a:pathLst>
            </a:cu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" name="textbox 80"/>
            <p:cNvSpPr/>
            <p:nvPr/>
          </p:nvSpPr>
          <p:spPr>
            <a:xfrm>
              <a:off x="-12700" y="-12700"/>
              <a:ext cx="561340" cy="5969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3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5895" algn="l" rtl="0" eaLnBrk="0">
                <a:lnSpc>
                  <a:spcPct val="81000"/>
                </a:lnSpc>
                <a:tabLst/>
              </a:pPr>
              <a:r>
                <a:rPr sz="1500" b="1" kern="0" spc="-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944638" y="5114099"/>
            <a:ext cx="535800" cy="535813"/>
            <a:chOff x="0" y="0"/>
            <a:chExt cx="535800" cy="535813"/>
          </a:xfrm>
        </p:grpSpPr>
        <p:sp>
          <p:nvSpPr>
            <p:cNvPr id="82" name="path 82"/>
            <p:cNvSpPr/>
            <p:nvPr/>
          </p:nvSpPr>
          <p:spPr>
            <a:xfrm>
              <a:off x="0" y="0"/>
              <a:ext cx="535800" cy="535813"/>
            </a:xfrm>
            <a:custGeom>
              <a:avLst/>
              <a:gdLst/>
              <a:ahLst/>
              <a:cxnLst/>
              <a:rect l="0" t="0" r="0" b="0"/>
              <a:pathLst>
                <a:path w="843" h="843">
                  <a:moveTo>
                    <a:pt x="0" y="423"/>
                  </a:moveTo>
                  <a:cubicBezTo>
                    <a:pt x="0" y="188"/>
                    <a:pt x="188" y="0"/>
                    <a:pt x="421" y="0"/>
                  </a:cubicBezTo>
                  <a:cubicBezTo>
                    <a:pt x="654" y="0"/>
                    <a:pt x="843" y="188"/>
                    <a:pt x="843" y="421"/>
                  </a:cubicBezTo>
                  <a:cubicBezTo>
                    <a:pt x="843" y="654"/>
                    <a:pt x="654" y="843"/>
                    <a:pt x="421" y="843"/>
                  </a:cubicBezTo>
                  <a:cubicBezTo>
                    <a:pt x="188" y="843"/>
                    <a:pt x="0" y="654"/>
                    <a:pt x="0" y="423"/>
                  </a:cubicBezTo>
                </a:path>
              </a:pathLst>
            </a:custGeom>
            <a:solidFill>
              <a:srgbClr val="F2BA0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" name="textbox 84"/>
            <p:cNvSpPr/>
            <p:nvPr/>
          </p:nvSpPr>
          <p:spPr>
            <a:xfrm>
              <a:off x="-12700" y="-12700"/>
              <a:ext cx="561340" cy="5956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5895" algn="l" rtl="0" eaLnBrk="0">
                <a:lnSpc>
                  <a:spcPct val="81000"/>
                </a:lnSpc>
                <a:spcBef>
                  <a:spcPts val="2"/>
                </a:spcBef>
                <a:tabLst/>
              </a:pPr>
              <a:r>
                <a:rPr sz="1500" b="1" kern="0" spc="-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944638" y="3454615"/>
            <a:ext cx="535800" cy="535800"/>
            <a:chOff x="0" y="0"/>
            <a:chExt cx="535800" cy="535800"/>
          </a:xfrm>
        </p:grpSpPr>
        <p:sp>
          <p:nvSpPr>
            <p:cNvPr id="86" name="path 86"/>
            <p:cNvSpPr/>
            <p:nvPr/>
          </p:nvSpPr>
          <p:spPr>
            <a:xfrm>
              <a:off x="0" y="0"/>
              <a:ext cx="535800" cy="535800"/>
            </a:xfrm>
            <a:custGeom>
              <a:avLst/>
              <a:gdLst/>
              <a:ahLst/>
              <a:cxnLst/>
              <a:rect l="0" t="0" r="0" b="0"/>
              <a:pathLst>
                <a:path w="843" h="843">
                  <a:moveTo>
                    <a:pt x="0" y="422"/>
                  </a:moveTo>
                  <a:cubicBezTo>
                    <a:pt x="0" y="188"/>
                    <a:pt x="188" y="0"/>
                    <a:pt x="421" y="0"/>
                  </a:cubicBezTo>
                  <a:cubicBezTo>
                    <a:pt x="654" y="0"/>
                    <a:pt x="843" y="188"/>
                    <a:pt x="843" y="421"/>
                  </a:cubicBezTo>
                  <a:cubicBezTo>
                    <a:pt x="843" y="654"/>
                    <a:pt x="654" y="843"/>
                    <a:pt x="421" y="843"/>
                  </a:cubicBezTo>
                  <a:cubicBezTo>
                    <a:pt x="188" y="843"/>
                    <a:pt x="0" y="654"/>
                    <a:pt x="0" y="422"/>
                  </a:cubicBezTo>
                </a:path>
              </a:pathLst>
            </a:custGeom>
            <a:solidFill>
              <a:srgbClr val="EE822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" name="textbox 88"/>
            <p:cNvSpPr/>
            <p:nvPr/>
          </p:nvSpPr>
          <p:spPr>
            <a:xfrm>
              <a:off x="-12700" y="-12700"/>
              <a:ext cx="561340" cy="5956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5895" algn="l" rtl="0" eaLnBrk="0">
                <a:lnSpc>
                  <a:spcPct val="81000"/>
                </a:lnSpc>
                <a:spcBef>
                  <a:spcPts val="2"/>
                </a:spcBef>
                <a:tabLst/>
              </a:pPr>
              <a:r>
                <a:rPr sz="1500" b="1" kern="0" spc="-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90" name="picture 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06550" y="4105275"/>
            <a:ext cx="12700" cy="893965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06550" y="2445791"/>
            <a:ext cx="12700" cy="8939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2392603" y="2902134"/>
            <a:ext cx="9200515" cy="3643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60780" algn="l" rtl="0" eaLnBrk="0">
              <a:lnSpc>
                <a:spcPct val="89000"/>
              </a:lnSpc>
              <a:tabLst/>
            </a:pPr>
            <a:r>
              <a:rPr sz="2600" kern="0" spc="-1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萝丝在荒岛上从“求生</a:t>
            </a:r>
            <a:r>
              <a:rPr sz="2600" kern="0" spc="-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”到“离开”，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10310" algn="l" rtl="0" eaLnBrk="0">
              <a:lnSpc>
                <a:spcPct val="89000"/>
              </a:lnSpc>
              <a:spcBef>
                <a:spcPts val="810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她的故事是否给了你什么启示</a:t>
            </a:r>
            <a:r>
              <a:rPr sz="2700" kern="0" spc="-2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300" kern="0" spc="-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内容梳理、</a:t>
            </a:r>
            <a:r>
              <a:rPr sz="2300" kern="0" spc="-4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-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阅读讨论 ：萝丝为什么能在荒岛“求生”与荒岛</a:t>
            </a:r>
            <a:r>
              <a:rPr sz="2300" kern="0" spc="-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“共生”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85094" y="5769495"/>
            <a:ext cx="740638" cy="740637"/>
          </a:xfrm>
          <a:prstGeom prst="rect">
            <a:avLst/>
          </a:prstGeom>
        </p:spPr>
      </p:pic>
      <p:sp>
        <p:nvSpPr>
          <p:cNvPr id="100" name="rect 100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 102"/>
          <p:cNvSpPr/>
          <p:nvPr/>
        </p:nvSpPr>
        <p:spPr>
          <a:xfrm>
            <a:off x="4724400" y="2901695"/>
            <a:ext cx="7162800" cy="3419856"/>
          </a:xfrm>
          <a:prstGeom prst="rect">
            <a:avLst/>
          </a:prstGeom>
          <a:solidFill>
            <a:srgbClr val="DCDADA">
              <a:alpha val="7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3561" y="1471929"/>
            <a:ext cx="3319319" cy="5087293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5351991" y="3511972"/>
            <a:ext cx="5541645" cy="1515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4000" kern="0" spc="2450" dirty="0">
                <a:solidFill>
                  <a:srgbClr val="FADE70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4000" kern="0" spc="280" dirty="0">
                <a:solidFill>
                  <a:srgbClr val="FADE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kern="0" spc="40" baseline="-5208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讨论</a:t>
            </a:r>
            <a:r>
              <a:rPr sz="1900" b="1" kern="0" spc="2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000" b="1" kern="0" spc="40" baseline="-138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sz="3000" baseline="-1389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35000" algn="l" rtl="0" eaLnBrk="0">
              <a:lnSpc>
                <a:spcPct val="88000"/>
              </a:lnSpc>
              <a:spcBef>
                <a:spcPts val="604"/>
              </a:spcBef>
              <a:tabLst/>
            </a:pPr>
            <a:r>
              <a:rPr sz="2000" b="1" kern="0" spc="-1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在萝丝在荒岛的“</a:t>
            </a:r>
            <a:r>
              <a:rPr sz="2000" b="1" kern="0" spc="-3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-1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求生</a:t>
            </a:r>
            <a:r>
              <a:rPr sz="2000" b="1" kern="0" spc="-47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-1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”和“</a:t>
            </a:r>
            <a:r>
              <a:rPr sz="2000" b="1" kern="0" spc="-3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-1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共生</a:t>
            </a:r>
            <a:r>
              <a:rPr sz="2000" b="1" kern="0" spc="-47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-1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”部分</a:t>
            </a:r>
            <a:r>
              <a:rPr sz="2000" b="1" kern="0" spc="-35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-1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2000" kern="0" spc="80" dirty="0">
                <a:solidFill>
                  <a:srgbClr val="262626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650" dirty="0">
                <a:solidFill>
                  <a:srgbClr val="262626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8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萝丝为什么能在荒岛生存和与荒岛共存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-12700" y="490220"/>
            <a:ext cx="11221719" cy="775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9000"/>
              </a:lnSpc>
              <a:tabLst>
                <a:tab pos="92011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内容梳理</a:t>
            </a:r>
            <a:r>
              <a:rPr sz="2700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700" kern="0" spc="-4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阅读讨论 ：萝丝为什么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能在荒岛“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求生”与荒岛“</a:t>
            </a:r>
            <a:r>
              <a:rPr sz="2700" kern="0" spc="-6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共生”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path 110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textbox 112"/>
          <p:cNvSpPr/>
          <p:nvPr/>
        </p:nvSpPr>
        <p:spPr>
          <a:xfrm>
            <a:off x="9125560" y="5692661"/>
            <a:ext cx="2558414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请在书中找到“证据”   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63511" y="5705361"/>
            <a:ext cx="302489" cy="302488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30757" y="5587338"/>
            <a:ext cx="405806" cy="316258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11383545" y="1619076"/>
            <a:ext cx="36512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table 120"/>
          <p:cNvGraphicFramePr>
            <a:graphicFrameLocks noGrp="1"/>
          </p:cNvGraphicFramePr>
          <p:nvPr/>
        </p:nvGraphicFramePr>
        <p:xfrm>
          <a:off x="716280" y="1556384"/>
          <a:ext cx="10699115" cy="4893945"/>
        </p:xfrm>
        <a:graphic>
          <a:graphicData uri="http://schemas.openxmlformats.org/drawingml/2006/table">
            <a:tbl>
              <a:tblPr/>
              <a:tblGrid>
                <a:gridCol w="5354320"/>
                <a:gridCol w="5344795"/>
              </a:tblGrid>
              <a:tr h="614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萝丝能在荒岛生存、</a:t>
                      </a:r>
                      <a:r>
                        <a:rPr sz="1700" b="1" kern="0" spc="-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与荒岛动物们共生的</a:t>
                      </a:r>
                      <a:r>
                        <a:rPr sz="1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0C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07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我的依据是</a:t>
                      </a:r>
                      <a:r>
                        <a:rPr sz="17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…</a:t>
                      </a:r>
                      <a:r>
                        <a:rPr sz="1700" b="1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7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…</a:t>
                      </a:r>
                      <a:endParaRPr sz="1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0C1"/>
                    </a:solidFill>
                  </a:tcPr>
                </a:tc>
              </a:tr>
              <a:tr h="6102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79" algn="l" rtl="0" eaLnBrk="0">
                        <a:lnSpc>
                          <a:spcPct val="8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学习能力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3204" algn="l" rtl="0" eaLnBrk="0">
                        <a:lnSpc>
                          <a:spcPct val="11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从螃蟹攀爬 ，学会爬上岩石顶上 ；从小棍虫子身上 ，学会伪装 ；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4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从负鼠身上 ，学会“表演”；      从老鹅身上 ，学会当妈妈......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96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9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观察能力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79" indent="-3175" algn="l" rtl="0" eaLnBrk="0">
                        <a:lnSpc>
                          <a:spcPct val="115000"/>
                        </a:lnSpc>
                        <a:tabLst/>
                      </a:pPr>
                      <a:r>
                        <a:rPr sz="1400" b="1" kern="0" spc="-3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观察周围的一切 ，学会了鸟言兽语 ，能听懂动物们的语言 ，</a:t>
                      </a:r>
                      <a:r>
                        <a:rPr sz="1400" b="1" kern="0" spc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</a:t>
                      </a:r>
                      <a:r>
                        <a:rPr sz="1400" b="1" kern="0" spc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这是萝丝能够融入荒岛的一个非常关键的因素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2570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机器人的特性1 ：机器人程序</a:t>
                      </a: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设定的规定动作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145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萝丝能让自己一直保持最好的工作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257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机器人的特性2 ：强大的信息</a:t>
                      </a:r>
                      <a:r>
                        <a:rPr sz="1500" b="1" kern="0" spc="6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存储和处理能力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892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400" b="1" kern="0" spc="-3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指导小鹅学习飞行 ，成为鹅群领袖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机器人的特性3 ：远超于人的速度、</a:t>
                      </a:r>
                      <a:r>
                        <a:rPr sz="1500" b="1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视觉、</a:t>
                      </a:r>
                      <a:r>
                        <a:rPr sz="15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听力、</a:t>
                      </a:r>
                      <a:r>
                        <a:rPr sz="1500" b="1" kern="0" spc="-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体力等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79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救小熊 ，无休无眠地工作 ，效率极高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229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9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拥有思想和情感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015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像妈妈一样照顾和爱小鹅 ，对动物们非常友好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6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104" algn="l" rtl="0" eaLnBrk="0">
                        <a:lnSpc>
                          <a:spcPts val="35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……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3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……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2" name="textbox 122"/>
          <p:cNvSpPr/>
          <p:nvPr/>
        </p:nvSpPr>
        <p:spPr>
          <a:xfrm>
            <a:off x="-12700" y="490220"/>
            <a:ext cx="11221719" cy="775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9000"/>
              </a:lnSpc>
              <a:tabLst>
                <a:tab pos="92011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内容梳理</a:t>
            </a:r>
            <a:r>
              <a:rPr sz="2700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700" kern="0" spc="-4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阅读讨论 ：萝丝为什么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能在荒岛“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求生”与荒岛“</a:t>
            </a:r>
            <a:r>
              <a:rPr sz="2700" kern="0" spc="-6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共生”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4" name="path 124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12288" y="166247"/>
            <a:ext cx="1415965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9079" y="272795"/>
            <a:ext cx="11628119" cy="6312408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3425461" y="1990890"/>
            <a:ext cx="8161655" cy="4532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37614" algn="l" rtl="0" eaLnBrk="0">
              <a:lnSpc>
                <a:spcPct val="88000"/>
              </a:lnSpc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作为一个机器人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69339" algn="l" rtl="0" eaLnBrk="0">
              <a:lnSpc>
                <a:spcPct val="87000"/>
              </a:lnSpc>
              <a:spcBef>
                <a:spcPts val="819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萝丝确实非常特别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89000"/>
              </a:lnSpc>
              <a:spcBef>
                <a:spcPts val="816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她既具备一般机器人的特征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815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也有一些其他机器人没有的特征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8000" algn="l" rtl="0" eaLnBrk="0">
              <a:lnSpc>
                <a:spcPct val="87000"/>
              </a:lnSpc>
              <a:spcBef>
                <a:spcPts val="815"/>
              </a:spcBef>
              <a:tabLst/>
            </a:pP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那是什么</a:t>
            </a:r>
            <a:r>
              <a:rPr sz="2700" kern="0" spc="-2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642484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总结概括&amp;资料阅读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24998" y="5740920"/>
            <a:ext cx="740638" cy="740638"/>
          </a:xfrm>
          <a:prstGeom prst="rect">
            <a:avLst/>
          </a:prstGeom>
        </p:spPr>
      </p:pic>
      <p:sp>
        <p:nvSpPr>
          <p:cNvPr id="134" name="rect 134"/>
          <p:cNvSpPr/>
          <p:nvPr/>
        </p:nvSpPr>
        <p:spPr>
          <a:xfrm>
            <a:off x="0" y="473964"/>
            <a:ext cx="714756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1621" y="1612277"/>
            <a:ext cx="4476667" cy="4630848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5486400" y="2438400"/>
            <a:ext cx="6705600" cy="3048000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9039" algn="l" rtl="0" eaLnBrk="0">
              <a:lnSpc>
                <a:spcPct val="88000"/>
              </a:lnSpc>
              <a:tabLst/>
            </a:pPr>
            <a:r>
              <a:rPr sz="2000" b="1" kern="0" spc="1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概括总结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846455" algn="l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7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你认为机器人萝丝是一个怎样的机器人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-12700" y="490220"/>
            <a:ext cx="2353945" cy="781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1"/>
              </a:spcBef>
              <a:tabLst>
                <a:tab pos="8959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总结概括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path 142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group 8"/>
          <p:cNvGrpSpPr/>
          <p:nvPr/>
        </p:nvGrpSpPr>
        <p:grpSpPr>
          <a:xfrm rot="21600000">
            <a:off x="11582400" y="5791250"/>
            <a:ext cx="457289" cy="152400"/>
            <a:chOff x="0" y="0"/>
            <a:chExt cx="457289" cy="152400"/>
          </a:xfrm>
        </p:grpSpPr>
        <p:sp>
          <p:nvSpPr>
            <p:cNvPr id="144" name="path 144"/>
            <p:cNvSpPr/>
            <p:nvPr/>
          </p:nvSpPr>
          <p:spPr>
            <a:xfrm>
              <a:off x="0" y="0"/>
              <a:ext cx="152489" cy="152400"/>
            </a:xfrm>
            <a:custGeom>
              <a:avLst/>
              <a:gdLst/>
              <a:ahLst/>
              <a:cxnLst/>
              <a:rect l="0" t="0" r="0" b="0"/>
              <a:pathLst>
                <a:path w="240" h="240">
                  <a:moveTo>
                    <a:pt x="0" y="119"/>
                  </a:moveTo>
                  <a:cubicBezTo>
                    <a:pt x="0" y="53"/>
                    <a:pt x="53" y="0"/>
                    <a:pt x="120" y="0"/>
                  </a:cubicBezTo>
                  <a:cubicBezTo>
                    <a:pt x="186" y="0"/>
                    <a:pt x="240" y="53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ubicBezTo>
                    <a:pt x="53" y="240"/>
                    <a:pt x="0" y="186"/>
                    <a:pt x="0" y="119"/>
                  </a:cubicBezTo>
                </a:path>
              </a:pathLst>
            </a:custGeom>
            <a:solidFill>
              <a:srgbClr val="44546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6" name="path 146"/>
            <p:cNvSpPr/>
            <p:nvPr/>
          </p:nvSpPr>
          <p:spPr>
            <a:xfrm>
              <a:off x="304800" y="0"/>
              <a:ext cx="152489" cy="152400"/>
            </a:xfrm>
            <a:custGeom>
              <a:avLst/>
              <a:gdLst/>
              <a:ahLst/>
              <a:cxnLst/>
              <a:rect l="0" t="0" r="0" b="0"/>
              <a:pathLst>
                <a:path w="240" h="240">
                  <a:moveTo>
                    <a:pt x="0" y="119"/>
                  </a:moveTo>
                  <a:cubicBezTo>
                    <a:pt x="0" y="53"/>
                    <a:pt x="53" y="0"/>
                    <a:pt x="120" y="0"/>
                  </a:cubicBezTo>
                  <a:cubicBezTo>
                    <a:pt x="186" y="0"/>
                    <a:pt x="240" y="53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ubicBezTo>
                    <a:pt x="53" y="240"/>
                    <a:pt x="0" y="186"/>
                    <a:pt x="0" y="119"/>
                  </a:cubicBezTo>
                </a:path>
              </a:pathLst>
            </a:cu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5638800" y="1981212"/>
            <a:ext cx="457200" cy="152400"/>
            <a:chOff x="0" y="0"/>
            <a:chExt cx="457200" cy="152400"/>
          </a:xfrm>
        </p:grpSpPr>
        <p:sp>
          <p:nvSpPr>
            <p:cNvPr id="148" name="path 148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0" t="0" r="0" b="0"/>
              <a:pathLst>
                <a:path w="240" h="240">
                  <a:moveTo>
                    <a:pt x="0" y="119"/>
                  </a:moveTo>
                  <a:cubicBezTo>
                    <a:pt x="0" y="53"/>
                    <a:pt x="53" y="0"/>
                    <a:pt x="120" y="0"/>
                  </a:cubicBezTo>
                  <a:cubicBezTo>
                    <a:pt x="186" y="0"/>
                    <a:pt x="240" y="53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ubicBezTo>
                    <a:pt x="53" y="240"/>
                    <a:pt x="0" y="186"/>
                    <a:pt x="0" y="119"/>
                  </a:cubicBezTo>
                </a:path>
              </a:pathLst>
            </a:cu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0" name="path 150"/>
            <p:cNvSpPr/>
            <p:nvPr/>
          </p:nvSpPr>
          <p:spPr>
            <a:xfrm>
              <a:off x="304800" y="0"/>
              <a:ext cx="152400" cy="152400"/>
            </a:xfrm>
            <a:custGeom>
              <a:avLst/>
              <a:gdLst/>
              <a:ahLst/>
              <a:cxnLst/>
              <a:rect l="0" t="0" r="0" b="0"/>
              <a:pathLst>
                <a:path w="240" h="240">
                  <a:moveTo>
                    <a:pt x="0" y="119"/>
                  </a:moveTo>
                  <a:cubicBezTo>
                    <a:pt x="0" y="53"/>
                    <a:pt x="53" y="0"/>
                    <a:pt x="120" y="0"/>
                  </a:cubicBezTo>
                  <a:cubicBezTo>
                    <a:pt x="186" y="0"/>
                    <a:pt x="240" y="53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ubicBezTo>
                    <a:pt x="53" y="240"/>
                    <a:pt x="0" y="186"/>
                    <a:pt x="0" y="119"/>
                  </a:cubicBezTo>
                </a:path>
              </a:pathLst>
            </a:custGeom>
            <a:solidFill>
              <a:srgbClr val="44546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90550" y="0"/>
            <a:ext cx="11010900" cy="6812280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1132639" y="2405952"/>
            <a:ext cx="5831840" cy="3280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005" algn="l" rtl="0" eaLnBrk="0">
              <a:lnSpc>
                <a:spcPct val="93000"/>
              </a:lnSpc>
              <a:tabLst/>
            </a:pPr>
            <a:r>
              <a:rPr sz="2000" kern="0" spc="12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47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你认为哪些是机器人萝丝作为</a:t>
            </a:r>
            <a:r>
              <a:rPr sz="2000" kern="0" spc="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人工智能机器人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417194" algn="l" rtl="0" eaLnBrk="0">
              <a:lnSpc>
                <a:spcPts val="3657"/>
              </a:lnSpc>
              <a:tabLst/>
            </a:pPr>
            <a:r>
              <a:rPr sz="20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与生俱来</a:t>
            </a:r>
            <a:r>
              <a:rPr sz="20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的（</a:t>
            </a:r>
            <a:r>
              <a:rPr sz="2000" kern="0" spc="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程序设定好的</a:t>
            </a:r>
            <a:r>
              <a:rPr sz="2000" kern="0" spc="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5925" algn="l" rtl="0" eaLnBrk="0">
              <a:lnSpc>
                <a:spcPct val="88000"/>
              </a:lnSpc>
              <a:spcBef>
                <a:spcPts val="427"/>
              </a:spcBef>
              <a:tabLst/>
            </a:pPr>
            <a:r>
              <a:rPr sz="14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与生俱来的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——观察力 学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习力 强大的信息处理能力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23544" algn="l" rtl="0" eaLnBrk="0">
              <a:lnSpc>
                <a:spcPct val="88000"/>
              </a:lnSpc>
              <a:spcBef>
                <a:spcPts val="1042"/>
              </a:spcBef>
              <a:tabLst/>
            </a:pP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1、强大的信息处理能力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09575" algn="l" rtl="0" eaLnBrk="0">
              <a:lnSpc>
                <a:spcPct val="88000"/>
              </a:lnSpc>
              <a:spcBef>
                <a:spcPts val="1042"/>
              </a:spcBef>
              <a:tabLst/>
            </a:pP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2、超强的学习能力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11480" algn="l" rtl="0" eaLnBrk="0">
              <a:lnSpc>
                <a:spcPct val="88000"/>
              </a:lnSpc>
              <a:spcBef>
                <a:spcPts val="1042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3、超强的完成程序设计固定动作的能力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606"/>
              </a:spcBef>
              <a:tabLst/>
            </a:pPr>
            <a:r>
              <a:rPr sz="2000" kern="0" spc="6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20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哪些又是</a:t>
            </a:r>
            <a:r>
              <a:rPr sz="2000" b="1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荒岛教给</a:t>
            </a:r>
            <a:r>
              <a:rPr sz="20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她的</a:t>
            </a:r>
            <a:r>
              <a:rPr sz="20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 从荒岛上学到的</a:t>
            </a:r>
            <a:r>
              <a:rPr sz="2000" kern="0" spc="3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5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7034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从荒岛学到的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——做母亲、拥有思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想和情感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-12700" y="490220"/>
            <a:ext cx="2353945" cy="781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1"/>
              </a:spcBef>
              <a:tabLst>
                <a:tab pos="8959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总结概括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path 158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21649" y="166247"/>
            <a:ext cx="1415532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028254" cy="6858000"/>
          </a:xfrm>
          <a:prstGeom prst="rect">
            <a:avLst/>
          </a:prstGeom>
        </p:spPr>
      </p:pic>
      <p:sp>
        <p:nvSpPr>
          <p:cNvPr id="164" name="textbox 164"/>
          <p:cNvSpPr/>
          <p:nvPr/>
        </p:nvSpPr>
        <p:spPr>
          <a:xfrm>
            <a:off x="873562" y="678439"/>
            <a:ext cx="8148955" cy="2234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2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资料阅读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762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你听说过人工智能吗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2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5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它跟机器人有什么联系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 rot="21600000">
            <a:off x="6352032" y="2000884"/>
            <a:ext cx="5237987" cy="4110621"/>
            <a:chOff x="0" y="0"/>
            <a:chExt cx="5237987" cy="4110621"/>
          </a:xfrm>
        </p:grpSpPr>
        <p:pic>
          <p:nvPicPr>
            <p:cNvPr id="166" name="picture 1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37987" cy="4110621"/>
            </a:xfrm>
            <a:prstGeom prst="rect">
              <a:avLst/>
            </a:prstGeom>
          </p:spPr>
        </p:pic>
        <p:sp>
          <p:nvSpPr>
            <p:cNvPr id="168" name="textbox 168"/>
            <p:cNvSpPr/>
            <p:nvPr/>
          </p:nvSpPr>
          <p:spPr>
            <a:xfrm>
              <a:off x="-12700" y="-12700"/>
              <a:ext cx="5263515" cy="41579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09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12140" algn="l" rtl="0" eaLnBrk="0">
                <a:lnSpc>
                  <a:spcPct val="82000"/>
                </a:lnSpc>
                <a:tabLst/>
              </a:pPr>
              <a:r>
                <a:rPr sz="1700" b="1" kern="0" spc="24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机器人就是人工智能的一种具体的应</a:t>
              </a:r>
              <a:r>
                <a:rPr sz="1700" b="1" kern="0" spc="2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607059" indent="5714" algn="l" rtl="0" eaLnBrk="0">
                <a:lnSpc>
                  <a:spcPct val="139000"/>
                </a:lnSpc>
                <a:spcBef>
                  <a:spcPts val="81"/>
                </a:spcBef>
                <a:tabLst/>
              </a:pPr>
              <a:r>
                <a:rPr sz="1700" b="1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形式</a:t>
              </a:r>
              <a:r>
                <a:rPr sz="1700" b="1" kern="0" spc="25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它们可以利用人工智能技术来实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现自主行动</a:t>
              </a:r>
              <a:r>
                <a:rPr sz="1700" kern="0" spc="-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3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对话交流和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执行命令等动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作</a:t>
              </a:r>
              <a:r>
                <a:rPr sz="1700" kern="0" spc="-17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1700" kern="0" spc="-3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机器人可以帮助我们完成各种任务 ，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</a:t>
              </a:r>
              <a:r>
                <a:rPr sz="1700" kern="0" spc="24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比如比较常见的扫地机器人</a:t>
              </a:r>
              <a:r>
                <a:rPr sz="1700" kern="0" spc="2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就可以帮我</a:t>
              </a:r>
              <a:r>
                <a:rPr sz="17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们清洁地面</a:t>
              </a:r>
              <a:r>
                <a:rPr sz="1700" kern="0" spc="-1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28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搬运机器人可以帮助工人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们搬运货物</a:t>
              </a:r>
              <a:r>
                <a:rPr sz="1700" kern="0" spc="-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2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建筑机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器人可以给建筑工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地提供各种协助 ，</a:t>
              </a:r>
              <a:r>
                <a:rPr sz="1700" kern="0" spc="18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当然还有更多。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615696" y="2010156"/>
            <a:ext cx="5228844" cy="4082795"/>
            <a:chOff x="0" y="0"/>
            <a:chExt cx="5228844" cy="4082795"/>
          </a:xfrm>
        </p:grpSpPr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228844" cy="4082795"/>
            </a:xfrm>
            <a:prstGeom prst="rect">
              <a:avLst/>
            </a:prstGeom>
          </p:spPr>
        </p:pic>
        <p:sp>
          <p:nvSpPr>
            <p:cNvPr id="172" name="textbox 172"/>
            <p:cNvSpPr/>
            <p:nvPr/>
          </p:nvSpPr>
          <p:spPr>
            <a:xfrm>
              <a:off x="-12700" y="-12700"/>
              <a:ext cx="5254625" cy="41313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15950" algn="l" rtl="0" eaLnBrk="0">
                <a:lnSpc>
                  <a:spcPct val="82000"/>
                </a:lnSpc>
                <a:spcBef>
                  <a:spcPts val="1"/>
                </a:spcBef>
                <a:tabLst/>
              </a:pPr>
              <a:r>
                <a:rPr sz="1700" b="1" kern="0" spc="2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人工智能是一种模拟人类智慧</a:t>
              </a:r>
              <a:r>
                <a:rPr sz="1700" b="1" kern="0" spc="2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和能力的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608330" algn="l" rtl="0" eaLnBrk="0">
                <a:lnSpc>
                  <a:spcPct val="139000"/>
                </a:lnSpc>
                <a:spcBef>
                  <a:spcPts val="33"/>
                </a:spcBef>
                <a:tabLst/>
              </a:pPr>
              <a:r>
                <a:rPr sz="1700" b="1" kern="0" spc="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</a:t>
              </a:r>
              <a:r>
                <a:rPr sz="1700" b="1" kern="0" spc="2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700" kern="0" spc="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它可以让机器完成复杂的任</a:t>
              </a:r>
              <a:r>
                <a:rPr sz="1700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务</a:t>
              </a:r>
              <a:r>
                <a:rPr sz="1700" kern="0" spc="4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</a:t>
              </a:r>
              <a:r>
                <a:rPr sz="1700" kern="0" spc="1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比如认识图像</a:t>
              </a:r>
              <a:r>
                <a:rPr sz="1700" kern="0" spc="-1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2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理解话语</a:t>
              </a:r>
              <a:r>
                <a:rPr sz="1700" kern="0" spc="-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3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进行对话</a:t>
              </a:r>
              <a:r>
                <a:rPr sz="1700" kern="0" spc="-1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服从命令等等</a:t>
              </a:r>
              <a:r>
                <a:rPr sz="1700" kern="0" spc="-1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1700" kern="0" spc="-2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人工智能可以让机器通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1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过不断学习的技术</a:t>
              </a:r>
              <a:r>
                <a:rPr sz="1700" kern="0" spc="2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，来进行自学</a:t>
              </a:r>
              <a:r>
                <a:rPr sz="1700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，不断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提高 自</a:t>
              </a:r>
              <a:r>
                <a:rPr sz="1700" kern="0" spc="-1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己的能力。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74" name="textbox 174"/>
          <p:cNvSpPr/>
          <p:nvPr/>
        </p:nvSpPr>
        <p:spPr>
          <a:xfrm>
            <a:off x="7894319" y="1343660"/>
            <a:ext cx="3492500" cy="542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99109" algn="l" rtl="0" eaLnBrk="0">
              <a:lnSpc>
                <a:spcPct val="87000"/>
              </a:lnSpc>
              <a:spcBef>
                <a:spcPts val="3"/>
              </a:spcBef>
              <a:tabLst>
                <a:tab pos="696594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人工智能和机器人的区别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907019" y="1356360"/>
            <a:ext cx="487044" cy="487045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-12700" y="490220"/>
            <a:ext cx="2353945" cy="782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tabLst>
                <a:tab pos="89852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资料阅读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0" name="path 180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612288" y="166247"/>
            <a:ext cx="1415965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 rot="21600000">
            <a:off x="6352032" y="2000884"/>
            <a:ext cx="5237987" cy="4110621"/>
            <a:chOff x="0" y="0"/>
            <a:chExt cx="5237987" cy="4110621"/>
          </a:xfrm>
        </p:grpSpPr>
        <p:pic>
          <p:nvPicPr>
            <p:cNvPr id="184" name="picture 18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37987" cy="4110621"/>
            </a:xfrm>
            <a:prstGeom prst="rect">
              <a:avLst/>
            </a:prstGeom>
          </p:spPr>
        </p:pic>
        <p:sp>
          <p:nvSpPr>
            <p:cNvPr id="186" name="textbox 186"/>
            <p:cNvSpPr/>
            <p:nvPr/>
          </p:nvSpPr>
          <p:spPr>
            <a:xfrm>
              <a:off x="-12700" y="-12700"/>
              <a:ext cx="5263515" cy="41586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15950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700" b="1" kern="0" spc="2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人工智能和机器人也带来了一些问题</a:t>
              </a:r>
              <a:r>
                <a:rPr sz="1700" b="1" kern="0" spc="-25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2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613409" algn="l" rtl="0" eaLnBrk="0">
                <a:lnSpc>
                  <a:spcPct val="88000"/>
                </a:lnSpc>
                <a:spcBef>
                  <a:spcPts val="1015"/>
                </a:spcBef>
                <a:tabLst/>
              </a:pP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比如 ，机器人可能会取代一部分人类的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608330" indent="12700" algn="l" rtl="0" eaLnBrk="0">
                <a:lnSpc>
                  <a:spcPct val="137000"/>
                </a:lnSpc>
                <a:spcBef>
                  <a:spcPts val="111"/>
                </a:spcBef>
                <a:tabLst/>
              </a:pPr>
              <a:r>
                <a:rPr sz="1700" kern="0" spc="1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工作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，让很多的人失业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；同</a:t>
              </a:r>
              <a:r>
                <a:rPr sz="1700" kern="0" spc="1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时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，人工智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能的也可能会带来一些安全和隐私问题</a:t>
              </a:r>
              <a:r>
                <a:rPr sz="1700" kern="0" spc="-15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此外 ，人工智能和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机器人的发展也可能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会对我们所有人类产</a:t>
              </a:r>
              <a:r>
                <a:rPr sz="1700" kern="0" spc="19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生一些影响 ，比如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改变人和人之间的关系</a:t>
              </a:r>
              <a:r>
                <a:rPr sz="1700" kern="0" spc="-1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27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影响人类的思</a:t>
              </a:r>
              <a:r>
                <a:rPr sz="17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考和创造力等。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615696" y="2010156"/>
            <a:ext cx="5228844" cy="4082795"/>
            <a:chOff x="0" y="0"/>
            <a:chExt cx="5228844" cy="4082795"/>
          </a:xfrm>
        </p:grpSpPr>
        <p:pic>
          <p:nvPicPr>
            <p:cNvPr id="188" name="picture 18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228844" cy="4082795"/>
            </a:xfrm>
            <a:prstGeom prst="rect">
              <a:avLst/>
            </a:prstGeom>
          </p:spPr>
        </p:pic>
        <p:sp>
          <p:nvSpPr>
            <p:cNvPr id="190" name="textbox 190"/>
            <p:cNvSpPr/>
            <p:nvPr/>
          </p:nvSpPr>
          <p:spPr>
            <a:xfrm>
              <a:off x="-12700" y="-12700"/>
              <a:ext cx="5254625" cy="41313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1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08330" indent="7620" algn="l" rtl="0" eaLnBrk="0">
                <a:lnSpc>
                  <a:spcPct val="114000"/>
                </a:lnSpc>
                <a:tabLst/>
              </a:pPr>
              <a:r>
                <a:rPr sz="1700" b="1" kern="0" spc="2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人工智能和机器人的发展给我</a:t>
              </a:r>
              <a:r>
                <a:rPr sz="1700" b="1" kern="0" spc="2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们带来了</a:t>
              </a:r>
              <a:r>
                <a:rPr sz="17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b="1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很多的优势</a:t>
              </a:r>
              <a:r>
                <a:rPr sz="1700" b="1" kern="0" spc="-2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b="1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608965" indent="4444" algn="l" rtl="0" eaLnBrk="0">
                <a:lnSpc>
                  <a:spcPct val="115000"/>
                </a:lnSpc>
                <a:spcBef>
                  <a:spcPts val="212"/>
                </a:spcBef>
                <a:tabLst/>
              </a:pPr>
              <a:r>
                <a:rPr sz="1700" kern="0" spc="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比如 ，机器人可以帮助我们提高效</a:t>
              </a:r>
              <a:r>
                <a:rPr sz="1700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率</a:t>
              </a:r>
              <a:r>
                <a:rPr sz="1700" kern="0" spc="-1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1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降低成本</a:t>
              </a:r>
              <a:r>
                <a:rPr sz="1700" kern="0" spc="1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，还可以在医疗</a:t>
              </a:r>
              <a:r>
                <a:rPr sz="1700" kern="0" spc="-1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2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教育</a:t>
              </a:r>
              <a:r>
                <a:rPr sz="1700" kern="0" spc="-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2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交通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等领域提供更好的服</a:t>
              </a:r>
              <a:r>
                <a:rPr sz="1700" kern="0" spc="1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务 ，让我们的生活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更加便利</a:t>
              </a:r>
              <a:r>
                <a:rPr sz="1700" kern="0" spc="-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1700" kern="0" spc="-3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此外</a:t>
              </a:r>
              <a:r>
                <a:rPr sz="1700" kern="0" spc="1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，人工智能</a:t>
              </a:r>
              <a:r>
                <a:rPr sz="1700" kern="0" spc="1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还可以帮助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我们进行自然灾害</a:t>
              </a:r>
              <a:r>
                <a:rPr sz="1700" kern="0" spc="-1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2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危险环境等领域的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探测和救援工作 ，</a:t>
              </a:r>
              <a:r>
                <a:rPr sz="1700" kern="0" spc="1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为人类提供更好的保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700" kern="0" spc="1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障。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92" name="textbox 192"/>
          <p:cNvSpPr/>
          <p:nvPr/>
        </p:nvSpPr>
        <p:spPr>
          <a:xfrm>
            <a:off x="6125844" y="1343660"/>
            <a:ext cx="5334000" cy="536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99109" algn="l" rtl="0" eaLnBrk="0">
              <a:lnSpc>
                <a:spcPct val="88000"/>
              </a:lnSpc>
              <a:spcBef>
                <a:spcPts val="1"/>
              </a:spcBef>
              <a:tabLst>
                <a:tab pos="755015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人工智能和机器人给人类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生活带来的影响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38544" y="1356360"/>
            <a:ext cx="487044" cy="487045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-12700" y="490220"/>
            <a:ext cx="2353945" cy="782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tabLst>
                <a:tab pos="89852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资料阅读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8" name="path 198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612288" y="166247"/>
            <a:ext cx="1415965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 202"/>
          <p:cNvSpPr/>
          <p:nvPr/>
        </p:nvSpPr>
        <p:spPr>
          <a:xfrm>
            <a:off x="0" y="2016252"/>
            <a:ext cx="12192000" cy="3927347"/>
          </a:xfrm>
          <a:prstGeom prst="rect">
            <a:avLst/>
          </a:prstGeom>
          <a:solidFill>
            <a:srgbClr val="D0CEC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6647" y="2542276"/>
            <a:ext cx="3572992" cy="3145060"/>
          </a:xfrm>
          <a:prstGeom prst="rect">
            <a:avLst/>
          </a:prstGeom>
        </p:spPr>
      </p:pic>
      <p:sp>
        <p:nvSpPr>
          <p:cNvPr id="206" name="textbox 206"/>
          <p:cNvSpPr/>
          <p:nvPr/>
        </p:nvSpPr>
        <p:spPr>
          <a:xfrm>
            <a:off x="4550209" y="3364167"/>
            <a:ext cx="6592569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你认为如何可以更好的运用好人</a:t>
            </a:r>
            <a:r>
              <a:rPr sz="20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工智能和机器人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spcBef>
                <a:spcPts val="431"/>
              </a:spcBef>
              <a:tabLst/>
            </a:pPr>
            <a:r>
              <a:rPr sz="1400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我们需要对人工智能和机器人进行适当的引导和管理 ，确保它们的发</a:t>
            </a:r>
            <a:r>
              <a:rPr sz="1400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展能够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15595" indent="-2540" algn="l" rtl="0" eaLnBrk="0">
              <a:lnSpc>
                <a:spcPct val="154000"/>
              </a:lnSpc>
              <a:spcBef>
                <a:spcPts val="5"/>
              </a:spcBef>
              <a:tabLst/>
            </a:pPr>
            <a:r>
              <a:rPr sz="14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更好地为人类服务</a:t>
            </a:r>
            <a:r>
              <a:rPr sz="1400" kern="0" spc="-20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400" kern="0" spc="-2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同时 ，我们</a:t>
            </a:r>
            <a:r>
              <a:rPr sz="14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也需要更加努力学习和探索 ，掌握更多的智</a:t>
            </a:r>
            <a:r>
              <a:rPr sz="1400" kern="0" spc="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能技术 ，让机器人更好地为我们</a:t>
            </a:r>
            <a:r>
              <a:rPr sz="14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的生活服务。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-12700" y="490220"/>
            <a:ext cx="2353945" cy="782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tabLst>
                <a:tab pos="89852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资料阅读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0" name="path 210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2" name="picture 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12288" y="166247"/>
            <a:ext cx="1415965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272795"/>
            <a:ext cx="11629644" cy="6312408"/>
          </a:xfrm>
          <a:prstGeom prst="rect">
            <a:avLst/>
          </a:prstGeom>
        </p:spPr>
      </p:pic>
      <p:sp>
        <p:nvSpPr>
          <p:cNvPr id="216" name="textbox 216"/>
          <p:cNvSpPr/>
          <p:nvPr/>
        </p:nvSpPr>
        <p:spPr>
          <a:xfrm>
            <a:off x="3794972" y="2397719"/>
            <a:ext cx="7798434" cy="412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5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无论是机器人还是人工智能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2720" algn="l" rtl="0" eaLnBrk="0">
              <a:lnSpc>
                <a:spcPct val="88000"/>
              </a:lnSpc>
              <a:spcBef>
                <a:spcPts val="819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你是否有了不一样的想法</a:t>
            </a:r>
            <a:r>
              <a:rPr sz="2700" kern="0" spc="-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8595" algn="l" rtl="0" eaLnBrk="0">
              <a:lnSpc>
                <a:spcPct val="88000"/>
              </a:lnSpc>
              <a:spcBef>
                <a:spcPts val="820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期待下一次的分享交流哦 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5784" algn="l" rtl="0" eaLnBrk="0">
              <a:lnSpc>
                <a:spcPct val="87000"/>
              </a:lnSpc>
              <a:spcBef>
                <a:spcPts val="814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一起来看今日足迹</a:t>
            </a:r>
            <a:r>
              <a:rPr sz="2700" kern="0" spc="-4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r>
              <a:rPr sz="2700" kern="0" spc="-4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69912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课堂总结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8" name="picture 2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6197" y="5740920"/>
            <a:ext cx="740638" cy="740638"/>
          </a:xfrm>
          <a:prstGeom prst="rect">
            <a:avLst/>
          </a:prstGeom>
        </p:spPr>
      </p:pic>
      <p:sp>
        <p:nvSpPr>
          <p:cNvPr id="220" name="rect 220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ath 222"/>
          <p:cNvSpPr/>
          <p:nvPr/>
        </p:nvSpPr>
        <p:spPr>
          <a:xfrm>
            <a:off x="718502" y="1907540"/>
            <a:ext cx="10140950" cy="4467224"/>
          </a:xfrm>
          <a:custGeom>
            <a:avLst/>
            <a:gdLst/>
            <a:ahLst/>
            <a:cxnLst/>
            <a:rect l="0" t="0" r="0" b="0"/>
            <a:pathLst>
              <a:path w="15970" h="7034">
                <a:moveTo>
                  <a:pt x="14248" y="6047"/>
                </a:moveTo>
                <a:cubicBezTo>
                  <a:pt x="14515" y="5787"/>
                  <a:pt x="14515" y="5787"/>
                  <a:pt x="14515" y="5787"/>
                </a:cubicBezTo>
                <a:cubicBezTo>
                  <a:pt x="15970" y="6496"/>
                  <a:pt x="15970" y="6496"/>
                  <a:pt x="15970" y="6496"/>
                </a:cubicBezTo>
                <a:cubicBezTo>
                  <a:pt x="13227" y="7034"/>
                  <a:pt x="13227" y="7034"/>
                  <a:pt x="13227" y="7034"/>
                </a:cubicBezTo>
                <a:cubicBezTo>
                  <a:pt x="13567" y="6711"/>
                  <a:pt x="13567" y="6711"/>
                  <a:pt x="13567" y="6711"/>
                </a:cubicBezTo>
                <a:cubicBezTo>
                  <a:pt x="13116" y="6702"/>
                  <a:pt x="12665" y="6685"/>
                  <a:pt x="12223" y="6658"/>
                </a:cubicBezTo>
                <a:cubicBezTo>
                  <a:pt x="10953" y="6577"/>
                  <a:pt x="9738" y="6424"/>
                  <a:pt x="8560" y="6209"/>
                </a:cubicBezTo>
                <a:cubicBezTo>
                  <a:pt x="6424" y="5697"/>
                  <a:pt x="5320" y="5123"/>
                  <a:pt x="5255" y="4468"/>
                </a:cubicBezTo>
                <a:cubicBezTo>
                  <a:pt x="5172" y="4064"/>
                  <a:pt x="5577" y="3652"/>
                  <a:pt x="6461" y="3239"/>
                </a:cubicBezTo>
                <a:cubicBezTo>
                  <a:pt x="7584" y="2808"/>
                  <a:pt x="8339" y="2431"/>
                  <a:pt x="8725" y="2117"/>
                </a:cubicBezTo>
                <a:cubicBezTo>
                  <a:pt x="9692" y="1166"/>
                  <a:pt x="6783" y="457"/>
                  <a:pt x="0" y="0"/>
                </a:cubicBezTo>
                <a:cubicBezTo>
                  <a:pt x="6940" y="278"/>
                  <a:pt x="9987" y="1005"/>
                  <a:pt x="9140" y="2180"/>
                </a:cubicBezTo>
                <a:cubicBezTo>
                  <a:pt x="8910" y="2458"/>
                  <a:pt x="8247" y="2799"/>
                  <a:pt x="7151" y="3221"/>
                </a:cubicBezTo>
                <a:cubicBezTo>
                  <a:pt x="6111" y="3670"/>
                  <a:pt x="5808" y="4154"/>
                  <a:pt x="6240" y="4666"/>
                </a:cubicBezTo>
                <a:cubicBezTo>
                  <a:pt x="7004" y="5437"/>
                  <a:pt x="8992" y="5886"/>
                  <a:pt x="12223" y="6012"/>
                </a:cubicBezTo>
                <a:cubicBezTo>
                  <a:pt x="12849" y="6038"/>
                  <a:pt x="13530" y="6047"/>
                  <a:pt x="14248" y="6047"/>
                </a:cubicBezTo>
              </a:path>
            </a:pathLst>
          </a:custGeom>
          <a:solidFill>
            <a:srgbClr val="C1C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907" y="4454652"/>
            <a:ext cx="2404872" cy="2403347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6954418" y="1817247"/>
            <a:ext cx="3007995" cy="1671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8000"/>
              </a:lnSpc>
              <a:tabLst/>
            </a:pPr>
            <a:r>
              <a:rPr sz="1500" b="1" kern="0" spc="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第二课时 ：交流课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13334" algn="l" rtl="0" eaLnBrk="0">
              <a:lnSpc>
                <a:spcPct val="129000"/>
              </a:lnSpc>
              <a:spcBef>
                <a:spcPts val="1192"/>
              </a:spcBef>
              <a:tabLst/>
            </a:pPr>
            <a:r>
              <a:rPr sz="1200" kern="0" spc="-6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-6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、情节梳理 ：按“求生</a:t>
            </a:r>
            <a:r>
              <a:rPr sz="1200" kern="0" spc="-6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200" kern="0" spc="-7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200" kern="0" spc="-7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共生</a:t>
            </a:r>
            <a:r>
              <a:rPr sz="1200" kern="0" spc="-7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——</a:t>
            </a:r>
            <a:r>
              <a:rPr sz="1200" kern="0" spc="-7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离开”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200" kern="0" spc="-2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情节发展脉胳梳理故事情节 ，了解并概</a:t>
            </a: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括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人工智能机器人的特点。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19000"/>
              </a:lnSpc>
              <a:spcBef>
                <a:spcPts val="7"/>
              </a:spcBef>
              <a:tabLst/>
            </a:pP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自我提问及分享 ：关于人工智能机器人 ，</a:t>
            </a: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你知道些什么？还想了解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什么</a:t>
            </a:r>
            <a:r>
              <a:rPr sz="1200" kern="0" spc="-1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9117939" y="4375662"/>
            <a:ext cx="2392045" cy="1943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8000"/>
              </a:lnSpc>
              <a:tabLst/>
            </a:pPr>
            <a:r>
              <a:rPr sz="1500" b="1" kern="0" spc="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第四课时 ：思辨</a:t>
            </a:r>
            <a:r>
              <a:rPr sz="1500" b="1" kern="0" spc="4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500" b="1" kern="0" spc="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应用课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5875" indent="8254" algn="l" rtl="0" eaLnBrk="0">
              <a:lnSpc>
                <a:spcPct val="134000"/>
              </a:lnSpc>
              <a:spcBef>
                <a:spcPts val="1197"/>
              </a:spcBef>
              <a:tabLst/>
            </a:pP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、通过本书后记、译后记及其他部</a:t>
            </a:r>
            <a:r>
              <a:rPr sz="1200" kern="0" spc="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分的阅读和探讨 ，了解更多的阅读</a:t>
            </a:r>
            <a:r>
              <a:rPr sz="1200" kern="0" spc="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 ，从不同的角度深度阅读及探</a:t>
            </a:r>
            <a:r>
              <a:rPr sz="1200" kern="0" spc="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讨本书。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118000"/>
              </a:lnSpc>
              <a:spcBef>
                <a:spcPts val="1"/>
              </a:spcBef>
              <a:tabLst/>
            </a:pPr>
            <a:r>
              <a:rPr sz="1200" kern="0" spc="-10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200" kern="0" spc="-10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、分享关于“人工智能”主题的看法</a:t>
            </a:r>
            <a:r>
              <a:rPr sz="1200" kern="0" spc="2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2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和思考。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96506" y="4359216"/>
            <a:ext cx="1461106" cy="2047991"/>
          </a:xfrm>
          <a:prstGeom prst="rect">
            <a:avLst/>
          </a:prstGeom>
        </p:spPr>
      </p:pic>
      <p:sp>
        <p:nvSpPr>
          <p:cNvPr id="232" name="textbox 232"/>
          <p:cNvSpPr/>
          <p:nvPr/>
        </p:nvSpPr>
        <p:spPr>
          <a:xfrm>
            <a:off x="5064099" y="3670812"/>
            <a:ext cx="2087245" cy="1405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8000"/>
              </a:lnSpc>
              <a:tabLst/>
            </a:pPr>
            <a:r>
              <a:rPr sz="1500" b="1" kern="0" spc="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第三课时 ：交流课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8734" indent="-13970" algn="l" rtl="0" eaLnBrk="0">
              <a:lnSpc>
                <a:spcPct val="118000"/>
              </a:lnSpc>
              <a:spcBef>
                <a:spcPts val="1206"/>
              </a:spcBef>
              <a:tabLst/>
            </a:pP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、细读部分情节和细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 ，展开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自我提问和思考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21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、结合关于人工智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能的相关知</a:t>
            </a: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 ，思考作者的写作意图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81587" y="3330526"/>
            <a:ext cx="1413028" cy="1986327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78276" y="1567733"/>
            <a:ext cx="1098336" cy="1539404"/>
          </a:xfrm>
          <a:prstGeom prst="rect">
            <a:avLst/>
          </a:prstGeom>
        </p:spPr>
      </p:pic>
      <p:sp>
        <p:nvSpPr>
          <p:cNvPr id="238" name="textbox 238"/>
          <p:cNvSpPr/>
          <p:nvPr/>
        </p:nvSpPr>
        <p:spPr>
          <a:xfrm>
            <a:off x="2825609" y="1441124"/>
            <a:ext cx="2312035" cy="549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第一课时 ：导读课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734" algn="l" rtl="0" eaLnBrk="0">
              <a:lnSpc>
                <a:spcPct val="88000"/>
              </a:lnSpc>
              <a:tabLst/>
            </a:pP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了解作品相关信息 ，引发阅读期待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0" name="picture 2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7487" y="1375357"/>
            <a:ext cx="954780" cy="1214223"/>
          </a:xfrm>
          <a:prstGeom prst="rect">
            <a:avLst/>
          </a:prstGeom>
        </p:spPr>
      </p:pic>
      <p:sp>
        <p:nvSpPr>
          <p:cNvPr id="242" name="rect 242"/>
          <p:cNvSpPr/>
          <p:nvPr/>
        </p:nvSpPr>
        <p:spPr>
          <a:xfrm>
            <a:off x="0" y="502920"/>
            <a:ext cx="719327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4" name="textbox 244"/>
          <p:cNvSpPr/>
          <p:nvPr/>
        </p:nvSpPr>
        <p:spPr>
          <a:xfrm>
            <a:off x="868238" y="678084"/>
            <a:ext cx="1473200" cy="386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课堂总结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6" name="picture 2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42594" y="783790"/>
            <a:ext cx="696005" cy="609198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460347" y="1159710"/>
            <a:ext cx="683794" cy="6091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66247"/>
            <a:ext cx="12192000" cy="5676767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868238" y="678084"/>
            <a:ext cx="1473200" cy="386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课堂总结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4892471" y="3219551"/>
            <a:ext cx="2503804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tabLst/>
            </a:pPr>
            <a:r>
              <a:rPr sz="9500" kern="0" spc="-2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END</a:t>
            </a:r>
            <a:endParaRPr sz="9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9185478" y="5756795"/>
            <a:ext cx="2407920" cy="798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下一次再见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3303" y="5769495"/>
            <a:ext cx="740638" cy="740637"/>
          </a:xfrm>
          <a:prstGeom prst="rect">
            <a:avLst/>
          </a:prstGeom>
        </p:spPr>
      </p:pic>
      <p:sp>
        <p:nvSpPr>
          <p:cNvPr id="262" name="rect 262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4" name="picture 2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13174" y="5788540"/>
            <a:ext cx="1140310" cy="4412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2024-05-27T09:30:06Z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2026-06-05T23:09:03</vt:filetime>
  </property>
</Properties>
</file>