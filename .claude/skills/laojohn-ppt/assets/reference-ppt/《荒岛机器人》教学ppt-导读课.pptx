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2" Type="http://schemas.openxmlformats.org/officeDocument/2006/relationships/viewProps" Target="viewProps.xml"/><Relationship Id="rId31" Type="http://schemas.openxmlformats.org/officeDocument/2006/relationships/tableStyles" Target="tableStyles.xml"/><Relationship Id="rId30" Type="http://schemas.openxmlformats.org/officeDocument/2006/relationships/presProps" Target="presProps.xml"/><Relationship Id="rId3" Type="http://schemas.openxmlformats.org/officeDocument/2006/relationships/slide" Target="slides/slide2.xml"/><Relationship Id="rId29" Type="http://schemas.openxmlformats.org/officeDocument/2006/relationships/slide" Target="slides/slide28.xml"/><Relationship Id="rId28" Type="http://schemas.openxmlformats.org/officeDocument/2006/relationships/slide" Target="slides/slide27.xml"/><Relationship Id="rId27" Type="http://schemas.openxmlformats.org/officeDocument/2006/relationships/slide" Target="slides/slide26.xml"/><Relationship Id="rId26" Type="http://schemas.openxmlformats.org/officeDocument/2006/relationships/slide" Target="slides/slide25.xml"/><Relationship Id="rId25" Type="http://schemas.openxmlformats.org/officeDocument/2006/relationships/slide" Target="slides/slide24.xml"/><Relationship Id="rId24" Type="http://schemas.openxmlformats.org/officeDocument/2006/relationships/slide" Target="slides/slide23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4.png"/><Relationship Id="rId4" Type="http://schemas.openxmlformats.org/officeDocument/2006/relationships/image" Target="../media/image13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3.png"/><Relationship Id="rId4" Type="http://schemas.openxmlformats.org/officeDocument/2006/relationships/image" Target="../media/image37.png"/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1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6.png"/><Relationship Id="rId3" Type="http://schemas.openxmlformats.org/officeDocument/2006/relationships/image" Target="../media/image13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3.png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419947" y="1531873"/>
            <a:ext cx="5432425" cy="1878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9575" algn="l" rtl="0" eaLnBrk="0">
              <a:lnSpc>
                <a:spcPts val="8441"/>
              </a:lnSpc>
              <a:tabLst/>
            </a:pPr>
            <a:r>
              <a:rPr sz="6100" i="1" kern="0" spc="-4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《荒岛机器人》</a:t>
            </a:r>
            <a:endParaRPr sz="6100" dirty="0">
              <a:latin typeface="Microsoft YaHei"/>
              <a:ea typeface="Microsoft YaHei"/>
              <a:cs typeface="Microsoft YaHei"/>
            </a:endParaRPr>
          </a:p>
          <a:p>
            <a:pPr marL="1945004" algn="l" rtl="0" eaLnBrk="0">
              <a:lnSpc>
                <a:spcPts val="6147"/>
              </a:lnSpc>
              <a:tabLst/>
            </a:pPr>
            <a:r>
              <a:rPr sz="4100" i="1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导读课</a:t>
            </a:r>
            <a:endParaRPr sz="4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1196340"/>
            <a:ext cx="758952" cy="1527047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382212" y="5192469"/>
            <a:ext cx="1795145" cy="638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44"/>
              </a:lnSpc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【美】</a:t>
            </a:r>
            <a:r>
              <a:rPr sz="15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彼得·布朗  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著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汤瑞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陈芳歌  译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25580" y="491117"/>
            <a:ext cx="1141786" cy="4412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3781838" y="2345874"/>
            <a:ext cx="7811134" cy="4201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9275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关于荒岛求生的故事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19455" algn="l" rtl="0" eaLnBrk="0">
              <a:lnSpc>
                <a:spcPct val="88000"/>
              </a:lnSpc>
              <a:spcBef>
                <a:spcPts val="812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你是否还意犹未尽</a:t>
            </a:r>
            <a:r>
              <a:rPr sz="2700" kern="0" spc="-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813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层出不穷、惊险刺激的情节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87119" algn="l" rtl="0" eaLnBrk="0">
              <a:lnSpc>
                <a:spcPct val="87000"/>
              </a:lnSpc>
              <a:spcBef>
                <a:spcPts val="819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谁会不喜欢呢</a:t>
            </a:r>
            <a:r>
              <a:rPr sz="2700" kern="0" spc="-2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90084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展开想象创编故事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3149" y="5769495"/>
            <a:ext cx="740638" cy="740637"/>
          </a:xfrm>
          <a:prstGeom prst="rect">
            <a:avLst/>
          </a:prstGeom>
        </p:spPr>
      </p:pic>
      <p:sp>
        <p:nvSpPr>
          <p:cNvPr id="18" name="rect 18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88952" cy="4989575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422148" y="5204459"/>
            <a:ext cx="11349355" cy="1432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8128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荒岛求生故事的吸引力在于其惊险刺激的情节和生存知识。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9570" algn="l" rtl="0" eaLnBrk="0">
              <a:lnSpc>
                <a:spcPts val="2532"/>
              </a:lnSpc>
              <a:spcBef>
                <a:spcPts val="1094"/>
              </a:spcBef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7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你喜欢看贝爷的《荒岛求生》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节目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吗</a:t>
            </a: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356870" algn="l" rtl="0" eaLnBrk="0">
              <a:lnSpc>
                <a:spcPct val="98000"/>
              </a:lnSpc>
              <a:spcBef>
                <a:spcPts val="7"/>
              </a:spcBef>
              <a:tabLst/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-6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如果是一个</a:t>
            </a:r>
            <a:r>
              <a:rPr sz="1700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机器人到了一个荒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岛上 ，它该如何“生存”下去 ？它会发生什么样的故事</a:t>
            </a: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-12700" y="490220"/>
            <a:ext cx="3837304" cy="777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展开想象创编故事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path 2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 28"/>
          <p:cNvSpPr/>
          <p:nvPr/>
        </p:nvSpPr>
        <p:spPr>
          <a:xfrm>
            <a:off x="292608" y="304800"/>
            <a:ext cx="11606784" cy="6248400"/>
          </a:xfrm>
          <a:prstGeom prst="rect">
            <a:avLst/>
          </a:prstGeom>
          <a:solidFill>
            <a:srgbClr val="E7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textbox 30"/>
          <p:cNvSpPr/>
          <p:nvPr/>
        </p:nvSpPr>
        <p:spPr>
          <a:xfrm>
            <a:off x="6269175" y="2334056"/>
            <a:ext cx="5321300" cy="3493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tabLst/>
            </a:pPr>
            <a:r>
              <a:rPr sz="1700" b="1" kern="0" spc="19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设定主角与场景</a:t>
            </a:r>
            <a:r>
              <a:rPr sz="1700" b="1" kern="0" spc="24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19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0320" algn="l" rtl="0" eaLnBrk="0">
              <a:lnSpc>
                <a:spcPct val="88000"/>
              </a:lnSpc>
              <a:spcBef>
                <a:spcPts val="1538"/>
              </a:spcBef>
              <a:tabLst/>
            </a:pPr>
            <a:r>
              <a:rPr sz="1500" kern="0" spc="16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主角是谁 ？故事发生在哪里</a:t>
            </a:r>
            <a:r>
              <a:rPr sz="1500" kern="0" spc="150" dirty="0">
                <a:solidFill>
                  <a:srgbClr val="2E54A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14"/>
              </a:spcBef>
              <a:tabLst/>
            </a:pPr>
            <a:r>
              <a:rPr sz="1700" b="1" kern="0" spc="190" dirty="0">
                <a:solidFill>
                  <a:srgbClr val="C65F1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探索困难与解决方法 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8000"/>
              </a:lnSpc>
              <a:spcBef>
                <a:spcPts val="1520"/>
              </a:spcBef>
              <a:tabLst/>
            </a:pPr>
            <a:r>
              <a:rPr sz="1500" kern="0" spc="170" dirty="0">
                <a:solidFill>
                  <a:srgbClr val="C65F1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主角遇到了什么样的困难 ？</a:t>
            </a:r>
            <a:r>
              <a:rPr sz="1500" kern="0" spc="0" dirty="0">
                <a:solidFill>
                  <a:srgbClr val="C65F1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TA</a:t>
            </a:r>
            <a:r>
              <a:rPr sz="1500" kern="0" spc="170" dirty="0">
                <a:solidFill>
                  <a:srgbClr val="C65F1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是怎么解决这些困难的 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518"/>
              </a:spcBef>
              <a:tabLst/>
            </a:pPr>
            <a:r>
              <a:rPr sz="1700" b="1" kern="0" spc="150" dirty="0">
                <a:solidFill>
                  <a:srgbClr val="795D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设想结局</a:t>
            </a:r>
            <a:r>
              <a:rPr sz="1700" b="1" kern="0" spc="220" dirty="0">
                <a:solidFill>
                  <a:srgbClr val="795D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150" dirty="0">
                <a:solidFill>
                  <a:srgbClr val="795D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8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kern="0" spc="210" dirty="0">
                <a:solidFill>
                  <a:srgbClr val="795D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想象故事最后的结局</a:t>
            </a:r>
            <a:r>
              <a:rPr sz="1500" kern="0" spc="200" dirty="0">
                <a:solidFill>
                  <a:srgbClr val="795D0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怎么样 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545592" y="2227377"/>
            <a:ext cx="3553967" cy="3626306"/>
            <a:chOff x="0" y="0"/>
            <a:chExt cx="3553967" cy="3626306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53967" cy="3626306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3579495" cy="3681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29310" algn="l" rtl="0" eaLnBrk="0">
                <a:lnSpc>
                  <a:spcPct val="87000"/>
                </a:lnSpc>
                <a:spcBef>
                  <a:spcPts val="1"/>
                </a:spcBef>
                <a:tabLst>
                  <a:tab pos="1049019" algn="l"/>
                </a:tabLst>
              </a:pPr>
              <a:r>
                <a:rPr sz="2000" b="1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b="1" kern="0" spc="14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创编想象故事指南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43077" y="2991052"/>
              <a:ext cx="574040" cy="574039"/>
            </a:xfrm>
            <a:prstGeom prst="rect">
              <a:avLst/>
            </a:prstGeom>
          </p:spPr>
        </p:pic>
      </p:grpSp>
      <p:sp>
        <p:nvSpPr>
          <p:cNvPr id="38" name="textbox 38"/>
          <p:cNvSpPr/>
          <p:nvPr/>
        </p:nvSpPr>
        <p:spPr>
          <a:xfrm>
            <a:off x="-12700" y="490220"/>
            <a:ext cx="3837304" cy="777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展开想象创编故事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0" name="path 40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587240" y="2342388"/>
            <a:ext cx="1301495" cy="589788"/>
            <a:chOff x="0" y="0"/>
            <a:chExt cx="1301495" cy="589788"/>
          </a:xfrm>
        </p:grpSpPr>
        <p:grpSp>
          <p:nvGrpSpPr>
            <p:cNvPr id="6" name="group 6"/>
            <p:cNvGrpSpPr/>
            <p:nvPr/>
          </p:nvGrpSpPr>
          <p:grpSpPr>
            <a:xfrm rot="21600000">
              <a:off x="0" y="0"/>
              <a:ext cx="1301495" cy="589788"/>
              <a:chOff x="0" y="0"/>
              <a:chExt cx="1301495" cy="589788"/>
            </a:xfrm>
          </p:grpSpPr>
          <p:sp>
            <p:nvSpPr>
              <p:cNvPr id="42" name="path 42"/>
              <p:cNvSpPr/>
              <p:nvPr/>
            </p:nvSpPr>
            <p:spPr>
              <a:xfrm>
                <a:off x="121919" y="0"/>
                <a:ext cx="1179576" cy="589788"/>
              </a:xfrm>
              <a:custGeom>
                <a:avLst/>
                <a:gdLst/>
                <a:ahLst/>
                <a:cxnLst/>
                <a:rect l="0" t="0" r="0" b="0"/>
                <a:pathLst>
                  <a:path w="1857" h="928">
                    <a:moveTo>
                      <a:pt x="0" y="0"/>
                    </a:moveTo>
                    <a:lnTo>
                      <a:pt x="1394" y="0"/>
                    </a:lnTo>
                    <a:lnTo>
                      <a:pt x="1857" y="463"/>
                    </a:lnTo>
                    <a:lnTo>
                      <a:pt x="1394" y="928"/>
                    </a:lnTo>
                    <a:lnTo>
                      <a:pt x="0" y="92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6C7E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path 44"/>
              <p:cNvSpPr/>
              <p:nvPr/>
            </p:nvSpPr>
            <p:spPr>
              <a:xfrm>
                <a:off x="0" y="0"/>
                <a:ext cx="1179575" cy="589788"/>
              </a:xfrm>
              <a:custGeom>
                <a:avLst/>
                <a:gdLst/>
                <a:ahLst/>
                <a:cxnLst/>
                <a:rect l="0" t="0" r="0" b="0"/>
                <a:pathLst>
                  <a:path w="1857" h="928">
                    <a:moveTo>
                      <a:pt x="0" y="0"/>
                    </a:moveTo>
                    <a:lnTo>
                      <a:pt x="1394" y="0"/>
                    </a:lnTo>
                    <a:lnTo>
                      <a:pt x="1857" y="463"/>
                    </a:lnTo>
                    <a:lnTo>
                      <a:pt x="1394" y="928"/>
                    </a:lnTo>
                    <a:lnTo>
                      <a:pt x="0" y="92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874CB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textbox 46"/>
            <p:cNvSpPr/>
            <p:nvPr/>
          </p:nvSpPr>
          <p:spPr>
            <a:xfrm>
              <a:off x="-12700" y="-12700"/>
              <a:ext cx="1327150" cy="654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0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ct val="69000"/>
                </a:lnSpc>
                <a:tabLst/>
              </a:pP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01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4587240" y="3764279"/>
            <a:ext cx="1301495" cy="589788"/>
            <a:chOff x="0" y="0"/>
            <a:chExt cx="1301495" cy="589788"/>
          </a:xfrm>
        </p:grpSpPr>
        <p:grpSp>
          <p:nvGrpSpPr>
            <p:cNvPr id="10" name="group 10"/>
            <p:cNvGrpSpPr/>
            <p:nvPr/>
          </p:nvGrpSpPr>
          <p:grpSpPr>
            <a:xfrm rot="21600000">
              <a:off x="0" y="0"/>
              <a:ext cx="1301495" cy="589788"/>
              <a:chOff x="0" y="0"/>
              <a:chExt cx="1301495" cy="589788"/>
            </a:xfrm>
          </p:grpSpPr>
          <p:sp>
            <p:nvSpPr>
              <p:cNvPr id="48" name="path 48"/>
              <p:cNvSpPr/>
              <p:nvPr/>
            </p:nvSpPr>
            <p:spPr>
              <a:xfrm>
                <a:off x="121919" y="0"/>
                <a:ext cx="1179576" cy="589788"/>
              </a:xfrm>
              <a:custGeom>
                <a:avLst/>
                <a:gdLst/>
                <a:ahLst/>
                <a:cxnLst/>
                <a:rect l="0" t="0" r="0" b="0"/>
                <a:pathLst>
                  <a:path w="1857" h="928">
                    <a:moveTo>
                      <a:pt x="0" y="0"/>
                    </a:moveTo>
                    <a:lnTo>
                      <a:pt x="1394" y="0"/>
                    </a:lnTo>
                    <a:lnTo>
                      <a:pt x="1857" y="465"/>
                    </a:lnTo>
                    <a:lnTo>
                      <a:pt x="1394" y="928"/>
                    </a:lnTo>
                    <a:lnTo>
                      <a:pt x="0" y="92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5B48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path 50"/>
              <p:cNvSpPr/>
              <p:nvPr/>
            </p:nvSpPr>
            <p:spPr>
              <a:xfrm>
                <a:off x="0" y="0"/>
                <a:ext cx="1179575" cy="589788"/>
              </a:xfrm>
              <a:custGeom>
                <a:avLst/>
                <a:gdLst/>
                <a:ahLst/>
                <a:cxnLst/>
                <a:rect l="0" t="0" r="0" b="0"/>
                <a:pathLst>
                  <a:path w="1857" h="928">
                    <a:moveTo>
                      <a:pt x="0" y="0"/>
                    </a:moveTo>
                    <a:lnTo>
                      <a:pt x="1394" y="0"/>
                    </a:lnTo>
                    <a:lnTo>
                      <a:pt x="1857" y="465"/>
                    </a:lnTo>
                    <a:lnTo>
                      <a:pt x="1394" y="928"/>
                    </a:lnTo>
                    <a:lnTo>
                      <a:pt x="0" y="92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EE822F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2" name="textbox 52"/>
            <p:cNvSpPr/>
            <p:nvPr/>
          </p:nvSpPr>
          <p:spPr>
            <a:xfrm>
              <a:off x="-12700" y="-12700"/>
              <a:ext cx="1327150" cy="654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33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ct val="69000"/>
                </a:lnSpc>
                <a:tabLst/>
              </a:pP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02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4587240" y="5186171"/>
            <a:ext cx="1301495" cy="589788"/>
            <a:chOff x="0" y="0"/>
            <a:chExt cx="1301495" cy="589788"/>
          </a:xfrm>
        </p:grpSpPr>
        <p:grpSp>
          <p:nvGrpSpPr>
            <p:cNvPr id="14" name="group 14"/>
            <p:cNvGrpSpPr/>
            <p:nvPr/>
          </p:nvGrpSpPr>
          <p:grpSpPr>
            <a:xfrm rot="21600000">
              <a:off x="0" y="0"/>
              <a:ext cx="1301495" cy="589788"/>
              <a:chOff x="0" y="0"/>
              <a:chExt cx="1301495" cy="589788"/>
            </a:xfrm>
          </p:grpSpPr>
          <p:sp>
            <p:nvSpPr>
              <p:cNvPr id="54" name="path 54"/>
              <p:cNvSpPr/>
              <p:nvPr/>
            </p:nvSpPr>
            <p:spPr>
              <a:xfrm>
                <a:off x="121919" y="0"/>
                <a:ext cx="1179576" cy="589788"/>
              </a:xfrm>
              <a:custGeom>
                <a:avLst/>
                <a:gdLst/>
                <a:ahLst/>
                <a:cxnLst/>
                <a:rect l="0" t="0" r="0" b="0"/>
                <a:pathLst>
                  <a:path w="1857" h="928">
                    <a:moveTo>
                      <a:pt x="0" y="0"/>
                    </a:moveTo>
                    <a:lnTo>
                      <a:pt x="1394" y="0"/>
                    </a:lnTo>
                    <a:lnTo>
                      <a:pt x="1857" y="465"/>
                    </a:lnTo>
                    <a:lnTo>
                      <a:pt x="1394" y="928"/>
                    </a:lnTo>
                    <a:lnTo>
                      <a:pt x="0" y="92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2BA02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path 56"/>
              <p:cNvSpPr/>
              <p:nvPr/>
            </p:nvSpPr>
            <p:spPr>
              <a:xfrm>
                <a:off x="0" y="0"/>
                <a:ext cx="1179575" cy="589788"/>
              </a:xfrm>
              <a:custGeom>
                <a:avLst/>
                <a:gdLst/>
                <a:ahLst/>
                <a:cxnLst/>
                <a:rect l="0" t="0" r="0" b="0"/>
                <a:pathLst>
                  <a:path w="1857" h="928">
                    <a:moveTo>
                      <a:pt x="0" y="0"/>
                    </a:moveTo>
                    <a:lnTo>
                      <a:pt x="1394" y="0"/>
                    </a:lnTo>
                    <a:lnTo>
                      <a:pt x="1857" y="465"/>
                    </a:lnTo>
                    <a:lnTo>
                      <a:pt x="1394" y="928"/>
                    </a:lnTo>
                    <a:lnTo>
                      <a:pt x="0" y="92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B58B01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8" name="textbox 58"/>
            <p:cNvSpPr/>
            <p:nvPr/>
          </p:nvSpPr>
          <p:spPr>
            <a:xfrm>
              <a:off x="-12700" y="-12700"/>
              <a:ext cx="1327150" cy="654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84809" algn="l" rtl="0" eaLnBrk="0">
                <a:lnSpc>
                  <a:spcPct val="69000"/>
                </a:lnSpc>
                <a:spcBef>
                  <a:spcPts val="3"/>
                </a:spcBef>
                <a:tabLst/>
              </a:pPr>
              <a:r>
                <a:rPr sz="2300" kern="0" spc="0" dirty="0">
                  <a:solidFill>
                    <a:srgbClr val="FFFFFF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03</a:t>
              </a:r>
              <a:endParaRPr sz="2300" dirty="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388477" y="401136"/>
            <a:ext cx="1415532" cy="4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92675" y="2744470"/>
            <a:ext cx="2193925" cy="1768474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07680" y="2742565"/>
            <a:ext cx="2193924" cy="1768475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77670" y="2745105"/>
            <a:ext cx="2193924" cy="1768474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-12700" y="490220"/>
            <a:ext cx="3837304" cy="777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展开想象创编故事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path 70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2" name="textbox 72"/>
          <p:cNvSpPr/>
          <p:nvPr/>
        </p:nvSpPr>
        <p:spPr>
          <a:xfrm>
            <a:off x="3654859" y="1702372"/>
            <a:ext cx="6798944" cy="30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6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如何创编让故事情节一波三折 ？让想象故</a:t>
            </a:r>
            <a:r>
              <a:rPr sz="2000" b="1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事更有意思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4618049" y="5375910"/>
            <a:ext cx="272986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16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运用问题链</a:t>
            </a:r>
            <a:r>
              <a:rPr sz="1700" b="1" kern="0" spc="3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16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，让情节连贯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8098408" y="5370271"/>
            <a:ext cx="223138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1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抓住细节</a:t>
            </a:r>
            <a:r>
              <a:rPr sz="1700" b="1" kern="0" spc="2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1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，展开想象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591157" y="5370271"/>
            <a:ext cx="223138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1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借助问题</a:t>
            </a:r>
            <a:r>
              <a:rPr sz="1700" b="1" kern="0" spc="2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1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，展开想象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1765" y="3171766"/>
            <a:ext cx="11017356" cy="3124640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774329" y="1632802"/>
            <a:ext cx="10931525" cy="761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20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如果有一个机器人来到了荒岛 ，</a:t>
            </a:r>
            <a:r>
              <a:rPr sz="20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TA</a:t>
            </a:r>
            <a:r>
              <a:rPr sz="20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遇到的问题</a:t>
            </a:r>
            <a:r>
              <a:rPr sz="2000" kern="0" spc="-2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000" kern="0" spc="-4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8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解决问题的方式跟我</a:t>
            </a:r>
            <a:r>
              <a:rPr sz="2000" kern="0" spc="7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们人类肯定会不一样。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95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b="1" kern="0" spc="110" dirty="0">
                <a:solidFill>
                  <a:srgbClr val="3B5F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你们认为如果是一个机器人流落到了荒岛</a:t>
            </a:r>
            <a:r>
              <a:rPr sz="2000" b="1" kern="0" spc="100" dirty="0">
                <a:solidFill>
                  <a:srgbClr val="3B5F21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，需要解决的问题有哪些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-12700" y="490220"/>
            <a:ext cx="3837304" cy="777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展开想象创编故事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path 88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 rot="21600000">
            <a:off x="0" y="4555513"/>
            <a:ext cx="12192000" cy="2302486"/>
            <a:chOff x="0" y="0"/>
            <a:chExt cx="12192000" cy="2302486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14962"/>
              <a:ext cx="12192000" cy="2287524"/>
            </a:xfrm>
            <a:prstGeom prst="rect">
              <a:avLst/>
            </a:prstGeom>
          </p:spPr>
        </p:pic>
        <p:sp>
          <p:nvSpPr>
            <p:cNvPr id="94" name="textbox 94"/>
            <p:cNvSpPr/>
            <p:nvPr/>
          </p:nvSpPr>
          <p:spPr>
            <a:xfrm>
              <a:off x="-12700" y="-12700"/>
              <a:ext cx="12217400" cy="23374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75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58850" algn="l" rtl="0" eaLnBrk="0">
                <a:lnSpc>
                  <a:spcPct val="88000"/>
                </a:lnSpc>
                <a:tabLst/>
              </a:pPr>
              <a:r>
                <a:rPr sz="1200" kern="0" spc="130" dirty="0">
                  <a:solidFill>
                    <a:srgbClr val="59595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他天然资源来充电</a:t>
              </a:r>
              <a:r>
                <a:rPr sz="1200" kern="0" spc="-60" dirty="0">
                  <a:solidFill>
                    <a:srgbClr val="59595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30" dirty="0">
                  <a:solidFill>
                    <a:srgbClr val="59595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          理或改造</a:t>
              </a:r>
              <a:r>
                <a:rPr sz="1200" kern="0" spc="-160" dirty="0">
                  <a:solidFill>
                    <a:srgbClr val="59595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200" kern="0" spc="130" dirty="0">
                  <a:solidFill>
                    <a:srgbClr val="595959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aphicFrame>
        <p:nvGraphicFramePr>
          <p:cNvPr id="96" name="table 96"/>
          <p:cNvGraphicFramePr>
            <a:graphicFrameLocks noGrp="1"/>
          </p:cNvGraphicFramePr>
          <p:nvPr/>
        </p:nvGraphicFramePr>
        <p:xfrm>
          <a:off x="3105894" y="3012463"/>
          <a:ext cx="6019164" cy="1438910"/>
        </p:xfrm>
        <a:graphic>
          <a:graphicData uri="http://schemas.openxmlformats.org/drawingml/2006/table">
            <a:tbl>
              <a:tblPr/>
              <a:tblGrid>
                <a:gridCol w="1929764"/>
                <a:gridCol w="2156460"/>
                <a:gridCol w="1932939"/>
              </a:tblGrid>
              <a:tr h="1438910">
                <a:tc>
                  <a:txBody>
                    <a:bodyPr/>
                    <a:lstStyle/>
                    <a:p>
                      <a:pPr marL="635" algn="l" rtl="0" eaLnBrk="0">
                        <a:lnSpc>
                          <a:spcPct val="8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</a:t>
                      </a:r>
                      <a:r>
                        <a:rPr sz="12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 人 可</a:t>
                      </a:r>
                      <a:r>
                        <a:rPr sz="12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 不</a:t>
                      </a:r>
                      <a:r>
                        <a:rPr sz="12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</a:t>
                      </a:r>
                      <a:r>
                        <a:rPr sz="1200" kern="0" spc="-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为荒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indent="10795" algn="l" rtl="0" eaLnBrk="0">
                        <a:lnSpc>
                          <a:spcPct val="14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kern="0" spc="1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岛环境设计的</a:t>
                      </a: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 它需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200" kern="0" spc="2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要适应湿热或寒冷的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200" kern="0" spc="20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天气</a:t>
                      </a:r>
                      <a:r>
                        <a:rPr sz="1200" kern="0" spc="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20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，以及可能的雨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水 和</a:t>
                      </a:r>
                      <a:r>
                        <a:rPr sz="12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</a:t>
                      </a:r>
                      <a:r>
                        <a:rPr sz="12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暴 。</a:t>
                      </a:r>
                      <a:r>
                        <a:rPr sz="1200" kern="0" spc="-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 可</a:t>
                      </a:r>
                      <a:r>
                        <a:rPr sz="12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</a:t>
                      </a:r>
                      <a:r>
                        <a:rPr sz="12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      </a:t>
                      </a:r>
                      <a:r>
                        <a:rPr sz="1200" kern="0" spc="2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要机器人进行自我修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31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27329" algn="l" rtl="0" eaLnBrk="0">
                        <a:lnSpc>
                          <a:spcPct val="83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2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机器人可能会寻找方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23520" indent="5080" algn="l" rtl="0" eaLnBrk="0">
                        <a:lnSpc>
                          <a:spcPct val="14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kern="0" spc="1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法与外界联系</a:t>
                      </a:r>
                      <a:r>
                        <a:rPr sz="1200" kern="0" spc="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</a:t>
                      </a:r>
                      <a:r>
                        <a:rPr sz="1200" kern="0" spc="1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，求救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2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或 找 到 回 家 的 方</a:t>
                      </a:r>
                      <a:r>
                        <a:rPr sz="1200" kern="0" spc="-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式 。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200" kern="0" spc="2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它可能需要发明某种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 号</a:t>
                      </a:r>
                      <a:r>
                        <a:rPr sz="1200" kern="0" spc="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装 置 或</a:t>
                      </a:r>
                      <a:r>
                        <a:rPr sz="1200" kern="0" spc="-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</a:t>
                      </a:r>
                      <a:r>
                        <a:rPr sz="12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到</a:t>
                      </a:r>
                      <a:r>
                        <a:rPr sz="1200" kern="0" spc="-4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</a:t>
                      </a:r>
                      <a:r>
                        <a:rPr sz="1200" kern="0" spc="-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他      </a:t>
                      </a:r>
                      <a:r>
                        <a:rPr sz="1200" kern="0" spc="1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通讯方式</a:t>
                      </a:r>
                      <a:r>
                        <a:rPr sz="1200" kern="0" spc="-1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468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832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4790" indent="2540" algn="just" rtl="0" eaLnBrk="0">
                        <a:lnSpc>
                          <a:spcPct val="130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</a:t>
                      </a:r>
                      <a:r>
                        <a:rPr sz="1200" kern="0" spc="-8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荒 岛 上</a:t>
                      </a:r>
                      <a:r>
                        <a:rPr sz="1200" kern="0" spc="27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，机</a:t>
                      </a:r>
                      <a:r>
                        <a:rPr sz="1200" kern="0" spc="-6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 人 </a:t>
                      </a:r>
                      <a:r>
                        <a:rPr sz="12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29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能需要保护自己免受</a:t>
                      </a:r>
                      <a:r>
                        <a:rPr sz="1200" kern="0" spc="2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损 害  ，并 且 学 会 如</a:t>
                      </a:r>
                      <a:r>
                        <a:rPr sz="1200" kern="0" spc="-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何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 岛 上 的资</a:t>
                      </a:r>
                      <a:r>
                        <a:rPr sz="1200" kern="0" spc="-6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</a:t>
                      </a:r>
                      <a:r>
                        <a:rPr sz="1200" kern="0" spc="-10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</a:t>
                      </a:r>
                      <a:r>
                        <a:rPr sz="1200" kern="0" spc="-6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</a:t>
                      </a:r>
                      <a:r>
                        <a:rPr sz="1200" kern="0" spc="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自我维修</a:t>
                      </a:r>
                      <a:r>
                        <a:rPr sz="1200" kern="0" spc="-13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kern="0" spc="150" dirty="0">
                          <a:solidFill>
                            <a:srgbClr val="595959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8" name="textbox 98"/>
          <p:cNvSpPr/>
          <p:nvPr/>
        </p:nvSpPr>
        <p:spPr>
          <a:xfrm>
            <a:off x="934455" y="2408120"/>
            <a:ext cx="1733550" cy="2071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7034" algn="l" rtl="0" eaLnBrk="0">
              <a:lnSpc>
                <a:spcPct val="88000"/>
              </a:lnSpc>
              <a:tabLst/>
            </a:pPr>
            <a:r>
              <a:rPr sz="1500" b="1" kern="0" spc="260" dirty="0">
                <a:solidFill>
                  <a:srgbClr val="4874C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电源问题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2000"/>
              </a:lnSpc>
              <a:spcBef>
                <a:spcPts val="362"/>
              </a:spcBef>
              <a:tabLst/>
            </a:pP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器 人 需</a:t>
            </a:r>
            <a:r>
              <a:rPr sz="1200" kern="0" spc="-6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 电 力来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marL="13970" indent="-1270" algn="l" rtl="0" eaLnBrk="0">
              <a:lnSpc>
                <a:spcPct val="142000"/>
              </a:lnSpc>
              <a:spcBef>
                <a:spcPts val="21"/>
              </a:spcBef>
              <a:tabLst/>
            </a:pPr>
            <a:r>
              <a:rPr sz="1200" kern="0" spc="1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 。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在荒岛上</a:t>
            </a:r>
            <a:r>
              <a:rPr sz="1200" kern="0" spc="2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，机器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 如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何 找</a:t>
            </a:r>
            <a:r>
              <a:rPr sz="1200" kern="0" spc="-4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到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或</a:t>
            </a:r>
            <a:r>
              <a:rPr sz="1200" kern="0" spc="-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创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 电 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源 是 一</a:t>
            </a:r>
            <a:r>
              <a:rPr sz="1200" kern="0" spc="-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个 重 要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问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题 。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比如</a:t>
            </a:r>
            <a:r>
              <a:rPr sz="1200" kern="0" spc="3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-2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它可以尝试使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用太阳能或者找到其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9458074" y="2365268"/>
            <a:ext cx="1906904" cy="1856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350" dirty="0">
                <a:solidFill>
                  <a:srgbClr val="30C0B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学习和适应新技能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indent="6985" algn="l" rtl="0" eaLnBrk="0">
              <a:lnSpc>
                <a:spcPct val="139000"/>
              </a:lnSpc>
              <a:spcBef>
                <a:spcPts val="4"/>
              </a:spcBef>
              <a:tabLst/>
            </a:pP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 了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荒</a:t>
            </a:r>
            <a:r>
              <a:rPr sz="1200" kern="0" spc="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岛上 生</a:t>
            </a:r>
            <a:r>
              <a:rPr sz="1200" kern="0" spc="-7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存</a:t>
            </a:r>
            <a:r>
              <a:rPr sz="1200" kern="0" spc="5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器 人 可 能 需</a:t>
            </a:r>
            <a:r>
              <a:rPr sz="1200" kern="0" spc="-6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要</a:t>
            </a:r>
            <a:r>
              <a:rPr sz="1200" kern="0" spc="-3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学 习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 的</a:t>
            </a:r>
            <a:r>
              <a:rPr sz="1200" kern="0" spc="-6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 能  ，比 如制</a:t>
            </a:r>
            <a:r>
              <a:rPr sz="1200" kern="0" spc="-8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2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29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工具或者适应自然环</a:t>
            </a:r>
            <a:r>
              <a:rPr sz="1200" kern="0" spc="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境</a:t>
            </a:r>
            <a:r>
              <a:rPr sz="1200" kern="0" spc="-16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10" dirty="0">
                <a:solidFill>
                  <a:srgbClr val="59595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-12700" y="490220"/>
            <a:ext cx="3837304" cy="7772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spcBef>
                <a:spcPts val="1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展开想象创编故事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path 104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3694" y="1974939"/>
            <a:ext cx="10807002" cy="236473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3343352" y="2366483"/>
            <a:ext cx="5743575" cy="264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5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2400" b="1" kern="0" spc="-10" baseline="-8681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环</a:t>
            </a:r>
            <a:r>
              <a:rPr sz="1500" b="1" kern="0" spc="-1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baseline="-8681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境</a:t>
            </a:r>
            <a:r>
              <a:rPr sz="1500" b="1" kern="0" spc="-1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baseline="-8681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适</a:t>
            </a:r>
            <a:r>
              <a:rPr sz="1500" b="1" kern="0" spc="-1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baseline="-8681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</a:t>
            </a:r>
            <a:r>
              <a:rPr sz="1500" b="1" kern="0" spc="-1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10" baseline="-8681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</a:t>
            </a:r>
            <a:r>
              <a:rPr sz="1500" b="1" kern="0" spc="-20" dirty="0">
                <a:solidFill>
                  <a:srgbClr val="EE822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沟</a:t>
            </a:r>
            <a:r>
              <a:rPr sz="1500" b="1" kern="0" spc="-10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1500" b="1" kern="0" spc="-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500" b="1" kern="0" spc="-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寻</a:t>
            </a:r>
            <a:r>
              <a:rPr sz="1500" b="1" kern="0" spc="-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求</a:t>
            </a:r>
            <a:r>
              <a:rPr sz="1500" b="1" kern="0" spc="-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帮</a:t>
            </a:r>
            <a:r>
              <a:rPr sz="1500" b="1" kern="0" spc="-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助</a:t>
            </a:r>
            <a:r>
              <a:rPr sz="1500" b="1" kern="0" spc="-20" dirty="0">
                <a:solidFill>
                  <a:srgbClr val="F2BA0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2400" b="1" kern="0" spc="-20" baseline="217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1500" b="1" kern="0" spc="-2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</a:t>
            </a:r>
            <a:r>
              <a:rPr sz="1500" b="1" kern="0" spc="-8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1500" b="1" kern="0" spc="-10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护与</a:t>
            </a:r>
            <a:r>
              <a:rPr sz="1500" b="1" kern="0" spc="-2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</a:t>
            </a:r>
            <a:r>
              <a:rPr sz="1500" b="1" kern="0" spc="-9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kern="0" spc="-20" baseline="2170" dirty="0">
                <a:solidFill>
                  <a:srgbClr val="75BD42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</a:t>
            </a:r>
            <a:endParaRPr sz="2400" baseline="217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3095486" y="2105564"/>
            <a:ext cx="8497569" cy="4439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66164" algn="l" rtl="0" eaLnBrk="0">
              <a:lnSpc>
                <a:spcPct val="89000"/>
              </a:lnSpc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我们人类如果流落荒岛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884" algn="l" rtl="0" eaLnBrk="0">
              <a:lnSpc>
                <a:spcPct val="87000"/>
              </a:lnSpc>
              <a:spcBef>
                <a:spcPts val="814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既需要解决吃喝拉撒的生存问题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99794" algn="l" rtl="0" eaLnBrk="0">
              <a:lnSpc>
                <a:spcPct val="88000"/>
              </a:lnSpc>
              <a:spcBef>
                <a:spcPts val="822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又要解决情感方面的问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题。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602739" algn="l" rtl="0" eaLnBrk="0">
              <a:lnSpc>
                <a:spcPct val="87000"/>
              </a:lnSpc>
              <a:spcBef>
                <a:spcPts val="820"/>
              </a:spcBef>
              <a:tabLst/>
            </a:pP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如果是机器人呢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spcBef>
                <a:spcPts val="819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可以在荒岛上毫无障碍地生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存下去吗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480684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精彩片段抢先看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5385" y="5769495"/>
            <a:ext cx="740638" cy="740637"/>
          </a:xfrm>
          <a:prstGeom prst="rect">
            <a:avLst/>
          </a:prstGeom>
        </p:spPr>
      </p:pic>
      <p:sp>
        <p:nvSpPr>
          <p:cNvPr id="118" name="rect 118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519171"/>
            <a:ext cx="6309359" cy="4338828"/>
          </a:xfrm>
          <a:prstGeom prst="rect">
            <a:avLst/>
          </a:prstGeom>
        </p:spPr>
      </p:pic>
      <p:graphicFrame>
        <p:nvGraphicFramePr>
          <p:cNvPr id="122" name="table 122"/>
          <p:cNvGraphicFramePr>
            <a:graphicFrameLocks noGrp="1"/>
          </p:cNvGraphicFramePr>
          <p:nvPr/>
        </p:nvGraphicFramePr>
        <p:xfrm>
          <a:off x="5858509" y="2172970"/>
          <a:ext cx="5445125" cy="2242820"/>
        </p:xfrm>
        <a:graphic>
          <a:graphicData uri="http://schemas.openxmlformats.org/drawingml/2006/table">
            <a:tbl>
              <a:tblPr/>
              <a:tblGrid>
                <a:gridCol w="5445125"/>
              </a:tblGrid>
              <a:tr h="22364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2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27735" indent="-271145" algn="l" rtl="0" eaLnBrk="0">
                        <a:lnSpc>
                          <a:spcPct val="126000"/>
                        </a:lnSpc>
                        <a:tabLst/>
                      </a:pP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l</a:t>
                      </a:r>
                      <a:r>
                        <a:rPr sz="1700" kern="0" spc="-5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 </a:t>
                      </a:r>
                      <a:r>
                        <a:rPr sz="1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一个不知道什么原因来到荒岛的机</a:t>
                      </a:r>
                      <a:r>
                        <a:rPr sz="1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器人 ，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</a:t>
                      </a: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会遇到什么样的问题</a:t>
                      </a:r>
                      <a:r>
                        <a:rPr sz="1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5659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l</a:t>
                      </a:r>
                      <a:r>
                        <a:rPr sz="1700" kern="0" spc="-7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Wingdings"/>
                          <a:ea typeface="Wingdings"/>
                          <a:cs typeface="Wingdings"/>
                        </a:rPr>
                        <a:t> </a:t>
                      </a:r>
                      <a:r>
                        <a:rPr sz="1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</a:t>
                      </a: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有像我们人类一样的情感吗</a:t>
                      </a:r>
                      <a:r>
                        <a:rPr sz="17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54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4" name="textbox 124"/>
          <p:cNvSpPr/>
          <p:nvPr/>
        </p:nvSpPr>
        <p:spPr>
          <a:xfrm>
            <a:off x="-12700" y="490220"/>
            <a:ext cx="3467100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4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精彩片段抢先看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path 12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8" name="rect 128"/>
          <p:cNvSpPr/>
          <p:nvPr/>
        </p:nvSpPr>
        <p:spPr>
          <a:xfrm>
            <a:off x="10905744" y="2290571"/>
            <a:ext cx="720852" cy="259080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30"/>
          <p:cNvSpPr/>
          <p:nvPr/>
        </p:nvSpPr>
        <p:spPr>
          <a:xfrm>
            <a:off x="0" y="1958340"/>
            <a:ext cx="6699884" cy="4137659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392555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机器人萝丝有 了</a:t>
            </a:r>
            <a:r>
              <a:rPr sz="2000" b="1" kern="0" spc="-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一只小野鹅儿子</a:t>
            </a:r>
            <a:r>
              <a:rPr sz="2000" b="1" kern="0" spc="-3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70610" algn="l" rtl="0" eaLnBrk="0">
              <a:lnSpc>
                <a:spcPct val="93000"/>
              </a:lnSpc>
              <a:spcBef>
                <a:spcPts val="611"/>
              </a:spcBef>
              <a:tabLst/>
            </a:pP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0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这是怎么一回事呢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430655" indent="-331470" algn="l" rtl="0" eaLnBrk="0">
              <a:lnSpc>
                <a:spcPct val="130000"/>
              </a:lnSpc>
              <a:spcBef>
                <a:spcPts val="4"/>
              </a:spcBef>
              <a:tabLst/>
            </a:pPr>
            <a:r>
              <a:rPr sz="2000" kern="0" spc="15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2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1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她为什么会成为一只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小野鹅妈妈 ？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她会像妈妈一样照顾小野鹅</a:t>
            </a:r>
            <a:r>
              <a:rPr sz="2000" kern="0" spc="-2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000" kern="0" spc="-3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爱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</a:t>
            </a:r>
            <a:r>
              <a:rPr sz="20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野鹅吗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2" name="picture 1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272271" y="1222248"/>
            <a:ext cx="2318004" cy="5309615"/>
          </a:xfrm>
          <a:prstGeom prst="rect">
            <a:avLst/>
          </a:prstGeom>
        </p:spPr>
      </p:pic>
      <p:sp>
        <p:nvSpPr>
          <p:cNvPr id="134" name="textbox 134"/>
          <p:cNvSpPr/>
          <p:nvPr/>
        </p:nvSpPr>
        <p:spPr>
          <a:xfrm>
            <a:off x="-12700" y="490220"/>
            <a:ext cx="3467100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4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精彩片段抢先看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6" name="path 13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621" y="1612277"/>
            <a:ext cx="4476667" cy="4630848"/>
          </a:xfrm>
          <a:prstGeom prst="rect">
            <a:avLst/>
          </a:prstGeom>
        </p:spPr>
      </p:pic>
      <p:sp>
        <p:nvSpPr>
          <p:cNvPr id="142" name="textbox 142"/>
          <p:cNvSpPr/>
          <p:nvPr/>
        </p:nvSpPr>
        <p:spPr>
          <a:xfrm>
            <a:off x="5486400" y="2438400"/>
            <a:ext cx="6705600" cy="3048000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34439" algn="l" rtl="0" eaLnBrk="0">
              <a:lnSpc>
                <a:spcPct val="88000"/>
              </a:lnSpc>
              <a:tabLst/>
            </a:pPr>
            <a:r>
              <a:rPr sz="2000" b="1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野鹿教萝丝种植花园</a:t>
            </a:r>
            <a:r>
              <a:rPr sz="2000" b="1" kern="0" spc="-3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1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46455" algn="l" rtl="0" eaLnBrk="0">
              <a:lnSpc>
                <a:spcPct val="93000"/>
              </a:lnSpc>
              <a:spcBef>
                <a:spcPts val="611"/>
              </a:spcBef>
              <a:tabLst/>
            </a:pP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9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1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机器人是怎样和野鹿交</a:t>
            </a:r>
            <a:r>
              <a:rPr sz="2000" kern="0" spc="1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上朋友的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6660" indent="-342265" algn="l" rtl="0" eaLnBrk="0">
              <a:lnSpc>
                <a:spcPct val="105000"/>
              </a:lnSpc>
              <a:spcBef>
                <a:spcPts val="1"/>
              </a:spcBef>
              <a:tabLst/>
            </a:pPr>
            <a:r>
              <a:rPr sz="2000" kern="0" spc="-7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90" dirty="0">
                <a:solidFill>
                  <a:srgbClr val="FFFFFF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作为一个“</a:t>
            </a:r>
            <a:r>
              <a:rPr sz="2000" kern="0" spc="-4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没有感情</a:t>
            </a:r>
            <a:r>
              <a:rPr sz="2000" kern="0" spc="-4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”的机器人</a:t>
            </a:r>
            <a:r>
              <a:rPr sz="2000" kern="0" spc="1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，她</a:t>
            </a: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</a:t>
            </a:r>
            <a:r>
              <a:rPr sz="2000" kern="0" spc="1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为什么需要一个花园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-12700" y="490220"/>
            <a:ext cx="3467100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4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精彩片段抢先看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6" name="path 14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48" name="picture 1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11582400" y="5791250"/>
            <a:ext cx="457289" cy="152400"/>
            <a:chOff x="0" y="0"/>
            <a:chExt cx="457289" cy="152400"/>
          </a:xfrm>
        </p:grpSpPr>
        <p:sp>
          <p:nvSpPr>
            <p:cNvPr id="150" name="path 150"/>
            <p:cNvSpPr/>
            <p:nvPr/>
          </p:nvSpPr>
          <p:spPr>
            <a:xfrm>
              <a:off x="0" y="0"/>
              <a:ext cx="152489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4546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2" name="path 152"/>
            <p:cNvSpPr/>
            <p:nvPr/>
          </p:nvSpPr>
          <p:spPr>
            <a:xfrm>
              <a:off x="304800" y="0"/>
              <a:ext cx="152489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5638800" y="1981212"/>
            <a:ext cx="457200" cy="152400"/>
            <a:chOff x="0" y="0"/>
            <a:chExt cx="457200" cy="152400"/>
          </a:xfrm>
        </p:grpSpPr>
        <p:sp>
          <p:nvSpPr>
            <p:cNvPr id="154" name="path 154"/>
            <p:cNvSpPr/>
            <p:nvPr/>
          </p:nvSpPr>
          <p:spPr>
            <a:xfrm>
              <a:off x="0" y="0"/>
              <a:ext cx="152400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874C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56" name="path 156"/>
            <p:cNvSpPr/>
            <p:nvPr/>
          </p:nvSpPr>
          <p:spPr>
            <a:xfrm>
              <a:off x="304800" y="0"/>
              <a:ext cx="152400" cy="152400"/>
            </a:xfrm>
            <a:custGeom>
              <a:avLst/>
              <a:gdLst/>
              <a:ahLst/>
              <a:cxnLst/>
              <a:rect l="0" t="0" r="0" b="0"/>
              <a:pathLst>
                <a:path w="240" h="240">
                  <a:moveTo>
                    <a:pt x="0" y="119"/>
                  </a:moveTo>
                  <a:cubicBezTo>
                    <a:pt x="0" y="53"/>
                    <a:pt x="53" y="0"/>
                    <a:pt x="120" y="0"/>
                  </a:cubicBezTo>
                  <a:cubicBezTo>
                    <a:pt x="186" y="0"/>
                    <a:pt x="240" y="53"/>
                    <a:pt x="240" y="120"/>
                  </a:cubicBezTo>
                  <a:cubicBezTo>
                    <a:pt x="240" y="186"/>
                    <a:pt x="186" y="240"/>
                    <a:pt x="120" y="240"/>
                  </a:cubicBezTo>
                  <a:cubicBezTo>
                    <a:pt x="53" y="240"/>
                    <a:pt x="0" y="186"/>
                    <a:pt x="0" y="119"/>
                  </a:cubicBezTo>
                </a:path>
              </a:pathLst>
            </a:custGeom>
            <a:solidFill>
              <a:srgbClr val="44546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picture 1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46492" y="0"/>
            <a:ext cx="4445507" cy="6858000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-12700" y="490220"/>
            <a:ext cx="5922009" cy="3602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4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精彩片段抢先看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spcBef>
                <a:spcPts val="606"/>
              </a:spcBef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萝丝点燃了篝火 ，和</a:t>
            </a:r>
            <a:r>
              <a:rPr sz="20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荒岛上的动物们一起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334769" algn="l" rtl="0" eaLnBrk="0">
              <a:lnSpc>
                <a:spcPts val="3457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开了一个狂欢晚会。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026160" algn="l" rtl="0" eaLnBrk="0">
              <a:lnSpc>
                <a:spcPct val="93000"/>
              </a:lnSpc>
              <a:spcBef>
                <a:spcPts val="3"/>
              </a:spcBef>
              <a:tabLst/>
            </a:pP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11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这会不会是“最后的狂欢”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2" name="path 162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573523"/>
            <a:ext cx="2593339" cy="22844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 166"/>
          <p:cNvSpPr/>
          <p:nvPr/>
        </p:nvSpPr>
        <p:spPr>
          <a:xfrm>
            <a:off x="292608" y="304800"/>
            <a:ext cx="11606784" cy="6248400"/>
          </a:xfrm>
          <a:prstGeom prst="rect">
            <a:avLst/>
          </a:prstGeom>
          <a:solidFill>
            <a:srgbClr val="E7E6E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20852" y="1493520"/>
            <a:ext cx="6248400" cy="4754879"/>
          </a:xfrm>
          <a:prstGeom prst="rect">
            <a:avLst/>
          </a:prstGeom>
        </p:spPr>
      </p:pic>
      <p:sp>
        <p:nvSpPr>
          <p:cNvPr id="170" name="textbox 170"/>
          <p:cNvSpPr/>
          <p:nvPr/>
        </p:nvSpPr>
        <p:spPr>
          <a:xfrm>
            <a:off x="7508039" y="2943797"/>
            <a:ext cx="3736340" cy="173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79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784" indent="-426719" algn="l" rtl="0" eaLnBrk="0">
              <a:lnSpc>
                <a:spcPct val="105000"/>
              </a:lnSpc>
              <a:tabLst/>
            </a:pPr>
            <a:r>
              <a:rPr sz="2000" kern="0" spc="12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2000" kern="0" spc="1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其他机器人为什么要来追捕</a:t>
            </a:r>
            <a:r>
              <a:rPr sz="2000" kern="0" spc="2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-10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20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萝丝就这样“</a:t>
            </a:r>
            <a:r>
              <a:rPr sz="2000" kern="0" spc="-4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</a:t>
            </a:r>
            <a:r>
              <a:rPr sz="2000" kern="0" spc="-46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”掉了吗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5"/>
              </a:spcBef>
              <a:tabLst/>
            </a:pPr>
            <a:r>
              <a:rPr sz="2000" kern="0" spc="4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 </a:t>
            </a:r>
            <a:r>
              <a:rPr sz="2000" kern="0" spc="4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这就是这个故事的结局吗 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-12700" y="490220"/>
            <a:ext cx="3467100" cy="774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4"/>
              </a:spcBef>
              <a:tabLst>
                <a:tab pos="88963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精彩片段抢先看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4" name="path 174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76" name="picture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388477" y="401136"/>
            <a:ext cx="1415532" cy="4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1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180" name="textbox 180"/>
          <p:cNvSpPr/>
          <p:nvPr/>
        </p:nvSpPr>
        <p:spPr>
          <a:xfrm>
            <a:off x="3599779" y="2667594"/>
            <a:ext cx="7993380" cy="3877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6039" algn="l" rtl="0" eaLnBrk="0">
              <a:lnSpc>
                <a:spcPct val="93000"/>
              </a:lnSpc>
              <a:tabLst/>
            </a:pPr>
            <a:r>
              <a:rPr sz="2500" kern="0" spc="-1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小“剧透”过后 ，</a:t>
            </a:r>
            <a:endParaRPr sz="2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81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你是否对本书有了更多的期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94130" algn="l" rtl="0" eaLnBrk="0">
              <a:lnSpc>
                <a:spcPct val="88000"/>
              </a:lnSpc>
              <a:spcBef>
                <a:spcPts val="819"/>
              </a:spcBef>
              <a:tabLst/>
            </a:pPr>
            <a:r>
              <a:rPr sz="27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一起来阅读呀 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938520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300" kern="0" spc="-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自由阅读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4675" y="5769495"/>
            <a:ext cx="740638" cy="740637"/>
          </a:xfrm>
          <a:prstGeom prst="rect">
            <a:avLst/>
          </a:prstGeom>
        </p:spPr>
      </p:pic>
      <p:sp>
        <p:nvSpPr>
          <p:cNvPr id="184" name="rect 184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 rot="21600000">
            <a:off x="1101851" y="3950208"/>
            <a:ext cx="9989819" cy="809244"/>
            <a:chOff x="0" y="0"/>
            <a:chExt cx="9989819" cy="809244"/>
          </a:xfrm>
        </p:grpSpPr>
        <p:sp>
          <p:nvSpPr>
            <p:cNvPr id="186" name="path 186"/>
            <p:cNvSpPr/>
            <p:nvPr/>
          </p:nvSpPr>
          <p:spPr>
            <a:xfrm>
              <a:off x="0" y="0"/>
              <a:ext cx="4994147" cy="809244"/>
            </a:xfrm>
            <a:custGeom>
              <a:avLst/>
              <a:gdLst/>
              <a:ahLst/>
              <a:cxnLst/>
              <a:rect l="0" t="0" r="0" b="0"/>
              <a:pathLst>
                <a:path w="7864" h="1274">
                  <a:moveTo>
                    <a:pt x="0" y="0"/>
                  </a:moveTo>
                  <a:lnTo>
                    <a:pt x="7864" y="0"/>
                  </a:lnTo>
                  <a:lnTo>
                    <a:pt x="7864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EC9B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8" name="path 188"/>
            <p:cNvSpPr/>
            <p:nvPr/>
          </p:nvSpPr>
          <p:spPr>
            <a:xfrm>
              <a:off x="4994147" y="0"/>
              <a:ext cx="4995671" cy="809244"/>
            </a:xfrm>
            <a:custGeom>
              <a:avLst/>
              <a:gdLst/>
              <a:ahLst/>
              <a:cxnLst/>
              <a:rect l="0" t="0" r="0" b="0"/>
              <a:pathLst>
                <a:path w="7867" h="1274">
                  <a:moveTo>
                    <a:pt x="0" y="0"/>
                  </a:moveTo>
                  <a:lnTo>
                    <a:pt x="7867" y="0"/>
                  </a:lnTo>
                  <a:lnTo>
                    <a:pt x="7867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ECE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1101089" y="3140964"/>
            <a:ext cx="8406129" cy="813180"/>
            <a:chOff x="0" y="0"/>
            <a:chExt cx="8406129" cy="813180"/>
          </a:xfrm>
        </p:grpSpPr>
        <p:sp>
          <p:nvSpPr>
            <p:cNvPr id="190" name="rect 190"/>
            <p:cNvSpPr/>
            <p:nvPr/>
          </p:nvSpPr>
          <p:spPr>
            <a:xfrm>
              <a:off x="761" y="0"/>
              <a:ext cx="4994147" cy="809244"/>
            </a:xfrm>
            <a:prstGeom prst="rect">
              <a:avLst/>
            </a:prstGeom>
            <a:solidFill>
              <a:srgbClr val="CEC9B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92" name="textbox 192"/>
            <p:cNvSpPr/>
            <p:nvPr/>
          </p:nvSpPr>
          <p:spPr>
            <a:xfrm>
              <a:off x="91541" y="242722"/>
              <a:ext cx="8327390" cy="3314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408"/>
                </a:lnSpc>
                <a:tabLst/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</a:t>
              </a:r>
              <a:r>
                <a:rPr sz="1700" kern="0" spc="-2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、在阅读中我提出了问题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\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有疑问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A</a:t>
              </a:r>
              <a:r>
                <a:rPr sz="1700" kern="0" spc="-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3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个以上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B</a:t>
              </a:r>
              <a:r>
                <a:rPr sz="1700" kern="0" spc="-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3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</a:t>
              </a: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C</a:t>
              </a:r>
              <a:r>
                <a:rPr sz="1700" kern="0" spc="-21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3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个以下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805560"/>
              <a:ext cx="4994909" cy="762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 rot="21600000">
            <a:off x="1101089" y="1520952"/>
            <a:ext cx="9990581" cy="1623567"/>
            <a:chOff x="0" y="0"/>
            <a:chExt cx="9990581" cy="1623567"/>
          </a:xfrm>
        </p:grpSpPr>
        <p:grpSp>
          <p:nvGrpSpPr>
            <p:cNvPr id="28" name="group 28"/>
            <p:cNvGrpSpPr/>
            <p:nvPr/>
          </p:nvGrpSpPr>
          <p:grpSpPr>
            <a:xfrm rot="21600000">
              <a:off x="761" y="0"/>
              <a:ext cx="9989819" cy="1620011"/>
              <a:chOff x="0" y="0"/>
              <a:chExt cx="9989819" cy="1620011"/>
            </a:xfrm>
          </p:grpSpPr>
          <p:sp>
            <p:nvSpPr>
              <p:cNvPr id="196" name="path 196"/>
              <p:cNvSpPr/>
              <p:nvPr/>
            </p:nvSpPr>
            <p:spPr>
              <a:xfrm>
                <a:off x="0" y="0"/>
                <a:ext cx="9989819" cy="1620011"/>
              </a:xfrm>
              <a:custGeom>
                <a:avLst/>
                <a:gdLst/>
                <a:ahLst/>
                <a:cxnLst/>
                <a:rect l="0" t="0" r="0" b="0"/>
                <a:pathLst>
                  <a:path w="15731" h="2551">
                    <a:moveTo>
                      <a:pt x="0" y="0"/>
                    </a:moveTo>
                    <a:lnTo>
                      <a:pt x="7864" y="0"/>
                    </a:lnTo>
                    <a:lnTo>
                      <a:pt x="7864" y="1276"/>
                    </a:lnTo>
                    <a:lnTo>
                      <a:pt x="0" y="1276"/>
                    </a:lnTo>
                    <a:lnTo>
                      <a:pt x="0" y="0"/>
                    </a:lnTo>
                    <a:close/>
                  </a:path>
                  <a:path w="15731" h="2551">
                    <a:moveTo>
                      <a:pt x="7864" y="0"/>
                    </a:moveTo>
                    <a:lnTo>
                      <a:pt x="15731" y="0"/>
                    </a:lnTo>
                    <a:lnTo>
                      <a:pt x="15731" y="1276"/>
                    </a:lnTo>
                    <a:lnTo>
                      <a:pt x="7864" y="1276"/>
                    </a:lnTo>
                    <a:lnTo>
                      <a:pt x="7864" y="0"/>
                    </a:lnTo>
                    <a:close/>
                  </a:path>
                  <a:path w="15731" h="2551">
                    <a:moveTo>
                      <a:pt x="0" y="1276"/>
                    </a:moveTo>
                    <a:lnTo>
                      <a:pt x="7864" y="1276"/>
                    </a:lnTo>
                    <a:lnTo>
                      <a:pt x="7864" y="2551"/>
                    </a:lnTo>
                    <a:lnTo>
                      <a:pt x="0" y="2551"/>
                    </a:lnTo>
                    <a:lnTo>
                      <a:pt x="0" y="1276"/>
                    </a:lnTo>
                    <a:close/>
                  </a:path>
                </a:pathLst>
              </a:custGeom>
              <a:solidFill>
                <a:srgbClr val="CEC9B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path 198"/>
              <p:cNvSpPr/>
              <p:nvPr/>
            </p:nvSpPr>
            <p:spPr>
              <a:xfrm>
                <a:off x="4994147" y="810767"/>
                <a:ext cx="4995671" cy="809244"/>
              </a:xfrm>
              <a:custGeom>
                <a:avLst/>
                <a:gdLst/>
                <a:ahLst/>
                <a:cxnLst/>
                <a:rect l="0" t="0" r="0" b="0"/>
                <a:pathLst>
                  <a:path w="7867" h="1274">
                    <a:moveTo>
                      <a:pt x="0" y="0"/>
                    </a:moveTo>
                    <a:lnTo>
                      <a:pt x="7867" y="0"/>
                    </a:lnTo>
                    <a:lnTo>
                      <a:pt x="7867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CE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00" name="textbox 200"/>
            <p:cNvSpPr/>
            <p:nvPr/>
          </p:nvSpPr>
          <p:spPr>
            <a:xfrm>
              <a:off x="98171" y="267673"/>
              <a:ext cx="7661909" cy="1078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43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2000" b="1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自检</a:t>
              </a: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                                                        </a:t>
              </a:r>
              <a:r>
                <a:rPr sz="2000" b="1" kern="0" spc="-1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判断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2"/>
                </a:spcBef>
                <a:tabLst/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1</a:t>
              </a:r>
              <a:r>
                <a:rPr sz="1700" kern="0" spc="-17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3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我能在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20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分钟内读完    页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02" name="picture 20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795845"/>
              <a:ext cx="9989819" cy="28575"/>
            </a:xfrm>
            <a:prstGeom prst="rect">
              <a:avLst/>
            </a:prstGeom>
          </p:spPr>
        </p:pic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1615947"/>
              <a:ext cx="4994909" cy="762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 rot="21600000">
            <a:off x="1101851" y="5570220"/>
            <a:ext cx="9989819" cy="809244"/>
            <a:chOff x="0" y="0"/>
            <a:chExt cx="9989819" cy="809244"/>
          </a:xfrm>
        </p:grpSpPr>
        <p:grpSp>
          <p:nvGrpSpPr>
            <p:cNvPr id="32" name="group 32"/>
            <p:cNvGrpSpPr/>
            <p:nvPr/>
          </p:nvGrpSpPr>
          <p:grpSpPr>
            <a:xfrm rot="21600000">
              <a:off x="0" y="0"/>
              <a:ext cx="9989819" cy="809244"/>
              <a:chOff x="0" y="0"/>
              <a:chExt cx="9989819" cy="809244"/>
            </a:xfrm>
          </p:grpSpPr>
          <p:sp>
            <p:nvSpPr>
              <p:cNvPr id="206" name="path 206"/>
              <p:cNvSpPr/>
              <p:nvPr/>
            </p:nvSpPr>
            <p:spPr>
              <a:xfrm>
                <a:off x="0" y="0"/>
                <a:ext cx="4994147" cy="809244"/>
              </a:xfrm>
              <a:custGeom>
                <a:avLst/>
                <a:gdLst/>
                <a:ahLst/>
                <a:cxnLst/>
                <a:rect l="0" t="0" r="0" b="0"/>
                <a:pathLst>
                  <a:path w="7864" h="1274">
                    <a:moveTo>
                      <a:pt x="0" y="0"/>
                    </a:moveTo>
                    <a:lnTo>
                      <a:pt x="7864" y="0"/>
                    </a:lnTo>
                    <a:lnTo>
                      <a:pt x="7864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C9BA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path 208"/>
              <p:cNvSpPr/>
              <p:nvPr/>
            </p:nvSpPr>
            <p:spPr>
              <a:xfrm>
                <a:off x="4994147" y="0"/>
                <a:ext cx="4995671" cy="809244"/>
              </a:xfrm>
              <a:custGeom>
                <a:avLst/>
                <a:gdLst/>
                <a:ahLst/>
                <a:cxnLst/>
                <a:rect l="0" t="0" r="0" b="0"/>
                <a:pathLst>
                  <a:path w="7867" h="1274">
                    <a:moveTo>
                      <a:pt x="0" y="0"/>
                    </a:moveTo>
                    <a:lnTo>
                      <a:pt x="7867" y="0"/>
                    </a:lnTo>
                    <a:lnTo>
                      <a:pt x="7867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EECE7">
                  <a:alpha val="100000"/>
                </a:srgbClr>
              </a:solidFill>
              <a:ln w="0" cap="flat">
                <a:noFill/>
                <a:prstDash val="solid"/>
                <a:miter lim="0"/>
              </a:ln>
            </p:spPr>
            <p:txBody>
              <a:bodyPr rtlCol="0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10" name="textbox 210"/>
            <p:cNvSpPr/>
            <p:nvPr/>
          </p:nvSpPr>
          <p:spPr>
            <a:xfrm>
              <a:off x="-12700" y="-12700"/>
              <a:ext cx="10015219" cy="835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9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4300" algn="l" rtl="0" eaLnBrk="0">
                <a:lnSpc>
                  <a:spcPct val="89000"/>
                </a:lnSpc>
                <a:spcBef>
                  <a:spcPts val="4"/>
                </a:spcBef>
                <a:tabLst/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5</a:t>
              </a:r>
              <a:r>
                <a:rPr sz="1700" kern="0" spc="-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32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阅读内容 ，给我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印象深刻的人和事有哪些</a:t>
              </a:r>
              <a:r>
                <a:rPr sz="1700" kern="0" spc="-1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1101089" y="4759452"/>
            <a:ext cx="4994909" cy="813942"/>
            <a:chOff x="0" y="0"/>
            <a:chExt cx="4994909" cy="813942"/>
          </a:xfrm>
        </p:grpSpPr>
        <p:sp>
          <p:nvSpPr>
            <p:cNvPr id="212" name="rect 212"/>
            <p:cNvSpPr/>
            <p:nvPr/>
          </p:nvSpPr>
          <p:spPr>
            <a:xfrm>
              <a:off x="761" y="0"/>
              <a:ext cx="4994147" cy="810767"/>
            </a:xfrm>
            <a:prstGeom prst="rect">
              <a:avLst/>
            </a:prstGeom>
            <a:solidFill>
              <a:srgbClr val="CEC9B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14" name="textbox 214"/>
            <p:cNvSpPr/>
            <p:nvPr/>
          </p:nvSpPr>
          <p:spPr>
            <a:xfrm>
              <a:off x="83997" y="283489"/>
              <a:ext cx="3652520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8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4</a:t>
              </a:r>
              <a:r>
                <a:rPr sz="1700" kern="0" spc="-22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sz="1700" kern="0" spc="-4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浏览目录 ，我感兴趣的章节是</a:t>
              </a:r>
              <a:r>
                <a:rPr sz="1700" kern="0" spc="-3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…</a:t>
              </a:r>
              <a:r>
                <a:rPr sz="1700" kern="0" spc="-25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Calibri"/>
                  <a:ea typeface="Calibri"/>
                  <a:cs typeface="Calibri"/>
                </a:rPr>
                <a:t>…</a:t>
              </a:r>
              <a:endParaRPr sz="1700" dirty="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16" name="picture 2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806322"/>
              <a:ext cx="4994909" cy="7620"/>
            </a:xfrm>
            <a:prstGeom prst="rect">
              <a:avLst/>
            </a:prstGeom>
          </p:spPr>
        </p:pic>
      </p:grpSp>
      <p:sp>
        <p:nvSpPr>
          <p:cNvPr id="218" name="textbox 218"/>
          <p:cNvSpPr/>
          <p:nvPr/>
        </p:nvSpPr>
        <p:spPr>
          <a:xfrm>
            <a:off x="1191260" y="4230573"/>
            <a:ext cx="754760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3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我觉得到目前为止 ，我读这本书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…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…                       A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、容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</a:t>
            </a:r>
            <a:r>
              <a:rPr sz="1700" kern="0" spc="-21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00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一般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C</a:t>
            </a:r>
            <a:r>
              <a:rPr sz="1700" kern="0" spc="-2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700" kern="0" spc="-2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-12700" y="490220"/>
            <a:ext cx="2353945" cy="770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tabLst>
                <a:tab pos="944880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700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由阅读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2" name="path 222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24" name="picture 2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101089" y="4756150"/>
            <a:ext cx="4994909" cy="7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3976677" y="2610275"/>
            <a:ext cx="7616190" cy="3938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虽然本书阅读才刚刚开启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29590" algn="l" rtl="0" eaLnBrk="0">
              <a:lnSpc>
                <a:spcPct val="87000"/>
              </a:lnSpc>
              <a:spcBef>
                <a:spcPts val="813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但本书的独特之处 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02309" algn="l" rtl="0" eaLnBrk="0">
              <a:lnSpc>
                <a:spcPct val="88000"/>
              </a:lnSpc>
              <a:spcBef>
                <a:spcPts val="813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你是否已经发现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10845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阅读建议&amp;阅读计划</a:t>
            </a: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0557" y="5769495"/>
            <a:ext cx="740638" cy="740637"/>
          </a:xfrm>
          <a:prstGeom prst="rect">
            <a:avLst/>
          </a:prstGeom>
        </p:spPr>
      </p:pic>
      <p:sp>
        <p:nvSpPr>
          <p:cNvPr id="232" name="rect 232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234"/>
          <p:cNvSpPr/>
          <p:nvPr/>
        </p:nvSpPr>
        <p:spPr>
          <a:xfrm>
            <a:off x="-12700" y="490220"/>
            <a:ext cx="7136765" cy="4491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2"/>
              </a:spcBef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1034" algn="l" rtl="0" eaLnBrk="0">
              <a:lnSpc>
                <a:spcPct val="93000"/>
              </a:lnSpc>
              <a:spcBef>
                <a:spcPts val="605"/>
              </a:spcBef>
              <a:tabLst/>
            </a:pPr>
            <a:r>
              <a:rPr sz="2000" kern="0" spc="9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10" dirty="0">
                <a:solidFill>
                  <a:srgbClr val="40404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你认为这本书和别的书有哪些不一样的地方</a:t>
            </a:r>
            <a:r>
              <a:rPr sz="2000" kern="0" spc="-10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9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8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63294" algn="l" rtl="0" eaLnBrk="0">
              <a:lnSpc>
                <a:spcPct val="87000"/>
              </a:lnSpc>
              <a:spcBef>
                <a:spcPts val="460"/>
              </a:spcBef>
              <a:tabLst/>
            </a:pPr>
            <a:r>
              <a:rPr sz="1500" kern="0" spc="2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这本书至少有两个地方跟我们读过的很多书不太一</a:t>
            </a:r>
            <a:r>
              <a:rPr sz="1500" kern="0" spc="1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样 ：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72185" algn="l" rtl="0" eaLnBrk="0">
              <a:lnSpc>
                <a:spcPct val="89000"/>
              </a:lnSpc>
              <a:spcBef>
                <a:spcPts val="451"/>
              </a:spcBef>
              <a:tabLst/>
            </a:pPr>
            <a:r>
              <a:rPr sz="1500" b="1" kern="0" spc="1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①  插图</a:t>
            </a:r>
            <a:r>
              <a:rPr sz="1500" b="1" kern="0" spc="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500" kern="0" spc="1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书中的插图非</a:t>
            </a:r>
            <a:r>
              <a:rPr sz="1500" kern="0" spc="1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常精美</a:t>
            </a:r>
            <a:r>
              <a:rPr sz="1500" kern="0" spc="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1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，值得一看。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9000"/>
              </a:lnSpc>
              <a:spcBef>
                <a:spcPts val="4"/>
              </a:spcBef>
              <a:tabLst/>
            </a:pPr>
            <a:r>
              <a:rPr sz="15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②</a:t>
            </a:r>
            <a:r>
              <a:rPr sz="1500" b="1" kern="0" spc="1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5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章节 ：</a:t>
            </a:r>
            <a:r>
              <a:rPr sz="15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章节很多</a:t>
            </a:r>
            <a:r>
              <a:rPr sz="1500" kern="0" spc="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，一共有80章</a:t>
            </a:r>
            <a:r>
              <a:rPr sz="1500" kern="0" spc="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，但每一章都不长</a:t>
            </a:r>
            <a:r>
              <a:rPr sz="1500" kern="0" spc="1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，非常好读。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6" name="path 23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38" name="picture 2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6096" y="976884"/>
            <a:ext cx="3680459" cy="54467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16120" y="3609975"/>
            <a:ext cx="7674610" cy="2697479"/>
          </a:xfrm>
          <a:prstGeom prst="rect">
            <a:avLst/>
          </a:prstGeom>
        </p:spPr>
      </p:pic>
      <p:pic>
        <p:nvPicPr>
          <p:cNvPr id="242" name="picture 2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9308" y="1478279"/>
            <a:ext cx="3764279" cy="4893564"/>
          </a:xfrm>
          <a:prstGeom prst="rect">
            <a:avLst/>
          </a:prstGeom>
        </p:spPr>
      </p:pic>
      <p:sp>
        <p:nvSpPr>
          <p:cNvPr id="244" name="textbox 244"/>
          <p:cNvSpPr/>
          <p:nvPr/>
        </p:nvSpPr>
        <p:spPr>
          <a:xfrm>
            <a:off x="-12700" y="490220"/>
            <a:ext cx="235394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2"/>
              </a:spcBef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" name="path 24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8" name="textbox 248"/>
          <p:cNvSpPr/>
          <p:nvPr/>
        </p:nvSpPr>
        <p:spPr>
          <a:xfrm>
            <a:off x="6417109" y="2374837"/>
            <a:ext cx="1961514" cy="774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这是谁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400" kern="0" spc="-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本书作者 ，彼得·布朗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983505" y="2205621"/>
            <a:ext cx="661009" cy="6935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6"/>
          <p:cNvGrpSpPr/>
          <p:nvPr/>
        </p:nvGrpSpPr>
        <p:grpSpPr>
          <a:xfrm rot="21600000">
            <a:off x="6477000" y="1458467"/>
            <a:ext cx="5258358" cy="4937759"/>
            <a:chOff x="0" y="0"/>
            <a:chExt cx="5258358" cy="4937759"/>
          </a:xfrm>
        </p:grpSpPr>
        <p:sp>
          <p:nvSpPr>
            <p:cNvPr id="254" name="rect 254"/>
            <p:cNvSpPr/>
            <p:nvPr/>
          </p:nvSpPr>
          <p:spPr>
            <a:xfrm>
              <a:off x="0" y="0"/>
              <a:ext cx="5239511" cy="4937759"/>
            </a:xfrm>
            <a:prstGeom prst="rect">
              <a:avLst/>
            </a:prstGeom>
            <a:solidFill>
              <a:srgbClr val="D6DCE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6" name="textbox 256"/>
            <p:cNvSpPr/>
            <p:nvPr/>
          </p:nvSpPr>
          <p:spPr>
            <a:xfrm>
              <a:off x="264832" y="288188"/>
              <a:ext cx="5006340" cy="44367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7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6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朗读</a:t>
              </a:r>
              <a:r>
                <a:rPr sz="1600" b="1" kern="0" spc="1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600" b="1" kern="0" spc="-6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第五十章“按钮”</a:t>
              </a:r>
              <a:endParaRPr sz="16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25400" algn="l" rtl="0" eaLnBrk="0">
                <a:lnSpc>
                  <a:spcPct val="89000"/>
                </a:lnSpc>
                <a:spcBef>
                  <a:spcPts val="457"/>
                </a:spcBef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布莱特比尔一直在想着他妈妈脑袋后面的那个小按钮，</a:t>
              </a:r>
              <a:endParaRPr sz="1500" dirty="0">
                <a:latin typeface="SimSun"/>
                <a:ea typeface="SimSun"/>
                <a:cs typeface="SimSun"/>
              </a:endParaRPr>
            </a:p>
            <a:p>
              <a:pPr marL="31115" indent="-5714" algn="l" rtl="0" eaLnBrk="0">
                <a:lnSpc>
                  <a:spcPct val="165000"/>
                </a:lnSpc>
                <a:spcBef>
                  <a:spcPts val="22"/>
                </a:spcBef>
                <a:tabLst/>
              </a:pP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他的妈妈也在想它，他们忍不住想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知道如果按钮被按</a:t>
              </a: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下究竟会发生什么。有一天，他们决定要试一试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。</a:t>
              </a:r>
              <a:endParaRPr sz="1500" dirty="0">
                <a:latin typeface="SimSun"/>
                <a:ea typeface="SimSun"/>
                <a:cs typeface="SimSun"/>
              </a:endParaRPr>
            </a:p>
            <a:p>
              <a:pPr marL="30480" indent="-1905" algn="l" rtl="0" eaLnBrk="0">
                <a:lnSpc>
                  <a:spcPct val="158000"/>
                </a:lnSpc>
                <a:spcBef>
                  <a:spcPts val="78"/>
                </a:spcBef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萝丝坐在“鸟巢</a:t>
              </a:r>
              <a:r>
                <a:rPr sz="1500" kern="0" spc="-5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”的地面上，她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的儿子紧张地站在她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身后的一块石头上。</a:t>
              </a:r>
              <a:endParaRPr sz="1500" dirty="0">
                <a:latin typeface="SimSun"/>
                <a:ea typeface="SimSun"/>
                <a:cs typeface="SimSun"/>
              </a:endParaRPr>
            </a:p>
            <a:p>
              <a:pPr marL="30480" indent="80010" algn="l" rtl="0" eaLnBrk="0">
                <a:lnSpc>
                  <a:spcPct val="159000"/>
                </a:lnSpc>
                <a:spcBef>
                  <a:spcPts val="55"/>
                </a:spcBef>
                <a:tabLst/>
              </a:pP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“你动手吧，我准备好了。</a:t>
              </a:r>
              <a:r>
                <a:rPr sz="1500" kern="0" spc="-4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”机器人说。</a:t>
              </a:r>
              <a:r>
                <a:rPr sz="1500" kern="0" spc="-60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“好吧，</a:t>
              </a:r>
              <a:r>
                <a:rPr sz="1500" kern="0" spc="-47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”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小鹅说，</a:t>
              </a:r>
              <a:r>
                <a:rPr sz="1500" kern="0" spc="-60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“那我要按了。</a:t>
              </a:r>
              <a:r>
                <a:rPr sz="1500" kern="0" spc="-4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”布莱特比尔深吸了一口气。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</a:t>
              </a:r>
              <a:r>
                <a:rPr sz="15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咔嗒。</a:t>
              </a:r>
              <a:endParaRPr sz="1500" dirty="0">
                <a:latin typeface="SimSun"/>
                <a:ea typeface="SimSun"/>
                <a:cs typeface="SimSun"/>
              </a:endParaRPr>
            </a:p>
            <a:p>
              <a:pPr marL="28575" algn="l" rtl="0" eaLnBrk="0">
                <a:lnSpc>
                  <a:spcPct val="89000"/>
                </a:lnSpc>
                <a:spcBef>
                  <a:spcPts val="1071"/>
                </a:spcBef>
                <a:tabLst/>
              </a:pP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萝丝的身体放松下来</a:t>
              </a:r>
              <a:r>
                <a:rPr sz="1500" kern="0" spc="7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。</a:t>
              </a:r>
              <a:endParaRPr sz="1500" dirty="0">
                <a:latin typeface="SimSun"/>
                <a:ea typeface="SimSun"/>
                <a:cs typeface="SimSun"/>
              </a:endParaRPr>
            </a:p>
            <a:p>
              <a:pPr marL="110489" indent="-85089" algn="l" rtl="0" eaLnBrk="0">
                <a:lnSpc>
                  <a:spcPct val="158000"/>
                </a:lnSpc>
                <a:spcBef>
                  <a:spcPts val="280"/>
                </a:spcBef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她平静的嗡嗡声慢慢停止。她的眼睛渐渐变暗。</a:t>
              </a: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“妈妈，你能听见我的声音吗?</a:t>
              </a:r>
              <a:r>
                <a:rPr sz="1500" kern="0" spc="-51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</a:t>
              </a:r>
              <a:r>
                <a:rPr sz="1500" kern="0" spc="8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”</a:t>
              </a:r>
              <a:endParaRPr sz="15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58" name="picture 2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286423" y="236558"/>
              <a:ext cx="387138" cy="362161"/>
            </a:xfrm>
            <a:prstGeom prst="rect">
              <a:avLst/>
            </a:prstGeom>
          </p:spPr>
        </p:pic>
      </p:grpSp>
      <p:grpSp>
        <p:nvGrpSpPr>
          <p:cNvPr id="38" name="group 38"/>
          <p:cNvGrpSpPr/>
          <p:nvPr/>
        </p:nvGrpSpPr>
        <p:grpSpPr>
          <a:xfrm rot="21600000">
            <a:off x="541019" y="2827020"/>
            <a:ext cx="5775959" cy="3569208"/>
            <a:chOff x="0" y="0"/>
            <a:chExt cx="5775959" cy="3569208"/>
          </a:xfrm>
        </p:grpSpPr>
        <p:pic>
          <p:nvPicPr>
            <p:cNvPr id="260" name="picture 2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330708" y="0"/>
              <a:ext cx="4930140" cy="3569208"/>
            </a:xfrm>
            <a:prstGeom prst="rect">
              <a:avLst/>
            </a:prstGeom>
          </p:spPr>
        </p:pic>
        <p:sp>
          <p:nvSpPr>
            <p:cNvPr id="262" name="rect 262"/>
            <p:cNvSpPr/>
            <p:nvPr/>
          </p:nvSpPr>
          <p:spPr>
            <a:xfrm>
              <a:off x="0" y="2186939"/>
              <a:ext cx="5775959" cy="1382267"/>
            </a:xfrm>
            <a:prstGeom prst="rect">
              <a:avLst/>
            </a:prstGeom>
            <a:solidFill>
              <a:srgbClr val="44546A">
                <a:alpha val="36078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4" name="textbox 264"/>
            <p:cNvSpPr/>
            <p:nvPr/>
          </p:nvSpPr>
          <p:spPr>
            <a:xfrm>
              <a:off x="491941" y="214646"/>
              <a:ext cx="4643754" cy="30918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3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823334" algn="l" rtl="0" eaLnBrk="0">
                <a:lnSpc>
                  <a:spcPct val="88000"/>
                </a:lnSpc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跨页插图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4604" algn="l" rtl="0" eaLnBrk="0">
                <a:lnSpc>
                  <a:spcPct val="78000"/>
                </a:lnSpc>
                <a:spcBef>
                  <a:spcPts val="425"/>
                </a:spcBef>
                <a:tabLst/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接下来会发生什么事？萝丝还会像从前一样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是小野鹅的好妈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  <a:p>
              <a:pPr marL="12700" indent="2540" algn="l" rtl="0" eaLnBrk="0">
                <a:lnSpc>
                  <a:spcPct val="154000"/>
                </a:lnSpc>
                <a:spcBef>
                  <a:spcPts val="8"/>
                </a:spcBef>
                <a:tabLst/>
              </a:pPr>
              <a:r>
                <a:rPr sz="1400" kern="0" spc="-2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妈吗？会不会出现故障？如果真的出现意外 ，小野鹅一定后</a:t>
              </a:r>
              <a:r>
                <a:rPr sz="1400" kern="0" spc="5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400" kern="0" spc="-1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悔死了也伤心死了。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66" name="textbox 266"/>
          <p:cNvSpPr/>
          <p:nvPr/>
        </p:nvSpPr>
        <p:spPr>
          <a:xfrm>
            <a:off x="594159" y="1722057"/>
            <a:ext cx="5826125" cy="908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1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在阅读本书时 ，我们如何从插图中发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现作者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marL="359409" algn="l" rtl="0" eaLnBrk="0">
              <a:lnSpc>
                <a:spcPct val="88000"/>
              </a:lnSpc>
              <a:spcBef>
                <a:spcPts val="7"/>
              </a:spcBef>
              <a:tabLst/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的隐藏信息和细节</a:t>
            </a:r>
            <a:r>
              <a:rPr sz="2000" kern="0" spc="-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？”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8" name="picture 2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23165" y="1993020"/>
            <a:ext cx="481914" cy="581891"/>
          </a:xfrm>
          <a:prstGeom prst="rect">
            <a:avLst/>
          </a:prstGeom>
        </p:spPr>
      </p:pic>
      <p:sp>
        <p:nvSpPr>
          <p:cNvPr id="270" name="textbox 270"/>
          <p:cNvSpPr/>
          <p:nvPr/>
        </p:nvSpPr>
        <p:spPr>
          <a:xfrm>
            <a:off x="-12700" y="490220"/>
            <a:ext cx="235394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2"/>
              </a:spcBef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2" name="path 272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76"/>
          <p:cNvSpPr/>
          <p:nvPr/>
        </p:nvSpPr>
        <p:spPr>
          <a:xfrm>
            <a:off x="789431" y="1458467"/>
            <a:ext cx="10639425" cy="4937759"/>
          </a:xfrm>
          <a:prstGeom prst="rect">
            <a:avLst/>
          </a:prstGeom>
          <a:solidFill>
            <a:srgbClr val="D6DC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3719" algn="l" rtl="0" eaLnBrk="0">
              <a:lnSpc>
                <a:spcPct val="89000"/>
              </a:lnSpc>
              <a:spcBef>
                <a:spcPts val="4"/>
              </a:spcBef>
              <a:tabLst>
                <a:tab pos="784859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请继续朗读至章节结束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4004" algn="l" rtl="0" eaLnBrk="0">
              <a:lnSpc>
                <a:spcPct val="89000"/>
              </a:lnSpc>
              <a:spcBef>
                <a:spcPts val="450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没有回答。布莱特比尔摇摇摆摆地绕过去看着妈妈的脸，她那奇怪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生命的火花熄灭了。小鹅感到从未有过的孤单。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294004" indent="-3175" algn="l" rtl="0" eaLnBrk="0">
              <a:lnSpc>
                <a:spcPct val="165000"/>
              </a:lnSpc>
              <a:spcBef>
                <a:spcPts val="28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他赶紧要按按钮把她唤醒。但如果她没有醒来呢?如果她醒来变得跟以前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不一样了呢?小鹅既害怕按下按钮，又害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怕不按按钮。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290829" algn="l" rtl="0" eaLnBrk="0">
              <a:lnSpc>
                <a:spcPct val="89000"/>
              </a:lnSpc>
              <a:spcBef>
                <a:spcPts val="1071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布莱特比尔深吸了一口气。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咔嗒。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294004" algn="l" rtl="0" eaLnBrk="0">
              <a:lnSpc>
                <a:spcPct val="89000"/>
              </a:lnSpc>
              <a:spcBef>
                <a:spcPts val="1278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萝丝的身体绷紧了。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290829" algn="l" rtl="0" eaLnBrk="0">
              <a:lnSpc>
                <a:spcPct val="89000"/>
              </a:lnSpc>
              <a:spcBef>
                <a:spcPts val="1278"/>
              </a:spcBef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她平静的嗡嗡声慢慢响起。她的眼睛开始发光。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375920" algn="l" rtl="0" eaLnBrk="0">
              <a:lnSpc>
                <a:spcPct val="89000"/>
              </a:lnSpc>
              <a:spcBef>
                <a:spcPts val="1278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“妈妈，你能听见我的声音吗?"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290829" indent="85089" algn="l" rtl="0" eaLnBrk="0">
              <a:lnSpc>
                <a:spcPct val="159000"/>
              </a:lnSpc>
              <a:spcBef>
                <a:spcPts val="257"/>
              </a:spcBef>
              <a:tabLst/>
            </a:pP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“你好，我是7134号罗森姆型机器人，但你可以叫我萝丝。</a:t>
            </a:r>
            <a:r>
              <a:rPr sz="1500" kern="0" spc="-4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”机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器人说着这些自动蹦出来的词，用的是一种布莱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特比尔听不懂的语言。他的小心脏怦怦乱跳，他最恐惧的情景似乎真的出现了。但是不一会儿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，她那熟悉的声音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就又回来了，机器人用动物的语言说</a:t>
            </a:r>
            <a:r>
              <a:rPr sz="1500" kern="0" spc="-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:“你好，儿子。我失去意识多久了?我觉得好像只有一秒钟。</a:t>
            </a:r>
            <a:r>
              <a:rPr sz="1500" kern="0" spc="-4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</a:t>
            </a:r>
            <a:endParaRPr sz="15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37592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“只有几分钟吧，</a:t>
            </a:r>
            <a:r>
              <a:rPr sz="1500" kern="0" spc="-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”小鹅一边说一边抱住他的妈妈，</a:t>
            </a:r>
            <a:r>
              <a:rPr sz="1500" kern="0" spc="-5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“但是我觉得好像有一辈子那么长。"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56098" y="1668356"/>
            <a:ext cx="387138" cy="362161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-12700" y="490220"/>
            <a:ext cx="235394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2"/>
              </a:spcBef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2" name="path 282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4" name="picture 2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picture 2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615940" y="0"/>
            <a:ext cx="6576059" cy="6858000"/>
          </a:xfrm>
          <a:prstGeom prst="rect">
            <a:avLst/>
          </a:prstGeom>
        </p:spPr>
      </p:pic>
      <p:sp>
        <p:nvSpPr>
          <p:cNvPr id="288" name="rect 288"/>
          <p:cNvSpPr/>
          <p:nvPr/>
        </p:nvSpPr>
        <p:spPr>
          <a:xfrm>
            <a:off x="720852" y="2706623"/>
            <a:ext cx="4594859" cy="3483864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0" name="textbox 290"/>
          <p:cNvSpPr/>
          <p:nvPr/>
        </p:nvSpPr>
        <p:spPr>
          <a:xfrm>
            <a:off x="1027779" y="3681252"/>
            <a:ext cx="3844925" cy="16579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9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2000" b="1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查看插图可以增强对文本的理解 ：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51154" indent="-330200" algn="l" rtl="0" eaLnBrk="0">
              <a:lnSpc>
                <a:spcPct val="147000"/>
              </a:lnSpc>
              <a:spcBef>
                <a:spcPts val="160"/>
              </a:spcBef>
              <a:tabLst/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6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在阅读这本书时 ，如何通过观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察插图来获得更深层次的故事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理解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5926175" y="3680743"/>
            <a:ext cx="3655695" cy="1656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章节和目录的简短设计 ：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51790" indent="-333375" algn="l" rtl="0" eaLnBrk="0">
              <a:lnSpc>
                <a:spcPct val="147000"/>
              </a:lnSpc>
              <a:spcBef>
                <a:spcPts val="150"/>
              </a:spcBef>
              <a:tabLst/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000" kern="0" spc="-7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这本书的简短章节和目录设计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是如何帮助读者轻松理解和预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测故事内容的</a:t>
            </a:r>
            <a:r>
              <a:rPr sz="2000" kern="0" spc="-1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-12700" y="490220"/>
            <a:ext cx="235394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2"/>
              </a:spcBef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6" name="path 29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98" name="rect 298"/>
          <p:cNvSpPr/>
          <p:nvPr/>
        </p:nvSpPr>
        <p:spPr>
          <a:xfrm>
            <a:off x="1348739" y="2697479"/>
            <a:ext cx="943355" cy="489203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0" name="rect 300"/>
          <p:cNvSpPr/>
          <p:nvPr/>
        </p:nvSpPr>
        <p:spPr>
          <a:xfrm>
            <a:off x="6280403" y="2697479"/>
            <a:ext cx="943355" cy="489203"/>
          </a:xfrm>
          <a:prstGeom prst="rect">
            <a:avLst/>
          </a:prstGeom>
          <a:solidFill>
            <a:srgbClr val="4874C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3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939026" y="0"/>
            <a:ext cx="5248655" cy="3712463"/>
          </a:xfrm>
          <a:prstGeom prst="rect">
            <a:avLst/>
          </a:prstGeom>
        </p:spPr>
      </p:pic>
      <p:pic>
        <p:nvPicPr>
          <p:cNvPr id="304" name="picture 3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9894" y="2935943"/>
            <a:ext cx="11430632" cy="3601043"/>
          </a:xfrm>
          <a:prstGeom prst="rect">
            <a:avLst/>
          </a:prstGeom>
        </p:spPr>
      </p:pic>
      <p:sp>
        <p:nvSpPr>
          <p:cNvPr id="306" name="textbox 306"/>
          <p:cNvSpPr/>
          <p:nvPr/>
        </p:nvSpPr>
        <p:spPr>
          <a:xfrm>
            <a:off x="-12700" y="490220"/>
            <a:ext cx="9227184" cy="189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7000"/>
              </a:lnSpc>
              <a:spcBef>
                <a:spcPts val="2"/>
              </a:spcBef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阅读建议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62660" algn="l" rtl="0" eaLnBrk="0">
              <a:lnSpc>
                <a:spcPct val="85000"/>
              </a:lnSpc>
              <a:spcBef>
                <a:spcPts val="666"/>
              </a:spcBef>
              <a:tabLst/>
            </a:pP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阅读任务:</a:t>
            </a:r>
            <a:endParaRPr sz="2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221"/>
              </a:lnSpc>
              <a:tabLst/>
            </a:pP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800" kern="0" spc="-4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请结合目录 ，将故事分为“求生”、“共生”、“离开”三部分 ，并在目录上标注</a:t>
            </a:r>
            <a:r>
              <a:rPr sz="18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8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8" name="path 308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picture 3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99288" y="1772284"/>
            <a:ext cx="10674477" cy="4430395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4724207" y="2493555"/>
            <a:ext cx="5502909" cy="2406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作者的话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7779" indent="12700" algn="l" rtl="0" eaLnBrk="0">
              <a:lnSpc>
                <a:spcPct val="163000"/>
              </a:lnSpc>
              <a:spcBef>
                <a:spcPts val="7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当一个智能机器人被困在荒野之中的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时候 ，她会怎么做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呢 ？一个机器人怎样适应自然环境呢？机器人有可能真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正变得有野性吗？就是像这样的一些问题 ，成为我创作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萝丝这个主人公的灵感 ，并且激励我为孩子们写下了我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的第一本小说——《荒岛机器人》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-12700" y="490220"/>
            <a:ext cx="235394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阅读计划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6" name="path 316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53840" y="2010054"/>
            <a:ext cx="4025786" cy="19050"/>
          </a:xfrm>
          <a:prstGeom prst="rect">
            <a:avLst/>
          </a:prstGeom>
        </p:spPr>
      </p:pic>
      <p:pic>
        <p:nvPicPr>
          <p:cNvPr id="322" name="picture 3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035279" y="5214340"/>
            <a:ext cx="4025772" cy="19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table 324"/>
          <p:cNvGraphicFramePr>
            <a:graphicFrameLocks noGrp="1"/>
          </p:cNvGraphicFramePr>
          <p:nvPr/>
        </p:nvGraphicFramePr>
        <p:xfrm>
          <a:off x="4090034" y="1612265"/>
          <a:ext cx="7286624" cy="4350384"/>
        </p:xfrm>
        <a:graphic>
          <a:graphicData uri="http://schemas.openxmlformats.org/drawingml/2006/table">
            <a:tbl>
              <a:tblPr/>
              <a:tblGrid>
                <a:gridCol w="1821179"/>
                <a:gridCol w="1806575"/>
                <a:gridCol w="3658869"/>
              </a:tblGrid>
              <a:tr h="826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37234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700" b="1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B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6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1515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页数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B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7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7819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7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400" b="1" kern="0" spc="3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4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自由填写觉得需要注意的事项或阅读</a:t>
                      </a:r>
                      <a:r>
                        <a:rPr sz="1400" b="1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感受 ）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BBB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67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400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  <a:r>
                        <a:rPr sz="1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天</a:t>
                      </a:r>
                      <a:endParaRPr sz="1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6" name="picture 3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89431" y="1760219"/>
            <a:ext cx="2727959" cy="3572255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-12700" y="490220"/>
            <a:ext cx="2353945" cy="778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7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31519" algn="l" rtl="0" eaLnBrk="0">
              <a:lnSpc>
                <a:spcPct val="88000"/>
              </a:lnSpc>
              <a:tabLst>
                <a:tab pos="908685" algn="l"/>
              </a:tabLst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7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阅读计划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30" name="path 330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32" name="picture 3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612288" y="257688"/>
            <a:ext cx="1415965" cy="463362"/>
          </a:xfrm>
          <a:prstGeom prst="rect">
            <a:avLst/>
          </a:prstGeom>
        </p:spPr>
      </p:pic>
      <p:sp>
        <p:nvSpPr>
          <p:cNvPr id="334" name="textbox 334"/>
          <p:cNvSpPr/>
          <p:nvPr/>
        </p:nvSpPr>
        <p:spPr>
          <a:xfrm>
            <a:off x="1365224" y="5469077"/>
            <a:ext cx="162115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kern="0" spc="-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我可以这样做 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36" name="picture 3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50590" y="5234533"/>
            <a:ext cx="450227" cy="5583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picture 3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340" name="textbox 340"/>
          <p:cNvSpPr/>
          <p:nvPr/>
        </p:nvSpPr>
        <p:spPr>
          <a:xfrm>
            <a:off x="2902068" y="2427714"/>
            <a:ext cx="8691244" cy="4123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机器人萝丝将在荒岛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面临什么样的挑战</a:t>
            </a:r>
            <a:r>
              <a:rPr sz="2700" kern="0" spc="-2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074419" algn="l" rtl="0" eaLnBrk="0">
              <a:lnSpc>
                <a:spcPct val="88000"/>
              </a:lnSpc>
              <a:spcBef>
                <a:spcPts val="813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她最终会有什么样的结局</a:t>
            </a:r>
            <a:r>
              <a:rPr sz="2700" kern="0" spc="-2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50314" algn="l" rtl="0" eaLnBrk="0">
              <a:lnSpc>
                <a:spcPct val="88000"/>
              </a:lnSpc>
              <a:spcBef>
                <a:spcPts val="814"/>
              </a:spcBef>
              <a:tabLst/>
            </a:pPr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这一切 ，等你去发现哦 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58594" algn="l" rtl="0" eaLnBrk="0">
              <a:lnSpc>
                <a:spcPct val="87000"/>
              </a:lnSpc>
              <a:spcBef>
                <a:spcPts val="82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一起来看今日足迹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r>
              <a:rPr sz="2700" kern="0" spc="-4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…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591934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2" name="picture 3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6197" y="5769495"/>
            <a:ext cx="740638" cy="740637"/>
          </a:xfrm>
          <a:prstGeom prst="rect">
            <a:avLst/>
          </a:prstGeom>
        </p:spPr>
      </p:pic>
      <p:sp>
        <p:nvSpPr>
          <p:cNvPr id="344" name="rect 344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ath 346"/>
          <p:cNvSpPr/>
          <p:nvPr/>
        </p:nvSpPr>
        <p:spPr>
          <a:xfrm>
            <a:off x="718502" y="1907540"/>
            <a:ext cx="10140950" cy="4467224"/>
          </a:xfrm>
          <a:custGeom>
            <a:avLst/>
            <a:gdLst/>
            <a:ahLst/>
            <a:cxnLst/>
            <a:rect l="0" t="0" r="0" b="0"/>
            <a:pathLst>
              <a:path w="15970" h="7034">
                <a:moveTo>
                  <a:pt x="14248" y="6047"/>
                </a:moveTo>
                <a:cubicBezTo>
                  <a:pt x="14515" y="5787"/>
                  <a:pt x="14515" y="5787"/>
                  <a:pt x="14515" y="5787"/>
                </a:cubicBezTo>
                <a:cubicBezTo>
                  <a:pt x="15970" y="6496"/>
                  <a:pt x="15970" y="6496"/>
                  <a:pt x="15970" y="6496"/>
                </a:cubicBezTo>
                <a:cubicBezTo>
                  <a:pt x="13227" y="7034"/>
                  <a:pt x="13227" y="7034"/>
                  <a:pt x="13227" y="7034"/>
                </a:cubicBezTo>
                <a:cubicBezTo>
                  <a:pt x="13567" y="6711"/>
                  <a:pt x="13567" y="6711"/>
                  <a:pt x="13567" y="6711"/>
                </a:cubicBezTo>
                <a:cubicBezTo>
                  <a:pt x="13116" y="6702"/>
                  <a:pt x="12665" y="6685"/>
                  <a:pt x="12223" y="6658"/>
                </a:cubicBezTo>
                <a:cubicBezTo>
                  <a:pt x="10953" y="6577"/>
                  <a:pt x="9738" y="6424"/>
                  <a:pt x="8560" y="6209"/>
                </a:cubicBezTo>
                <a:cubicBezTo>
                  <a:pt x="6424" y="5697"/>
                  <a:pt x="5320" y="5123"/>
                  <a:pt x="5255" y="4468"/>
                </a:cubicBezTo>
                <a:cubicBezTo>
                  <a:pt x="5172" y="4064"/>
                  <a:pt x="5577" y="3652"/>
                  <a:pt x="6461" y="3239"/>
                </a:cubicBezTo>
                <a:cubicBezTo>
                  <a:pt x="7584" y="2808"/>
                  <a:pt x="8339" y="2431"/>
                  <a:pt x="8725" y="2117"/>
                </a:cubicBezTo>
                <a:cubicBezTo>
                  <a:pt x="9692" y="1166"/>
                  <a:pt x="6783" y="457"/>
                  <a:pt x="0" y="0"/>
                </a:cubicBezTo>
                <a:cubicBezTo>
                  <a:pt x="6940" y="278"/>
                  <a:pt x="9987" y="1005"/>
                  <a:pt x="9140" y="2180"/>
                </a:cubicBezTo>
                <a:cubicBezTo>
                  <a:pt x="8910" y="2458"/>
                  <a:pt x="8247" y="2799"/>
                  <a:pt x="7151" y="3221"/>
                </a:cubicBezTo>
                <a:cubicBezTo>
                  <a:pt x="6111" y="3670"/>
                  <a:pt x="5808" y="4154"/>
                  <a:pt x="6240" y="4666"/>
                </a:cubicBezTo>
                <a:cubicBezTo>
                  <a:pt x="7004" y="5437"/>
                  <a:pt x="8992" y="5886"/>
                  <a:pt x="12223" y="6012"/>
                </a:cubicBezTo>
                <a:cubicBezTo>
                  <a:pt x="12849" y="6038"/>
                  <a:pt x="13530" y="6047"/>
                  <a:pt x="14248" y="6047"/>
                </a:cubicBezTo>
              </a:path>
            </a:pathLst>
          </a:custGeom>
          <a:solidFill>
            <a:srgbClr val="C1C7D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48" name="picture 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907" y="4454652"/>
            <a:ext cx="2404872" cy="2403347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6954418" y="1817247"/>
            <a:ext cx="3007995" cy="1671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第二课时 ：交流课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indent="13334" algn="l" rtl="0" eaLnBrk="0">
              <a:lnSpc>
                <a:spcPct val="129000"/>
              </a:lnSpc>
              <a:spcBef>
                <a:spcPts val="1192"/>
              </a:spcBef>
              <a:tabLst/>
            </a:pPr>
            <a:r>
              <a:rPr sz="1200" kern="0" spc="-6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6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、情节梳理 ：按“求生</a:t>
            </a:r>
            <a:r>
              <a:rPr sz="1200" kern="0" spc="-6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共生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——</a:t>
            </a:r>
            <a:r>
              <a:rPr sz="1200" kern="0" spc="-7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离开”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200" kern="0" spc="-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情节发展脉胳梳理故事情节 ，了解并概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括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人工智能机器人的特点。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indent="1905" algn="l" rtl="0" eaLnBrk="0">
              <a:lnSpc>
                <a:spcPct val="119000"/>
              </a:lnSpc>
              <a:spcBef>
                <a:spcPts val="7"/>
              </a:spcBef>
              <a:tabLst/>
            </a:pP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00" kern="0" spc="-10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自我提问及分享 ：关于人工智能机器人 ，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你知道些什么？还想了解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什么</a:t>
            </a:r>
            <a:r>
              <a:rPr sz="1200" kern="0" spc="-1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？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9117939" y="4375662"/>
            <a:ext cx="2392045" cy="194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tabLst/>
            </a:pPr>
            <a:r>
              <a:rPr sz="1500" b="1" kern="0" spc="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第四课时 ：思辨</a:t>
            </a:r>
            <a:r>
              <a:rPr sz="1500" b="1" kern="0" spc="4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&amp;</a:t>
            </a:r>
            <a:r>
              <a:rPr sz="1500" b="1" kern="0" spc="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5875" indent="8254" algn="l" rtl="0" eaLnBrk="0">
              <a:lnSpc>
                <a:spcPct val="134000"/>
              </a:lnSpc>
              <a:spcBef>
                <a:spcPts val="1197"/>
              </a:spcBef>
              <a:tabLst/>
            </a:pP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、通过本书后记、译后记及其他部</a:t>
            </a:r>
            <a:r>
              <a:rPr sz="1200" kern="0" spc="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分的阅读和探讨 ，了解更多的阅读</a:t>
            </a:r>
            <a:r>
              <a:rPr sz="1200" kern="0" spc="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 ，从不同的角度深度阅读及探</a:t>
            </a:r>
            <a:r>
              <a:rPr sz="1200" kern="0" spc="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00" kern="0" spc="-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讨本书。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875" indent="-3175" algn="l" rtl="0" eaLnBrk="0">
              <a:lnSpc>
                <a:spcPct val="118000"/>
              </a:lnSpc>
              <a:spcBef>
                <a:spcPts val="1"/>
              </a:spcBef>
              <a:tabLst/>
            </a:pPr>
            <a:r>
              <a:rPr sz="1200" kern="0" spc="-10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200" kern="0" spc="-10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、分享关于“人工智能”主题的看法</a:t>
            </a:r>
            <a:r>
              <a:rPr sz="1200" kern="0" spc="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200" kern="0" spc="-2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和思考。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96506" y="4359216"/>
            <a:ext cx="1461106" cy="2047991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5064099" y="3670812"/>
            <a:ext cx="2087245" cy="140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1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320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第三课时 ：交流课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38734" indent="-13970" algn="l" rtl="0" eaLnBrk="0">
              <a:lnSpc>
                <a:spcPct val="118000"/>
              </a:lnSpc>
              <a:spcBef>
                <a:spcPts val="1206"/>
              </a:spcBef>
              <a:tabLst/>
            </a:pP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200" kern="0" spc="-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、细读部分情节和细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 ，展开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自我提问和思考</a:t>
            </a:r>
            <a:endParaRPr sz="1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5240" indent="-2540" algn="l" rtl="0" eaLnBrk="0">
              <a:lnSpc>
                <a:spcPct val="121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、结合关于人工智</a:t>
            </a:r>
            <a:r>
              <a:rPr sz="1200" kern="0" spc="-1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能的相关知</a:t>
            </a:r>
            <a:r>
              <a:rPr sz="1200" kern="0" spc="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 ，思考作者的写作意图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81587" y="3330526"/>
            <a:ext cx="1413028" cy="1986327"/>
          </a:xfrm>
          <a:prstGeom prst="rect">
            <a:avLst/>
          </a:prstGeom>
        </p:spPr>
      </p:pic>
      <p:pic>
        <p:nvPicPr>
          <p:cNvPr id="360" name="picture 3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678276" y="1567733"/>
            <a:ext cx="1098336" cy="1539404"/>
          </a:xfrm>
          <a:prstGeom prst="rect">
            <a:avLst/>
          </a:prstGeom>
        </p:spPr>
      </p:pic>
      <p:sp>
        <p:nvSpPr>
          <p:cNvPr id="362" name="textbox 362"/>
          <p:cNvSpPr/>
          <p:nvPr/>
        </p:nvSpPr>
        <p:spPr>
          <a:xfrm>
            <a:off x="2825609" y="1441124"/>
            <a:ext cx="2312035" cy="549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3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第一课时 ：导读课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9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734" algn="l" rtl="0" eaLnBrk="0">
              <a:lnSpc>
                <a:spcPct val="88000"/>
              </a:lnSpc>
              <a:tabLst/>
            </a:pPr>
            <a:r>
              <a:rPr sz="1200" kern="0" spc="-40" dirty="0">
                <a:solidFill>
                  <a:srgbClr val="44546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了解作品相关信息 ，引发阅读期待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4" name="picture 3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7487" y="1375357"/>
            <a:ext cx="954780" cy="1214223"/>
          </a:xfrm>
          <a:prstGeom prst="rect">
            <a:avLst/>
          </a:prstGeom>
        </p:spPr>
      </p:pic>
      <p:sp>
        <p:nvSpPr>
          <p:cNvPr id="366" name="rect 366"/>
          <p:cNvSpPr/>
          <p:nvPr/>
        </p:nvSpPr>
        <p:spPr>
          <a:xfrm>
            <a:off x="0" y="502920"/>
            <a:ext cx="719327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68" name="textbox 368"/>
          <p:cNvSpPr/>
          <p:nvPr/>
        </p:nvSpPr>
        <p:spPr>
          <a:xfrm>
            <a:off x="868238" y="678084"/>
            <a:ext cx="1473200" cy="386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70" name="picture 37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42594" y="783790"/>
            <a:ext cx="696005" cy="6091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3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257688"/>
            <a:ext cx="12192000" cy="5926703"/>
          </a:xfrm>
          <a:prstGeom prst="rect">
            <a:avLst/>
          </a:prstGeom>
        </p:spPr>
      </p:pic>
      <p:sp>
        <p:nvSpPr>
          <p:cNvPr id="374" name="path 374"/>
          <p:cNvSpPr/>
          <p:nvPr/>
        </p:nvSpPr>
        <p:spPr>
          <a:xfrm>
            <a:off x="0" y="502920"/>
            <a:ext cx="719327" cy="719327"/>
          </a:xfrm>
          <a:custGeom>
            <a:avLst/>
            <a:gdLst/>
            <a:ahLst/>
            <a:cxnLst/>
            <a:rect l="0" t="0" r="0" b="0"/>
            <a:pathLst>
              <a:path w="1132" h="1132">
                <a:moveTo>
                  <a:pt x="0" y="0"/>
                </a:moveTo>
                <a:lnTo>
                  <a:pt x="1132" y="0"/>
                </a:lnTo>
                <a:lnTo>
                  <a:pt x="1132" y="1132"/>
                </a:lnTo>
                <a:lnTo>
                  <a:pt x="0" y="1132"/>
                </a:lnTo>
                <a:lnTo>
                  <a:pt x="0" y="0"/>
                </a:lnTo>
                <a:close/>
              </a:path>
            </a:pathLst>
          </a:cu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6" name="textbox 376"/>
          <p:cNvSpPr/>
          <p:nvPr/>
        </p:nvSpPr>
        <p:spPr>
          <a:xfrm>
            <a:off x="868238" y="678084"/>
            <a:ext cx="1473200" cy="386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课堂总结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picture 3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63652" y="301752"/>
            <a:ext cx="11629644" cy="6312407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4892471" y="3219551"/>
            <a:ext cx="2503804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6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0000"/>
              </a:lnSpc>
              <a:tabLst/>
            </a:pPr>
            <a:r>
              <a:rPr sz="9500" kern="0" spc="-23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END</a:t>
            </a:r>
            <a:endParaRPr sz="9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9185478" y="5756795"/>
            <a:ext cx="2407920" cy="798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下一次再见</a:t>
            </a:r>
            <a:r>
              <a:rPr sz="2300" kern="0" spc="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3303" y="5769495"/>
            <a:ext cx="740638" cy="740637"/>
          </a:xfrm>
          <a:prstGeom prst="rect">
            <a:avLst/>
          </a:prstGeom>
        </p:spPr>
      </p:pic>
      <p:sp>
        <p:nvSpPr>
          <p:cNvPr id="386" name="rect 386"/>
          <p:cNvSpPr/>
          <p:nvPr/>
        </p:nvSpPr>
        <p:spPr>
          <a:xfrm>
            <a:off x="0" y="502920"/>
            <a:ext cx="720852" cy="719327"/>
          </a:xfrm>
          <a:prstGeom prst="rect">
            <a:avLst/>
          </a:prstGeom>
          <a:solidFill>
            <a:srgbClr val="4454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13174" y="5788540"/>
            <a:ext cx="1140310" cy="4412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WPS 演示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2024-05-27T09:29:59Z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2026-06-05T23:06:40</vt:filetime>
  </property>
</Properties>
</file>