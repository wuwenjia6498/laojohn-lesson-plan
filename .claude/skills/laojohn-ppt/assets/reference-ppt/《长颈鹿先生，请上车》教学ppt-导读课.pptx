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9" Type="http://schemas.openxmlformats.org/officeDocument/2006/relationships/viewProps" Target="viewProps.xml"/><Relationship Id="rId28" Type="http://schemas.openxmlformats.org/officeDocument/2006/relationships/tableStyles" Target="tableStyles.xml"/><Relationship Id="rId27" Type="http://schemas.openxmlformats.org/officeDocument/2006/relationships/presProps" Target="presProps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0476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018502" y="1546479"/>
            <a:ext cx="8480425" cy="1097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9575" algn="l" rtl="0" eaLnBrk="0">
              <a:lnSpc>
                <a:spcPts val="8441"/>
              </a:lnSpc>
              <a:tabLst/>
            </a:pPr>
            <a:r>
              <a:rPr sz="6200" i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《长颈鹿先生</a:t>
            </a:r>
            <a:r>
              <a:rPr sz="6200" kern="0" spc="-9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6200" i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，请上车》</a:t>
            </a:r>
            <a:endParaRPr sz="6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33006" y="2585175"/>
            <a:ext cx="4404484" cy="3919255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680027" y="5068644"/>
            <a:ext cx="1535430" cy="100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44"/>
              </a:lnSpc>
              <a:tabLst/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【韩】</a:t>
            </a:r>
            <a:r>
              <a:rPr sz="15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李恩定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著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2244"/>
              </a:lnSpc>
              <a:spcBef>
                <a:spcPts val="636"/>
              </a:spcBef>
              <a:tabLst/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【韩】</a:t>
            </a:r>
            <a:r>
              <a:rPr sz="15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尹贞珠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绘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段佳韵  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339608"/>
            <a:ext cx="755129" cy="15580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5475248" y="2934619"/>
            <a:ext cx="1533525" cy="570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4100" i="1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</a:t>
            </a:r>
            <a:r>
              <a:rPr sz="4100" i="1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4100" i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</a:t>
            </a:r>
            <a:endParaRPr sz="4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80474" y="504833"/>
            <a:ext cx="1140311" cy="4412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5363" y="251459"/>
            <a:ext cx="11718035" cy="6347459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3327478" y="2365204"/>
            <a:ext cx="8448040" cy="4154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41069" algn="l" rtl="0" eaLnBrk="0">
              <a:lnSpc>
                <a:spcPct val="87000"/>
              </a:lnSpc>
              <a:tabLst/>
            </a:pPr>
            <a:r>
              <a:rPr sz="2700" kern="0" spc="-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700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 ，请上车 ！</a:t>
            </a:r>
            <a:r>
              <a:rPr sz="2700" kern="0" spc="-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”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7350" algn="l" rtl="0" eaLnBrk="0">
              <a:lnSpc>
                <a:spcPct val="87000"/>
              </a:lnSpc>
              <a:spcBef>
                <a:spcPts val="818"/>
              </a:spcBef>
              <a:tabLst/>
            </a:pPr>
            <a:r>
              <a:rPr sz="27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咦 ，谁在邀请长颈鹿先生上车</a:t>
            </a:r>
            <a:r>
              <a:rPr sz="2700" kern="0" spc="-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81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这个人邀请长颈鹿先生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上什么车呢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919345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87963" y="5739015"/>
            <a:ext cx="740638" cy="740638"/>
          </a:xfrm>
          <a:prstGeom prst="rect">
            <a:avLst/>
          </a:prstGeom>
        </p:spPr>
      </p:pic>
      <p:sp>
        <p:nvSpPr>
          <p:cNvPr id="22" name="rect 22"/>
          <p:cNvSpPr/>
          <p:nvPr/>
        </p:nvSpPr>
        <p:spPr>
          <a:xfrm>
            <a:off x="0" y="421004"/>
            <a:ext cx="726440" cy="732790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2912" y="2079554"/>
            <a:ext cx="5257602" cy="3563383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0" y="2511552"/>
            <a:ext cx="6172200" cy="293242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2485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这是什么车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2485" algn="l" rtl="0" eaLnBrk="0">
              <a:lnSpc>
                <a:spcPct val="93000"/>
              </a:lnSpc>
              <a:spcBef>
                <a:spcPts val="602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你坐过公交车吗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32485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你喜欢坐公交车吗？为什么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-12700" y="408304"/>
            <a:ext cx="3919220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tabLst>
                <a:tab pos="8439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/>
          <p:nvPr/>
        </p:nvSpPr>
        <p:spPr>
          <a:xfrm>
            <a:off x="4443983" y="3261359"/>
            <a:ext cx="7748269" cy="271907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2750" indent="-325120" algn="l" rtl="0" eaLnBrk="0">
              <a:lnSpc>
                <a:spcPct val="120000"/>
              </a:lnSpc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如果有一天 ，一只长颈鹿也想坐公交车 ，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你认为会发生什么事情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57630" algn="l" rtl="0" eaLnBrk="0">
              <a:lnSpc>
                <a:spcPct val="93000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说一说你想象中的画面是什么样的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-12700" y="408304"/>
            <a:ext cx="3919220" cy="758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0000"/>
              </a:lnSpc>
              <a:spcBef>
                <a:spcPts val="7"/>
              </a:spcBef>
              <a:tabLst>
                <a:tab pos="8439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048511"/>
            <a:ext cx="2275332" cy="580948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5498169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86168" y="5951437"/>
            <a:ext cx="10593705" cy="295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长颈鹿可能会因为脖子太长而不能坐公交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，或者坐得很难受</a:t>
            </a: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，因为它得一直低着头</a:t>
            </a:r>
            <a:r>
              <a:rPr sz="2000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818708" y="603360"/>
            <a:ext cx="3087370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 48"/>
          <p:cNvSpPr/>
          <p:nvPr/>
        </p:nvSpPr>
        <p:spPr>
          <a:xfrm>
            <a:off x="0" y="1335023"/>
            <a:ext cx="11603735" cy="4378452"/>
          </a:xfrm>
          <a:prstGeom prst="rect">
            <a:avLst/>
          </a:prstGeom>
          <a:solidFill>
            <a:srgbClr val="30C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770054" y="1816037"/>
            <a:ext cx="5136515" cy="3182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如果你是那只长颈鹿 ，你会怎么办呢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3000"/>
              </a:lnSpc>
              <a:spcBef>
                <a:spcPts val="1391"/>
              </a:spcBef>
              <a:tabLst/>
            </a:pPr>
            <a:r>
              <a:rPr sz="1400" kern="0" spc="-5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如果我是长颈鹿 ，我可能会试着找其</a:t>
            </a:r>
            <a:r>
              <a:rPr sz="1400" kern="0" spc="-6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他方式去我想去的地方 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25120" algn="l" rtl="0" eaLnBrk="0">
              <a:lnSpc>
                <a:spcPts val="2416"/>
              </a:lnSpc>
              <a:tabLst/>
            </a:pPr>
            <a:r>
              <a:rPr sz="1400" kern="0" spc="-2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或者我会请求帮助。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22000"/>
              </a:lnSpc>
              <a:spcBef>
                <a:spcPts val="611"/>
              </a:spcBef>
              <a:tabLst/>
            </a:pP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如果你是这辆公交车上的其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他乘客 ，看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到长颈鹿的困境 ，你会怎么办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5754" algn="l" rtl="0" eaLnBrk="0">
              <a:lnSpc>
                <a:spcPct val="83000"/>
              </a:lnSpc>
              <a:spcBef>
                <a:spcPts val="427"/>
              </a:spcBef>
              <a:tabLst/>
            </a:pPr>
            <a:r>
              <a:rPr sz="1400" kern="0" spc="-3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如果我是公交车上的乘客 ，看到长颈鹿这么难受</a:t>
            </a:r>
            <a:r>
              <a:rPr sz="1400" kern="0" spc="-4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，我会觉得很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25120" indent="8254" algn="l" rtl="0" eaLnBrk="0">
              <a:lnSpc>
                <a:spcPct val="154000"/>
              </a:lnSpc>
              <a:spcBef>
                <a:spcPts val="2"/>
              </a:spcBef>
              <a:tabLst/>
            </a:pPr>
            <a:r>
              <a:rPr sz="1400" kern="0" spc="-2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同情。我可能会去问长颈鹿先生需要帮助吗 ，或者我可</a:t>
            </a:r>
            <a:r>
              <a:rPr sz="1400" kern="0" spc="-3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以给公</a:t>
            </a:r>
            <a:r>
              <a:rPr sz="1400" kern="0" spc="-1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F2F2F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交司机提建议 ，比如停在一个可以让长颈鹿更舒服的地方。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01740" y="2962655"/>
            <a:ext cx="2804159" cy="3506723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96019" y="2962275"/>
            <a:ext cx="2640329" cy="3516629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-12700" y="408304"/>
            <a:ext cx="3919220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tabLst>
                <a:tab pos="8439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42669" y="1547736"/>
            <a:ext cx="3777830" cy="4782578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1073584" y="3759137"/>
            <a:ext cx="5438140" cy="1331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</a:t>
            </a:r>
            <a:r>
              <a:rPr sz="20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</a:t>
            </a:r>
            <a:r>
              <a:rPr sz="20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</a:t>
            </a:r>
            <a:r>
              <a:rPr sz="20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</a:t>
            </a:r>
            <a:r>
              <a:rPr sz="2000" kern="0" spc="-3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 一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2000" kern="0" spc="-2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趣</a:t>
            </a:r>
            <a:r>
              <a:rPr sz="20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挑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战</a:t>
            </a:r>
            <a:r>
              <a:rPr sz="20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40995" indent="-328929" algn="l" rtl="0" eaLnBrk="0">
              <a:lnSpc>
                <a:spcPct val="123000"/>
              </a:lnSpc>
              <a:spcBef>
                <a:spcPts val="4"/>
              </a:spcBef>
              <a:tabLst/>
            </a:pP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8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</a:t>
            </a:r>
            <a:r>
              <a:rPr sz="20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20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</a:t>
            </a:r>
            <a:r>
              <a:rPr sz="20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</a:t>
            </a:r>
            <a:r>
              <a:rPr sz="2000" kern="0" spc="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，我</a:t>
            </a:r>
            <a:r>
              <a:rPr sz="20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们</a:t>
            </a:r>
            <a:r>
              <a:rPr sz="20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20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</a:t>
            </a:r>
            <a:r>
              <a:rPr sz="20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0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享</a:t>
            </a:r>
            <a:r>
              <a:rPr sz="20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受</a:t>
            </a:r>
            <a:r>
              <a:rPr sz="20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</a:t>
            </a:r>
            <a:r>
              <a:rPr sz="20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20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0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乐</a:t>
            </a:r>
            <a:r>
              <a:rPr sz="20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趣</a:t>
            </a:r>
            <a:r>
              <a:rPr sz="2000" kern="0" spc="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，还能学到如何面对和解决问题</a:t>
            </a:r>
            <a:r>
              <a:rPr sz="20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-12700" y="408304"/>
            <a:ext cx="3919220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tabLst>
                <a:tab pos="8439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课程导入&amp;话题激趣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  <p:sp>
        <p:nvSpPr>
          <p:cNvPr id="72" name="rect 72"/>
          <p:cNvSpPr/>
          <p:nvPr/>
        </p:nvSpPr>
        <p:spPr>
          <a:xfrm>
            <a:off x="0" y="2104644"/>
            <a:ext cx="152400" cy="3810000"/>
          </a:xfrm>
          <a:prstGeom prst="rect">
            <a:avLst/>
          </a:prstGeom>
          <a:solidFill>
            <a:srgbClr val="30C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5363" y="251459"/>
            <a:ext cx="11718035" cy="6347459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3693727" y="2366624"/>
            <a:ext cx="8081644" cy="415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31289" algn="l" rtl="0" eaLnBrk="0">
              <a:lnSpc>
                <a:spcPct val="88000"/>
              </a:lnSpc>
              <a:tabLst/>
            </a:pP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准备好了吗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818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让我们带着刚才的想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象和期待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7350" algn="l" rtl="0" eaLnBrk="0">
              <a:lnSpc>
                <a:spcPct val="88000"/>
              </a:lnSpc>
              <a:spcBef>
                <a:spcPts val="822"/>
              </a:spcBef>
              <a:tabLst/>
            </a:pP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一起开始阅读这个故事吧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940175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精彩片段共读&amp;文本分析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87152" y="5739015"/>
            <a:ext cx="740638" cy="740638"/>
          </a:xfrm>
          <a:prstGeom prst="rect">
            <a:avLst/>
          </a:prstGeom>
        </p:spPr>
      </p:pic>
      <p:sp>
        <p:nvSpPr>
          <p:cNvPr id="80" name="rect 80"/>
          <p:cNvSpPr/>
          <p:nvPr/>
        </p:nvSpPr>
        <p:spPr>
          <a:xfrm>
            <a:off x="0" y="421004"/>
            <a:ext cx="726440" cy="732790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0359" y="318515"/>
            <a:ext cx="5116068" cy="6539484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813765" y="604424"/>
            <a:ext cx="4639945" cy="5500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8"/>
              </a:spcBef>
              <a:tabLst/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朗读 ：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长颈鹿先生写给刺猬村长的信（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 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7815" indent="-281304" algn="l" rtl="0" eaLnBrk="0">
              <a:lnSpc>
                <a:spcPct val="126000"/>
              </a:lnSpc>
              <a:spcBef>
                <a:spcPts val="517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从长颈鹿写给刺猬村长的这封中 ，你能感受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到长颈鹿先生的什么心情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8929" algn="l" rtl="0" eaLnBrk="0">
              <a:lnSpc>
                <a:spcPct val="84000"/>
              </a:lnSpc>
              <a:spcBef>
                <a:spcPts val="430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我觉得长颈鹿先生可能感到很无奈和疲惫 ，因为他每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27025" algn="l" rtl="0" eaLnBrk="0">
              <a:lnSpc>
                <a:spcPts val="2425"/>
              </a:lnSpc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都要走很远的路去上班。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6384" indent="-269875" algn="l" rtl="0" eaLnBrk="0">
              <a:lnSpc>
                <a:spcPct val="126000"/>
              </a:lnSpc>
              <a:spcBef>
                <a:spcPts val="514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6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长颈鹿先生提出了一个请求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，他为什么要这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样写呢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0359" algn="l" rtl="0" eaLnBrk="0">
              <a:lnSpc>
                <a:spcPct val="83000"/>
              </a:lnSpc>
              <a:spcBef>
                <a:spcPts val="430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因为他的脖子太长了 ，无法像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其他动物一样坐公交车。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22579" algn="l" rtl="0" eaLnBrk="0">
              <a:lnSpc>
                <a:spcPts val="2421"/>
              </a:lnSpc>
              <a:tabLst/>
            </a:pP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他想让村长帮他解决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这个问题。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rect 86"/>
          <p:cNvSpPr/>
          <p:nvPr/>
        </p:nvSpPr>
        <p:spPr>
          <a:xfrm>
            <a:off x="0" y="421004"/>
            <a:ext cx="726351" cy="732701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911" y="1312163"/>
            <a:ext cx="7842503" cy="5419344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8200770" y="1937994"/>
            <a:ext cx="3792220" cy="4183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朗读 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1484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长颈鹿先生写给刺猬村长的信（</a:t>
            </a:r>
            <a:r>
              <a:rPr sz="17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 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1687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长颈鹿先生写给刺猬村长的信（</a:t>
            </a:r>
            <a:r>
              <a:rPr sz="17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 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165" indent="-286384" algn="l" rtl="0" eaLnBrk="0">
              <a:lnSpc>
                <a:spcPct val="126000"/>
              </a:lnSpc>
              <a:spcBef>
                <a:spcPts val="513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从这两封信中 ，你知道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了长颈鹿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先生遇到了什么问题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spcBef>
                <a:spcPts val="427"/>
              </a:spcBef>
              <a:tabLst/>
            </a:pPr>
            <a:r>
              <a:rPr sz="1400" kern="0" spc="-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长颈鹿先生只能走路上班 ，非常辛苦和麻烦。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4000"/>
              </a:lnSpc>
              <a:spcBef>
                <a:spcPts val="427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长颈鹿先生因为长时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间走路 ，身体感到非常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52095" algn="l" rtl="0" eaLnBrk="0">
              <a:lnSpc>
                <a:spcPts val="2431"/>
              </a:lnSpc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疼痛。他甚至需要去医院看医生。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-12700" y="408304"/>
            <a:ext cx="4630420" cy="78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spcBef>
                <a:spcPts val="1"/>
              </a:spcBef>
              <a:tabLst>
                <a:tab pos="8401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22429" y="859104"/>
            <a:ext cx="5657812" cy="5657874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778484" y="604424"/>
            <a:ext cx="4591684" cy="5389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94" algn="l" rtl="0" eaLnBrk="0">
              <a:lnSpc>
                <a:spcPct val="87000"/>
              </a:lnSpc>
              <a:tabLst/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515"/>
              </a:spcBef>
              <a:tabLst/>
            </a:pPr>
            <a:r>
              <a:rPr sz="1700" kern="0" spc="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因为不能坐公交车</a:t>
            </a:r>
            <a:r>
              <a:rPr sz="1700" kern="0" spc="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长颈鹿先生的问题</a:t>
            </a:r>
            <a:r>
              <a:rPr sz="1700" b="1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36830" algn="l" rtl="0" eaLnBrk="0">
              <a:lnSpc>
                <a:spcPts val="3240"/>
              </a:lnSpc>
              <a:tabLst/>
            </a:pPr>
            <a:r>
              <a:rPr sz="1700" b="1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仅是出行不便</a:t>
            </a:r>
            <a:r>
              <a:rPr sz="1700" b="1" kern="0" spc="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，而且</a:t>
            </a:r>
            <a:r>
              <a:rPr sz="1700" b="1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影响到了他的健康</a:t>
            </a:r>
            <a:r>
              <a:rPr sz="1700" b="1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514"/>
              </a:spcBef>
              <a:tabLst/>
            </a:pPr>
            <a:r>
              <a:rPr sz="1700" kern="0" spc="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这三封信让我们更深入地理解了</a:t>
            </a:r>
            <a:r>
              <a:rPr sz="1700" b="1" kern="0" spc="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</a:t>
            </a:r>
            <a:r>
              <a:rPr sz="1700" b="1" kern="0" spc="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鹿先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7779" algn="l" rtl="0" eaLnBrk="0">
              <a:lnSpc>
                <a:spcPts val="3227"/>
              </a:lnSpc>
              <a:tabLst/>
            </a:pPr>
            <a:r>
              <a:rPr sz="1700" b="1" kern="0" spc="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生的困境</a:t>
            </a:r>
            <a:r>
              <a:rPr sz="1700" b="1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  <p:sp>
        <p:nvSpPr>
          <p:cNvPr id="104" name="rect 104"/>
          <p:cNvSpPr/>
          <p:nvPr/>
        </p:nvSpPr>
        <p:spPr>
          <a:xfrm>
            <a:off x="0" y="421004"/>
            <a:ext cx="726351" cy="732701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0" y="5047488"/>
            <a:ext cx="12192000" cy="1811020"/>
          </a:xfrm>
          <a:prstGeom prst="rect">
            <a:avLst/>
          </a:prstGeom>
          <a:solidFill>
            <a:srgbClr val="FFFFFF">
              <a:alpha val="6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朗读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旁白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&amp;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圆圈中的文字 ：</a:t>
            </a:r>
            <a:r>
              <a:rPr sz="1800" b="1" i="1" kern="0" spc="1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和睦村的公交车是刺猬村长开通的。</a:t>
            </a:r>
            <a:r>
              <a:rPr sz="1800" b="1" kern="0" spc="-35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i="1" kern="0" spc="1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让我们了解一下和睦村从1号</a:t>
            </a:r>
            <a:r>
              <a:rPr sz="1800" b="1" i="1" kern="0" spc="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到10号的村民们吧。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7804" algn="l" rtl="0" eaLnBrk="0">
              <a:lnSpc>
                <a:spcPct val="98000"/>
              </a:lnSpc>
              <a:spcBef>
                <a:spcPts val="521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从这段描述中 ，你能了解到哪些关于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刺猬村长的什么信息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2444" algn="l" rtl="0" eaLnBrk="0">
              <a:lnSpc>
                <a:spcPct val="88000"/>
              </a:lnSpc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刺猬村长很关心村民 ，他为不同的动物提供了合适的座位。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2192000" cy="426720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-12700" y="408304"/>
            <a:ext cx="4630420" cy="78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spcBef>
                <a:spcPts val="1"/>
              </a:spcBef>
              <a:tabLst>
                <a:tab pos="8401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6"/>
          <p:cNvSpPr/>
          <p:nvPr/>
        </p:nvSpPr>
        <p:spPr>
          <a:xfrm>
            <a:off x="4122420" y="1549908"/>
            <a:ext cx="7754619" cy="4878704"/>
          </a:xfrm>
          <a:prstGeom prst="rect">
            <a:avLst/>
          </a:prstGeom>
          <a:solidFill>
            <a:srgbClr val="30C0B4">
              <a:alpha val="2745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8775" algn="l" rtl="0" eaLnBrk="0">
              <a:lnSpc>
                <a:spcPct val="81000"/>
              </a:lnSpc>
              <a:spcBef>
                <a:spcPts val="7"/>
              </a:spcBef>
              <a:tabLst/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P20-P23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53695" algn="l" rtl="0" eaLnBrk="0">
              <a:lnSpc>
                <a:spcPct val="88000"/>
              </a:lnSpc>
              <a:spcBef>
                <a:spcPts val="1057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和睦村的村民们特别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喜欢村里的公交车。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56870" indent="-6985" algn="l" rtl="0" eaLnBrk="0">
              <a:lnSpc>
                <a:spcPct val="145000"/>
              </a:lnSpc>
              <a:spcBef>
                <a:spcPts val="221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他们每次见到刺猬村长 ，都会称赞他兑现了承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诺 ，果然开通了公交车。开通公交车是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刺猬在竞选村长时向大家许下的承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诺 ，刺猬村长因此也认为自己是个优秀的村长 ，对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自己挺满意的。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52425" indent="-1905" algn="l" rtl="0" eaLnBrk="0">
              <a:lnSpc>
                <a:spcPct val="144000"/>
              </a:lnSpc>
              <a:spcBef>
                <a:spcPts val="206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住在9号的长颈鹿先生是刚搬过来的。他的脖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子特别特别长 ，远远超过了公交车的车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顶。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53059" algn="l" rtl="0" eaLnBrk="0">
              <a:lnSpc>
                <a:spcPct val="89000"/>
              </a:lnSpc>
              <a:spcBef>
                <a:spcPts val="1168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在刺猬村长眼里 ，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他的脖子就像是一座高塔。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61315" indent="-10160" algn="l" rtl="0" eaLnBrk="0">
              <a:lnSpc>
                <a:spcPct val="147000"/>
              </a:lnSpc>
              <a:spcBef>
                <a:spcPts val="156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曾经有一次 ，长颈鹿先生站在公交车旁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 ，显得那么高 ，哪怕是两辆公交车叠在一起 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也没有他的长脖子高。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如果想让长颈鹿先生坐车的话 ，恐怕只能重新生产公交车了。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54965" indent="2540" algn="l" rtl="0" eaLnBrk="0">
              <a:lnSpc>
                <a:spcPct val="147000"/>
              </a:lnSpc>
              <a:spcBef>
                <a:spcPts val="109"/>
              </a:spcBef>
              <a:tabLst>
                <a:tab pos="7501255" algn="l"/>
              </a:tabLst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刺猬村长瞄了一眼桌子上的日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历 ，再过几个月又要选举新的村长了 ，</a:t>
            </a:r>
            <a:r>
              <a:rPr sz="1500" u="sng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u="sng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刺猬村长将长颈</a:t>
            </a:r>
            <a:r>
              <a:rPr sz="1500" u="sng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鹿先生的信都推到了小角落里 ，希望下一任村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长能够替自己解决长颈鹿先生的问题。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2016" y="3641489"/>
            <a:ext cx="1884870" cy="2803289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72840" y="1978342"/>
            <a:ext cx="601662" cy="4021771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758977" y="1840052"/>
            <a:ext cx="2971800" cy="1332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这可能说明了什么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spcBef>
                <a:spcPts val="430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可能说明刺猬村长觉得解决长颈鹿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02895" indent="3810" algn="l" rtl="0" eaLnBrk="0">
              <a:lnSpc>
                <a:spcPct val="154000"/>
              </a:lnSpc>
              <a:spcBef>
                <a:spcPts val="3"/>
              </a:spcBef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先生的问题太困难了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，他觉得自己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无法解决。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-12700" y="408304"/>
            <a:ext cx="4630420" cy="78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spcBef>
                <a:spcPts val="1"/>
              </a:spcBef>
              <a:tabLst>
                <a:tab pos="8401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39869" y="5985827"/>
            <a:ext cx="6934301" cy="5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2"/>
          <p:cNvSpPr/>
          <p:nvPr/>
        </p:nvSpPr>
        <p:spPr>
          <a:xfrm>
            <a:off x="328929" y="1213103"/>
            <a:ext cx="11557000" cy="5264150"/>
          </a:xfrm>
          <a:prstGeom prst="rect">
            <a:avLst/>
          </a:prstGeom>
          <a:solidFill>
            <a:srgbClr val="30C0B4">
              <a:alpha val="3333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934" algn="l" rtl="0" eaLnBrk="0">
              <a:lnSpc>
                <a:spcPct val="81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P25-P28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2125" indent="-3175" algn="l" rtl="0" eaLnBrk="0">
              <a:lnSpc>
                <a:spcPct val="144000"/>
              </a:lnSpc>
              <a:spcBef>
                <a:spcPts val="103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此时 ，长颈鹿先生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正坐在2号车站的椅子上擦汗。他走了7站路 ，已经非常非常累了。他办公室的门牌号是1号 ，现在 ，他只要再走一站路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就到了。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88315" algn="l" rtl="0" eaLnBrk="0">
              <a:lnSpc>
                <a:spcPct val="89000"/>
              </a:lnSpc>
              <a:spcBef>
                <a:spcPts val="1078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起风了 ，长颈鹿先生闭上眼睛 ，想让清爽的风把汗吹干。他忽然想起了猪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小弟说过的话。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0219" algn="l" rtl="0" eaLnBrk="0">
              <a:lnSpc>
                <a:spcPct val="88000"/>
              </a:lnSpc>
              <a:spcBef>
                <a:spcPts val="1020"/>
              </a:spcBef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“坐在公交车里 ，打开窗户 ，闭上眼睛 ，就像乘着风一样舒服 ！”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1490" algn="l" rtl="0" eaLnBrk="0">
              <a:lnSpc>
                <a:spcPct val="88000"/>
              </a:lnSpc>
              <a:spcBef>
                <a:spcPts val="1055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乘着风 ！那一定很好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0219" algn="l" rtl="0" eaLnBrk="0">
              <a:lnSpc>
                <a:spcPct val="88000"/>
              </a:lnSpc>
              <a:spcBef>
                <a:spcPts val="1041"/>
              </a:spcBef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“连我这样大个子的长颈鹿也可以‘乘着风’吗</a:t>
            </a:r>
            <a:r>
              <a:rPr sz="14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？”长颈鹿先生很好奇 ，不管是风还是公交车 ，他都想乘坐一下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0855" algn="l" rtl="0" eaLnBrk="0">
              <a:lnSpc>
                <a:spcPct val="88000"/>
              </a:lnSpc>
              <a:spcBef>
                <a:spcPts val="1027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在公交车的嘀嘀声中 ，长颈鹿先生睁开了眼睛。公交车缓慢地爬下小山坡 ，停在了长颈鹿先生面前。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0219" algn="l" rtl="0" eaLnBrk="0">
              <a:lnSpc>
                <a:spcPct val="87000"/>
              </a:lnSpc>
              <a:spcBef>
                <a:spcPts val="1073"/>
              </a:spcBef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“不会是想让我乘车吧</a:t>
            </a:r>
            <a:r>
              <a:rPr sz="14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？”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2759" algn="l" rtl="0" eaLnBrk="0">
              <a:lnSpc>
                <a:spcPct val="88000"/>
              </a:lnSpc>
              <a:spcBef>
                <a:spcPts val="1042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长颈鹿先生好奇地伸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长脖子看着公交车。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88950" algn="l" rtl="0" eaLnBrk="0">
              <a:lnSpc>
                <a:spcPct val="89000"/>
              </a:lnSpc>
              <a:spcBef>
                <a:spcPts val="1029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据说不管有没有人上车 ，和睦村的公交车都逢站必停。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91490" algn="l" rtl="0" eaLnBrk="0">
              <a:lnSpc>
                <a:spcPct val="88000"/>
              </a:lnSpc>
              <a:spcBef>
                <a:spcPts val="1030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公交车上本来正望着窗外的乘客们看到长颈鹿先生 ，都把头转了过去 ，有的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突然打着哈欠。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88950" algn="l" rtl="0" eaLnBrk="0">
              <a:lnSpc>
                <a:spcPct val="88000"/>
              </a:lnSpc>
              <a:spcBef>
                <a:spcPts val="1034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开报纸遮着脸 ，有的假装打着哈欠。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02284" algn="l" rtl="0" eaLnBrk="0">
              <a:lnSpc>
                <a:spcPct val="88000"/>
              </a:lnSpc>
              <a:spcBef>
                <a:spcPts val="106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司机大猩猩对此却漠不关心。他踩了一下油门 ，公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交车轰地扬起一阵灰尘 ，离开了车站。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9275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长颈鹿先生望着公交车远去的背影 ，只好继续走路。尽管每走一步 ，他长长的脖子都摇摇晃晃 ，但他还是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很努力地一步一步向前走。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-12700" y="408304"/>
            <a:ext cx="4630420" cy="789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spcBef>
                <a:spcPts val="1"/>
              </a:spcBef>
              <a:tabLst>
                <a:tab pos="8401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/>
          <p:nvPr/>
        </p:nvSpPr>
        <p:spPr>
          <a:xfrm>
            <a:off x="-12700" y="408304"/>
            <a:ext cx="6805294" cy="542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7000"/>
              </a:lnSpc>
              <a:spcBef>
                <a:spcPts val="1"/>
              </a:spcBef>
              <a:tabLst>
                <a:tab pos="8401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2519" indent="-269875" algn="l" rtl="0" eaLnBrk="0">
              <a:lnSpc>
                <a:spcPct val="126000"/>
              </a:lnSpc>
              <a:spcBef>
                <a:spcPts val="510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6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长颈鹿先生站在公交车站 ，但公交车并没有停下来接他。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你对这个场景有什么感受或想法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32205" algn="l" rtl="0" eaLnBrk="0">
              <a:lnSpc>
                <a:spcPct val="83000"/>
              </a:lnSpc>
              <a:spcBef>
                <a:spcPts val="421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我觉得那些乘客和司机都不太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友好。他们看到长颈鹿先生后 ，都故意避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27760" algn="l" rtl="0" eaLnBrk="0">
              <a:lnSpc>
                <a:spcPts val="2519"/>
              </a:lnSpc>
              <a:tabLst/>
            </a:pP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开他 ，没有人想帮助他。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32205" algn="l" rtl="0" eaLnBrk="0">
              <a:lnSpc>
                <a:spcPct val="78000"/>
              </a:lnSpc>
              <a:spcBef>
                <a:spcPts val="427"/>
              </a:spcBef>
              <a:tabLst/>
            </a:pP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我觉得乘客们可能不知道该怎么做。他们看到长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颈鹿先生因为不能坐公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33475" algn="l" rtl="0" eaLnBrk="0">
              <a:lnSpc>
                <a:spcPct val="153000"/>
              </a:lnSpc>
              <a:spcBef>
                <a:spcPts val="27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交车又累又乏而自己却舒舒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服服地坐在公交车里 ，有些不好意思却有想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不出办法。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96911" y="1699260"/>
            <a:ext cx="4343400" cy="4747259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5926835" y="428244"/>
            <a:ext cx="6265545" cy="6166484"/>
          </a:xfrm>
          <a:prstGeom prst="rect">
            <a:avLst/>
          </a:prstGeom>
          <a:solidFill>
            <a:srgbClr val="FFFFFF">
              <a:alpha val="6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96925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5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司机大猩猩是什么样的反应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7600" algn="l" rtl="0" eaLnBrk="0">
              <a:lnSpc>
                <a:spcPct val="83000"/>
              </a:lnSpc>
              <a:spcBef>
                <a:spcPts val="423"/>
              </a:spcBef>
              <a:tabLst/>
            </a:pPr>
            <a:r>
              <a:rPr sz="14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“司机大猩猩对此却漠不关心。他踩了一下油门 ，公交车轰地扬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16330" algn="l" rtl="0" eaLnBrk="0">
              <a:lnSpc>
                <a:spcPts val="2520"/>
              </a:lnSpc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起一阵灰尘 ，离开了车站。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3119" algn="l" rtl="0" eaLnBrk="0">
              <a:lnSpc>
                <a:spcPct val="98000"/>
              </a:lnSpc>
              <a:spcBef>
                <a:spcPts val="519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他为什么会这样做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51889" algn="l" rtl="0" eaLnBrk="0">
              <a:lnSpc>
                <a:spcPct val="84000"/>
              </a:lnSpc>
              <a:spcBef>
                <a:spcPts val="424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可能因为司机大猩猩觉得自己没办法帮助长颈鹿先生 ，或者他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44905" indent="-5080" algn="l" rtl="0" eaLnBrk="0">
              <a:lnSpc>
                <a:spcPct val="151000"/>
              </a:lnSpc>
              <a:spcBef>
                <a:spcPts val="14"/>
              </a:spcBef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觉得停车会影响其他乘客 ，也可能他觉得自己只是司机 ，长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颈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鹿不能坐公交车跟他没关系。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79830" indent="-346709" algn="l" rtl="0" eaLnBrk="0">
              <a:lnSpc>
                <a:spcPct val="129000"/>
              </a:lnSpc>
              <a:spcBef>
                <a:spcPts val="516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如果你是那辆公交车上的乘客 ，看到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的困境 ，你会怎么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做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47444" algn="l" rtl="0" eaLnBrk="0">
              <a:lnSpc>
                <a:spcPct val="83000"/>
              </a:lnSpc>
              <a:spcBef>
                <a:spcPts val="420"/>
              </a:spcBef>
              <a:tabLst/>
            </a:pP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如果我在车上 ，我会建议司机停下来 ，至少可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以问问长颈鹿先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45539" algn="l" rtl="0" eaLnBrk="0">
              <a:lnSpc>
                <a:spcPts val="2420"/>
              </a:lnSpc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生需要什么帮助。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33119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在你的生活中 ，你有碰到类似的事情吗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814803" y="604424"/>
            <a:ext cx="3802379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精彩片断共读&amp;文本分析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rect 154"/>
          <p:cNvSpPr/>
          <p:nvPr/>
        </p:nvSpPr>
        <p:spPr>
          <a:xfrm>
            <a:off x="0" y="421004"/>
            <a:ext cx="726351" cy="732701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5363" y="251459"/>
            <a:ext cx="11718035" cy="6347459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2802597" y="2283755"/>
            <a:ext cx="8972550" cy="423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5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长颈鹿先生面临的困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境确实令人心生同情。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054" algn="l" rtl="0" eaLnBrk="0">
              <a:lnSpc>
                <a:spcPct val="88000"/>
              </a:lnSpc>
              <a:spcBef>
                <a:spcPts val="815"/>
              </a:spcBef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究竟 ，他的难题能否找到解决的办法呢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8005" algn="l" rtl="0" eaLnBrk="0">
              <a:lnSpc>
                <a:spcPct val="88000"/>
              </a:lnSpc>
              <a:spcBef>
                <a:spcPts val="81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让我们一同步入预测与想象的旅程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83079" algn="l" rtl="0" eaLnBrk="0">
              <a:lnSpc>
                <a:spcPct val="88000"/>
              </a:lnSpc>
              <a:spcBef>
                <a:spcPts val="818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探索可能的答案吧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560184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预测和想象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017885" y="5739015"/>
            <a:ext cx="740638" cy="740638"/>
          </a:xfrm>
          <a:prstGeom prst="rect">
            <a:avLst/>
          </a:prstGeom>
        </p:spPr>
      </p:pic>
      <p:sp>
        <p:nvSpPr>
          <p:cNvPr id="162" name="rect 162"/>
          <p:cNvSpPr/>
          <p:nvPr/>
        </p:nvSpPr>
        <p:spPr>
          <a:xfrm>
            <a:off x="0" y="421004"/>
            <a:ext cx="726440" cy="732790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4"/>
          <p:cNvSpPr/>
          <p:nvPr/>
        </p:nvSpPr>
        <p:spPr>
          <a:xfrm>
            <a:off x="0" y="1944623"/>
            <a:ext cx="8636634" cy="3843654"/>
          </a:xfrm>
          <a:prstGeom prst="rect">
            <a:avLst/>
          </a:prstGeom>
          <a:solidFill>
            <a:srgbClr val="30C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963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你认为谁最有可能帮助长颈鹿先生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8235" algn="l" rtl="0" eaLnBrk="0">
              <a:lnSpc>
                <a:spcPct val="83000"/>
              </a:lnSpc>
              <a:spcBef>
                <a:spcPts val="421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我觉得小猪可能会帮助长颈鹿先生 ，因为我从封面上看到小猪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16330" algn="l" rtl="0" eaLnBrk="0">
              <a:lnSpc>
                <a:spcPts val="2519"/>
              </a:lnSpc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和长颈鹿一起等车 ，他们可能是好朋友。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8235" algn="l" rtl="0" eaLnBrk="0">
              <a:lnSpc>
                <a:spcPct val="84000"/>
              </a:lnSpc>
              <a:spcBef>
                <a:spcPts val="426"/>
              </a:spcBef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我觉得可能是刺猬村长 ，因为他是村长 ，而且前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面想出了很多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13789" algn="l" rtl="0" eaLnBrk="0">
              <a:lnSpc>
                <a:spcPts val="2432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很好的办法让村里的其他动物很舒服地坐公交车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。后面他应该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123314" algn="l" rtl="0" eaLnBrk="0">
              <a:lnSpc>
                <a:spcPts val="2503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也会想出帮助长颈鹿先生的办法。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05061" y="0"/>
            <a:ext cx="2686811" cy="685800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-12700" y="408304"/>
            <a:ext cx="2614295" cy="789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8000"/>
              </a:lnSpc>
              <a:tabLst>
                <a:tab pos="84137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预测和想象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 172"/>
          <p:cNvSpPr/>
          <p:nvPr/>
        </p:nvSpPr>
        <p:spPr>
          <a:xfrm>
            <a:off x="9107423" y="4913375"/>
            <a:ext cx="2330195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rect 174"/>
          <p:cNvSpPr/>
          <p:nvPr/>
        </p:nvSpPr>
        <p:spPr>
          <a:xfrm>
            <a:off x="2031491" y="4913375"/>
            <a:ext cx="2834639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rect 176"/>
          <p:cNvSpPr/>
          <p:nvPr/>
        </p:nvSpPr>
        <p:spPr>
          <a:xfrm>
            <a:off x="4866132" y="4913375"/>
            <a:ext cx="1906524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" name="rect 178"/>
          <p:cNvSpPr/>
          <p:nvPr/>
        </p:nvSpPr>
        <p:spPr>
          <a:xfrm>
            <a:off x="6772656" y="4913375"/>
            <a:ext cx="2334767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789304" y="2778125"/>
          <a:ext cx="10647679" cy="3562349"/>
        </p:xfrm>
        <a:graphic>
          <a:graphicData uri="http://schemas.openxmlformats.org/drawingml/2006/table">
            <a:tbl>
              <a:tblPr/>
              <a:tblGrid>
                <a:gridCol w="1242694"/>
                <a:gridCol w="2834004"/>
                <a:gridCol w="1906270"/>
                <a:gridCol w="2334260"/>
                <a:gridCol w="2330450"/>
              </a:tblGrid>
              <a:tr h="7181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32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小组成员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3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5434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预测谁会帮助长颈鹿先生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3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提出的解决方案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3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批评家的意见/挑战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3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20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改进后的解决方案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3F6"/>
                    </a:solidFill>
                  </a:tcPr>
                </a:tc>
              </a:tr>
              <a:tr h="2844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6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例如 ：刺猬村长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indent="-1270"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在车站设置专用长颈</a:t>
                      </a:r>
                      <a:r>
                        <a:rPr sz="1400" kern="0" spc="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400" kern="0" spc="-3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鹿等候区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仍然无法解决乘车问题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460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4874CB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设计可调节高度的车厢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5C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2" name="textbox 182"/>
          <p:cNvSpPr/>
          <p:nvPr/>
        </p:nvSpPr>
        <p:spPr>
          <a:xfrm>
            <a:off x="-12700" y="408304"/>
            <a:ext cx="5293359" cy="214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8000"/>
              </a:lnSpc>
              <a:tabLst>
                <a:tab pos="84137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预测和想象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0739" algn="l" rtl="0" eaLnBrk="0">
              <a:lnSpc>
                <a:spcPct val="88000"/>
              </a:lnSpc>
              <a:spcBef>
                <a:spcPts val="601"/>
              </a:spcBef>
              <a:tabLst/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分组讨论/汇报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0739" algn="l" rtl="0" eaLnBrk="0">
              <a:lnSpc>
                <a:spcPct val="98000"/>
              </a:lnSpc>
              <a:spcBef>
                <a:spcPts val="461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500" kern="0" spc="-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每组提出一些解决方案 ，写在阅读单上 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另一组扮演“批评家”来挑战这些方案的可行性。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2031491" y="3496055"/>
            <a:ext cx="2834639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8129" algn="l" rtl="0" eaLnBrk="0">
              <a:lnSpc>
                <a:spcPct val="88000"/>
              </a:lnSpc>
              <a:tabLst/>
            </a:pPr>
            <a:r>
              <a:rPr sz="1400" kern="0" spc="-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 ：猪小弟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6772656" y="3496055"/>
            <a:ext cx="2334895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3825" indent="-635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400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可能会很贵。</a:t>
            </a:r>
            <a:r>
              <a:rPr sz="1400" kern="0" spc="-2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可能会因为</a:t>
            </a:r>
            <a:r>
              <a:rPr sz="1400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400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改变而影响其他乘客。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9107423" y="3496055"/>
            <a:ext cx="2330450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1445" indent="-11429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通过募集资金和设计不影</a:t>
            </a:r>
            <a:r>
              <a:rPr sz="1400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400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响其他乘客的车厢解决。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4866132" y="3496055"/>
            <a:ext cx="1906904" cy="708659"/>
          </a:xfrm>
          <a:prstGeom prst="rect">
            <a:avLst/>
          </a:prstGeom>
          <a:solidFill>
            <a:srgbClr val="E1F5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5725" indent="-3175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400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设计一个特别的车厢 ，</a:t>
            </a:r>
            <a:r>
              <a:rPr sz="14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专门适应长颈鹿先生</a:t>
            </a:r>
            <a:r>
              <a:rPr sz="1400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400" kern="0" spc="-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的高度。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23404" y="284292"/>
            <a:ext cx="1395970" cy="4572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5363" y="251459"/>
            <a:ext cx="11718035" cy="6347459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2614858" y="1611404"/>
            <a:ext cx="9160509" cy="4910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23464" algn="l" rtl="0" eaLnBrk="0">
              <a:lnSpc>
                <a:spcPct val="88000"/>
              </a:lnSpc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通过这个活动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89660" algn="l" rtl="0" eaLnBrk="0">
              <a:lnSpc>
                <a:spcPct val="87000"/>
              </a:lnSpc>
              <a:spcBef>
                <a:spcPts val="818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我们不仅展开了自己的想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象力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1450" algn="l" rtl="0" eaLnBrk="0">
              <a:lnSpc>
                <a:spcPct val="88000"/>
              </a:lnSpc>
              <a:spcBef>
                <a:spcPts val="820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预测了接下来的故事发展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81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还开动脑筋去思考这些想象是否能变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成可能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89025" algn="l" rtl="0" eaLnBrk="0">
              <a:lnSpc>
                <a:spcPct val="88000"/>
              </a:lnSpc>
              <a:spcBef>
                <a:spcPts val="814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长颈鹿先生有你们这样的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朋友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32814" algn="l" rtl="0" eaLnBrk="0">
              <a:lnSpc>
                <a:spcPct val="88000"/>
              </a:lnSpc>
              <a:spcBef>
                <a:spcPts val="818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一定能早日坐上公交车去上班的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7068184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阅读任务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016614" y="5739015"/>
            <a:ext cx="740638" cy="740638"/>
          </a:xfrm>
          <a:prstGeom prst="rect">
            <a:avLst/>
          </a:prstGeom>
        </p:spPr>
      </p:pic>
      <p:sp>
        <p:nvSpPr>
          <p:cNvPr id="202" name="rect 202"/>
          <p:cNvSpPr/>
          <p:nvPr/>
        </p:nvSpPr>
        <p:spPr>
          <a:xfrm>
            <a:off x="0" y="421004"/>
            <a:ext cx="726440" cy="732790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41035" y="1344295"/>
            <a:ext cx="6478524" cy="5029834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-12700" y="408304"/>
            <a:ext cx="4938395" cy="530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9000"/>
              </a:lnSpc>
              <a:spcBef>
                <a:spcPts val="6"/>
              </a:spcBef>
              <a:tabLst>
                <a:tab pos="85915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阅读任务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3109" algn="l" rtl="0" eaLnBrk="0">
              <a:lnSpc>
                <a:spcPct val="88000"/>
              </a:lnSpc>
              <a:spcBef>
                <a:spcPts val="600"/>
              </a:spcBef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仔细阅读 ：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854710" algn="l" rtl="0" eaLnBrk="0">
              <a:lnSpc>
                <a:spcPts val="2532"/>
              </a:lnSpc>
              <a:spcBef>
                <a:spcPts val="960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《长颈鹿先生 ，请上车 ！》剩余部分。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88000"/>
              </a:lnSpc>
              <a:spcBef>
                <a:spcPts val="512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重点关注 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036319" indent="-276859" algn="l" rtl="0" eaLnBrk="0">
              <a:lnSpc>
                <a:spcPct val="137000"/>
              </a:lnSpc>
              <a:spcBef>
                <a:spcPts val="1181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故事中的插图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它们增强故事生动性 ，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助于理解情节和角色感受 ，并揭示文字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没有讲述的有趣故事。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029335" indent="-269875" algn="l" rtl="0" eaLnBrk="0">
              <a:lnSpc>
                <a:spcPct val="126000"/>
              </a:lnSpc>
              <a:spcBef>
                <a:spcPts val="6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6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留意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故事中的长颈鹿先生的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问题是怎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样解决的。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5309729" y="1630502"/>
            <a:ext cx="1090294" cy="4584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87000"/>
              </a:lnSpc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日期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页数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58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第1天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61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第2天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61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第3天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61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第4天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61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第5天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56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第6天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第7天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7495122" y="1468457"/>
            <a:ext cx="3636009" cy="563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22425" algn="l" rtl="0" eaLnBrk="0">
              <a:lnSpc>
                <a:spcPct val="88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备注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400" b="1" kern="0" spc="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自由填写觉得需要注意的事项或阅读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感受 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5363" y="251459"/>
            <a:ext cx="11718035" cy="6347459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1257997" y="1692869"/>
            <a:ext cx="10517505" cy="4827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8455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在深入探讨了长颈鹿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先生面临的挑战之后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810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我们通过预测和富有创造力的思维共同探讨了潜在的解决策略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3920" algn="l" rtl="0" eaLnBrk="0">
              <a:lnSpc>
                <a:spcPct val="88000"/>
              </a:lnSpc>
              <a:spcBef>
                <a:spcPts val="819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下节课我们将分享各自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的阅读心得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1379" algn="l" rtl="0" eaLnBrk="0">
              <a:lnSpc>
                <a:spcPct val="89000"/>
              </a:lnSpc>
              <a:spcBef>
                <a:spcPts val="81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并深入讨论故事背后更深刻的意义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69970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让我们一同期待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11854" algn="l" rtl="0" eaLnBrk="0">
              <a:lnSpc>
                <a:spcPct val="87000"/>
              </a:lnSpc>
              <a:spcBef>
                <a:spcPts val="815"/>
              </a:spcBef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一起来看今日足迹 </a:t>
            </a: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411209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018442" y="5739015"/>
            <a:ext cx="740638" cy="740638"/>
          </a:xfrm>
          <a:prstGeom prst="rect">
            <a:avLst/>
          </a:prstGeom>
        </p:spPr>
      </p:pic>
      <p:sp>
        <p:nvSpPr>
          <p:cNvPr id="220" name="rect 220"/>
          <p:cNvSpPr/>
          <p:nvPr/>
        </p:nvSpPr>
        <p:spPr>
          <a:xfrm>
            <a:off x="0" y="421004"/>
            <a:ext cx="726440" cy="732790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222"/>
          <p:cNvSpPr/>
          <p:nvPr/>
        </p:nvSpPr>
        <p:spPr>
          <a:xfrm>
            <a:off x="1873701" y="1122245"/>
            <a:ext cx="6142354" cy="234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7000"/>
              </a:lnSpc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sz="1700" b="1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一课时 ：导读课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indent="3175" algn="l" rtl="0" eaLnBrk="0">
              <a:lnSpc>
                <a:spcPct val="138000"/>
              </a:lnSpc>
              <a:spcBef>
                <a:spcPts val="431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1、激发阅读兴趣 ：通过介绍故事背景和角色 ，引起学生对《长颈鹿先生 ，请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上车 ！》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的好奇心和兴趣。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indent="-1905" algn="l" rtl="0" eaLnBrk="0">
              <a:lnSpc>
                <a:spcPct val="118000"/>
              </a:lnSpc>
              <a:spcBef>
                <a:spcPts val="710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2、预测和想象 ：引导学生通过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探索故事情节和角色 ，发展学生的预测能力和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想象力。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3、理解故事主题 ：帮助学生理解故事的基本情节和主题 ，为深入阅读做准备。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69625" y="1134945"/>
            <a:ext cx="683794" cy="609198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6288856" y="4511592"/>
            <a:ext cx="5431154" cy="1968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1、分享和表达 ：鼓励学生分享阅读体验 ，表达对故事的感受和理解。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5875" indent="-3810" algn="l" rtl="0" eaLnBrk="0">
              <a:lnSpc>
                <a:spcPct val="118000"/>
              </a:lnSpc>
              <a:spcBef>
                <a:spcPts val="1026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2、深入探讨 ：分析故事中的问题解决方式 ，讨论角色之间的互动和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故事的深层含义。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145" indent="-2540" algn="l" rtl="0" eaLnBrk="0">
              <a:lnSpc>
                <a:spcPct val="118000"/>
              </a:lnSpc>
              <a:spcBef>
                <a:spcPts val="1081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3、创意写作 ：通过写作练习 ，激发学生的创造力 ，让学生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尝试以故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事角色的视角表达情感。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第二课时 ：阅读交流课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82297" y="3899915"/>
            <a:ext cx="33655" cy="2679191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45781" y="1320672"/>
            <a:ext cx="41910" cy="2682875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0047" y="3694366"/>
            <a:ext cx="11294884" cy="537210"/>
          </a:xfrm>
          <a:prstGeom prst="rect">
            <a:avLst/>
          </a:prstGeom>
        </p:spPr>
      </p:pic>
      <p:sp>
        <p:nvSpPr>
          <p:cNvPr id="234" name="rect 234"/>
          <p:cNvSpPr/>
          <p:nvPr/>
        </p:nvSpPr>
        <p:spPr>
          <a:xfrm>
            <a:off x="0" y="421004"/>
            <a:ext cx="726351" cy="732701"/>
          </a:xfrm>
          <a:prstGeom prst="rect">
            <a:avLst/>
          </a:prstGeom>
          <a:solidFill>
            <a:srgbClr val="1ABD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textbox 236"/>
          <p:cNvSpPr/>
          <p:nvPr/>
        </p:nvSpPr>
        <p:spPr>
          <a:xfrm>
            <a:off x="818708" y="605694"/>
            <a:ext cx="142748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68641" y="1311757"/>
            <a:ext cx="508660" cy="542404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92318" y="6044018"/>
            <a:ext cx="508660" cy="5424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31064"/>
            <a:ext cx="12192000" cy="6594347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-12700" y="408304"/>
            <a:ext cx="2258695" cy="795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8000"/>
              </a:lnSpc>
              <a:spcBef>
                <a:spcPts val="4"/>
              </a:spcBef>
              <a:tabLst>
                <a:tab pos="84391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21004"/>
            <a:ext cx="726351" cy="732701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11105388" y="3043428"/>
            <a:ext cx="107950" cy="14668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b="1" kern="0" spc="-80" dirty="0">
                <a:solidFill>
                  <a:srgbClr val="9494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坐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51459"/>
            <a:ext cx="11963400" cy="6347459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5023916" y="2907766"/>
            <a:ext cx="2503804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9500" kern="0" spc="-2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END</a:t>
            </a:r>
            <a:endParaRPr sz="9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9360737" y="5726315"/>
            <a:ext cx="2414904" cy="798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下一次再见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015547" y="5739015"/>
            <a:ext cx="740638" cy="740638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21703" y="5709292"/>
            <a:ext cx="1141786" cy="441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2024-05-27T09:36:26Z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2026-06-06T00:06:11</vt:filetime>
  </property>
</Properties>
</file>