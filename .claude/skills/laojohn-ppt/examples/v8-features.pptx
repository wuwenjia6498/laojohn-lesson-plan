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74320"/>
            <a:ext cx="11582400" cy="44577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1303020"/>
            <a:ext cx="914400" cy="1234440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77190"/>
            <a:ext cx="1219200" cy="5136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1303020"/>
            <a:ext cx="9753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6600" b="0" i="1">
                <a:solidFill>
                  <a:srgbClr val="222222"/>
                </a:solidFill>
                <a:latin typeface="Calibri"/>
                <a:ea typeface="微软雅黑"/>
              </a:rPr>
              <a:t>这儿真美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948940"/>
            <a:ext cx="9753600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 i="1">
                <a:solidFill>
                  <a:srgbClr val="222222"/>
                </a:solidFill>
                <a:latin typeface="Calibri"/>
                <a:ea typeface="微软雅黑"/>
              </a:rPr>
              <a:t>三年级上册·第六单元 · 校内同步写作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8534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800" b="0" i="0">
                <a:solidFill>
                  <a:srgbClr val="404040"/>
                </a:solidFill>
                <a:latin typeface="Calibri"/>
                <a:ea typeface="微软雅黑"/>
              </a:rPr>
              <a:t>L3 · 三年级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3"/>
            <a:ext cx="719328" cy="72009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40" y="500633"/>
            <a:ext cx="3048000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22222"/>
                </a:solidFill>
                <a:latin typeface="Calibri"/>
                <a:ea typeface="微软雅黑"/>
              </a:rPr>
              <a:t>创设情境</a:t>
            </a:r>
          </a:p>
        </p:txBody>
      </p:sp>
      <p:pic>
        <p:nvPicPr>
          <p:cNvPr id="4" name="Picture 3" descr="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274320"/>
            <a:ext cx="1341120" cy="565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440" y="1268730"/>
            <a:ext cx="8827008" cy="891540"/>
          </a:xfrm>
          <a:prstGeom prst="roundRect">
            <a:avLst>
              <a:gd name="adj" fmla="val 2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44" y="1268730"/>
            <a:ext cx="8534400" cy="8915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先想一个你觉得</a:t>
            </a:r>
            <a:r>
              <a:rPr sz="3200" b="1" i="0">
                <a:solidFill>
                  <a:srgbClr val="C0392B"/>
                </a:solidFill>
                <a:latin typeface="Calibri"/>
                <a:ea typeface="微软雅黑"/>
              </a:rPr>
              <a:t>"特别美"</a:t>
            </a: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的地方，把它记住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2640330"/>
            <a:ext cx="1048512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 i="0">
                <a:solidFill>
                  <a:srgbClr val="404040"/>
                </a:solidFill>
                <a:latin typeface="Calibri"/>
                <a:ea typeface="微软雅黑"/>
              </a:rPr>
              <a:t>　　就在心里挑一个——操场边那排树？奶奶家屋后那条河？楼下那块小花圃？悄悄记住它，等一下这节课就要用到。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3"/>
            <a:ext cx="719328" cy="72009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40" y="500633"/>
            <a:ext cx="3048000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22222"/>
                </a:solidFill>
                <a:latin typeface="Calibri"/>
                <a:ea typeface="微软雅黑"/>
              </a:rPr>
              <a:t>创设情境</a:t>
            </a:r>
          </a:p>
        </p:txBody>
      </p:sp>
      <p:pic>
        <p:nvPicPr>
          <p:cNvPr id="4" name="Picture 3" descr="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274320"/>
            <a:ext cx="1341120" cy="565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3440" y="1425092"/>
            <a:ext cx="73152" cy="51023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44" y="1268730"/>
            <a:ext cx="1033881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今天的任务——做一面</a:t>
            </a:r>
            <a:r>
              <a:rPr sz="3200" b="1" i="0">
                <a:solidFill>
                  <a:srgbClr val="C0392B"/>
                </a:solidFill>
                <a:latin typeface="Calibri"/>
                <a:ea typeface="微软雅黑"/>
              </a:rPr>
              <a:t>"美景明信片墙"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60270"/>
            <a:ext cx="670560" cy="685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04800" y="2377440"/>
            <a:ext cx="731520" cy="731520"/>
          </a:xfrm>
          <a:prstGeom prst="diamond">
            <a:avLst/>
          </a:prstGeom>
          <a:solidFill>
            <a:srgbClr val="C7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414528" y="2487168"/>
            <a:ext cx="512064" cy="512064"/>
          </a:xfrm>
          <a:prstGeom prst="diamond">
            <a:avLst/>
          </a:prstGeom>
          <a:solidFill>
            <a:srgbClr val="7B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528" y="248716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6320" y="2737200"/>
            <a:ext cx="365760" cy="12000"/>
          </a:xfrm>
          <a:prstGeom prst="rect">
            <a:avLst/>
          </a:prstGeom>
          <a:solidFill>
            <a:srgbClr val="B4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2080" y="2403044"/>
            <a:ext cx="9997440" cy="6803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04040"/>
                </a:solidFill>
                <a:latin typeface="Calibri"/>
                <a:ea typeface="微软雅黑"/>
              </a:rPr>
              <a:t>写一段话，让人光读你的字，脑子里就能"看见"那个地方</a:t>
            </a:r>
          </a:p>
        </p:txBody>
      </p:sp>
      <p:sp>
        <p:nvSpPr>
          <p:cNvPr id="13" name="Diamond 12"/>
          <p:cNvSpPr/>
          <p:nvPr/>
        </p:nvSpPr>
        <p:spPr>
          <a:xfrm>
            <a:off x="304800" y="3440430"/>
            <a:ext cx="731520" cy="731520"/>
          </a:xfrm>
          <a:prstGeom prst="diamond">
            <a:avLst/>
          </a:prstGeom>
          <a:solidFill>
            <a:srgbClr val="C7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414528" y="3550158"/>
            <a:ext cx="512064" cy="512064"/>
          </a:xfrm>
          <a:prstGeom prst="diamond">
            <a:avLst/>
          </a:prstGeom>
          <a:solidFill>
            <a:srgbClr val="7B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28" y="355015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6320" y="3800190"/>
            <a:ext cx="365760" cy="12000"/>
          </a:xfrm>
          <a:prstGeom prst="rect">
            <a:avLst/>
          </a:prstGeom>
          <a:solidFill>
            <a:srgbClr val="B4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2080" y="3466034"/>
            <a:ext cx="9997440" cy="6803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04040"/>
                </a:solidFill>
                <a:latin typeface="Calibri"/>
                <a:ea typeface="微软雅黑"/>
              </a:rPr>
              <a:t>读者不只老师——同学、来接你的爸爸妈妈都会读</a:t>
            </a:r>
          </a:p>
        </p:txBody>
      </p:sp>
      <p:sp>
        <p:nvSpPr>
          <p:cNvPr id="18" name="Diamond 17"/>
          <p:cNvSpPr/>
          <p:nvPr/>
        </p:nvSpPr>
        <p:spPr>
          <a:xfrm>
            <a:off x="304800" y="4503420"/>
            <a:ext cx="731520" cy="731520"/>
          </a:xfrm>
          <a:prstGeom prst="diamond">
            <a:avLst/>
          </a:prstGeom>
          <a:solidFill>
            <a:srgbClr val="C7D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14528" y="4613148"/>
            <a:ext cx="512064" cy="512064"/>
          </a:xfrm>
          <a:prstGeom prst="diamond">
            <a:avLst/>
          </a:prstGeom>
          <a:solidFill>
            <a:srgbClr val="7B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4528" y="461314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6320" y="4863180"/>
            <a:ext cx="365760" cy="12000"/>
          </a:xfrm>
          <a:prstGeom prst="rect">
            <a:avLst/>
          </a:prstGeom>
          <a:solidFill>
            <a:srgbClr val="B4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2080" y="4529024"/>
            <a:ext cx="9997440" cy="6803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04040"/>
                </a:solidFill>
                <a:latin typeface="Calibri"/>
                <a:ea typeface="微软雅黑"/>
              </a:rPr>
              <a:t>只写"风景很美""我很喜欢"，谁也看不见，这一格就白做了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3"/>
            <a:ext cx="719328" cy="72009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40" y="500633"/>
            <a:ext cx="3048000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22222"/>
                </a:solidFill>
                <a:latin typeface="Calibri"/>
                <a:ea typeface="微软雅黑"/>
              </a:rPr>
              <a:t>调动感官</a:t>
            </a:r>
          </a:p>
        </p:txBody>
      </p:sp>
      <p:pic>
        <p:nvPicPr>
          <p:cNvPr id="4" name="Picture 3" descr="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274320"/>
            <a:ext cx="1341120" cy="565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440" y="1268730"/>
            <a:ext cx="10107168" cy="822960"/>
          </a:xfrm>
          <a:prstGeom prst="roundRect">
            <a:avLst>
              <a:gd name="adj" fmla="val 2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44" y="1268730"/>
            <a:ext cx="981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校园老槐树下——你</a:t>
            </a:r>
            <a:r>
              <a:rPr sz="3200" b="1" i="0">
                <a:solidFill>
                  <a:srgbClr val="C0392B"/>
                </a:solidFill>
                <a:latin typeface="Calibri"/>
                <a:ea typeface="微软雅黑"/>
              </a:rPr>
              <a:t>"看"</a:t>
            </a:r>
            <a:r>
              <a:rPr sz="3200" b="1" i="0">
                <a:solidFill>
                  <a:srgbClr val="C0392B"/>
                </a:solidFill>
                <a:latin typeface="Calibri"/>
                <a:ea typeface="微软雅黑"/>
              </a:rPr>
              <a:t>"听"</a:t>
            </a:r>
            <a:r>
              <a:rPr sz="3200" b="1" i="0">
                <a:solidFill>
                  <a:srgbClr val="C0392B"/>
                </a:solidFill>
                <a:latin typeface="Calibri"/>
                <a:ea typeface="微软雅黑"/>
              </a:rPr>
              <a:t>"闻"</a:t>
            </a: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到了什么？</a:t>
            </a:r>
          </a:p>
        </p:txBody>
      </p:sp>
      <p:pic>
        <p:nvPicPr>
          <p:cNvPr id="7" name="Picture 6" descr="tree.jpg"/>
          <p:cNvPicPr>
            <a:picLocks noChangeAspect="1"/>
          </p:cNvPicPr>
          <p:nvPr/>
        </p:nvPicPr>
        <p:blipFill>
          <a:blip r:embed="rId3"/>
          <a:srcRect t="16476" b="16476"/>
          <a:stretch>
            <a:fillRect/>
          </a:stretch>
        </p:blipFill>
        <p:spPr>
          <a:xfrm>
            <a:off x="7315200" y="2263140"/>
            <a:ext cx="4145280" cy="3771900"/>
          </a:xfrm>
          <a:prstGeom prst="roundRect">
            <a:avLst>
              <a:gd name="adj" fmla="val 5000"/>
            </a:avLst>
          </a:prstGeom>
        </p:spPr>
      </p:pic>
      <p:sp>
        <p:nvSpPr>
          <p:cNvPr id="8" name="Rectangle 7"/>
          <p:cNvSpPr/>
          <p:nvPr/>
        </p:nvSpPr>
        <p:spPr>
          <a:xfrm>
            <a:off x="7315200" y="5654040"/>
            <a:ext cx="4145280" cy="381000"/>
          </a:xfrm>
          <a:prstGeom prst="rect">
            <a:avLst/>
          </a:prstGeom>
          <a:solidFill>
            <a:srgbClr val="6F9F5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7600" y="5654040"/>
            <a:ext cx="384048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校园老槐树下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" y="2400300"/>
            <a:ext cx="5852160" cy="3771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>
                <a:solidFill>
                  <a:srgbClr val="222222"/>
                </a:solidFill>
                <a:latin typeface="Calibri"/>
                <a:ea typeface="微软雅黑"/>
              </a:rPr>
              <a:t>①  你"看"到了什么？闭上眼再睁开，说说眼前有什么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700">
                <a:solidFill>
                  <a:srgbClr val="C0392B"/>
                </a:solidFill>
                <a:latin typeface="Calibri"/>
                <a:ea typeface="微软雅黑"/>
              </a:rPr>
              <a:t>　　槐树叶、地上的光斑、石凳、有人站在树下抬头仰望大树……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byParagraph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3"/>
            <a:ext cx="719328" cy="72009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40" y="500633"/>
            <a:ext cx="3048000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22222"/>
                </a:solidFill>
                <a:latin typeface="Calibri"/>
                <a:ea typeface="微软雅黑"/>
              </a:rPr>
              <a:t>调动感官</a:t>
            </a:r>
          </a:p>
        </p:txBody>
      </p:sp>
      <p:pic>
        <p:nvPicPr>
          <p:cNvPr id="4" name="Picture 3" descr="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274320"/>
            <a:ext cx="1341120" cy="565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440" y="1268730"/>
            <a:ext cx="10485120" cy="822960"/>
          </a:xfrm>
          <a:prstGeom prst="roundRect">
            <a:avLst>
              <a:gd name="adj" fmla="val 2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44" y="1268730"/>
            <a:ext cx="101925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这些普通的小角落——你</a:t>
            </a:r>
            <a:r>
              <a:rPr sz="3200" b="1" i="0">
                <a:solidFill>
                  <a:srgbClr val="C0392B"/>
                </a:solidFill>
                <a:latin typeface="Calibri"/>
                <a:ea typeface="微软雅黑"/>
              </a:rPr>
              <a:t>"看"</a:t>
            </a:r>
            <a:r>
              <a:rPr sz="3200" b="1" i="0">
                <a:solidFill>
                  <a:srgbClr val="C0392B"/>
                </a:solidFill>
                <a:latin typeface="Calibri"/>
                <a:ea typeface="微软雅黑"/>
              </a:rPr>
              <a:t>"听"</a:t>
            </a:r>
            <a:r>
              <a:rPr sz="3200" b="1" i="0">
                <a:solidFill>
                  <a:srgbClr val="C0392B"/>
                </a:solidFill>
                <a:latin typeface="Calibri"/>
                <a:ea typeface="微软雅黑"/>
              </a:rPr>
              <a:t>"闻"</a:t>
            </a: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到了什么？</a:t>
            </a:r>
          </a:p>
        </p:txBody>
      </p:sp>
      <p:pic>
        <p:nvPicPr>
          <p:cNvPr id="7" name="Picture 6" descr="lotus.jpg"/>
          <p:cNvPicPr>
            <a:picLocks noChangeAspect="1"/>
          </p:cNvPicPr>
          <p:nvPr/>
        </p:nvPicPr>
        <p:blipFill>
          <a:blip r:embed="rId3"/>
          <a:srcRect t="20270" b="20270"/>
          <a:stretch>
            <a:fillRect/>
          </a:stretch>
        </p:blipFill>
        <p:spPr>
          <a:xfrm>
            <a:off x="670560" y="2263140"/>
            <a:ext cx="5242560" cy="2057400"/>
          </a:xfrm>
          <a:prstGeom prst="roundRect">
            <a:avLst>
              <a:gd name="adj" fmla="val 5000"/>
            </a:avLst>
          </a:prstGeom>
        </p:spPr>
      </p:pic>
      <p:sp>
        <p:nvSpPr>
          <p:cNvPr id="8" name="Rectangle 7"/>
          <p:cNvSpPr/>
          <p:nvPr/>
        </p:nvSpPr>
        <p:spPr>
          <a:xfrm>
            <a:off x="670560" y="3939540"/>
            <a:ext cx="5242560" cy="381000"/>
          </a:xfrm>
          <a:prstGeom prst="rect">
            <a:avLst/>
          </a:prstGeom>
          <a:solidFill>
            <a:srgbClr val="6F9F5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9540"/>
            <a:ext cx="493776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公园荷塘一角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457700"/>
            <a:ext cx="52425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>
                <a:solidFill>
                  <a:srgbClr val="222222"/>
                </a:solidFill>
                <a:latin typeface="Calibri"/>
                <a:ea typeface="微软雅黑"/>
              </a:rPr>
              <a:t>①  你看到了什么？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700">
                <a:solidFill>
                  <a:srgbClr val="C0392B"/>
                </a:solidFill>
                <a:latin typeface="Calibri"/>
                <a:ea typeface="微软雅黑"/>
              </a:rPr>
              <a:t>　　大片的荷叶、紫红色的花苞、盛放的莲花、亮晶晶的水珠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0560" y="6172200"/>
            <a:ext cx="5242560" cy="9000"/>
          </a:xfrm>
          <a:prstGeom prst="rect">
            <a:avLst/>
          </a:prstGeom>
          <a:solidFill>
            <a:srgbClr val="8FB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tones.jpg"/>
          <p:cNvPicPr>
            <a:picLocks noChangeAspect="1"/>
          </p:cNvPicPr>
          <p:nvPr/>
        </p:nvPicPr>
        <p:blipFill>
          <a:blip r:embed="rId4"/>
          <a:srcRect t="18351" b="18351"/>
          <a:stretch>
            <a:fillRect/>
          </a:stretch>
        </p:blipFill>
        <p:spPr>
          <a:xfrm>
            <a:off x="6278880" y="2263140"/>
            <a:ext cx="5242560" cy="2057400"/>
          </a:xfrm>
          <a:prstGeom prst="roundRect">
            <a:avLst>
              <a:gd name="adj" fmla="val 5000"/>
            </a:avLst>
          </a:prstGeom>
        </p:spPr>
      </p:pic>
      <p:sp>
        <p:nvSpPr>
          <p:cNvPr id="13" name="Rectangle 12"/>
          <p:cNvSpPr/>
          <p:nvPr/>
        </p:nvSpPr>
        <p:spPr>
          <a:xfrm>
            <a:off x="6278880" y="3939540"/>
            <a:ext cx="5242560" cy="381000"/>
          </a:xfrm>
          <a:prstGeom prst="rect">
            <a:avLst/>
          </a:prstGeom>
          <a:solidFill>
            <a:srgbClr val="6F9F5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1280" y="3939540"/>
            <a:ext cx="493776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村口小河边那一堆石头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880" y="4457700"/>
            <a:ext cx="52425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>
                <a:solidFill>
                  <a:srgbClr val="222222"/>
                </a:solidFill>
                <a:latin typeface="Calibri"/>
                <a:ea typeface="微软雅黑"/>
              </a:rPr>
              <a:t>①  蹲下来伸手摸一摸，你会"摸"到什么？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700">
                <a:solidFill>
                  <a:srgbClr val="C0392B"/>
                </a:solidFill>
                <a:latin typeface="Calibri"/>
                <a:ea typeface="微软雅黑"/>
              </a:rPr>
              <a:t>　　凉凉的、滑滑的、太阳晒过的地方有点热、缝里有青苔湿湿的…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880" y="6172200"/>
            <a:ext cx="5242560" cy="9000"/>
          </a:xfrm>
          <a:prstGeom prst="rect">
            <a:avLst/>
          </a:prstGeom>
          <a:solidFill>
            <a:srgbClr val="8FB8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byParagraph"/>
      <p:bldP spid="15" grpId="0" build="byParagraph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3"/>
            <a:ext cx="719328" cy="72009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40" y="500633"/>
            <a:ext cx="3048000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22222"/>
                </a:solidFill>
                <a:latin typeface="Calibri"/>
                <a:ea typeface="微软雅黑"/>
              </a:rPr>
              <a:t>学写法</a:t>
            </a:r>
          </a:p>
        </p:txBody>
      </p:sp>
      <p:pic>
        <p:nvPicPr>
          <p:cNvPr id="4" name="Picture 3" descr="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274320"/>
            <a:ext cx="1341120" cy="565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440" y="1268730"/>
            <a:ext cx="7973568" cy="822960"/>
          </a:xfrm>
          <a:prstGeom prst="roundRect">
            <a:avLst>
              <a:gd name="adj" fmla="val 2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44" y="126873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三句话，判断一段景物</a:t>
            </a:r>
            <a:r>
              <a:rPr sz="3200" b="1" i="0">
                <a:solidFill>
                  <a:srgbClr val="C0392B"/>
                </a:solidFill>
                <a:latin typeface="Calibri"/>
                <a:ea typeface="微软雅黑"/>
              </a:rPr>
              <a:t>"能不能贴上墙"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" y="2571750"/>
            <a:ext cx="3332480" cy="366903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0038" y="2865272"/>
            <a:ext cx="514350" cy="514350"/>
          </a:xfrm>
          <a:prstGeom prst="ellipse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0038" y="2865272"/>
            <a:ext cx="5143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363" y="3526383"/>
            <a:ext cx="2732634" cy="25676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404040"/>
                </a:solidFill>
                <a:latin typeface="Calibri"/>
                <a:ea typeface="微软雅黑"/>
              </a:rPr>
              <a:t>围绕一个中心意思——每样景物都跟"美"有关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760" y="2571750"/>
            <a:ext cx="3332480" cy="366903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96358" y="2865272"/>
            <a:ext cx="514350" cy="514350"/>
          </a:xfrm>
          <a:prstGeom prst="ellipse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6358" y="2865272"/>
            <a:ext cx="5143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9683" y="3526383"/>
            <a:ext cx="2732634" cy="25676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404040"/>
                </a:solidFill>
                <a:latin typeface="Calibri"/>
                <a:ea typeface="微软雅黑"/>
              </a:rPr>
              <a:t>选一种顺序——从远到近，或从上到下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6080" y="2571750"/>
            <a:ext cx="3332480" cy="366903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2678" y="2865272"/>
            <a:ext cx="514350" cy="51435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2678" y="2865272"/>
            <a:ext cx="5143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6003" y="3526383"/>
            <a:ext cx="2732634" cy="25676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404040"/>
                </a:solidFill>
                <a:latin typeface="Calibri"/>
                <a:ea typeface="微软雅黑"/>
              </a:rPr>
              <a:t>换掉空话——把"很美"换成看得见、听得见、摸得到的样子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3"/>
            <a:ext cx="719328" cy="72009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40" y="500633"/>
            <a:ext cx="3048000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22222"/>
                </a:solidFill>
                <a:latin typeface="Calibri"/>
                <a:ea typeface="微软雅黑"/>
              </a:rPr>
              <a:t>两个小仓库</a:t>
            </a:r>
          </a:p>
        </p:txBody>
      </p:sp>
      <p:pic>
        <p:nvPicPr>
          <p:cNvPr id="4" name="Picture 3" descr="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274320"/>
            <a:ext cx="1341120" cy="565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440" y="1268730"/>
            <a:ext cx="9253728" cy="822960"/>
          </a:xfrm>
          <a:prstGeom prst="roundRect">
            <a:avLst>
              <a:gd name="adj" fmla="val 2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44" y="1268730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想不出词、想不出地方？瞄一眼就好，别整列抄</a:t>
            </a:r>
          </a:p>
        </p:txBody>
      </p:sp>
      <p:pic>
        <p:nvPicPr>
          <p:cNvPr id="7" name="Picture 6" descr="ginkgo.jpg"/>
          <p:cNvPicPr>
            <a:picLocks noChangeAspect="1"/>
          </p:cNvPicPr>
          <p:nvPr/>
        </p:nvPicPr>
        <p:blipFill>
          <a:blip r:embed="rId3"/>
          <a:srcRect l="21014" r="21014"/>
          <a:stretch>
            <a:fillRect/>
          </a:stretch>
        </p:blipFill>
        <p:spPr>
          <a:xfrm>
            <a:off x="853440" y="2743200"/>
            <a:ext cx="4389120" cy="3154680"/>
          </a:xfrm>
          <a:prstGeom prst="roundRect">
            <a:avLst>
              <a:gd name="adj" fmla="val 5000"/>
            </a:avLst>
          </a:prstGeom>
        </p:spPr>
      </p:pic>
      <p:sp>
        <p:nvSpPr>
          <p:cNvPr id="8" name="Oval 7"/>
          <p:cNvSpPr/>
          <p:nvPr/>
        </p:nvSpPr>
        <p:spPr>
          <a:xfrm>
            <a:off x="5985510" y="2901950"/>
            <a:ext cx="114300" cy="114300"/>
          </a:xfrm>
          <a:prstGeom prst="ellipse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0960" y="2743200"/>
            <a:ext cx="4826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404040"/>
                </a:solidFill>
                <a:latin typeface="Calibri"/>
                <a:ea typeface="微软雅黑"/>
              </a:rPr>
              <a:t>声音：哗啦啦、沙沙、咯吱咯吱、叮咚</a:t>
            </a:r>
          </a:p>
        </p:txBody>
      </p:sp>
      <p:sp>
        <p:nvSpPr>
          <p:cNvPr id="10" name="Oval 9"/>
          <p:cNvSpPr/>
          <p:nvPr/>
        </p:nvSpPr>
        <p:spPr>
          <a:xfrm>
            <a:off x="5985510" y="3953510"/>
            <a:ext cx="114300" cy="114300"/>
          </a:xfrm>
          <a:prstGeom prst="ellipse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0960" y="3794760"/>
            <a:ext cx="4826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404040"/>
                </a:solidFill>
                <a:latin typeface="Calibri"/>
                <a:ea typeface="微软雅黑"/>
              </a:rPr>
              <a:t>颜色：金灿灿、绿油油、雪白雪白、红扑扑</a:t>
            </a:r>
          </a:p>
        </p:txBody>
      </p:sp>
      <p:sp>
        <p:nvSpPr>
          <p:cNvPr id="12" name="Oval 11"/>
          <p:cNvSpPr/>
          <p:nvPr/>
        </p:nvSpPr>
        <p:spPr>
          <a:xfrm>
            <a:off x="5985510" y="5005070"/>
            <a:ext cx="114300" cy="114300"/>
          </a:xfrm>
          <a:prstGeom prst="ellipse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0960" y="4846320"/>
            <a:ext cx="4826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404040"/>
                </a:solidFill>
                <a:latin typeface="Calibri"/>
                <a:ea typeface="微软雅黑"/>
              </a:rPr>
              <a:t>摸到：凉凉的、滑滑的、毛茸茸、软绵绵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633"/>
            <a:ext cx="719328" cy="72009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40" y="500633"/>
            <a:ext cx="3048000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22222"/>
                </a:solidFill>
                <a:latin typeface="Calibri"/>
                <a:ea typeface="微软雅黑"/>
              </a:rPr>
              <a:t>理清思路</a:t>
            </a:r>
          </a:p>
        </p:txBody>
      </p:sp>
      <p:pic>
        <p:nvPicPr>
          <p:cNvPr id="4" name="Picture 3" descr="log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274320"/>
            <a:ext cx="1341120" cy="565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3440" y="1268730"/>
            <a:ext cx="6266688" cy="822960"/>
          </a:xfrm>
          <a:prstGeom prst="roundRect">
            <a:avLst>
              <a:gd name="adj" fmla="val 28000"/>
            </a:avLst>
          </a:prstGeom>
          <a:solidFill>
            <a:srgbClr val="FB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744" y="1268730"/>
            <a:ext cx="5974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222222"/>
                </a:solidFill>
                <a:latin typeface="Calibri"/>
                <a:ea typeface="微软雅黑"/>
              </a:rPr>
              <a:t>填好表，照着说一说，定好顺序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2597150"/>
            <a:ext cx="381000" cy="381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25971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2240" y="2571750"/>
            <a:ext cx="9824720" cy="1223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404040"/>
                </a:solidFill>
                <a:latin typeface="Calibri"/>
                <a:ea typeface="微软雅黑"/>
              </a:rPr>
              <a:t>照构思表口头说：写哪儿、最想写哪几样景物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440" y="3820160"/>
            <a:ext cx="381000" cy="381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440" y="382016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2240" y="3794760"/>
            <a:ext cx="9824720" cy="1223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404040"/>
                </a:solidFill>
                <a:latin typeface="Calibri"/>
                <a:ea typeface="微软雅黑"/>
              </a:rPr>
              <a:t>动笔就从表里挑 3-4 条最跟"美"有关的，连成段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440" y="5043170"/>
            <a:ext cx="381000" cy="381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504317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2240" y="5017770"/>
            <a:ext cx="9824720" cy="1223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404040"/>
                </a:solidFill>
                <a:latin typeface="Calibri"/>
                <a:ea typeface="微软雅黑"/>
              </a:rPr>
              <a:t>心里念一遍顺序，写时就不会东一句西一句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4800" y="274320"/>
            <a:ext cx="11582400" cy="6309360"/>
          </a:xfrm>
          <a:prstGeom prst="rect">
            <a:avLst/>
          </a:prstGeom>
          <a:gradFill flip="none" rotWithShape="1">
            <a:gsLst>
              <a:gs pos="0">
                <a:srgbClr val="1E7A79"/>
              </a:gs>
              <a:gs pos="100000">
                <a:srgbClr val="8FBBBA"/>
              </a:gs>
            </a:gsLst>
            <a:lin ang="135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0633"/>
            <a:ext cx="719328" cy="72009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9200" y="2468880"/>
            <a:ext cx="975360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0" b="0" i="0">
                <a:solidFill>
                  <a:srgbClr val="FFFFFF"/>
                </a:solidFill>
                <a:latin typeface="Calibri"/>
                <a:ea typeface="微软雅黑"/>
              </a:rPr>
              <a:t>THE END</a:t>
            </a:r>
          </a:p>
        </p:txBody>
      </p:sp>
      <p:pic>
        <p:nvPicPr>
          <p:cNvPr id="5" name="Picture 4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829300"/>
            <a:ext cx="1219200" cy="5136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59040" y="5623560"/>
            <a:ext cx="3169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  <a:ea typeface="微软雅黑"/>
              </a:rPr>
              <a:t>下一次再见</a:t>
            </a:r>
          </a:p>
        </p:txBody>
      </p:sp>
      <p:sp>
        <p:nvSpPr>
          <p:cNvPr id="7" name="Freeform 6"/>
          <p:cNvSpPr/>
          <p:nvPr/>
        </p:nvSpPr>
        <p:spPr>
          <a:xfrm>
            <a:off x="11033760" y="5554980"/>
            <a:ext cx="731520" cy="548640"/>
          </a:xfrm>
          <a:custGeom>
            <a:avLst/>
            <a:gdLst/>
            <a:ahLst/>
            <a:cxnLst/>
            <a:rect l="l" t="t" r="r" b="b"/>
            <a:pathLst>
              <a:path w="731520" h="548640">
                <a:moveTo>
                  <a:pt x="0" y="0"/>
                </a:moveTo>
                <a:lnTo>
                  <a:pt x="731520" y="27432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