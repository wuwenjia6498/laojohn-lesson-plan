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810000" y="2571750"/>
            <a:ext cx="12992100" cy="144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51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＿＿让生活更美好</a:t>
            </a:r>
            <a:endParaRPr lang="en-US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25730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六年级上册 · 第三单元 · 校内同步写作（说理习作）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六年级上册 · 第三单元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46685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 · 选定话题词 · 用一件事作证 · 事例作证表 · 教师示范文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059953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073747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三位同学回答的是同一个问题：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什么让你的生活更美好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238500"/>
            <a:ext cx="5156150" cy="3451027"/>
          </a:xfrm>
          <a:prstGeom prst="roundRect">
            <a:avLst>
              <a:gd name="adj" fmla="val 7728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676400" y="6651427"/>
            <a:ext cx="457200" cy="28575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6651427"/>
            <a:ext cx="45720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7800" y="3600450"/>
            <a:ext cx="47916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第一位</a:t>
            </a:r>
            <a:endParaRPr lang="en-US" sz="2325" dirty="0"/>
          </a:p>
        </p:txBody>
      </p:sp>
      <p:sp>
        <p:nvSpPr>
          <p:cNvPr id="12" name="Text 8"/>
          <p:cNvSpPr/>
          <p:nvPr/>
        </p:nvSpPr>
        <p:spPr>
          <a:xfrm>
            <a:off x="1447800" y="4162425"/>
            <a:ext cx="4486732" cy="159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坐高铁去爷爷奶奶家，比以前快了两个小时；妈妈买菜，扫二维码就付了钱。</a:t>
            </a:r>
            <a:endParaRPr lang="en-US" sz="2475" dirty="0"/>
          </a:p>
        </p:txBody>
      </p:sp>
      <p:sp>
        <p:nvSpPr>
          <p:cNvPr id="13" name="Text 9"/>
          <p:cNvSpPr/>
          <p:nvPr/>
        </p:nvSpPr>
        <p:spPr>
          <a:xfrm>
            <a:off x="1447800" y="5946577"/>
            <a:ext cx="47916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他说的是科技</a:t>
            </a:r>
            <a:endParaRPr lang="en-US" sz="2250" dirty="0"/>
          </a:p>
        </p:txBody>
      </p:sp>
      <p:sp>
        <p:nvSpPr>
          <p:cNvPr id="14" name="Shape 10"/>
          <p:cNvSpPr/>
          <p:nvPr/>
        </p:nvSpPr>
        <p:spPr>
          <a:xfrm>
            <a:off x="6565850" y="3238500"/>
            <a:ext cx="5156150" cy="3451027"/>
          </a:xfrm>
          <a:prstGeom prst="roundRect">
            <a:avLst>
              <a:gd name="adj" fmla="val 7728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194500" y="6651427"/>
            <a:ext cx="457200" cy="28575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500" y="6651427"/>
            <a:ext cx="457200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5900" y="3600450"/>
            <a:ext cx="47916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第二位</a:t>
            </a:r>
            <a:endParaRPr lang="en-US" sz="2325" dirty="0"/>
          </a:p>
        </p:txBody>
      </p:sp>
      <p:sp>
        <p:nvSpPr>
          <p:cNvPr id="18" name="Text 13"/>
          <p:cNvSpPr/>
          <p:nvPr/>
        </p:nvSpPr>
        <p:spPr>
          <a:xfrm>
            <a:off x="6965900" y="4162425"/>
            <a:ext cx="4486732" cy="1075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听听音乐，唱唱歌，人就放松下来，心里也开心。</a:t>
            </a:r>
            <a:endParaRPr lang="en-US" sz="2475" dirty="0"/>
          </a:p>
        </p:txBody>
      </p:sp>
      <p:sp>
        <p:nvSpPr>
          <p:cNvPr id="19" name="Text 14"/>
          <p:cNvSpPr/>
          <p:nvPr/>
        </p:nvSpPr>
        <p:spPr>
          <a:xfrm>
            <a:off x="6965900" y="5428059"/>
            <a:ext cx="47916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他说的是听音乐、唱歌</a:t>
            </a:r>
            <a:endParaRPr lang="en-US" sz="2250" dirty="0"/>
          </a:p>
        </p:txBody>
      </p:sp>
      <p:sp>
        <p:nvSpPr>
          <p:cNvPr id="20" name="Shape 15"/>
          <p:cNvSpPr/>
          <p:nvPr/>
        </p:nvSpPr>
        <p:spPr>
          <a:xfrm>
            <a:off x="12083951" y="3238500"/>
            <a:ext cx="5156299" cy="3451027"/>
          </a:xfrm>
          <a:prstGeom prst="roundRect">
            <a:avLst>
              <a:gd name="adj" fmla="val 7728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12712601" y="6651427"/>
            <a:ext cx="457200" cy="28575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2601" y="6651427"/>
            <a:ext cx="457200" cy="2857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484001" y="3600450"/>
            <a:ext cx="479181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第三位</a:t>
            </a:r>
            <a:endParaRPr lang="en-US" sz="2325" dirty="0"/>
          </a:p>
        </p:txBody>
      </p:sp>
      <p:sp>
        <p:nvSpPr>
          <p:cNvPr id="24" name="Text 18"/>
          <p:cNvSpPr/>
          <p:nvPr/>
        </p:nvSpPr>
        <p:spPr>
          <a:xfrm>
            <a:off x="12484001" y="4162425"/>
            <a:ext cx="4486885" cy="15936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24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爸爸妈妈的微笑、老师的微笑、陌生人的微笑，都让人感到温暖。</a:t>
            </a:r>
            <a:endParaRPr lang="en-US" sz="2475" dirty="0"/>
          </a:p>
        </p:txBody>
      </p:sp>
      <p:sp>
        <p:nvSpPr>
          <p:cNvPr id="25" name="Text 19"/>
          <p:cNvSpPr/>
          <p:nvPr/>
        </p:nvSpPr>
        <p:spPr>
          <a:xfrm>
            <a:off x="12484001" y="5946577"/>
            <a:ext cx="47918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她说的是微笑</a:t>
            </a:r>
            <a:endParaRPr lang="en-US" sz="2250" dirty="0"/>
          </a:p>
        </p:txBody>
      </p:sp>
      <p:sp>
        <p:nvSpPr>
          <p:cNvPr id="26" name="Shape 20"/>
          <p:cNvSpPr/>
          <p:nvPr/>
        </p:nvSpPr>
        <p:spPr>
          <a:xfrm>
            <a:off x="1047750" y="7986713"/>
            <a:ext cx="16192500" cy="966788"/>
          </a:xfrm>
          <a:prstGeom prst="roundRect">
            <a:avLst>
              <a:gd name="adj" fmla="val 1576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7" name="Text 21"/>
          <p:cNvSpPr/>
          <p:nvPr/>
        </p:nvSpPr>
        <p:spPr>
          <a:xfrm>
            <a:off x="1428750" y="8234363"/>
            <a:ext cx="1697355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读一读这三段话，再想一想：轮到你，横线上你会先想到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填哪一个词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？说一个词即可。</a:t>
            </a:r>
            <a:endParaRPr lang="en-US" sz="2475" dirty="0"/>
          </a:p>
        </p:txBody>
      </p:sp>
      <p:sp>
        <p:nvSpPr>
          <p:cNvPr id="28" name="Text 2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这三段话是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三个例子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，用来打开思路，不是标准答案。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今天的任务：写一篇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《＿＿让生活更美好》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1400175"/>
          </a:xfrm>
          <a:prstGeom prst="roundRect">
            <a:avLst>
              <a:gd name="adj" fmla="val 1088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990850"/>
            <a:ext cx="15893415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横线上可以填运动、旅行、种花、科技、微笑、诚信、梦想、创意，也可以写其他话题。写之前想一想：它是怎么影响你的生活的，为什么让你觉得生活更美好。 </a:t>
            </a:r>
            <a:pPr algn="l" indent="0" marL="0">
              <a:lnSpc>
                <a:spcPct val="1125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写的时候注意把原因写具体。</a:t>
            </a:r>
            <a:endParaRPr lang="en-US" sz="247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4476750"/>
            <a:ext cx="4000500" cy="40005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905500" y="45339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075611" y="46101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657975" y="4591050"/>
            <a:ext cx="1059561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这一篇两节课写完：第一节学写法、理思路，第二节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</a:t>
            </a:r>
            <a:endParaRPr lang="en-US" sz="2700" dirty="0"/>
          </a:p>
        </p:txBody>
      </p:sp>
      <p:sp>
        <p:nvSpPr>
          <p:cNvPr id="13" name="Shape 9"/>
          <p:cNvSpPr/>
          <p:nvPr/>
        </p:nvSpPr>
        <p:spPr>
          <a:xfrm>
            <a:off x="5905500" y="5450086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6075611" y="5526286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657975" y="5507236"/>
            <a:ext cx="7416927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第二节课的后半段，请几位同学读一读自己写的</a:t>
            </a:r>
            <a:endParaRPr lang="en-US" sz="2700" dirty="0"/>
          </a:p>
        </p:txBody>
      </p:sp>
      <p:sp>
        <p:nvSpPr>
          <p:cNvPr id="16" name="Shape 12"/>
          <p:cNvSpPr/>
          <p:nvPr/>
        </p:nvSpPr>
        <p:spPr>
          <a:xfrm>
            <a:off x="5905500" y="6366272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075611" y="6442472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6657975" y="6423422"/>
            <a:ext cx="10801636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听的同学听完答一句：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从他写的哪一处，感受到了横线上那一项让生活更美好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听的人说得出是哪一处，这一篇就写成了；说不出，第二节课还有时间修改。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选定话题词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先看这八个词：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哪几个不是一件事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19400"/>
            <a:ext cx="1276350" cy="762000"/>
          </a:xfrm>
          <a:prstGeom prst="roundRect">
            <a:avLst>
              <a:gd name="adj" fmla="val 175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71600" y="2990850"/>
            <a:ext cx="7048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</a:t>
            </a:r>
            <a:endParaRPr lang="en-US" sz="2475" dirty="0"/>
          </a:p>
        </p:txBody>
      </p:sp>
      <p:sp>
        <p:nvSpPr>
          <p:cNvPr id="9" name="Shape 6"/>
          <p:cNvSpPr/>
          <p:nvPr/>
        </p:nvSpPr>
        <p:spPr>
          <a:xfrm>
            <a:off x="2514600" y="2819400"/>
            <a:ext cx="1276350" cy="762000"/>
          </a:xfrm>
          <a:prstGeom prst="roundRect">
            <a:avLst>
              <a:gd name="adj" fmla="val 175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838450" y="2990850"/>
            <a:ext cx="7048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旅行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3981450" y="2819400"/>
            <a:ext cx="1276350" cy="762000"/>
          </a:xfrm>
          <a:prstGeom prst="roundRect">
            <a:avLst>
              <a:gd name="adj" fmla="val 175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305300" y="2990850"/>
            <a:ext cx="7048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种花</a:t>
            </a:r>
            <a:endParaRPr lang="en-US" sz="2475" dirty="0"/>
          </a:p>
        </p:txBody>
      </p:sp>
      <p:sp>
        <p:nvSpPr>
          <p:cNvPr id="13" name="Shape 10"/>
          <p:cNvSpPr/>
          <p:nvPr/>
        </p:nvSpPr>
        <p:spPr>
          <a:xfrm>
            <a:off x="5448300" y="2819400"/>
            <a:ext cx="1276350" cy="762000"/>
          </a:xfrm>
          <a:prstGeom prst="roundRect">
            <a:avLst>
              <a:gd name="adj" fmla="val 175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772150" y="2990850"/>
            <a:ext cx="7048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</a:t>
            </a:r>
            <a:endParaRPr lang="en-US" sz="2475" dirty="0"/>
          </a:p>
        </p:txBody>
      </p:sp>
      <p:sp>
        <p:nvSpPr>
          <p:cNvPr id="15" name="Shape 12"/>
          <p:cNvSpPr/>
          <p:nvPr/>
        </p:nvSpPr>
        <p:spPr>
          <a:xfrm>
            <a:off x="6915150" y="2819400"/>
            <a:ext cx="1276350" cy="762000"/>
          </a:xfrm>
          <a:prstGeom prst="roundRect">
            <a:avLst>
              <a:gd name="adj" fmla="val 17500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239000" y="2990850"/>
            <a:ext cx="7048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微笑</a:t>
            </a:r>
            <a:endParaRPr lang="en-US" sz="2475" dirty="0"/>
          </a:p>
        </p:txBody>
      </p:sp>
      <p:sp>
        <p:nvSpPr>
          <p:cNvPr id="17" name="Shape 14"/>
          <p:cNvSpPr/>
          <p:nvPr/>
        </p:nvSpPr>
        <p:spPr>
          <a:xfrm>
            <a:off x="8382000" y="2819400"/>
            <a:ext cx="1276350" cy="762000"/>
          </a:xfrm>
          <a:prstGeom prst="roundRect">
            <a:avLst>
              <a:gd name="adj" fmla="val 17500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705850" y="2990850"/>
            <a:ext cx="7048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诚信</a:t>
            </a:r>
            <a:endParaRPr lang="en-US" sz="2475" dirty="0"/>
          </a:p>
        </p:txBody>
      </p:sp>
      <p:sp>
        <p:nvSpPr>
          <p:cNvPr id="19" name="Shape 16"/>
          <p:cNvSpPr/>
          <p:nvPr/>
        </p:nvSpPr>
        <p:spPr>
          <a:xfrm>
            <a:off x="9848850" y="2819400"/>
            <a:ext cx="1276350" cy="762000"/>
          </a:xfrm>
          <a:prstGeom prst="roundRect">
            <a:avLst>
              <a:gd name="adj" fmla="val 17500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172700" y="2990850"/>
            <a:ext cx="7048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梦想</a:t>
            </a:r>
            <a:endParaRPr lang="en-US" sz="2475" dirty="0"/>
          </a:p>
        </p:txBody>
      </p:sp>
      <p:sp>
        <p:nvSpPr>
          <p:cNvPr id="21" name="Shape 18"/>
          <p:cNvSpPr/>
          <p:nvPr/>
        </p:nvSpPr>
        <p:spPr>
          <a:xfrm>
            <a:off x="11315700" y="2819400"/>
            <a:ext cx="1276350" cy="762000"/>
          </a:xfrm>
          <a:prstGeom prst="roundRect">
            <a:avLst>
              <a:gd name="adj" fmla="val 17500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1639550" y="2990850"/>
            <a:ext cx="7048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</a:t>
            </a:r>
            <a:endParaRPr lang="en-US" sz="2475" dirty="0"/>
          </a:p>
        </p:txBody>
      </p:sp>
      <p:sp>
        <p:nvSpPr>
          <p:cNvPr id="23" name="Shape 20"/>
          <p:cNvSpPr/>
          <p:nvPr/>
        </p:nvSpPr>
        <p:spPr>
          <a:xfrm>
            <a:off x="1047750" y="4000500"/>
            <a:ext cx="7886700" cy="2952750"/>
          </a:xfrm>
          <a:prstGeom prst="roundRect">
            <a:avLst>
              <a:gd name="adj" fmla="val 5806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7275" y="401002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852488" y="4181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能做的事，写起来有话说</a:t>
            </a:r>
            <a:endParaRPr lang="en-US" sz="2400" dirty="0"/>
          </a:p>
        </p:txBody>
      </p:sp>
      <p:sp>
        <p:nvSpPr>
          <p:cNvPr id="27" name="Shape 23"/>
          <p:cNvSpPr/>
          <p:nvPr/>
        </p:nvSpPr>
        <p:spPr>
          <a:xfrm>
            <a:off x="1057275" y="4752975"/>
            <a:ext cx="7867650" cy="21907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1400175" y="5057775"/>
            <a:ext cx="7397306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运动、旅行、种花、科技，都是自己做得到、用得上的，回想一下就有具体的事。</a:t>
            </a:r>
            <a:endParaRPr lang="en-US" sz="2400" dirty="0"/>
          </a:p>
        </p:txBody>
      </p:sp>
      <p:sp>
        <p:nvSpPr>
          <p:cNvPr id="29" name="Shape 25"/>
          <p:cNvSpPr/>
          <p:nvPr/>
        </p:nvSpPr>
        <p:spPr>
          <a:xfrm>
            <a:off x="9353550" y="4000500"/>
            <a:ext cx="7886700" cy="2952750"/>
          </a:xfrm>
          <a:prstGeom prst="roundRect">
            <a:avLst>
              <a:gd name="adj" fmla="val 5806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9363075" y="4010025"/>
            <a:ext cx="7867650" cy="742950"/>
          </a:xfrm>
          <a:custGeom>
            <a:avLst/>
            <a:gdLst/>
            <a:ahLst/>
            <a:cxnLst/>
            <a:rect l="l" t="t" r="r" b="b"/>
            <a:pathLst>
              <a:path w="7867650" h="742950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42950"/>
                </a:lnTo>
                <a:lnTo>
                  <a:pt x="0" y="74295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9158288" y="4181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看不见的词，会不会只剩道理</a:t>
            </a:r>
            <a:endParaRPr lang="en-US" sz="2400" dirty="0"/>
          </a:p>
        </p:txBody>
      </p:sp>
      <p:sp>
        <p:nvSpPr>
          <p:cNvPr id="33" name="Shape 28"/>
          <p:cNvSpPr/>
          <p:nvPr/>
        </p:nvSpPr>
        <p:spPr>
          <a:xfrm>
            <a:off x="9363075" y="4752975"/>
            <a:ext cx="7867650" cy="21907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9705975" y="5057775"/>
            <a:ext cx="7397306" cy="1500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诚信、梦想、微笑、创意，本身不是一件事。备课时老师有一个担心：这几个词写起来，会不会只剩下道理？</a:t>
            </a:r>
            <a:endParaRPr lang="en-US" sz="2400" dirty="0"/>
          </a:p>
        </p:txBody>
      </p:sp>
      <p:sp>
        <p:nvSpPr>
          <p:cNvPr id="35" name="Shape 30"/>
          <p:cNvSpPr/>
          <p:nvPr/>
        </p:nvSpPr>
        <p:spPr>
          <a:xfrm>
            <a:off x="1047750" y="8042970"/>
            <a:ext cx="16192500" cy="1005780"/>
          </a:xfrm>
          <a:prstGeom prst="roundRect">
            <a:avLst>
              <a:gd name="adj" fmla="val 17046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36" name="Text 31"/>
          <p:cNvSpPr/>
          <p:nvPr/>
        </p:nvSpPr>
        <p:spPr>
          <a:xfrm>
            <a:off x="1466850" y="8309670"/>
            <a:ext cx="168897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请觉得不会的同学说一说理由，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举出一件事来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：是什么时候，发生了什么，后来怎么样。</a:t>
            </a:r>
            <a:endParaRPr lang="en-US" sz="2400" dirty="0"/>
          </a:p>
        </p:txBody>
      </p:sp>
      <p:sp>
        <p:nvSpPr>
          <p:cNvPr id="37" name="Text 32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微笑、诚信、梦想这些词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也有事可写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，只是那件事要自己去找。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选定话题词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56595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50052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在稿纸右上角记两组：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一个词，加上那件事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24200"/>
            <a:ext cx="9133808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做得到、用得上的词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：运动、旅行、种花、科技，或者自己想的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41483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49103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491038"/>
            <a:ext cx="9133808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再选一个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看不见的词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：微笑、诚信、梦想、创意，或者自己想的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78167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85787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857875"/>
            <a:ext cx="9133808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每个词后面，写一件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自己身上真的发生过的事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，只记关键词，不写句子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005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090470"/>
            <a:ext cx="16192500" cy="1005780"/>
          </a:xfrm>
          <a:prstGeom prst="roundRect">
            <a:avLst>
              <a:gd name="adj" fmla="val 17046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66850" y="7357170"/>
            <a:ext cx="1688973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像这样记：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种花 · 阳台上那盆薄荷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诚信 · 数学考试那次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。想不出第二个词的，先记一个。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1047750" y="7705725"/>
            <a:ext cx="161925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428750" y="7934325"/>
            <a:ext cx="1589341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同桌互说一分钟：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一人说自己记的那件事，再加一句，那件事里记得最清楚的一个画面是什么；另一人只答一句，听清了是哪一件事，或者没有听清。</a:t>
            </a:r>
            <a:endParaRPr lang="en-US" sz="2325" dirty="0"/>
          </a:p>
        </p:txBody>
      </p:sp>
      <p:sp>
        <p:nvSpPr>
          <p:cNvPr id="21" name="Text 17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记事，不记词：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哪一天的哪一件事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，说得出来，这个词才算选定了。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85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42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读第一段，数一数：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一共写了几件事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1940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横线上填的是“运动”。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333750"/>
            <a:ext cx="16192500" cy="3093244"/>
          </a:xfrm>
          <a:prstGeom prst="roundRect">
            <a:avLst>
              <a:gd name="adj" fmla="val 5543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581150" y="3714750"/>
            <a:ext cx="15579471" cy="236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647700" marL="0">
              <a:lnSpc>
                <a:spcPct val="136000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让我的生活更美好。每天早上六点，我在小区里跑两圈，跑完浑身是汗，一整天都有精神。周末爸爸带我去打羽毛球，我的球技越来越好，还认识了两个球友。考试考砸了，我就去操场跑几圈，跑完心里就舒服多了。运动还让我变得自律，再冷的天我也能爬起来。运动的好处太多了，它让我的身体更棒，心情更好，朋友更多。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47750" y="7458075"/>
            <a:ext cx="7962900" cy="1400175"/>
          </a:xfrm>
          <a:prstGeom prst="roundRect">
            <a:avLst>
              <a:gd name="adj" fmla="val 10884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62075" y="7715250"/>
            <a:ext cx="755427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四件事都是真的，每一件也都写了一点样子：六点起床、认识两个球友、跑完心里舒服。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9277350" y="7458075"/>
            <a:ext cx="7962900" cy="1400175"/>
          </a:xfrm>
          <a:prstGeom prst="roundRect">
            <a:avLst>
              <a:gd name="adj" fmla="val 10884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591675" y="7715250"/>
            <a:ext cx="755427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可是没有一件写到： 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运动之前他是什么样，运动之后变成了什么样。</a:t>
            </a:r>
            <a:endParaRPr lang="en-US" sz="2325" dirty="0"/>
          </a:p>
        </p:txBody>
      </p:sp>
      <p:sp>
        <p:nvSpPr>
          <p:cNvPr id="14" name="Text 1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这一段回答了四次，每次都是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“因为运动有好处”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41303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1632317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读第二段，找三样：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以前怎样，现在怎样，哪一处真的变了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横线上也填“运动”。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371850"/>
            <a:ext cx="16192500" cy="3093244"/>
          </a:xfrm>
          <a:prstGeom prst="roundRect">
            <a:avLst>
              <a:gd name="adj" fmla="val 5543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581150" y="3752850"/>
            <a:ext cx="15579471" cy="2369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647700" marL="0">
              <a:lnSpc>
                <a:spcPct val="136000"/>
              </a:lnSpc>
              <a:buNone/>
            </a:pPr>
            <a:r>
              <a:rPr lang="en-US" sz="25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去年体测，一分钟跳绳我只跳了六十三个，绳子老是绊脚，班里倒数。 </a:t>
            </a:r>
            <a:pPr algn="l" indent="647700" marL="0">
              <a:lnSpc>
                <a:spcPct val="136000"/>
              </a:lnSpc>
              <a:buNone/>
            </a:pPr>
            <a:r>
              <a:rPr lang="en-US" sz="25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从那以后每天晚饭后，我在楼下跳十分钟，妈妈拿手机计时。一开始跳二十个就要停，绳子抽在小腿上，一道一道的红印。 </a:t>
            </a:r>
            <a:pPr algn="l" indent="647700" marL="0">
              <a:lnSpc>
                <a:spcPct val="136000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跳到第三个星期，有一天绳子忽然不绊脚了，我听见妈妈在旁边数：一百，一百零一……她数到一百三十六才停。 </a:t>
            </a:r>
            <a:pPr algn="l" indent="647700" marL="0">
              <a:lnSpc>
                <a:spcPct val="136000"/>
              </a:lnSpc>
              <a:buNone/>
            </a:pPr>
            <a:r>
              <a:rPr lang="en-US" sz="25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今年体测，我跳了一百七十个。现在放学一到家，我先把绳子拿出来，不用谁叫。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47750" y="7791450"/>
            <a:ext cx="5219700" cy="1257300"/>
          </a:xfrm>
          <a:prstGeom prst="roundRect">
            <a:avLst>
              <a:gd name="adj" fmla="val 1212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43025" y="8029575"/>
            <a:ext cx="476802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以前怎样 </a:t>
            </a:r>
            <a:pPr algn="l" indent="0" marL="0"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六十三个，绳子绊脚，班里倒数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6534150" y="7791450"/>
            <a:ext cx="5219700" cy="1257300"/>
          </a:xfrm>
          <a:prstGeom prst="roundRect">
            <a:avLst>
              <a:gd name="adj" fmla="val 1212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829425" y="8029575"/>
            <a:ext cx="4768025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变过来的那一刻 </a:t>
            </a:r>
            <a:pPr algn="l" indent="0" marL="0"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妈妈数到一百三十六</a:t>
            </a:r>
            <a:endParaRPr lang="en-US" sz="2325" dirty="0"/>
          </a:p>
        </p:txBody>
      </p:sp>
      <p:sp>
        <p:nvSpPr>
          <p:cNvPr id="14" name="Shape 11"/>
          <p:cNvSpPr/>
          <p:nvPr/>
        </p:nvSpPr>
        <p:spPr>
          <a:xfrm>
            <a:off x="12020550" y="7791450"/>
            <a:ext cx="5219700" cy="1257300"/>
          </a:xfrm>
          <a:prstGeom prst="roundRect">
            <a:avLst>
              <a:gd name="adj" fmla="val 1212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315825" y="8029575"/>
            <a:ext cx="509206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现在怎样 </a:t>
            </a:r>
            <a:pPr algn="l" indent="0" marL="0"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一百七十个，不用谁叫</a:t>
            </a:r>
            <a:endParaRPr lang="en-US" sz="2325" dirty="0"/>
          </a:p>
        </p:txBody>
      </p:sp>
      <p:sp>
        <p:nvSpPr>
          <p:cNvPr id="16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这一段只回答了一次，回答的是：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运动把一个班里倒数的孩子，变成了跳一百七十个的孩子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今天学一个写法：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用一件事作证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143250"/>
            <a:ext cx="6096000" cy="5715000"/>
          </a:xfrm>
          <a:prstGeom prst="roundRect">
            <a:avLst>
              <a:gd name="adj" fmla="val 3667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48740" y="4720679"/>
            <a:ext cx="5494020" cy="2598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827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用一件事 作证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8001000" y="34290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362950" y="3295650"/>
            <a:ext cx="678942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横线上填的那一项，要请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一件事替它作证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8001000" y="42862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362950" y="4152900"/>
            <a:ext cx="867537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这件事里要看得出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以前和现在的不同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，两边都要写到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8001000" y="51435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362950" y="5010150"/>
            <a:ext cx="914361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变过来的那一刻写细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，只写看得见的，用动作替情绪词</a:t>
            </a:r>
            <a:endParaRPr lang="en-US" sz="2700" dirty="0"/>
          </a:p>
        </p:txBody>
      </p:sp>
      <p:sp>
        <p:nvSpPr>
          <p:cNvPr id="16" name="Shape 13"/>
          <p:cNvSpPr/>
          <p:nvPr/>
        </p:nvSpPr>
        <p:spPr>
          <a:xfrm>
            <a:off x="8001000" y="65151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62950" y="6381750"/>
            <a:ext cx="641223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写两件事也可以，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每一件都要写出不同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横线上填什么不难，难的是写清楚“为什么”：不是把好处列一遍，是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用一件事写出它把生活变好的样子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31212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492131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选事的办法：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拿掉试一试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43200"/>
            <a:ext cx="16192500" cy="1495425"/>
          </a:xfrm>
          <a:prstGeom prst="roundRect">
            <a:avLst>
              <a:gd name="adj" fmla="val 1019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990850"/>
            <a:ext cx="1589341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只问一句话：把横线上那一项拿掉，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美好的结果还在不在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。不在，这件事可以写；还在，换一件事，或者换横线上的词。</a:t>
            </a:r>
            <a:endParaRPr lang="en-US" sz="2625" dirty="0"/>
          </a:p>
        </p:txBody>
      </p:sp>
      <p:sp>
        <p:nvSpPr>
          <p:cNvPr id="9" name="Shape 6"/>
          <p:cNvSpPr/>
          <p:nvPr/>
        </p:nvSpPr>
        <p:spPr>
          <a:xfrm>
            <a:off x="1047750" y="4095750"/>
            <a:ext cx="7886700" cy="2741116"/>
          </a:xfrm>
          <a:prstGeom prst="roundRect">
            <a:avLst>
              <a:gd name="adj" fmla="val 6255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57275" y="4105275"/>
            <a:ext cx="7867650" cy="733425"/>
          </a:xfrm>
          <a:custGeom>
            <a:avLst/>
            <a:gdLst/>
            <a:ahLst/>
            <a:cxnLst/>
            <a:rect l="l" t="t" r="r" b="b"/>
            <a:pathLst>
              <a:path w="7867650" h="733425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33425"/>
                </a:lnTo>
                <a:lnTo>
                  <a:pt x="0" y="733425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362075" y="4276725"/>
            <a:ext cx="79838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跳绳那一件：拿掉“跳绳”</a:t>
            </a:r>
            <a:endParaRPr lang="en-US" sz="2325" dirty="0"/>
          </a:p>
        </p:txBody>
      </p:sp>
      <p:sp>
        <p:nvSpPr>
          <p:cNvPr id="13" name="Shape 9"/>
          <p:cNvSpPr/>
          <p:nvPr/>
        </p:nvSpPr>
        <p:spPr>
          <a:xfrm>
            <a:off x="1057275" y="4838700"/>
            <a:ext cx="7867650" cy="1988641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381125" y="5124450"/>
            <a:ext cx="7436549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一百七十个就不在了。没有绳子，就没有那个数字，也没有“不用谁叫”。 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这件事可以写。</a:t>
            </a:r>
            <a:endParaRPr lang="en-US" sz="2325" dirty="0"/>
          </a:p>
        </p:txBody>
      </p:sp>
      <p:sp>
        <p:nvSpPr>
          <p:cNvPr id="15" name="Shape 11"/>
          <p:cNvSpPr/>
          <p:nvPr/>
        </p:nvSpPr>
        <p:spPr>
          <a:xfrm>
            <a:off x="9353550" y="4095750"/>
            <a:ext cx="7886700" cy="2741116"/>
          </a:xfrm>
          <a:prstGeom prst="roundRect">
            <a:avLst>
              <a:gd name="adj" fmla="val 6255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9363075" y="4105275"/>
            <a:ext cx="7867650" cy="733425"/>
          </a:xfrm>
          <a:custGeom>
            <a:avLst/>
            <a:gdLst/>
            <a:ahLst/>
            <a:cxnLst/>
            <a:rect l="l" t="t" r="r" b="b"/>
            <a:pathLst>
              <a:path w="7867650" h="733425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33425"/>
                </a:lnTo>
                <a:lnTo>
                  <a:pt x="0" y="733425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667875" y="4276725"/>
            <a:ext cx="79838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转学那一件：拿掉后桌那一笑</a:t>
            </a:r>
            <a:endParaRPr lang="en-US" sz="2325" dirty="0"/>
          </a:p>
        </p:txBody>
      </p:sp>
      <p:sp>
        <p:nvSpPr>
          <p:cNvPr id="19" name="Shape 14"/>
          <p:cNvSpPr/>
          <p:nvPr/>
        </p:nvSpPr>
        <p:spPr>
          <a:xfrm>
            <a:off x="9363075" y="4838700"/>
            <a:ext cx="7867650" cy="1988641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9686925" y="5124450"/>
            <a:ext cx="7436549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转学照样转，一上午没人说话照样有，可是敢问她借橡皮、后来成了朋友，就都不在了。 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这件事也可以写。</a:t>
            </a:r>
            <a:endParaRPr lang="en-US" sz="2325" dirty="0"/>
          </a:p>
        </p:txBody>
      </p:sp>
      <p:sp>
        <p:nvSpPr>
          <p:cNvPr id="21" name="Shape 16"/>
          <p:cNvSpPr/>
          <p:nvPr/>
        </p:nvSpPr>
        <p:spPr>
          <a:xfrm>
            <a:off x="1047750" y="7186613"/>
            <a:ext cx="7962900" cy="1862138"/>
          </a:xfrm>
          <a:prstGeom prst="roundRect">
            <a:avLst>
              <a:gd name="adj" fmla="val 920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1409700" y="7453312"/>
            <a:ext cx="745617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看不见的词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微笑、诚信、梦想多半是这样：事情照样发生，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变化落在人上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，别人怎么对你，你怎么对自己。</a:t>
            </a:r>
            <a:endParaRPr lang="en-US" sz="2250" dirty="0"/>
          </a:p>
        </p:txBody>
      </p:sp>
      <p:sp>
        <p:nvSpPr>
          <p:cNvPr id="23" name="Shape 18"/>
          <p:cNvSpPr/>
          <p:nvPr/>
        </p:nvSpPr>
        <p:spPr>
          <a:xfrm>
            <a:off x="9277350" y="7186613"/>
            <a:ext cx="7962900" cy="1862138"/>
          </a:xfrm>
          <a:prstGeom prst="roundRect">
            <a:avLst>
              <a:gd name="adj" fmla="val 920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9639300" y="7453312"/>
            <a:ext cx="7456170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太大的词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科技、创意整个拿掉无法试，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先缩小到一件事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：写“坐高铁去爷爷奶奶家快了两个小时”，缩小以后再试。</a:t>
            </a:r>
            <a:endParaRPr lang="en-US" sz="2250" dirty="0"/>
          </a:p>
        </p:txBody>
      </p:sp>
      <p:sp>
        <p:nvSpPr>
          <p:cNvPr id="25" name="Text 2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稿纸角上记了两组的同学，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各自拿掉试一试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，留下结果就不在的那一组。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786193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984279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三种结尾，哪一种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像是跳绳那个孩子自己说出来的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三种结尾都接在第二段“不用谁叫”之后。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352800"/>
            <a:ext cx="1428750" cy="1294209"/>
          </a:xfrm>
          <a:prstGeom prst="roundRect">
            <a:avLst>
              <a:gd name="adj" fmla="val 1030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476375" y="3809405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版一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2724150" y="3352800"/>
            <a:ext cx="14516100" cy="1294209"/>
          </a:xfrm>
          <a:prstGeom prst="roundRect">
            <a:avLst>
              <a:gd name="adj" fmla="val 1177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3057525" y="3571875"/>
            <a:ext cx="14264831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现在放学一到家，我先把绳子拿出来，不用谁叫。（到这里结束） </a:t>
            </a:r>
            <a:pPr algn="l" indent="0" marL="0">
              <a:lnSpc>
                <a:spcPct val="115256"/>
              </a:lnSpc>
              <a:buNone/>
            </a:pPr>
            <a:r>
              <a:rPr lang="en-US" sz="21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停在最后一个动作上，读的人自己能懂。</a:t>
            </a:r>
            <a:endParaRPr lang="en-US" sz="2175" dirty="0"/>
          </a:p>
        </p:txBody>
      </p:sp>
      <p:sp>
        <p:nvSpPr>
          <p:cNvPr id="13" name="Shape 9"/>
          <p:cNvSpPr/>
          <p:nvPr/>
        </p:nvSpPr>
        <p:spPr>
          <a:xfrm>
            <a:off x="1047750" y="4837509"/>
            <a:ext cx="1428750" cy="1294209"/>
          </a:xfrm>
          <a:prstGeom prst="roundRect">
            <a:avLst>
              <a:gd name="adj" fmla="val 1030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1476375" y="5294114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版二</a:t>
            </a:r>
            <a:endParaRPr lang="en-US" sz="2250" dirty="0"/>
          </a:p>
        </p:txBody>
      </p:sp>
      <p:sp>
        <p:nvSpPr>
          <p:cNvPr id="16" name="Shape 11"/>
          <p:cNvSpPr/>
          <p:nvPr/>
        </p:nvSpPr>
        <p:spPr>
          <a:xfrm>
            <a:off x="2724150" y="4837509"/>
            <a:ext cx="14516100" cy="1294209"/>
          </a:xfrm>
          <a:prstGeom prst="roundRect">
            <a:avLst>
              <a:gd name="adj" fmla="val 1177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3057525" y="5056584"/>
            <a:ext cx="14264831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……现在我知道了，运动让生活更美好，它把一个要人叫的孩子，变成了一个自己拿绳子的孩子。 </a:t>
            </a:r>
            <a:pPr algn="l" indent="0" marL="0">
              <a:lnSpc>
                <a:spcPct val="115256"/>
              </a:lnSpc>
              <a:buNone/>
            </a:pPr>
            <a:r>
              <a:rPr lang="en-US" sz="21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多了一句感受，这感受是从跳绳这件事里来的。</a:t>
            </a:r>
            <a:endParaRPr lang="en-US" sz="2175" dirty="0"/>
          </a:p>
        </p:txBody>
      </p:sp>
      <p:sp>
        <p:nvSpPr>
          <p:cNvPr id="18" name="Shape 13"/>
          <p:cNvSpPr/>
          <p:nvPr/>
        </p:nvSpPr>
        <p:spPr>
          <a:xfrm>
            <a:off x="1047750" y="6322219"/>
            <a:ext cx="1428750" cy="1294209"/>
          </a:xfrm>
          <a:prstGeom prst="roundRect">
            <a:avLst>
              <a:gd name="adj" fmla="val 10304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0" name="Text 14"/>
          <p:cNvSpPr/>
          <p:nvPr/>
        </p:nvSpPr>
        <p:spPr>
          <a:xfrm>
            <a:off x="1476375" y="6778823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版三</a:t>
            </a:r>
            <a:endParaRPr lang="en-US" sz="2250" dirty="0"/>
          </a:p>
        </p:txBody>
      </p:sp>
      <p:sp>
        <p:nvSpPr>
          <p:cNvPr id="21" name="Shape 15"/>
          <p:cNvSpPr/>
          <p:nvPr/>
        </p:nvSpPr>
        <p:spPr>
          <a:xfrm>
            <a:off x="2724150" y="6322219"/>
            <a:ext cx="14516100" cy="1294209"/>
          </a:xfrm>
          <a:prstGeom prst="roundRect">
            <a:avLst>
              <a:gd name="adj" fmla="val 11776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/>
          <p:nvPr/>
        </p:nvSpPr>
        <p:spPr>
          <a:xfrm>
            <a:off x="3057525" y="6541294"/>
            <a:ext cx="14264831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……运动让生活更美好！生命在于运动，让我们每一个人都动起来，从每一天做起，拥抱健康，拥抱美好的明天！ </a:t>
            </a:r>
            <a:pPr algn="l" indent="0" marL="0">
              <a:lnSpc>
                <a:spcPct val="115256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后面三句换成“读书让生活更美好”照样能用，不是从这件事里来的。</a:t>
            </a:r>
            <a:endParaRPr lang="en-US" sz="2175" dirty="0"/>
          </a:p>
        </p:txBody>
      </p:sp>
      <p:sp>
        <p:nvSpPr>
          <p:cNvPr id="23" name="Shape 17"/>
          <p:cNvSpPr/>
          <p:nvPr/>
        </p:nvSpPr>
        <p:spPr>
          <a:xfrm>
            <a:off x="1047750" y="7800975"/>
            <a:ext cx="161925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1428750" y="8029575"/>
            <a:ext cx="1589341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结尾写感受可以，点题也可以，“美好”两个字、题目那句话都可以写，只有一条要求： 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说的必须是你这件事，不是谁都能喊的口号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25" name="Text 19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版一和版二两种写法都对，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动笔时自己选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90552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447405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写这篇习作，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做三件事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38500"/>
            <a:ext cx="514350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657600"/>
            <a:ext cx="473583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62"/>
              </a:lnSpc>
              <a:buNone/>
            </a:pPr>
            <a:r>
              <a:rPr lang="en-US" sz="66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600" dirty="0"/>
          </a:p>
        </p:txBody>
      </p:sp>
      <p:sp>
        <p:nvSpPr>
          <p:cNvPr id="9" name="Text 6"/>
          <p:cNvSpPr/>
          <p:nvPr/>
        </p:nvSpPr>
        <p:spPr>
          <a:xfrm>
            <a:off x="1466850" y="4724400"/>
            <a:ext cx="4434459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把横线上那一项定下来，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拿掉试一试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：把它拿掉，美好的结果还在不在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6572250" y="3238500"/>
            <a:ext cx="514350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91350" y="3657600"/>
            <a:ext cx="473583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62"/>
              </a:lnSpc>
              <a:buNone/>
            </a:pPr>
            <a:r>
              <a:rPr lang="en-US" sz="66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600" dirty="0"/>
          </a:p>
        </p:txBody>
      </p:sp>
      <p:sp>
        <p:nvSpPr>
          <p:cNvPr id="12" name="Text 9"/>
          <p:cNvSpPr/>
          <p:nvPr/>
        </p:nvSpPr>
        <p:spPr>
          <a:xfrm>
            <a:off x="6991350" y="4724400"/>
            <a:ext cx="4434459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选一件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看得出以前和现在不同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的事作证，把变过来的那一刻写细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2096750" y="3238500"/>
            <a:ext cx="514350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515850" y="3657600"/>
            <a:ext cx="473583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62"/>
              </a:lnSpc>
              <a:buNone/>
            </a:pPr>
            <a:r>
              <a:rPr lang="en-US" sz="66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6600" dirty="0"/>
          </a:p>
        </p:txBody>
      </p:sp>
      <p:sp>
        <p:nvSpPr>
          <p:cNvPr id="15" name="Text 12"/>
          <p:cNvSpPr/>
          <p:nvPr/>
        </p:nvSpPr>
        <p:spPr>
          <a:xfrm>
            <a:off x="12515850" y="4724400"/>
            <a:ext cx="4434459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事讲完，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结尾两种收法自己选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：写自己从这件事里得到的感受，或者停在最后一个动作上</a:t>
            </a:r>
            <a:endParaRPr lang="en-US" sz="2625" dirty="0"/>
          </a:p>
        </p:txBody>
      </p:sp>
      <p:sp>
        <p:nvSpPr>
          <p:cNvPr id="16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三件事里，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第二件最花工夫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：事选准了，这一篇就立住了。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事例作证表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71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事例作证表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116300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一共四格，只写关键词，不写句子（先看老师填的那一张，横线上填的是“诚信”）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4171950"/>
          </a:xfrm>
          <a:prstGeom prst="roundRect">
            <a:avLst>
              <a:gd name="adj" fmla="val 3196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16173450" cy="7620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57525"/>
            <a:ext cx="582549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962775" y="2867025"/>
            <a:ext cx="9525" cy="7620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277100" y="3057525"/>
            <a:ext cx="1061370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629025"/>
            <a:ext cx="16173450" cy="8477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857625"/>
            <a:ext cx="58254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横线上填什么</a:t>
            </a:r>
            <a:endParaRPr lang="en-US" sz="2325" dirty="0"/>
          </a:p>
        </p:txBody>
      </p:sp>
      <p:sp>
        <p:nvSpPr>
          <p:cNvPr id="14" name="Shape 11"/>
          <p:cNvSpPr/>
          <p:nvPr/>
        </p:nvSpPr>
        <p:spPr>
          <a:xfrm>
            <a:off x="6962775" y="3629025"/>
            <a:ext cx="9525" cy="8477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277100" y="3857625"/>
            <a:ext cx="1061370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诚信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1057275" y="4476750"/>
            <a:ext cx="16173450" cy="847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705350"/>
            <a:ext cx="58254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作证的那件事（什么时候 · 起因）</a:t>
            </a:r>
            <a:endParaRPr lang="en-US" sz="2325" dirty="0"/>
          </a:p>
        </p:txBody>
      </p:sp>
      <p:sp>
        <p:nvSpPr>
          <p:cNvPr id="18" name="Shape 15"/>
          <p:cNvSpPr/>
          <p:nvPr/>
        </p:nvSpPr>
        <p:spPr>
          <a:xfrm>
            <a:off x="6962775" y="4476750"/>
            <a:ext cx="9525" cy="8477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277100" y="4705350"/>
            <a:ext cx="1061370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五年级下学期 · 借小林的书 · 橘子汁滴在书上</a:t>
            </a:r>
            <a:endParaRPr lang="en-US" sz="2325" dirty="0"/>
          </a:p>
        </p:txBody>
      </p:sp>
      <p:sp>
        <p:nvSpPr>
          <p:cNvPr id="20" name="Shape 17"/>
          <p:cNvSpPr/>
          <p:nvPr/>
        </p:nvSpPr>
        <p:spPr>
          <a:xfrm>
            <a:off x="1057275" y="5324475"/>
            <a:ext cx="16173450" cy="8477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553075"/>
            <a:ext cx="58254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以前怎样 → 现在怎样</a:t>
            </a:r>
            <a:endParaRPr lang="en-US" sz="2325" dirty="0"/>
          </a:p>
        </p:txBody>
      </p:sp>
      <p:sp>
        <p:nvSpPr>
          <p:cNvPr id="22" name="Shape 19"/>
          <p:cNvSpPr/>
          <p:nvPr/>
        </p:nvSpPr>
        <p:spPr>
          <a:xfrm>
            <a:off x="6962775" y="5324475"/>
            <a:ext cx="9525" cy="8477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277100" y="5553075"/>
            <a:ext cx="1061370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他的书从来不外借，磨了一星期才借到 → 新书第二天放我桌上</a:t>
            </a:r>
            <a:endParaRPr lang="en-US" sz="2325" dirty="0"/>
          </a:p>
        </p:txBody>
      </p:sp>
      <p:sp>
        <p:nvSpPr>
          <p:cNvPr id="24" name="Shape 21"/>
          <p:cNvSpPr/>
          <p:nvPr/>
        </p:nvSpPr>
        <p:spPr>
          <a:xfrm>
            <a:off x="1057275" y="6172200"/>
            <a:ext cx="16173450" cy="847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6400800"/>
            <a:ext cx="58254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变过来的那一刻（看得见的画面）</a:t>
            </a:r>
            <a:endParaRPr lang="en-US" sz="2325" dirty="0"/>
          </a:p>
        </p:txBody>
      </p:sp>
      <p:sp>
        <p:nvSpPr>
          <p:cNvPr id="26" name="Shape 23"/>
          <p:cNvSpPr/>
          <p:nvPr/>
        </p:nvSpPr>
        <p:spPr>
          <a:xfrm>
            <a:off x="6962775" y="6172200"/>
            <a:ext cx="9525" cy="8477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277100" y="6400800"/>
            <a:ext cx="1061370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星期一早上 · 我翻开第九十六页给他看 · 手心全是汗</a:t>
            </a:r>
            <a:endParaRPr lang="en-US" sz="2325" dirty="0"/>
          </a:p>
        </p:txBody>
      </p:sp>
      <p:sp>
        <p:nvSpPr>
          <p:cNvPr id="28" name="Shape 25"/>
          <p:cNvSpPr/>
          <p:nvPr/>
        </p:nvSpPr>
        <p:spPr>
          <a:xfrm>
            <a:off x="1047750" y="7600057"/>
            <a:ext cx="1619250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466850" y="7866757"/>
            <a:ext cx="15814929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第四格只填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看得见的画面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：哪一天，翻开哪一页，手怎么样。“紧张”“害怕”这样的词不填在这里，填手心，填那一页。</a:t>
            </a:r>
            <a:endParaRPr lang="en-US" sz="2325" dirty="0"/>
          </a:p>
        </p:txBody>
      </p:sp>
      <p:sp>
        <p:nvSpPr>
          <p:cNvPr id="30" name="Text 27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第三格的箭头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两边都要有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，缺一边，读的人就看不出变化。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事例作证表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71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26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轮到你填表：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第二、三、四格不能少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21945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219450"/>
            <a:ext cx="9133808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稿纸角上那两组，先各自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拿掉试一试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，结果就不在的那一组填进第一、二格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51008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58628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586288"/>
            <a:ext cx="9133808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构思的办法自己选：照这张表填、在稿纸背面列提纲、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给这张表加格子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都可以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8769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95312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953125"/>
            <a:ext cx="9133808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不管用哪种办法，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那件事、以前和现在、那一刻这三样必须有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005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705725"/>
            <a:ext cx="161925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7934325"/>
            <a:ext cx="1589341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填完自查两处：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第三格箭头两边是不是都填了，只填一边的补上另一边；第二格那件事再拿掉试一次，好结果还在的，换稿纸角上另一组。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少了哪一格，下节课动笔多半就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写成一篇列好处的习作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8896499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894794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老师按这张表写成的一篇：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诚信让生活更美好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343150"/>
            <a:ext cx="16192500" cy="6800850"/>
          </a:xfrm>
          <a:prstGeom prst="roundRect">
            <a:avLst>
              <a:gd name="adj" fmla="val 2521"/>
            </a:avLst>
          </a:prstGeom>
          <a:solidFill>
            <a:srgbClr val="F7F5F2"/>
          </a:solidFill>
          <a:ln/>
        </p:spPr>
      </p:sp>
      <p:sp>
        <p:nvSpPr>
          <p:cNvPr id="8" name="Text 5"/>
          <p:cNvSpPr/>
          <p:nvPr/>
        </p:nvSpPr>
        <p:spPr>
          <a:xfrm>
            <a:off x="1600200" y="2667000"/>
            <a:ext cx="16596360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7297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诚信让生活更美好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600200" y="3213646"/>
            <a:ext cx="15540228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7297"/>
              </a:lnSpc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小林的书从来不外借。他那本《昆虫记》，封面包着牛皮纸，扉页上有他爸爸写的一行字。 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五年级下学期，我磨了他一个星期，他才答应借我三天， 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把书递过来的时候还说了一句：“别折角。”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600200" y="4154537"/>
            <a:ext cx="15540228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天晚上，我趴在床上看蝎子那一章，手边放着一个剥开的橘子。看到蝎子和对手打起来那一段，我一激动，手一抖，咬过一口的那半瓣橘子掉在了书上。橘子汁渗进纸里，一整页皱了起来，黄了一大块，后面两页也印上了印子。我用纸巾擦，越擦越皱。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600200" y="5508724"/>
            <a:ext cx="15540228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我把书合上，坐了很久。妈妈说，书店里有一模一样的，买一本新的还给他就行。我想，新书也拿牛皮纸包上，他也许看不出来。 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可是新书的扉页上，没有他爸爸写的那行字。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47750" y="9410700"/>
            <a:ext cx="28112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以前怎样 · 现在怎样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3984427" y="9410700"/>
            <a:ext cx="22354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变过来的那一刻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6397675" y="9410700"/>
            <a:ext cx="25183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结尾的感受与点题</a:t>
            </a:r>
            <a:endParaRPr lang="en-US" sz="20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7269659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71584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接着读：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那一刻，和事讲完的那一段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343150"/>
            <a:ext cx="16192500" cy="6800850"/>
          </a:xfrm>
          <a:prstGeom prst="roundRect">
            <a:avLst>
              <a:gd name="adj" fmla="val 2521"/>
            </a:avLst>
          </a:prstGeom>
          <a:solidFill>
            <a:srgbClr val="F7F5F2"/>
          </a:solidFill>
          <a:ln/>
        </p:spPr>
      </p:sp>
      <p:sp>
        <p:nvSpPr>
          <p:cNvPr id="8" name="Text 5"/>
          <p:cNvSpPr/>
          <p:nvPr/>
        </p:nvSpPr>
        <p:spPr>
          <a:xfrm>
            <a:off x="1600200" y="2667000"/>
            <a:ext cx="15540228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7297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期一早上，我把书放在小林桌上。他刚要翻开，我先开了口：“小林，对不起，第九十六页我弄脏了，是橘子汁，我擦了半天也没擦掉。”我把那一页翻给他看。小林盯着那块黄印子，没有说话。我的手心全是汗，手指头把衣角攥出了一道褶子。过了一会儿，他把书合上，说：“下回吃东西，别看书。”然后把书放进了抽屉。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600200" y="4021187"/>
            <a:ext cx="15540228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7297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从那以后， </a:t>
            </a:r>
            <a:pPr algn="just" indent="533400" marL="0">
              <a:lnSpc>
                <a:spcPct val="117297"/>
              </a:lnSpc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小林再借书给我，再也不用我软磨硬泡了。上个月他买了一本新的昆虫图鉴，买回来第二天就放在我桌上，说：“看完说一声。”再借他的书看，我手边什么吃的都不敢放了。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600200" y="4962079"/>
            <a:ext cx="15540228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533400" marL="0">
              <a:lnSpc>
                <a:spcPct val="117297"/>
              </a:lnSpc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来我想明白了，诚信让生活更美好，并不只是一句好听的话。坦白说出实话之后，小林愿意放心地把书借给我，再也没有顾虑。我也不用在心里反复琢磨，要不要买本新书伪装、怕被他发现。《昆虫记》上那块橘子汁留下的黄印永远消不掉，但周一早上那句坦诚的道歉，比一本崭新的书更有意义。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47750" y="9410700"/>
            <a:ext cx="28112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以前怎样 · 现在怎样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3984427" y="9410700"/>
            <a:ext cx="22354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变过来的那一刻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6397675" y="9410700"/>
            <a:ext cx="25183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结尾的感受与点题</a:t>
            </a:r>
            <a:endParaRPr lang="en-US" sz="20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09217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357937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读完回答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两个问题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788670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429000"/>
            <a:ext cx="725995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问题① 表上第四格只有二十来个字，文章里写那一刻用了几句？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466850" y="4533900"/>
            <a:ext cx="3714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325" dirty="0"/>
          </a:p>
        </p:txBody>
      </p:sp>
      <p:sp>
        <p:nvSpPr>
          <p:cNvPr id="10" name="Text 7"/>
          <p:cNvSpPr/>
          <p:nvPr/>
        </p:nvSpPr>
        <p:spPr>
          <a:xfrm>
            <a:off x="1895475" y="4533900"/>
            <a:ext cx="714565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写成了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一整段，七句话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，是全篇写得最细致的地方</a:t>
            </a:r>
            <a:endParaRPr lang="en-US" sz="2325" dirty="0"/>
          </a:p>
        </p:txBody>
      </p:sp>
      <p:sp>
        <p:nvSpPr>
          <p:cNvPr id="11" name="Text 8"/>
          <p:cNvSpPr/>
          <p:nvPr/>
        </p:nvSpPr>
        <p:spPr>
          <a:xfrm>
            <a:off x="1466850" y="5167313"/>
            <a:ext cx="37147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325" dirty="0"/>
          </a:p>
        </p:txBody>
      </p:sp>
      <p:sp>
        <p:nvSpPr>
          <p:cNvPr id="12" name="Text 9"/>
          <p:cNvSpPr/>
          <p:nvPr/>
        </p:nvSpPr>
        <p:spPr>
          <a:xfrm>
            <a:off x="1895475" y="5167313"/>
            <a:ext cx="681847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写得细的几句，没有写“我很紧张”“他原谅了我”，写的是 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手心、那一页、他递书时说的话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9353550" y="3048000"/>
            <a:ext cx="788670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72650" y="3429000"/>
            <a:ext cx="77533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问题② 哪一段在表上没有对应的格子？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9772650" y="4105275"/>
            <a:ext cx="37147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325" dirty="0"/>
          </a:p>
        </p:txBody>
      </p:sp>
      <p:sp>
        <p:nvSpPr>
          <p:cNvPr id="16" name="Text 13"/>
          <p:cNvSpPr/>
          <p:nvPr/>
        </p:nvSpPr>
        <p:spPr>
          <a:xfrm>
            <a:off x="10201275" y="4105275"/>
            <a:ext cx="681847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最后一段。它是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事讲完以后加上去的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，写的是自己的感受，也是结尾的点题</a:t>
            </a:r>
            <a:endParaRPr lang="en-US" sz="2325" dirty="0"/>
          </a:p>
        </p:txBody>
      </p:sp>
      <p:sp>
        <p:nvSpPr>
          <p:cNvPr id="17" name="Text 14"/>
          <p:cNvSpPr/>
          <p:nvPr/>
        </p:nvSpPr>
        <p:spPr>
          <a:xfrm>
            <a:off x="9772650" y="5181600"/>
            <a:ext cx="37147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10201275" y="5181600"/>
            <a:ext cx="681847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这些感受跟着的是 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小林借书这件事、那本想买来顶替的新书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，不是谁都能说的话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表上二十来个字，文章里写成一整段：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那一刻值得多花笔墨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各用了什么写法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81300"/>
            <a:ext cx="16192500" cy="6296025"/>
          </a:xfrm>
          <a:prstGeom prst="roundRect">
            <a:avLst>
              <a:gd name="adj" fmla="val 2118"/>
            </a:avLst>
          </a:prstGeom>
          <a:ln w="9525">
            <a:solidFill>
              <a:srgbClr val="DFE3E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7275" y="2790825"/>
            <a:ext cx="16173450" cy="714375"/>
          </a:xfrm>
          <a:prstGeom prst="rect">
            <a:avLst/>
          </a:prstGeom>
          <a:solidFill>
            <a:srgbClr val="3D4A63"/>
          </a:solidFill>
          <a:ln/>
        </p:spPr>
      </p:sp>
      <p:sp>
        <p:nvSpPr>
          <p:cNvPr id="9" name="Text 6"/>
          <p:cNvSpPr/>
          <p:nvPr/>
        </p:nvSpPr>
        <p:spPr>
          <a:xfrm>
            <a:off x="1343025" y="2962275"/>
            <a:ext cx="104565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</a:t>
            </a:r>
            <a:endParaRPr lang="en-US" sz="2175" dirty="0"/>
          </a:p>
        </p:txBody>
      </p:sp>
      <p:sp>
        <p:nvSpPr>
          <p:cNvPr id="10" name="Shape 7"/>
          <p:cNvSpPr/>
          <p:nvPr/>
        </p:nvSpPr>
        <p:spPr>
          <a:xfrm>
            <a:off x="11134725" y="2790825"/>
            <a:ext cx="9525" cy="71437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0" y="2962275"/>
            <a:ext cx="606647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这一句用了什么写法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1057275" y="3505200"/>
            <a:ext cx="16173450" cy="6953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3" name="Text 10"/>
          <p:cNvSpPr/>
          <p:nvPr/>
        </p:nvSpPr>
        <p:spPr>
          <a:xfrm>
            <a:off x="1343025" y="3676650"/>
            <a:ext cx="104565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封面包着牛皮纸，扉页上有他爸爸写的一行字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1134725" y="3505200"/>
            <a:ext cx="9525" cy="69532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0" y="3676650"/>
            <a:ext cx="60664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以前怎样：书从来不外借，先立起来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200525"/>
            <a:ext cx="16173450" cy="6953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17" name="Text 14"/>
          <p:cNvSpPr/>
          <p:nvPr/>
        </p:nvSpPr>
        <p:spPr>
          <a:xfrm>
            <a:off x="1343025" y="4371975"/>
            <a:ext cx="104565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可是新书的扉页上，没有他爸爸写的那行字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1134725" y="4200525"/>
            <a:ext cx="9525" cy="69532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0" y="4371975"/>
            <a:ext cx="60664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一个决定：两条路摆在眼前，选了哪一条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4895850"/>
            <a:ext cx="16173450" cy="6953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1343025" y="5067300"/>
            <a:ext cx="104565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“第九十六页我弄脏了，是橘子汁，我擦了半天也没擦掉。”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1134725" y="4895850"/>
            <a:ext cx="9525" cy="69532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0" y="5067300"/>
            <a:ext cx="60664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变过来的那一刻：说实话的那一句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5591175"/>
            <a:ext cx="16173450" cy="6953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5" name="Text 22"/>
          <p:cNvSpPr/>
          <p:nvPr/>
        </p:nvSpPr>
        <p:spPr>
          <a:xfrm>
            <a:off x="1343025" y="5762625"/>
            <a:ext cx="104565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我的手心全是汗，手指头把衣角攥出了一道褶子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11134725" y="5591175"/>
            <a:ext cx="9525" cy="69532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27" name="Text 24"/>
          <p:cNvSpPr/>
          <p:nvPr/>
        </p:nvSpPr>
        <p:spPr>
          <a:xfrm>
            <a:off x="11430000" y="5762625"/>
            <a:ext cx="60664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那一刻写细：用手心和手指头替“紧张”说话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6286500"/>
            <a:ext cx="16173450" cy="6953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1343025" y="6457950"/>
            <a:ext cx="104565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他把书合上，说：“下回吃东西，别看书。”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11134725" y="6286500"/>
            <a:ext cx="9525" cy="69532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31" name="Text 28"/>
          <p:cNvSpPr/>
          <p:nvPr/>
        </p:nvSpPr>
        <p:spPr>
          <a:xfrm>
            <a:off x="11430000" y="6457950"/>
            <a:ext cx="60664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那一刻写细：只写一句话和一个动作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6981825"/>
            <a:ext cx="16173450" cy="6953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3" name="Text 30"/>
          <p:cNvSpPr/>
          <p:nvPr/>
        </p:nvSpPr>
        <p:spPr>
          <a:xfrm>
            <a:off x="1343025" y="7153275"/>
            <a:ext cx="104565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第二天就放在我桌上，说：“看完说一声。”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11134725" y="6981825"/>
            <a:ext cx="9525" cy="69532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35" name="Text 32"/>
          <p:cNvSpPr/>
          <p:nvPr/>
        </p:nvSpPr>
        <p:spPr>
          <a:xfrm>
            <a:off x="11430000" y="7153275"/>
            <a:ext cx="60664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现在怎样：变化落在他和我两边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1057275" y="7677150"/>
            <a:ext cx="16173450" cy="6953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1343025" y="7848600"/>
            <a:ext cx="104565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坦白说出实话之后，小林愿意放心地把书借给我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11134725" y="7677150"/>
            <a:ext cx="9525" cy="69532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39" name="Text 36"/>
          <p:cNvSpPr/>
          <p:nvPr/>
        </p:nvSpPr>
        <p:spPr>
          <a:xfrm>
            <a:off x="11430000" y="7848600"/>
            <a:ext cx="60664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结尾：感受与点题都跟着这件事</a:t>
            </a:r>
            <a:endParaRPr lang="en-US" sz="2100" dirty="0"/>
          </a:p>
        </p:txBody>
      </p:sp>
      <p:sp>
        <p:nvSpPr>
          <p:cNvPr id="40" name="Shape 37"/>
          <p:cNvSpPr/>
          <p:nvPr/>
        </p:nvSpPr>
        <p:spPr>
          <a:xfrm>
            <a:off x="1057275" y="8372475"/>
            <a:ext cx="16173450" cy="6953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1" name="Text 38"/>
          <p:cNvSpPr/>
          <p:nvPr/>
        </p:nvSpPr>
        <p:spPr>
          <a:xfrm>
            <a:off x="1343025" y="8543925"/>
            <a:ext cx="104565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但周一早上那句坦诚的道歉，比一本崭新的书更有意义</a:t>
            </a:r>
            <a:endParaRPr lang="en-US" sz="2100" dirty="0"/>
          </a:p>
        </p:txBody>
      </p:sp>
      <p:sp>
        <p:nvSpPr>
          <p:cNvPr id="42" name="Shape 39"/>
          <p:cNvSpPr/>
          <p:nvPr/>
        </p:nvSpPr>
        <p:spPr>
          <a:xfrm>
            <a:off x="11134725" y="8372475"/>
            <a:ext cx="9525" cy="695325"/>
          </a:xfrm>
          <a:prstGeom prst="rect">
            <a:avLst/>
          </a:prstGeom>
          <a:solidFill>
            <a:srgbClr val="DFE3E9"/>
          </a:solidFill>
          <a:ln/>
        </p:spPr>
      </p:sp>
      <p:sp>
        <p:nvSpPr>
          <p:cNvPr id="43" name="Text 40"/>
          <p:cNvSpPr/>
          <p:nvPr/>
        </p:nvSpPr>
        <p:spPr>
          <a:xfrm>
            <a:off x="11430000" y="8543925"/>
            <a:ext cx="60664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感受落在那本新书上，不是空话</a:t>
            </a:r>
            <a:endParaRPr lang="en-US" sz="2100" dirty="0"/>
          </a:p>
        </p:txBody>
      </p:sp>
      <p:sp>
        <p:nvSpPr>
          <p:cNvPr id="44" name="Text 41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结尾也可以像版一那样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停在最后一个动作上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，两种写法都对，自己定。</a:t>
            </a:r>
            <a:endParaRPr lang="en-US" sz="260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46685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778"/>
              </a:lnSpc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圈一格先写 · 自由写作 · 读稿评议 · 同桌互评 · 修改收束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动笔前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85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42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先做一个判断：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哪一格要写得最细致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24200"/>
            <a:ext cx="9133808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看自己的事例作证表，把那一格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圈出来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：圈第四格那一刻可以，觉得第三格的“以前”更有话说，圈第三格也可以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41483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49103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491038"/>
            <a:ext cx="6180773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和同桌说一句：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我先写这一格，因为什么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298281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374481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374481"/>
            <a:ext cx="4463891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就从这一格写起，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先写三四句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3810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648575"/>
            <a:ext cx="7962900" cy="1400175"/>
          </a:xfrm>
          <a:prstGeom prst="roundRect">
            <a:avLst>
              <a:gd name="adj" fmla="val 10884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381125" y="7905750"/>
            <a:ext cx="751503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圈那一刻的：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这一段落在文章中间，写完它再回头从开头写，以前怎样、这件事怎么开始的，交代清楚就接上了。</a:t>
            </a:r>
            <a:endParaRPr lang="en-US" sz="2250" dirty="0"/>
          </a:p>
        </p:txBody>
      </p:sp>
      <p:sp>
        <p:nvSpPr>
          <p:cNvPr id="19" name="Shape 15"/>
          <p:cNvSpPr/>
          <p:nvPr/>
        </p:nvSpPr>
        <p:spPr>
          <a:xfrm>
            <a:off x="9277350" y="7648575"/>
            <a:ext cx="7962900" cy="1400175"/>
          </a:xfrm>
          <a:prstGeom prst="roundRect">
            <a:avLst>
              <a:gd name="adj" fmla="val 10884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9610725" y="7905750"/>
            <a:ext cx="751503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圈以前的：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你写的就是开头，写完接着往下写，这件事怎么开始的，后来怎么变过来的。</a:t>
            </a:r>
            <a:endParaRPr lang="en-US" sz="2250" dirty="0"/>
          </a:p>
        </p:txBody>
      </p:sp>
      <p:sp>
        <p:nvSpPr>
          <p:cNvPr id="21" name="Text 17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从最有话说的那一格写起，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开头就不难了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60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0584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整篇五百字上下，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中途不回头改字改句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156150" cy="3333750"/>
          </a:xfrm>
          <a:prstGeom prst="roundRect">
            <a:avLst>
              <a:gd name="adj" fmla="val 514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47800" y="3524250"/>
            <a:ext cx="479165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47800" y="4476750"/>
            <a:ext cx="4486732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圈出的那一格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写起，写三四句，再补齐前后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6565850" y="3143250"/>
            <a:ext cx="5156150" cy="3333750"/>
          </a:xfrm>
          <a:prstGeom prst="roundRect">
            <a:avLst>
              <a:gd name="adj" fmla="val 514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965900" y="3524250"/>
            <a:ext cx="479165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6965900" y="4476750"/>
            <a:ext cx="4486732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以前和现在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两边都要写到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，那一刻只写看得见的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2083951" y="3143250"/>
            <a:ext cx="5156299" cy="3333750"/>
          </a:xfrm>
          <a:prstGeom prst="roundRect">
            <a:avLst>
              <a:gd name="adj" fmla="val 5143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484001" y="3524250"/>
            <a:ext cx="479181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12484001" y="4476750"/>
            <a:ext cx="4486885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两种收法自己选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，写下的话跟着自己这件事</a:t>
            </a:r>
            <a:endParaRPr lang="en-US" sz="2625" dirty="0"/>
          </a:p>
        </p:txBody>
      </p:sp>
      <p:sp>
        <p:nvSpPr>
          <p:cNvPr id="16" name="Text 13"/>
          <p:cNvSpPr/>
          <p:nvPr/>
        </p:nvSpPr>
        <p:spPr>
          <a:xfrm>
            <a:off x="1047750" y="8239125"/>
            <a:ext cx="1226343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整篇五百字上下，多到六百字也可以。中途不回头改字改句，写完整篇再说。接不下去的，拿出事例作证表，看还有哪一格没有落到纸上。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2728377" y="8791575"/>
            <a:ext cx="4511873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13109377" y="8982075"/>
            <a:ext cx="4124861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写作时间约 27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97269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94794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请两位同学读一读：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读三处，听的同学答一句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143250"/>
            <a:ext cx="9536049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读的同学：先读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，再读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“以前怎样”那一两句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，然后读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“变过来的那一刻”那一段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1047750" y="4594622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442222"/>
            <a:ext cx="9536049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听的同学答一句：从他写的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哪一句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，感受到了横线上那一项让生活更美好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047750" y="5893594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741194"/>
            <a:ext cx="980694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没有感受到的，说清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哪里没有说清楚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，每篇请两位听众作答</a:t>
            </a:r>
            <a:endParaRPr lang="en-US" sz="2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3810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7750" y="7962454"/>
            <a:ext cx="16192500" cy="991046"/>
          </a:xfrm>
          <a:prstGeom prst="roundRect">
            <a:avLst>
              <a:gd name="adj" fmla="val 173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66850" y="8229154"/>
            <a:ext cx="1688973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两位听众都说没有感受到，请作者再答一句：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把你横线上那一项拿掉，这件事里美好的结果还在不在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6" name="Text 12"/>
          <p:cNvSpPr/>
          <p:nvPr/>
        </p:nvSpPr>
        <p:spPr>
          <a:xfrm>
            <a:off x="1047750" y="8896350"/>
            <a:ext cx="1667827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答不在、说得出是哪个结果的，补两句“以前怎样”；答还在或者说不出的，在第二格旁边记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“换事” 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两个字。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同桌互评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49877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402663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交换稿子，做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7886700" cy="3457575"/>
          </a:xfrm>
          <a:prstGeom prst="roundRect">
            <a:avLst>
              <a:gd name="adj" fmla="val 495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3057525"/>
            <a:ext cx="7867650" cy="771525"/>
          </a:xfrm>
          <a:custGeom>
            <a:avLst/>
            <a:gdLst/>
            <a:ahLst/>
            <a:cxnLst/>
            <a:rect l="l" t="t" r="r" b="b"/>
            <a:pathLst>
              <a:path w="7867650" h="771525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71525"/>
                </a:lnTo>
                <a:lnTo>
                  <a:pt x="0" y="771525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362075" y="3248025"/>
            <a:ext cx="79838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第一件：在稿子末尾写一行</a:t>
            </a:r>
            <a:endParaRPr lang="en-US" sz="2325" dirty="0"/>
          </a:p>
        </p:txBody>
      </p:sp>
      <p:sp>
        <p:nvSpPr>
          <p:cNvPr id="11" name="Shape 7"/>
          <p:cNvSpPr/>
          <p:nvPr/>
        </p:nvSpPr>
        <p:spPr>
          <a:xfrm>
            <a:off x="1057275" y="3829050"/>
            <a:ext cx="7867650" cy="2667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400175" y="4133850"/>
            <a:ext cx="7397306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写下“以前：＿＿ 现在：＿＿”，两个空填他文章里写到的， 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填不出的就空着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3" name="Shape 9"/>
          <p:cNvSpPr/>
          <p:nvPr/>
        </p:nvSpPr>
        <p:spPr>
          <a:xfrm>
            <a:off x="9353550" y="3048000"/>
            <a:ext cx="7886700" cy="3457575"/>
          </a:xfrm>
          <a:prstGeom prst="roundRect">
            <a:avLst>
              <a:gd name="adj" fmla="val 495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363075" y="3057525"/>
            <a:ext cx="7867650" cy="771525"/>
          </a:xfrm>
          <a:custGeom>
            <a:avLst/>
            <a:gdLst/>
            <a:ahLst/>
            <a:cxnLst/>
            <a:rect l="l" t="t" r="r" b="b"/>
            <a:pathLst>
              <a:path w="7867650" h="771525">
                <a:moveTo>
                  <a:pt x="171450" y="0"/>
                </a:moveTo>
                <a:lnTo>
                  <a:pt x="7696200" y="0"/>
                </a:lnTo>
                <a:arcTo hR="171450" wR="171450" stAng="16200000" swAng="5400000"/>
                <a:lnTo>
                  <a:pt x="7867650" y="771525"/>
                </a:lnTo>
                <a:lnTo>
                  <a:pt x="0" y="771525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3D4A63"/>
          </a:solidFill>
          <a:ln/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9667875" y="3248025"/>
            <a:ext cx="79838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第二件：替他拿掉试一次</a:t>
            </a:r>
            <a:endParaRPr lang="en-US" sz="2325" dirty="0"/>
          </a:p>
        </p:txBody>
      </p:sp>
      <p:sp>
        <p:nvSpPr>
          <p:cNvPr id="17" name="Shape 12"/>
          <p:cNvSpPr/>
          <p:nvPr/>
        </p:nvSpPr>
        <p:spPr>
          <a:xfrm>
            <a:off x="9363075" y="3829050"/>
            <a:ext cx="7867650" cy="2667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705975" y="4133850"/>
            <a:ext cx="7397306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把他横线上那一项拿掉，他写的那个好结果还在不在。不在， </a:t>
            </a:r>
            <a:pPr algn="l" indent="0" marL="0">
              <a:lnSpc>
                <a:spcPct val="120976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在这一行末尾打一个勾 </a:t>
            </a:r>
            <a:pPr algn="l" indent="0" marL="0">
              <a:lnSpc>
                <a:spcPct val="120976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；还在，写上“拿掉也还在”五个字。</a:t>
            </a:r>
            <a:endParaRPr lang="en-US" sz="2325" dirty="0"/>
          </a:p>
        </p:txBody>
      </p:sp>
      <p:sp>
        <p:nvSpPr>
          <p:cNvPr id="19" name="Shape 14"/>
          <p:cNvSpPr/>
          <p:nvPr/>
        </p:nvSpPr>
        <p:spPr>
          <a:xfrm>
            <a:off x="1047750" y="8096250"/>
            <a:ext cx="16192500" cy="952500"/>
          </a:xfrm>
          <a:prstGeom prst="roundRect">
            <a:avLst>
              <a:gd name="adj" fmla="val 16000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1428750" y="8343900"/>
            <a:ext cx="169735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写完把稿子传回作者手里：看同桌写的这一行，对照下一页的三种情况，找到自己是哪一种，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只改那一处</a:t>
            </a:r>
            <a:pPr algn="l" indent="0" marL="0">
              <a:lnSpc>
                <a:spcPct val="114286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同桌填得出“以前”和“现在”，说明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变化已经写出来了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571887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536873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对照三种情况，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只改那一处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1314450"/>
          </a:xfrm>
          <a:prstGeom prst="roundRect">
            <a:avLst>
              <a:gd name="adj" fmla="val 1014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52550" y="3086100"/>
            <a:ext cx="749541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“以前”或“现在”有一个空着：变化没有写出来，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补两句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以前是什么样、现在是什么样。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4381500"/>
            <a:ext cx="7886700" cy="1743075"/>
          </a:xfrm>
          <a:prstGeom prst="roundRect">
            <a:avLst>
              <a:gd name="adj" fmla="val 765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52550" y="4610100"/>
            <a:ext cx="7495413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勾没有打上，同桌写了“拿掉也还在”：回到那一刻，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补上只有横线上这一项才有的细节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，那一刻怎么想的、为什么这么做。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1047750" y="6334125"/>
            <a:ext cx="7886700" cy="1743075"/>
          </a:xfrm>
          <a:prstGeom prst="roundRect">
            <a:avLst>
              <a:gd name="adj" fmla="val 765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352550" y="6562725"/>
            <a:ext cx="7495413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两件都通过了：看结尾。加了感受的，看感受和点题跟着的是不是自己这件事； 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停在最后一个动作上的，看那个动作有没有把变化收住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9353550" y="2857500"/>
            <a:ext cx="86753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三档标准（教师掌握，不读给学生）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9353550" y="3467100"/>
            <a:ext cx="7886700" cy="1192411"/>
          </a:xfrm>
          <a:prstGeom prst="roundRect">
            <a:avLst>
              <a:gd name="adj" fmla="val 7988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9353550" y="3467100"/>
            <a:ext cx="76200" cy="1192411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715500" y="3676650"/>
            <a:ext cx="745617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能把题目补充完整，写出一种事物让生活更美好的简单原因，语句通顺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9353550" y="4830961"/>
            <a:ext cx="7886700" cy="1192411"/>
          </a:xfrm>
          <a:prstGeom prst="roundRect">
            <a:avLst>
              <a:gd name="adj" fmla="val 7988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9353550" y="4830961"/>
            <a:ext cx="76200" cy="1192411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9715500" y="5040511"/>
            <a:ext cx="745617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话题明确，有一件具体的事，写出了以前和现在的不同，能写出“美好”的基本感受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9353550" y="6194822"/>
            <a:ext cx="7886700" cy="1579066"/>
          </a:xfrm>
          <a:prstGeom prst="roundRect">
            <a:avLst>
              <a:gd name="adj" fmla="val 603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9353550" y="6194822"/>
            <a:ext cx="76200" cy="157906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715500" y="6404372"/>
            <a:ext cx="745617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事例典型具体，那一刻写得细，叙事生动，结尾收得住：感受和点题都跟着这件事，或者那个动作自己把变化收住了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9353550" y="7983438"/>
            <a:ext cx="7886700" cy="1314450"/>
          </a:xfrm>
          <a:prstGeom prst="roundRect">
            <a:avLst>
              <a:gd name="adj" fmla="val 10145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658350" y="8212038"/>
            <a:ext cx="7495413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改好以后整篇通读一遍，用修改符号把多余的字划去、漏掉的字补上、写错的字改正。给大家四分钟。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最后请一位同学读替同桌写的那一行，再请作者读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自己写那一刻的一句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20234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· 习作讲评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8504039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28750" y="1562100"/>
            <a:ext cx="85162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习作讲评环节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（可选 · 课后或下次课开场）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571750"/>
            <a:ext cx="1667827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从当堂完成的习作里选 2–3 篇投屏（隐去姓名），每篇约 3–5 分钟，只看两件事：那件事有没有替横线上那一项作证，事讲完的话是不是从这件事里来的。＿＿＿处换成本班学生的真实句子。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429000"/>
            <a:ext cx="5181600" cy="428625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43852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4E9A57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1323975" y="36290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较好的一篇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1343025" y="4486275"/>
            <a:ext cx="4728782" cy="269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事选得准，拿掉那一项好结果就不在；以前和现在都写到了，那一刻写得细，结尾跟着这件事。 读那一刻的两三句，再读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以前和现在各一句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6553200" y="3429000"/>
            <a:ext cx="5181600" cy="428625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562725" y="343852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E0A43B"/>
          </a:solidFill>
          <a:ln/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6829425" y="36290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中等的一篇</a:t>
            </a:r>
            <a:endParaRPr lang="en-US" sz="2250" dirty="0"/>
          </a:p>
        </p:txBody>
      </p:sp>
      <p:sp>
        <p:nvSpPr>
          <p:cNvPr id="17" name="Text 12"/>
          <p:cNvSpPr/>
          <p:nvPr/>
        </p:nvSpPr>
        <p:spPr>
          <a:xfrm>
            <a:off x="6848475" y="4486275"/>
            <a:ext cx="4728782" cy="2252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事选对了，那一刻也写了，可是“以前怎样”只有一句。 请全班替他补：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在这件事之前，他和这个人、这件物品是什么样的？</a:t>
            </a:r>
            <a:endParaRPr lang="en-US" sz="2250" dirty="0"/>
          </a:p>
        </p:txBody>
      </p:sp>
      <p:sp>
        <p:nvSpPr>
          <p:cNvPr id="18" name="Shape 13"/>
          <p:cNvSpPr/>
          <p:nvPr/>
        </p:nvSpPr>
        <p:spPr>
          <a:xfrm>
            <a:off x="12058650" y="3429000"/>
            <a:ext cx="5181600" cy="428625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12068175" y="3438525"/>
            <a:ext cx="5162550" cy="762000"/>
          </a:xfrm>
          <a:custGeom>
            <a:avLst/>
            <a:gdLst/>
            <a:ahLst/>
            <a:cxnLst/>
            <a:rect l="l" t="t" r="r" b="b"/>
            <a:pathLst>
              <a:path w="5162550" h="762000">
                <a:moveTo>
                  <a:pt x="171450" y="0"/>
                </a:moveTo>
                <a:lnTo>
                  <a:pt x="4991100" y="0"/>
                </a:lnTo>
                <a:arcTo hR="171450" wR="171450" stAng="16200000" swAng="5400000"/>
                <a:lnTo>
                  <a:pt x="5162550" y="762000"/>
                </a:lnTo>
                <a:lnTo>
                  <a:pt x="0" y="762000"/>
                </a:lnTo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sp>
        <p:nvSpPr>
          <p:cNvPr id="21" name="Text 15"/>
          <p:cNvSpPr/>
          <p:nvPr/>
        </p:nvSpPr>
        <p:spPr>
          <a:xfrm>
            <a:off x="12334875" y="36290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有典型问题的一篇</a:t>
            </a:r>
            <a:endParaRPr lang="en-US" sz="2250" dirty="0"/>
          </a:p>
        </p:txBody>
      </p:sp>
      <p:sp>
        <p:nvSpPr>
          <p:cNvPr id="22" name="Text 16"/>
          <p:cNvSpPr/>
          <p:nvPr/>
        </p:nvSpPr>
        <p:spPr>
          <a:xfrm>
            <a:off x="12353925" y="4486275"/>
            <a:ext cx="4728782" cy="2252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写了几件事，每件都是真的，可是没有一件写到以前和现在的不同。 改的办法：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留一件，把它以前怎样、现在怎样写出来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，其余的可以不要。</a:t>
            </a:r>
            <a:endParaRPr lang="en-US" sz="2250" dirty="0"/>
          </a:p>
        </p:txBody>
      </p:sp>
      <p:sp>
        <p:nvSpPr>
          <p:cNvPr id="23" name="Text 17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读的人能不能感受到美好，不看写了几件事，看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有没有那一件写出了变化的事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943100" y="3657600"/>
            <a:ext cx="8064892" cy="1900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7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3538835" cy="1051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400"/>
              </a:lnSpc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说清“为什么”，靠的是用一件事作证：写出以前和现在的不同，把变过来的那一刻写细。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2026-09-16T07:28:07Z</dcterms:created>
  <dcterms:modified xsi:type="dcterms:W3CDTF">2026-09-16T07:28:07Z</dcterms:modified>
</cp:coreProperties>
</file>