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前导入：教材四格图的故事停在第四格的红问号上——今天由你们把它接着讲完。三上第三单元看图想象·续写，2课时连排。本课在机构上，学生手边没有课本，四格图与气泡文字全靠屏幕，务必确认投屏清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第1课时·写作指导课。线索：整幅出示四格图让学生自己发现红问号，逐格读懂图意，小组推想接龙，学'接住前文、顺线索往下想、写具体那一刻'，填续写构思表，读教师示范文与旁批。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整幅出示四格图，不作任何讲解，让学生静静看半分钟——等的就是有人喊'第四格怎么没有画'。提问：你们发现了什么？两类反应都会有：一类直奔问号，一类已经开始讲图上的事（先按下，下环节用得上）。这会儿只把'第四格是空的'讲明白：前三格好好画着一个故事，画到第四格只留下一个问号——一个故事没讲完，就停在这儿了。这就是语文书第三单元的习作练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没讲完的故事，总得有人接上把它讲完。今天就由你们来接：第四格里会发生什么，由你们往下写成一段自己的故事。同一个开头，一人接一个样。写完四人一组轮着念，听听别人接的跟你的有什么不同；每组再挑一篇推到全班。两条成败标准：一要接得住前面三格，二要是你自己想出来的。想接得住，先得把三格看仔细——一格一格地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格看。图一：这是在什么地方？这几个同学正说得热闹，在说什么？——教室里聊过生日的事：一个说上星期过九岁生日妈妈买了大蛋糕，一个说生日那天全家人一起过。再指图左边：热闹人群旁边还站着一个男孩，手里拿着书，没有凑过去。他脸上的表情跟旁边那几个一样吗？——不一样，他没笑。好，先记住这个男孩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二：他一个人坐在靠窗的座位上，两手抱在胸前，眼睛没看摊开的书。提问：这个男孩第一格里出现过吗？——出现过，就是站在旁边那个。你怎么认出来的？——衣服一样，蓝白条纹。对，读图就是这样前后对比着看。第一格大家聊生日他没作声，到第二格心里那句话才说出来。他心里的话还留着半句：'但是爸爸妈妈都在外地工作……'省略号——这半句没说出来的是什么意思？爸妈回不来、没人给他过生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图三：这两个同学在说谁？——到这儿我们才知道那个男孩叫李晓明。这句话也断在省略号上：'我们可以……'，可以什么？画里没说了，第四格给了个问号，故事就停在这儿。把三格连起来在心里默讲一遍，请一位同学讲给大家听（若学生从'要给他过生日'讲起，领回去：别从后面讲起，前面两格是怎么一步一步走到这儿的）。然后四人一组推想接龙：这两个同学可能想出什么办法？一人说一种，不重样，满三条就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动笔前先判断：两段接下去的话，默读约1分钟，哪段真接住了三格图、哪段跑偏了。两段都像、一时分不出是常态，不忙纠正，追问两轮：①第一段里，第三格那两个同学商量的'我们可以……'怎么样了？——没写了、他们不见了。②这个故事停在哪一刻？——停在两人商量那儿。第一段掉头写第二天早上读课文，人还在、心情也在，可图里那件没完的事一点没接——这叫脱离前文。别以为写上了图里的人、写上了心情就算接住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续写的头一条：接得上——别丢开图另起新故事，开头一两句最好像第二段那样回一下头，读的人一看就知道故事从哪儿接上。第二条：往下发展不能瞎编，得看着图里的线索走。第三条：把该写慢的那一刻写具体。今天就练这三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着三格图一条一条指认线索（逐条显现，边推演边说）：①同学们聊生日→班里正说着这个话题；②他心里说'我也快过生日了'→他的生日就快到了；③'爸爸妈妈都在外地工作'→生日那天爸妈很可能不在身边；④商量的是两个同学→想办法的是孩子，不是大人。顺着往下推：爸妈赶不回来，有没有办法让他们那天也能'在'？——打电话、视频。这件事谁来办？——同学们，可以请老师帮忙。再想一步：第三格声音压得低低的，为什么？——瞒着他办的。那生日那天总有那么一下：他什么都不知道，推开教室门，一眼看见了。每一步都能在图里找着出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答案有了还得会写。重点写的那一刻，别一句话带过——那一刻的动作、表情、说的话、心里想的，一样一样写下来。老师写的就是刚才推出来的那一刻：李晓明推开教室门（一句一显，只念不解说，写了哪几样留给学生数）。数一数写了哪几样？——愣住了、退了半步；当自己走错了门；有人说的那一句；窗帘、蜡烛。一句话也能说完'他推开门，同学们给他过生日'，可读的人什么也看不见。然后学生试写一句：李晓明看见蜡烛的时候，手上、脸上会是什么样子？写一句就好，请一位念，只点评能不能让人看到画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直接动笔容易写着写着跑偏，先用构思表理一理，每格填关键词、不写句子。老师示范填自己这张（见表）。提示学生：你不用跟我想的一样——可以一人写一句话攒成一本送他，可以爸妈请假连夜赶回来，也可以过得安安静静只有几个人知道，只要接得住前面、顺着线索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生填自己的表：只填关键词，填不出的格子先空着，一会儿一起补。可以让大家一人写一句话攒成一本送他、可以让爸妈请假连夜赶回来、也可以安安静静只有几个人知道——怎么想都行，只要接得住前面、顺着线索走。填好后举手抽说：说说打算怎么接、重点写哪一刻；其他同学带着任务听——他接得住前面三格图吗？若学生编出脱离前文的情节（如'会魔法一挥手爸妈就飞回来'），只点'接不接得住、合不合理'两处：一挥手人就到，'爸妈在外地'这件难事就没有了，'我们可以'也用不上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老师把那张表写成了一段完整的续写。学生自己先默读一遍，读时想一件事：几个关键词是怎么变成一段能读的故事的。中间推开门那段就是刚才当场写的，又理了理放进整篇。标色与旁批表同色呼应：动作红、说的话蓝、表情绿、心里想的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整体，问三个问题：①开头第一句写的什么？——那两个人还挨着坐、小声商量。眼熟吗？跟第三格一样——一上来就照应了前文，读的人一读就知道故事从哪儿接下去。②从'我们可以……'到'生日那天'，是一下子跳过去的吗？——不是，中间还有凑钱买蛋糕、班长请老师帮忙联系这几步，一步一步来的，读的人才觉得可信。③结局清楚吗？——清楚，蜡烛是他和屏幕里的爸妈一起吹灭的。三问都过了，故事就算完整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光完整还不够。把中间那段里让你'看见'的句子找出来，逐句点（颜色与示范文标色一一对应）。'李晓明很感动''同学们对他真好'这样干巴巴的话一句也没写——写的是他退的那半步、心里还当自己走错了门、愣住的那一下、有人喊他的那一句。动作、心里想的、说的话、表情，把最要紧的那一刻一点一点写出来。等会儿自己写也这样，别一句话带过。记住：写你自己想的那个故事，不用跟老师的一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课间休息回来进入第2课时。拿出续写构思表，先写照应前文的第一句，慢放要重点写的那一幕，再自由写作、小组轮读比不同结局、修改收束。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拿出构思表。先不写整篇，先写开头：看表上'前面发生了什么'那格，开头第一句用一句话把前面接住——'那两个人还挨着坐，小声商量着'，或'李晓明还一个人坐在窗边，没听见后面那两个人在说什么'，把读的人一下拉回第三格那一刻。写好照应句，紧接着看'要详细写的那一刻'：在心里把那一幕慢慢放一遍——先做了什么动作？脸上什么表情？说了句什么？心里在想什么？想到一样写一句，别停下来琢磨字词；写不出的字空着或标个记号，回头再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接下来约20分钟安安静静把故事写完：开头几句已经有了——一句接住前文，几句写起重点那一幕；顺着往下写，同学们后来做了什么、李晓明怎么样，一直写到想好的结局。巡视分类介入：接不下去的领回开头（他们想出的第一个办法是什么？先买什么、先找谁？）；空泛的落到具体（怎么过的？教室里摆了什么？他第一眼看见什么？）；顺畅的不打断；草草收尾的追问展开（吹蜡烛时同学们在做什么？他说了句什么？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请1位同学念给全班，老师当场点评一次做样子（如'蜡烛的火苗晃了一下，他半天没有吹'——没说他心里怎么样，可我们全看见了），点评只说两条：接得住接不住、有没有意思。然后四人一组轮读：念的人声音放开；听的人只做一件事——他念完，从他的故事里挑出'最想接着往下看的那一句'念给他听。四人念完，商量推一篇到全班。各组推优：抽1组念，老师具体点评（宁可只念1篇评到位）。总结：没有哪两个故事一样，可都从'我们可以……'接下去、都说得通——同一个开头，接出多少种走法都可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回到自己的稿子：小声读一遍，心里装着三条：①接住前文没有；②往下想得合不合理；③该详细写的那一刻细节写具体了没有。读时手里拿笔用修改符号理一理：多的圈掉、漏的补上、错的改正；再看开头那句是不是把读的人拉回了第三格、重点那处能不能再添一句。改完自己的，同桌互相看一眼：他接得上前面吗？哪一处再补一句会更好？三档标准供教师掌握，不必念给学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选环节，不计入两节连排；课后批读后集中讲评，或下次课开场用约15-20分钟。挑2-3篇代表作投屏（不具名）。讲评只盯着本课练的三样：接得住前文、往下想得合理、该写慢的那一刻写没写具体，别的先不挑。先肯定、再点一处可改；屏上＿＿＿处务必换成本班学生续写里的真实句子，切勿虚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收束：接住前文、顺着线索往下想、把该写慢的那一刻写具体——以后再碰上'看图往下写''接着往下编'这类题目，还是从这三条下手。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71589" y="323850"/>
            <a:ext cx="1668661" cy="62865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7250" y="1143000"/>
            <a:ext cx="16573500" cy="5715000"/>
          </a:xfrm>
          <a:prstGeom prst="roundRect">
            <a:avLst>
              <a:gd name="adj" fmla="val 2667"/>
            </a:avLst>
          </a:prstGeom>
          <a:gradFill rotWithShape="1">
            <a:gsLst>
              <a:gs pos="0">
                <a:srgbClr val="EE7B2E">
                  <a:alpha val="100000"/>
                </a:srgbClr>
              </a:gs>
              <a:gs pos="42000">
                <a:srgbClr val="F0A63C">
                  <a:alpha val="100000"/>
                </a:srgbClr>
              </a:gs>
              <a:gs pos="100000">
                <a:srgbClr val="57B0A6">
                  <a:alpha val="100000"/>
                </a:srgbClr>
              </a:gs>
            </a:gsLst>
            <a:lin ang="900000" scaled="0"/>
          </a:gradFill>
          <a:ln/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2952750" y="1428750"/>
            <a:ext cx="3429000" cy="3429000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5810250" y="4191000"/>
            <a:ext cx="4095750" cy="409575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3810000" y="2667000"/>
            <a:ext cx="11734800" cy="1443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4551"/>
              </a:lnSpc>
              <a:buNone/>
            </a:pPr>
            <a:r>
              <a:rPr lang="en-US" sz="8850" b="1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续写故事</a:t>
            </a:r>
            <a:endParaRPr lang="en-US" sz="8850" dirty="0"/>
          </a:p>
        </p:txBody>
      </p:sp>
      <p:sp>
        <p:nvSpPr>
          <p:cNvPr id="8" name="Text 5"/>
          <p:cNvSpPr/>
          <p:nvPr/>
        </p:nvSpPr>
        <p:spPr>
          <a:xfrm>
            <a:off x="3848100" y="4476750"/>
            <a:ext cx="117348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692"/>
              </a:lnSpc>
              <a:buNone/>
            </a:pPr>
            <a:r>
              <a:rPr lang="en-US" sz="3000" i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第三单元 · 校内同步写作（看图想象 · 续写）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0" y="2857500"/>
            <a:ext cx="1066800" cy="13335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57500"/>
            <a:ext cx="1066800" cy="13335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6953250"/>
            <a:ext cx="4095750" cy="2667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47750" y="8943975"/>
            <a:ext cx="357495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三年级上册 · 第三单元</a:t>
            </a:r>
            <a:endParaRPr lang="en-US" sz="2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314325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写作指导课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1038876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 · 读懂图意 · 推想接龙 · 学写法 · 续写构思表 · 教师示范文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48069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866918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静静看这幅画——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你发现了什么？</a:t>
            </a:r>
            <a:endParaRPr lang="en-US" sz="3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250" y="2762250"/>
            <a:ext cx="10477500" cy="6286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前三格好好画着一个故事，画到第四格——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只留下一个红问号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创设情境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9188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31821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今天的任务——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把这个故事接着讲完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667000"/>
            <a:ext cx="16192500" cy="847725"/>
          </a:xfrm>
          <a:prstGeom prst="roundRect">
            <a:avLst>
              <a:gd name="adj" fmla="val 17978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2876550"/>
            <a:ext cx="159162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第四格里会发生什么，由你们往下写——</a:t>
            </a:r>
            <a:pPr algn="l" indent="0" marL="0"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同一个开头，一人接一个样</a:t>
            </a:r>
            <a:pPr algn="l" indent="0" marL="0">
              <a:buNone/>
            </a:pPr>
            <a:r>
              <a:rPr lang="en-US" sz="25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，这也是很有意思的事。</a:t>
            </a:r>
            <a:endParaRPr lang="en-US" sz="25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0" y="3810000"/>
            <a:ext cx="4095750" cy="447675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381750" y="38671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6343650" y="38671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7239000" y="3924300"/>
            <a:ext cx="6109491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接出来的故事，一要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接得住前面这三格</a:t>
            </a:r>
            <a:endParaRPr lang="en-US" sz="2700" dirty="0"/>
          </a:p>
        </p:txBody>
      </p:sp>
      <p:sp>
        <p:nvSpPr>
          <p:cNvPr id="14" name="Shape 10"/>
          <p:cNvSpPr/>
          <p:nvPr/>
        </p:nvSpPr>
        <p:spPr>
          <a:xfrm>
            <a:off x="6381750" y="48577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6343650" y="48577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2"/>
          <p:cNvSpPr/>
          <p:nvPr/>
        </p:nvSpPr>
        <p:spPr>
          <a:xfrm>
            <a:off x="7239000" y="4914900"/>
            <a:ext cx="6872430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二要是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你自己想出来的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——不用跟别人一样</a:t>
            </a:r>
            <a:endParaRPr lang="en-US" sz="2700" dirty="0"/>
          </a:p>
        </p:txBody>
      </p:sp>
      <p:sp>
        <p:nvSpPr>
          <p:cNvPr id="17" name="Shape 13"/>
          <p:cNvSpPr/>
          <p:nvPr/>
        </p:nvSpPr>
        <p:spPr>
          <a:xfrm>
            <a:off x="6381750" y="58483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8" name="Text 14"/>
          <p:cNvSpPr/>
          <p:nvPr/>
        </p:nvSpPr>
        <p:spPr>
          <a:xfrm>
            <a:off x="6343650" y="58483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7239000" y="5905500"/>
            <a:ext cx="10203180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写完四人一组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轮着念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，每组挑一篇——谁接的最让人想往下看，念给全班听</a:t>
            </a: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读懂图意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629676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564747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第一格——他们在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说什么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8382000" cy="6286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10096500" y="32956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10458450" y="3143250"/>
            <a:ext cx="698525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教室里，几个同学围在课桌旁，聊的是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过生日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的事</a:t>
            </a:r>
            <a:endParaRPr lang="en-US" sz="2625" dirty="0"/>
          </a:p>
        </p:txBody>
      </p:sp>
      <p:sp>
        <p:nvSpPr>
          <p:cNvPr id="11" name="Shape 7"/>
          <p:cNvSpPr/>
          <p:nvPr/>
        </p:nvSpPr>
        <p:spPr>
          <a:xfrm>
            <a:off x="10096500" y="46196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10458450" y="4467225"/>
            <a:ext cx="698525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妈妈买的大蛋糕、全家人一起过——说得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热热闹闹</a:t>
            </a:r>
            <a:endParaRPr lang="en-US" sz="2625" dirty="0"/>
          </a:p>
        </p:txBody>
      </p:sp>
      <p:sp>
        <p:nvSpPr>
          <p:cNvPr id="13" name="Shape 9"/>
          <p:cNvSpPr/>
          <p:nvPr/>
        </p:nvSpPr>
        <p:spPr>
          <a:xfrm>
            <a:off x="10096500" y="59436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0458450" y="5791200"/>
            <a:ext cx="6985254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再看左边——还站着一个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拿着书的男孩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，没有凑过去</a:t>
            </a:r>
            <a:endParaRPr lang="en-US" sz="2625" dirty="0"/>
          </a:p>
        </p:txBody>
      </p:sp>
      <p:sp>
        <p:nvSpPr>
          <p:cNvPr id="15" name="Shape 11"/>
          <p:cNvSpPr/>
          <p:nvPr/>
        </p:nvSpPr>
        <p:spPr>
          <a:xfrm>
            <a:off x="10096500" y="726757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0458450" y="7115175"/>
            <a:ext cx="6234113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他脸上的表情，跟旁边那几个一样吗？</a:t>
            </a:r>
            <a:endParaRPr lang="en-US" sz="2625" dirty="0"/>
          </a:p>
        </p:txBody>
      </p:sp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他没笑——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先记住这个男孩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，看第二格。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读懂图意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35699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769507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第二格——这个男孩，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你在哪儿见过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3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5524500" cy="62865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334250" y="3200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7696200" y="3048000"/>
            <a:ext cx="896923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就是第一格里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站在旁边的那个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——衣服一样，蓝白条纹</a:t>
            </a:r>
            <a:endParaRPr lang="en-US" sz="2625" dirty="0"/>
          </a:p>
        </p:txBody>
      </p:sp>
      <p:sp>
        <p:nvSpPr>
          <p:cNvPr id="11" name="Shape 7"/>
          <p:cNvSpPr/>
          <p:nvPr/>
        </p:nvSpPr>
        <p:spPr>
          <a:xfrm>
            <a:off x="7334250" y="400526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7696200" y="3852863"/>
            <a:ext cx="10436081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读图就是这样 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前后对比着看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——原来第一格他没笑，是有原因的</a:t>
            </a:r>
            <a:endParaRPr lang="en-US" sz="2625" dirty="0"/>
          </a:p>
        </p:txBody>
      </p:sp>
      <p:sp>
        <p:nvSpPr>
          <p:cNvPr id="13" name="Shape 9"/>
          <p:cNvSpPr/>
          <p:nvPr/>
        </p:nvSpPr>
        <p:spPr>
          <a:xfrm>
            <a:off x="7334250" y="48101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7696200" y="4657725"/>
            <a:ext cx="9948223" cy="53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心里的话断在省略号上——</a:t>
            </a:r>
            <a:pPr algn="l" indent="0" marL="0">
              <a:lnSpc>
                <a:spcPct val="114130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“但是爸爸妈妈都在外地工作……”</a:t>
            </a:r>
            <a:endParaRPr lang="en-US" sz="2625" dirty="0"/>
          </a:p>
        </p:txBody>
      </p:sp>
      <p:sp>
        <p:nvSpPr>
          <p:cNvPr id="15" name="Shape 11"/>
          <p:cNvSpPr/>
          <p:nvPr/>
        </p:nvSpPr>
        <p:spPr>
          <a:xfrm>
            <a:off x="7334250" y="5462588"/>
            <a:ext cx="99060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7696200" y="5710237"/>
            <a:ext cx="9479280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这半句没说出来的话，是什么意思？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——生日快到了，爸妈却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回不来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一个人坐着、手抱在胸前、眼睛没看书——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心事都画在图里了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读懂图意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03537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438241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第三格——故事停在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“我们可以……”</a:t>
            </a:r>
            <a:endParaRPr lang="en-US" sz="3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750" y="2857500"/>
            <a:ext cx="7048500" cy="619125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858250" y="3200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6"/>
          <p:cNvSpPr/>
          <p:nvPr/>
        </p:nvSpPr>
        <p:spPr>
          <a:xfrm>
            <a:off x="9220200" y="3048000"/>
            <a:ext cx="4737303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到这儿才知道，男孩叫 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李晓明</a:t>
            </a:r>
            <a:endParaRPr lang="en-US" sz="2550" dirty="0"/>
          </a:p>
        </p:txBody>
      </p:sp>
      <p:sp>
        <p:nvSpPr>
          <p:cNvPr id="11" name="Shape 7"/>
          <p:cNvSpPr/>
          <p:nvPr/>
        </p:nvSpPr>
        <p:spPr>
          <a:xfrm>
            <a:off x="8858250" y="3971925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9220200" y="3819525"/>
            <a:ext cx="859531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两个同学挨着坐、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声音压得低低的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——“我们可以……”</a:t>
            </a:r>
            <a:endParaRPr lang="en-US" sz="2550" dirty="0"/>
          </a:p>
        </p:txBody>
      </p:sp>
      <p:sp>
        <p:nvSpPr>
          <p:cNvPr id="13" name="Shape 9"/>
          <p:cNvSpPr/>
          <p:nvPr/>
        </p:nvSpPr>
        <p:spPr>
          <a:xfrm>
            <a:off x="8858250" y="47434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9220200" y="4591050"/>
            <a:ext cx="718183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可以什么？画里没说了——</a:t>
            </a:r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第四格给了个问号</a:t>
            </a:r>
            <a:endParaRPr lang="en-US" sz="2550" dirty="0"/>
          </a:p>
        </p:txBody>
      </p:sp>
      <p:sp>
        <p:nvSpPr>
          <p:cNvPr id="15" name="Shape 11"/>
          <p:cNvSpPr/>
          <p:nvPr/>
        </p:nvSpPr>
        <p:spPr>
          <a:xfrm>
            <a:off x="8858250" y="6185535"/>
            <a:ext cx="8382000" cy="1824038"/>
          </a:xfrm>
          <a:prstGeom prst="roundRect">
            <a:avLst>
              <a:gd name="adj" fmla="val 8355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9201150" y="6433185"/>
            <a:ext cx="7947660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四人一组，轮流说：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这两个同学可能想出了什么办法？李晓明这个生日最后过成了什么样？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一人说一种，不重样，满三条就停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不管哪一种，都得从“我们可以……”接下去，都跟 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“爸爸妈妈在外地” 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这件事有关系。</a:t>
            </a:r>
            <a:endParaRPr lang="en-US" sz="2250" dirty="0"/>
          </a:p>
        </p:txBody>
      </p:sp>
      <p:sp>
        <p:nvSpPr>
          <p:cNvPr id="18" name="Shape 9"/>
          <p:cNvSpPr/>
          <p:nvPr/>
        </p:nvSpPr>
        <p:spPr>
          <a:xfrm>
            <a:off x="8858250" y="548640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0"/>
          <p:cNvSpPr/>
          <p:nvPr/>
        </p:nvSpPr>
        <p:spPr>
          <a:xfrm>
            <a:off x="9220200" y="5394960"/>
            <a:ext cx="718183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333"/>
              </a:lnSpc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先把三格连起来，在心里默讲一遍——请一位同学讲给大家听</a:t>
            </a:r>
            <a:pPr algn="l" indent="0" marL="0">
              <a:lnSpc>
                <a:spcPct val="113333"/>
              </a:lnSpc>
              <a:buNone/>
            </a:pPr>
            <a:endParaRPr lang="en-US" sz="25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判断对比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671495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063439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这两段，哪一段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真接住了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三格图？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110710" y="3038475"/>
            <a:ext cx="77607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第一段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10572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81125" y="3914775"/>
            <a:ext cx="745598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第二天早上，李晓明背着书包来上学。教室里静悄悄的，他从书包里拿出课本，翻到昨天学的那一课，小声读了起来。读着读着，他又想起了爸爸妈妈，心里有点闷闷的。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9353550" y="2857500"/>
            <a:ext cx="7886700" cy="3905250"/>
          </a:xfrm>
          <a:prstGeom prst="roundRect">
            <a:avLst>
              <a:gd name="adj" fmla="val 4390"/>
            </a:avLst>
          </a:prstGeom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9363075" y="2867025"/>
            <a:ext cx="7867650" cy="74295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416510" y="3038475"/>
            <a:ext cx="7760779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第二段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9363075" y="3609975"/>
            <a:ext cx="7867650" cy="3143250"/>
          </a:xfrm>
          <a:prstGeom prst="rect">
            <a:avLst/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686925" y="3914775"/>
            <a:ext cx="7455980" cy="2571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那两个人还挨着坐，一个侧过脸听，一个把声音压得低低的。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“他生日那天，我们能不能……” </a:t>
            </a:r>
            <a:pPr algn="l" indent="571500" marL="0">
              <a:lnSpc>
                <a:spcPct val="123750"/>
              </a:lnSpc>
              <a:buNone/>
            </a:pPr>
            <a:r>
              <a:rPr lang="en-US" sz="2250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话没说完，两个人一起回头，看了看那个还一个人坐在窗边的背影。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1047750" y="8772525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 第一段人还在、想爸妈的心情也在，可 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“我们可以……”那件没完的事一点没接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——这叫脱离前文。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1047750" y="9339263"/>
            <a:ext cx="17811750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 第二段一上来还是那两个人在商量——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从图里停下的那一刻，顺着往下接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949654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349944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今天这三招——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 · 推想 · 写具体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162050" y="2550765"/>
            <a:ext cx="742950" cy="66675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47750" y="3143250"/>
            <a:ext cx="6096000" cy="5715000"/>
          </a:xfrm>
          <a:prstGeom prst="roundRect">
            <a:avLst>
              <a:gd name="adj" fmla="val 3667"/>
            </a:avLst>
          </a:prstGeom>
          <a:gradFill rotWithShape="1">
            <a:gsLst>
              <a:gs pos="0">
                <a:srgbClr val="3D4A63">
                  <a:alpha val="100000"/>
                </a:srgbClr>
              </a:gs>
              <a:gs pos="100000">
                <a:srgbClr val="2C3650">
                  <a:alpha val="100000"/>
                </a:srgbClr>
              </a:gs>
            </a:gsLst>
            <a:lin ang="2700000" scaled="0"/>
          </a:gra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2565273" y="4613970"/>
            <a:ext cx="3060954" cy="2811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277"/>
              </a:lnSpc>
              <a:buNone/>
            </a:pPr>
            <a:r>
              <a:rPr lang="en-US" sz="7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接得住 想得妙</a:t>
            </a:r>
            <a:endParaRPr lang="en-US" sz="7800" dirty="0"/>
          </a:p>
        </p:txBody>
      </p:sp>
      <p:sp>
        <p:nvSpPr>
          <p:cNvPr id="11" name="Shape 8"/>
          <p:cNvSpPr/>
          <p:nvPr/>
        </p:nvSpPr>
        <p:spPr>
          <a:xfrm>
            <a:off x="8001000" y="34861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362950" y="3352800"/>
            <a:ext cx="914361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接住前文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——开头一两句先回一下头，从图里停下的那一刻接着走</a:t>
            </a:r>
            <a:endParaRPr lang="en-US" sz="2700" dirty="0"/>
          </a:p>
        </p:txBody>
      </p:sp>
      <p:sp>
        <p:nvSpPr>
          <p:cNvPr id="13" name="Shape 10"/>
          <p:cNvSpPr/>
          <p:nvPr/>
        </p:nvSpPr>
        <p:spPr>
          <a:xfrm>
            <a:off x="8001000" y="48958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8362950" y="4762500"/>
            <a:ext cx="914361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顺着线索往下想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——不能瞎编，线索图上都给了，一条一条找出来</a:t>
            </a:r>
            <a:endParaRPr lang="en-US" sz="2700" dirty="0"/>
          </a:p>
        </p:txBody>
      </p:sp>
      <p:sp>
        <p:nvSpPr>
          <p:cNvPr id="15" name="Shape 12"/>
          <p:cNvSpPr/>
          <p:nvPr/>
        </p:nvSpPr>
        <p:spPr>
          <a:xfrm>
            <a:off x="8001000" y="63055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362950" y="6172200"/>
            <a:ext cx="9143619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把该写慢的那一刻写具体 </a:t>
            </a:r>
            <a:pPr algn="l" indent="0" marL="0">
              <a:lnSpc>
                <a:spcPct val="11489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——动作、表情、说的话、心里想的，一样一样写下来</a:t>
            </a:r>
            <a:endParaRPr lang="en-US" sz="2700" dirty="0"/>
          </a:p>
        </p:txBody>
      </p:sp>
      <p:sp>
        <p:nvSpPr>
          <p:cNvPr id="17" name="Text 14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别以为写上了图里的人、写上了心情，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就算接住了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——图里那件没完的事，得接着办下去。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9188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318212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线索图上都给了——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一条一条找出来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9527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9650" y="310515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线索一</a:t>
            </a:r>
            <a:endParaRPr lang="en-US" sz="2250" dirty="0"/>
          </a:p>
        </p:txBody>
      </p:sp>
      <p:sp>
        <p:nvSpPr>
          <p:cNvPr id="10" name="Text 7"/>
          <p:cNvSpPr/>
          <p:nvPr/>
        </p:nvSpPr>
        <p:spPr>
          <a:xfrm>
            <a:off x="2724150" y="3081635"/>
            <a:ext cx="62233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同学们在聊生日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——班里正说着这个话题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047750" y="38481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9650" y="400050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线索二</a:t>
            </a:r>
            <a:endParaRPr lang="en-US" sz="2250" dirty="0"/>
          </a:p>
        </p:txBody>
      </p:sp>
      <p:sp>
        <p:nvSpPr>
          <p:cNvPr id="13" name="Text 10"/>
          <p:cNvSpPr/>
          <p:nvPr/>
        </p:nvSpPr>
        <p:spPr>
          <a:xfrm>
            <a:off x="2724150" y="3976985"/>
            <a:ext cx="6181561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“我也快过生日了”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——他的生日就快到了</a:t>
            </a:r>
            <a:endParaRPr lang="en-US" sz="2325" dirty="0"/>
          </a:p>
        </p:txBody>
      </p:sp>
      <p:sp>
        <p:nvSpPr>
          <p:cNvPr id="14" name="Shape 11"/>
          <p:cNvSpPr/>
          <p:nvPr/>
        </p:nvSpPr>
        <p:spPr>
          <a:xfrm>
            <a:off x="1047750" y="47434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9650" y="489585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线索三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2724150" y="4872335"/>
            <a:ext cx="9104784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“爸爸妈妈都在外地工作”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——生日那天，爸妈很可能不在身边</a:t>
            </a:r>
            <a:endParaRPr lang="en-US" sz="2325" dirty="0"/>
          </a:p>
        </p:txBody>
      </p:sp>
      <p:sp>
        <p:nvSpPr>
          <p:cNvPr id="17" name="Shape 14"/>
          <p:cNvSpPr/>
          <p:nvPr/>
        </p:nvSpPr>
        <p:spPr>
          <a:xfrm>
            <a:off x="1047750" y="56388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009650" y="579120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线索四</a:t>
            </a:r>
            <a:endParaRPr lang="en-US" sz="2250" dirty="0"/>
          </a:p>
        </p:txBody>
      </p:sp>
      <p:sp>
        <p:nvSpPr>
          <p:cNvPr id="19" name="Text 16"/>
          <p:cNvSpPr/>
          <p:nvPr/>
        </p:nvSpPr>
        <p:spPr>
          <a:xfrm>
            <a:off x="2724150" y="5767685"/>
            <a:ext cx="1128770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商量的是两个同学、声音压得低低的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——想办法的是孩子，还是 </a:t>
            </a:r>
            <a:pPr algn="l" indent="0" marL="0">
              <a:lnSpc>
                <a:spcPct val="109634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瞒着他 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办的</a:t>
            </a:r>
            <a:endParaRPr lang="en-US" sz="2325" dirty="0"/>
          </a:p>
        </p:txBody>
      </p:sp>
      <p:sp>
        <p:nvSpPr>
          <p:cNvPr id="20" name="Shape 17"/>
          <p:cNvSpPr/>
          <p:nvPr/>
        </p:nvSpPr>
        <p:spPr>
          <a:xfrm>
            <a:off x="1047750" y="7341989"/>
            <a:ext cx="16192500" cy="1516261"/>
          </a:xfrm>
          <a:prstGeom prst="roundRect">
            <a:avLst>
              <a:gd name="adj" fmla="val 11307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466850" y="7627739"/>
            <a:ext cx="15840075" cy="982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顺着推：爸妈赶不回来 → 想办法让他们在 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屏幕里“到场” 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办事的是同学、请老师搭把手 → 瞒着他准备——所以总有 </a:t>
            </a:r>
            <a:pPr algn="l" indent="0" marL="0">
              <a:lnSpc>
                <a:spcPct val="118095"/>
              </a:lnSpc>
              <a:buNone/>
            </a:pPr>
            <a:r>
              <a:rPr lang="en-US" sz="24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他推开门、什么都不知道的那一下</a:t>
            </a:r>
            <a:pPr algn="l" indent="0" marL="0">
              <a:lnSpc>
                <a:spcPct val="118095"/>
              </a:lnSpc>
              <a:buNone/>
            </a:pPr>
            <a:r>
              <a:rPr lang="en-US" sz="2400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这条答案上的每一步，都能 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在图里找着出处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学写法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251799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63115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看老师把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“推开门的那一刻”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写慢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857500"/>
            <a:ext cx="16192500" cy="2235994"/>
          </a:xfrm>
          <a:prstGeom prst="roundRect">
            <a:avLst>
              <a:gd name="adj" fmla="val 7668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524000" y="3200400"/>
            <a:ext cx="15725775" cy="15882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590550" marL="0">
              <a:lnSpc>
                <a:spcPct val="13231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李晓明推开门，</a:t>
            </a:r>
            <a:pPr algn="l" indent="590550" marL="0">
              <a:lnSpc>
                <a:spcPct val="132317"/>
              </a:lnSpc>
              <a:buNone/>
            </a:pPr>
            <a:r>
              <a:rPr lang="en-US" sz="23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愣住了 </a:t>
            </a:r>
            <a:pPr algn="l" indent="590550" marL="0">
              <a:lnSpc>
                <a:spcPct val="13231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。窗帘拉上了，教室里暗暗的。桌子中间放着一个小蛋糕，蜡烛一根一根亮着，火苗轻轻地晃。同学们围了一圈，都不出声，眼睛全看着他，蜡烛的光在一张张脸上晃。他 </a:t>
            </a:r>
            <a:pPr algn="l" indent="590550" marL="0">
              <a:lnSpc>
                <a:spcPct val="132317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往后退了半步，手还搭在门把手上 </a:t>
            </a:r>
            <a:pPr algn="l" indent="590550" marL="0">
              <a:lnSpc>
                <a:spcPct val="13231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——他 </a:t>
            </a:r>
            <a:pPr algn="l" indent="590550" marL="0">
              <a:lnSpc>
                <a:spcPct val="132317"/>
              </a:lnSpc>
              <a:buNone/>
            </a:pPr>
            <a:r>
              <a:rPr lang="en-US" sz="23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还当自己走错了门</a:t>
            </a:r>
            <a:pPr algn="l" indent="590550" marL="0">
              <a:lnSpc>
                <a:spcPct val="132317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。有人在后面推了他一把，小声说：</a:t>
            </a:r>
            <a:pPr algn="l" indent="590550" marL="0">
              <a:lnSpc>
                <a:spcPct val="132317"/>
              </a:lnSpc>
              <a:buNone/>
            </a:pPr>
            <a:r>
              <a:rPr lang="en-US" sz="23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“快过来呀，等你半天了。”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6096000"/>
            <a:ext cx="3848100" cy="171450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23975" y="6334125"/>
            <a:ext cx="3625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2175" dirty="0"/>
          </a:p>
        </p:txBody>
      </p:sp>
      <p:sp>
        <p:nvSpPr>
          <p:cNvPr id="12" name="Text 9"/>
          <p:cNvSpPr/>
          <p:nvPr/>
        </p:nvSpPr>
        <p:spPr>
          <a:xfrm>
            <a:off x="1323975" y="6800850"/>
            <a:ext cx="3394519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退了半步、手还搭在门把手上</a:t>
            </a:r>
            <a:endParaRPr lang="en-US" sz="2025" dirty="0"/>
          </a:p>
        </p:txBody>
      </p:sp>
      <p:sp>
        <p:nvSpPr>
          <p:cNvPr id="13" name="Shape 10"/>
          <p:cNvSpPr/>
          <p:nvPr/>
        </p:nvSpPr>
        <p:spPr>
          <a:xfrm>
            <a:off x="5162550" y="6096000"/>
            <a:ext cx="3848100" cy="171450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5438775" y="6334125"/>
            <a:ext cx="3625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</a:t>
            </a:r>
            <a:endParaRPr lang="en-US" sz="2175" dirty="0"/>
          </a:p>
        </p:txBody>
      </p:sp>
      <p:sp>
        <p:nvSpPr>
          <p:cNvPr id="15" name="Text 12"/>
          <p:cNvSpPr/>
          <p:nvPr/>
        </p:nvSpPr>
        <p:spPr>
          <a:xfrm>
            <a:off x="5438775" y="6800850"/>
            <a:ext cx="3625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推开门，愣住了</a:t>
            </a:r>
            <a:endParaRPr lang="en-US" sz="2025" dirty="0"/>
          </a:p>
        </p:txBody>
      </p:sp>
      <p:sp>
        <p:nvSpPr>
          <p:cNvPr id="16" name="Shape 13"/>
          <p:cNvSpPr/>
          <p:nvPr/>
        </p:nvSpPr>
        <p:spPr>
          <a:xfrm>
            <a:off x="9277350" y="6096000"/>
            <a:ext cx="3848100" cy="171450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9553575" y="6334125"/>
            <a:ext cx="3625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说的话</a:t>
            </a:r>
            <a:endParaRPr lang="en-US" sz="2175" dirty="0"/>
          </a:p>
        </p:txBody>
      </p:sp>
      <p:sp>
        <p:nvSpPr>
          <p:cNvPr id="18" name="Text 15"/>
          <p:cNvSpPr/>
          <p:nvPr/>
        </p:nvSpPr>
        <p:spPr>
          <a:xfrm>
            <a:off x="9553575" y="6800850"/>
            <a:ext cx="3625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“快过来呀，等你半天了。”</a:t>
            </a:r>
            <a:endParaRPr lang="en-US" sz="2025" dirty="0"/>
          </a:p>
        </p:txBody>
      </p:sp>
      <p:sp>
        <p:nvSpPr>
          <p:cNvPr id="19" name="Shape 16"/>
          <p:cNvSpPr/>
          <p:nvPr/>
        </p:nvSpPr>
        <p:spPr>
          <a:xfrm>
            <a:off x="13392150" y="6096000"/>
            <a:ext cx="3848100" cy="1714500"/>
          </a:xfrm>
          <a:prstGeom prst="roundRect">
            <a:avLst>
              <a:gd name="adj" fmla="val 8889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3668375" y="6334125"/>
            <a:ext cx="362521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心里想的</a:t>
            </a:r>
            <a:endParaRPr lang="en-US" sz="2175" dirty="0"/>
          </a:p>
        </p:txBody>
      </p:sp>
      <p:sp>
        <p:nvSpPr>
          <p:cNvPr id="21" name="Text 18"/>
          <p:cNvSpPr/>
          <p:nvPr/>
        </p:nvSpPr>
        <p:spPr>
          <a:xfrm>
            <a:off x="13668375" y="6800850"/>
            <a:ext cx="3625215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20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还当自己走错了门</a:t>
            </a:r>
            <a:endParaRPr lang="en-US" sz="2025" dirty="0"/>
          </a:p>
        </p:txBody>
      </p:sp>
      <p:sp>
        <p:nvSpPr>
          <p:cNvPr id="22" name="Shape 19"/>
          <p:cNvSpPr/>
          <p:nvPr/>
        </p:nvSpPr>
        <p:spPr>
          <a:xfrm>
            <a:off x="1047750" y="8210550"/>
            <a:ext cx="16192500" cy="838200"/>
          </a:xfrm>
          <a:prstGeom prst="roundRect">
            <a:avLst>
              <a:gd name="adj" fmla="val 18182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1409700" y="8439150"/>
            <a:ext cx="1595437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轮到你写一句：李晓明看见那些蜡烛的时候，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他的手上、脸上，会是什么样子</a:t>
            </a:r>
            <a:pPr algn="l" indent="0" marL="0">
              <a:buNone/>
            </a:pPr>
            <a:r>
              <a:rPr lang="en-US" sz="2250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250" dirty="0"/>
          </a:p>
        </p:txBody>
      </p:sp>
      <p:sp>
        <p:nvSpPr>
          <p:cNvPr id="24" name="Text 21"/>
          <p:cNvSpPr/>
          <p:nvPr/>
        </p:nvSpPr>
        <p:spPr>
          <a:xfrm>
            <a:off x="1047750" y="940117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一句话也能说完——可把它 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写慢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，读的人才看得见门口那一幕。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续写构思表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1428750"/>
            <a:ext cx="2724150" cy="681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7971"/>
              </a:lnSpc>
              <a:buNone/>
            </a:pPr>
            <a:r>
              <a:rPr lang="en-US" sz="39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续写构思表</a:t>
            </a:r>
            <a:endParaRPr lang="en-US" sz="3900" dirty="0"/>
          </a:p>
        </p:txBody>
      </p:sp>
      <p:sp>
        <p:nvSpPr>
          <p:cNvPr id="7" name="Text 4"/>
          <p:cNvSpPr/>
          <p:nvPr/>
        </p:nvSpPr>
        <p:spPr>
          <a:xfrm>
            <a:off x="1047750" y="2133600"/>
            <a:ext cx="69151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每格只填几个关键词、不写句子（看老师怎么填）</a:t>
            </a:r>
            <a:endParaRPr lang="en-US" sz="2250" dirty="0"/>
          </a:p>
        </p:txBody>
      </p:sp>
      <p:sp>
        <p:nvSpPr>
          <p:cNvPr id="8" name="Shape 5"/>
          <p:cNvSpPr/>
          <p:nvPr/>
        </p:nvSpPr>
        <p:spPr>
          <a:xfrm>
            <a:off x="1047750" y="2819400"/>
            <a:ext cx="16192500" cy="4219575"/>
          </a:xfrm>
          <a:prstGeom prst="roundRect">
            <a:avLst>
              <a:gd name="adj" fmla="val 3160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828925"/>
            <a:ext cx="16173450" cy="723900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3000375"/>
            <a:ext cx="58654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7343775" y="2828925"/>
            <a:ext cx="9525" cy="723900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7658100" y="3000375"/>
            <a:ext cx="95644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057275" y="355282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71475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前面发生了什么（几个词回顾三格图）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7343775" y="3552825"/>
            <a:ext cx="9525" cy="6953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7658100" y="371475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聊生日、爸妈在外地、同学商量</a:t>
            </a:r>
            <a:endParaRPr lang="en-US" sz="2175" dirty="0"/>
          </a:p>
        </p:txBody>
      </p:sp>
      <p:sp>
        <p:nvSpPr>
          <p:cNvPr id="17" name="Shape 14"/>
          <p:cNvSpPr/>
          <p:nvPr/>
        </p:nvSpPr>
        <p:spPr>
          <a:xfrm>
            <a:off x="1057275" y="4248150"/>
            <a:ext cx="16173450" cy="69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410075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接下来会怎样（顺着线索往下想）</a:t>
            </a:r>
            <a:endParaRPr lang="en-US" sz="2175" dirty="0"/>
          </a:p>
        </p:txBody>
      </p:sp>
      <p:sp>
        <p:nvSpPr>
          <p:cNvPr id="19" name="Shape 16"/>
          <p:cNvSpPr/>
          <p:nvPr/>
        </p:nvSpPr>
        <p:spPr>
          <a:xfrm>
            <a:off x="7343775" y="4248150"/>
            <a:ext cx="9525" cy="6953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7658100" y="4410075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凑钱买蛋糕、老师帮忙联系、视频见面</a:t>
            </a:r>
            <a:endParaRPr lang="en-US" sz="2175" dirty="0"/>
          </a:p>
        </p:txBody>
      </p:sp>
      <p:sp>
        <p:nvSpPr>
          <p:cNvPr id="21" name="Shape 18"/>
          <p:cNvSpPr/>
          <p:nvPr/>
        </p:nvSpPr>
        <p:spPr>
          <a:xfrm>
            <a:off x="1057275" y="494347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10540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要详细描写的那一刻（重点写）</a:t>
            </a:r>
            <a:endParaRPr lang="en-US" sz="2175" dirty="0"/>
          </a:p>
        </p:txBody>
      </p:sp>
      <p:sp>
        <p:nvSpPr>
          <p:cNvPr id="23" name="Shape 20"/>
          <p:cNvSpPr/>
          <p:nvPr/>
        </p:nvSpPr>
        <p:spPr>
          <a:xfrm>
            <a:off x="7343775" y="4943475"/>
            <a:ext cx="9525" cy="6953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58100" y="510540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推开门、屏幕亮了</a:t>
            </a:r>
            <a:endParaRPr lang="en-US" sz="2175" dirty="0"/>
          </a:p>
        </p:txBody>
      </p:sp>
      <p:sp>
        <p:nvSpPr>
          <p:cNvPr id="25" name="Shape 22"/>
          <p:cNvSpPr/>
          <p:nvPr/>
        </p:nvSpPr>
        <p:spPr>
          <a:xfrm>
            <a:off x="1057275" y="5638800"/>
            <a:ext cx="16173450" cy="695325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5800725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那一刻的动作 / 表情 / 说的话 / 心里想的</a:t>
            </a:r>
            <a:endParaRPr lang="en-US" sz="2175" dirty="0"/>
          </a:p>
        </p:txBody>
      </p:sp>
      <p:sp>
        <p:nvSpPr>
          <p:cNvPr id="27" name="Shape 24"/>
          <p:cNvSpPr/>
          <p:nvPr/>
        </p:nvSpPr>
        <p:spPr>
          <a:xfrm>
            <a:off x="7343775" y="5638800"/>
            <a:ext cx="9525" cy="6953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58100" y="5800725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愣住、退半步、当自己走错门、有人喊他、爸妈举着蛋糕</a:t>
            </a:r>
            <a:endParaRPr lang="en-US" sz="2175" dirty="0"/>
          </a:p>
        </p:txBody>
      </p:sp>
      <p:sp>
        <p:nvSpPr>
          <p:cNvPr id="29" name="Shape 26"/>
          <p:cNvSpPr/>
          <p:nvPr/>
        </p:nvSpPr>
        <p:spPr>
          <a:xfrm>
            <a:off x="1057275" y="6334125"/>
            <a:ext cx="16173450" cy="695325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1362075" y="6496050"/>
            <a:ext cx="5865495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结局怎样</a:t>
            </a:r>
            <a:endParaRPr lang="en-US" sz="2175" dirty="0"/>
          </a:p>
        </p:txBody>
      </p:sp>
      <p:sp>
        <p:nvSpPr>
          <p:cNvPr id="31" name="Shape 28"/>
          <p:cNvSpPr/>
          <p:nvPr/>
        </p:nvSpPr>
        <p:spPr>
          <a:xfrm>
            <a:off x="7343775" y="6334125"/>
            <a:ext cx="9525" cy="695325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7658100" y="6496050"/>
            <a:ext cx="95644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蜡烛是他和视频里的爸妈一起吹灭的</a:t>
            </a:r>
            <a:endParaRPr lang="en-US" sz="2175" dirty="0"/>
          </a:p>
        </p:txBody>
      </p:sp>
      <p:sp>
        <p:nvSpPr>
          <p:cNvPr id="33" name="Text 30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几个词，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一条路就清楚了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——你不用跟老师想的一样。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续写构思表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0425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4156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轮到你——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填表，说说你的接法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1432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009650" y="31432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905000" y="3219450"/>
            <a:ext cx="7656677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只填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，填不出的格子先空着，一会儿一起补</a:t>
            </a:r>
            <a:endParaRPr lang="en-US" sz="2625" dirty="0"/>
          </a:p>
        </p:txBody>
      </p:sp>
      <p:sp>
        <p:nvSpPr>
          <p:cNvPr id="11" name="Shape 8"/>
          <p:cNvSpPr/>
          <p:nvPr/>
        </p:nvSpPr>
        <p:spPr>
          <a:xfrm>
            <a:off x="1047750" y="4057650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009650" y="4057650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1905000" y="4133850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怎么想都行——攒一本贺卡、爸妈连夜赶回来、安安静静过……只要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接得住前面、顺着线索走</a:t>
            </a:r>
            <a:endParaRPr lang="en-US" sz="2625" dirty="0"/>
          </a:p>
        </p:txBody>
      </p:sp>
      <p:sp>
        <p:nvSpPr>
          <p:cNvPr id="14" name="Shape 11"/>
          <p:cNvSpPr/>
          <p:nvPr/>
        </p:nvSpPr>
        <p:spPr>
          <a:xfrm>
            <a:off x="1047750" y="5405438"/>
            <a:ext cx="609600" cy="609600"/>
          </a:xfrm>
          <a:prstGeom prst="roundRect">
            <a:avLst>
              <a:gd name="adj" fmla="val 21875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009650" y="5405438"/>
            <a:ext cx="685800" cy="647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1905000" y="5481637"/>
            <a:ext cx="9025890" cy="1004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填好了说给大家听——听的同学想一件事：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他接得住前面三格图吗 </a:t>
            </a:r>
            <a:pPr algn="l" indent="0" marL="0">
              <a:lnSpc>
                <a:spcPct val="110326"/>
              </a:lnSpc>
              <a:buNone/>
            </a:pPr>
            <a:r>
              <a:rPr lang="en-US" sz="262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</a:t>
            </a:r>
            <a:endParaRPr lang="en-US" sz="2625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1047750" y="7572375"/>
            <a:ext cx="16192500" cy="1381125"/>
          </a:xfrm>
          <a:prstGeom prst="roundRect">
            <a:avLst>
              <a:gd name="adj" fmla="val 11034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19" name="Text 15"/>
          <p:cNvSpPr/>
          <p:nvPr/>
        </p:nvSpPr>
        <p:spPr>
          <a:xfrm>
            <a:off x="1428750" y="7820025"/>
            <a:ext cx="1591627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“一挥手爸妈就飞回来了”行不行？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——想法大胆，可一挥手人就到了，“爸妈在外地”这件难事就没有了， 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“我们可以……”也用不上啦 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325" dirty="0"/>
          </a:p>
        </p:txBody>
      </p:sp>
      <p:sp>
        <p:nvSpPr>
          <p:cNvPr id="20" name="Text 16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表补齐了，你这个故事往下怎么走，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就都在这张表上了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781175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教师示范文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09700"/>
            <a:ext cx="7682061" cy="828675"/>
          </a:xfrm>
          <a:prstGeom prst="roundRect">
            <a:avLst>
              <a:gd name="adj" fmla="val 20690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28750" y="1562100"/>
            <a:ext cx="7150523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老师的那张表，变成了 </a:t>
            </a:r>
            <a:pPr algn="l" indent="0" marL="0">
              <a:buNone/>
            </a:pPr>
            <a:r>
              <a:rPr lang="en-US" sz="31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一段完整的续写</a:t>
            </a:r>
            <a:endParaRPr lang="en-US" sz="3150" dirty="0"/>
          </a:p>
        </p:txBody>
      </p:sp>
      <p:sp>
        <p:nvSpPr>
          <p:cNvPr id="8" name="Shape 5"/>
          <p:cNvSpPr/>
          <p:nvPr/>
        </p:nvSpPr>
        <p:spPr>
          <a:xfrm>
            <a:off x="1047750" y="2266950"/>
            <a:ext cx="16192500" cy="6877050"/>
          </a:xfrm>
          <a:prstGeom prst="roundRect">
            <a:avLst>
              <a:gd name="adj" fmla="val 2493"/>
            </a:avLst>
          </a:prstGeom>
          <a:solidFill>
            <a:srgbClr val="F7F5F2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600200" y="2552700"/>
            <a:ext cx="15540228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那两个人还挨着坐，一个侧过脸听，一个把声音压得低低的。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“他生日那天，我们能不能……”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话没说完，两个人一起回头，看了看那个还一个人坐在窗边的背影。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600200" y="3391198"/>
            <a:ext cx="15540228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那一个星期，班里都在忙。大家把零花钱凑了凑，买了一个最小号的蛋糕。班长跑了两趟办公室，请老师帮忙，跟李晓明的爸爸妈妈联系上了。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600200" y="4229695"/>
            <a:ext cx="15540228" cy="11672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生日那天下午，老师支开李晓明，让他送一摞本子去隔壁班。等他推开门回来，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愣住了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。窗帘拉上了，教室里暗暗的。桌子中间放着那个小蛋糕，蜡烛一根一根亮着。同学们围了一圈，都不出声。他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往后退了半步，手还搭在门把手上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——他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还当自己走错了门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。有人在后面推了他一把：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“快过来呀，等你半天了。”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600200" y="5444579"/>
            <a:ext cx="15540228" cy="790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2914"/>
              </a:lnSpc>
              <a:buNone/>
            </a:pPr>
            <a:r>
              <a:rPr lang="en-US" sz="19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他走到蛋糕跟前，闭上眼睛，刚要许愿，教室前面的屏幕忽然亮了。屏幕里，爸爸妈妈挤在一块儿，手里也举着一个小蛋糕。 </a:t>
            </a:r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“晓明，生日快乐。”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600200" y="6283077"/>
            <a:ext cx="16596360" cy="4144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just" indent="495300" marL="0">
              <a:lnSpc>
                <a:spcPct val="112914"/>
              </a:lnSpc>
              <a:buNone/>
            </a:pPr>
            <a:r>
              <a:rPr lang="en-US" sz="19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那天的蜡烛，是他和视频屏幕里的爸爸妈妈一起吹灭的。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047750" y="9410700"/>
            <a:ext cx="822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动作</a:t>
            </a:r>
            <a:endParaRPr lang="en-US" sz="2025" dirty="0"/>
          </a:p>
        </p:txBody>
      </p:sp>
      <p:sp>
        <p:nvSpPr>
          <p:cNvPr id="15" name="Text 12"/>
          <p:cNvSpPr/>
          <p:nvPr/>
        </p:nvSpPr>
        <p:spPr>
          <a:xfrm>
            <a:off x="2117973" y="9410700"/>
            <a:ext cx="822573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表情</a:t>
            </a:r>
            <a:endParaRPr lang="en-US" sz="2025" dirty="0"/>
          </a:p>
        </p:txBody>
      </p:sp>
      <p:sp>
        <p:nvSpPr>
          <p:cNvPr id="16" name="Text 13"/>
          <p:cNvSpPr/>
          <p:nvPr/>
        </p:nvSpPr>
        <p:spPr>
          <a:xfrm>
            <a:off x="3188196" y="9410700"/>
            <a:ext cx="107974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说的话</a:t>
            </a:r>
            <a:endParaRPr lang="en-US" sz="2025" dirty="0"/>
          </a:p>
        </p:txBody>
      </p:sp>
      <p:sp>
        <p:nvSpPr>
          <p:cNvPr id="17" name="Text 14"/>
          <p:cNvSpPr/>
          <p:nvPr/>
        </p:nvSpPr>
        <p:spPr>
          <a:xfrm>
            <a:off x="4515594" y="9410700"/>
            <a:ext cx="138679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■ 心里想的</a:t>
            </a:r>
            <a:endParaRPr lang="en-US" sz="202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读样稿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52899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4610445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先看整体——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三个问题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952750"/>
            <a:ext cx="5168801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28750" y="3295650"/>
            <a:ext cx="4847481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问题① 开头第一句写的什么？</a:t>
            </a:r>
            <a:endParaRPr lang="en-US" sz="2475" dirty="0"/>
          </a:p>
        </p:txBody>
      </p:sp>
      <p:sp>
        <p:nvSpPr>
          <p:cNvPr id="10" name="Text 7"/>
          <p:cNvSpPr/>
          <p:nvPr/>
        </p:nvSpPr>
        <p:spPr>
          <a:xfrm>
            <a:off x="1428750" y="3943350"/>
            <a:ext cx="4539005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还是那两个人挨着坐、小声商量——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跟第三格一样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，一上来就照应了前文。</a:t>
            </a:r>
            <a:endParaRPr lang="en-US" sz="2250" dirty="0"/>
          </a:p>
        </p:txBody>
      </p:sp>
      <p:sp>
        <p:nvSpPr>
          <p:cNvPr id="11" name="Shape 8"/>
          <p:cNvSpPr/>
          <p:nvPr/>
        </p:nvSpPr>
        <p:spPr>
          <a:xfrm>
            <a:off x="6559451" y="2952750"/>
            <a:ext cx="516895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6940451" y="3295650"/>
            <a:ext cx="4539158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问题② 中间是一下子跳过去的吗？</a:t>
            </a:r>
            <a:endParaRPr lang="en-US" sz="2475" dirty="0"/>
          </a:p>
        </p:txBody>
      </p:sp>
      <p:sp>
        <p:nvSpPr>
          <p:cNvPr id="13" name="Text 10"/>
          <p:cNvSpPr/>
          <p:nvPr/>
        </p:nvSpPr>
        <p:spPr>
          <a:xfrm>
            <a:off x="6940451" y="4362450"/>
            <a:ext cx="4539158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不是——凑钱买蛋糕、班长请老师帮忙联系……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一步一步把事情办成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，读的人才觉得可信。</a:t>
            </a:r>
            <a:endParaRPr lang="en-US" sz="2250" dirty="0"/>
          </a:p>
        </p:txBody>
      </p:sp>
      <p:sp>
        <p:nvSpPr>
          <p:cNvPr id="14" name="Shape 11"/>
          <p:cNvSpPr/>
          <p:nvPr/>
        </p:nvSpPr>
        <p:spPr>
          <a:xfrm>
            <a:off x="12071300" y="2952750"/>
            <a:ext cx="5168950" cy="4000500"/>
          </a:xfrm>
          <a:prstGeom prst="roundRect">
            <a:avLst>
              <a:gd name="adj" fmla="val 4286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12452300" y="3295650"/>
            <a:ext cx="484764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75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问题③ 结局清楚吗？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12452300" y="3943350"/>
            <a:ext cx="4539158" cy="1366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清楚——蜡烛是他和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视频屏幕里的爸爸妈妈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一起吹灭的，故事有了落脚点。</a:t>
            </a:r>
            <a:endParaRPr lang="en-US" sz="2250" dirty="0"/>
          </a:p>
        </p:txBody>
      </p:sp>
      <p:sp>
        <p:nvSpPr>
          <p:cNvPr id="17" name="Text 14"/>
          <p:cNvSpPr/>
          <p:nvPr/>
        </p:nvSpPr>
        <p:spPr>
          <a:xfrm>
            <a:off x="1047750" y="937260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接得上前文、想得合理、有个落脚点——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三问都过了，故事就算完整了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0477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旁批表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047732" cy="925711"/>
          </a:xfrm>
          <a:prstGeom prst="roundRect">
            <a:avLst>
              <a:gd name="adj" fmla="val 20579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450964" cy="5828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949"/>
              </a:lnSpc>
              <a:buNone/>
            </a:pPr>
            <a:r>
              <a:rPr lang="en-US" sz="330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一句一句拆开——</a:t>
            </a:r>
            <a:pPr algn="l" indent="0" marL="0">
              <a:lnSpc>
                <a:spcPct val="96949"/>
              </a:lnSpc>
              <a:buNone/>
            </a:pPr>
            <a:r>
              <a:rPr lang="en-US" sz="33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哪几句让你“看见”了</a:t>
            </a:r>
            <a:endParaRPr lang="en-US" sz="3300" dirty="0"/>
          </a:p>
        </p:txBody>
      </p:sp>
      <p:sp>
        <p:nvSpPr>
          <p:cNvPr id="8" name="Shape 5"/>
          <p:cNvSpPr/>
          <p:nvPr/>
        </p:nvSpPr>
        <p:spPr>
          <a:xfrm>
            <a:off x="1047750" y="2933700"/>
            <a:ext cx="16192500" cy="3838575"/>
          </a:xfrm>
          <a:prstGeom prst="roundRect">
            <a:avLst>
              <a:gd name="adj" fmla="val 3474"/>
            </a:avLst>
          </a:prstGeom>
          <a:ln w="9525">
            <a:solidFill>
              <a:srgbClr val="DFE3E9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1057275" y="2943225"/>
            <a:ext cx="16173450" cy="771525"/>
          </a:xfrm>
          <a:prstGeom prst="rect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62075" y="3133725"/>
            <a:ext cx="10555034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示范文里的句子</a:t>
            </a:r>
            <a:endParaRPr lang="en-US" sz="2325" dirty="0"/>
          </a:p>
        </p:txBody>
      </p:sp>
      <p:sp>
        <p:nvSpPr>
          <p:cNvPr id="11" name="Shape 8"/>
          <p:cNvSpPr/>
          <p:nvPr/>
        </p:nvSpPr>
        <p:spPr>
          <a:xfrm>
            <a:off x="11896725" y="2943225"/>
            <a:ext cx="9525" cy="771525"/>
          </a:xfrm>
          <a:prstGeom prst="rect">
            <a:avLst/>
          </a:prstGeom>
          <a:solidFill>
            <a:srgbClr val="FFFFFF">
              <a:alpha val="25000"/>
            </a:srgbClr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2211050" y="3133725"/>
            <a:ext cx="4874895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这一句写了什么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57275" y="3714750"/>
            <a:ext cx="16173450" cy="7620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62075" y="3905250"/>
            <a:ext cx="1055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他往后退了半步，手还搭在门把手上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1896725" y="3714750"/>
            <a:ext cx="9525" cy="7620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2211050" y="3905250"/>
            <a:ext cx="4874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057275" y="4476750"/>
            <a:ext cx="1617345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1362075" y="4667250"/>
            <a:ext cx="1055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等他推开门回来，愣住了</a:t>
            </a:r>
            <a:endParaRPr lang="en-US" sz="2250" dirty="0"/>
          </a:p>
        </p:txBody>
      </p:sp>
      <p:sp>
        <p:nvSpPr>
          <p:cNvPr id="19" name="Shape 16"/>
          <p:cNvSpPr/>
          <p:nvPr/>
        </p:nvSpPr>
        <p:spPr>
          <a:xfrm>
            <a:off x="11896725" y="4476750"/>
            <a:ext cx="9525" cy="7620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2211050" y="4667250"/>
            <a:ext cx="4874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4E9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表情（脸上那一下的神色）</a:t>
            </a:r>
            <a:endParaRPr lang="en-US" sz="2250" dirty="0"/>
          </a:p>
        </p:txBody>
      </p:sp>
      <p:sp>
        <p:nvSpPr>
          <p:cNvPr id="21" name="Shape 18"/>
          <p:cNvSpPr/>
          <p:nvPr/>
        </p:nvSpPr>
        <p:spPr>
          <a:xfrm>
            <a:off x="1057275" y="5238750"/>
            <a:ext cx="16173450" cy="762000"/>
          </a:xfrm>
          <a:prstGeom prst="rect">
            <a:avLst/>
          </a:prstGeom>
          <a:solidFill>
            <a:srgbClr val="EEF1F5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1362075" y="5429250"/>
            <a:ext cx="1055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“快过来呀，等你半天了。”</a:t>
            </a:r>
            <a:endParaRPr lang="en-US" sz="2250" dirty="0"/>
          </a:p>
        </p:txBody>
      </p:sp>
      <p:sp>
        <p:nvSpPr>
          <p:cNvPr id="23" name="Shape 20"/>
          <p:cNvSpPr/>
          <p:nvPr/>
        </p:nvSpPr>
        <p:spPr>
          <a:xfrm>
            <a:off x="11896725" y="5238750"/>
            <a:ext cx="9525" cy="7620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12211050" y="5429250"/>
            <a:ext cx="4874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F72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说的话（人物语言）</a:t>
            </a:r>
            <a:endParaRPr lang="en-US" sz="2250" dirty="0"/>
          </a:p>
        </p:txBody>
      </p:sp>
      <p:sp>
        <p:nvSpPr>
          <p:cNvPr id="25" name="Shape 22"/>
          <p:cNvSpPr/>
          <p:nvPr/>
        </p:nvSpPr>
        <p:spPr>
          <a:xfrm>
            <a:off x="1057275" y="6000750"/>
            <a:ext cx="16173450" cy="762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6" name="Text 23"/>
          <p:cNvSpPr/>
          <p:nvPr/>
        </p:nvSpPr>
        <p:spPr>
          <a:xfrm>
            <a:off x="1362075" y="6191250"/>
            <a:ext cx="1055503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他还当自己走错了门</a:t>
            </a:r>
            <a:endParaRPr lang="en-US" sz="2250" dirty="0"/>
          </a:p>
        </p:txBody>
      </p:sp>
      <p:sp>
        <p:nvSpPr>
          <p:cNvPr id="27" name="Shape 24"/>
          <p:cNvSpPr/>
          <p:nvPr/>
        </p:nvSpPr>
        <p:spPr>
          <a:xfrm>
            <a:off x="11896725" y="6000750"/>
            <a:ext cx="9525" cy="762000"/>
          </a:xfrm>
          <a:prstGeom prst="rect">
            <a:avLst/>
          </a:prstGeom>
          <a:solidFill>
            <a:srgbClr val="DFE3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2211050" y="6191250"/>
            <a:ext cx="487489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8E5AA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心里想的</a:t>
            </a:r>
            <a:endParaRPr lang="en-US" sz="2250" dirty="0"/>
          </a:p>
        </p:txBody>
      </p:sp>
      <p:sp>
        <p:nvSpPr>
          <p:cNvPr id="29" name="Text 26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“李晓明很感动”这样干巴巴的话一句也没写——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最要紧的那一刻，一点一点写出来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。休息回来动笔。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2038350" y="3181350"/>
            <a:ext cx="2455500" cy="2119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52"/>
              </a:lnSpc>
              <a:buNone/>
            </a:pPr>
            <a:r>
              <a:rPr lang="en-US" sz="14250" b="1" dirty="0">
                <a:solidFill>
                  <a:srgbClr val="FFFFFF">
                    <a:alpha val="95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250" dirty="0"/>
          </a:p>
        </p:txBody>
      </p:sp>
      <p:sp>
        <p:nvSpPr>
          <p:cNvPr id="6" name="Text 4"/>
          <p:cNvSpPr/>
          <p:nvPr/>
        </p:nvSpPr>
        <p:spPr>
          <a:xfrm>
            <a:off x="2228850" y="5676900"/>
            <a:ext cx="5029200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734"/>
              </a:lnSpc>
              <a:buNone/>
            </a:pPr>
            <a:r>
              <a:rPr lang="en-US" sz="4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当堂写作与评改课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2247900" y="6572250"/>
            <a:ext cx="8726939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接住前文写开头 · 自由写作 · 小组轮读比结局 · 修改收束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写作热身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8513415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7930618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先写两样——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照应的一句 + 慢放的一幕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2762250"/>
            <a:ext cx="16192500" cy="900113"/>
          </a:xfrm>
          <a:prstGeom prst="roundRect">
            <a:avLst>
              <a:gd name="adj" fmla="val 16931"/>
            </a:avLst>
          </a:prstGeom>
          <a:solidFill>
            <a:srgbClr val="DCE6F5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2990850"/>
            <a:ext cx="159543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第一句，把前面接住：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“那两个人还挨着坐，小声商量着……”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2C3A54"/>
                </a:solidFill>
                <a:highlight>
                  <a:srgbClr val="DCE6F5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——把读的人一下拉回第三格那一刻。</a:t>
            </a:r>
            <a:endParaRPr lang="en-US" sz="2325" dirty="0"/>
          </a:p>
        </p:txBody>
      </p:sp>
      <p:sp>
        <p:nvSpPr>
          <p:cNvPr id="10" name="Shape 7"/>
          <p:cNvSpPr/>
          <p:nvPr/>
        </p:nvSpPr>
        <p:spPr>
          <a:xfrm>
            <a:off x="1047750" y="40957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009650" y="424815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问动作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2724150" y="4224635"/>
            <a:ext cx="4547235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那一刻，人物先做了什么动作？</a:t>
            </a:r>
            <a:endParaRPr lang="en-US" sz="2325" dirty="0"/>
          </a:p>
        </p:txBody>
      </p:sp>
      <p:sp>
        <p:nvSpPr>
          <p:cNvPr id="13" name="Shape 10"/>
          <p:cNvSpPr/>
          <p:nvPr/>
        </p:nvSpPr>
        <p:spPr>
          <a:xfrm>
            <a:off x="1047750" y="49911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009650" y="514350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问表情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2724150" y="5119985"/>
            <a:ext cx="2598420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脸上是什么表情？</a:t>
            </a:r>
            <a:endParaRPr lang="en-US" sz="2325" dirty="0"/>
          </a:p>
        </p:txBody>
      </p:sp>
      <p:sp>
        <p:nvSpPr>
          <p:cNvPr id="16" name="Shape 13"/>
          <p:cNvSpPr/>
          <p:nvPr/>
        </p:nvSpPr>
        <p:spPr>
          <a:xfrm>
            <a:off x="1047750" y="588645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7" name="Text 14"/>
          <p:cNvSpPr/>
          <p:nvPr/>
        </p:nvSpPr>
        <p:spPr>
          <a:xfrm>
            <a:off x="1009650" y="603885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问说话</a:t>
            </a:r>
            <a:endParaRPr lang="en-US" sz="2250" dirty="0"/>
          </a:p>
        </p:txBody>
      </p:sp>
      <p:sp>
        <p:nvSpPr>
          <p:cNvPr id="18" name="Text 15"/>
          <p:cNvSpPr/>
          <p:nvPr/>
        </p:nvSpPr>
        <p:spPr>
          <a:xfrm>
            <a:off x="2724150" y="6015335"/>
            <a:ext cx="227361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说了句什么话？</a:t>
            </a:r>
            <a:endParaRPr lang="en-US" sz="2325" dirty="0"/>
          </a:p>
        </p:txBody>
      </p:sp>
      <p:sp>
        <p:nvSpPr>
          <p:cNvPr id="19" name="Shape 16"/>
          <p:cNvSpPr/>
          <p:nvPr/>
        </p:nvSpPr>
        <p:spPr>
          <a:xfrm>
            <a:off x="1047750" y="6781800"/>
            <a:ext cx="1428750" cy="685800"/>
          </a:xfrm>
          <a:prstGeom prst="roundRect">
            <a:avLst>
              <a:gd name="adj" fmla="val 19444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0" name="Text 17"/>
          <p:cNvSpPr/>
          <p:nvPr/>
        </p:nvSpPr>
        <p:spPr>
          <a:xfrm>
            <a:off x="1009650" y="6934200"/>
            <a:ext cx="15049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问心里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2724150" y="6910685"/>
            <a:ext cx="6223308" cy="466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心里又在想什么？</a:t>
            </a:r>
            <a:pPr algn="l" indent="0" marL="0">
              <a:lnSpc>
                <a:spcPct val="109634"/>
              </a:lnSpc>
              <a:buNone/>
            </a:pPr>
            <a:r>
              <a:rPr lang="en-US" sz="2325" dirty="0">
                <a:solidFill>
                  <a:srgbClr val="5B647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——想到一样，就写一句</a:t>
            </a:r>
            <a:endParaRPr lang="en-US" sz="2325" dirty="0"/>
          </a:p>
        </p:txBody>
      </p:sp>
      <p:sp>
        <p:nvSpPr>
          <p:cNvPr id="22" name="Text 19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先别停下来琢磨字词——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写不出的字空着、标个小记号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，回头再补上。</a:t>
            </a:r>
            <a:endParaRPr lang="en-US" sz="22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自由写作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4912072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4221234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把你的故事 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续写完整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668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</a:t>
            </a:r>
            <a:endParaRPr lang="en-US" sz="6000" dirty="0"/>
          </a:p>
        </p:txBody>
      </p:sp>
      <p:sp>
        <p:nvSpPr>
          <p:cNvPr id="10" name="Text 7"/>
          <p:cNvSpPr/>
          <p:nvPr/>
        </p:nvSpPr>
        <p:spPr>
          <a:xfrm>
            <a:off x="1466850" y="4381500"/>
            <a:ext cx="7259955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顺着你写好的开头往下接——同学们做了什么、李晓明怎么样，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一直写到结局</a:t>
            </a:r>
            <a:endParaRPr lang="en-US" sz="2700" dirty="0"/>
          </a:p>
        </p:txBody>
      </p:sp>
      <p:sp>
        <p:nvSpPr>
          <p:cNvPr id="11" name="Shape 8"/>
          <p:cNvSpPr/>
          <p:nvPr/>
        </p:nvSpPr>
        <p:spPr>
          <a:xfrm>
            <a:off x="9353550" y="3048000"/>
            <a:ext cx="7886700" cy="3143250"/>
          </a:xfrm>
          <a:prstGeom prst="roundRect">
            <a:avLst>
              <a:gd name="adj" fmla="val 5455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9772650" y="3429000"/>
            <a:ext cx="77533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5472"/>
              </a:lnSpc>
              <a:buNone/>
            </a:pPr>
            <a:r>
              <a:rPr lang="en-US" sz="60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9772650" y="4381500"/>
            <a:ext cx="7259955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该写慢的那一刻别一句带过——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动作、表情、说的话、心里想的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，一样一样写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047750" y="8653463"/>
            <a:ext cx="13515975" cy="452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把想好的那些事一句一句接下去，一直写到故事结束。写不出的字先空着，</a:t>
            </a:r>
            <a:pPr algn="l" indent="0" marL="0">
              <a:lnSpc>
                <a:spcPct val="1087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别停下来</a:t>
            </a:r>
            <a:pPr algn="l" indent="0" marL="0">
              <a:lnSpc>
                <a:spcPct val="108750"/>
              </a:lnSpc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5" name="Shape 12"/>
          <p:cNvSpPr/>
          <p:nvPr/>
        </p:nvSpPr>
        <p:spPr>
          <a:xfrm>
            <a:off x="13571339" y="8791575"/>
            <a:ext cx="3668911" cy="866775"/>
          </a:xfrm>
          <a:prstGeom prst="roundRect">
            <a:avLst>
              <a:gd name="adj" fmla="val 17582"/>
            </a:avLst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3952339" y="8982075"/>
            <a:ext cx="3016978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⏱ 大约写 20 分钟</a:t>
            </a:r>
            <a:endParaRPr lang="en-US" sz="2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交流评议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704254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6415623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小组轮读——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比一比不同的结局</a:t>
            </a:r>
            <a:endParaRPr lang="en-US" sz="3450" dirty="0"/>
          </a:p>
        </p:txBody>
      </p:sp>
      <p:sp>
        <p:nvSpPr>
          <p:cNvPr id="8" name="Shape 5"/>
          <p:cNvSpPr/>
          <p:nvPr/>
        </p:nvSpPr>
        <p:spPr>
          <a:xfrm>
            <a:off x="1047750" y="466725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1409700" y="4514850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四人一组，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一人一篇轮着念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——声音放开，让同组三个人都听清</a:t>
            </a:r>
            <a:endParaRPr lang="en-US" sz="2700" dirty="0"/>
          </a:p>
        </p:txBody>
      </p:sp>
      <p:sp>
        <p:nvSpPr>
          <p:cNvPr id="10" name="Shape 7"/>
          <p:cNvSpPr/>
          <p:nvPr/>
        </p:nvSpPr>
        <p:spPr>
          <a:xfrm>
            <a:off x="1047750" y="5966222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409700" y="5813822"/>
            <a:ext cx="9536049" cy="10322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听的人只做一件事：挑出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“最想接着往下看的那一句” 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，念给他听</a:t>
            </a:r>
            <a:endParaRPr lang="en-US" sz="2700" dirty="0"/>
          </a:p>
        </p:txBody>
      </p:sp>
      <p:sp>
        <p:nvSpPr>
          <p:cNvPr id="12" name="Shape 9"/>
          <p:cNvSpPr/>
          <p:nvPr/>
        </p:nvSpPr>
        <p:spPr>
          <a:xfrm>
            <a:off x="1047750" y="7265194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409700" y="7112794"/>
            <a:ext cx="949015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四篇都念完，商量商量——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更喜欢哪一篇</a:t>
            </a:r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？推到全班来念</a:t>
            </a:r>
            <a:endParaRPr lang="en-US" sz="27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3238500"/>
            <a:ext cx="4953000" cy="40005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1047750" y="7939087"/>
            <a:ext cx="16192500" cy="1014413"/>
          </a:xfrm>
          <a:prstGeom prst="roundRect">
            <a:avLst>
              <a:gd name="adj" fmla="val 16901"/>
            </a:avLst>
          </a:prstGeom>
          <a:solidFill>
            <a:srgbClr val="FCF3EE"/>
          </a:solidFill>
          <a:ln w="19050">
            <a:solidFill>
              <a:srgbClr val="F0CBB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1466850" y="8224837"/>
            <a:ext cx="15840075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听的时候就评两条：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接得住前面的图没有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</a:t>
            </a:r>
            <a:pPr algn="l" indent="0" marL="0">
              <a:lnSpc>
                <a:spcPct val="113415"/>
              </a:lnSpc>
              <a:buNone/>
            </a:pPr>
            <a:r>
              <a:rPr lang="en-US" sz="232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有没有意思</a:t>
            </a:r>
            <a:pPr algn="l" indent="0" marL="0">
              <a:lnSpc>
                <a:spcPct val="113415"/>
              </a:lnSpc>
              <a:buNone/>
            </a:pPr>
            <a:r>
              <a:rPr lang="en-US" sz="2325" dirty="0">
                <a:solidFill>
                  <a:srgbClr val="2A2E37"/>
                </a:solidFill>
                <a:highlight>
                  <a:srgbClr val="FCF3EE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——既说得通，又有点出乎你的意料。</a:t>
            </a:r>
            <a:endParaRPr lang="en-US" sz="2325" dirty="0"/>
          </a:p>
        </p:txBody>
      </p:sp>
      <p:sp>
        <p:nvSpPr>
          <p:cNvPr id="17" name="Text 13"/>
          <p:cNvSpPr/>
          <p:nvPr/>
        </p:nvSpPr>
        <p:spPr>
          <a:xfrm>
            <a:off x="1047750" y="9391650"/>
            <a:ext cx="1781175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同一个开头，接出多少种走法都可以——</a:t>
            </a:r>
            <a:pPr algn="l" indent="0" marL="0"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只要接得住前面、往下想得合理</a:t>
            </a:r>
            <a:pPr algn="l" indent="0" marL="0">
              <a:buNone/>
            </a:pPr>
            <a:r>
              <a:rPr lang="en-US" sz="225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8" name="Shape 9"/>
          <p:cNvSpPr/>
          <p:nvPr/>
        </p:nvSpPr>
        <p:spPr>
          <a:xfrm>
            <a:off x="1047750" y="3291840"/>
            <a:ext cx="152400" cy="152400"/>
          </a:xfrm>
          <a:prstGeom prst="ellipse">
            <a:avLst/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19" name="Text 10"/>
          <p:cNvSpPr/>
          <p:nvPr/>
        </p:nvSpPr>
        <p:spPr>
          <a:xfrm>
            <a:off x="1409700" y="3108960"/>
            <a:ext cx="9490159" cy="5351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064"/>
              </a:lnSpc>
              <a:buNone/>
            </a:pPr>
            <a:r>
              <a:rPr lang="en-US" sz="270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先请一位同学念给全班——大家一起评一遍，做个样子</a:t>
            </a:r>
            <a:pPr algn="l" indent="0" marL="0">
              <a:lnSpc>
                <a:spcPct val="111064"/>
              </a:lnSpc>
              <a:buNone/>
            </a:pPr>
            <a:pPr algn="l" indent="0" marL="0">
              <a:lnSpc>
                <a:spcPct val="111064"/>
              </a:lnSpc>
              <a:buNone/>
            </a:pPr>
            <a:endParaRPr lang="en-US" sz="27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142494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修改收束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28750"/>
            <a:ext cx="5728097" cy="950565"/>
          </a:xfrm>
          <a:prstGeom prst="roundRect">
            <a:avLst>
              <a:gd name="adj" fmla="val 20041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66850" y="1619250"/>
            <a:ext cx="5061740" cy="607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改一改——</a:t>
            </a:r>
            <a:pPr algn="l" indent="0" marL="0">
              <a:lnSpc>
                <a:spcPct val="98033"/>
              </a:lnSpc>
              <a:buNone/>
            </a:pPr>
            <a:r>
              <a:rPr lang="en-US" sz="34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心里装着三条</a:t>
            </a:r>
            <a:endParaRPr lang="en-US" sz="3450" dirty="0"/>
          </a:p>
        </p:txBody>
      </p:sp>
      <p:sp>
        <p:nvSpPr>
          <p:cNvPr id="8" name="Text 5"/>
          <p:cNvSpPr/>
          <p:nvPr/>
        </p:nvSpPr>
        <p:spPr>
          <a:xfrm>
            <a:off x="1047750" y="2933700"/>
            <a:ext cx="79629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小声读自己的稿子，对着三条看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047750" y="3543300"/>
            <a:ext cx="7239000" cy="819596"/>
          </a:xfrm>
          <a:prstGeom prst="roundRect">
            <a:avLst>
              <a:gd name="adj" fmla="val 162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333500" y="3752850"/>
            <a:ext cx="688467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①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接住前文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没有——开头是不是把人拉回了第三格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1047750" y="4553396"/>
            <a:ext cx="7239000" cy="1220093"/>
          </a:xfrm>
          <a:prstGeom prst="roundRect">
            <a:avLst>
              <a:gd name="adj" fmla="val 10929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1333500" y="4762946"/>
            <a:ext cx="6884670" cy="83909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②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往下 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想得合不合理 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——每一步在图里找得着出处吗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1047750" y="5963989"/>
            <a:ext cx="7239000" cy="819596"/>
          </a:xfrm>
          <a:prstGeom prst="roundRect">
            <a:avLst>
              <a:gd name="adj" fmla="val 16270"/>
            </a:avLst>
          </a:prstGeom>
          <a:solidFill>
            <a:srgbClr val="F7F8FA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1333500" y="6173539"/>
            <a:ext cx="6884670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③</a:t>
            </a:r>
            <a:pPr algn="l" indent="0" marL="0">
              <a:lnSpc>
                <a:spcPct val="107821"/>
              </a:lnSpc>
              <a:buNone/>
            </a:pPr>
            <a:r>
              <a:rPr lang="en-US" sz="2175" dirty="0">
                <a:solidFill>
                  <a:srgbClr val="2A2E37"/>
                </a:solidFill>
                <a:highlight>
                  <a:srgbClr val="F7F8F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该详细写的那一刻，</a:t>
            </a:r>
            <a:pPr algn="l" indent="0" marL="0">
              <a:lnSpc>
                <a:spcPct val="107821"/>
              </a:lnSpc>
              <a:buNone/>
            </a:pPr>
            <a:r>
              <a:rPr lang="en-US" sz="2175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细节写具体了没有</a:t>
            </a:r>
            <a:endParaRPr lang="en-US" sz="2175" dirty="0"/>
          </a:p>
        </p:txBody>
      </p:sp>
      <p:sp>
        <p:nvSpPr>
          <p:cNvPr id="25" name="Text 22"/>
          <p:cNvSpPr/>
          <p:nvPr/>
        </p:nvSpPr>
        <p:spPr>
          <a:xfrm>
            <a:off x="1047750" y="9439275"/>
            <a:ext cx="17811750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用修改符号理一理——多的圈掉、漏的补上、错的改正；改完自己的，</a:t>
            </a:r>
            <a:pPr algn="l" indent="0" marL="0">
              <a:buNone/>
            </a:pPr>
            <a:r>
              <a:rPr lang="en-US" sz="21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同桌再互相帮着看一眼</a:t>
            </a:r>
            <a:pPr algn="l" indent="0" marL="0">
              <a:buNone/>
            </a:pPr>
            <a:r>
              <a:rPr lang="en-US" sz="2100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219200" y="609600"/>
            <a:ext cx="2150016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 · 习作讲评</a:t>
            </a:r>
            <a:endParaRPr lang="en-US" sz="25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15034" y="457200"/>
            <a:ext cx="1820466" cy="685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7750" y="1409700"/>
            <a:ext cx="8127950" cy="800100"/>
          </a:xfrm>
          <a:prstGeom prst="roundRect">
            <a:avLst>
              <a:gd name="adj" fmla="val 21429"/>
            </a:avLst>
          </a:prstGeom>
          <a:solidFill>
            <a:srgbClr val="FCE7EA"/>
          </a:solidFill>
          <a:ln/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428750" y="1562100"/>
            <a:ext cx="7609789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A2E37"/>
                </a:solidFill>
                <a:highlight>
                  <a:srgbClr val="FCE7EA"/>
                </a:highlight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习作讲评环节 </a:t>
            </a:r>
            <a:pPr algn="l" indent="0" marL="0">
              <a:buNone/>
            </a:pPr>
            <a:r>
              <a:rPr lang="en-US" sz="300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（可选 · 课后或下次课开场）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1047750" y="2571750"/>
            <a:ext cx="14021842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8A929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挑 2–3 篇代表作投屏（不具名），每篇约 3–5 分钟，只对准本课技法。</a:t>
            </a:r>
            <a:endParaRPr lang="en-US" sz="2250" dirty="0"/>
          </a:p>
        </p:txBody>
      </p:sp>
      <p:sp>
        <p:nvSpPr>
          <p:cNvPr id="9" name="Shape 6"/>
          <p:cNvSpPr/>
          <p:nvPr/>
        </p:nvSpPr>
        <p:spPr>
          <a:xfrm>
            <a:off x="10477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1057275" y="3248025"/>
            <a:ext cx="5162550" cy="762000"/>
          </a:xfrm>
          <a:prstGeom prst="rect">
            <a:avLst/>
          </a:prstGeom>
          <a:solidFill>
            <a:srgbClr val="4E9A57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1323975" y="3438525"/>
            <a:ext cx="47840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较好的一篇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3430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开头照应了前文，发展合理，关键那一幕写出了动作和心里的想法。 念最能体现“接得住＋写具体”的一两句——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既接住了前面，又把关键那一刻放慢了、写细了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655320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562725" y="3248025"/>
            <a:ext cx="5162550" cy="762000"/>
          </a:xfrm>
          <a:prstGeom prst="rect">
            <a:avLst/>
          </a:prstGeom>
          <a:solidFill>
            <a:srgbClr val="E0A43B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6829425" y="3438525"/>
            <a:ext cx="47840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中等的一篇</a:t>
            </a:r>
            <a:endParaRPr lang="en-US" sz="2250" dirty="0"/>
          </a:p>
        </p:txBody>
      </p:sp>
      <p:sp>
        <p:nvSpPr>
          <p:cNvPr id="16" name="Text 13"/>
          <p:cNvSpPr/>
          <p:nvPr/>
        </p:nvSpPr>
        <p:spPr>
          <a:xfrm>
            <a:off x="684847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接得上、故事也完整，但重点那一刻一句话就交代完了。 一起想：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把这里放慢，添上人物的动作、说的一句话 </a:t>
            </a:r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，是不是就让人看得见了？</a:t>
            </a:r>
            <a:endParaRPr lang="en-US" sz="2250" dirty="0"/>
          </a:p>
        </p:txBody>
      </p:sp>
      <p:sp>
        <p:nvSpPr>
          <p:cNvPr id="17" name="Shape 14"/>
          <p:cNvSpPr/>
          <p:nvPr/>
        </p:nvSpPr>
        <p:spPr>
          <a:xfrm>
            <a:off x="12058650" y="3238500"/>
            <a:ext cx="5181600" cy="4476750"/>
          </a:xfrm>
          <a:prstGeom prst="roundRect">
            <a:avLst>
              <a:gd name="adj" fmla="val 3830"/>
            </a:avLst>
          </a:prstGeom>
          <a:solidFill>
            <a:srgbClr val="F7F8FA"/>
          </a:solidFill>
          <a:ln w="9525">
            <a:solidFill>
              <a:srgbClr val="E4E7EC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12068175" y="3248025"/>
            <a:ext cx="5162550" cy="76200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12334875" y="3438525"/>
            <a:ext cx="4784027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有典型问题的一篇</a:t>
            </a:r>
            <a:endParaRPr lang="en-US" sz="2250" dirty="0"/>
          </a:p>
        </p:txBody>
      </p:sp>
      <p:sp>
        <p:nvSpPr>
          <p:cNvPr id="20" name="Text 17"/>
          <p:cNvSpPr/>
          <p:nvPr/>
        </p:nvSpPr>
        <p:spPr>
          <a:xfrm>
            <a:off x="12353925" y="4295775"/>
            <a:ext cx="4745926" cy="3162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250"/>
              </a:lnSpc>
              <a:buNone/>
            </a:pPr>
            <a:r>
              <a:rPr lang="en-US" sz="2250" dirty="0">
                <a:solidFill>
                  <a:srgbClr val="2A2E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写着写着脱离了前文，跳到别的事上去了，或结局来得太突然。 一起帮忙： </a:t>
            </a:r>
            <a:pPr algn="l" indent="0" marL="0">
              <a:lnSpc>
                <a:spcPct val="116250"/>
              </a:lnSpc>
              <a:buNone/>
            </a:pPr>
            <a:r>
              <a:rPr lang="en-US" sz="2250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怎么改一改，把它拉回这三格图的故事里来？</a:t>
            </a:r>
            <a:endParaRPr lang="en-US" sz="2250" dirty="0"/>
          </a:p>
        </p:txBody>
      </p:sp>
      <p:sp>
        <p:nvSpPr>
          <p:cNvPr id="21" name="Text 18"/>
          <p:cNvSpPr/>
          <p:nvPr/>
        </p:nvSpPr>
        <p:spPr>
          <a:xfrm>
            <a:off x="1047750" y="9420225"/>
            <a:ext cx="178117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收尾点回——</a:t>
            </a:r>
            <a:pPr algn="l" indent="0" marL="0">
              <a:buNone/>
            </a:pPr>
            <a:r>
              <a:rPr lang="en-US" sz="2175" b="1" dirty="0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接住前文、顺着线索往下想、把该写慢的那一刻写具体</a:t>
            </a:r>
            <a:pPr algn="l" indent="0" marL="0">
              <a:buNone/>
            </a:pPr>
            <a:r>
              <a:rPr lang="en-US" sz="2175" dirty="0">
                <a:solidFill>
                  <a:srgbClr val="3D4A6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；续写最容易在“忘了前面的图”这儿松手。</a:t>
            </a:r>
            <a:endParaRPr lang="en-US" sz="2175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" fill="hold">
                      <p:stCondLst>
                        <p:cond delay="indefinite"/>
                      </p:stCondLst>
                      <p:childTnLst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52400" y="514350"/>
            <a:ext cx="990600" cy="704850"/>
          </a:xfrm>
          <a:prstGeom prst="roundRect">
            <a:avLst>
              <a:gd name="adj" fmla="val 4054"/>
            </a:avLst>
          </a:prstGeom>
          <a:solidFill>
            <a:srgbClr val="3D4A6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800100" y="800100"/>
            <a:ext cx="16687800" cy="8686800"/>
          </a:xfrm>
          <a:prstGeom prst="roundRect">
            <a:avLst>
              <a:gd name="adj" fmla="val 1754"/>
            </a:avLst>
          </a:prstGeom>
          <a:gradFill rotWithShape="1">
            <a:gsLst>
              <a:gs pos="0">
                <a:srgbClr val="6FB8AD">
                  <a:alpha val="100000"/>
                </a:srgbClr>
              </a:gs>
              <a:gs pos="60000">
                <a:srgbClr val="4E93A0">
                  <a:alpha val="100000"/>
                </a:srgbClr>
              </a:gs>
              <a:gs pos="100000">
                <a:srgbClr val="3D6E82">
                  <a:alpha val="100000"/>
                </a:srgbClr>
              </a:gs>
            </a:gsLst>
            <a:lin ang="1800000" scaled="0"/>
          </a:gra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943100" y="3657600"/>
            <a:ext cx="8064892" cy="19002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277"/>
              </a:lnSpc>
              <a:buNone/>
            </a:pPr>
            <a:r>
              <a:rPr lang="en-US" sz="12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END</a:t>
            </a:r>
            <a:endParaRPr lang="en-US" sz="12750" dirty="0"/>
          </a:p>
        </p:txBody>
      </p:sp>
      <p:sp>
        <p:nvSpPr>
          <p:cNvPr id="6" name="Text 4"/>
          <p:cNvSpPr/>
          <p:nvPr/>
        </p:nvSpPr>
        <p:spPr>
          <a:xfrm>
            <a:off x="2057400" y="5676900"/>
            <a:ext cx="9953625" cy="514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dirty="0">
                <a:solidFill>
                  <a:srgbClr val="FFFFFF">
                    <a:alpha val="92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接住前文、顺着线索往下想、把该写慢的那一刻写具体。</a:t>
            </a:r>
            <a:endParaRPr lang="en-US" sz="2850" dirty="0"/>
          </a:p>
        </p:txBody>
      </p:sp>
      <p:sp>
        <p:nvSpPr>
          <p:cNvPr id="7" name="Text 5"/>
          <p:cNvSpPr/>
          <p:nvPr/>
        </p:nvSpPr>
        <p:spPr>
          <a:xfrm>
            <a:off x="13792200" y="8058150"/>
            <a:ext cx="2095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下一次再见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925800" y="8039100"/>
            <a:ext cx="419100" cy="533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925800" y="8039100"/>
            <a:ext cx="419100" cy="5334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2038350" y="7924800"/>
            <a:ext cx="1796802" cy="762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50" y="8039100"/>
            <a:ext cx="1415802" cy="5334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2026-08-04T13:00:38Z</dcterms:created>
  <dcterms:modified xsi:type="dcterms:W3CDTF">2026-08-04T13:00:38Z</dcterms:modified>
</cp:coreProperties>
</file>