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生活万花筒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四年级上册 · 第五单元 · 校内同步写作（记事）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四年级上册 · 第五单元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902358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选定一件事 · 学写法 · 记事构思表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看这幅图：图上正在发生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一件什么事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048000"/>
            <a:ext cx="7810500" cy="5334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429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9791700" y="3143250"/>
            <a:ext cx="678942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跑道上三位同学在跑，场边的同学在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加油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9429750" y="4116586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9791700" y="3964186"/>
            <a:ext cx="754380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再问一个问题：这场比赛最后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是谁得了第一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9429750" y="4785122"/>
            <a:ext cx="7810500" cy="1906339"/>
          </a:xfrm>
          <a:prstGeom prst="roundRect">
            <a:avLst>
              <a:gd name="adj" fmla="val 899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791700" y="5051822"/>
            <a:ext cx="7299198" cy="1411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图上只画了他们正在跑的时候。比赛怎么开始、后来怎么样，都没有画。一幅图只能画下一件事里的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一个画面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，前前后后发生了什么，看图的人只能猜。</a:t>
            </a:r>
            <a:endParaRPr lang="en-US" sz="2325" dirty="0"/>
          </a:p>
        </p:txBody>
      </p:sp>
      <p:sp>
        <p:nvSpPr>
          <p:cNvPr id="15" name="Text 1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读你作文的人也是这样：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你写下多少，他就知道多少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；你没有写的，他一点也猜不到。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97269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94794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今天的任务：写一件事，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读给不在场的同桌听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76550"/>
            <a:ext cx="16973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每人写一件自己印象深刻的事。你经历的这件事，同桌并没有在场，他只能</a:t>
            </a:r>
            <a:pPr algn="l" indent="0" marL="0"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从纸上知道这件事</a:t>
            </a:r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3905250"/>
            <a:ext cx="3810000" cy="4381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96000" y="3810000"/>
            <a:ext cx="12153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第二节课写完，读给同桌听。他听完要能说出两点：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6096000" y="44958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266111" y="45720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848475" y="4552950"/>
            <a:ext cx="8829675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用一两句话说一说：这件事是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怎么开始的，最后怎么样了</a:t>
            </a:r>
            <a:endParaRPr lang="en-US" sz="2700" dirty="0"/>
          </a:p>
        </p:txBody>
      </p:sp>
      <p:sp>
        <p:nvSpPr>
          <p:cNvPr id="14" name="Shape 10"/>
          <p:cNvSpPr/>
          <p:nvPr/>
        </p:nvSpPr>
        <p:spPr>
          <a:xfrm>
            <a:off x="6096000" y="5431036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266111" y="5507236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848475" y="5488186"/>
            <a:ext cx="459143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说出你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写得最详细的是哪一步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这两点他都说得出来，就说明你把这件事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这就是第五单元的习作：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《生活万花筒》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1141065"/>
          </a:xfrm>
          <a:prstGeom prst="roundRect">
            <a:avLst>
              <a:gd name="adj" fmla="val 1502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85900" y="3067050"/>
            <a:ext cx="16847820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23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题面要求：选一件你印象深的事，</a:t>
            </a:r>
            <a:pPr algn="l" indent="0" marL="0">
              <a:lnSpc>
                <a:spcPct val="118723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按一定的顺序把这件事写清楚</a:t>
            </a:r>
            <a:pPr algn="l" indent="0" marL="0">
              <a:lnSpc>
                <a:spcPct val="118723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047750" y="4286250"/>
            <a:ext cx="36880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课本给出的八个参考题目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47750" y="4914900"/>
            <a:ext cx="3890962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67527" y="5143500"/>
            <a:ext cx="36514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捉蚊趣事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148263" y="4914900"/>
            <a:ext cx="3890962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268039" y="5143500"/>
            <a:ext cx="36514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一件烦心事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248775" y="4914900"/>
            <a:ext cx="3890962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368552" y="5143500"/>
            <a:ext cx="36514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她收到了礼物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13349288" y="4914900"/>
            <a:ext cx="3890962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469064" y="5143500"/>
            <a:ext cx="36514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爷爷戒烟了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1047750" y="5981700"/>
            <a:ext cx="3890962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67527" y="6210300"/>
            <a:ext cx="36514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照片里的温暖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5148263" y="5981700"/>
            <a:ext cx="3890962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268039" y="6210300"/>
            <a:ext cx="36514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家庭风波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9248775" y="5981700"/>
            <a:ext cx="3890962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368552" y="6210300"/>
            <a:ext cx="36514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教室里的掌声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13349288" y="5981700"/>
            <a:ext cx="3890962" cy="857250"/>
          </a:xfrm>
          <a:prstGeom prst="roundRect">
            <a:avLst>
              <a:gd name="adj" fmla="val 15556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469064" y="6210300"/>
            <a:ext cx="365140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窗外的故事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1047750" y="742950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428750" y="7658100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可以是自己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亲身经历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的，可以是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的，也可以是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听说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的。有开心的事，有烦心的事，也有有趣的、让人感动的事。</a:t>
            </a:r>
            <a:endParaRPr lang="en-US" sz="2325" dirty="0"/>
          </a:p>
        </p:txBody>
      </p:sp>
      <p:sp>
        <p:nvSpPr>
          <p:cNvPr id="28" name="Text 2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要写到不在场的人读完，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也能说出这件事的经过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选定一件事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想一想：哪一件事，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你现在想起来还很清楚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16192500" cy="928688"/>
          </a:xfrm>
          <a:prstGeom prst="roundRect">
            <a:avLst>
              <a:gd name="adj" fmla="val 1641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28750" y="3371850"/>
            <a:ext cx="1697355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想好以后，在草稿纸的左上角写一句话：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谁做了一件什么事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。写一句就可以。</a:t>
            </a:r>
            <a:endParaRPr lang="en-US" sz="2475" dirty="0"/>
          </a:p>
        </p:txBody>
      </p:sp>
      <p:sp>
        <p:nvSpPr>
          <p:cNvPr id="10" name="Text 7"/>
          <p:cNvSpPr/>
          <p:nvPr/>
        </p:nvSpPr>
        <p:spPr>
          <a:xfrm>
            <a:off x="1047750" y="4476750"/>
            <a:ext cx="60350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同时想到两件事、拿不定主意时，问一问自己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047750" y="5143500"/>
            <a:ext cx="7886700" cy="2657475"/>
          </a:xfrm>
          <a:prstGeom prst="roundRect">
            <a:avLst>
              <a:gd name="adj" fmla="val 645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57275" y="5153025"/>
            <a:ext cx="7867650" cy="7334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532447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写的是自己亲身经历的事</a:t>
            </a:r>
            <a:endParaRPr lang="en-US" sz="2325" dirty="0"/>
          </a:p>
        </p:txBody>
      </p:sp>
      <p:sp>
        <p:nvSpPr>
          <p:cNvPr id="14" name="Shape 11"/>
          <p:cNvSpPr/>
          <p:nvPr/>
        </p:nvSpPr>
        <p:spPr>
          <a:xfrm>
            <a:off x="1057275" y="5886450"/>
            <a:ext cx="7867650" cy="1905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81125" y="6172200"/>
            <a:ext cx="7436549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这件事我现在能不能说出它的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第一步、第二步、第三步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？三步都说得出来，就写这一件。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9353550" y="5143500"/>
            <a:ext cx="7886700" cy="2657475"/>
          </a:xfrm>
          <a:prstGeom prst="roundRect">
            <a:avLst>
              <a:gd name="adj" fmla="val 645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363075" y="5153025"/>
            <a:ext cx="7867650" cy="7334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67875" y="532447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写的是看到的、听说的事</a:t>
            </a:r>
            <a:endParaRPr lang="en-US" sz="2325" dirty="0"/>
          </a:p>
        </p:txBody>
      </p:sp>
      <p:sp>
        <p:nvSpPr>
          <p:cNvPr id="19" name="Shape 16"/>
          <p:cNvSpPr/>
          <p:nvPr/>
        </p:nvSpPr>
        <p:spPr>
          <a:xfrm>
            <a:off x="9363075" y="5886450"/>
            <a:ext cx="7867650" cy="1905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686925" y="6172200"/>
            <a:ext cx="7436549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怎么开始的、最后怎么样了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，你知不知道？开头和结尾都知道，中间经过大致清楚，也可以写。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两个问题都答不上来，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就换一件事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选定一件事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97269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94794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把这件事讲给同桌听，请他找出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最关键的一步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24200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讲的人用一分钟，从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怎么开始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讲起，一直讲到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；中间按先后一步一步说，不要跳过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39578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47198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471988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听的人不打断，听完只说一句：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你讲的这件事里，哪一步最关键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7435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81977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819775"/>
            <a:ext cx="2076450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说完两人交换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143250"/>
            <a:ext cx="4953000" cy="3810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409557"/>
            <a:ext cx="1619250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66850" y="7676257"/>
            <a:ext cx="15814929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同学们找出来的那一步：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找到蜡烛点着的时候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老师叫到她名字的时候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跑过去扶弟弟的时候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。找蜡烛、叫名字、扶弟弟，分别是各自那件事里最关键的一步。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同桌替你找出的这一步，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记在草稿纸上那句话的旁边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，稍后填表要用。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41303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163231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默读两段话：读完哪一段，你能说出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蚊子是怎么被拍死的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7905750" cy="6048375"/>
          </a:xfrm>
          <a:prstGeom prst="roundRect">
            <a:avLst>
              <a:gd name="adj" fmla="val 2835"/>
            </a:avLst>
          </a:prstGeom>
          <a:ln w="9525">
            <a:solidFill>
              <a:srgbClr val="E4E7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7275" y="2771775"/>
            <a:ext cx="7886700" cy="695325"/>
          </a:xfrm>
          <a:prstGeom prst="rect">
            <a:avLst/>
          </a:prstGeom>
          <a:solidFill>
            <a:srgbClr val="3D4A63"/>
          </a:solidFill>
          <a:ln/>
        </p:spPr>
      </p:sp>
      <p:sp>
        <p:nvSpPr>
          <p:cNvPr id="9" name="Text 6"/>
          <p:cNvSpPr/>
          <p:nvPr/>
        </p:nvSpPr>
        <p:spPr>
          <a:xfrm>
            <a:off x="830580" y="2924175"/>
            <a:ext cx="83400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57275" y="3467100"/>
            <a:ext cx="7886700" cy="5334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362075" y="3733800"/>
            <a:ext cx="7495413" cy="2237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33400" marL="0">
              <a:lnSpc>
                <a:spcPct val="124865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昨天晚上我刚睡着，耳边就响起了嗡嗡声。我开灯一看，胳膊上已经起了一个红包，又痒又疼。我叫来爸爸，我们俩</a:t>
            </a:r>
            <a:pPr algn="l" indent="533400" marL="0">
              <a:lnSpc>
                <a:spcPct val="124865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费了好大的劲，找了半天，终于把它打死了</a:t>
            </a:r>
            <a:pPr algn="l" indent="533400" marL="0">
              <a:lnSpc>
                <a:spcPct val="124865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。看着墙上那个小黑点，我心里真痛快，这只蚊子再也不能咬人了。今天晚上我总算可以睡个好觉了。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9334500" y="2762250"/>
            <a:ext cx="7905750" cy="6048375"/>
          </a:xfrm>
          <a:prstGeom prst="roundRect">
            <a:avLst>
              <a:gd name="adj" fmla="val 2835"/>
            </a:avLst>
          </a:prstGeom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44025" y="2771775"/>
            <a:ext cx="7886700" cy="695325"/>
          </a:xfrm>
          <a:prstGeom prst="rect">
            <a:avLst/>
          </a:prstGeom>
          <a:solidFill>
            <a:srgbClr val="3D4A63"/>
          </a:solidFill>
          <a:ln/>
        </p:spPr>
      </p:sp>
      <p:sp>
        <p:nvSpPr>
          <p:cNvPr id="14" name="Text 11"/>
          <p:cNvSpPr/>
          <p:nvPr/>
        </p:nvSpPr>
        <p:spPr>
          <a:xfrm>
            <a:off x="9117330" y="2924175"/>
            <a:ext cx="83400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9344025" y="3467100"/>
            <a:ext cx="7886700" cy="5334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6" name="Text 13"/>
          <p:cNvSpPr/>
          <p:nvPr/>
        </p:nvSpPr>
        <p:spPr>
          <a:xfrm>
            <a:off x="9648825" y="3733800"/>
            <a:ext cx="7495413" cy="3997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33400" marL="0">
              <a:lnSpc>
                <a:spcPct val="124865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昨天晚上我刚睡着，耳边就响起了嗡嗡声。我开灯，叫来爸爸。爸爸让我先把灯关掉，等蚊子自己飞出来。黑暗里我们坐了一会儿，嗡嗡声又来了。爸爸打开手电，</a:t>
            </a:r>
            <a:pPr algn="l" indent="533400" marL="0">
              <a:lnSpc>
                <a:spcPct val="124865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光柱在白墙上慢慢地移</a:t>
            </a:r>
            <a:pPr algn="l" indent="533400" marL="0">
              <a:lnSpc>
                <a:spcPct val="124865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，我屏住呼吸跟着看，屋里太静了，</a:t>
            </a:r>
            <a:pPr algn="l" indent="533400" marL="0">
              <a:lnSpc>
                <a:spcPct val="124865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我连自己的心跳都听得见</a:t>
            </a:r>
            <a:pPr algn="l" indent="533400" marL="0">
              <a:lnSpc>
                <a:spcPct val="124865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pPr algn="l" indent="533400" marL="0">
              <a:lnSpc>
                <a:spcPct val="124865"/>
              </a:lnSpc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我心里想：这只蚊子可千万别再飞走了。</a:t>
            </a:r>
            <a:pPr algn="l" indent="533400" marL="0">
              <a:lnSpc>
                <a:spcPct val="124865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光柱慢慢移到床头那一边，</a:t>
            </a:r>
            <a:pPr algn="l" indent="533400" marL="0">
              <a:lnSpc>
                <a:spcPct val="124865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白墙上忽然照出一个小黑点，一动不动</a:t>
            </a:r>
            <a:pPr algn="l" indent="533400" marL="0">
              <a:lnSpc>
                <a:spcPct val="124865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。我一眼就看见了，立刻抓过拖鞋，慢慢凑上前，“啪”的一声，蚊子被拍扁在墙上。借着爸爸手电的光，我看见白墙上留下一小片红印子。今天晚上我总算可以睡个好觉了。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第一段起因清楚、感受真实，可是经过只有一句，读的人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不知道中间发生了什么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00628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118489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第二段是怎么写的：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三步按先后排，中间一步写得最详细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4605486" cy="3295650"/>
          </a:xfrm>
          <a:prstGeom prst="roundRect">
            <a:avLst>
              <a:gd name="adj" fmla="val 520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4586436" cy="6858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3019425"/>
            <a:ext cx="44583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 · 略写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057275" y="3552825"/>
            <a:ext cx="4586436" cy="25908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43025" y="3800475"/>
            <a:ext cx="413538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关灯，等蚊子自己飞出来。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一两句交代清楚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5919936" y="2857500"/>
            <a:ext cx="6447979" cy="3295650"/>
          </a:xfrm>
          <a:prstGeom prst="roundRect">
            <a:avLst>
              <a:gd name="adj" fmla="val 5202"/>
            </a:avLst>
          </a:prstGeom>
          <a:ln w="1905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938986" y="2876550"/>
            <a:ext cx="6409879" cy="6858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05686" y="3028950"/>
            <a:ext cx="646412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 · 最关键，写具体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5938986" y="3562350"/>
            <a:ext cx="6409879" cy="2571750"/>
          </a:xfrm>
          <a:prstGeom prst="rect">
            <a:avLst/>
          </a:prstGeom>
          <a:solidFill>
            <a:srgbClr val="FCF3EE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224736" y="3810000"/>
            <a:ext cx="601353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看到的：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光柱在白墙上慢慢移、小黑点一动不动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6224736" y="4848225"/>
            <a:ext cx="642221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听到的：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屋里太静，连自己的心跳都听得见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6224736" y="5443538"/>
            <a:ext cx="642221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想到的：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“这只蚊子可千万别再飞走了”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12634615" y="2857500"/>
            <a:ext cx="4605486" cy="3295650"/>
          </a:xfrm>
          <a:prstGeom prst="roundRect">
            <a:avLst>
              <a:gd name="adj" fmla="val 520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2644140" y="2867025"/>
            <a:ext cx="4586436" cy="6858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2910840" y="3019425"/>
            <a:ext cx="44583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 · 略写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12644140" y="3552825"/>
            <a:ext cx="4586436" cy="25908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929890" y="3800475"/>
            <a:ext cx="4135384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抓过拖鞋，“啪”的一声拍扁在墙上。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一两句交代清楚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1047750" y="6667500"/>
            <a:ext cx="16192500" cy="1410593"/>
          </a:xfrm>
          <a:prstGeom prst="roundRect">
            <a:avLst>
              <a:gd name="adj" fmla="val 1080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428750" y="6915150"/>
            <a:ext cx="15893415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一件事写得清楚不清楚，主要看经过：起因和结果用一两句就能交代清楚，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经过才是这件事的主体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。经过没有写出来，读的人就不知道这件事是怎样发生的。</a:t>
            </a:r>
            <a:endParaRPr lang="en-US" sz="2325" dirty="0"/>
          </a:p>
        </p:txBody>
      </p:sp>
      <p:sp>
        <p:nvSpPr>
          <p:cNvPr id="26" name="Text 2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最关键的一步写得很详细，把当时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看到的、听到的、想到的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都写了下来；前后两步略写。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71887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36873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本课要学的写法：共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6096000" cy="5524500"/>
          </a:xfrm>
          <a:prstGeom prst="roundRect">
            <a:avLst>
              <a:gd name="adj" fmla="val 3793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565273" y="4518720"/>
            <a:ext cx="3060954" cy="2811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277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按顺序写具体</a:t>
            </a:r>
            <a:endParaRPr lang="en-US" sz="7800" dirty="0"/>
          </a:p>
        </p:txBody>
      </p:sp>
      <p:sp>
        <p:nvSpPr>
          <p:cNvPr id="10" name="Shape 7"/>
          <p:cNvSpPr/>
          <p:nvPr/>
        </p:nvSpPr>
        <p:spPr>
          <a:xfrm>
            <a:off x="8001000" y="3238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171111" y="33147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753475" y="3276600"/>
            <a:ext cx="874137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按顺序写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：先起因，再经过，最后结果；经过分成几步，按先后排好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8001000" y="46863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171111" y="47625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753475" y="4724400"/>
            <a:ext cx="874137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选出经过里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最关键的一步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，把它写具体：写下当时看到的、听到的、想到的</a:t>
            </a:r>
            <a:endParaRPr lang="en-US" sz="2700" dirty="0"/>
          </a:p>
        </p:txBody>
      </p:sp>
      <p:sp>
        <p:nvSpPr>
          <p:cNvPr id="16" name="Shape 13"/>
          <p:cNvSpPr/>
          <p:nvPr/>
        </p:nvSpPr>
        <p:spPr>
          <a:xfrm>
            <a:off x="8001000" y="6134100"/>
            <a:ext cx="923925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62950" y="6400800"/>
            <a:ext cx="8770811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其他几步略写，交代清楚即可。这样，习作才能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有详有略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，读的人也能知道这件事里最关键的是哪一步。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习作的要求是“把这件事写清楚”，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经过没有写出来，就不算写清楚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本单元的课文：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也用了这两条写法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5181600" cy="4191000"/>
          </a:xfrm>
          <a:prstGeom prst="roundRect">
            <a:avLst>
              <a:gd name="adj" fmla="val 409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51625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30384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《爬天都峰》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343025" y="3876675"/>
            <a:ext cx="472878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按顺序写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025" y="4505325"/>
            <a:ext cx="647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914525" y="4505325"/>
            <a:ext cx="40862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爬山前、爬山中、爬上峰顶后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343025" y="4505325"/>
            <a:ext cx="470916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的顺序来写，一步一步，条理清楚。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6553200" y="2857500"/>
            <a:ext cx="5181600" cy="4191000"/>
          </a:xfrm>
          <a:prstGeom prst="roundRect">
            <a:avLst>
              <a:gd name="adj" fmla="val 409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562725" y="2867025"/>
            <a:ext cx="51625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29425" y="30384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《麻雀》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6848475" y="3876675"/>
            <a:ext cx="472878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写具体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6848475" y="4505325"/>
            <a:ext cx="933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作者把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7705725" y="4505325"/>
            <a:ext cx="34575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看到的、听到的、想到的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6848475" y="4505325"/>
            <a:ext cx="470916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都写下来，才写出了麻雀和猎狗相遇时的情形。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12058650" y="2857500"/>
            <a:ext cx="5181600" cy="4191000"/>
          </a:xfrm>
          <a:prstGeom prst="roundRect">
            <a:avLst>
              <a:gd name="adj" fmla="val 409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2068175" y="2867025"/>
            <a:ext cx="51625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334875" y="30384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《小木船》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2353925" y="3876675"/>
            <a:ext cx="472878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不关键的部分，一句带过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12353925" y="4505325"/>
            <a:ext cx="470916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“我”和陈明的矛盾持续了几个月，课文只用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13496925" y="4962525"/>
            <a:ext cx="31432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“转眼几个月过去了”</a:t>
            </a:r>
            <a:endParaRPr lang="en-US" sz="2250" dirty="0"/>
          </a:p>
        </p:txBody>
      </p:sp>
      <p:sp>
        <p:nvSpPr>
          <p:cNvPr id="27" name="Text 24"/>
          <p:cNvSpPr/>
          <p:nvPr/>
        </p:nvSpPr>
        <p:spPr>
          <a:xfrm>
            <a:off x="12353925" y="4962525"/>
            <a:ext cx="470916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一句话交代过去，读的人同样清楚。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1047750" y="752475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428750" y="7734300"/>
            <a:ext cx="16973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“梳理与交流”第三条说的是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，第四条说的是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写具体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。刚才第二段里手电找蚊子那一步，用的正是第四条的写法。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不必每一步都写得那么详细，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最关键的那一步，才值得多写几句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60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84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练一练：那一步里，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你看到的是什么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004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048000"/>
            <a:ext cx="9634157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回到同桌替你找出的最关键的一步，用一句话说给同桌听，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只说看到的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，先不说心里怎么想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499372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346972"/>
            <a:ext cx="905256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听的人只回一句：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“我看见了”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，或者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“我还没看见”</a:t>
            </a:r>
            <a:endParaRPr lang="en-US" sz="2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143250"/>
            <a:ext cx="4953000" cy="2857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47750" y="5810250"/>
            <a:ext cx="7905750" cy="1524000"/>
          </a:xfrm>
          <a:prstGeom prst="roundRect">
            <a:avLst>
              <a:gd name="adj" fmla="val 15000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1733550" y="7296150"/>
            <a:ext cx="419100" cy="2667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7296150"/>
            <a:ext cx="419100" cy="2667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28750" y="6115050"/>
            <a:ext cx="73580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“我摸到抽屉最里面，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摸出一根蜡烛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 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同桌：我看见了。</a:t>
            </a:r>
            <a:endParaRPr lang="en-US" sz="2250" dirty="0"/>
          </a:p>
        </p:txBody>
      </p:sp>
      <p:sp>
        <p:nvSpPr>
          <p:cNvPr id="16" name="Shape 11"/>
          <p:cNvSpPr/>
          <p:nvPr/>
        </p:nvSpPr>
        <p:spPr>
          <a:xfrm>
            <a:off x="9334500" y="5810250"/>
            <a:ext cx="7905750" cy="1524000"/>
          </a:xfrm>
          <a:prstGeom prst="roundRect">
            <a:avLst>
              <a:gd name="adj" fmla="val 15000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020300" y="7296150"/>
            <a:ext cx="419100" cy="2667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7296150"/>
            <a:ext cx="419100" cy="2667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15500" y="6115050"/>
            <a:ext cx="73580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“当时很黑。”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同桌：我还没看见。 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再加一句：“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连桌子都看不清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2250" dirty="0"/>
          </a:p>
        </p:txBody>
      </p:sp>
      <p:sp>
        <p:nvSpPr>
          <p:cNvPr id="20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同桌说“看见了”，说明这一句写下来读的人也能看见；说“还没看见”，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填表时再补两三个关键词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记事构思表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记事构思表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119443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每一行填一项内容，只记关键词（先看老师填的这一张：独自坐电梯，电梯停在半路）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6429375"/>
          </a:xfrm>
          <a:prstGeom prst="roundRect">
            <a:avLst>
              <a:gd name="adj" fmla="val 2074"/>
            </a:avLst>
          </a:prstGeom>
          <a:ln w="9525">
            <a:solidFill>
              <a:srgbClr val="DFE3E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7275" y="2771775"/>
            <a:ext cx="16173450" cy="619125"/>
          </a:xfrm>
          <a:prstGeom prst="rect">
            <a:avLst/>
          </a:prstGeom>
          <a:solidFill>
            <a:srgbClr val="3D4A63"/>
          </a:solidFill>
          <a:ln/>
        </p:spPr>
      </p:sp>
      <p:sp>
        <p:nvSpPr>
          <p:cNvPr id="9" name="Text 6"/>
          <p:cNvSpPr/>
          <p:nvPr/>
        </p:nvSpPr>
        <p:spPr>
          <a:xfrm>
            <a:off x="1343025" y="2895600"/>
            <a:ext cx="69151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7915275" y="2771775"/>
            <a:ext cx="9525" cy="6191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210550" y="2895600"/>
            <a:ext cx="96078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1057275" y="3390900"/>
            <a:ext cx="16173450" cy="56197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3" name="Text 10"/>
          <p:cNvSpPr/>
          <p:nvPr/>
        </p:nvSpPr>
        <p:spPr>
          <a:xfrm>
            <a:off x="1343025" y="3495675"/>
            <a:ext cx="64922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我写的这件事（谁，做了什么）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915275" y="3390900"/>
            <a:ext cx="9525" cy="5619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5" name="Text 12"/>
          <p:cNvSpPr/>
          <p:nvPr/>
        </p:nvSpPr>
        <p:spPr>
          <a:xfrm>
            <a:off x="8210550" y="3495675"/>
            <a:ext cx="90138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我，被困在电梯里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3952875"/>
            <a:ext cx="16173450" cy="561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343025" y="4057650"/>
            <a:ext cx="64922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时间、地点、在场的人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7915275" y="3952875"/>
            <a:ext cx="9525" cy="5619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9" name="Text 16"/>
          <p:cNvSpPr/>
          <p:nvPr/>
        </p:nvSpPr>
        <p:spPr>
          <a:xfrm>
            <a:off x="8210550" y="4057650"/>
            <a:ext cx="90138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上个星期五放学，小区电梯，我一个人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514850"/>
            <a:ext cx="16173450" cy="56197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1" name="Text 18"/>
          <p:cNvSpPr/>
          <p:nvPr/>
        </p:nvSpPr>
        <p:spPr>
          <a:xfrm>
            <a:off x="1343025" y="4619625"/>
            <a:ext cx="64922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起因（这件事为什么会发生）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7915275" y="4514850"/>
            <a:ext cx="9525" cy="5619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3" name="Text 20"/>
          <p:cNvSpPr/>
          <p:nvPr/>
        </p:nvSpPr>
        <p:spPr>
          <a:xfrm>
            <a:off x="8210550" y="4619625"/>
            <a:ext cx="90138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电梯到七楼，一顿，灯闪，不动了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076825"/>
            <a:ext cx="16173450" cy="561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1343025" y="5181600"/>
            <a:ext cx="64922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 · 第一步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7915275" y="5076825"/>
            <a:ext cx="9525" cy="5619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7" name="Text 24"/>
          <p:cNvSpPr/>
          <p:nvPr/>
        </p:nvSpPr>
        <p:spPr>
          <a:xfrm>
            <a:off x="8210550" y="5181600"/>
            <a:ext cx="90138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按开门键、按“8”，都没反应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5638800"/>
            <a:ext cx="16173450" cy="59055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9" name="Text 26"/>
          <p:cNvSpPr/>
          <p:nvPr/>
        </p:nvSpPr>
        <p:spPr>
          <a:xfrm>
            <a:off x="1343025" y="5743575"/>
            <a:ext cx="64922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 · 第二步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7915275" y="5638800"/>
            <a:ext cx="9525" cy="590550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1" name="Text 28"/>
          <p:cNvSpPr/>
          <p:nvPr/>
        </p:nvSpPr>
        <p:spPr>
          <a:xfrm>
            <a:off x="8210550" y="5743575"/>
            <a:ext cx="901388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找到红色按钮，按下去，有人回话 ◯←老师圈出的一步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229350"/>
            <a:ext cx="1617345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1343025" y="6334125"/>
            <a:ext cx="649224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 · 第三步（不够可以加一行，多了可以并成一步）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7915275" y="6229350"/>
            <a:ext cx="9525" cy="914400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5" name="Text 32"/>
          <p:cNvSpPr/>
          <p:nvPr/>
        </p:nvSpPr>
        <p:spPr>
          <a:xfrm>
            <a:off x="8210550" y="6334125"/>
            <a:ext cx="901388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站着等，数灯，门被撬开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1057275" y="7143750"/>
            <a:ext cx="16173450" cy="914400"/>
          </a:xfrm>
          <a:prstGeom prst="rect">
            <a:avLst/>
          </a:prstGeom>
          <a:solidFill>
            <a:srgbClr val="FCF3EE"/>
          </a:solidFill>
          <a:ln/>
        </p:spPr>
      </p:sp>
      <p:sp>
        <p:nvSpPr>
          <p:cNvPr id="37" name="Text 34"/>
          <p:cNvSpPr/>
          <p:nvPr/>
        </p:nvSpPr>
        <p:spPr>
          <a:xfrm>
            <a:off x="1343025" y="7248525"/>
            <a:ext cx="649224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最关键的是第几步；那一步里看到、听到、想到的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7915275" y="7143750"/>
            <a:ext cx="9525" cy="914400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9" name="Text 36"/>
          <p:cNvSpPr/>
          <p:nvPr/>
        </p:nvSpPr>
        <p:spPr>
          <a:xfrm>
            <a:off x="8210550" y="7248525"/>
            <a:ext cx="901388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第二步。</a:t>
            </a:r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看：门缝黑、红按钮</a:t>
            </a:r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听：风扇呼呼、喇叭里的回话</a:t>
            </a:r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l" indent="0" marL="0"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想：电梯一直不开怎么办</a:t>
            </a:r>
            <a:endParaRPr lang="en-US" sz="2100" dirty="0"/>
          </a:p>
        </p:txBody>
      </p:sp>
      <p:sp>
        <p:nvSpPr>
          <p:cNvPr id="40" name="Shape 37"/>
          <p:cNvSpPr/>
          <p:nvPr/>
        </p:nvSpPr>
        <p:spPr>
          <a:xfrm>
            <a:off x="1057275" y="8058150"/>
            <a:ext cx="16173450" cy="561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1343025" y="8162925"/>
            <a:ext cx="64922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2100" dirty="0"/>
          </a:p>
        </p:txBody>
      </p:sp>
      <p:sp>
        <p:nvSpPr>
          <p:cNvPr id="42" name="Shape 39"/>
          <p:cNvSpPr/>
          <p:nvPr/>
        </p:nvSpPr>
        <p:spPr>
          <a:xfrm>
            <a:off x="7915275" y="8058150"/>
            <a:ext cx="9525" cy="5619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43" name="Text 40"/>
          <p:cNvSpPr/>
          <p:nvPr/>
        </p:nvSpPr>
        <p:spPr>
          <a:xfrm>
            <a:off x="8210550" y="8162925"/>
            <a:ext cx="90138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物业叔叔扶我跳下来</a:t>
            </a:r>
            <a:endParaRPr lang="en-US" sz="2100" dirty="0"/>
          </a:p>
        </p:txBody>
      </p:sp>
      <p:sp>
        <p:nvSpPr>
          <p:cNvPr id="44" name="Shape 41"/>
          <p:cNvSpPr/>
          <p:nvPr/>
        </p:nvSpPr>
        <p:spPr>
          <a:xfrm>
            <a:off x="1057275" y="8620125"/>
            <a:ext cx="16173450" cy="56197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5" name="Text 42"/>
          <p:cNvSpPr/>
          <p:nvPr/>
        </p:nvSpPr>
        <p:spPr>
          <a:xfrm>
            <a:off x="1343025" y="8724900"/>
            <a:ext cx="64922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我的感受（一句）</a:t>
            </a:r>
            <a:endParaRPr lang="en-US" sz="2100" dirty="0"/>
          </a:p>
        </p:txBody>
      </p:sp>
      <p:sp>
        <p:nvSpPr>
          <p:cNvPr id="46" name="Shape 43"/>
          <p:cNvSpPr/>
          <p:nvPr/>
        </p:nvSpPr>
        <p:spPr>
          <a:xfrm>
            <a:off x="7915275" y="8620125"/>
            <a:ext cx="9525" cy="56197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47" name="Text 44"/>
          <p:cNvSpPr/>
          <p:nvPr/>
        </p:nvSpPr>
        <p:spPr>
          <a:xfrm>
            <a:off x="8210550" y="8724900"/>
            <a:ext cx="90138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最漫长的十一分钟</a:t>
            </a:r>
            <a:endParaRPr lang="en-US" sz="2100" dirty="0"/>
          </a:p>
        </p:txBody>
      </p:sp>
      <p:sp>
        <p:nvSpPr>
          <p:cNvPr id="48" name="Text 45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经过分成三步，第七行圈出第二步：看到的两项、听到的两项、想到的一项，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全是关键词，没有完整的句子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记事构思表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97255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94778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动手填表：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四分钟填好表，圈出最关键的一步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24200"/>
            <a:ext cx="7672007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第一行照抄草稿纸左上角那一句：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谁做了一件什么事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47750" y="3879503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3955703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3955703"/>
            <a:ext cx="913380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经过分成几步，按先后填；每一行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只记关键词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，写成句子留到第二节课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518055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25675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256758"/>
            <a:ext cx="913380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第七行：同桌替你找出的那一步排在第几步，就填第几步；再写那一步里的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三项，每一项记两三个关键词</a:t>
            </a:r>
            <a:endParaRPr lang="en-US" sz="2550" dirty="0"/>
          </a:p>
        </p:txBody>
      </p:sp>
      <p:sp>
        <p:nvSpPr>
          <p:cNvPr id="16" name="Shape 13"/>
          <p:cNvSpPr/>
          <p:nvPr/>
        </p:nvSpPr>
        <p:spPr>
          <a:xfrm>
            <a:off x="1047750" y="6481614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217861" y="6557814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800225" y="6557814"/>
            <a:ext cx="7004876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填好后，在经过的几步里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把第七行那一步圈出来</a:t>
            </a:r>
            <a:endParaRPr lang="en-US" sz="25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143250"/>
            <a:ext cx="4953000" cy="38100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47750" y="7543800"/>
            <a:ext cx="16192500" cy="1314450"/>
          </a:xfrm>
          <a:prstGeom prst="roundRect">
            <a:avLst>
              <a:gd name="adj" fmla="val 1159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428750" y="7772400"/>
            <a:ext cx="1589341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说一说你为什么选这件事：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全家都靠那根蜡烛、弟弟的哭声、叫到名字时手心出汗，这些理由都落在圈出的那一步上。如果理由落在另一步上，再想一想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是不是那一步更关键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22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第二节课把这一步写具体，读的人就知道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你为什么记得这件事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059953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073747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先看其中一段：对着表读，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这一段写的是表上的哪一步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2838152"/>
          </a:xfrm>
          <a:prstGeom prst="roundRect">
            <a:avLst>
              <a:gd name="adj" fmla="val 6041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04950" y="3048000"/>
            <a:ext cx="15736443" cy="230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28649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我先按了一下开门键，没有反应。又按了一下“8”，还是没有反应。我盯着门上那条缝，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缝里黑黑的，什么也看不见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。电梯里很安静，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只听得见顶上风扇转的声音，呼呼的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我心里想：电梯要是一直不开，怎么办？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这时候我看见门边有一个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红色的按钮，上面写着“紧急呼叫”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，我赶忙一把按了下去。等了几秒钟，喇叭里传来一个陌生叔叔的声音。我心里一紧，急忙说自己被困在电梯里。他接着问道：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“你是在哪一栋、几楼的电梯里？”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我赶紧报出楼号，声音止不住地发抖。那个叔叔在喇叭里叮嘱：</a:t>
            </a:r>
            <a:pPr algn="just" indent="533400" marL="0">
              <a:lnSpc>
                <a:spcPct val="128649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“别按别的键，站在原地等着，我们五分钟就到。”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047750" y="6667500"/>
            <a:ext cx="5219700" cy="2143125"/>
          </a:xfrm>
          <a:prstGeom prst="roundRect">
            <a:avLst>
              <a:gd name="adj" fmla="val 71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6905625"/>
            <a:ext cx="51339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这一段写的是表上的哪一步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1323975" y="7372350"/>
            <a:ext cx="480726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前两句是第一步；从“我盯着门上那条缝”起，是圈出的</a:t>
            </a:r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534150" y="6667500"/>
            <a:ext cx="5219700" cy="2143125"/>
          </a:xfrm>
          <a:prstGeom prst="roundRect">
            <a:avLst>
              <a:gd name="adj" fmla="val 71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810375" y="6905625"/>
            <a:ext cx="51339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表上的关键词扩展成了几句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6810375" y="7372350"/>
            <a:ext cx="480726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表上只有几个词，文章里写成了</a:t>
            </a:r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十几句</a:t>
            </a:r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：看到的写成句子，听到的写出原话，想到的也写进去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2020550" y="6667500"/>
            <a:ext cx="5219700" cy="2143125"/>
          </a:xfrm>
          <a:prstGeom prst="roundRect">
            <a:avLst>
              <a:gd name="adj" fmla="val 71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2296775" y="6905625"/>
            <a:ext cx="51339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文章里有、表上没有的</a:t>
            </a:r>
            <a:endParaRPr lang="en-US" sz="2175" dirty="0"/>
          </a:p>
        </p:txBody>
      </p:sp>
      <p:sp>
        <p:nvSpPr>
          <p:cNvPr id="17" name="Text 14"/>
          <p:cNvSpPr/>
          <p:nvPr/>
        </p:nvSpPr>
        <p:spPr>
          <a:xfrm>
            <a:off x="12296775" y="7372350"/>
            <a:ext cx="480726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按钮上的字“紧急呼叫”、两句对话、“我心里一紧”、“声音止不住地发抖”，</a:t>
            </a:r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是写的时候想起来补上的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很短的那一步可以像这样附在前面，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圈出的那一步要写得比其他几步都详细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9709993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984279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老师照着构思表写成的文章：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《漫长的十一分钟》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28600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  <a:ln/>
        </p:spPr>
      </p:sp>
      <p:sp>
        <p:nvSpPr>
          <p:cNvPr id="8" name="Text 5"/>
          <p:cNvSpPr/>
          <p:nvPr/>
        </p:nvSpPr>
        <p:spPr>
          <a:xfrm>
            <a:off x="1581150" y="2552700"/>
            <a:ext cx="15579471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上个星期五放学，我一个人坐电梯上楼。电梯上到七楼的时候，忽然一顿，灯闪了两下，就不动了。楼层的数字停在“7”上，门也不开。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581150" y="3396555"/>
            <a:ext cx="15579471" cy="195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我先按了一下开门键，没有反应。又按了一下“8”，还是没有反应。我盯着门上那条缝，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缝里黑黑的，什么也看不见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。电梯里很安静，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只听得见顶上风扇转的声音，呼呼的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我心里想：电梯要是一直不开，怎么办？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这时候我看见门边有一个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红色的按钮，上面写着“紧急呼叫”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，我赶忙一把按了下去。等了几秒钟，喇叭里传来一个陌生叔叔的声音。我心里一紧，急忙说自己被困在电梯里。他接着问道：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“你是在哪一栋、几楼的电梯里？”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我赶紧报出楼号，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声音止不住地发抖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。那个叔叔在喇叭里叮嘱：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“别按别的键，站在原地等着，我们五分钟就到。”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581150" y="5391894"/>
            <a:ext cx="15579471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就站在原地，数电梯顶上那一圈小灯，一共八个，有一个是坏的。数完一遍，外面一点动静也没有。我蹲下去，过一会儿又站起来，手心里全是汗，自己也记不清数了多少遍。后来外面终于传来脚步声，有人喊：“里面的小朋友，往后站一点！”门被撬开了，电梯的地板比外面高出一大截，我是被物业的叔叔扶着跳下来的。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581150" y="6619577"/>
            <a:ext cx="15579471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我在电梯里一共待了十一分钟。十一分钟平时差不多就是一个课间，跑出去玩一会儿就过去了，可那天关在电梯里，我觉得比一个下午还长，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这是我长这么大过得最漫长的十一分钟</a:t>
            </a:r>
            <a:pPr algn="just" indent="495300" marL="0">
              <a:lnSpc>
                <a:spcPct val="115143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47750" y="9410700"/>
            <a:ext cx="1079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看到的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2394198" y="9410700"/>
            <a:ext cx="28112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听到的 · 当时的原话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5292775" y="9410700"/>
            <a:ext cx="1079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想到的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6639223" y="9410700"/>
            <a:ext cx="110328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默读时留意：正文分了几段，哪一段最长；画出一句让你觉得自己也站在那部电梯里的话</a:t>
            </a:r>
            <a:endParaRPr lang="en-US" sz="2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读样稿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读完，先数一数：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正文几段，哪一段最长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981325"/>
            <a:ext cx="13620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175" dirty="0"/>
          </a:p>
        </p:txBody>
      </p:sp>
      <p:sp>
        <p:nvSpPr>
          <p:cNvPr id="8" name="Shape 5"/>
          <p:cNvSpPr/>
          <p:nvPr/>
        </p:nvSpPr>
        <p:spPr>
          <a:xfrm>
            <a:off x="2495550" y="2857500"/>
            <a:ext cx="2190750" cy="619125"/>
          </a:xfrm>
          <a:prstGeom prst="roundRect">
            <a:avLst>
              <a:gd name="adj" fmla="val 15385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686050" y="2990850"/>
            <a:ext cx="19907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起因 · 两三句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47750" y="3771900"/>
            <a:ext cx="13620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2495550" y="3648075"/>
            <a:ext cx="8001000" cy="619125"/>
          </a:xfrm>
          <a:prstGeom prst="roundRect">
            <a:avLst>
              <a:gd name="adj" fmla="val 15385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686050" y="3781425"/>
            <a:ext cx="8382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第一步和圈出的第二步 · 写得最详细，所以最长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47750" y="4738688"/>
            <a:ext cx="13620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第三段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2495550" y="4438650"/>
            <a:ext cx="4000500" cy="971550"/>
          </a:xfrm>
          <a:prstGeom prst="roundRect">
            <a:avLst>
              <a:gd name="adj" fmla="val 980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686050" y="4572000"/>
            <a:ext cx="372808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第三步和结果 · 比第二段短得多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47750" y="5705475"/>
            <a:ext cx="13620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第四段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2495550" y="5581650"/>
            <a:ext cx="2857500" cy="619125"/>
          </a:xfrm>
          <a:prstGeom prst="roundRect">
            <a:avLst>
              <a:gd name="adj" fmla="val 15385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686050" y="5715000"/>
            <a:ext cx="2724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结尾的感受 · 几句</a:t>
            </a:r>
            <a:endParaRPr lang="en-US" sz="2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3143250"/>
            <a:ext cx="5334000" cy="28575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47750" y="6286500"/>
            <a:ext cx="16192500" cy="1762125"/>
          </a:xfrm>
          <a:prstGeom prst="roundRect">
            <a:avLst>
              <a:gd name="adj" fmla="val 973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428750" y="6572250"/>
            <a:ext cx="16973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大家画出来的句子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1428750" y="7124700"/>
            <a:ext cx="3810000" cy="638175"/>
          </a:xfrm>
          <a:prstGeom prst="roundRect">
            <a:avLst>
              <a:gd name="adj" fmla="val 20896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676400" y="7258050"/>
            <a:ext cx="36461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缝里黑黑的，什么也看不见</a:t>
            </a:r>
            <a:endParaRPr lang="en-US" sz="2175" dirty="0"/>
          </a:p>
        </p:txBody>
      </p:sp>
      <p:sp>
        <p:nvSpPr>
          <p:cNvPr id="24" name="Shape 20"/>
          <p:cNvSpPr/>
          <p:nvPr/>
        </p:nvSpPr>
        <p:spPr>
          <a:xfrm>
            <a:off x="5391150" y="7124700"/>
            <a:ext cx="4914900" cy="638175"/>
          </a:xfrm>
          <a:prstGeom prst="roundRect">
            <a:avLst>
              <a:gd name="adj" fmla="val 20896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5638800" y="7258050"/>
            <a:ext cx="4861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只听得见顶上风扇转的声音，呼呼的</a:t>
            </a:r>
            <a:endParaRPr lang="en-US" sz="2175" dirty="0"/>
          </a:p>
        </p:txBody>
      </p:sp>
      <p:sp>
        <p:nvSpPr>
          <p:cNvPr id="26" name="Shape 22"/>
          <p:cNvSpPr/>
          <p:nvPr/>
        </p:nvSpPr>
        <p:spPr>
          <a:xfrm>
            <a:off x="10458450" y="7124700"/>
            <a:ext cx="4914900" cy="638175"/>
          </a:xfrm>
          <a:prstGeom prst="roundRect">
            <a:avLst>
              <a:gd name="adj" fmla="val 20896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0706100" y="7258050"/>
            <a:ext cx="4861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我赶紧报出楼号，声音止不住地发抖</a:t>
            </a:r>
            <a:endParaRPr lang="en-US" sz="2175" dirty="0"/>
          </a:p>
        </p:txBody>
      </p:sp>
      <p:sp>
        <p:nvSpPr>
          <p:cNvPr id="28" name="Text 2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画出来的都是当时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眼睛看到、耳朵听到的具体事物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，读的人读了这几句，也能想象出当时的情形。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41303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163231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每一句的写法：重点看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看到的、听到的、想到的三行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5715000"/>
          </a:xfrm>
          <a:prstGeom prst="roundRect">
            <a:avLst>
              <a:gd name="adj" fmla="val 233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38175"/>
          </a:xfrm>
          <a:prstGeom prst="rect">
            <a:avLst/>
          </a:prstGeom>
          <a:solidFill>
            <a:srgbClr val="3D4A63"/>
          </a:solidFill>
          <a:ln/>
        </p:spPr>
      </p:sp>
      <p:sp>
        <p:nvSpPr>
          <p:cNvPr id="9" name="Text 6"/>
          <p:cNvSpPr/>
          <p:nvPr/>
        </p:nvSpPr>
        <p:spPr>
          <a:xfrm>
            <a:off x="1343025" y="2905125"/>
            <a:ext cx="104565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11134725" y="2771775"/>
            <a:ext cx="9525" cy="63817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0" y="2905125"/>
            <a:ext cx="60664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这一句的写法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1057275" y="3409950"/>
            <a:ext cx="16173450" cy="5619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43025" y="3514725"/>
            <a:ext cx="98082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电梯上到七楼的时候，忽然一顿，灯闪了两下，就不动了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1134725" y="3409950"/>
            <a:ext cx="9525" cy="5619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30000" y="3514725"/>
            <a:ext cx="56978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起因：一两句交代清楚，不多写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3971925"/>
            <a:ext cx="16173450" cy="5619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43025" y="4076700"/>
            <a:ext cx="98082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我先按了一下开门键，没有反应。又按了一下“8”，还是没有反应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1134725" y="3971925"/>
            <a:ext cx="9525" cy="5619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430000" y="4076700"/>
            <a:ext cx="56978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第一步：两个动作，按先后写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533900"/>
            <a:ext cx="16173450" cy="5619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43025" y="4638675"/>
            <a:ext cx="98082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缝里黑黑的，什么也看不见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1134725" y="4533900"/>
            <a:ext cx="9525" cy="5619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430000" y="4638675"/>
            <a:ext cx="56978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圈出的一步写具体：看到的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095875"/>
            <a:ext cx="16173450" cy="5619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43025" y="5200650"/>
            <a:ext cx="98082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只听得见顶上风扇转的声音，呼呼的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11134725" y="5095875"/>
            <a:ext cx="9525" cy="5619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430000" y="5200650"/>
            <a:ext cx="56978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圈出的一步写具体：听到的，用上了声音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5657850"/>
            <a:ext cx="16173450" cy="5619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43025" y="5762625"/>
            <a:ext cx="98082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我心里想：电梯要是一直不开，怎么办？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1134725" y="5657850"/>
            <a:ext cx="9525" cy="5619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1430000" y="5762625"/>
            <a:ext cx="56978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圈出的一步写具体：想到的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219825"/>
            <a:ext cx="16173450" cy="5619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43025" y="6324600"/>
            <a:ext cx="98082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“别按别的键，站在原地等着，我们五分钟就到。”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11134725" y="6219825"/>
            <a:ext cx="9525" cy="5619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1430000" y="6324600"/>
            <a:ext cx="56978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听到的话照原样写下来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1057275" y="6781800"/>
            <a:ext cx="16173450" cy="5619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343025" y="6886575"/>
            <a:ext cx="98082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数电梯顶上那一圈小灯，一共八个，有一个是坏的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11134725" y="6781800"/>
            <a:ext cx="9525" cy="5619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430000" y="6886575"/>
            <a:ext cx="56978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第三步：几句交代过去，比第二段短得多</a:t>
            </a:r>
            <a:endParaRPr lang="en-US" sz="2100" dirty="0"/>
          </a:p>
        </p:txBody>
      </p:sp>
      <p:sp>
        <p:nvSpPr>
          <p:cNvPr id="40" name="Shape 37"/>
          <p:cNvSpPr/>
          <p:nvPr/>
        </p:nvSpPr>
        <p:spPr>
          <a:xfrm>
            <a:off x="1057275" y="7343775"/>
            <a:ext cx="16173450" cy="5619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343025" y="7448550"/>
            <a:ext cx="98082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我是被物业的叔叔扶着跳下来的</a:t>
            </a:r>
            <a:endParaRPr lang="en-US" sz="2100" dirty="0"/>
          </a:p>
        </p:txBody>
      </p:sp>
      <p:sp>
        <p:nvSpPr>
          <p:cNvPr id="42" name="Shape 39"/>
          <p:cNvSpPr/>
          <p:nvPr/>
        </p:nvSpPr>
        <p:spPr>
          <a:xfrm>
            <a:off x="11134725" y="7343775"/>
            <a:ext cx="9525" cy="5619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1430000" y="7448550"/>
            <a:ext cx="56978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结果：一句交代</a:t>
            </a:r>
            <a:endParaRPr lang="en-US" sz="2100" dirty="0"/>
          </a:p>
        </p:txBody>
      </p:sp>
      <p:sp>
        <p:nvSpPr>
          <p:cNvPr id="44" name="Shape 41"/>
          <p:cNvSpPr/>
          <p:nvPr/>
        </p:nvSpPr>
        <p:spPr>
          <a:xfrm>
            <a:off x="1057275" y="7905750"/>
            <a:ext cx="16173450" cy="5619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1343025" y="8010525"/>
            <a:ext cx="98082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这是我长这么大过得最漫长的十一分钟</a:t>
            </a:r>
            <a:endParaRPr lang="en-US" sz="2100" dirty="0"/>
          </a:p>
        </p:txBody>
      </p:sp>
      <p:sp>
        <p:nvSpPr>
          <p:cNvPr id="46" name="Shape 43"/>
          <p:cNvSpPr/>
          <p:nvPr/>
        </p:nvSpPr>
        <p:spPr>
          <a:xfrm>
            <a:off x="11134725" y="7905750"/>
            <a:ext cx="9525" cy="5619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11430000" y="8010525"/>
            <a:ext cx="56978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结尾的感受：这件事留给自己的真实感觉</a:t>
            </a:r>
            <a:endParaRPr lang="en-US" sz="2100" dirty="0"/>
          </a:p>
        </p:txBody>
      </p:sp>
      <p:sp>
        <p:nvSpPr>
          <p:cNvPr id="48" name="Text 45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示范文是照着表写出来的：按顺序写，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最关键的第二步写得最详细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，其他几步略写，结尾写感受。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读样稿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37944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39537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再看结尾：前面记叙经过，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结尾抒发事后的感受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886700" cy="28575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333750"/>
            <a:ext cx="77533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十一分钟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66850" y="4305300"/>
            <a:ext cx="725995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放在平时，差不多就是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一个课间</a:t>
            </a:r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，跑出去玩一玩就过去了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9353550" y="2952750"/>
            <a:ext cx="7886700" cy="2857500"/>
          </a:xfrm>
          <a:prstGeom prst="roundRect">
            <a:avLst>
              <a:gd name="adj" fmla="val 6000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72650" y="3333750"/>
            <a:ext cx="77533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十一分钟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9772650" y="4305300"/>
            <a:ext cx="725995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困在狭小封闭的电梯里，时间过得格外慢，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觉得比一个下午还长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6572250"/>
            <a:ext cx="16192500" cy="1486793"/>
          </a:xfrm>
          <a:prstGeom prst="roundRect">
            <a:avLst>
              <a:gd name="adj" fmla="val 11532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66850" y="6858000"/>
            <a:ext cx="15814929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等待的煎熬不必直接写出，读的人自己就能体会。感受不必写得很长，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一句或者两三句都可以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，写下经历这件事后自己真实的想法。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第一节课就上到这里。请把记事构思表收好，课间休息后，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照着这张表动笔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937981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先写圈出的那一步 · 自由写作 · 同桌互读 · 先判断再改 · 收束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写作热身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43948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41473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先不从头写：老师提三个问题，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每个问题写一句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771525"/>
          </a:xfrm>
          <a:prstGeom prst="roundRect">
            <a:avLst>
              <a:gd name="adj" fmla="val 19753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9527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把记事构思表放在稿纸旁边，找到第七行，回想那一步当时的情形。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1047750" y="3810000"/>
            <a:ext cx="1619250" cy="723900"/>
          </a:xfrm>
          <a:prstGeom prst="roundRect">
            <a:avLst>
              <a:gd name="adj" fmla="val 18421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66787" y="3981450"/>
            <a:ext cx="17811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2914650" y="3950940"/>
            <a:ext cx="670560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当时你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最先看见的是什么</a:t>
            </a:r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？把它写成一句话。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047750" y="4762500"/>
            <a:ext cx="1619250" cy="723900"/>
          </a:xfrm>
          <a:prstGeom prst="roundRect">
            <a:avLst>
              <a:gd name="adj" fmla="val 18421"/>
            </a:avLst>
          </a:prstGeom>
          <a:solidFill>
            <a:srgbClr val="2F72B8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66787" y="4933950"/>
            <a:ext cx="17811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听到的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2914650" y="4903440"/>
            <a:ext cx="1072896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那时候你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听见了什么</a:t>
            </a:r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？如果有人说话，把那句话照原样写下来，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加上引号</a:t>
            </a:r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047750" y="5715000"/>
            <a:ext cx="1619250" cy="723900"/>
          </a:xfrm>
          <a:prstGeom prst="roundRect">
            <a:avLst>
              <a:gd name="adj" fmla="val 18421"/>
            </a:avLst>
          </a:prstGeom>
          <a:solidFill>
            <a:srgbClr val="8E5AA8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6787" y="5886450"/>
            <a:ext cx="17811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想到的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2914650" y="5855940"/>
            <a:ext cx="871728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那时候你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心里想的是什么</a:t>
            </a:r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？用“我心里想”开头，写一句。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1047750" y="7534275"/>
            <a:ext cx="16192500" cy="1323975"/>
          </a:xfrm>
          <a:prstGeom prst="roundRect">
            <a:avLst>
              <a:gd name="adj" fmla="val 1295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447800" y="7781925"/>
            <a:ext cx="1585417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写看到的事：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这三句写你站在旁边看见的、听见的。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写听说的事：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把讲述人告诉你的那几句话写下来，再写一句你听到时心里的想法。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这三句就是你这篇习作里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写得最详细的一步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；它在文章的中间，不在开头。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18568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79487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拿出稿纸：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照着构思表往下写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78867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429000"/>
            <a:ext cx="77533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66850" y="4381500"/>
            <a:ext cx="7259955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先交代时间、地点，再写起因，接着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按第一步、第二步往下写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9353550" y="3048000"/>
            <a:ext cx="78867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72650" y="3429000"/>
            <a:ext cx="77533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9772650" y="4381500"/>
            <a:ext cx="7259955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写到你圈出的这一步，把草稿纸上刚写的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三句接进去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；如果还想到别的内容，接着往下补充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1047750" y="8239125"/>
            <a:ext cx="1265586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按表上的顺序一直写到结果，最后写下自己的感受。中途遇到不会写的字、不确定的标点，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先接着往下写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，全篇写完再统一改。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2847439" y="8791575"/>
            <a:ext cx="43928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228439" y="8982075"/>
            <a:ext cx="399389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写作时间约 18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21927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3182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读给不在场的同桌听：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听的人说两句话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228975"/>
          </a:xfrm>
          <a:prstGeom prst="roundRect">
            <a:avLst>
              <a:gd name="adj" fmla="val 531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334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听的人说两句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57275" y="3600450"/>
            <a:ext cx="7867650" cy="2476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886200"/>
            <a:ext cx="7436549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第一句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：用自己的话说一遍：这件事是怎么开始的，最后怎么样了</a:t>
            </a:r>
            <a:endParaRPr lang="en-US" sz="2325" dirty="0"/>
          </a:p>
        </p:txBody>
      </p:sp>
      <p:sp>
        <p:nvSpPr>
          <p:cNvPr id="12" name="Text 9"/>
          <p:cNvSpPr/>
          <p:nvPr/>
        </p:nvSpPr>
        <p:spPr>
          <a:xfrm>
            <a:off x="1381125" y="4983361"/>
            <a:ext cx="794194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第二句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：说出你觉得他写得最详细的是哪一步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3228975"/>
          </a:xfrm>
          <a:prstGeom prst="roundRect">
            <a:avLst>
              <a:gd name="adj" fmla="val 531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9363075" y="2867025"/>
            <a:ext cx="7867650" cy="7334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667875" y="303847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读的人回头对照自己的表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9363075" y="3600450"/>
            <a:ext cx="7867650" cy="2476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686925" y="3886200"/>
            <a:ext cx="794194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对一对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同桌说的起因和结果，对不对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9686925" y="4510980"/>
            <a:ext cx="7436549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再对一对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同桌指出的那一步，和你第七行圈出的是不是同一步</a:t>
            </a:r>
            <a:endParaRPr lang="en-US" sz="2325" dirty="0"/>
          </a:p>
        </p:txBody>
      </p:sp>
      <p:sp>
        <p:nvSpPr>
          <p:cNvPr id="19" name="Shape 16"/>
          <p:cNvSpPr/>
          <p:nvPr/>
        </p:nvSpPr>
        <p:spPr>
          <a:xfrm>
            <a:off x="1047750" y="6667500"/>
            <a:ext cx="16192500" cy="1314450"/>
          </a:xfrm>
          <a:prstGeom prst="roundRect">
            <a:avLst>
              <a:gd name="adj" fmla="val 1159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28750" y="6896100"/>
            <a:ext cx="1589341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全班交流：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请两位同学把自己圈出的那一步读给全班听，只读这一步。听的同学说一说：这一步里你听到了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哪几个动作，或者哪一句话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两处都对上了，说明这件事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写清楚了，重点也写出来了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；有一处没有对上，稍后就修改这一处。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改之前先判断：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你属于哪一种情况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5181600" cy="457200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51625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30384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第一种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343025" y="3876675"/>
            <a:ext cx="472878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同桌说不出这件事怎么开始的，或者最后怎么样了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025" y="4943475"/>
            <a:ext cx="29432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起因或者结果漏掉了，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4200525" y="4943475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补上一两句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629275" y="4943475"/>
            <a:ext cx="361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6553200" y="2857500"/>
            <a:ext cx="5181600" cy="457200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562725" y="2867025"/>
            <a:ext cx="51625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29425" y="30384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第二种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6848475" y="3876675"/>
            <a:ext cx="472878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同桌指出的那一步，和你第七行圈出的不是同一步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6848475" y="4943475"/>
            <a:ext cx="4709160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圈出的那一步还没有写详细。回到那一步，把看到的、听到的、想到的三项中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7134225" y="5829300"/>
            <a:ext cx="2200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缺的那一项补上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6848475" y="5829300"/>
            <a:ext cx="4709160" cy="862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；如果有人说话，把他的原话补上。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12058650" y="2857500"/>
            <a:ext cx="5181600" cy="457200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2068175" y="2867025"/>
            <a:ext cx="51625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334875" y="30384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第三种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2353925" y="3876675"/>
            <a:ext cx="505015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两句都对上了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12353925" y="4500563"/>
            <a:ext cx="4709160" cy="862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看一看其他两步有没有写得比圈出的那一步还长。有，就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14925675" y="4943475"/>
            <a:ext cx="1885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把它压短一些</a:t>
            </a:r>
            <a:endParaRPr lang="en-US" sz="2250" dirty="0"/>
          </a:p>
        </p:txBody>
      </p:sp>
      <p:sp>
        <p:nvSpPr>
          <p:cNvPr id="27" name="Text 24"/>
          <p:cNvSpPr/>
          <p:nvPr/>
        </p:nvSpPr>
        <p:spPr>
          <a:xfrm>
            <a:off x="12353925" y="4943475"/>
            <a:ext cx="4709160" cy="862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，省下的篇幅留给最关键的那一步。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在稿纸上方写下你属于第几种，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按这一种的改法，在稿子上修改一处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78604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84262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改完那一处，用修改符号通读一遍，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对照三档标准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6496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三个修改符号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467100"/>
            <a:ext cx="5905500" cy="805755"/>
          </a:xfrm>
          <a:prstGeom prst="roundRect">
            <a:avLst>
              <a:gd name="adj" fmla="val 1655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33500" y="3676650"/>
            <a:ext cx="58674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删除号</a:t>
            </a:r>
            <a:pPr algn="l" indent="0" marL="0">
              <a:lnSpc>
                <a:spcPct val="104103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：把多余的字圈掉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1047750" y="4463355"/>
            <a:ext cx="5905500" cy="1192411"/>
          </a:xfrm>
          <a:prstGeom prst="roundRect">
            <a:avLst>
              <a:gd name="adj" fmla="val 1118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33500" y="4672905"/>
            <a:ext cx="549402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增补号</a:t>
            </a:r>
            <a:pPr algn="l" indent="0" marL="0">
              <a:lnSpc>
                <a:spcPct val="104103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：在漏字处画朝上的尖角符号，把字写在尖角上方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1047750" y="5846266"/>
            <a:ext cx="5905500" cy="805755"/>
          </a:xfrm>
          <a:prstGeom prst="roundRect">
            <a:avLst>
              <a:gd name="adj" fmla="val 1655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33500" y="6055816"/>
            <a:ext cx="58674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改正号</a:t>
            </a:r>
            <a:pPr algn="l" indent="0" marL="0">
              <a:lnSpc>
                <a:spcPct val="104103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：把错字划去，在旁边写上正确的字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7905750" y="2857500"/>
            <a:ext cx="102679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对照三档标准，从下往上看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7905750" y="3467100"/>
            <a:ext cx="9334500" cy="715714"/>
          </a:xfrm>
          <a:prstGeom prst="roundRect">
            <a:avLst>
              <a:gd name="adj" fmla="val 13308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905750" y="3467100"/>
            <a:ext cx="76200" cy="715714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248650" y="3638550"/>
            <a:ext cx="959739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基础一档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：写的是一件事，起因、经过、结果都有，按先后写，语句通顺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7905750" y="4354264"/>
            <a:ext cx="9334500" cy="1088529"/>
          </a:xfrm>
          <a:prstGeom prst="roundRect">
            <a:avLst>
              <a:gd name="adj" fmla="val 8750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905750" y="4354264"/>
            <a:ext cx="76200" cy="1088529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248650" y="4525714"/>
            <a:ext cx="8986647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良好一档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：经过分成两三步，顺序清楚；有一步写得比其他几步详细，写出了当时看到的或听到的；结尾有感受</a:t>
            </a:r>
            <a:endParaRPr lang="en-US" sz="2025" dirty="0"/>
          </a:p>
        </p:txBody>
      </p:sp>
      <p:sp>
        <p:nvSpPr>
          <p:cNvPr id="21" name="Shape 18"/>
          <p:cNvSpPr/>
          <p:nvPr/>
        </p:nvSpPr>
        <p:spPr>
          <a:xfrm>
            <a:off x="7905750" y="5614243"/>
            <a:ext cx="9334500" cy="1461343"/>
          </a:xfrm>
          <a:prstGeom prst="roundRect">
            <a:avLst>
              <a:gd name="adj" fmla="val 6518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905750" y="5614243"/>
            <a:ext cx="76200" cy="1461343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248650" y="5785693"/>
            <a:ext cx="8986647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优秀一档</a:t>
            </a:r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：起因和结果交代简洁，经过三步以上；圈出的那一步写得最详细，看到的、听到的、想到的三项都有，有人说话的写下了原话；同桌能说出起因和结果、指得出这一步；结尾的感受真实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写看到的、听说的事，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第三项按听来的内容写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，同样按这三档标准评判。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685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00628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118489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回到第一节课那幅图：这件事，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不在场的人也说得清楚了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775335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看图的人，说不出比赛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怎么开始、谁得了第一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1047750" y="420528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052888"/>
            <a:ext cx="9437942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你的同桌没有在场，听完你的稿子，却能说出这件事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怎么开始、最后怎么样</a:t>
            </a:r>
            <a:endParaRPr lang="en-US" sz="2775" dirty="0"/>
          </a:p>
        </p:txBody>
      </p:sp>
      <p:sp>
        <p:nvSpPr>
          <p:cNvPr id="11" name="Shape 8"/>
          <p:cNvSpPr/>
          <p:nvPr/>
        </p:nvSpPr>
        <p:spPr>
          <a:xfrm>
            <a:off x="1047750" y="5643563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491163"/>
            <a:ext cx="542734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还能指出你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写得最详细的那一步</a:t>
            </a:r>
            <a:endParaRPr lang="en-US" sz="27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0" y="3238500"/>
            <a:ext cx="4953000" cy="47625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写一件事，先按顺序把起因、经过、结果排清楚，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再把最关键的一步写具体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50403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85162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571750"/>
            <a:ext cx="158120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选三篇当堂习作投屏（隐去姓名），每篇约 3–5 分钟，只围绕本课两条写法；＿＿＿处换成本班学生的真实句子。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248025"/>
            <a:ext cx="5162550" cy="762000"/>
          </a:xfrm>
          <a:prstGeom prst="rect">
            <a:avLst/>
          </a:prstGeom>
          <a:solidFill>
            <a:srgbClr val="4E9A5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34385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较好的一篇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02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起因、经过、结果按顺序写清楚，圈出的那一步写得最详细，三项都有。读最详细的那一步：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你听到了哪些动作、哪一句话？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655320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562725" y="3248025"/>
            <a:ext cx="5162550" cy="762000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29425" y="34385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中等的一篇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84847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顺序清楚，三步都有，但每一步长短差不多，圈出的那一步没有写详细。读那一步：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读完它，你能说出当时是什么样子吗？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补上看到的一项、听到的一句。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205865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2068175" y="3248025"/>
            <a:ext cx="5162550" cy="762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334875" y="34385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待改进的一篇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235392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起因和感受写了不少，经过只有一句“费了好大劲”。请大家替作者想一想：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中间这件事是怎么办成的，可以分成哪几步？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以后写一件事，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先把它分成几步，再确定哪一步最关键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943100" y="3657600"/>
            <a:ext cx="8064892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5716250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写一件事，按顺序排清楚起因、经过、结果，再把最关键的一步写具体。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2026-09-22T12:16:13Z</dcterms:created>
  <dcterms:modified xsi:type="dcterms:W3CDTF">2026-09-22T12:16:13Z</dcterms:modified>
</cp:coreProperties>
</file>