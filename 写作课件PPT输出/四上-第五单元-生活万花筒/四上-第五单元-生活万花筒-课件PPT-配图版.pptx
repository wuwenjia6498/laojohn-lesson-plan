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handoutMasterIdLst>
    <p:handoutMasterId r:id="rId33"/>
  </p:handout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84" r:id="rId27"/>
    <p:sldId id="278" r:id="rId28"/>
    <p:sldId id="279" r:id="rId29"/>
    <p:sldId id="280" r:id="rId30"/>
    <p:sldId id="281" r:id="rId31"/>
    <p:sldId id="283" r:id="rId3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handoutMaster" Target="handoutMasters/handout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686550" cy="18351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27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8740379" y="0"/>
            <a:ext cx="6686550" cy="18351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27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34740852"/>
            <a:ext cx="6686550" cy="183514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27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8740379" y="34740852"/>
            <a:ext cx="6686550" cy="183514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7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7.jpeg"/><Relationship Id="rId3" Type="http://schemas.openxmlformats.org/officeDocument/2006/relationships/image" Target="../media/image18.jpeg"/><Relationship Id="rId4" Type="http://schemas.openxmlformats.org/officeDocument/2006/relationships/image" Target="../media/image19.jpe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tags" Target="../tags/tag9.xml"/><Relationship Id="rId11" Type="http://schemas.openxmlformats.org/officeDocument/2006/relationships/tags" Target="../tags/tag10.xml"/><Relationship Id="rId12" Type="http://schemas.openxmlformats.org/officeDocument/2006/relationships/tags" Target="../tags/tag11.xml"/><Relationship Id="rId13" Type="http://schemas.openxmlformats.org/officeDocument/2006/relationships/tags" Target="../tags/tag12.xml"/><Relationship Id="rId14" Type="http://schemas.openxmlformats.org/officeDocument/2006/relationships/image" Target="../media/image22.png"/><Relationship Id="rId15" Type="http://schemas.openxmlformats.org/officeDocument/2006/relationships/image" Target="../media/image5.png"/><Relationship Id="rId16" Type="http://schemas.openxmlformats.org/officeDocument/2006/relationships/image" Target="../media/image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4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5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8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9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5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1589" y="323850"/>
            <a:ext cx="1668661" cy="628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7250" y="1143000"/>
            <a:ext cx="16573500" cy="5715000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EE7B2E">
                  <a:alpha val="100000"/>
                </a:srgbClr>
              </a:gs>
              <a:gs pos="42000">
                <a:srgbClr val="F0A63C">
                  <a:alpha val="100000"/>
                </a:srgbClr>
              </a:gs>
              <a:gs pos="100000">
                <a:srgbClr val="57B0A6">
                  <a:alpha val="100000"/>
                </a:srgbClr>
              </a:gs>
            </a:gsLst>
            <a:lin ang="900000" scaled="0"/>
          </a:gradFill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2952750" y="1428750"/>
            <a:ext cx="3429000" cy="3429000"/>
          </a:xfrm>
          <a:prstGeom prst="ellipse">
            <a:avLst/>
          </a:prstGeom>
          <a:solidFill>
            <a:srgbClr val="FFFFFF">
              <a:alpha val="10000"/>
            </a:srgbClr>
          </a:solidFill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5810250" y="4191000"/>
            <a:ext cx="4095750" cy="4095750"/>
          </a:xfrm>
          <a:prstGeom prst="ellipse">
            <a:avLst/>
          </a:prstGeom>
          <a:solidFill>
            <a:srgbClr val="FFFFFF">
              <a:alpha val="8000"/>
            </a:srgbClr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3810000" y="2667000"/>
            <a:ext cx="11734800" cy="1443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zh-CN" altLang="en-US" sz="8850" b="1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生活万花筒</a:t>
            </a:r>
            <a:endParaRPr lang="zh-CN" sz="8850" dirty="0"/>
          </a:p>
        </p:txBody>
      </p:sp>
      <p:sp>
        <p:nvSpPr>
          <p:cNvPr id="7" name="Text 4"/>
          <p:cNvSpPr/>
          <p:nvPr/>
        </p:nvSpPr>
        <p:spPr>
          <a:xfrm>
            <a:off x="3848100" y="4476750"/>
            <a:ext cx="11734800" cy="571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zh-CN" altLang="en-US" sz="3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四年级上册 · 第五单元 · 校内同步写作（记事）</a:t>
            </a:r>
            <a:endParaRPr lang="zh-CN" sz="3000" dirty="0"/>
          </a:p>
        </p:txBody>
      </p:sp>
      <p:sp>
        <p:nvSpPr>
          <p:cNvPr id="8" name="Shape 5"/>
          <p:cNvSpPr/>
          <p:nvPr/>
        </p:nvSpPr>
        <p:spPr>
          <a:xfrm>
            <a:off x="0" y="2857500"/>
            <a:ext cx="1066800" cy="13335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00"/>
            <a:ext cx="1066800" cy="133350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1508" y="3931919"/>
            <a:ext cx="5306491" cy="63550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7750" y="8943975"/>
            <a:ext cx="3574956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55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四年级上册 · 第五单元</a:t>
            </a:r>
            <a:endParaRPr lang="zh-CN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solidFill>
            <a:srgbClr val="D98A5F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314325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4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写作指导课</a:t>
            </a:r>
            <a:endParaRPr lang="zh-CN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9023583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550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 · 选定一件事 · 学写法 · 记事构思表 · 教师示范文</a:t>
            </a:r>
            <a:endParaRPr lang="zh-CN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DEBD9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7636154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请看这幅图：图上正在发生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一件什么事</a:t>
            </a: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</p:spPr>
        <p:txBody>
          <a:bodyPr/>
          <a:p/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37955"/>
            <a:ext cx="8412480" cy="61198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429750" y="329565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9791700" y="3143250"/>
            <a:ext cx="6789420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跑道上三位同学在跑，场边的同学在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加油</a:t>
            </a:r>
            <a:endParaRPr lang="zh-CN" sz="2700" dirty="0"/>
          </a:p>
        </p:txBody>
      </p:sp>
      <p:sp>
        <p:nvSpPr>
          <p:cNvPr id="11" name="Shape 7"/>
          <p:cNvSpPr/>
          <p:nvPr/>
        </p:nvSpPr>
        <p:spPr>
          <a:xfrm>
            <a:off x="9429750" y="4116586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9791700" y="3964186"/>
            <a:ext cx="7543800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再问一个问题：这场比赛最后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是谁得了第一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sz="2700" dirty="0"/>
          </a:p>
        </p:txBody>
      </p:sp>
      <p:sp>
        <p:nvSpPr>
          <p:cNvPr id="13" name="Shape 9"/>
          <p:cNvSpPr/>
          <p:nvPr/>
        </p:nvSpPr>
        <p:spPr>
          <a:xfrm>
            <a:off x="9429750" y="4785122"/>
            <a:ext cx="7810500" cy="1906339"/>
          </a:xfrm>
          <a:prstGeom prst="roundRect">
            <a:avLst>
              <a:gd name="adj" fmla="val 8994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9791700" y="5051822"/>
            <a:ext cx="7299198" cy="141103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图上只画了他们正在跑的时候。比赛怎么开始、后来怎么样，都没有画。一幅图只能画下一件事里的</a:t>
            </a: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一个画面</a:t>
            </a: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，前后发生了什么，看图的人只能猜。</a:t>
            </a:r>
            <a:endParaRPr lang="zh-CN" sz="2325" dirty="0"/>
          </a:p>
        </p:txBody>
      </p:sp>
      <p:sp>
        <p:nvSpPr>
          <p:cNvPr id="15" name="Text 11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读你作文的人也是这样：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你写下多少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，他就知道多少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东西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；你没有写的，他就无从知道。</a:t>
            </a:r>
            <a:endParaRPr lang="zh-CN" sz="2605" dirty="0"/>
          </a:p>
        </p:txBody>
      </p:sp>
      <p:pic>
        <p:nvPicPr>
          <p:cNvPr id="32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33" name="吉祥物" descr="抠-吉祥物-cfcc259a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426464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底带"/>
          <p:cNvSpPr/>
          <p:nvPr/>
        </p:nvSpPr>
        <p:spPr>
          <a:xfrm>
            <a:off x="0" y="6400800"/>
            <a:ext cx="18288000" cy="3886200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DEBD9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8947949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今天的任务：写一件事，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读给不在场的同桌听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667000"/>
            <a:ext cx="16192500" cy="847725"/>
          </a:xfrm>
          <a:prstGeom prst="roundRect">
            <a:avLst>
              <a:gd name="adj" fmla="val 17978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28750" y="2876550"/>
            <a:ext cx="169735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55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每位同学写一件自己印象深刻的事。你经历的这件事，同桌并没有在场，他只能</a:t>
            </a:r>
            <a:r>
              <a:rPr lang="zh-CN" alt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</a:t>
            </a:r>
            <a:r>
              <a:rPr lang="zh-CN" alt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你的作文里</a:t>
            </a:r>
            <a:r>
              <a:rPr lang="zh-CN" alt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知道这件事</a:t>
            </a:r>
            <a:r>
              <a:rPr lang="zh-CN" altLang="en-US" sz="255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550" dirty="0"/>
          </a:p>
        </p:txBody>
      </p:sp>
      <p:sp>
        <p:nvSpPr>
          <p:cNvPr id="10" name="Text 6"/>
          <p:cNvSpPr/>
          <p:nvPr/>
        </p:nvSpPr>
        <p:spPr>
          <a:xfrm>
            <a:off x="1048512" y="3810000"/>
            <a:ext cx="121539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第二节课写完，读给同桌听。他听完要能说出两点：</a:t>
            </a:r>
            <a:endParaRPr lang="zh-CN" sz="2400" dirty="0"/>
          </a:p>
        </p:txBody>
      </p:sp>
      <p:sp>
        <p:nvSpPr>
          <p:cNvPr id="11" name="Shape 7"/>
          <p:cNvSpPr/>
          <p:nvPr/>
        </p:nvSpPr>
        <p:spPr>
          <a:xfrm>
            <a:off x="1048512" y="44958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1218623" y="457200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1800987" y="4552950"/>
            <a:ext cx="8829675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用一两句话说一说：这件事是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怎么开始的，最后怎么样了</a:t>
            </a:r>
            <a:endParaRPr lang="zh-CN" sz="2700" dirty="0"/>
          </a:p>
        </p:txBody>
      </p:sp>
      <p:sp>
        <p:nvSpPr>
          <p:cNvPr id="14" name="Shape 10"/>
          <p:cNvSpPr/>
          <p:nvPr/>
        </p:nvSpPr>
        <p:spPr>
          <a:xfrm>
            <a:off x="1048512" y="5431036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1218623" y="5507236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1800987" y="5488186"/>
            <a:ext cx="4591431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说出你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写得最详细的是哪一步</a:t>
            </a:r>
            <a:endParaRPr lang="zh-CN" sz="2700" dirty="0"/>
          </a:p>
        </p:txBody>
      </p:sp>
      <p:sp>
        <p:nvSpPr>
          <p:cNvPr id="17" name="Text 13"/>
          <p:cNvSpPr/>
          <p:nvPr/>
        </p:nvSpPr>
        <p:spPr>
          <a:xfrm>
            <a:off x="1687830" y="9334500"/>
            <a:ext cx="850392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这两点他都说得出来，就说明你把这件事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写清楚了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46" name="提示图标" descr="手指点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47" name="吉祥物" descr="抠-吉祥物-cfcc259a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760" y="341947"/>
            <a:ext cx="1426464" cy="1920240"/>
          </a:xfrm>
          <a:prstGeom prst="rect">
            <a:avLst/>
          </a:prstGeom>
        </p:spPr>
      </p:pic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4000" y="4387850"/>
            <a:ext cx="7874000" cy="5899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DEBD9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8053105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这就是第五单元的习作：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《生活万花筒》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16192500" cy="1141065"/>
          </a:xfrm>
          <a:prstGeom prst="roundRect">
            <a:avLst>
              <a:gd name="adj" fmla="val 15025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85900" y="3067050"/>
            <a:ext cx="16847820" cy="5695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题面要求：选一件你印象深的事，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按一定的顺序把这件事写清楚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700" dirty="0"/>
          </a:p>
        </p:txBody>
      </p:sp>
      <p:sp>
        <p:nvSpPr>
          <p:cNvPr id="9" name="Text 6"/>
          <p:cNvSpPr/>
          <p:nvPr/>
        </p:nvSpPr>
        <p:spPr>
          <a:xfrm>
            <a:off x="1047750" y="4286250"/>
            <a:ext cx="368808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课本给出的八个参考题目</a:t>
            </a:r>
            <a:endParaRPr lang="zh-CN" sz="2400" dirty="0"/>
          </a:p>
        </p:txBody>
      </p:sp>
      <p:sp>
        <p:nvSpPr>
          <p:cNvPr id="10" name="Shape 7"/>
          <p:cNvSpPr/>
          <p:nvPr/>
        </p:nvSpPr>
        <p:spPr>
          <a:xfrm>
            <a:off x="1051560" y="4914900"/>
            <a:ext cx="2743200" cy="857250"/>
          </a:xfrm>
          <a:prstGeom prst="roundRect">
            <a:avLst>
              <a:gd name="adj" fmla="val 15556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170431" y="5143500"/>
            <a:ext cx="2505456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捉蚊趣事</a:t>
            </a:r>
            <a:endParaRPr lang="zh-CN" sz="2400" dirty="0"/>
          </a:p>
        </p:txBody>
      </p:sp>
      <p:sp>
        <p:nvSpPr>
          <p:cNvPr id="12" name="Shape 9"/>
          <p:cNvSpPr/>
          <p:nvPr/>
        </p:nvSpPr>
        <p:spPr>
          <a:xfrm>
            <a:off x="3977639" y="4914900"/>
            <a:ext cx="2743200" cy="857250"/>
          </a:xfrm>
          <a:prstGeom prst="roundRect">
            <a:avLst>
              <a:gd name="adj" fmla="val 15556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096511" y="5143500"/>
            <a:ext cx="2505456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一件烦心事</a:t>
            </a:r>
            <a:endParaRPr lang="zh-CN" sz="2400" dirty="0"/>
          </a:p>
        </p:txBody>
      </p:sp>
      <p:sp>
        <p:nvSpPr>
          <p:cNvPr id="14" name="Shape 11"/>
          <p:cNvSpPr/>
          <p:nvPr/>
        </p:nvSpPr>
        <p:spPr>
          <a:xfrm>
            <a:off x="6903720" y="4914900"/>
            <a:ext cx="2743200" cy="857250"/>
          </a:xfrm>
          <a:prstGeom prst="roundRect">
            <a:avLst>
              <a:gd name="adj" fmla="val 15556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022592" y="5143500"/>
            <a:ext cx="2505456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她收到了礼物</a:t>
            </a:r>
            <a:endParaRPr lang="zh-CN" sz="2400" dirty="0"/>
          </a:p>
        </p:txBody>
      </p:sp>
      <p:sp>
        <p:nvSpPr>
          <p:cNvPr id="16" name="Shape 13"/>
          <p:cNvSpPr/>
          <p:nvPr/>
        </p:nvSpPr>
        <p:spPr>
          <a:xfrm>
            <a:off x="9829800" y="4914900"/>
            <a:ext cx="2743200" cy="857250"/>
          </a:xfrm>
          <a:prstGeom prst="roundRect">
            <a:avLst>
              <a:gd name="adj" fmla="val 15556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948672" y="5143500"/>
            <a:ext cx="2505456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爷爷戒烟了</a:t>
            </a:r>
            <a:endParaRPr lang="zh-CN" sz="2400" dirty="0"/>
          </a:p>
        </p:txBody>
      </p:sp>
      <p:sp>
        <p:nvSpPr>
          <p:cNvPr id="18" name="Shape 15"/>
          <p:cNvSpPr/>
          <p:nvPr/>
        </p:nvSpPr>
        <p:spPr>
          <a:xfrm>
            <a:off x="1051560" y="5981700"/>
            <a:ext cx="2743200" cy="857250"/>
          </a:xfrm>
          <a:prstGeom prst="roundRect">
            <a:avLst>
              <a:gd name="adj" fmla="val 15556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170431" y="6210300"/>
            <a:ext cx="2505456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照片里的温暖</a:t>
            </a:r>
            <a:endParaRPr lang="zh-CN" sz="2400" dirty="0"/>
          </a:p>
        </p:txBody>
      </p:sp>
      <p:sp>
        <p:nvSpPr>
          <p:cNvPr id="20" name="Shape 17"/>
          <p:cNvSpPr/>
          <p:nvPr/>
        </p:nvSpPr>
        <p:spPr>
          <a:xfrm>
            <a:off x="3977639" y="5981700"/>
            <a:ext cx="2743200" cy="857250"/>
          </a:xfrm>
          <a:prstGeom prst="roundRect">
            <a:avLst>
              <a:gd name="adj" fmla="val 15556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096511" y="6210300"/>
            <a:ext cx="2505456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家庭风波</a:t>
            </a:r>
            <a:endParaRPr lang="zh-CN" sz="2400" dirty="0"/>
          </a:p>
        </p:txBody>
      </p:sp>
      <p:sp>
        <p:nvSpPr>
          <p:cNvPr id="22" name="Shape 19"/>
          <p:cNvSpPr/>
          <p:nvPr/>
        </p:nvSpPr>
        <p:spPr>
          <a:xfrm>
            <a:off x="6903720" y="5981700"/>
            <a:ext cx="2743200" cy="857250"/>
          </a:xfrm>
          <a:prstGeom prst="roundRect">
            <a:avLst>
              <a:gd name="adj" fmla="val 15556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022592" y="6210300"/>
            <a:ext cx="2505456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教室里的掌声</a:t>
            </a:r>
            <a:endParaRPr lang="zh-CN" sz="2400" dirty="0"/>
          </a:p>
        </p:txBody>
      </p:sp>
      <p:sp>
        <p:nvSpPr>
          <p:cNvPr id="24" name="Shape 21"/>
          <p:cNvSpPr/>
          <p:nvPr/>
        </p:nvSpPr>
        <p:spPr>
          <a:xfrm>
            <a:off x="9829800" y="5981700"/>
            <a:ext cx="2743200" cy="857250"/>
          </a:xfrm>
          <a:prstGeom prst="roundRect">
            <a:avLst>
              <a:gd name="adj" fmla="val 15556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9948672" y="6210300"/>
            <a:ext cx="2505456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窗外的故事</a:t>
            </a:r>
            <a:endParaRPr lang="zh-CN" sz="2400" dirty="0"/>
          </a:p>
        </p:txBody>
      </p:sp>
      <p:sp>
        <p:nvSpPr>
          <p:cNvPr id="26" name="Shape 23"/>
          <p:cNvSpPr/>
          <p:nvPr/>
        </p:nvSpPr>
        <p:spPr>
          <a:xfrm>
            <a:off x="1047750" y="7429500"/>
            <a:ext cx="1179576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428750" y="7658100"/>
            <a:ext cx="11521440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可以是自己</a:t>
            </a:r>
            <a:r>
              <a:rPr lang="zh-CN" alt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亲身经历</a:t>
            </a:r>
            <a:r>
              <a:rPr lang="zh-CN" alt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的，可以是</a:t>
            </a:r>
            <a:r>
              <a:rPr lang="zh-CN" alt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看到</a:t>
            </a:r>
            <a:r>
              <a:rPr lang="zh-CN" alt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的，也可以是</a:t>
            </a:r>
            <a:r>
              <a:rPr lang="zh-CN" alt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听说</a:t>
            </a:r>
            <a:r>
              <a:rPr lang="zh-CN" alt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的。有开心的事，有烦心的事，也有有趣的、让人感动的事。</a:t>
            </a:r>
            <a:endParaRPr lang="zh-CN" sz="2325" dirty="0"/>
          </a:p>
        </p:txBody>
      </p:sp>
      <p:sp>
        <p:nvSpPr>
          <p:cNvPr id="28" name="Text 25"/>
          <p:cNvSpPr/>
          <p:nvPr/>
        </p:nvSpPr>
        <p:spPr>
          <a:xfrm>
            <a:off x="1687830" y="9334500"/>
            <a:ext cx="1088136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要写到不在场的人读完，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也能说出这件事的经过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79" name="插图" descr="抠-P05-5cf43e6d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0" y="4965742"/>
            <a:ext cx="5303520" cy="5321257"/>
          </a:xfrm>
          <a:prstGeom prst="rect">
            <a:avLst/>
          </a:prstGeom>
        </p:spPr>
      </p:pic>
      <p:pic>
        <p:nvPicPr>
          <p:cNvPr id="80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81" name="吉祥物" descr="抠-吉祥物-cfcc259a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426464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选定一件事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DEBD9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8500527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想一想：哪一件事，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你现在想起来还很清楚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5230368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120640" y="3143250"/>
            <a:ext cx="12124944" cy="928688"/>
          </a:xfrm>
          <a:prstGeom prst="roundRect">
            <a:avLst>
              <a:gd name="adj" fmla="val 16410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486400" y="3371850"/>
            <a:ext cx="11704320" cy="5095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47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想好以后，在草稿纸的左上角写一句话：</a:t>
            </a:r>
            <a:r>
              <a:rPr lang="zh-CN" alt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谁做了一件什么事</a:t>
            </a:r>
            <a:r>
              <a:rPr lang="zh-CN" altLang="en-US" sz="247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。写一句即可。</a:t>
            </a:r>
            <a:endParaRPr lang="zh-CN" sz="2475" dirty="0"/>
          </a:p>
        </p:txBody>
      </p:sp>
      <p:sp>
        <p:nvSpPr>
          <p:cNvPr id="10" name="Text 7"/>
          <p:cNvSpPr/>
          <p:nvPr/>
        </p:nvSpPr>
        <p:spPr>
          <a:xfrm>
            <a:off x="5120640" y="4476750"/>
            <a:ext cx="831469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同时想到两件事、拿不定主意时，问一问自己</a:t>
            </a:r>
            <a:endParaRPr lang="zh-CN" sz="2400" dirty="0"/>
          </a:p>
        </p:txBody>
      </p:sp>
      <p:sp>
        <p:nvSpPr>
          <p:cNvPr id="11" name="Shape 8"/>
          <p:cNvSpPr/>
          <p:nvPr/>
        </p:nvSpPr>
        <p:spPr>
          <a:xfrm>
            <a:off x="5120640" y="5143500"/>
            <a:ext cx="5943600" cy="2657475"/>
          </a:xfrm>
          <a:prstGeom prst="roundRect">
            <a:avLst>
              <a:gd name="adj" fmla="val 6452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5129784" y="5153025"/>
            <a:ext cx="5925312" cy="733425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431536" y="5324475"/>
            <a:ext cx="566928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3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写的是自己亲身经历的事</a:t>
            </a:r>
            <a:endParaRPr lang="zh-CN" sz="2325" dirty="0"/>
          </a:p>
        </p:txBody>
      </p:sp>
      <p:sp>
        <p:nvSpPr>
          <p:cNvPr id="14" name="Shape 11"/>
          <p:cNvSpPr/>
          <p:nvPr/>
        </p:nvSpPr>
        <p:spPr>
          <a:xfrm>
            <a:off x="5129784" y="5886450"/>
            <a:ext cx="5925312" cy="1905000"/>
          </a:xfrm>
          <a:prstGeom prst="rect">
            <a:avLst/>
          </a:prstGeom>
          <a:solidFill>
            <a:srgbClr val="F7F8FA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449824" y="6172200"/>
            <a:ext cx="5394960" cy="9828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这件事我现在能不能说出它的</a:t>
            </a: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第一步、第二步、第三步</a:t>
            </a: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？三步都说得出来，就写这一件。</a:t>
            </a:r>
            <a:endParaRPr lang="zh-CN" sz="2325" dirty="0"/>
          </a:p>
        </p:txBody>
      </p:sp>
      <p:sp>
        <p:nvSpPr>
          <p:cNvPr id="16" name="Shape 13"/>
          <p:cNvSpPr/>
          <p:nvPr/>
        </p:nvSpPr>
        <p:spPr>
          <a:xfrm>
            <a:off x="11292840" y="5143500"/>
            <a:ext cx="5943600" cy="2657475"/>
          </a:xfrm>
          <a:prstGeom prst="roundRect">
            <a:avLst>
              <a:gd name="adj" fmla="val 6452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1301984" y="5153025"/>
            <a:ext cx="5925312" cy="733425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1603736" y="5324475"/>
            <a:ext cx="566928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3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写的是看到的、听说的事</a:t>
            </a:r>
            <a:endParaRPr lang="zh-CN" sz="2325" dirty="0"/>
          </a:p>
        </p:txBody>
      </p:sp>
      <p:sp>
        <p:nvSpPr>
          <p:cNvPr id="19" name="Shape 16"/>
          <p:cNvSpPr/>
          <p:nvPr/>
        </p:nvSpPr>
        <p:spPr>
          <a:xfrm>
            <a:off x="11301984" y="5886450"/>
            <a:ext cx="5925312" cy="1905000"/>
          </a:xfrm>
          <a:prstGeom prst="rect">
            <a:avLst/>
          </a:prstGeom>
          <a:solidFill>
            <a:srgbClr val="F7F8FA"/>
          </a:solidFill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1622024" y="6172200"/>
            <a:ext cx="5394960" cy="9828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这件事</a:t>
            </a: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怎么开始的、最后怎么样了</a:t>
            </a: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，你知不知道？开头和结尾都知道，中间经过大致清楚，也可以写。</a:t>
            </a:r>
            <a:endParaRPr lang="zh-CN" sz="2325" dirty="0"/>
          </a:p>
        </p:txBody>
      </p:sp>
      <p:sp>
        <p:nvSpPr>
          <p:cNvPr id="21" name="Text 18"/>
          <p:cNvSpPr/>
          <p:nvPr/>
        </p:nvSpPr>
        <p:spPr>
          <a:xfrm>
            <a:off x="5760720" y="9334500"/>
            <a:ext cx="1152144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两个问题都回答不了，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就换一件事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55" name="插图" descr="手指点击-fea7ea31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241" y="9299448"/>
            <a:ext cx="407717" cy="502920"/>
          </a:xfrm>
          <a:prstGeom prst="rect">
            <a:avLst/>
          </a:prstGeom>
        </p:spPr>
      </p:pic>
      <p:pic>
        <p:nvPicPr>
          <p:cNvPr id="56" name="插图" descr="抠-P06b-9c80adf3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555" y="2834640"/>
            <a:ext cx="2210409" cy="6766560"/>
          </a:xfrm>
          <a:prstGeom prst="rect">
            <a:avLst/>
          </a:prstGeom>
        </p:spPr>
      </p:pic>
      <p:pic>
        <p:nvPicPr>
          <p:cNvPr id="58" name="吉祥物" descr="抠-吉祥物-cfcc259a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426464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选定一件事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DEBD9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8947949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把这件事讲给同桌听，请他找出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最关键的一步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12420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124200"/>
            <a:ext cx="9133808" cy="1004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讲的人用一分钟，从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怎么开始</a:t>
            </a: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讲起，一直讲到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结束</a:t>
            </a: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；中间按先后顺序逐一说，不要跳过</a:t>
            </a:r>
            <a:endParaRPr lang="zh-CN" sz="2625" dirty="0"/>
          </a:p>
        </p:txBody>
      </p:sp>
      <p:sp>
        <p:nvSpPr>
          <p:cNvPr id="10" name="Shape 7"/>
          <p:cNvSpPr/>
          <p:nvPr/>
        </p:nvSpPr>
        <p:spPr>
          <a:xfrm>
            <a:off x="1047750" y="439578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471988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4471988"/>
            <a:ext cx="9133808" cy="1004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听的人不打断，听完只说一句：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你讲的这件事里，哪一步最关键</a:t>
            </a:r>
            <a:endParaRPr lang="zh-CN" sz="2625" dirty="0"/>
          </a:p>
        </p:txBody>
      </p:sp>
      <p:sp>
        <p:nvSpPr>
          <p:cNvPr id="13" name="Shape 10"/>
          <p:cNvSpPr/>
          <p:nvPr/>
        </p:nvSpPr>
        <p:spPr>
          <a:xfrm>
            <a:off x="1047750" y="574357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5819775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5819775"/>
            <a:ext cx="2076450" cy="52149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说完两人交换</a:t>
            </a:r>
            <a:endParaRPr lang="zh-CN" sz="2625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0040" y="6326276"/>
            <a:ext cx="6309359" cy="2954883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6903720"/>
            <a:ext cx="10424160" cy="2011680"/>
          </a:xfrm>
          <a:prstGeom prst="roundRect">
            <a:avLst>
              <a:gd name="adj" fmla="val 11835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66850" y="7132320"/>
            <a:ext cx="9875520" cy="15544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同学们找出来的那一步：</a:t>
            </a: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找到蜡烛点着的时候</a:t>
            </a: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老师叫到她名字的时候</a:t>
            </a: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跑过去扶弟弟的时候</a:t>
            </a: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。找蜡烛、叫名字、扶弟弟，分别是各自那件事里最关键的一步。</a:t>
            </a:r>
            <a:endParaRPr lang="zh-CN" sz="2325" dirty="0"/>
          </a:p>
        </p:txBody>
      </p:sp>
      <p:sp>
        <p:nvSpPr>
          <p:cNvPr id="19" name="Text 15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同桌替你找出的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最关键的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这一步，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记在草稿纸上那句话的旁边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，稍后填表要用。</a:t>
            </a:r>
            <a:endParaRPr lang="zh-CN" sz="2605" dirty="0"/>
          </a:p>
        </p:txBody>
      </p:sp>
      <p:pic>
        <p:nvPicPr>
          <p:cNvPr id="52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53" name="吉祥物" descr="抠-吉祥物-cfcc259a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426464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DEBD9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632317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默读两段话：读完哪一段，你能说出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蚊子是怎么被拍死的</a:t>
            </a: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7905750" cy="6048375"/>
          </a:xfrm>
          <a:prstGeom prst="roundRect">
            <a:avLst>
              <a:gd name="adj" fmla="val 2835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771775"/>
            <a:ext cx="7886700" cy="695325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30580" y="2924175"/>
            <a:ext cx="834009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23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第一段</a:t>
            </a:r>
            <a:endParaRPr lang="zh-CN" sz="2325" dirty="0"/>
          </a:p>
        </p:txBody>
      </p:sp>
      <p:sp>
        <p:nvSpPr>
          <p:cNvPr id="10" name="Shape 7"/>
          <p:cNvSpPr/>
          <p:nvPr/>
        </p:nvSpPr>
        <p:spPr>
          <a:xfrm>
            <a:off x="1057275" y="3467100"/>
            <a:ext cx="7886700" cy="5334000"/>
          </a:xfrm>
          <a:prstGeom prst="rect">
            <a:avLst/>
          </a:prstGeom>
          <a:solidFill>
            <a:srgbClr val="F7F8FA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62075" y="3733800"/>
            <a:ext cx="7495413" cy="22377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533400" algn="l">
              <a:lnSpc>
                <a:spcPct val="125000"/>
              </a:lnSpc>
              <a:buNone/>
            </a:pP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昨天晚上我刚睡着，耳边就响起了嗡嗡声。我开灯一看，胳膊上已经起了一个红包，又痒又疼。我叫来爸爸，我们俩</a:t>
            </a:r>
            <a:r>
              <a:rPr lang="zh-CN" alt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费了好大的劲，找了半天，终于把它打死了</a:t>
            </a: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。看着墙上那个小黑点，我心里真痛快，这只蚊子再也不能咬人了。今天晚上我总算可以睡个好觉了。</a:t>
            </a:r>
            <a:endParaRPr lang="zh-CN" sz="2100" dirty="0"/>
          </a:p>
        </p:txBody>
      </p:sp>
      <p:sp>
        <p:nvSpPr>
          <p:cNvPr id="12" name="Shape 9"/>
          <p:cNvSpPr/>
          <p:nvPr/>
        </p:nvSpPr>
        <p:spPr>
          <a:xfrm>
            <a:off x="9334500" y="2762250"/>
            <a:ext cx="7905750" cy="6048375"/>
          </a:xfrm>
          <a:prstGeom prst="roundRect">
            <a:avLst>
              <a:gd name="adj" fmla="val 2835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9344025" y="2771775"/>
            <a:ext cx="7886700" cy="695325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117330" y="2924175"/>
            <a:ext cx="834009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23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第二段</a:t>
            </a:r>
            <a:endParaRPr lang="zh-CN" sz="2325" dirty="0"/>
          </a:p>
        </p:txBody>
      </p:sp>
      <p:sp>
        <p:nvSpPr>
          <p:cNvPr id="15" name="Shape 12"/>
          <p:cNvSpPr/>
          <p:nvPr/>
        </p:nvSpPr>
        <p:spPr>
          <a:xfrm>
            <a:off x="9344025" y="3467100"/>
            <a:ext cx="7886700" cy="5334000"/>
          </a:xfrm>
          <a:prstGeom prst="rect">
            <a:avLst/>
          </a:prstGeom>
          <a:solidFill>
            <a:srgbClr val="F7F8FA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648825" y="3733800"/>
            <a:ext cx="7495413" cy="399752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533400" algn="l">
              <a:lnSpc>
                <a:spcPct val="125000"/>
              </a:lnSpc>
              <a:buNone/>
            </a:pP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昨天晚上我刚睡着，耳边就响起了嗡嗡声。我开灯，叫来爸爸。爸爸让我先把灯关掉，等蚊子自己飞出来。黑暗里我们坐了一会儿，嗡嗡声又来了。爸爸打开手电，</a:t>
            </a:r>
            <a:r>
              <a:rPr lang="zh-CN" alt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光柱在白墙上慢慢地移</a:t>
            </a: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，我屏住呼吸跟着看，屋里太静了，</a:t>
            </a:r>
            <a:r>
              <a:rPr lang="zh-CN" altLang="en-US" sz="21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我连自己的心跳都听得见</a:t>
            </a: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r>
              <a:rPr lang="zh-CN" altLang="en-US" sz="210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我心里想：这只蚊子可千万别再飞走了。</a:t>
            </a: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光柱慢慢移到床头那一边，</a:t>
            </a:r>
            <a:r>
              <a:rPr lang="zh-CN" alt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白墙上忽然照出一个小黑点，一动不动</a:t>
            </a: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。我一眼就看见了，立刻抓过拖鞋，慢慢凑上前，“啪”的一声，蚊子被拍扁在墙上。借着爸爸手电的光，我看见白墙上留下一小片红印子。今天晚上我总算可以睡个好觉了。</a:t>
            </a:r>
            <a:endParaRPr lang="zh-CN" sz="2100" dirty="0"/>
          </a:p>
        </p:txBody>
      </p:sp>
      <p:sp>
        <p:nvSpPr>
          <p:cNvPr id="17" name="Text 14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第一段起因清楚、感受真实，可是经过只有一句，读的人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不知道中间发生了什么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18" name="插图" descr="抠-P08-92fe9a99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969" y="5989320"/>
            <a:ext cx="3686270" cy="2743200"/>
          </a:xfrm>
          <a:prstGeom prst="rect">
            <a:avLst/>
          </a:prstGeom>
        </p:spPr>
      </p:pic>
      <p:pic>
        <p:nvPicPr>
          <p:cNvPr id="19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20" name="吉祥物" descr="抠-吉祥物-cfcc259a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426464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755"/>
          </a:xfrm>
          <a:prstGeom prst="roundRect">
            <a:avLst>
              <a:gd name="adj" fmla="val 22857"/>
            </a:avLst>
          </a:prstGeom>
          <a:solidFill>
            <a:srgbClr val="FDEBD9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700662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第二段是怎么写的：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三步按先后顺序排列，中间一步写得最详细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4605486" cy="4480560"/>
          </a:xfrm>
          <a:prstGeom prst="roundRect">
            <a:avLst>
              <a:gd name="adj" fmla="val 5202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4586436" cy="6858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23975" y="3019425"/>
            <a:ext cx="445834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第一步 · 略写</a:t>
            </a:r>
            <a:endParaRPr lang="zh-CN" sz="2250" dirty="0"/>
          </a:p>
        </p:txBody>
      </p:sp>
      <p:sp>
        <p:nvSpPr>
          <p:cNvPr id="10" name="Shape 7"/>
          <p:cNvSpPr/>
          <p:nvPr/>
        </p:nvSpPr>
        <p:spPr>
          <a:xfrm>
            <a:off x="1057275" y="3552825"/>
            <a:ext cx="4586436" cy="3776472"/>
          </a:xfrm>
          <a:prstGeom prst="rect">
            <a:avLst/>
          </a:prstGeom>
          <a:solidFill>
            <a:srgbClr val="F7F8FA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43025" y="3800475"/>
            <a:ext cx="4135384" cy="923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关灯，等蚊子自己飞出来。</a:t>
            </a:r>
            <a:r>
              <a:rPr lang="zh-CN" altLang="en-US" sz="225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一两句交代清楚</a:t>
            </a:r>
            <a:endParaRPr lang="zh-CN" sz="2250" dirty="0"/>
          </a:p>
        </p:txBody>
      </p:sp>
      <p:sp>
        <p:nvSpPr>
          <p:cNvPr id="12" name="Shape 9"/>
          <p:cNvSpPr/>
          <p:nvPr/>
        </p:nvSpPr>
        <p:spPr>
          <a:xfrm>
            <a:off x="5919936" y="2857500"/>
            <a:ext cx="6447979" cy="4480560"/>
          </a:xfrm>
          <a:prstGeom prst="roundRect">
            <a:avLst>
              <a:gd name="adj" fmla="val 5202"/>
            </a:avLst>
          </a:prstGeom>
          <a:ln w="1905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5938986" y="2876550"/>
            <a:ext cx="6409879" cy="685800"/>
          </a:xfrm>
          <a:prstGeom prst="rect">
            <a:avLst/>
          </a:prstGeom>
          <a:solidFill>
            <a:srgbClr val="C0392B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05686" y="3028950"/>
            <a:ext cx="6464126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第二步 · 最关键，写具体</a:t>
            </a:r>
            <a:endParaRPr lang="zh-CN" sz="2250" dirty="0"/>
          </a:p>
        </p:txBody>
      </p:sp>
      <p:sp>
        <p:nvSpPr>
          <p:cNvPr id="15" name="Shape 12"/>
          <p:cNvSpPr/>
          <p:nvPr/>
        </p:nvSpPr>
        <p:spPr>
          <a:xfrm>
            <a:off x="5938986" y="3562350"/>
            <a:ext cx="6409879" cy="3758184"/>
          </a:xfrm>
          <a:prstGeom prst="rect">
            <a:avLst/>
          </a:prstGeom>
          <a:solidFill>
            <a:srgbClr val="FCF3EE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224736" y="3810000"/>
            <a:ext cx="6013530" cy="923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看到的：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光柱在白墙上慢慢移、小黑点一动不动</a:t>
            </a:r>
            <a:endParaRPr lang="zh-CN" sz="2250" dirty="0"/>
          </a:p>
        </p:txBody>
      </p:sp>
      <p:sp>
        <p:nvSpPr>
          <p:cNvPr id="17" name="Text 14"/>
          <p:cNvSpPr/>
          <p:nvPr/>
        </p:nvSpPr>
        <p:spPr>
          <a:xfrm>
            <a:off x="6224736" y="4848225"/>
            <a:ext cx="6422216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zh-CN" altLang="en-US" sz="225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听到的：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屋里太静，连自己的心跳都听得见</a:t>
            </a:r>
            <a:endParaRPr lang="zh-CN" sz="2250" dirty="0"/>
          </a:p>
        </p:txBody>
      </p:sp>
      <p:sp>
        <p:nvSpPr>
          <p:cNvPr id="18" name="Text 15"/>
          <p:cNvSpPr/>
          <p:nvPr/>
        </p:nvSpPr>
        <p:spPr>
          <a:xfrm>
            <a:off x="6224736" y="5443538"/>
            <a:ext cx="6422216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zh-CN" altLang="en-US" sz="225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想到的：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“这只蚊子可千万别再飞走了”</a:t>
            </a:r>
            <a:endParaRPr lang="zh-CN" sz="2250" dirty="0"/>
          </a:p>
        </p:txBody>
      </p:sp>
      <p:sp>
        <p:nvSpPr>
          <p:cNvPr id="19" name="Shape 16"/>
          <p:cNvSpPr/>
          <p:nvPr/>
        </p:nvSpPr>
        <p:spPr>
          <a:xfrm>
            <a:off x="12634615" y="2857500"/>
            <a:ext cx="4605486" cy="4480560"/>
          </a:xfrm>
          <a:prstGeom prst="roundRect">
            <a:avLst>
              <a:gd name="adj" fmla="val 5202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2644140" y="2867025"/>
            <a:ext cx="4586436" cy="6858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2910840" y="3019425"/>
            <a:ext cx="445834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第三步 · 略写</a:t>
            </a:r>
            <a:endParaRPr lang="zh-CN" sz="2250" dirty="0"/>
          </a:p>
        </p:txBody>
      </p:sp>
      <p:sp>
        <p:nvSpPr>
          <p:cNvPr id="22" name="Shape 19"/>
          <p:cNvSpPr/>
          <p:nvPr/>
        </p:nvSpPr>
        <p:spPr>
          <a:xfrm>
            <a:off x="12644140" y="3552825"/>
            <a:ext cx="4586436" cy="3776472"/>
          </a:xfrm>
          <a:prstGeom prst="rect">
            <a:avLst/>
          </a:prstGeom>
          <a:solidFill>
            <a:srgbClr val="F7F8FA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2929890" y="3800475"/>
            <a:ext cx="4135384" cy="13668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抓过拖鞋，“啪”的一声拍扁在墙上。</a:t>
            </a:r>
            <a:r>
              <a:rPr lang="zh-CN" altLang="en-US" sz="225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一两句交代清楚</a:t>
            </a:r>
            <a:endParaRPr lang="zh-CN" sz="2250" dirty="0"/>
          </a:p>
        </p:txBody>
      </p:sp>
      <p:sp>
        <p:nvSpPr>
          <p:cNvPr id="24" name="Shape 21"/>
          <p:cNvSpPr/>
          <p:nvPr/>
        </p:nvSpPr>
        <p:spPr>
          <a:xfrm>
            <a:off x="1047750" y="7581900"/>
            <a:ext cx="16192500" cy="1410593"/>
          </a:xfrm>
          <a:prstGeom prst="roundRect">
            <a:avLst>
              <a:gd name="adj" fmla="val 10804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428750" y="7829550"/>
            <a:ext cx="15893415" cy="95339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zh-CN" alt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一件事写得清楚不清楚，主要看经过：起因和结果用一两句就能交代清楚，</a:t>
            </a: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经过才是这件事的主体</a:t>
            </a:r>
            <a:r>
              <a:rPr lang="zh-CN" alt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。经过没有写出来，读的人就不知道这件事是怎样发生的。</a:t>
            </a:r>
            <a:endParaRPr lang="zh-CN" sz="2325" dirty="0"/>
          </a:p>
        </p:txBody>
      </p:sp>
      <p:sp>
        <p:nvSpPr>
          <p:cNvPr id="26" name="Text 23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最关键的一步写得最详细，把当时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看到的、听到的、想到的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都写了下来；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起因和结果这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两步略写。</a:t>
            </a:r>
            <a:endParaRPr lang="zh-CN" sz="2605" dirty="0"/>
          </a:p>
        </p:txBody>
      </p:sp>
      <p:pic>
        <p:nvPicPr>
          <p:cNvPr id="79" name="插图" descr="抠-P09a-a7074f39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741" y="4892040"/>
            <a:ext cx="2437378" cy="2423159"/>
          </a:xfrm>
          <a:prstGeom prst="rect">
            <a:avLst/>
          </a:prstGeom>
        </p:spPr>
      </p:pic>
      <p:pic>
        <p:nvPicPr>
          <p:cNvPr id="80" name="插图" descr="抠-P09b-fffdcea8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378" y="5943600"/>
            <a:ext cx="2775581" cy="1371600"/>
          </a:xfrm>
          <a:prstGeom prst="rect">
            <a:avLst/>
          </a:prstGeom>
        </p:spPr>
      </p:pic>
      <p:pic>
        <p:nvPicPr>
          <p:cNvPr id="81" name="插图" descr="抠-P09c-577f2256c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02636" y="5303520"/>
            <a:ext cx="1842363" cy="2011680"/>
          </a:xfrm>
          <a:prstGeom prst="rect">
            <a:avLst/>
          </a:prstGeom>
        </p:spPr>
      </p:pic>
      <p:pic>
        <p:nvPicPr>
          <p:cNvPr id="88" name="提示图标" descr="手指点击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89" name="吉祥物" descr="抠-吉祥物-cfcc259ac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38760" y="342264"/>
            <a:ext cx="1426464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DEBD9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5368736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本课要学的写法：共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两条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47750" y="3145536"/>
            <a:ext cx="6096000" cy="1143000"/>
          </a:xfrm>
          <a:prstGeom prst="roundRect">
            <a:avLst>
              <a:gd name="adj" fmla="val 3793"/>
            </a:avLst>
          </a:prstGeom>
          <a:gradFill rotWithShape="1">
            <a:gsLst>
              <a:gs pos="0">
                <a:srgbClr val="3D4A63">
                  <a:alpha val="100000"/>
                </a:srgbClr>
              </a:gs>
              <a:gs pos="100000">
                <a:srgbClr val="2C3650">
                  <a:alpha val="100000"/>
                </a:srgbClr>
              </a:gs>
            </a:gsLst>
            <a:lin ang="2700000" scaled="0"/>
          </a:gra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051560" y="3401568"/>
            <a:ext cx="6099048" cy="6400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6000"/>
              </a:lnSpc>
              <a:buNone/>
            </a:pPr>
            <a:r>
              <a:rPr lang="zh-CN" alt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按顺序写具体</a:t>
            </a:r>
            <a:endParaRPr lang="zh-CN" sz="7800" dirty="0"/>
          </a:p>
        </p:txBody>
      </p:sp>
      <p:sp>
        <p:nvSpPr>
          <p:cNvPr id="10" name="Shape 7"/>
          <p:cNvSpPr/>
          <p:nvPr/>
        </p:nvSpPr>
        <p:spPr>
          <a:xfrm>
            <a:off x="8001000" y="32385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171111" y="331470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753475" y="3276600"/>
            <a:ext cx="8741378" cy="1066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按顺序写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：先起因，再经过，最后结果；经过分成几步，按先后排好</a:t>
            </a:r>
            <a:endParaRPr lang="zh-CN" sz="2700" dirty="0"/>
          </a:p>
        </p:txBody>
      </p:sp>
      <p:sp>
        <p:nvSpPr>
          <p:cNvPr id="13" name="Shape 10"/>
          <p:cNvSpPr/>
          <p:nvPr/>
        </p:nvSpPr>
        <p:spPr>
          <a:xfrm>
            <a:off x="8001000" y="46863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171111" y="476250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753475" y="4724400"/>
            <a:ext cx="8741378" cy="1066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选出经过里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最关键的一步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，把它写具体：写下当时看到的、听到的、想到的</a:t>
            </a:r>
            <a:endParaRPr lang="zh-CN" sz="2700" dirty="0"/>
          </a:p>
        </p:txBody>
      </p:sp>
      <p:sp>
        <p:nvSpPr>
          <p:cNvPr id="16" name="Shape 13"/>
          <p:cNvSpPr/>
          <p:nvPr/>
        </p:nvSpPr>
        <p:spPr>
          <a:xfrm>
            <a:off x="8001000" y="6134100"/>
            <a:ext cx="9239250" cy="1448693"/>
          </a:xfrm>
          <a:prstGeom prst="roundRect">
            <a:avLst>
              <a:gd name="adj" fmla="val 11835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362950" y="6400800"/>
            <a:ext cx="8770811" cy="95339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其他几步略写，交代清楚即可。这样，习作才能</a:t>
            </a: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有详有略</a:t>
            </a: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，读的人也能知道这件事里最关键的是哪一步。</a:t>
            </a:r>
            <a:endParaRPr lang="zh-CN" sz="2325" dirty="0"/>
          </a:p>
        </p:txBody>
      </p:sp>
      <p:sp>
        <p:nvSpPr>
          <p:cNvPr id="18" name="Text 15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习作的要求是“把这件事写清楚”，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经过没有写出来，就不算写清楚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46" name="插图" descr="抠-P10b-4e3ce7e9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35448"/>
            <a:ext cx="6766560" cy="3462223"/>
          </a:xfrm>
          <a:prstGeom prst="rect">
            <a:avLst/>
          </a:prstGeom>
        </p:spPr>
      </p:pic>
      <p:pic>
        <p:nvPicPr>
          <p:cNvPr id="49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50" name="吉祥物" descr="抠-吉祥物-cfcc259a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426464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755"/>
          </a:xfrm>
          <a:prstGeom prst="roundRect">
            <a:avLst>
              <a:gd name="adj" fmla="val 22857"/>
            </a:avLst>
          </a:prstGeom>
          <a:solidFill>
            <a:srgbClr val="FDEBD9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7677785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本单元的课文和例文：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也用了这两条写法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5181600" cy="5074920"/>
          </a:xfrm>
          <a:prstGeom prst="roundRect">
            <a:avLst>
              <a:gd name="adj" fmla="val 409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5162550" cy="7239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23975" y="3038475"/>
            <a:ext cx="509206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《爬天都峰》</a:t>
            </a:r>
            <a:endParaRPr lang="zh-CN" sz="2250" dirty="0"/>
          </a:p>
        </p:txBody>
      </p:sp>
      <p:sp>
        <p:nvSpPr>
          <p:cNvPr id="10" name="Text 7"/>
          <p:cNvSpPr/>
          <p:nvPr/>
        </p:nvSpPr>
        <p:spPr>
          <a:xfrm>
            <a:off x="1343025" y="5568315"/>
            <a:ext cx="4728782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按顺序写</a:t>
            </a:r>
            <a:endParaRPr lang="zh-CN" sz="2250" dirty="0"/>
          </a:p>
        </p:txBody>
      </p:sp>
      <p:sp>
        <p:nvSpPr>
          <p:cNvPr id="11" name="Text 8"/>
          <p:cNvSpPr/>
          <p:nvPr/>
        </p:nvSpPr>
        <p:spPr>
          <a:xfrm>
            <a:off x="1343025" y="6196965"/>
            <a:ext cx="647700" cy="419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按照</a:t>
            </a:r>
            <a:endParaRPr lang="zh-CN" sz="2250" dirty="0"/>
          </a:p>
        </p:txBody>
      </p:sp>
      <p:sp>
        <p:nvSpPr>
          <p:cNvPr id="12" name="Text 9"/>
          <p:cNvSpPr/>
          <p:nvPr/>
        </p:nvSpPr>
        <p:spPr>
          <a:xfrm>
            <a:off x="1914525" y="6196965"/>
            <a:ext cx="408622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22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爬山前、爬山中、爬上峰顶后</a:t>
            </a:r>
            <a:endParaRPr lang="zh-CN" sz="2250" dirty="0"/>
          </a:p>
        </p:txBody>
      </p:sp>
      <p:sp>
        <p:nvSpPr>
          <p:cNvPr id="13" name="Text 10"/>
          <p:cNvSpPr/>
          <p:nvPr/>
        </p:nvSpPr>
        <p:spPr>
          <a:xfrm>
            <a:off x="1343025" y="6692265"/>
            <a:ext cx="4709160" cy="13335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的顺序来写，条理清楚。</a:t>
            </a:r>
            <a:endParaRPr lang="zh-CN" sz="2250" dirty="0"/>
          </a:p>
        </p:txBody>
      </p:sp>
      <p:sp>
        <p:nvSpPr>
          <p:cNvPr id="14" name="Shape 11"/>
          <p:cNvSpPr/>
          <p:nvPr/>
        </p:nvSpPr>
        <p:spPr>
          <a:xfrm>
            <a:off x="6553200" y="2857500"/>
            <a:ext cx="5181600" cy="5074920"/>
          </a:xfrm>
          <a:prstGeom prst="roundRect">
            <a:avLst>
              <a:gd name="adj" fmla="val 409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562725" y="2867025"/>
            <a:ext cx="5162550" cy="7239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829425" y="3038475"/>
            <a:ext cx="509206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《麻雀》</a:t>
            </a:r>
            <a:endParaRPr lang="zh-CN" sz="2250" dirty="0"/>
          </a:p>
        </p:txBody>
      </p:sp>
      <p:sp>
        <p:nvSpPr>
          <p:cNvPr id="17" name="Text 14"/>
          <p:cNvSpPr/>
          <p:nvPr/>
        </p:nvSpPr>
        <p:spPr>
          <a:xfrm>
            <a:off x="6848475" y="5568315"/>
            <a:ext cx="4728782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写具体</a:t>
            </a:r>
            <a:endParaRPr lang="zh-CN" sz="2250" dirty="0"/>
          </a:p>
        </p:txBody>
      </p:sp>
      <p:sp>
        <p:nvSpPr>
          <p:cNvPr id="18" name="Text 15"/>
          <p:cNvSpPr/>
          <p:nvPr/>
        </p:nvSpPr>
        <p:spPr>
          <a:xfrm>
            <a:off x="6848475" y="6196965"/>
            <a:ext cx="933450" cy="419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作者把</a:t>
            </a:r>
            <a:endParaRPr lang="zh-CN" sz="2250" dirty="0"/>
          </a:p>
        </p:txBody>
      </p:sp>
      <p:sp>
        <p:nvSpPr>
          <p:cNvPr id="19" name="Text 16"/>
          <p:cNvSpPr/>
          <p:nvPr/>
        </p:nvSpPr>
        <p:spPr>
          <a:xfrm>
            <a:off x="7705725" y="6184265"/>
            <a:ext cx="345757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22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看到的、听到的、想到的</a:t>
            </a:r>
            <a:endParaRPr lang="zh-CN" sz="2250" dirty="0"/>
          </a:p>
        </p:txBody>
      </p:sp>
      <p:sp>
        <p:nvSpPr>
          <p:cNvPr id="20" name="Text 17"/>
          <p:cNvSpPr/>
          <p:nvPr/>
        </p:nvSpPr>
        <p:spPr>
          <a:xfrm>
            <a:off x="6848475" y="6679565"/>
            <a:ext cx="4709160" cy="13335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都写下来，才写出了麻雀和猎狗相遇时的情形。</a:t>
            </a:r>
            <a:endParaRPr lang="zh-CN" sz="2250" dirty="0"/>
          </a:p>
        </p:txBody>
      </p:sp>
      <p:sp>
        <p:nvSpPr>
          <p:cNvPr id="21" name="Shape 18"/>
          <p:cNvSpPr/>
          <p:nvPr/>
        </p:nvSpPr>
        <p:spPr>
          <a:xfrm>
            <a:off x="12058650" y="2857500"/>
            <a:ext cx="5181600" cy="5074920"/>
          </a:xfrm>
          <a:prstGeom prst="roundRect">
            <a:avLst>
              <a:gd name="adj" fmla="val 409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2068175" y="2867025"/>
            <a:ext cx="5162550" cy="7239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2334875" y="3038475"/>
            <a:ext cx="509206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《小木船》</a:t>
            </a:r>
            <a:endParaRPr lang="zh-CN" sz="2250" dirty="0"/>
          </a:p>
        </p:txBody>
      </p:sp>
      <p:sp>
        <p:nvSpPr>
          <p:cNvPr id="24" name="Text 21"/>
          <p:cNvSpPr/>
          <p:nvPr/>
        </p:nvSpPr>
        <p:spPr>
          <a:xfrm>
            <a:off x="12353925" y="5568315"/>
            <a:ext cx="4728782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不关键的部分，一句带过</a:t>
            </a:r>
            <a:endParaRPr lang="zh-CN" sz="2250" dirty="0"/>
          </a:p>
        </p:txBody>
      </p:sp>
      <p:sp>
        <p:nvSpPr>
          <p:cNvPr id="25" name="Text 22"/>
          <p:cNvSpPr/>
          <p:nvPr/>
        </p:nvSpPr>
        <p:spPr>
          <a:xfrm>
            <a:off x="12353925" y="6196965"/>
            <a:ext cx="4709160" cy="8763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“我”和陈明的矛盾持续了几个月，课文只用</a:t>
            </a:r>
            <a:endParaRPr lang="zh-CN" sz="2250" dirty="0"/>
          </a:p>
        </p:txBody>
      </p:sp>
      <p:sp>
        <p:nvSpPr>
          <p:cNvPr id="26" name="Text 23"/>
          <p:cNvSpPr/>
          <p:nvPr/>
        </p:nvSpPr>
        <p:spPr>
          <a:xfrm>
            <a:off x="13496925" y="6590665"/>
            <a:ext cx="314325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22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“转眼几个月过去了”</a:t>
            </a:r>
            <a:endParaRPr lang="zh-CN" sz="2250" dirty="0"/>
          </a:p>
        </p:txBody>
      </p:sp>
      <p:sp>
        <p:nvSpPr>
          <p:cNvPr id="27" name="Text 24"/>
          <p:cNvSpPr/>
          <p:nvPr/>
        </p:nvSpPr>
        <p:spPr>
          <a:xfrm>
            <a:off x="12353925" y="7149465"/>
            <a:ext cx="4709160" cy="8763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一句话交代过去，读的人同样清楚。</a:t>
            </a:r>
            <a:endParaRPr lang="zh-CN" sz="2250" dirty="0"/>
          </a:p>
        </p:txBody>
      </p:sp>
      <p:sp>
        <p:nvSpPr>
          <p:cNvPr id="28" name="Shape 25"/>
          <p:cNvSpPr/>
          <p:nvPr/>
        </p:nvSpPr>
        <p:spPr>
          <a:xfrm>
            <a:off x="1047750" y="8138160"/>
            <a:ext cx="16192500" cy="847725"/>
          </a:xfrm>
          <a:prstGeom prst="roundRect">
            <a:avLst>
              <a:gd name="adj" fmla="val 17978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428750" y="8330183"/>
            <a:ext cx="169735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25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“梳理与交流”第三条说的是</a:t>
            </a:r>
            <a:r>
              <a:rPr lang="zh-CN" altLang="en-US" sz="225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顺序</a:t>
            </a:r>
            <a:r>
              <a:rPr lang="zh-CN" altLang="en-US" sz="225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，第四条说的是</a:t>
            </a:r>
            <a:r>
              <a:rPr lang="zh-CN" altLang="en-US" sz="225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写具体</a:t>
            </a:r>
            <a:r>
              <a:rPr lang="zh-CN" altLang="en-US" sz="225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。刚才第二段里手电找蚊子那一步，用的正是第四条的写法。</a:t>
            </a:r>
            <a:endParaRPr lang="zh-CN" sz="2250" dirty="0"/>
          </a:p>
        </p:txBody>
      </p:sp>
      <p:sp>
        <p:nvSpPr>
          <p:cNvPr id="30" name="Text 27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不必每一步都写得这样详细，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最关键的那一步，才值得多写几句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85" name="插图" descr="四上第五单元_课文《爬天都峰》_P66-fcf77d2a1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70" y="3639312"/>
            <a:ext cx="5037226" cy="1572768"/>
          </a:xfrm>
          <a:prstGeom prst="rect">
            <a:avLst/>
          </a:prstGeom>
        </p:spPr>
      </p:pic>
      <p:pic>
        <p:nvPicPr>
          <p:cNvPr id="86" name="插图" descr="四上第五单元_课文《麻雀》_P63-a0b65e960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625" y="3639312"/>
            <a:ext cx="5007893" cy="1572768"/>
          </a:xfrm>
          <a:prstGeom prst="rect">
            <a:avLst/>
          </a:prstGeom>
        </p:spPr>
      </p:pic>
      <p:pic>
        <p:nvPicPr>
          <p:cNvPr id="87" name="插图" descr="四上第五单元_习作例文《小木船》_P72-cbb8cb91f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9847" y="3639312"/>
            <a:ext cx="4986825" cy="1572768"/>
          </a:xfrm>
          <a:prstGeom prst="rect">
            <a:avLst/>
          </a:prstGeom>
        </p:spPr>
      </p:pic>
      <p:pic>
        <p:nvPicPr>
          <p:cNvPr id="94" name="提示图标" descr="手指点击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95" name="吉祥物" descr="抠-吉祥物-cfcc259ac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38760" y="342264"/>
            <a:ext cx="1426464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310005"/>
            <a:ext cx="8286750" cy="952500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8855506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练一练：</a:t>
            </a: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最关键的</a:t>
            </a: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那一步里，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你看到的是什么</a:t>
            </a: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320040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3048000"/>
            <a:ext cx="8595360" cy="103227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回到同桌替你找出的最关键的一步，用一句话说给同桌听，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只说看到的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，先不说心里怎么想</a:t>
            </a:r>
            <a:endParaRPr lang="zh-CN" sz="2700" dirty="0"/>
          </a:p>
        </p:txBody>
      </p:sp>
      <p:sp>
        <p:nvSpPr>
          <p:cNvPr id="9" name="Shape 6"/>
          <p:cNvSpPr/>
          <p:nvPr/>
        </p:nvSpPr>
        <p:spPr>
          <a:xfrm>
            <a:off x="1047750" y="4499372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4346972"/>
            <a:ext cx="8595360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听的人只回答一句：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“我看见了”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，或者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“我还没看见”</a:t>
            </a:r>
            <a:endParaRPr lang="zh-CN" sz="27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551" y="4480560"/>
            <a:ext cx="6389536" cy="4754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47750" y="5810250"/>
            <a:ext cx="7905750" cy="1524000"/>
          </a:xfrm>
          <a:prstGeom prst="roundRect">
            <a:avLst>
              <a:gd name="adj" fmla="val 15000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1733550" y="7296150"/>
            <a:ext cx="419100" cy="266700"/>
          </a:xfrm>
          <a:prstGeom prst="rect">
            <a:avLst/>
          </a:prstGeom>
          <a:solidFill>
            <a:srgbClr val="EAF1FB"/>
          </a:solidFill>
        </p:spPr>
        <p:txBody>
          <a:bodyPr/>
          <a:p/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550" y="7296150"/>
            <a:ext cx="419100" cy="2667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28750" y="6115050"/>
            <a:ext cx="7358063" cy="952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“我摸到抽屉最里面，</a:t>
            </a: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摸出一根蜡烛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。” </a:t>
            </a:r>
            <a:r>
              <a:rPr lang="zh-CN" altLang="en-US" sz="225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同桌：我看见了。</a:t>
            </a:r>
            <a:endParaRPr lang="zh-CN" sz="2250" dirty="0"/>
          </a:p>
        </p:txBody>
      </p:sp>
      <p:sp>
        <p:nvSpPr>
          <p:cNvPr id="16" name="Shape 11"/>
          <p:cNvSpPr/>
          <p:nvPr/>
        </p:nvSpPr>
        <p:spPr>
          <a:xfrm>
            <a:off x="1050036" y="7456170"/>
            <a:ext cx="7905750" cy="1524000"/>
          </a:xfrm>
          <a:prstGeom prst="roundRect">
            <a:avLst>
              <a:gd name="adj" fmla="val 15000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735836" y="8942070"/>
            <a:ext cx="419100" cy="266700"/>
          </a:xfrm>
          <a:prstGeom prst="rect">
            <a:avLst/>
          </a:prstGeom>
          <a:solidFill>
            <a:srgbClr val="EAF1FB"/>
          </a:solidFill>
        </p:spPr>
        <p:txBody>
          <a:bodyPr/>
          <a:p/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836" y="8942070"/>
            <a:ext cx="419100" cy="2667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31036" y="7760970"/>
            <a:ext cx="7358063" cy="952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“当时很黑。”</a:t>
            </a:r>
            <a:r>
              <a:rPr lang="zh-CN" altLang="en-US" sz="2250" b="1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同桌：我还没看见。 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再加一句：“</a:t>
            </a: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连桌子都看不清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。”</a:t>
            </a:r>
            <a:endParaRPr lang="zh-CN" sz="2250" dirty="0"/>
          </a:p>
        </p:txBody>
      </p:sp>
      <p:sp>
        <p:nvSpPr>
          <p:cNvPr id="20" name="Text 14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同桌说“看见了”，说明这一句写下来读的人也能看见；说“还没看见”，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填表时再补两三个关键词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记事构思表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1428750"/>
            <a:ext cx="2724150" cy="6819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zh-CN" altLang="en-US" sz="39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记事构思表</a:t>
            </a:r>
            <a:endParaRPr lang="zh-CN" sz="3900" dirty="0"/>
          </a:p>
        </p:txBody>
      </p:sp>
      <p:sp>
        <p:nvSpPr>
          <p:cNvPr id="6" name="Text 3"/>
          <p:cNvSpPr/>
          <p:nvPr/>
        </p:nvSpPr>
        <p:spPr>
          <a:xfrm>
            <a:off x="1047750" y="2133600"/>
            <a:ext cx="1194435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50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每一行填一项内容，只记关键词（先看老师填写的这一张：独自坐电梯，电梯停在半路）</a:t>
            </a:r>
            <a:endParaRPr lang="zh-CN" sz="2250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16192500" cy="6429375"/>
          </a:xfrm>
          <a:prstGeom prst="roundRect">
            <a:avLst>
              <a:gd name="adj" fmla="val 2074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771775"/>
            <a:ext cx="16173450" cy="619125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43025" y="2895600"/>
            <a:ext cx="691515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</a:t>
            </a:r>
            <a:endParaRPr lang="zh-CN" sz="2175" dirty="0"/>
          </a:p>
        </p:txBody>
      </p:sp>
      <p:sp>
        <p:nvSpPr>
          <p:cNvPr id="10" name="Shape 7"/>
          <p:cNvSpPr/>
          <p:nvPr/>
        </p:nvSpPr>
        <p:spPr>
          <a:xfrm>
            <a:off x="7915275" y="2771775"/>
            <a:ext cx="9525" cy="619125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210550" y="2895600"/>
            <a:ext cx="9607868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关键词</a:t>
            </a:r>
            <a:endParaRPr lang="zh-CN" sz="2175" dirty="0"/>
          </a:p>
        </p:txBody>
      </p:sp>
      <p:sp>
        <p:nvSpPr>
          <p:cNvPr id="12" name="Shape 9"/>
          <p:cNvSpPr/>
          <p:nvPr/>
        </p:nvSpPr>
        <p:spPr>
          <a:xfrm>
            <a:off x="1057275" y="3390900"/>
            <a:ext cx="16173450" cy="5619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43025" y="3495675"/>
            <a:ext cx="649224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我写的这件事（谁，做了什么）</a:t>
            </a:r>
            <a:endParaRPr lang="zh-CN" sz="2100" dirty="0"/>
          </a:p>
        </p:txBody>
      </p:sp>
      <p:sp>
        <p:nvSpPr>
          <p:cNvPr id="14" name="Shape 11"/>
          <p:cNvSpPr/>
          <p:nvPr/>
        </p:nvSpPr>
        <p:spPr>
          <a:xfrm>
            <a:off x="7915275" y="3390900"/>
            <a:ext cx="9525" cy="5619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210550" y="3495675"/>
            <a:ext cx="901388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我，被困在电梯里</a:t>
            </a:r>
            <a:endParaRPr lang="zh-CN" sz="2100" dirty="0"/>
          </a:p>
        </p:txBody>
      </p:sp>
      <p:sp>
        <p:nvSpPr>
          <p:cNvPr id="16" name="Shape 13"/>
          <p:cNvSpPr/>
          <p:nvPr/>
        </p:nvSpPr>
        <p:spPr>
          <a:xfrm>
            <a:off x="1057275" y="3952875"/>
            <a:ext cx="16173450" cy="5619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43025" y="4057650"/>
            <a:ext cx="649224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时间、地点、在场的人</a:t>
            </a:r>
            <a:endParaRPr lang="zh-CN" sz="2100" dirty="0"/>
          </a:p>
        </p:txBody>
      </p:sp>
      <p:sp>
        <p:nvSpPr>
          <p:cNvPr id="18" name="Shape 15"/>
          <p:cNvSpPr/>
          <p:nvPr/>
        </p:nvSpPr>
        <p:spPr>
          <a:xfrm>
            <a:off x="7915275" y="3952875"/>
            <a:ext cx="9525" cy="5619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210550" y="4057650"/>
            <a:ext cx="901388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上个星期五放学，小区电梯，我一个人</a:t>
            </a:r>
            <a:endParaRPr lang="zh-CN" sz="2100" dirty="0"/>
          </a:p>
        </p:txBody>
      </p:sp>
      <p:sp>
        <p:nvSpPr>
          <p:cNvPr id="20" name="Shape 17"/>
          <p:cNvSpPr/>
          <p:nvPr/>
        </p:nvSpPr>
        <p:spPr>
          <a:xfrm>
            <a:off x="1057275" y="4514850"/>
            <a:ext cx="16173450" cy="5619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43025" y="4619625"/>
            <a:ext cx="649224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起因（这件事为什么会发生）</a:t>
            </a:r>
            <a:endParaRPr lang="zh-CN" sz="2100" dirty="0"/>
          </a:p>
        </p:txBody>
      </p:sp>
      <p:sp>
        <p:nvSpPr>
          <p:cNvPr id="22" name="Shape 19"/>
          <p:cNvSpPr/>
          <p:nvPr/>
        </p:nvSpPr>
        <p:spPr>
          <a:xfrm>
            <a:off x="7915275" y="4514850"/>
            <a:ext cx="9525" cy="5619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8210550" y="4619625"/>
            <a:ext cx="901388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电梯到七楼，一顿，灯闪，不动了</a:t>
            </a:r>
            <a:endParaRPr lang="zh-CN" sz="2100" dirty="0"/>
          </a:p>
        </p:txBody>
      </p:sp>
      <p:sp>
        <p:nvSpPr>
          <p:cNvPr id="24" name="Shape 21"/>
          <p:cNvSpPr/>
          <p:nvPr/>
        </p:nvSpPr>
        <p:spPr>
          <a:xfrm>
            <a:off x="1057275" y="5076825"/>
            <a:ext cx="16173450" cy="5619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43025" y="5181600"/>
            <a:ext cx="649224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经过 · 第一步</a:t>
            </a:r>
            <a:endParaRPr lang="zh-CN" sz="2100" dirty="0"/>
          </a:p>
        </p:txBody>
      </p:sp>
      <p:sp>
        <p:nvSpPr>
          <p:cNvPr id="26" name="Shape 23"/>
          <p:cNvSpPr/>
          <p:nvPr/>
        </p:nvSpPr>
        <p:spPr>
          <a:xfrm>
            <a:off x="7915275" y="5076825"/>
            <a:ext cx="9525" cy="5619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8210550" y="5181600"/>
            <a:ext cx="901388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按开门键、按“8”，都没反应</a:t>
            </a:r>
            <a:endParaRPr lang="zh-CN" sz="2100" dirty="0"/>
          </a:p>
        </p:txBody>
      </p:sp>
      <p:sp>
        <p:nvSpPr>
          <p:cNvPr id="28" name="Shape 25"/>
          <p:cNvSpPr/>
          <p:nvPr/>
        </p:nvSpPr>
        <p:spPr>
          <a:xfrm>
            <a:off x="1057275" y="5638800"/>
            <a:ext cx="16173450" cy="590550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343025" y="5743575"/>
            <a:ext cx="649224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经过 · 第二步</a:t>
            </a:r>
            <a:endParaRPr lang="zh-CN" sz="2100" dirty="0"/>
          </a:p>
        </p:txBody>
      </p:sp>
      <p:sp>
        <p:nvSpPr>
          <p:cNvPr id="30" name="Shape 27"/>
          <p:cNvSpPr/>
          <p:nvPr/>
        </p:nvSpPr>
        <p:spPr>
          <a:xfrm>
            <a:off x="7915275" y="5638800"/>
            <a:ext cx="9525" cy="590550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8210550" y="5743575"/>
            <a:ext cx="9013889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找到红色按钮，按下去，有人回话 ◯←老师圈出的一步</a:t>
            </a:r>
            <a:endParaRPr lang="zh-CN" sz="2100" dirty="0"/>
          </a:p>
        </p:txBody>
      </p:sp>
      <p:sp>
        <p:nvSpPr>
          <p:cNvPr id="32" name="Shape 29"/>
          <p:cNvSpPr/>
          <p:nvPr/>
        </p:nvSpPr>
        <p:spPr>
          <a:xfrm>
            <a:off x="1057275" y="6229350"/>
            <a:ext cx="16173450" cy="9144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343025" y="6334125"/>
            <a:ext cx="6492240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经过 · 第三步（步数不够可以加一行，步数多了可以合并）</a:t>
            </a:r>
            <a:endParaRPr lang="zh-CN" sz="2100" dirty="0"/>
          </a:p>
        </p:txBody>
      </p:sp>
      <p:sp>
        <p:nvSpPr>
          <p:cNvPr id="34" name="Shape 31"/>
          <p:cNvSpPr/>
          <p:nvPr/>
        </p:nvSpPr>
        <p:spPr>
          <a:xfrm>
            <a:off x="7915275" y="6229350"/>
            <a:ext cx="9525" cy="914400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8210550" y="6334125"/>
            <a:ext cx="9013889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站着等，数灯，门被撬开</a:t>
            </a:r>
            <a:endParaRPr lang="zh-CN" sz="2100" dirty="0"/>
          </a:p>
        </p:txBody>
      </p:sp>
      <p:sp>
        <p:nvSpPr>
          <p:cNvPr id="36" name="Shape 33"/>
          <p:cNvSpPr/>
          <p:nvPr/>
        </p:nvSpPr>
        <p:spPr>
          <a:xfrm>
            <a:off x="1057275" y="7143750"/>
            <a:ext cx="16173450" cy="914400"/>
          </a:xfrm>
          <a:prstGeom prst="rect">
            <a:avLst/>
          </a:prstGeom>
          <a:solidFill>
            <a:srgbClr val="FCF3EE"/>
          </a:solidFill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1343025" y="7248525"/>
            <a:ext cx="6492240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最关键的是第几步；那一步里看到、听到、想到的</a:t>
            </a:r>
            <a:endParaRPr lang="zh-CN" sz="2100" dirty="0"/>
          </a:p>
        </p:txBody>
      </p:sp>
      <p:sp>
        <p:nvSpPr>
          <p:cNvPr id="38" name="Shape 35"/>
          <p:cNvSpPr/>
          <p:nvPr/>
        </p:nvSpPr>
        <p:spPr>
          <a:xfrm>
            <a:off x="7915275" y="7143750"/>
            <a:ext cx="9525" cy="914400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8210550" y="7248525"/>
            <a:ext cx="9013889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第二步。</a:t>
            </a:r>
            <a:r>
              <a:rPr lang="zh-CN" alt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看：门缝黑、红按钮</a:t>
            </a:r>
            <a:r>
              <a:rPr lang="zh-CN" alt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</a:t>
            </a:r>
            <a:r>
              <a:rPr lang="zh-CN" altLang="en-US" sz="21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听：风扇呼呼、喇叭里的回话</a:t>
            </a:r>
            <a:r>
              <a:rPr lang="zh-CN" alt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</a:t>
            </a:r>
            <a:r>
              <a:rPr lang="zh-CN" altLang="en-US" sz="210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想：电梯一直不开怎么办</a:t>
            </a:r>
            <a:endParaRPr lang="zh-CN" sz="2100" dirty="0"/>
          </a:p>
        </p:txBody>
      </p:sp>
      <p:sp>
        <p:nvSpPr>
          <p:cNvPr id="40" name="Shape 37"/>
          <p:cNvSpPr/>
          <p:nvPr/>
        </p:nvSpPr>
        <p:spPr>
          <a:xfrm>
            <a:off x="1057275" y="8058150"/>
            <a:ext cx="16173450" cy="5619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1343025" y="8162925"/>
            <a:ext cx="649224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</a:t>
            </a:r>
            <a:endParaRPr lang="zh-CN" sz="2100" dirty="0"/>
          </a:p>
        </p:txBody>
      </p:sp>
      <p:sp>
        <p:nvSpPr>
          <p:cNvPr id="42" name="Shape 39"/>
          <p:cNvSpPr/>
          <p:nvPr/>
        </p:nvSpPr>
        <p:spPr>
          <a:xfrm>
            <a:off x="7915275" y="8058150"/>
            <a:ext cx="9525" cy="5619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8210550" y="8162925"/>
            <a:ext cx="901388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物业叔叔扶我跳下来</a:t>
            </a:r>
            <a:endParaRPr lang="zh-CN" sz="2100" dirty="0"/>
          </a:p>
        </p:txBody>
      </p:sp>
      <p:sp>
        <p:nvSpPr>
          <p:cNvPr id="44" name="Shape 41"/>
          <p:cNvSpPr/>
          <p:nvPr/>
        </p:nvSpPr>
        <p:spPr>
          <a:xfrm>
            <a:off x="1057275" y="8620125"/>
            <a:ext cx="16173450" cy="5619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1343025" y="8724900"/>
            <a:ext cx="649224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我的感受（一句）</a:t>
            </a:r>
            <a:endParaRPr lang="zh-CN" sz="2100" dirty="0"/>
          </a:p>
        </p:txBody>
      </p:sp>
      <p:sp>
        <p:nvSpPr>
          <p:cNvPr id="46" name="Shape 43"/>
          <p:cNvSpPr/>
          <p:nvPr/>
        </p:nvSpPr>
        <p:spPr>
          <a:xfrm>
            <a:off x="7915275" y="8620125"/>
            <a:ext cx="9525" cy="5619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8210550" y="8724900"/>
            <a:ext cx="901388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最漫长的十一分钟</a:t>
            </a:r>
            <a:endParaRPr lang="zh-CN" sz="2100" dirty="0"/>
          </a:p>
        </p:txBody>
      </p:sp>
      <p:sp>
        <p:nvSpPr>
          <p:cNvPr id="48" name="Text 45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经过分成三步，第七行圈出第二步：看到的两项、听到的两项、想到的一项，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全是关键词，没有完整的句子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记事构思表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DEBD9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8947785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动手填表：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用四分钟填好表，圈出最关键的一步</a:t>
            </a:r>
            <a:endParaRPr lang="zh-CN" sz="3205" dirty="0"/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1047750" y="30480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1217861" y="312420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1800225" y="3124200"/>
            <a:ext cx="7672007" cy="50765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第一行照抄草稿纸左上角那一句：</a:t>
            </a:r>
            <a:r>
              <a:rPr lang="zh-CN" alt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谁做了一件什么事</a:t>
            </a:r>
            <a:endParaRPr lang="zh-CN" sz="2550" dirty="0"/>
          </a:p>
        </p:txBody>
      </p:sp>
      <p:sp>
        <p:nvSpPr>
          <p:cNvPr id="10" name="Shape 7"/>
          <p:cNvSpPr/>
          <p:nvPr>
            <p:custDataLst>
              <p:tags r:id="rId5"/>
            </p:custDataLst>
          </p:nvPr>
        </p:nvSpPr>
        <p:spPr>
          <a:xfrm>
            <a:off x="1047750" y="3879503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1217861" y="3955703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1800225" y="3955703"/>
            <a:ext cx="9133808" cy="977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经过分成几步，按先后填；每一行</a:t>
            </a:r>
            <a:r>
              <a:rPr lang="zh-CN" alt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只记关键词</a:t>
            </a:r>
            <a:r>
              <a:rPr lang="zh-CN" alt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zh-CN" alt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不用</a:t>
            </a:r>
            <a:r>
              <a:rPr lang="zh-CN" alt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写成句子</a:t>
            </a:r>
            <a:endParaRPr lang="zh-CN" sz="2550" dirty="0"/>
          </a:p>
        </p:txBody>
      </p:sp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1047750" y="4946243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1217861" y="5022443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1800225" y="5022443"/>
            <a:ext cx="9133808" cy="977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第七行：同桌替你找出的那一步排在第几步，就填第几步；再写那一步里的</a:t>
            </a:r>
            <a:r>
              <a:rPr lang="zh-CN" alt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三项，每一项记两三个关键词</a:t>
            </a:r>
            <a:endParaRPr lang="zh-CN" sz="2550" dirty="0"/>
          </a:p>
        </p:txBody>
      </p:sp>
      <p:sp>
        <p:nvSpPr>
          <p:cNvPr id="16" name="Shape 13"/>
          <p:cNvSpPr/>
          <p:nvPr>
            <p:custDataLst>
              <p:tags r:id="rId11"/>
            </p:custDataLst>
          </p:nvPr>
        </p:nvSpPr>
        <p:spPr>
          <a:xfrm>
            <a:off x="1047750" y="6247299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7" name="Text 14"/>
          <p:cNvSpPr/>
          <p:nvPr>
            <p:custDataLst>
              <p:tags r:id="rId12"/>
            </p:custDataLst>
          </p:nvPr>
        </p:nvSpPr>
        <p:spPr>
          <a:xfrm>
            <a:off x="1217861" y="6323499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5"/>
          <p:cNvSpPr/>
          <p:nvPr>
            <p:custDataLst>
              <p:tags r:id="rId13"/>
            </p:custDataLst>
          </p:nvPr>
        </p:nvSpPr>
        <p:spPr>
          <a:xfrm>
            <a:off x="1800225" y="6323499"/>
            <a:ext cx="7004876" cy="50765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填好后，在经过的几步里</a:t>
            </a:r>
            <a:r>
              <a:rPr lang="zh-CN" alt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把第七行那一步圈出来</a:t>
            </a:r>
            <a:endParaRPr lang="zh-CN" sz="255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359935" y="2651760"/>
            <a:ext cx="6175168" cy="475488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1047750" y="7543800"/>
            <a:ext cx="16192500" cy="1314450"/>
          </a:xfrm>
          <a:prstGeom prst="roundRect">
            <a:avLst>
              <a:gd name="adj" fmla="val 11594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1428750" y="7772400"/>
            <a:ext cx="15893415" cy="895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25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说一说你为什么选这件事：</a:t>
            </a:r>
            <a:r>
              <a:rPr lang="zh-CN" altLang="en-US" sz="225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全家都靠那根蜡烛、弟弟的哭声、叫到名字时手心出汗，这些理由都和圈出的那一步有关。如果理由和另一步有关，再想一想</a:t>
            </a: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是不是那一步更关键</a:t>
            </a:r>
            <a:r>
              <a:rPr lang="zh-CN" altLang="en-US" sz="225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250" dirty="0"/>
          </a:p>
        </p:txBody>
      </p:sp>
      <p:sp>
        <p:nvSpPr>
          <p:cNvPr id="22" name="Text 18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第二节课把这一步写具体，读的人就知道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你为什么记得这件事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63" name="提示图标" descr="手指点击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64" name="吉祥物" descr="抠-吉祥物-cfcc259ac7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938760" y="341947"/>
            <a:ext cx="1426464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教师示范文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580515"/>
            <a:ext cx="11273790" cy="681990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088776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先看其中一段：对照构思表读，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这一段写的是表上的哪一步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5074920" y="2762250"/>
            <a:ext cx="12170664" cy="3429000"/>
          </a:xfrm>
          <a:prstGeom prst="roundRect">
            <a:avLst>
              <a:gd name="adj" fmla="val 6041"/>
            </a:avLst>
          </a:prstGeom>
          <a:solidFill>
            <a:srgbClr val="F7F5F2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486400" y="3048000"/>
            <a:ext cx="11521440" cy="30632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533400" algn="just">
              <a:lnSpc>
                <a:spcPct val="129000"/>
              </a:lnSpc>
              <a:buNone/>
            </a:pP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我先按了一下开门键，没有反应。又按了一下“8”，还是没有反应。我盯着门上那条缝，</a:t>
            </a:r>
            <a:r>
              <a:rPr lang="zh-CN" alt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缝里黑黑的，什么也看不见</a:t>
            </a: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。电梯里很安静，</a:t>
            </a:r>
            <a:r>
              <a:rPr lang="zh-CN" altLang="en-US" sz="21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只听得见顶上风扇转的声音，呼呼的</a:t>
            </a: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r>
              <a:rPr lang="zh-CN" altLang="en-US" sz="210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我心里想：电梯要是一直不开，怎么办？</a:t>
            </a: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这时候我看见门边有一个</a:t>
            </a:r>
            <a:r>
              <a:rPr lang="zh-CN" alt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红色的按钮，上面写着“紧急呼叫”</a:t>
            </a: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，我赶忙一把按了下去。等了几秒钟，喇叭里传来一个陌生叔叔的声音。我心里一紧，急忙说自己被困在电梯里。他接着问道：</a:t>
            </a:r>
            <a:r>
              <a:rPr lang="zh-CN" altLang="en-US" sz="21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“你是在哪一栋、几楼的电梯里？”</a:t>
            </a: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我赶紧报出楼号，声音止不住地发抖。那个叔叔在喇叭里叮嘱：</a:t>
            </a:r>
            <a:r>
              <a:rPr lang="zh-CN" altLang="en-US" sz="21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“别按别的键，站在原地等着，我们五分钟就到。”</a:t>
            </a:r>
            <a:endParaRPr lang="zh-CN" sz="2100" dirty="0"/>
          </a:p>
        </p:txBody>
      </p:sp>
      <p:sp>
        <p:nvSpPr>
          <p:cNvPr id="9" name="Shape 6"/>
          <p:cNvSpPr/>
          <p:nvPr/>
        </p:nvSpPr>
        <p:spPr>
          <a:xfrm>
            <a:off x="1047750" y="6667500"/>
            <a:ext cx="5219700" cy="2143125"/>
          </a:xfrm>
          <a:prstGeom prst="roundRect">
            <a:avLst>
              <a:gd name="adj" fmla="val 711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323975" y="6905625"/>
            <a:ext cx="513397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这一段写的是表上的哪一步</a:t>
            </a:r>
            <a:endParaRPr lang="zh-CN" sz="2175" dirty="0"/>
          </a:p>
        </p:txBody>
      </p:sp>
      <p:sp>
        <p:nvSpPr>
          <p:cNvPr id="11" name="Text 8"/>
          <p:cNvSpPr/>
          <p:nvPr/>
        </p:nvSpPr>
        <p:spPr>
          <a:xfrm>
            <a:off x="1323975" y="7372350"/>
            <a:ext cx="4807268" cy="838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zh-CN" altLang="en-US" sz="21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前两句是第一步；从“我盯着门上那条缝”起，是圈出的</a:t>
            </a:r>
            <a:r>
              <a:rPr lang="zh-CN" alt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第二步</a:t>
            </a:r>
            <a:endParaRPr lang="zh-CN" sz="2100" dirty="0"/>
          </a:p>
        </p:txBody>
      </p:sp>
      <p:sp>
        <p:nvSpPr>
          <p:cNvPr id="12" name="Shape 9"/>
          <p:cNvSpPr/>
          <p:nvPr/>
        </p:nvSpPr>
        <p:spPr>
          <a:xfrm>
            <a:off x="6534150" y="6667500"/>
            <a:ext cx="5219700" cy="2143125"/>
          </a:xfrm>
          <a:prstGeom prst="roundRect">
            <a:avLst>
              <a:gd name="adj" fmla="val 711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810375" y="6905625"/>
            <a:ext cx="513397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表上的关键词扩展成了几句</a:t>
            </a:r>
            <a:endParaRPr lang="zh-CN" sz="2175" dirty="0"/>
          </a:p>
        </p:txBody>
      </p:sp>
      <p:sp>
        <p:nvSpPr>
          <p:cNvPr id="14" name="Text 11"/>
          <p:cNvSpPr/>
          <p:nvPr/>
        </p:nvSpPr>
        <p:spPr>
          <a:xfrm>
            <a:off x="6810375" y="7372350"/>
            <a:ext cx="4807268" cy="1238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zh-CN" altLang="en-US" sz="21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表上只有几个词，文章里写成了</a:t>
            </a:r>
            <a:r>
              <a:rPr lang="zh-CN" alt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十几句</a:t>
            </a:r>
            <a:r>
              <a:rPr lang="zh-CN" altLang="en-US" sz="21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：看到的写成句子，听到的写出原话，想到的也写进去</a:t>
            </a:r>
            <a:endParaRPr lang="zh-CN" sz="2100" dirty="0"/>
          </a:p>
        </p:txBody>
      </p:sp>
      <p:sp>
        <p:nvSpPr>
          <p:cNvPr id="15" name="Shape 12"/>
          <p:cNvSpPr/>
          <p:nvPr/>
        </p:nvSpPr>
        <p:spPr>
          <a:xfrm>
            <a:off x="12020550" y="6667500"/>
            <a:ext cx="5219700" cy="2143125"/>
          </a:xfrm>
          <a:prstGeom prst="roundRect">
            <a:avLst>
              <a:gd name="adj" fmla="val 711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2296775" y="6905625"/>
            <a:ext cx="513397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文章里有、表上没有的</a:t>
            </a:r>
            <a:endParaRPr lang="zh-CN" sz="2175" dirty="0"/>
          </a:p>
        </p:txBody>
      </p:sp>
      <p:sp>
        <p:nvSpPr>
          <p:cNvPr id="17" name="Text 14"/>
          <p:cNvSpPr/>
          <p:nvPr/>
        </p:nvSpPr>
        <p:spPr>
          <a:xfrm>
            <a:off x="12296775" y="7372350"/>
            <a:ext cx="4807268" cy="1238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zh-CN" altLang="en-US" sz="21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按钮上的字“紧急呼叫”、两句对话、“我心里一紧”、“声音止不住地发抖”，</a:t>
            </a:r>
            <a:r>
              <a:rPr lang="zh-CN" alt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是动笔时回想起来补上的</a:t>
            </a:r>
            <a:endParaRPr lang="zh-CN" sz="2100" dirty="0"/>
          </a:p>
        </p:txBody>
      </p:sp>
      <p:sp>
        <p:nvSpPr>
          <p:cNvPr id="18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很短的那一步可以像这样放在前面一并写，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圈出的那一步要写得比其他几步都详细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51" name="插图" descr="抠-P15-b27f0a8f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77" y="2331720"/>
            <a:ext cx="3291725" cy="4251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教师示范文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12942570" cy="838200"/>
          </a:xfrm>
          <a:prstGeom prst="roundRect">
            <a:avLst>
              <a:gd name="adj" fmla="val 22727"/>
            </a:avLst>
          </a:prstGeom>
          <a:solidFill>
            <a:srgbClr val="FDEBD9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28750" y="1562100"/>
            <a:ext cx="9842793" cy="571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老师按照构思表写成的文章：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《漫长的十一分钟》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286000"/>
            <a:ext cx="16192500" cy="6877050"/>
          </a:xfrm>
          <a:prstGeom prst="roundRect">
            <a:avLst>
              <a:gd name="adj" fmla="val 2493"/>
            </a:avLst>
          </a:prstGeom>
          <a:solidFill>
            <a:srgbClr val="F7F5F2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581150" y="2552700"/>
            <a:ext cx="15579471" cy="805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495300" algn="just">
              <a:lnSpc>
                <a:spcPct val="115000"/>
              </a:lnSpc>
              <a:buNone/>
            </a:pPr>
            <a:r>
              <a:rPr lang="zh-CN" alt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上个星期五放学，我一个人坐电梯上楼。电梯上到七楼的时候，忽然一顿，灯闪了两下，就不动了。楼层的数字停在“7”上，门也不开。</a:t>
            </a:r>
            <a:endParaRPr lang="zh-CN" sz="1950" dirty="0"/>
          </a:p>
        </p:txBody>
      </p:sp>
      <p:sp>
        <p:nvSpPr>
          <p:cNvPr id="9" name="Text 6"/>
          <p:cNvSpPr/>
          <p:nvPr/>
        </p:nvSpPr>
        <p:spPr>
          <a:xfrm>
            <a:off x="1581150" y="3396555"/>
            <a:ext cx="15579471" cy="195723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495300" algn="just">
              <a:lnSpc>
                <a:spcPct val="115000"/>
              </a:lnSpc>
              <a:buNone/>
            </a:pPr>
            <a:r>
              <a:rPr lang="zh-CN" alt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我先按了一下开门键，没有反应。又按了一下“8”，还是没有反应。我盯着门上那条缝，</a:t>
            </a:r>
            <a:r>
              <a:rPr lang="zh-CN" altLang="en-US" sz="19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缝里黑黑的，什么也看不见</a:t>
            </a:r>
            <a:r>
              <a:rPr lang="zh-CN" alt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。电梯里很安静，</a:t>
            </a:r>
            <a:r>
              <a:rPr lang="zh-CN" altLang="en-US" sz="195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只听得见顶上风扇转的声音，呼呼的</a:t>
            </a:r>
            <a:r>
              <a:rPr lang="zh-CN" alt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r>
              <a:rPr lang="zh-CN" altLang="en-US" sz="195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我心里想：电梯要是一直不开，怎么办？</a:t>
            </a:r>
            <a:r>
              <a:rPr lang="zh-CN" alt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这时候我看见门边有一个</a:t>
            </a:r>
            <a:r>
              <a:rPr lang="zh-CN" altLang="en-US" sz="19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红色的按钮，上面写着“紧急呼叫”</a:t>
            </a:r>
            <a:r>
              <a:rPr lang="zh-CN" alt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，我赶忙一把按了下去。等了几秒钟，喇叭里传来一个陌生叔叔的声音。我心里一紧，急忙说自己被困在电梯里。他接着问道：</a:t>
            </a:r>
            <a:r>
              <a:rPr lang="zh-CN" altLang="en-US" sz="195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“你是在哪一栋、几楼的电梯里？”</a:t>
            </a:r>
            <a:r>
              <a:rPr lang="zh-CN" alt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我赶紧报出楼号，</a:t>
            </a:r>
            <a:r>
              <a:rPr lang="zh-CN" altLang="en-US" sz="195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声音止不住地发抖</a:t>
            </a:r>
            <a:r>
              <a:rPr lang="zh-CN" alt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。那个叔叔在喇叭里叮嘱：</a:t>
            </a:r>
            <a:r>
              <a:rPr lang="zh-CN" altLang="en-US" sz="195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“别按别的键，站在原地等着，我们五分钟就到。”</a:t>
            </a:r>
            <a:endParaRPr lang="zh-CN" sz="1950" dirty="0"/>
          </a:p>
        </p:txBody>
      </p:sp>
      <p:sp>
        <p:nvSpPr>
          <p:cNvPr id="10" name="Text 7"/>
          <p:cNvSpPr/>
          <p:nvPr/>
        </p:nvSpPr>
        <p:spPr>
          <a:xfrm>
            <a:off x="1581150" y="5391894"/>
            <a:ext cx="11338560" cy="17830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495300" algn="just">
              <a:lnSpc>
                <a:spcPct val="115000"/>
              </a:lnSpc>
              <a:buNone/>
            </a:pPr>
            <a:r>
              <a:rPr lang="zh-CN" alt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就站在原地，数电梯顶上那一圈小灯，一共八个，有一个是坏的。数完一遍，外面一点动静也没有。我蹲下去，过一会儿又站起来，手心里全是汗，自己也记不清数了多少遍。后来外面终于传来脚步声，有人喊：“里面的小朋友，往后站一点！”门被撬开了，电梯的地板比外面高出一大截，我是被物业的叔叔扶着跳下来的。</a:t>
            </a:r>
            <a:endParaRPr lang="zh-CN" sz="1950" dirty="0"/>
          </a:p>
        </p:txBody>
      </p:sp>
      <p:sp>
        <p:nvSpPr>
          <p:cNvPr id="11" name="Text 8"/>
          <p:cNvSpPr/>
          <p:nvPr/>
        </p:nvSpPr>
        <p:spPr>
          <a:xfrm>
            <a:off x="1581150" y="7269480"/>
            <a:ext cx="11338560" cy="12344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495300" algn="just">
              <a:lnSpc>
                <a:spcPct val="115000"/>
              </a:lnSpc>
              <a:buNone/>
            </a:pPr>
            <a:r>
              <a:rPr lang="zh-CN" alt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我在电梯里一共待了十一分钟。十一分钟平时差不多就是一个课间，跑出去玩一会儿就过去了，可那天关在电梯里，我觉得比一个下午还长，</a:t>
            </a:r>
            <a:r>
              <a:rPr lang="zh-CN" altLang="en-US" sz="19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这是我长这么大过得最漫长的十一分钟</a:t>
            </a:r>
            <a:r>
              <a:rPr lang="zh-CN" alt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1950" dirty="0"/>
          </a:p>
        </p:txBody>
      </p:sp>
      <p:sp>
        <p:nvSpPr>
          <p:cNvPr id="12" name="Text 9"/>
          <p:cNvSpPr/>
          <p:nvPr/>
        </p:nvSpPr>
        <p:spPr>
          <a:xfrm>
            <a:off x="1047750" y="9410700"/>
            <a:ext cx="1079748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看到的</a:t>
            </a:r>
            <a:endParaRPr lang="zh-CN" sz="2025" dirty="0"/>
          </a:p>
        </p:txBody>
      </p:sp>
      <p:sp>
        <p:nvSpPr>
          <p:cNvPr id="13" name="Text 10"/>
          <p:cNvSpPr/>
          <p:nvPr/>
        </p:nvSpPr>
        <p:spPr>
          <a:xfrm>
            <a:off x="2394198" y="9410700"/>
            <a:ext cx="2811244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2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听到的 · 当时的原话</a:t>
            </a:r>
            <a:endParaRPr lang="zh-CN" sz="2025" dirty="0"/>
          </a:p>
        </p:txBody>
      </p:sp>
      <p:sp>
        <p:nvSpPr>
          <p:cNvPr id="14" name="Text 11"/>
          <p:cNvSpPr/>
          <p:nvPr/>
        </p:nvSpPr>
        <p:spPr>
          <a:xfrm>
            <a:off x="5292775" y="9410700"/>
            <a:ext cx="1079748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25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想到的</a:t>
            </a:r>
            <a:endParaRPr lang="zh-CN" sz="2025" dirty="0"/>
          </a:p>
        </p:txBody>
      </p:sp>
      <p:sp>
        <p:nvSpPr>
          <p:cNvPr id="15" name="Text 12"/>
          <p:cNvSpPr/>
          <p:nvPr/>
        </p:nvSpPr>
        <p:spPr>
          <a:xfrm>
            <a:off x="6639223" y="9410700"/>
            <a:ext cx="11032808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2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默读时留意：正文分了几段，哪一段最长；画出一句让你觉得自己也站在那部电梯里的话</a:t>
            </a:r>
            <a:endParaRPr lang="zh-CN" sz="2025" dirty="0"/>
          </a:p>
        </p:txBody>
      </p:sp>
      <p:pic>
        <p:nvPicPr>
          <p:cNvPr id="16" name="插图" descr="抠-P16-e7df8b2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933" y="5440680"/>
            <a:ext cx="2070773" cy="3703320"/>
          </a:xfrm>
          <a:prstGeom prst="rect">
            <a:avLst/>
          </a:prstGeom>
        </p:spPr>
      </p:pic>
      <p:pic>
        <p:nvPicPr>
          <p:cNvPr id="17" name="吉祥物" descr="抠-吉祥物-cfcc259a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760" y="327660"/>
            <a:ext cx="1426464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513715"/>
            <a:ext cx="3455035" cy="5340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教师示范文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DEBD9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8053105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读完，先数一数：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正文几段，哪一段最长</a:t>
            </a:r>
            <a:endParaRPr lang="zh-CN" sz="3205" dirty="0"/>
          </a:p>
        </p:txBody>
      </p:sp>
      <p:sp>
        <p:nvSpPr>
          <p:cNvPr id="7" name="Text 4"/>
          <p:cNvSpPr/>
          <p:nvPr/>
        </p:nvSpPr>
        <p:spPr>
          <a:xfrm>
            <a:off x="1047750" y="2981325"/>
            <a:ext cx="136207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第一段</a:t>
            </a:r>
            <a:endParaRPr lang="zh-CN" sz="2175" dirty="0"/>
          </a:p>
        </p:txBody>
      </p:sp>
      <p:sp>
        <p:nvSpPr>
          <p:cNvPr id="8" name="Shape 5"/>
          <p:cNvSpPr/>
          <p:nvPr/>
        </p:nvSpPr>
        <p:spPr>
          <a:xfrm>
            <a:off x="2495550" y="2857500"/>
            <a:ext cx="2190750" cy="619125"/>
          </a:xfrm>
          <a:prstGeom prst="roundRect">
            <a:avLst>
              <a:gd name="adj" fmla="val 15385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2686050" y="2990850"/>
            <a:ext cx="199072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起因 · 两三句</a:t>
            </a:r>
            <a:endParaRPr lang="zh-CN" sz="2100" dirty="0"/>
          </a:p>
        </p:txBody>
      </p:sp>
      <p:sp>
        <p:nvSpPr>
          <p:cNvPr id="10" name="Text 7"/>
          <p:cNvSpPr/>
          <p:nvPr/>
        </p:nvSpPr>
        <p:spPr>
          <a:xfrm>
            <a:off x="1047750" y="3771900"/>
            <a:ext cx="136207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第二段</a:t>
            </a:r>
            <a:endParaRPr lang="zh-CN" sz="2175" dirty="0"/>
          </a:p>
        </p:txBody>
      </p:sp>
      <p:sp>
        <p:nvSpPr>
          <p:cNvPr id="11" name="Shape 8"/>
          <p:cNvSpPr/>
          <p:nvPr/>
        </p:nvSpPr>
        <p:spPr>
          <a:xfrm>
            <a:off x="2495550" y="3648075"/>
            <a:ext cx="8001000" cy="619125"/>
          </a:xfrm>
          <a:prstGeom prst="roundRect">
            <a:avLst>
              <a:gd name="adj" fmla="val 15385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686050" y="3781425"/>
            <a:ext cx="838200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第一步和圈出的第二步 · 写得最详细，所以最长</a:t>
            </a:r>
            <a:endParaRPr lang="zh-CN" sz="2100" dirty="0"/>
          </a:p>
        </p:txBody>
      </p:sp>
      <p:sp>
        <p:nvSpPr>
          <p:cNvPr id="13" name="Text 10"/>
          <p:cNvSpPr/>
          <p:nvPr/>
        </p:nvSpPr>
        <p:spPr>
          <a:xfrm>
            <a:off x="1047750" y="4738688"/>
            <a:ext cx="136207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第三段</a:t>
            </a:r>
            <a:endParaRPr lang="zh-CN" sz="2175" dirty="0"/>
          </a:p>
        </p:txBody>
      </p:sp>
      <p:sp>
        <p:nvSpPr>
          <p:cNvPr id="14" name="Shape 11"/>
          <p:cNvSpPr/>
          <p:nvPr/>
        </p:nvSpPr>
        <p:spPr>
          <a:xfrm>
            <a:off x="2495550" y="4438650"/>
            <a:ext cx="4000500" cy="971550"/>
          </a:xfrm>
          <a:prstGeom prst="roundRect">
            <a:avLst>
              <a:gd name="adj" fmla="val 9804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2686050" y="4572000"/>
            <a:ext cx="3728085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第三步和结果 · 比第二段短得多</a:t>
            </a:r>
            <a:endParaRPr lang="zh-CN" sz="2100" dirty="0"/>
          </a:p>
        </p:txBody>
      </p:sp>
      <p:sp>
        <p:nvSpPr>
          <p:cNvPr id="16" name="Text 13"/>
          <p:cNvSpPr/>
          <p:nvPr/>
        </p:nvSpPr>
        <p:spPr>
          <a:xfrm>
            <a:off x="1047750" y="5705475"/>
            <a:ext cx="136207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第四段</a:t>
            </a:r>
            <a:endParaRPr lang="zh-CN" sz="2175" dirty="0"/>
          </a:p>
        </p:txBody>
      </p:sp>
      <p:sp>
        <p:nvSpPr>
          <p:cNvPr id="17" name="Shape 14"/>
          <p:cNvSpPr/>
          <p:nvPr/>
        </p:nvSpPr>
        <p:spPr>
          <a:xfrm>
            <a:off x="2495550" y="5581650"/>
            <a:ext cx="2857500" cy="619125"/>
          </a:xfrm>
          <a:prstGeom prst="roundRect">
            <a:avLst>
              <a:gd name="adj" fmla="val 15385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2686050" y="5715000"/>
            <a:ext cx="272415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结尾的感受 · 几句</a:t>
            </a:r>
            <a:endParaRPr lang="zh-CN" sz="21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0" y="2541065"/>
            <a:ext cx="6217920" cy="6465774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1047750" y="6286500"/>
            <a:ext cx="10287000" cy="2487168"/>
          </a:xfrm>
          <a:prstGeom prst="roundRect">
            <a:avLst>
              <a:gd name="adj" fmla="val 9730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1428750" y="6572250"/>
            <a:ext cx="1697355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大家画出来的句子</a:t>
            </a:r>
            <a:endParaRPr lang="zh-CN" sz="2400" dirty="0"/>
          </a:p>
        </p:txBody>
      </p:sp>
      <p:sp>
        <p:nvSpPr>
          <p:cNvPr id="22" name="Shape 18"/>
          <p:cNvSpPr/>
          <p:nvPr/>
        </p:nvSpPr>
        <p:spPr>
          <a:xfrm>
            <a:off x="1428750" y="7124700"/>
            <a:ext cx="3810000" cy="638175"/>
          </a:xfrm>
          <a:prstGeom prst="roundRect">
            <a:avLst>
              <a:gd name="adj" fmla="val 20896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1676400" y="7258050"/>
            <a:ext cx="364617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缝里黑黑的，什么也看不见</a:t>
            </a:r>
            <a:endParaRPr lang="zh-CN" sz="2175" dirty="0"/>
          </a:p>
        </p:txBody>
      </p:sp>
      <p:sp>
        <p:nvSpPr>
          <p:cNvPr id="24" name="Shape 20"/>
          <p:cNvSpPr/>
          <p:nvPr/>
        </p:nvSpPr>
        <p:spPr>
          <a:xfrm>
            <a:off x="5391150" y="7124700"/>
            <a:ext cx="4914900" cy="638175"/>
          </a:xfrm>
          <a:prstGeom prst="roundRect">
            <a:avLst>
              <a:gd name="adj" fmla="val 20896"/>
            </a:avLst>
          </a:prstGeom>
          <a:solidFill>
            <a:srgbClr val="EAF1FB"/>
          </a:solidFill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5638800" y="7258050"/>
            <a:ext cx="486156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只听得见顶上风扇转的声音，呼呼的</a:t>
            </a:r>
            <a:endParaRPr lang="zh-CN" sz="2175" dirty="0"/>
          </a:p>
        </p:txBody>
      </p:sp>
      <p:sp>
        <p:nvSpPr>
          <p:cNvPr id="26" name="Shape 22"/>
          <p:cNvSpPr/>
          <p:nvPr/>
        </p:nvSpPr>
        <p:spPr>
          <a:xfrm>
            <a:off x="1426464" y="7909560"/>
            <a:ext cx="4914900" cy="638175"/>
          </a:xfrm>
          <a:prstGeom prst="roundRect">
            <a:avLst>
              <a:gd name="adj" fmla="val 20896"/>
            </a:avLst>
          </a:prstGeom>
          <a:solidFill>
            <a:srgbClr val="EAF1FB"/>
          </a:solidFill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1673352" y="8046720"/>
            <a:ext cx="486156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我赶紧报出楼号，声音止不住地发抖</a:t>
            </a:r>
            <a:endParaRPr lang="zh-CN" sz="2175" dirty="0"/>
          </a:p>
        </p:txBody>
      </p:sp>
      <p:sp>
        <p:nvSpPr>
          <p:cNvPr id="28" name="Text 24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画出来的都是当时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眼睛看到、耳朵听到的具体事物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，读的人读了这几句，也能想象出当时的情形。</a:t>
            </a:r>
            <a:endParaRPr lang="zh-CN" sz="2605" dirty="0"/>
          </a:p>
        </p:txBody>
      </p:sp>
      <p:pic>
        <p:nvPicPr>
          <p:cNvPr id="84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85" name="吉祥物" descr="抠-吉祥物-cfcc259a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426464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旁批表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1413034" cy="833438"/>
          </a:xfrm>
          <a:prstGeom prst="roundRect">
            <a:avLst>
              <a:gd name="adj" fmla="val 22857"/>
            </a:avLst>
          </a:prstGeom>
          <a:solidFill>
            <a:srgbClr val="FDEBD9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632317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每一句的写法：重点看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看到的、听到的、想到的三行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16192500" cy="5715000"/>
          </a:xfrm>
          <a:prstGeom prst="roundRect">
            <a:avLst>
              <a:gd name="adj" fmla="val 2333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771775"/>
            <a:ext cx="16173450" cy="638175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43025" y="2905125"/>
            <a:ext cx="1045654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示范文里的句子</a:t>
            </a:r>
            <a:endParaRPr lang="zh-CN" sz="2175" dirty="0"/>
          </a:p>
        </p:txBody>
      </p:sp>
      <p:sp>
        <p:nvSpPr>
          <p:cNvPr id="10" name="Shape 7"/>
          <p:cNvSpPr/>
          <p:nvPr/>
        </p:nvSpPr>
        <p:spPr>
          <a:xfrm>
            <a:off x="11134725" y="2771775"/>
            <a:ext cx="9525" cy="638175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1430000" y="2905125"/>
            <a:ext cx="6066473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这一句的写法</a:t>
            </a:r>
            <a:endParaRPr lang="zh-CN" sz="2175" dirty="0"/>
          </a:p>
        </p:txBody>
      </p:sp>
      <p:sp>
        <p:nvSpPr>
          <p:cNvPr id="12" name="Shape 9"/>
          <p:cNvSpPr/>
          <p:nvPr/>
        </p:nvSpPr>
        <p:spPr>
          <a:xfrm>
            <a:off x="1057275" y="3409950"/>
            <a:ext cx="16173450" cy="5619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43025" y="3514725"/>
            <a:ext cx="980827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电梯上到七楼的时候，忽然一顿，灯闪了两下，就不动了</a:t>
            </a:r>
            <a:endParaRPr lang="zh-CN" sz="2100" dirty="0"/>
          </a:p>
        </p:txBody>
      </p:sp>
      <p:sp>
        <p:nvSpPr>
          <p:cNvPr id="14" name="Shape 11"/>
          <p:cNvSpPr/>
          <p:nvPr/>
        </p:nvSpPr>
        <p:spPr>
          <a:xfrm>
            <a:off x="11134725" y="3409950"/>
            <a:ext cx="9525" cy="5619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1430000" y="3514725"/>
            <a:ext cx="569785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起因：一两句交代清楚，不多写</a:t>
            </a:r>
            <a:endParaRPr lang="zh-CN" sz="2100" dirty="0"/>
          </a:p>
        </p:txBody>
      </p:sp>
      <p:sp>
        <p:nvSpPr>
          <p:cNvPr id="16" name="Shape 13"/>
          <p:cNvSpPr/>
          <p:nvPr/>
        </p:nvSpPr>
        <p:spPr>
          <a:xfrm>
            <a:off x="1057275" y="3971925"/>
            <a:ext cx="16173450" cy="5619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43025" y="4076700"/>
            <a:ext cx="980827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我先按了一下开门键，没有反应。又按了一下“8”，还是没有反应</a:t>
            </a:r>
            <a:endParaRPr lang="zh-CN" sz="2100" dirty="0"/>
          </a:p>
        </p:txBody>
      </p:sp>
      <p:sp>
        <p:nvSpPr>
          <p:cNvPr id="18" name="Shape 15"/>
          <p:cNvSpPr/>
          <p:nvPr/>
        </p:nvSpPr>
        <p:spPr>
          <a:xfrm>
            <a:off x="11134725" y="3971925"/>
            <a:ext cx="9525" cy="5619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1430000" y="4076700"/>
            <a:ext cx="569785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第一步：两个动作，按先后写</a:t>
            </a:r>
            <a:endParaRPr lang="zh-CN" sz="2100" dirty="0"/>
          </a:p>
        </p:txBody>
      </p:sp>
      <p:sp>
        <p:nvSpPr>
          <p:cNvPr id="20" name="Shape 17"/>
          <p:cNvSpPr/>
          <p:nvPr/>
        </p:nvSpPr>
        <p:spPr>
          <a:xfrm>
            <a:off x="1057275" y="4533900"/>
            <a:ext cx="16173450" cy="5619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43025" y="4638675"/>
            <a:ext cx="980827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缝里黑黑的，什么也看不见</a:t>
            </a:r>
            <a:endParaRPr lang="zh-CN" sz="2100" dirty="0"/>
          </a:p>
        </p:txBody>
      </p:sp>
      <p:sp>
        <p:nvSpPr>
          <p:cNvPr id="22" name="Shape 19"/>
          <p:cNvSpPr/>
          <p:nvPr/>
        </p:nvSpPr>
        <p:spPr>
          <a:xfrm>
            <a:off x="11134725" y="4533900"/>
            <a:ext cx="9525" cy="5619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1430000" y="4638675"/>
            <a:ext cx="569785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圈出的一步写具体：看到的</a:t>
            </a:r>
            <a:endParaRPr lang="zh-CN" sz="2100" dirty="0"/>
          </a:p>
        </p:txBody>
      </p:sp>
      <p:sp>
        <p:nvSpPr>
          <p:cNvPr id="24" name="Shape 21"/>
          <p:cNvSpPr/>
          <p:nvPr/>
        </p:nvSpPr>
        <p:spPr>
          <a:xfrm>
            <a:off x="1057275" y="5095875"/>
            <a:ext cx="16173450" cy="5619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43025" y="5200650"/>
            <a:ext cx="980827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只听得见顶上风扇转的声音，呼呼的</a:t>
            </a:r>
            <a:endParaRPr lang="zh-CN" sz="2100" dirty="0"/>
          </a:p>
        </p:txBody>
      </p:sp>
      <p:sp>
        <p:nvSpPr>
          <p:cNvPr id="26" name="Shape 23"/>
          <p:cNvSpPr/>
          <p:nvPr/>
        </p:nvSpPr>
        <p:spPr>
          <a:xfrm>
            <a:off x="11134725" y="5095875"/>
            <a:ext cx="9525" cy="5619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1430000" y="5200650"/>
            <a:ext cx="569785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圈出的一步写具体：听到的，用上了声音</a:t>
            </a:r>
            <a:endParaRPr lang="zh-CN" sz="2100" dirty="0"/>
          </a:p>
        </p:txBody>
      </p:sp>
      <p:sp>
        <p:nvSpPr>
          <p:cNvPr id="28" name="Shape 25"/>
          <p:cNvSpPr/>
          <p:nvPr/>
        </p:nvSpPr>
        <p:spPr>
          <a:xfrm>
            <a:off x="1057275" y="5657850"/>
            <a:ext cx="16173450" cy="5619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343025" y="5762625"/>
            <a:ext cx="980827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我心里想：电梯要是一直不开，怎么办？</a:t>
            </a:r>
            <a:endParaRPr lang="zh-CN" sz="2100" dirty="0"/>
          </a:p>
        </p:txBody>
      </p:sp>
      <p:sp>
        <p:nvSpPr>
          <p:cNvPr id="30" name="Shape 27"/>
          <p:cNvSpPr/>
          <p:nvPr/>
        </p:nvSpPr>
        <p:spPr>
          <a:xfrm>
            <a:off x="11134725" y="5657850"/>
            <a:ext cx="9525" cy="5619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1430000" y="5762625"/>
            <a:ext cx="569785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圈出的一步写具体：想到的</a:t>
            </a:r>
            <a:endParaRPr lang="zh-CN" sz="2100" dirty="0"/>
          </a:p>
        </p:txBody>
      </p:sp>
      <p:sp>
        <p:nvSpPr>
          <p:cNvPr id="32" name="Shape 29"/>
          <p:cNvSpPr/>
          <p:nvPr/>
        </p:nvSpPr>
        <p:spPr>
          <a:xfrm>
            <a:off x="1057275" y="6219825"/>
            <a:ext cx="16173450" cy="5619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343025" y="6324600"/>
            <a:ext cx="980827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“别按别的键，站在原地等着，我们五分钟就到。”</a:t>
            </a:r>
            <a:endParaRPr lang="zh-CN" sz="2100" dirty="0"/>
          </a:p>
        </p:txBody>
      </p:sp>
      <p:sp>
        <p:nvSpPr>
          <p:cNvPr id="34" name="Shape 31"/>
          <p:cNvSpPr/>
          <p:nvPr/>
        </p:nvSpPr>
        <p:spPr>
          <a:xfrm>
            <a:off x="11134725" y="6219825"/>
            <a:ext cx="9525" cy="5619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11430000" y="6324600"/>
            <a:ext cx="569785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听到的话照原样写下来</a:t>
            </a:r>
            <a:endParaRPr lang="zh-CN" sz="2100" dirty="0"/>
          </a:p>
        </p:txBody>
      </p:sp>
      <p:sp>
        <p:nvSpPr>
          <p:cNvPr id="36" name="Shape 33"/>
          <p:cNvSpPr/>
          <p:nvPr/>
        </p:nvSpPr>
        <p:spPr>
          <a:xfrm>
            <a:off x="1057275" y="6781800"/>
            <a:ext cx="16173450" cy="5619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1343025" y="6886575"/>
            <a:ext cx="980827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数电梯顶上那一圈小灯，一共八个，有一个是坏的</a:t>
            </a:r>
            <a:endParaRPr lang="zh-CN" sz="2100" dirty="0"/>
          </a:p>
        </p:txBody>
      </p:sp>
      <p:sp>
        <p:nvSpPr>
          <p:cNvPr id="38" name="Shape 35"/>
          <p:cNvSpPr/>
          <p:nvPr/>
        </p:nvSpPr>
        <p:spPr>
          <a:xfrm>
            <a:off x="11134725" y="6781800"/>
            <a:ext cx="9525" cy="5619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11430000" y="6886575"/>
            <a:ext cx="569785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第三步：几句交代清楚，比第二段短得多</a:t>
            </a:r>
            <a:endParaRPr lang="zh-CN" sz="2100" dirty="0"/>
          </a:p>
        </p:txBody>
      </p:sp>
      <p:sp>
        <p:nvSpPr>
          <p:cNvPr id="40" name="Shape 37"/>
          <p:cNvSpPr/>
          <p:nvPr/>
        </p:nvSpPr>
        <p:spPr>
          <a:xfrm>
            <a:off x="1057275" y="7343775"/>
            <a:ext cx="16173450" cy="5619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1343025" y="7448550"/>
            <a:ext cx="980827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我是被物业的叔叔扶着跳下来的</a:t>
            </a:r>
            <a:endParaRPr lang="zh-CN" sz="2100" dirty="0"/>
          </a:p>
        </p:txBody>
      </p:sp>
      <p:sp>
        <p:nvSpPr>
          <p:cNvPr id="42" name="Shape 39"/>
          <p:cNvSpPr/>
          <p:nvPr/>
        </p:nvSpPr>
        <p:spPr>
          <a:xfrm>
            <a:off x="11134725" y="7343775"/>
            <a:ext cx="9525" cy="5619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11430000" y="7448550"/>
            <a:ext cx="569785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结果：一句交代</a:t>
            </a:r>
            <a:endParaRPr lang="zh-CN" sz="2100" dirty="0"/>
          </a:p>
        </p:txBody>
      </p:sp>
      <p:sp>
        <p:nvSpPr>
          <p:cNvPr id="44" name="Shape 41"/>
          <p:cNvSpPr/>
          <p:nvPr/>
        </p:nvSpPr>
        <p:spPr>
          <a:xfrm>
            <a:off x="1057275" y="7905750"/>
            <a:ext cx="16173450" cy="5619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1343025" y="8010525"/>
            <a:ext cx="980827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这是我长这么大过得最漫长的十一分钟</a:t>
            </a:r>
            <a:endParaRPr lang="zh-CN" sz="2100" dirty="0"/>
          </a:p>
        </p:txBody>
      </p:sp>
      <p:sp>
        <p:nvSpPr>
          <p:cNvPr id="46" name="Shape 43"/>
          <p:cNvSpPr/>
          <p:nvPr/>
        </p:nvSpPr>
        <p:spPr>
          <a:xfrm>
            <a:off x="11134725" y="7905750"/>
            <a:ext cx="9525" cy="5619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11430000" y="8010525"/>
            <a:ext cx="569785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结尾的感受：这件事留给自己的真实感觉</a:t>
            </a:r>
            <a:endParaRPr lang="zh-CN" sz="2100" dirty="0"/>
          </a:p>
        </p:txBody>
      </p:sp>
      <p:sp>
        <p:nvSpPr>
          <p:cNvPr id="48" name="Text 45"/>
          <p:cNvSpPr/>
          <p:nvPr/>
        </p:nvSpPr>
        <p:spPr>
          <a:xfrm>
            <a:off x="1687830" y="935355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示范文是按照构思表写成的：按顺序写，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最关键的第二步写得最详细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，其他几步略写，结尾写感受。</a:t>
            </a:r>
            <a:endParaRPr lang="zh-CN" sz="2605" dirty="0"/>
          </a:p>
        </p:txBody>
      </p:sp>
      <p:pic>
        <p:nvPicPr>
          <p:cNvPr id="137" name="提示图标" descr="手指点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9316974"/>
            <a:ext cx="502920" cy="502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204787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教师示范文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DEBD9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9395371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再看结尾：前面记叙经过，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结尾抒发事后的感受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7886700" cy="3931920"/>
          </a:xfrm>
          <a:prstGeom prst="roundRect">
            <a:avLst>
              <a:gd name="adj" fmla="val 6000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66850" y="3333750"/>
            <a:ext cx="7753350" cy="800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000"/>
              </a:lnSpc>
              <a:buNone/>
            </a:pPr>
            <a:r>
              <a:rPr lang="zh-CN" altLang="en-US" sz="60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十一分钟</a:t>
            </a:r>
            <a:endParaRPr lang="zh-CN" sz="6000" dirty="0"/>
          </a:p>
        </p:txBody>
      </p:sp>
      <p:sp>
        <p:nvSpPr>
          <p:cNvPr id="9" name="Text 6"/>
          <p:cNvSpPr/>
          <p:nvPr/>
        </p:nvSpPr>
        <p:spPr>
          <a:xfrm>
            <a:off x="1466850" y="4305300"/>
            <a:ext cx="4846320" cy="9810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放在平时，差不多就是</a:t>
            </a:r>
            <a:r>
              <a:rPr lang="zh-CN" alt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一个课间</a:t>
            </a:r>
            <a:r>
              <a:rPr lang="zh-CN" alt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，跑出去玩一玩就过去了</a:t>
            </a:r>
            <a:endParaRPr lang="zh-CN" sz="2475" dirty="0"/>
          </a:p>
        </p:txBody>
      </p:sp>
      <p:sp>
        <p:nvSpPr>
          <p:cNvPr id="10" name="Shape 7"/>
          <p:cNvSpPr/>
          <p:nvPr/>
        </p:nvSpPr>
        <p:spPr>
          <a:xfrm>
            <a:off x="9353550" y="2952750"/>
            <a:ext cx="7886700" cy="3931920"/>
          </a:xfrm>
          <a:prstGeom prst="roundRect">
            <a:avLst>
              <a:gd name="adj" fmla="val 6000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772650" y="3333750"/>
            <a:ext cx="7753350" cy="800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000"/>
              </a:lnSpc>
              <a:buNone/>
            </a:pPr>
            <a:r>
              <a:rPr lang="zh-CN" altLang="en-US" sz="60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十一分钟</a:t>
            </a:r>
            <a:endParaRPr lang="zh-CN" sz="6000" dirty="0"/>
          </a:p>
        </p:txBody>
      </p:sp>
      <p:sp>
        <p:nvSpPr>
          <p:cNvPr id="12" name="Text 9"/>
          <p:cNvSpPr/>
          <p:nvPr/>
        </p:nvSpPr>
        <p:spPr>
          <a:xfrm>
            <a:off x="9772650" y="4305300"/>
            <a:ext cx="4846320" cy="9810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困在电梯里，时间过得格外慢，</a:t>
            </a:r>
            <a:r>
              <a:rPr lang="zh-CN" alt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觉得比一个下午还长</a:t>
            </a:r>
            <a:endParaRPr lang="zh-CN" sz="2475" dirty="0"/>
          </a:p>
        </p:txBody>
      </p:sp>
      <p:sp>
        <p:nvSpPr>
          <p:cNvPr id="13" name="Shape 10"/>
          <p:cNvSpPr/>
          <p:nvPr/>
        </p:nvSpPr>
        <p:spPr>
          <a:xfrm>
            <a:off x="1047750" y="7440930"/>
            <a:ext cx="16192500" cy="1486793"/>
          </a:xfrm>
          <a:prstGeom prst="roundRect">
            <a:avLst>
              <a:gd name="adj" fmla="val 11532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466850" y="7726680"/>
            <a:ext cx="15814929" cy="95339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等待有多难熬，文章没有直接写出来，读的人也能体会到。感受不必写得很长，</a:t>
            </a: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一句或者两三句都可以</a:t>
            </a: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，写下经历这件事后自己真实的想法。</a:t>
            </a:r>
            <a:endParaRPr lang="zh-CN" sz="2325" dirty="0"/>
          </a:p>
        </p:txBody>
      </p:sp>
      <p:sp>
        <p:nvSpPr>
          <p:cNvPr id="15" name="Text 12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第一节课的内容就到这里。请把记事构思表收好，课间休息后，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按照这张表动笔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38" name="插图" descr="抠-P19a-8756c685b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9" y="3386173"/>
            <a:ext cx="3383280" cy="3426106"/>
          </a:xfrm>
          <a:prstGeom prst="rect">
            <a:avLst/>
          </a:prstGeom>
        </p:spPr>
      </p:pic>
      <p:pic>
        <p:nvPicPr>
          <p:cNvPr id="39" name="插图" descr="抠-P19b-ec5aacc4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7470" y="3063239"/>
            <a:ext cx="2327529" cy="3749039"/>
          </a:xfrm>
          <a:prstGeom prst="rect">
            <a:avLst/>
          </a:prstGeom>
        </p:spPr>
      </p:pic>
      <p:pic>
        <p:nvPicPr>
          <p:cNvPr id="44" name="提示图标" descr="手指点击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45" name="吉祥物" descr="抠-吉祥物-cfcc259ac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0" y="341947"/>
            <a:ext cx="1426464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solidFill>
            <a:srgbClr val="D98A5F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502920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4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当堂写作与评改课</a:t>
            </a:r>
            <a:endParaRPr lang="zh-CN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9379818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550" dirty="0">
                <a:solidFill>
                  <a:srgbClr val="FFFFFF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先写圈出的那一步 · 自由写作 · 同桌互读 · 先判断再改 · 收束</a:t>
            </a:r>
            <a:endParaRPr lang="zh-CN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写作热身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DEBD9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941473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先不从头写：老师提三个问题，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每个问题写一句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16192500" cy="771525"/>
          </a:xfrm>
          <a:prstGeom prst="roundRect">
            <a:avLst>
              <a:gd name="adj" fmla="val 19753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28750" y="2952750"/>
            <a:ext cx="1697355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把记事构思表放在稿纸旁边，找到第七行，回想那一步当时的情形。</a:t>
            </a:r>
            <a:endParaRPr lang="zh-CN" sz="2325" dirty="0"/>
          </a:p>
        </p:txBody>
      </p:sp>
      <p:sp>
        <p:nvSpPr>
          <p:cNvPr id="9" name="Shape 6"/>
          <p:cNvSpPr/>
          <p:nvPr/>
        </p:nvSpPr>
        <p:spPr>
          <a:xfrm>
            <a:off x="1047750" y="3810000"/>
            <a:ext cx="1619250" cy="723900"/>
          </a:xfrm>
          <a:prstGeom prst="roundRect">
            <a:avLst>
              <a:gd name="adj" fmla="val 18421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966787" y="3981450"/>
            <a:ext cx="178117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看到的</a:t>
            </a:r>
            <a:endParaRPr lang="zh-CN" sz="2250" dirty="0"/>
          </a:p>
        </p:txBody>
      </p:sp>
      <p:sp>
        <p:nvSpPr>
          <p:cNvPr id="11" name="Text 8"/>
          <p:cNvSpPr/>
          <p:nvPr/>
        </p:nvSpPr>
        <p:spPr>
          <a:xfrm>
            <a:off x="2914650" y="3950940"/>
            <a:ext cx="6705600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当时你</a:t>
            </a: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最先看见的是什么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？把它写成一句话。</a:t>
            </a:r>
            <a:endParaRPr lang="zh-CN" sz="2400" dirty="0"/>
          </a:p>
        </p:txBody>
      </p:sp>
      <p:sp>
        <p:nvSpPr>
          <p:cNvPr id="12" name="Shape 9"/>
          <p:cNvSpPr/>
          <p:nvPr/>
        </p:nvSpPr>
        <p:spPr>
          <a:xfrm>
            <a:off x="1047750" y="4762500"/>
            <a:ext cx="1619250" cy="723900"/>
          </a:xfrm>
          <a:prstGeom prst="roundRect">
            <a:avLst>
              <a:gd name="adj" fmla="val 18421"/>
            </a:avLst>
          </a:prstGeom>
          <a:solidFill>
            <a:srgbClr val="2F72B8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66787" y="4933950"/>
            <a:ext cx="178117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听到的</a:t>
            </a:r>
            <a:endParaRPr lang="zh-CN" sz="2250" dirty="0"/>
          </a:p>
        </p:txBody>
      </p:sp>
      <p:sp>
        <p:nvSpPr>
          <p:cNvPr id="14" name="Text 11"/>
          <p:cNvSpPr/>
          <p:nvPr/>
        </p:nvSpPr>
        <p:spPr>
          <a:xfrm>
            <a:off x="2914650" y="4903440"/>
            <a:ext cx="10728960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那时候你</a:t>
            </a: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听见了什么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？如果有人说话，把那句话照原样写下来，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加上引号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400" dirty="0"/>
          </a:p>
        </p:txBody>
      </p:sp>
      <p:sp>
        <p:nvSpPr>
          <p:cNvPr id="15" name="Shape 12"/>
          <p:cNvSpPr/>
          <p:nvPr/>
        </p:nvSpPr>
        <p:spPr>
          <a:xfrm>
            <a:off x="1047750" y="5715000"/>
            <a:ext cx="1619250" cy="723900"/>
          </a:xfrm>
          <a:prstGeom prst="roundRect">
            <a:avLst>
              <a:gd name="adj" fmla="val 18421"/>
            </a:avLst>
          </a:prstGeom>
          <a:solidFill>
            <a:srgbClr val="8E5AA8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66787" y="5886450"/>
            <a:ext cx="178117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想到的</a:t>
            </a:r>
            <a:endParaRPr lang="zh-CN" sz="2250" dirty="0"/>
          </a:p>
        </p:txBody>
      </p:sp>
      <p:sp>
        <p:nvSpPr>
          <p:cNvPr id="17" name="Text 14"/>
          <p:cNvSpPr/>
          <p:nvPr/>
        </p:nvSpPr>
        <p:spPr>
          <a:xfrm>
            <a:off x="2914650" y="5855940"/>
            <a:ext cx="8717280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那时候你</a:t>
            </a: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心里想的是什么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？用“我心里想”开头，写一句。</a:t>
            </a:r>
            <a:endParaRPr lang="zh-CN" sz="2400" dirty="0"/>
          </a:p>
        </p:txBody>
      </p:sp>
      <p:sp>
        <p:nvSpPr>
          <p:cNvPr id="18" name="Shape 15"/>
          <p:cNvSpPr/>
          <p:nvPr/>
        </p:nvSpPr>
        <p:spPr>
          <a:xfrm>
            <a:off x="1047750" y="7534275"/>
            <a:ext cx="16367125" cy="1323975"/>
          </a:xfrm>
          <a:prstGeom prst="roundRect">
            <a:avLst>
              <a:gd name="adj" fmla="val 12950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447800" y="7781925"/>
            <a:ext cx="15854172" cy="866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写看到的事：</a:t>
            </a:r>
            <a:r>
              <a:rPr lang="zh-CN" alt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这三句写你在旁边看见的、听见的。</a:t>
            </a: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写听说的事：</a:t>
            </a:r>
            <a:r>
              <a:rPr lang="zh-CN" alt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把讲述人告诉你的那几句话写下来，再写一句你听到时心里的想法。</a:t>
            </a:r>
            <a:endParaRPr lang="zh-CN" sz="2175" dirty="0"/>
          </a:p>
        </p:txBody>
      </p:sp>
      <p:sp>
        <p:nvSpPr>
          <p:cNvPr id="20" name="Text 17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这三句就是你这篇习作里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写得最详细的一步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；它在文章的中间，不在开头。</a:t>
            </a:r>
            <a:endParaRPr lang="zh-CN" sz="2605" dirty="0"/>
          </a:p>
        </p:txBody>
      </p:sp>
      <p:pic>
        <p:nvPicPr>
          <p:cNvPr id="57" name="插图" descr="抠-P21b-f32cbac7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4772" y="3611880"/>
            <a:ext cx="3863014" cy="3840480"/>
          </a:xfrm>
          <a:prstGeom prst="rect">
            <a:avLst/>
          </a:prstGeom>
        </p:spPr>
      </p:pic>
      <p:pic>
        <p:nvPicPr>
          <p:cNvPr id="60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61" name="吉祥物" descr="抠-吉祥物-cfcc259a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426464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底带"/>
          <p:cNvSpPr/>
          <p:nvPr/>
        </p:nvSpPr>
        <p:spPr>
          <a:xfrm>
            <a:off x="0" y="6355080"/>
            <a:ext cx="18288000" cy="3931920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自由写作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DEBD9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5794876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拿出稿纸：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对照构思表往下写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7886700" cy="3143250"/>
          </a:xfrm>
          <a:prstGeom prst="roundRect">
            <a:avLst>
              <a:gd name="adj" fmla="val 5455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66850" y="3429000"/>
            <a:ext cx="7753350" cy="800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000"/>
              </a:lnSpc>
              <a:buNone/>
            </a:pPr>
            <a:r>
              <a:rPr lang="zh-CN" altLang="en-US" sz="60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</a:t>
            </a:r>
            <a:endParaRPr lang="zh-CN" sz="6000" dirty="0"/>
          </a:p>
        </p:txBody>
      </p:sp>
      <p:sp>
        <p:nvSpPr>
          <p:cNvPr id="9" name="Text 6"/>
          <p:cNvSpPr/>
          <p:nvPr/>
        </p:nvSpPr>
        <p:spPr>
          <a:xfrm>
            <a:off x="1466850" y="4381500"/>
            <a:ext cx="7259955" cy="1004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先交代时间、地点，再写起因，接着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按第一步、第二步往下写</a:t>
            </a:r>
            <a:endParaRPr lang="zh-CN" sz="2625" dirty="0"/>
          </a:p>
        </p:txBody>
      </p:sp>
      <p:sp>
        <p:nvSpPr>
          <p:cNvPr id="10" name="Shape 7"/>
          <p:cNvSpPr/>
          <p:nvPr/>
        </p:nvSpPr>
        <p:spPr>
          <a:xfrm>
            <a:off x="9353550" y="3048000"/>
            <a:ext cx="7886700" cy="3143250"/>
          </a:xfrm>
          <a:prstGeom prst="roundRect">
            <a:avLst>
              <a:gd name="adj" fmla="val 5455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772650" y="3429000"/>
            <a:ext cx="7753350" cy="800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000"/>
              </a:lnSpc>
              <a:buNone/>
            </a:pPr>
            <a:r>
              <a:rPr lang="zh-CN" altLang="en-US" sz="60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</a:t>
            </a:r>
            <a:endParaRPr lang="zh-CN" sz="6000" dirty="0"/>
          </a:p>
        </p:txBody>
      </p:sp>
      <p:sp>
        <p:nvSpPr>
          <p:cNvPr id="12" name="Text 9"/>
          <p:cNvSpPr/>
          <p:nvPr/>
        </p:nvSpPr>
        <p:spPr>
          <a:xfrm>
            <a:off x="9772650" y="4381500"/>
            <a:ext cx="7259955" cy="1004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写到你圈出的这一步，把草稿纸上刚写的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三句接进去</a:t>
            </a: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；如果还想到别的内容，接着往下补充</a:t>
            </a:r>
            <a:endParaRPr lang="zh-CN" sz="2625" dirty="0"/>
          </a:p>
        </p:txBody>
      </p:sp>
      <p:sp>
        <p:nvSpPr>
          <p:cNvPr id="13" name="Text 10"/>
          <p:cNvSpPr/>
          <p:nvPr/>
        </p:nvSpPr>
        <p:spPr>
          <a:xfrm>
            <a:off x="1047750" y="8239125"/>
            <a:ext cx="11795760" cy="866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25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按表上的顺序一直写到结果，最后写下自己的感受。中途遇到不会写的字、不确定的标点，</a:t>
            </a: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先接着往下写</a:t>
            </a:r>
            <a:r>
              <a:rPr lang="zh-CN" altLang="en-US" sz="225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，全篇写完再统一修改。</a:t>
            </a:r>
            <a:endParaRPr lang="zh-CN" sz="2250" dirty="0"/>
          </a:p>
        </p:txBody>
      </p:sp>
      <p:sp>
        <p:nvSpPr>
          <p:cNvPr id="14" name="Shape 11"/>
          <p:cNvSpPr/>
          <p:nvPr/>
        </p:nvSpPr>
        <p:spPr>
          <a:xfrm>
            <a:off x="12847439" y="8791575"/>
            <a:ext cx="4392811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228439" y="8982075"/>
            <a:ext cx="3993892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8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写作时间约 18 分钟</a:t>
            </a:r>
            <a:endParaRPr lang="zh-CN" sz="2850" dirty="0"/>
          </a:p>
        </p:txBody>
      </p:sp>
      <p:pic>
        <p:nvPicPr>
          <p:cNvPr id="31" name="插图" descr="抠-P22b-56c34be6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0417" y="5852160"/>
            <a:ext cx="4154365" cy="2880360"/>
          </a:xfrm>
          <a:prstGeom prst="rect">
            <a:avLst/>
          </a:prstGeom>
        </p:spPr>
      </p:pic>
      <p:pic>
        <p:nvPicPr>
          <p:cNvPr id="32" name="吉祥物" descr="抠-吉祥物-cfcc259a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760" y="341947"/>
            <a:ext cx="1426464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自由写作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2847439" y="8791575"/>
            <a:ext cx="4392811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228439" y="8982075"/>
            <a:ext cx="3993892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8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写作时间约 18 分钟</a:t>
            </a:r>
            <a:endParaRPr lang="zh-CN" sz="2850" dirty="0"/>
          </a:p>
        </p:txBody>
      </p:sp>
      <p:pic>
        <p:nvPicPr>
          <p:cNvPr id="16" name="插图" descr="稿纸-4e53012f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58" y="1325880"/>
            <a:ext cx="12124883" cy="7178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底带"/>
          <p:cNvSpPr/>
          <p:nvPr/>
        </p:nvSpPr>
        <p:spPr>
          <a:xfrm>
            <a:off x="0" y="6446520"/>
            <a:ext cx="18288000" cy="3840480"/>
          </a:xfrm>
          <a:prstGeom prst="rect">
            <a:avLst/>
          </a:prstGeom>
          <a:solidFill>
            <a:srgbClr val="FD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交流评议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DEBD9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8031823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读给不在场的同桌听：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听的人说两句话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3228975"/>
          </a:xfrm>
          <a:prstGeom prst="roundRect">
            <a:avLst>
              <a:gd name="adj" fmla="val 531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7867650" cy="733425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3038475"/>
            <a:ext cx="7983855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3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听的人说两句</a:t>
            </a:r>
            <a:endParaRPr lang="zh-CN" sz="2325" dirty="0"/>
          </a:p>
        </p:txBody>
      </p:sp>
      <p:sp>
        <p:nvSpPr>
          <p:cNvPr id="10" name="Shape 7"/>
          <p:cNvSpPr/>
          <p:nvPr/>
        </p:nvSpPr>
        <p:spPr>
          <a:xfrm>
            <a:off x="1057275" y="3600450"/>
            <a:ext cx="7867650" cy="2476500"/>
          </a:xfrm>
          <a:prstGeom prst="rect">
            <a:avLst/>
          </a:prstGeom>
          <a:solidFill>
            <a:srgbClr val="F7F8FA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81125" y="3886200"/>
            <a:ext cx="7436549" cy="9828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第一句</a:t>
            </a: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：用自己的话说一遍：这件事是怎么开始的，最后怎么样了</a:t>
            </a:r>
            <a:endParaRPr lang="zh-CN" sz="2325" dirty="0"/>
          </a:p>
        </p:txBody>
      </p:sp>
      <p:sp>
        <p:nvSpPr>
          <p:cNvPr id="12" name="Text 9"/>
          <p:cNvSpPr/>
          <p:nvPr/>
        </p:nvSpPr>
        <p:spPr>
          <a:xfrm>
            <a:off x="1381125" y="4983361"/>
            <a:ext cx="7941945" cy="5104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第二句</a:t>
            </a: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：说出你觉得他写得最详细的是哪一步</a:t>
            </a:r>
            <a:endParaRPr lang="zh-CN" sz="2325" dirty="0"/>
          </a:p>
        </p:txBody>
      </p:sp>
      <p:sp>
        <p:nvSpPr>
          <p:cNvPr id="13" name="Shape 10"/>
          <p:cNvSpPr/>
          <p:nvPr/>
        </p:nvSpPr>
        <p:spPr>
          <a:xfrm>
            <a:off x="9353550" y="2857500"/>
            <a:ext cx="7886700" cy="3228975"/>
          </a:xfrm>
          <a:prstGeom prst="roundRect">
            <a:avLst>
              <a:gd name="adj" fmla="val 531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9363075" y="2867025"/>
            <a:ext cx="7867650" cy="733425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9667875" y="3038475"/>
            <a:ext cx="7983855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3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读的人对照自己的构思表</a:t>
            </a:r>
            <a:endParaRPr lang="zh-CN" sz="2325" dirty="0"/>
          </a:p>
        </p:txBody>
      </p:sp>
      <p:sp>
        <p:nvSpPr>
          <p:cNvPr id="16" name="Shape 13"/>
          <p:cNvSpPr/>
          <p:nvPr/>
        </p:nvSpPr>
        <p:spPr>
          <a:xfrm>
            <a:off x="9363075" y="3600450"/>
            <a:ext cx="7867650" cy="2476500"/>
          </a:xfrm>
          <a:prstGeom prst="rect">
            <a:avLst/>
          </a:prstGeom>
          <a:solidFill>
            <a:srgbClr val="F7F8FA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686925" y="3886200"/>
            <a:ext cx="7941945" cy="5104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对一对</a:t>
            </a: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同桌说的起因和结果，对不对</a:t>
            </a:r>
            <a:endParaRPr lang="zh-CN" sz="2325" dirty="0"/>
          </a:p>
        </p:txBody>
      </p:sp>
      <p:sp>
        <p:nvSpPr>
          <p:cNvPr id="18" name="Text 15"/>
          <p:cNvSpPr/>
          <p:nvPr/>
        </p:nvSpPr>
        <p:spPr>
          <a:xfrm>
            <a:off x="9686925" y="4510980"/>
            <a:ext cx="7436549" cy="9828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再对一对</a:t>
            </a: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同桌指出的那一步，和你第七行圈出的是不是同一步</a:t>
            </a:r>
            <a:endParaRPr lang="zh-CN" sz="2325" dirty="0"/>
          </a:p>
        </p:txBody>
      </p:sp>
      <p:sp>
        <p:nvSpPr>
          <p:cNvPr id="19" name="Shape 16"/>
          <p:cNvSpPr/>
          <p:nvPr/>
        </p:nvSpPr>
        <p:spPr>
          <a:xfrm>
            <a:off x="1047750" y="6667500"/>
            <a:ext cx="11521440" cy="1314450"/>
          </a:xfrm>
          <a:prstGeom prst="roundRect">
            <a:avLst>
              <a:gd name="adj" fmla="val 11594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428750" y="6896100"/>
            <a:ext cx="11155680" cy="895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25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全班交流：</a:t>
            </a:r>
            <a:r>
              <a:rPr lang="zh-CN" altLang="en-US" sz="225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请两位同学把自己圈出的那一步读给全班听，只读这一步。听的同学说一说：这一步里你听到了</a:t>
            </a: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哪几个动作，或者哪一句话</a:t>
            </a:r>
            <a:r>
              <a:rPr lang="zh-CN" altLang="en-US" sz="225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250" dirty="0"/>
          </a:p>
        </p:txBody>
      </p:sp>
      <p:sp>
        <p:nvSpPr>
          <p:cNvPr id="21" name="Text 18"/>
          <p:cNvSpPr/>
          <p:nvPr/>
        </p:nvSpPr>
        <p:spPr>
          <a:xfrm>
            <a:off x="1687830" y="9334500"/>
            <a:ext cx="1325880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两处都一致，说明这件事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写清楚了，重点也写出来了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；有一处不一致，稍后就修改这一处。</a:t>
            </a:r>
            <a:endParaRPr lang="zh-CN" sz="2605" dirty="0"/>
          </a:p>
        </p:txBody>
      </p:sp>
      <p:pic>
        <p:nvPicPr>
          <p:cNvPr id="57" name="插图" descr="抠-P24b-4caa8138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0" y="6369710"/>
            <a:ext cx="4480560" cy="2957169"/>
          </a:xfrm>
          <a:prstGeom prst="rect">
            <a:avLst/>
          </a:prstGeom>
        </p:spPr>
      </p:pic>
      <p:pic>
        <p:nvPicPr>
          <p:cNvPr id="58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59" name="吉祥物" descr="抠-吉祥物-cfcc259a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426464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修改收束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DEBD9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6711002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改之前先判断：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你属于哪一种情况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5181600" cy="5760720"/>
          </a:xfrm>
          <a:prstGeom prst="roundRect">
            <a:avLst>
              <a:gd name="adj" fmla="val 375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5162550" cy="7239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23975" y="3038475"/>
            <a:ext cx="509206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第一种</a:t>
            </a:r>
            <a:endParaRPr lang="zh-CN" sz="2250" dirty="0"/>
          </a:p>
        </p:txBody>
      </p:sp>
      <p:sp>
        <p:nvSpPr>
          <p:cNvPr id="10" name="Text 7"/>
          <p:cNvSpPr/>
          <p:nvPr/>
        </p:nvSpPr>
        <p:spPr>
          <a:xfrm>
            <a:off x="1343025" y="3876675"/>
            <a:ext cx="4728782" cy="923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zh-CN" altLang="en-US" sz="22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同桌说不出这件事是怎么开始的，或者最后怎么样了</a:t>
            </a:r>
            <a:endParaRPr lang="zh-CN" sz="2250" dirty="0"/>
          </a:p>
        </p:txBody>
      </p:sp>
      <p:sp>
        <p:nvSpPr>
          <p:cNvPr id="11" name="Text 8"/>
          <p:cNvSpPr/>
          <p:nvPr/>
        </p:nvSpPr>
        <p:spPr>
          <a:xfrm>
            <a:off x="1343025" y="4930775"/>
            <a:ext cx="2943225" cy="419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起因或者结果漏掉了，</a:t>
            </a:r>
            <a:endParaRPr lang="zh-CN" sz="2250" dirty="0"/>
          </a:p>
        </p:txBody>
      </p:sp>
      <p:sp>
        <p:nvSpPr>
          <p:cNvPr id="12" name="Text 9"/>
          <p:cNvSpPr/>
          <p:nvPr/>
        </p:nvSpPr>
        <p:spPr>
          <a:xfrm>
            <a:off x="4149725" y="4930775"/>
            <a:ext cx="157162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补上一两句</a:t>
            </a:r>
            <a:endParaRPr lang="zh-CN" sz="2250" dirty="0"/>
          </a:p>
        </p:txBody>
      </p:sp>
      <p:sp>
        <p:nvSpPr>
          <p:cNvPr id="13" name="Text 10"/>
          <p:cNvSpPr/>
          <p:nvPr/>
        </p:nvSpPr>
        <p:spPr>
          <a:xfrm>
            <a:off x="5629275" y="4943475"/>
            <a:ext cx="361950" cy="419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250" dirty="0"/>
          </a:p>
        </p:txBody>
      </p:sp>
      <p:sp>
        <p:nvSpPr>
          <p:cNvPr id="14" name="Shape 11"/>
          <p:cNvSpPr/>
          <p:nvPr/>
        </p:nvSpPr>
        <p:spPr>
          <a:xfrm>
            <a:off x="6553200" y="2857500"/>
            <a:ext cx="5181600" cy="5760720"/>
          </a:xfrm>
          <a:prstGeom prst="roundRect">
            <a:avLst>
              <a:gd name="adj" fmla="val 375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562725" y="2867025"/>
            <a:ext cx="5162550" cy="7239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829425" y="3038475"/>
            <a:ext cx="509206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第二种</a:t>
            </a:r>
            <a:endParaRPr lang="zh-CN" sz="2250" dirty="0"/>
          </a:p>
        </p:txBody>
      </p:sp>
      <p:sp>
        <p:nvSpPr>
          <p:cNvPr id="17" name="Text 14"/>
          <p:cNvSpPr/>
          <p:nvPr/>
        </p:nvSpPr>
        <p:spPr>
          <a:xfrm>
            <a:off x="6848475" y="3876675"/>
            <a:ext cx="4728782" cy="923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zh-CN" altLang="en-US" sz="22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同桌指出的那一步，和你第七行圈出的不是同一步</a:t>
            </a:r>
            <a:endParaRPr lang="zh-CN" sz="2250" dirty="0"/>
          </a:p>
        </p:txBody>
      </p:sp>
      <p:sp>
        <p:nvSpPr>
          <p:cNvPr id="18" name="Text 15"/>
          <p:cNvSpPr/>
          <p:nvPr/>
        </p:nvSpPr>
        <p:spPr>
          <a:xfrm>
            <a:off x="6848475" y="4943475"/>
            <a:ext cx="4709160" cy="1304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圈出的那一步还没有写详细。回到那一步，把看到的、听到的、想到的三项中</a:t>
            </a:r>
            <a:endParaRPr lang="zh-CN" sz="2250" dirty="0"/>
          </a:p>
        </p:txBody>
      </p:sp>
      <p:sp>
        <p:nvSpPr>
          <p:cNvPr id="19" name="Text 16"/>
          <p:cNvSpPr/>
          <p:nvPr/>
        </p:nvSpPr>
        <p:spPr>
          <a:xfrm>
            <a:off x="7464425" y="5713095"/>
            <a:ext cx="2943225" cy="6000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缺的那一项补上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；</a:t>
            </a:r>
            <a:endParaRPr lang="zh-CN" sz="2250" dirty="0"/>
          </a:p>
        </p:txBody>
      </p:sp>
      <p:sp>
        <p:nvSpPr>
          <p:cNvPr id="20" name="Text 17"/>
          <p:cNvSpPr/>
          <p:nvPr/>
        </p:nvSpPr>
        <p:spPr>
          <a:xfrm>
            <a:off x="6848475" y="6426200"/>
            <a:ext cx="4709160" cy="8620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如果有人说话，把他的原话补上。</a:t>
            </a:r>
            <a:endParaRPr lang="zh-CN" sz="2250" dirty="0"/>
          </a:p>
        </p:txBody>
      </p:sp>
      <p:sp>
        <p:nvSpPr>
          <p:cNvPr id="21" name="Shape 18"/>
          <p:cNvSpPr/>
          <p:nvPr/>
        </p:nvSpPr>
        <p:spPr>
          <a:xfrm>
            <a:off x="12058650" y="2857500"/>
            <a:ext cx="5181600" cy="5760720"/>
          </a:xfrm>
          <a:prstGeom prst="roundRect">
            <a:avLst>
              <a:gd name="adj" fmla="val 375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2068175" y="2867025"/>
            <a:ext cx="5162550" cy="7239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2334875" y="3038475"/>
            <a:ext cx="509206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第三种</a:t>
            </a:r>
            <a:endParaRPr lang="zh-CN" sz="2250" dirty="0"/>
          </a:p>
        </p:txBody>
      </p:sp>
      <p:sp>
        <p:nvSpPr>
          <p:cNvPr id="24" name="Text 21"/>
          <p:cNvSpPr/>
          <p:nvPr/>
        </p:nvSpPr>
        <p:spPr>
          <a:xfrm>
            <a:off x="12353925" y="3876675"/>
            <a:ext cx="5050155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zh-CN" altLang="en-US" sz="22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两句都对上了</a:t>
            </a:r>
            <a:endParaRPr lang="zh-CN" sz="2250" dirty="0"/>
          </a:p>
        </p:txBody>
      </p:sp>
      <p:sp>
        <p:nvSpPr>
          <p:cNvPr id="25" name="Text 22"/>
          <p:cNvSpPr/>
          <p:nvPr/>
        </p:nvSpPr>
        <p:spPr>
          <a:xfrm>
            <a:off x="12353925" y="4500563"/>
            <a:ext cx="4709160" cy="8620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看一看其他两步有没有写得比圈出的那一步还长。有，就</a:t>
            </a:r>
            <a:endParaRPr lang="zh-CN" sz="2250" dirty="0"/>
          </a:p>
        </p:txBody>
      </p:sp>
      <p:sp>
        <p:nvSpPr>
          <p:cNvPr id="26" name="Text 23"/>
          <p:cNvSpPr/>
          <p:nvPr/>
        </p:nvSpPr>
        <p:spPr>
          <a:xfrm>
            <a:off x="14976475" y="4866005"/>
            <a:ext cx="2137410" cy="4584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把它删减一些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，</a:t>
            </a:r>
            <a:endParaRPr lang="zh-CN" sz="2250" dirty="0"/>
          </a:p>
        </p:txBody>
      </p:sp>
      <p:sp>
        <p:nvSpPr>
          <p:cNvPr id="27" name="Text 24"/>
          <p:cNvSpPr/>
          <p:nvPr/>
        </p:nvSpPr>
        <p:spPr>
          <a:xfrm>
            <a:off x="12353925" y="5413375"/>
            <a:ext cx="4709160" cy="8620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把篇幅留给最关键的那一步。</a:t>
            </a:r>
            <a:endParaRPr lang="zh-CN" sz="2250" dirty="0"/>
          </a:p>
        </p:txBody>
      </p:sp>
      <p:sp>
        <p:nvSpPr>
          <p:cNvPr id="28" name="Text 25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在稿纸上方写下你属于第几种，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按这一种的改法，在稿子上修改一处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77" name="插图" descr="抠-P25a-4d143368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947" y="7269480"/>
            <a:ext cx="1397012" cy="1691640"/>
          </a:xfrm>
          <a:prstGeom prst="rect">
            <a:avLst/>
          </a:prstGeom>
        </p:spPr>
      </p:pic>
      <p:pic>
        <p:nvPicPr>
          <p:cNvPr id="78" name="插图" descr="抠-P25b-76d3e3b2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5106" y="7269480"/>
            <a:ext cx="1357541" cy="1691640"/>
          </a:xfrm>
          <a:prstGeom prst="rect">
            <a:avLst/>
          </a:prstGeom>
        </p:spPr>
      </p:pic>
      <p:pic>
        <p:nvPicPr>
          <p:cNvPr id="79" name="插图" descr="抠-P25c-c16adb3e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88390" y="7269480"/>
            <a:ext cx="1858945" cy="1691640"/>
          </a:xfrm>
          <a:prstGeom prst="rect">
            <a:avLst/>
          </a:prstGeom>
        </p:spPr>
      </p:pic>
      <p:pic>
        <p:nvPicPr>
          <p:cNvPr id="86" name="提示图标" descr="手指点击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87" name="吉祥物" descr="抠-吉祥物-cfcc259ac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38760" y="341947"/>
            <a:ext cx="1426464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修改收束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DEBD9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9842629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改完那一处，用修改符号通读一遍，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对照三档标准</a:t>
            </a:r>
            <a:endParaRPr lang="zh-CN" sz="3205" dirty="0"/>
          </a:p>
        </p:txBody>
      </p:sp>
      <p:sp>
        <p:nvSpPr>
          <p:cNvPr id="7" name="Text 4"/>
          <p:cNvSpPr/>
          <p:nvPr/>
        </p:nvSpPr>
        <p:spPr>
          <a:xfrm>
            <a:off x="1047750" y="2857500"/>
            <a:ext cx="649605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三个修改符号</a:t>
            </a:r>
            <a:endParaRPr lang="zh-CN" sz="2400" dirty="0"/>
          </a:p>
        </p:txBody>
      </p:sp>
      <p:sp>
        <p:nvSpPr>
          <p:cNvPr id="8" name="Shape 5"/>
          <p:cNvSpPr/>
          <p:nvPr/>
        </p:nvSpPr>
        <p:spPr>
          <a:xfrm>
            <a:off x="1047750" y="3467100"/>
            <a:ext cx="5905500" cy="805755"/>
          </a:xfrm>
          <a:prstGeom prst="roundRect">
            <a:avLst>
              <a:gd name="adj" fmla="val 16550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33500" y="3676650"/>
            <a:ext cx="5867400" cy="424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删除号</a:t>
            </a:r>
            <a:r>
              <a:rPr lang="zh-CN" alt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：把多余的字圈掉</a:t>
            </a:r>
            <a:endParaRPr lang="zh-CN" sz="2175" dirty="0"/>
          </a:p>
        </p:txBody>
      </p:sp>
      <p:sp>
        <p:nvSpPr>
          <p:cNvPr id="10" name="Shape 7"/>
          <p:cNvSpPr/>
          <p:nvPr/>
        </p:nvSpPr>
        <p:spPr>
          <a:xfrm>
            <a:off x="1047750" y="4463355"/>
            <a:ext cx="5905500" cy="1192411"/>
          </a:xfrm>
          <a:prstGeom prst="roundRect">
            <a:avLst>
              <a:gd name="adj" fmla="val 11183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33500" y="4672905"/>
            <a:ext cx="5494020" cy="81141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增补号</a:t>
            </a:r>
            <a:r>
              <a:rPr lang="zh-CN" alt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：在漏字处画朝上的尖角符号，把字写在尖角上方</a:t>
            </a:r>
            <a:endParaRPr lang="zh-CN" sz="2175" dirty="0"/>
          </a:p>
        </p:txBody>
      </p:sp>
      <p:sp>
        <p:nvSpPr>
          <p:cNvPr id="12" name="Shape 9"/>
          <p:cNvSpPr/>
          <p:nvPr/>
        </p:nvSpPr>
        <p:spPr>
          <a:xfrm>
            <a:off x="1047750" y="5846266"/>
            <a:ext cx="5905500" cy="805755"/>
          </a:xfrm>
          <a:prstGeom prst="roundRect">
            <a:avLst>
              <a:gd name="adj" fmla="val 16550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33500" y="6055816"/>
            <a:ext cx="5867400" cy="424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改正号</a:t>
            </a:r>
            <a:r>
              <a:rPr lang="zh-CN" alt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：把错字划去，在旁边写上正确的字</a:t>
            </a:r>
            <a:endParaRPr lang="zh-CN" sz="2175" dirty="0"/>
          </a:p>
        </p:txBody>
      </p:sp>
      <p:sp>
        <p:nvSpPr>
          <p:cNvPr id="14" name="Text 11"/>
          <p:cNvSpPr/>
          <p:nvPr/>
        </p:nvSpPr>
        <p:spPr>
          <a:xfrm>
            <a:off x="7905750" y="2857500"/>
            <a:ext cx="1026795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对照三档标准，从下往上看</a:t>
            </a:r>
            <a:endParaRPr lang="zh-CN" sz="2400" dirty="0"/>
          </a:p>
        </p:txBody>
      </p:sp>
      <p:sp>
        <p:nvSpPr>
          <p:cNvPr id="15" name="Shape 12"/>
          <p:cNvSpPr/>
          <p:nvPr/>
        </p:nvSpPr>
        <p:spPr>
          <a:xfrm>
            <a:off x="7905750" y="3467100"/>
            <a:ext cx="9334500" cy="715714"/>
          </a:xfrm>
          <a:prstGeom prst="roundRect">
            <a:avLst>
              <a:gd name="adj" fmla="val 13308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7905750" y="3467100"/>
            <a:ext cx="76200" cy="715714"/>
          </a:xfrm>
          <a:prstGeom prst="rect">
            <a:avLst/>
          </a:prstGeom>
          <a:solidFill>
            <a:srgbClr val="9AA6B6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248650" y="3638550"/>
            <a:ext cx="9597390" cy="41091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0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基础一档</a:t>
            </a:r>
            <a:r>
              <a:rPr lang="zh-CN" alt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：写的是一件事，起因、经过、结果都有，按先后写，语句通顺</a:t>
            </a:r>
            <a:endParaRPr lang="zh-CN" sz="2025" dirty="0"/>
          </a:p>
        </p:txBody>
      </p:sp>
      <p:sp>
        <p:nvSpPr>
          <p:cNvPr id="18" name="Shape 15"/>
          <p:cNvSpPr/>
          <p:nvPr/>
        </p:nvSpPr>
        <p:spPr>
          <a:xfrm>
            <a:off x="7905750" y="4354264"/>
            <a:ext cx="9334500" cy="1088529"/>
          </a:xfrm>
          <a:prstGeom prst="roundRect">
            <a:avLst>
              <a:gd name="adj" fmla="val 8750"/>
            </a:avLst>
          </a:prstGeom>
          <a:solidFill>
            <a:srgbClr val="FBF3E6"/>
          </a:solidFill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7905750" y="4354264"/>
            <a:ext cx="76200" cy="1088529"/>
          </a:xfrm>
          <a:prstGeom prst="rect">
            <a:avLst/>
          </a:prstGeom>
          <a:solidFill>
            <a:srgbClr val="E0A43B"/>
          </a:solidFill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248650" y="4525714"/>
            <a:ext cx="8986647" cy="78372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0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良好一档</a:t>
            </a:r>
            <a:r>
              <a:rPr lang="zh-CN" alt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：经过分成两三步，顺序清楚；有一步写得比其他几步详细，写出了当时看到的或听到的；结尾有感受</a:t>
            </a:r>
            <a:endParaRPr lang="zh-CN" sz="2025" dirty="0"/>
          </a:p>
        </p:txBody>
      </p:sp>
      <p:sp>
        <p:nvSpPr>
          <p:cNvPr id="21" name="Shape 18"/>
          <p:cNvSpPr/>
          <p:nvPr/>
        </p:nvSpPr>
        <p:spPr>
          <a:xfrm>
            <a:off x="7905750" y="5614243"/>
            <a:ext cx="9334500" cy="1461343"/>
          </a:xfrm>
          <a:prstGeom prst="roundRect">
            <a:avLst>
              <a:gd name="adj" fmla="val 6518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7905750" y="5614243"/>
            <a:ext cx="76200" cy="1461343"/>
          </a:xfrm>
          <a:prstGeom prst="rect">
            <a:avLst/>
          </a:prstGeom>
          <a:solidFill>
            <a:srgbClr val="C0392B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8248650" y="5785693"/>
            <a:ext cx="8986647" cy="115654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0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优秀一档</a:t>
            </a:r>
            <a:r>
              <a:rPr lang="zh-CN" alt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：起因和结果交代简洁，经过三步以上；圈出的那一步写得最详细，看到的、听到的、想到的三项都有，有人说话的写下了原话；同桌能说出起因和结果、指得出这一步；结尾的感受真实</a:t>
            </a:r>
            <a:endParaRPr lang="zh-CN" sz="2025" dirty="0"/>
          </a:p>
        </p:txBody>
      </p:sp>
      <p:sp>
        <p:nvSpPr>
          <p:cNvPr id="24" name="Text 21"/>
          <p:cNvSpPr/>
          <p:nvPr/>
        </p:nvSpPr>
        <p:spPr>
          <a:xfrm>
            <a:off x="1687830" y="935355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写看到的、听说的事，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第三项按听来的内容写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，同样按这三档标准评判。</a:t>
            </a:r>
            <a:endParaRPr lang="zh-CN" sz="2605" dirty="0"/>
          </a:p>
        </p:txBody>
      </p:sp>
      <p:pic>
        <p:nvPicPr>
          <p:cNvPr id="25" name="插图" descr="抠-P26b-d2d0d417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59" y="7018957"/>
            <a:ext cx="5907024" cy="1964085"/>
          </a:xfrm>
          <a:prstGeom prst="rect">
            <a:avLst/>
          </a:prstGeom>
        </p:spPr>
      </p:pic>
      <p:pic>
        <p:nvPicPr>
          <p:cNvPr id="26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6974"/>
            <a:ext cx="502920" cy="502920"/>
          </a:xfrm>
          <a:prstGeom prst="rect">
            <a:avLst/>
          </a:prstGeom>
        </p:spPr>
      </p:pic>
      <p:pic>
        <p:nvPicPr>
          <p:cNvPr id="27" name="吉祥物" descr="抠-吉祥物-cfcc259a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426464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6858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收束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DEBD9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184895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回到第一节课那幅图：这件事，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不在场的人也说得清楚了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329565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3143250"/>
            <a:ext cx="775335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看图的人，说不出比赛</a:t>
            </a:r>
            <a:r>
              <a:rPr lang="zh-CN" alt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怎么开始、谁得了第一</a:t>
            </a:r>
            <a:endParaRPr lang="zh-CN" sz="2775" dirty="0"/>
          </a:p>
        </p:txBody>
      </p:sp>
      <p:sp>
        <p:nvSpPr>
          <p:cNvPr id="9" name="Shape 6"/>
          <p:cNvSpPr/>
          <p:nvPr/>
        </p:nvSpPr>
        <p:spPr>
          <a:xfrm>
            <a:off x="1047750" y="4205288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4052888"/>
            <a:ext cx="8778240" cy="1095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你的同桌没有在场，听完你的稿子，却能说出这件事</a:t>
            </a:r>
            <a:r>
              <a:rPr lang="zh-CN" alt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怎么开始、最后怎么样</a:t>
            </a:r>
            <a:endParaRPr lang="zh-CN" sz="2775" dirty="0"/>
          </a:p>
        </p:txBody>
      </p:sp>
      <p:sp>
        <p:nvSpPr>
          <p:cNvPr id="11" name="Shape 8"/>
          <p:cNvSpPr/>
          <p:nvPr/>
        </p:nvSpPr>
        <p:spPr>
          <a:xfrm>
            <a:off x="1047750" y="5643563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5491163"/>
            <a:ext cx="5427345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还能指出你</a:t>
            </a:r>
            <a:r>
              <a:rPr lang="zh-CN" alt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写得最详细的那一步</a:t>
            </a:r>
            <a:endParaRPr lang="zh-CN" sz="2775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2958536"/>
            <a:ext cx="7955279" cy="57872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写一件事，先按顺序把起因、经过、结果排清楚，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再把最关键的一步写具体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32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33" name="吉祥物" descr="抠-吉祥物-cfcc259a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426464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solidFill>
            <a:srgbClr val="D98A5F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943100" y="3657600"/>
            <a:ext cx="8064892" cy="19002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2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THE END</a:t>
            </a:r>
            <a:endParaRPr lang="en-US" sz="12750" dirty="0"/>
          </a:p>
        </p:txBody>
      </p:sp>
      <p:sp>
        <p:nvSpPr>
          <p:cNvPr id="5" name="Text 3"/>
          <p:cNvSpPr/>
          <p:nvPr/>
        </p:nvSpPr>
        <p:spPr>
          <a:xfrm>
            <a:off x="2057400" y="5676900"/>
            <a:ext cx="15716250" cy="54471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zh-CN" altLang="en-US" sz="2850" dirty="0">
                <a:solidFill>
                  <a:srgbClr val="FFFFFF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写一件事，按顺序排清楚起因、经过、结果，再把最关键的一步写具体。</a:t>
            </a:r>
            <a:endParaRPr lang="zh-CN" sz="2850" dirty="0"/>
          </a:p>
        </p:txBody>
      </p:sp>
      <p:sp>
        <p:nvSpPr>
          <p:cNvPr id="6" name="Text 4"/>
          <p:cNvSpPr/>
          <p:nvPr/>
        </p:nvSpPr>
        <p:spPr>
          <a:xfrm>
            <a:off x="13792200" y="8058150"/>
            <a:ext cx="2095500" cy="5334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下次课再见</a:t>
            </a:r>
            <a:endParaRPr lang="zh-CN" sz="3000" dirty="0"/>
          </a:p>
        </p:txBody>
      </p:sp>
      <p:sp>
        <p:nvSpPr>
          <p:cNvPr id="7" name="Shape 5"/>
          <p:cNvSpPr/>
          <p:nvPr/>
        </p:nvSpPr>
        <p:spPr>
          <a:xfrm>
            <a:off x="15925800" y="8039100"/>
            <a:ext cx="419100" cy="5334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5800" y="8039100"/>
            <a:ext cx="419100" cy="533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6.3359842519685,&quot;left&quot;:82.5,&quot;top&quot;:240,&quot;width&quot;:778.4474803149606}"/>
</p:tagLst>
</file>

<file path=ppt/tags/tag2.xml><?xml version="1.0" encoding="utf-8"?>
<p:tagLst xmlns:p="http://schemas.openxmlformats.org/presentationml/2006/main">
  <p:tag name="KSO_WM_DIAGRAM_VIRTUALLY_FRAME" val="{&quot;height&quot;:316.3359842519685,&quot;left&quot;:82.5,&quot;top&quot;:240,&quot;width&quot;:778.4474803149606}"/>
</p:tagLst>
</file>

<file path=ppt/tags/tag3.xml><?xml version="1.0" encoding="utf-8"?>
<p:tagLst xmlns:p="http://schemas.openxmlformats.org/presentationml/2006/main">
  <p:tag name="KSO_WM_DIAGRAM_VIRTUALLY_FRAME" val="{&quot;height&quot;:316.3359842519685,&quot;left&quot;:82.5,&quot;top&quot;:240,&quot;width&quot;:778.4474803149606}"/>
</p:tagLst>
</file>

<file path=ppt/tags/tag4.xml><?xml version="1.0" encoding="utf-8"?>
<p:tagLst xmlns:p="http://schemas.openxmlformats.org/presentationml/2006/main">
  <p:tag name="KSO_WM_DIAGRAM_VIRTUALLY_FRAME" val="{&quot;height&quot;:316.3359842519685,&quot;left&quot;:82.5,&quot;top&quot;:240,&quot;width&quot;:778.4474803149606}"/>
</p:tagLst>
</file>

<file path=ppt/tags/tag5.xml><?xml version="1.0" encoding="utf-8"?>
<p:tagLst xmlns:p="http://schemas.openxmlformats.org/presentationml/2006/main">
  <p:tag name="KSO_WM_DIAGRAM_VIRTUALLY_FRAME" val="{&quot;height&quot;:316.3359842519685,&quot;left&quot;:82.5,&quot;top&quot;:240,&quot;width&quot;:778.4474803149606}"/>
</p:tagLst>
</file>

<file path=ppt/tags/tag6.xml><?xml version="1.0" encoding="utf-8"?>
<p:tagLst xmlns:p="http://schemas.openxmlformats.org/presentationml/2006/main">
  <p:tag name="KSO_WM_DIAGRAM_VIRTUALLY_FRAME" val="{&quot;height&quot;:316.3359842519685,&quot;left&quot;:82.5,&quot;top&quot;:240,&quot;width&quot;:778.4474803149606}"/>
</p:tagLst>
</file>

<file path=ppt/tags/tag7.xml><?xml version="1.0" encoding="utf-8"?>
<p:tagLst xmlns:p="http://schemas.openxmlformats.org/presentationml/2006/main">
  <p:tag name="KSO_WM_DIAGRAM_VIRTUALLY_FRAME" val="{&quot;height&quot;:316.3359842519685,&quot;left&quot;:82.5,&quot;top&quot;:240,&quot;width&quot;:778.4474803149606}"/>
</p:tagLst>
</file>

<file path=ppt/tags/tag8.xml><?xml version="1.0" encoding="utf-8"?>
<p:tagLst xmlns:p="http://schemas.openxmlformats.org/presentationml/2006/main">
  <p:tag name="KSO_WM_DIAGRAM_VIRTUALLY_FRAME" val="{&quot;height&quot;:316.3359842519685,&quot;left&quot;:82.5,&quot;top&quot;:240,&quot;width&quot;:778.4474803149606}"/>
</p:tagLst>
</file>

<file path=ppt/tags/tag9.xml><?xml version="1.0" encoding="utf-8"?>
<p:tagLst xmlns:p="http://schemas.openxmlformats.org/presentationml/2006/main">
  <p:tag name="KSO_WM_DIAGRAM_VIRTUALLY_FRAME" val="{&quot;height&quot;:316.3359842519685,&quot;left&quot;:82.5,&quot;top&quot;:240,&quot;width&quot;:778.4474803149606}"/>
</p:tagLst>
</file>

<file path=ppt/tags/tag10.xml><?xml version="1.0" encoding="utf-8"?>
<p:tagLst xmlns:p="http://schemas.openxmlformats.org/presentationml/2006/main">
  <p:tag name="KSO_WM_DIAGRAM_VIRTUALLY_FRAME" val="{&quot;height&quot;:316.3359842519685,&quot;left&quot;:82.5,&quot;top&quot;:240,&quot;width&quot;:778.4474803149606}"/>
</p:tagLst>
</file>

<file path=ppt/tags/tag11.xml><?xml version="1.0" encoding="utf-8"?>
<p:tagLst xmlns:p="http://schemas.openxmlformats.org/presentationml/2006/main">
  <p:tag name="KSO_WM_DIAGRAM_VIRTUALLY_FRAME" val="{&quot;height&quot;:316.3359842519685,&quot;left&quot;:82.5,&quot;top&quot;:240,&quot;width&quot;:778.4474803149606}"/>
</p:tagLst>
</file>

<file path=ppt/tags/tag12.xml><?xml version="1.0" encoding="utf-8"?>
<p:tagLst xmlns:p="http://schemas.openxmlformats.org/presentationml/2006/main">
  <p:tag name="KSO_WM_DIAGRAM_VIRTUALLY_FRAME" val="{&quot;height&quot;:316.3359842519685,&quot;left&quot;:82.5,&quot;top&quot;:240,&quot;width&quot;:778.447480314960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6100</Words>
  <Application>WPS 演示</Application>
  <PresentationFormat>On-screen Show (16:9)</PresentationFormat>
  <Paragraphs>564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飞鱼</cp:lastModifiedBy>
  <cp:revision>15</cp:revision>
  <dcterms:created xsi:type="dcterms:W3CDTF">2026-09-22T12:16:00Z</dcterms:created>
  <dcterms:modified xsi:type="dcterms:W3CDTF">2026-09-27T04:08:10Z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98FFF9B0162B4EFD995098FC3E61604F_12</vt:lpwstr>
  </property>
</Properties>
</file>