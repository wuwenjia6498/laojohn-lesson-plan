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1589" y="323850"/>
            <a:ext cx="1668661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" y="1143000"/>
            <a:ext cx="16573500" cy="5715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EE7B2E">
                  <a:alpha val="100000"/>
                </a:srgbClr>
              </a:gs>
              <a:gs pos="42000">
                <a:srgbClr val="F0A63C">
                  <a:alpha val="100000"/>
                </a:srgbClr>
              </a:gs>
              <a:gs pos="100000">
                <a:srgbClr val="57B0A6">
                  <a:alpha val="100000"/>
                </a:srgbClr>
              </a:gs>
            </a:gsLst>
            <a:lin ang="9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2952750" y="1428750"/>
            <a:ext cx="3429000" cy="3429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810250" y="4191000"/>
            <a:ext cx="4095750" cy="409575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810000" y="2667000"/>
            <a:ext cx="11734800" cy="1443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51"/>
              </a:lnSpc>
              <a:buNone/>
            </a:pPr>
            <a:r>
              <a:rPr lang="en-US" sz="885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故事新编</a:t>
            </a:r>
            <a:endParaRPr lang="en-US" sz="8850" dirty="0"/>
          </a:p>
        </p:txBody>
      </p:sp>
      <p:sp>
        <p:nvSpPr>
          <p:cNvPr id="7" name="Text 4"/>
          <p:cNvSpPr/>
          <p:nvPr/>
        </p:nvSpPr>
        <p:spPr>
          <a:xfrm>
            <a:off x="3848100" y="4476750"/>
            <a:ext cx="11734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五年级上册 · 第三单元 · 校内同步写作（想象习作）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0" y="2857500"/>
            <a:ext cx="1066800" cy="1333500"/>
          </a:xfrm>
          <a:prstGeom prst="rect">
            <a:avLst/>
          </a:prstGeom>
          <a:solidFill>
            <a:srgbClr val="3D4A6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0"/>
            <a:ext cx="1066800" cy="13335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0" y="6953250"/>
            <a:ext cx="4095750" cy="2667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五年级上册 · 第三单元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31432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48780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78"/>
              </a:lnSpc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 · 选定老故事 · 学写法 · 构思表 · 教师示范文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45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《龟兔赛跑》的结局，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这一回不一样了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238500"/>
            <a:ext cx="10287000" cy="1838325"/>
          </a:xfrm>
          <a:prstGeom prst="roundRect">
            <a:avLst>
              <a:gd name="adj" fmla="val 14508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81050" y="3924300"/>
            <a:ext cx="304800" cy="45720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3924300"/>
            <a:ext cx="3048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4950" y="3619500"/>
            <a:ext cx="1030986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大家记得的结局</a:t>
            </a:r>
            <a:endParaRPr lang="en-US" sz="2325" dirty="0"/>
          </a:p>
        </p:txBody>
      </p:sp>
      <p:sp>
        <p:nvSpPr>
          <p:cNvPr id="12" name="Text 8"/>
          <p:cNvSpPr/>
          <p:nvPr/>
        </p:nvSpPr>
        <p:spPr>
          <a:xfrm>
            <a:off x="1504950" y="4162425"/>
            <a:ext cx="965377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乌龟赢了。兔子跑到半路，在大树底下</a:t>
            </a:r>
            <a:pPr algn="l" indent="0" marL="0">
              <a:lnSpc>
                <a:spcPct val="121739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睡了一觉</a:t>
            </a:r>
            <a:pPr algn="l" indent="0" marL="0">
              <a:lnSpc>
                <a:spcPct val="121739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25" dirty="0"/>
          </a:p>
        </p:txBody>
      </p:sp>
      <p:sp>
        <p:nvSpPr>
          <p:cNvPr id="13" name="Shape 9"/>
          <p:cNvSpPr/>
          <p:nvPr/>
        </p:nvSpPr>
        <p:spPr>
          <a:xfrm>
            <a:off x="1047750" y="5419725"/>
            <a:ext cx="10287000" cy="2860477"/>
          </a:xfrm>
          <a:prstGeom prst="roundRect">
            <a:avLst>
              <a:gd name="adj" fmla="val 932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504950" y="5800725"/>
            <a:ext cx="1030986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老师设想的新情节</a:t>
            </a:r>
            <a:endParaRPr lang="en-US" sz="2325" dirty="0"/>
          </a:p>
        </p:txBody>
      </p:sp>
      <p:sp>
        <p:nvSpPr>
          <p:cNvPr id="15" name="Text 11"/>
          <p:cNvSpPr/>
          <p:nvPr/>
        </p:nvSpPr>
        <p:spPr>
          <a:xfrm>
            <a:off x="1504950" y="6343650"/>
            <a:ext cx="9653778" cy="159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这一回兔子</a:t>
            </a:r>
            <a:pPr algn="l" indent="0" marL="0">
              <a:lnSpc>
                <a:spcPct val="12375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没有偷懒睡觉 </a:t>
            </a:r>
            <a:pPr algn="l" indent="0" marL="0">
              <a:lnSpc>
                <a:spcPct val="123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。它跑到大树底下，停下脚步回头一望，乌龟还远远落在后面，正一步一步慢慢往前爬。虽然已经领先很多，兔子却没有骄傲松懈，牢牢抓住先机，向着终点奋力往前冲。</a:t>
            </a:r>
            <a:endParaRPr lang="en-US" sz="2475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3333750"/>
            <a:ext cx="4953000" cy="4953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老故事的结局，大家心里早就有印象；只要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动一处情节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，故事就走向了别的地方。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85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15842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今天的任务：办一场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故事新编分享会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05100"/>
            <a:ext cx="16192500" cy="847725"/>
          </a:xfrm>
          <a:prstGeom prst="roundRect">
            <a:avLst>
              <a:gd name="adj" fmla="val 1797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914650"/>
            <a:ext cx="169735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挑一个大家都熟悉的老故事，发挥想象重新编写。分享的时候</a:t>
            </a:r>
            <a:pPr algn="l" indent="0" marL="0"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不说出原来的故事名</a:t>
            </a:r>
            <a:pPr algn="l" indent="0" marL="0">
              <a:buNone/>
            </a:pPr>
            <a:r>
              <a:rPr lang="en-US" sz="25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，只读你改写的片段。</a:t>
            </a:r>
            <a:endParaRPr lang="en-US" sz="2550" dirty="0"/>
          </a:p>
        </p:txBody>
      </p:sp>
      <p:sp>
        <p:nvSpPr>
          <p:cNvPr id="9" name="Shape 6"/>
          <p:cNvSpPr/>
          <p:nvPr/>
        </p:nvSpPr>
        <p:spPr>
          <a:xfrm>
            <a:off x="1047750" y="39243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217861" y="40005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800225" y="3981450"/>
            <a:ext cx="706374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听完请回答：他改动了故事里的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哪一处情节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1047750" y="4821436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217861" y="4897636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800225" y="4878586"/>
            <a:ext cx="5650992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改动之后，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又引发了哪些新的事情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1047750" y="5718572"/>
            <a:ext cx="10953750" cy="1448693"/>
          </a:xfrm>
          <a:prstGeom prst="roundRect">
            <a:avLst>
              <a:gd name="adj" fmla="val 1183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28750" y="5985272"/>
            <a:ext cx="10497503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这两个问题写没写清楚，就是本次习作的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评价标准 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。听别人分享用它，自己写完也用它对照检查。</a:t>
            </a:r>
            <a:endParaRPr lang="en-US" sz="2325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0" y="4000500"/>
            <a:ext cx="4762500" cy="43815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这就是第三单元的习作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《故事新编》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，写完以后可以配上插图，一起分享这些有趣的故事。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打开故事库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56595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想一想：哪些老故事，你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现在还能说出结局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5143500" cy="3443883"/>
          </a:xfrm>
          <a:prstGeom prst="roundRect">
            <a:avLst>
              <a:gd name="adj" fmla="val 4978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5124450" cy="781050"/>
          </a:xfrm>
          <a:custGeom>
            <a:avLst/>
            <a:gdLst/>
            <a:ahLst/>
            <a:cxnLst/>
            <a:rect l="l" t="t" r="r" b="b"/>
            <a:pathLst>
              <a:path w="5124450" h="781050">
                <a:moveTo>
                  <a:pt x="171450" y="0"/>
                </a:moveTo>
                <a:lnTo>
                  <a:pt x="4953000" y="0"/>
                </a:lnTo>
                <a:arcTo hR="171450" wR="171450" stAng="16200000" swAng="5400000"/>
                <a:lnTo>
                  <a:pt x="5124450" y="781050"/>
                </a:lnTo>
                <a:lnTo>
                  <a:pt x="0" y="7810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2867025"/>
            <a:ext cx="5124450" cy="7810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43025" y="3057525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寓言故事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1057275" y="3648075"/>
            <a:ext cx="5124450" cy="2643783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362075" y="3933825"/>
            <a:ext cx="4650296" cy="2110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24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《狐假虎威》 《掩耳盗铃》 《画蛇添足》 《拔苗助长》《守株待兔》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6572250" y="2857500"/>
            <a:ext cx="5143500" cy="3443883"/>
          </a:xfrm>
          <a:prstGeom prst="roundRect">
            <a:avLst>
              <a:gd name="adj" fmla="val 4978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581775" y="2867025"/>
            <a:ext cx="5124450" cy="781050"/>
          </a:xfrm>
          <a:custGeom>
            <a:avLst/>
            <a:gdLst/>
            <a:ahLst/>
            <a:cxnLst/>
            <a:rect l="l" t="t" r="r" b="b"/>
            <a:pathLst>
              <a:path w="5124450" h="781050">
                <a:moveTo>
                  <a:pt x="171450" y="0"/>
                </a:moveTo>
                <a:lnTo>
                  <a:pt x="4953000" y="0"/>
                </a:lnTo>
                <a:arcTo hR="171450" wR="171450" stAng="16200000" swAng="5400000"/>
                <a:lnTo>
                  <a:pt x="5124450" y="781050"/>
                </a:lnTo>
                <a:lnTo>
                  <a:pt x="0" y="7810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2867025"/>
            <a:ext cx="5124450" cy="7810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67525" y="3057525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童话故事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6581775" y="3648075"/>
            <a:ext cx="5124450" cy="21907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6886575" y="3933825"/>
            <a:ext cx="4650296" cy="1592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24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《小红帽》 《丑小鸭》 《龟兔赛跑》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12096750" y="2857500"/>
            <a:ext cx="5143500" cy="3443883"/>
          </a:xfrm>
          <a:prstGeom prst="roundRect">
            <a:avLst>
              <a:gd name="adj" fmla="val 4978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2106275" y="2867025"/>
            <a:ext cx="5124450" cy="781050"/>
          </a:xfrm>
          <a:custGeom>
            <a:avLst/>
            <a:gdLst/>
            <a:ahLst/>
            <a:cxnLst/>
            <a:rect l="l" t="t" r="r" b="b"/>
            <a:pathLst>
              <a:path w="5124450" h="781050">
                <a:moveTo>
                  <a:pt x="171450" y="0"/>
                </a:moveTo>
                <a:lnTo>
                  <a:pt x="4953000" y="0"/>
                </a:lnTo>
                <a:arcTo hR="171450" wR="171450" stAng="16200000" swAng="5400000"/>
                <a:lnTo>
                  <a:pt x="5124450" y="781050"/>
                </a:lnTo>
                <a:lnTo>
                  <a:pt x="0" y="7810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6275" y="2867025"/>
            <a:ext cx="5124450" cy="7810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92025" y="3057525"/>
            <a:ext cx="23587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神话 · 民间故事</a:t>
            </a:r>
            <a:endParaRPr lang="en-US" sz="2400" dirty="0"/>
          </a:p>
        </p:txBody>
      </p:sp>
      <p:sp>
        <p:nvSpPr>
          <p:cNvPr id="23" name="Shape 17"/>
          <p:cNvSpPr/>
          <p:nvPr/>
        </p:nvSpPr>
        <p:spPr>
          <a:xfrm>
            <a:off x="12106275" y="3648075"/>
            <a:ext cx="5124450" cy="21907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4" name="Text 18"/>
          <p:cNvSpPr/>
          <p:nvPr/>
        </p:nvSpPr>
        <p:spPr>
          <a:xfrm>
            <a:off x="12411075" y="3933825"/>
            <a:ext cx="4650296" cy="1592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24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《精卫填海》 《后羿射日》 《漏》</a:t>
            </a:r>
            <a:endParaRPr lang="en-US" sz="2400" dirty="0"/>
          </a:p>
        </p:txBody>
      </p:sp>
      <p:sp>
        <p:nvSpPr>
          <p:cNvPr id="25" name="Shape 19"/>
          <p:cNvSpPr/>
          <p:nvPr/>
        </p:nvSpPr>
        <p:spPr>
          <a:xfrm>
            <a:off x="1047750" y="7905750"/>
            <a:ext cx="16192500" cy="952500"/>
          </a:xfrm>
          <a:prstGeom prst="roundRect">
            <a:avLst>
              <a:gd name="adj" fmla="val 1600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6" name="Text 20"/>
          <p:cNvSpPr/>
          <p:nvPr/>
        </p:nvSpPr>
        <p:spPr>
          <a:xfrm>
            <a:off x="1428750" y="8153400"/>
            <a:ext cx="169735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课堂活动：</a:t>
            </a:r>
            <a:pPr algn="l" indent="0" marL="0">
              <a:lnSpc>
                <a:spcPct val="114286"/>
              </a:lnSpc>
              <a:buNone/>
            </a:pPr>
            <a:r>
              <a:rPr lang="en-US" sz="240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一人说一个，前面同学说过的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不再重复</a:t>
            </a:r>
            <a:pPr algn="l" indent="0" marL="0">
              <a:lnSpc>
                <a:spcPct val="114286"/>
              </a:lnSpc>
              <a:buNone/>
            </a:pPr>
            <a:r>
              <a:rPr lang="en-US" sz="240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。这三类故事都可以拿来做故事新编。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先在脑海里搜一搜：从小到大听过的故事，哪些到现在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还能轻松说出它的结局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打开故事库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911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选定你要改写的那一个：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两条标准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1432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21945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200400"/>
            <a:ext cx="7416927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你自己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十分熟悉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，原来的情节和结局都记得清楚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1047750" y="4040386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116586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097536"/>
            <a:ext cx="8123301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班上同学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大多也听过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，分享时他们才听得出新在哪里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1047750" y="4937522"/>
            <a:ext cx="9810750" cy="1478161"/>
          </a:xfrm>
          <a:prstGeom prst="roundRect">
            <a:avLst>
              <a:gd name="adj" fmla="val 11599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28750" y="5204222"/>
            <a:ext cx="9320213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同桌互问： 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把你选的故事说给同桌听，问一问他有没有听过。同桌没有听过，就 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换一个大家都熟悉的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44767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原版故事没人知道，改动再巧妙，别人也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听不出新在哪里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56595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同样新编《龟兔赛跑》，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哪一段更符合要求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5143500"/>
          </a:xfrm>
          <a:prstGeom prst="roundRect">
            <a:avLst>
              <a:gd name="adj" fmla="val 3333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2867025"/>
            <a:ext cx="7867650" cy="7429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95800" y="3038475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1057275" y="3609975"/>
            <a:ext cx="7867650" cy="43815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381125" y="3895725"/>
            <a:ext cx="7436549" cy="3451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33400" marL="0">
              <a:lnSpc>
                <a:spcPct val="121081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兔子和乌龟又比了一回。这回乌龟背上了一只喷气背包，一按开关就窜出去老远。兔子从路边推出一辆红色的跑车，油门一踩，车屁股后头冒出两股白烟。路两边站满了看比赛的动物，举着牌子喊加油，喊声一阵高过一阵。半道上蹦出来一只会说话的松鼠，冲它们俩挥手，说了一句“你们两个都很棒”。终点线前立着一块大屏幕，上面滚动着它们的名字，一个红的一个蓝的。最后它们并排冲过终点线，裁判举着秒表核对许久，宣布两个选手用时一模一样。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9353550" y="2857500"/>
            <a:ext cx="7886700" cy="5143500"/>
          </a:xfrm>
          <a:prstGeom prst="roundRect">
            <a:avLst>
              <a:gd name="adj" fmla="val 3333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9363075" y="2867025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075" y="2867025"/>
            <a:ext cx="7867650" cy="7429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0" y="3038475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9363075" y="3609975"/>
            <a:ext cx="7867650" cy="43815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686925" y="3895725"/>
            <a:ext cx="7436549" cy="2598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33400" marL="0">
              <a:lnSpc>
                <a:spcPct val="121081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兔子和乌龟又比了一回。跑到半路，前头忽然 </a:t>
            </a:r>
            <a:pPr algn="l" indent="533400" marL="0">
              <a:lnSpc>
                <a:spcPct val="121081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多出一段又长又陡的下坡 </a:t>
            </a:r>
            <a:pPr algn="l" indent="533400" marL="0">
              <a:lnSpc>
                <a:spcPct val="121081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兔子在坡顶刹住脚，探头往下看了看，坡面滑得发亮，它怕栽跟头，只好侧着身子一步一步往下挪。乌龟爬到坡边，把头往壳里一缩，四条腿也收了，整个身子贴着坡面滚了下去，咕噜咕噜一路滚到坡底，回头一看，兔子还在半坡上。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先听老师读一遍，再想一想：这两段最关键的差别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15920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做一个小实验：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删掉一句，故事还成立吗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7886700" cy="3455491"/>
          </a:xfrm>
          <a:prstGeom prst="roundRect">
            <a:avLst>
              <a:gd name="adj" fmla="val 496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57325" y="3400425"/>
            <a:ext cx="777430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第一段：删掉“会说话的松鼠”</a:t>
            </a:r>
            <a:endParaRPr lang="en-US" sz="2325" dirty="0"/>
          </a:p>
        </p:txBody>
      </p:sp>
      <p:sp>
        <p:nvSpPr>
          <p:cNvPr id="9" name="Text 6"/>
          <p:cNvSpPr/>
          <p:nvPr/>
        </p:nvSpPr>
        <p:spPr>
          <a:xfrm>
            <a:off x="1457325" y="3981450"/>
            <a:ext cx="7279577" cy="1074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89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</a:t>
            </a:r>
            <a:pPr algn="l" indent="0" marL="0">
              <a:lnSpc>
                <a:spcPct val="120889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接得上 </a:t>
            </a:r>
            <a:pPr algn="l" indent="0" marL="0">
              <a:lnSpc>
                <a:spcPct val="120889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，比赛照样进行，故事完全不受影响。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457325" y="5265241"/>
            <a:ext cx="7279577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新奇的设定堆在一起，互相之间没有关联，去掉哪一个都不影响。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9353550" y="3048000"/>
            <a:ext cx="7886700" cy="3455491"/>
          </a:xfrm>
          <a:prstGeom prst="roundRect">
            <a:avLst>
              <a:gd name="adj" fmla="val 496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763125" y="3400425"/>
            <a:ext cx="777430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第二段：删掉“多出一段下坡”</a:t>
            </a:r>
            <a:endParaRPr lang="en-US" sz="2325" dirty="0"/>
          </a:p>
        </p:txBody>
      </p:sp>
      <p:sp>
        <p:nvSpPr>
          <p:cNvPr id="13" name="Text 10"/>
          <p:cNvSpPr/>
          <p:nvPr/>
        </p:nvSpPr>
        <p:spPr>
          <a:xfrm>
            <a:off x="9763125" y="3981450"/>
            <a:ext cx="7279577" cy="1074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89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</a:t>
            </a:r>
            <a:pPr algn="l" indent="0" marL="0">
              <a:lnSpc>
                <a:spcPct val="120889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立不住了 </a:t>
            </a:r>
            <a:pPr algn="l" indent="0" marL="0">
              <a:lnSpc>
                <a:spcPct val="120889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，乌龟没有地方可以滚下去，后面全都没有着落。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9763125" y="5265241"/>
            <a:ext cx="777430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后面发生的所有事，都是由这一处下坡引出来的。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1047750" y="7746802"/>
            <a:ext cx="16192500" cy="1111448"/>
          </a:xfrm>
          <a:prstGeom prst="roundRect">
            <a:avLst>
              <a:gd name="adj" fmla="val 15426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85900" y="8051602"/>
            <a:ext cx="16847820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11"/>
              </a:lnSpc>
              <a:buNone/>
            </a:pPr>
            <a:r>
              <a:rPr lang="en-US" sz="25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创编新故事最重要的原则：后面发生的</a:t>
            </a:r>
            <a:pPr algn="l" indent="0" marL="0">
              <a:lnSpc>
                <a:spcPct val="117111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每一件情节，都要能在前文找到依据</a:t>
            </a:r>
            <a:pPr algn="l" indent="0" marL="0">
              <a:lnSpc>
                <a:spcPct val="117111"/>
              </a:lnSpc>
              <a:buNone/>
            </a:pPr>
            <a:r>
              <a:rPr lang="en-US" sz="25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离奇有趣不等于好，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前后有关联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才算真正的故事新编。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08985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97681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课本第 46 页给了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四个新结局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五类情节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8801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四个新结局（《龟兔赛跑》）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47750" y="3467100"/>
            <a:ext cx="8001000" cy="809625"/>
          </a:xfrm>
          <a:prstGeom prst="roundRect">
            <a:avLst>
              <a:gd name="adj" fmla="val 16471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52550" y="3676650"/>
            <a:ext cx="81305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乌龟和兔子都赢了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1047750" y="4448175"/>
            <a:ext cx="8001000" cy="809625"/>
          </a:xfrm>
          <a:prstGeom prst="roundRect">
            <a:avLst>
              <a:gd name="adj" fmla="val 16471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52550" y="4657725"/>
            <a:ext cx="81305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乌龟和兔子都没能赢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1047750" y="5429250"/>
            <a:ext cx="8001000" cy="809625"/>
          </a:xfrm>
          <a:prstGeom prst="roundRect">
            <a:avLst>
              <a:gd name="adj" fmla="val 16471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52550" y="5638800"/>
            <a:ext cx="81305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兔子赢了</a:t>
            </a:r>
            <a:endParaRPr lang="en-US" sz="2325" dirty="0"/>
          </a:p>
        </p:txBody>
      </p:sp>
      <p:sp>
        <p:nvSpPr>
          <p:cNvPr id="14" name="Shape 11"/>
          <p:cNvSpPr/>
          <p:nvPr/>
        </p:nvSpPr>
        <p:spPr>
          <a:xfrm>
            <a:off x="1047750" y="6410325"/>
            <a:ext cx="8001000" cy="809625"/>
          </a:xfrm>
          <a:prstGeom prst="roundRect">
            <a:avLst>
              <a:gd name="adj" fmla="val 1647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52550" y="6619875"/>
            <a:ext cx="81305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乌龟又赢了 （今天统一用这一个练习）</a:t>
            </a:r>
            <a:endParaRPr lang="en-US" sz="2325" dirty="0"/>
          </a:p>
        </p:txBody>
      </p:sp>
      <p:sp>
        <p:nvSpPr>
          <p:cNvPr id="16" name="Text 13"/>
          <p:cNvSpPr/>
          <p:nvPr/>
        </p:nvSpPr>
        <p:spPr>
          <a:xfrm>
            <a:off x="9239250" y="2857500"/>
            <a:ext cx="8801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五类情节方向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9239250" y="3467100"/>
            <a:ext cx="1828800" cy="781050"/>
          </a:xfrm>
          <a:prstGeom prst="roundRect">
            <a:avLst>
              <a:gd name="adj" fmla="val 17073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544050" y="3657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路遇不测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1258550" y="3467100"/>
            <a:ext cx="1828800" cy="781050"/>
          </a:xfrm>
          <a:prstGeom prst="roundRect">
            <a:avLst>
              <a:gd name="adj" fmla="val 17073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1563350" y="3657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急中出错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13277850" y="3467100"/>
            <a:ext cx="1828800" cy="781050"/>
          </a:xfrm>
          <a:prstGeom prst="roundRect">
            <a:avLst>
              <a:gd name="adj" fmla="val 17073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3582650" y="3657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遇到诱惑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5297150" y="3467100"/>
            <a:ext cx="1828800" cy="781050"/>
          </a:xfrm>
          <a:prstGeom prst="roundRect">
            <a:avLst>
              <a:gd name="adj" fmla="val 17073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5601950" y="3657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赛道变化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9239250" y="4438650"/>
            <a:ext cx="1828800" cy="781050"/>
          </a:xfrm>
          <a:prstGeom prst="roundRect">
            <a:avLst>
              <a:gd name="adj" fmla="val 17073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544050" y="462915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天气变化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9239250" y="5543550"/>
            <a:ext cx="8001000" cy="1824038"/>
          </a:xfrm>
          <a:prstGeom prst="roundRect">
            <a:avLst>
              <a:gd name="adj" fmla="val 8355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582150" y="5791200"/>
            <a:ext cx="7534656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写《龟兔赛跑》的同学可以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直接从这五条里挑一条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，也可以自己构思；改写别的故事，这五条只作参考，不贴合就不要生搬硬套。</a:t>
            </a:r>
            <a:endParaRPr lang="en-US" sz="2250" dirty="0"/>
          </a:p>
        </p:txBody>
      </p:sp>
      <p:sp>
        <p:nvSpPr>
          <p:cNvPr id="29" name="Text 2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先定下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新结局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，再倒回去找是哪一处变了。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小组活动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786193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984279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四人小组倒推：要让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乌龟又赢了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，中途会发生什么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990850"/>
            <a:ext cx="169735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讨论要求：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推出三到四步就可以，不用写长。每组选一条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逻辑最通顺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的思路，两分钟后向全班分享。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1047750" y="3905250"/>
            <a:ext cx="7886700" cy="3419475"/>
          </a:xfrm>
          <a:prstGeom prst="roundRect">
            <a:avLst>
              <a:gd name="adj" fmla="val 5014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057275" y="3914775"/>
            <a:ext cx="7867650" cy="733425"/>
          </a:xfrm>
          <a:custGeom>
            <a:avLst/>
            <a:gdLst/>
            <a:ahLst/>
            <a:cxnLst/>
            <a:rect l="l" t="t" r="r" b="b"/>
            <a:pathLst>
              <a:path w="7867650" h="733425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33425"/>
                </a:lnTo>
                <a:lnTo>
                  <a:pt x="0" y="733425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3914775"/>
            <a:ext cx="7867650" cy="7334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43025" y="4086225"/>
            <a:ext cx="194881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第一组的思路</a:t>
            </a:r>
            <a:endParaRPr lang="en-US" sz="2325" dirty="0"/>
          </a:p>
        </p:txBody>
      </p:sp>
      <p:sp>
        <p:nvSpPr>
          <p:cNvPr id="13" name="Shape 9"/>
          <p:cNvSpPr/>
          <p:nvPr/>
        </p:nvSpPr>
        <p:spPr>
          <a:xfrm>
            <a:off x="1057275" y="4648200"/>
            <a:ext cx="7867650" cy="2667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381125" y="4933950"/>
            <a:ext cx="7436549" cy="1543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路上有一大片</a:t>
            </a:r>
            <a:pPr algn="l" indent="0" marL="0">
              <a:lnSpc>
                <a:spcPct val="128537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萝卜地 </a:t>
            </a:r>
            <a:pPr algn="l" indent="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兔子忍不住停下来拔萝卜吃 ➤ 吃得肚子鼓鼓的，走两步歇一歇 ➤ 乌龟从旁边爬过去了</a:t>
            </a:r>
            <a:endParaRPr lang="en-US" sz="2325" dirty="0"/>
          </a:p>
        </p:txBody>
      </p:sp>
      <p:sp>
        <p:nvSpPr>
          <p:cNvPr id="15" name="Shape 11"/>
          <p:cNvSpPr/>
          <p:nvPr/>
        </p:nvSpPr>
        <p:spPr>
          <a:xfrm>
            <a:off x="9353550" y="3905250"/>
            <a:ext cx="7886700" cy="3419475"/>
          </a:xfrm>
          <a:prstGeom prst="roundRect">
            <a:avLst>
              <a:gd name="adj" fmla="val 5014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9363075" y="3914775"/>
            <a:ext cx="7867650" cy="733425"/>
          </a:xfrm>
          <a:custGeom>
            <a:avLst/>
            <a:gdLst/>
            <a:ahLst/>
            <a:cxnLst/>
            <a:rect l="l" t="t" r="r" b="b"/>
            <a:pathLst>
              <a:path w="7867650" h="733425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33425"/>
                </a:lnTo>
                <a:lnTo>
                  <a:pt x="0" y="733425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075" y="3914775"/>
            <a:ext cx="7867650" cy="7334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48825" y="4086225"/>
            <a:ext cx="194881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第二组的思路</a:t>
            </a:r>
            <a:endParaRPr lang="en-US" sz="2325" dirty="0"/>
          </a:p>
        </p:txBody>
      </p:sp>
      <p:sp>
        <p:nvSpPr>
          <p:cNvPr id="19" name="Shape 14"/>
          <p:cNvSpPr/>
          <p:nvPr/>
        </p:nvSpPr>
        <p:spPr>
          <a:xfrm>
            <a:off x="9363075" y="4648200"/>
            <a:ext cx="7867650" cy="2667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9686925" y="4933950"/>
            <a:ext cx="7436549" cy="10417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跑着跑着</a:t>
            </a:r>
            <a:pPr algn="l" indent="0" marL="0">
              <a:lnSpc>
                <a:spcPct val="128537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下起大雨 </a:t>
            </a:r>
            <a:pPr algn="l" indent="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兔子怕淋雨，躲进树洞避雨 ➤ 想等雨小些再出发 ➤ 就这样耽误了比赛</a:t>
            </a:r>
            <a:endParaRPr lang="en-US" sz="2325" dirty="0"/>
          </a:p>
        </p:txBody>
      </p:sp>
      <p:sp>
        <p:nvSpPr>
          <p:cNvPr id="21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听的同学重点辨别：有没有哪一步是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生硬加进去的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，和前面没有关联。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85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15842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萝卜地和下大雨，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你更能写出哪一刻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9810750" cy="1081980"/>
          </a:xfrm>
          <a:prstGeom prst="roundRect">
            <a:avLst>
              <a:gd name="adj" fmla="val 19367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47800" y="3352800"/>
            <a:ext cx="9911715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“萝卜地那条，我能写出兔子啃萝卜的样子。”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1047750" y="4415730"/>
            <a:ext cx="9810750" cy="1081980"/>
          </a:xfrm>
          <a:prstGeom prst="roundRect">
            <a:avLst>
              <a:gd name="adj" fmla="val 19367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47800" y="4720530"/>
            <a:ext cx="9911715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“我选下雨那条，我写得出它躲在哪儿、雨打在身上什么感觉。”</a:t>
            </a:r>
            <a:endParaRPr lang="en-US" sz="2325" dirty="0"/>
          </a:p>
        </p:txBody>
      </p:sp>
      <p:sp>
        <p:nvSpPr>
          <p:cNvPr id="11" name="Shape 8"/>
          <p:cNvSpPr/>
          <p:nvPr/>
        </p:nvSpPr>
        <p:spPr>
          <a:xfrm>
            <a:off x="1047750" y="6002536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859661"/>
            <a:ext cx="9732264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挑关键改动点的标准：这件事发生的那一瞬间，你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能不能细致地描写出来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7288411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09700" y="7145536"/>
            <a:ext cx="990123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还有一条：这件事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原版故事里不能有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，原作发生过的不算改动</a:t>
            </a:r>
            <a:endParaRPr lang="en-US" sz="2625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0" y="3143250"/>
            <a:ext cx="4762500" cy="4572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用课本的提示也好，自己构思也好，都用这一条标准衡量：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写得出那一刻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56595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把今天的方法记下来：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改一处，后面跟着变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143250"/>
            <a:ext cx="6096000" cy="5715000"/>
          </a:xfrm>
          <a:prstGeom prst="roundRect">
            <a:avLst>
              <a:gd name="adj" fmla="val 3667"/>
            </a:avLst>
          </a:prstGeom>
          <a:gradFill rotWithShape="1">
            <a:gsLst>
              <a:gs pos="0">
                <a:srgbClr val="3D4A63">
                  <a:alpha val="100000"/>
                </a:srgbClr>
              </a:gs>
              <a:gs pos="100000">
                <a:srgbClr val="2C3650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143250"/>
            <a:ext cx="6096000" cy="5715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001000" y="34861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8362950" y="3352800"/>
            <a:ext cx="37719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先确定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全新的故事结局</a:t>
            </a:r>
            <a:endParaRPr lang="en-US" sz="2700" dirty="0"/>
          </a:p>
        </p:txBody>
      </p:sp>
      <p:sp>
        <p:nvSpPr>
          <p:cNvPr id="12" name="Shape 8"/>
          <p:cNvSpPr/>
          <p:nvPr/>
        </p:nvSpPr>
        <p:spPr>
          <a:xfrm>
            <a:off x="8001000" y="43815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362950" y="4248150"/>
            <a:ext cx="82981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再往回找到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关键改动点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，也就是究竟是哪一处变了</a:t>
            </a:r>
            <a:endParaRPr lang="en-US" sz="2700" dirty="0"/>
          </a:p>
        </p:txBody>
      </p:sp>
      <p:sp>
        <p:nvSpPr>
          <p:cNvPr id="14" name="Shape 10"/>
          <p:cNvSpPr/>
          <p:nvPr/>
        </p:nvSpPr>
        <p:spPr>
          <a:xfrm>
            <a:off x="8001000" y="52768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8362950" y="5143500"/>
            <a:ext cx="75438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两三件事都从这一处接下来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，一环扣一环</a:t>
            </a:r>
            <a:endParaRPr lang="en-US" sz="2700" dirty="0"/>
          </a:p>
        </p:txBody>
      </p:sp>
      <p:sp>
        <p:nvSpPr>
          <p:cNvPr id="16" name="Shape 12"/>
          <p:cNvSpPr/>
          <p:nvPr/>
        </p:nvSpPr>
        <p:spPr>
          <a:xfrm>
            <a:off x="8001000" y="6038850"/>
            <a:ext cx="9239250" cy="1906339"/>
          </a:xfrm>
          <a:prstGeom prst="roundRect">
            <a:avLst>
              <a:gd name="adj" fmla="val 899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8362950" y="6305550"/>
            <a:ext cx="8770811" cy="1411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能不能同时改动好几处？下节课写作有二十五分钟， 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先把一处改动写透彻 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。写得顺畅、时间有余，再加一处，前提是每一处都能带动后面的情节。</a:t>
            </a:r>
            <a:endParaRPr lang="en-US" sz="23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动笔构思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15920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先定新结局，再和同桌说一说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你改哪一处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990850"/>
            <a:ext cx="169735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同桌互说约一分钟：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我的新结局是什么？准备改动哪一处情节，为什么这么改？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不用讲完整篇故事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1047750" y="3848100"/>
            <a:ext cx="51816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81125" y="4143375"/>
            <a:ext cx="496633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《守株待兔》</a:t>
            </a:r>
            <a:endParaRPr lang="en-US" sz="2325" dirty="0"/>
          </a:p>
        </p:txBody>
      </p:sp>
      <p:sp>
        <p:nvSpPr>
          <p:cNvPr id="11" name="Text 8"/>
          <p:cNvSpPr/>
          <p:nvPr/>
        </p:nvSpPr>
        <p:spPr>
          <a:xfrm>
            <a:off x="1381125" y="4705350"/>
            <a:ext cx="4650296" cy="1805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新结局：</a:t>
            </a:r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农夫真的等到了一只兔子。 </a:t>
            </a:r>
            <a:pPr algn="l" indent="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关键改动点： </a:t>
            </a:r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农夫在树桩旁搭了草棚遮阳，兔子把草棚当成灌木丛，一头钻进来，刚好撞到他手上。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6553200" y="3848100"/>
            <a:ext cx="51816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886575" y="4143375"/>
            <a:ext cx="496633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《小红帽》</a:t>
            </a:r>
            <a:endParaRPr lang="en-US" sz="2325" dirty="0"/>
          </a:p>
        </p:txBody>
      </p:sp>
      <p:sp>
        <p:nvSpPr>
          <p:cNvPr id="14" name="Text 11"/>
          <p:cNvSpPr/>
          <p:nvPr/>
        </p:nvSpPr>
        <p:spPr>
          <a:xfrm>
            <a:off x="6886575" y="4705350"/>
            <a:ext cx="4650296" cy="1805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新结局：</a:t>
            </a:r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小红帽靠自己脱离危险。 </a:t>
            </a:r>
            <a:pPr algn="l" indent="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关键改动点： </a:t>
            </a:r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出门前和外婆约好暗号，敲门之后外婆要咳三声；这天敲门，屋里一点声响都没有。</a:t>
            </a:r>
            <a:endParaRPr lang="en-US" sz="2175" dirty="0"/>
          </a:p>
        </p:txBody>
      </p:sp>
      <p:sp>
        <p:nvSpPr>
          <p:cNvPr id="15" name="Shape 12"/>
          <p:cNvSpPr/>
          <p:nvPr/>
        </p:nvSpPr>
        <p:spPr>
          <a:xfrm>
            <a:off x="12058650" y="3848100"/>
            <a:ext cx="51816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2392025" y="4143375"/>
            <a:ext cx="496633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《丑小鸭》</a:t>
            </a:r>
            <a:endParaRPr lang="en-US" sz="2325" dirty="0"/>
          </a:p>
        </p:txBody>
      </p:sp>
      <p:sp>
        <p:nvSpPr>
          <p:cNvPr id="17" name="Text 14"/>
          <p:cNvSpPr/>
          <p:nvPr/>
        </p:nvSpPr>
        <p:spPr>
          <a:xfrm>
            <a:off x="12392025" y="4705350"/>
            <a:ext cx="4650296" cy="1805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关键改动点： </a:t>
            </a:r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路上野鸭子邀请它一起过冬。 </a:t>
            </a:r>
            <a:pPr algn="l" indent="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对应课本： </a:t>
            </a:r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这一条正好属于“遇到诱惑”。</a:t>
            </a:r>
            <a:endParaRPr lang="en-US" sz="2175" dirty="0"/>
          </a:p>
        </p:txBody>
      </p:sp>
      <p:sp>
        <p:nvSpPr>
          <p:cNvPr id="18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改动发生的那个瞬间，就是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整篇故事最重要的场面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；其余和原版一致的内容，简单带过。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构思表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1428750"/>
            <a:ext cx="272415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71"/>
              </a:lnSpc>
              <a:buNone/>
            </a:pPr>
            <a:r>
              <a:rPr lang="en-US" sz="39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故事构思表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047750" y="2152650"/>
            <a:ext cx="84867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六栏一次填完，每栏只写关键词，不写完整句子，时间三分钟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16192500" cy="5543550"/>
          </a:xfrm>
          <a:prstGeom prst="roundRect">
            <a:avLst>
              <a:gd name="adj" fmla="val 2405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16173450" cy="723900"/>
          </a:xfrm>
          <a:custGeom>
            <a:avLst/>
            <a:gdLst/>
            <a:ahLst/>
            <a:cxnLst/>
            <a:rect l="l" t="t" r="r" b="b"/>
            <a:pathLst>
              <a:path w="16173450" h="723900">
                <a:moveTo>
                  <a:pt x="133350" y="0"/>
                </a:moveTo>
                <a:lnTo>
                  <a:pt x="16040100" y="0"/>
                </a:lnTo>
                <a:arcTo hR="133350" wR="133350" stAng="16200000" swAng="5400000"/>
                <a:lnTo>
                  <a:pt x="16173450" y="723900"/>
                </a:lnTo>
                <a:lnTo>
                  <a:pt x="0" y="723900"/>
                </a:lnTo>
                <a:lnTo>
                  <a:pt x="0" y="133350"/>
                </a:lnTo>
                <a:arcTo hR="133350" wR="1333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2867025"/>
            <a:ext cx="16173450" cy="723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62075" y="303847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</a:t>
            </a:r>
            <a:endParaRPr lang="en-US" sz="2250" dirty="0"/>
          </a:p>
        </p:txBody>
      </p:sp>
      <p:sp>
        <p:nvSpPr>
          <p:cNvPr id="11" name="Shape 7"/>
          <p:cNvSpPr/>
          <p:nvPr/>
        </p:nvSpPr>
        <p:spPr>
          <a:xfrm>
            <a:off x="8296275" y="28670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610600" y="3038475"/>
            <a:ext cx="858335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写下关键词</a:t>
            </a:r>
            <a:endParaRPr lang="en-US" sz="2250" dirty="0"/>
          </a:p>
        </p:txBody>
      </p:sp>
      <p:sp>
        <p:nvSpPr>
          <p:cNvPr id="13" name="Shape 9"/>
          <p:cNvSpPr/>
          <p:nvPr/>
        </p:nvSpPr>
        <p:spPr>
          <a:xfrm>
            <a:off x="1057275" y="3590925"/>
            <a:ext cx="16173450" cy="8001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362075" y="380047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我编的老故事</a:t>
            </a:r>
            <a:endParaRPr lang="en-US" sz="2250" dirty="0"/>
          </a:p>
        </p:txBody>
      </p:sp>
      <p:sp>
        <p:nvSpPr>
          <p:cNvPr id="15" name="Shape 11"/>
          <p:cNvSpPr/>
          <p:nvPr/>
        </p:nvSpPr>
        <p:spPr>
          <a:xfrm>
            <a:off x="8296275" y="3590925"/>
            <a:ext cx="9525" cy="8001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1057275" y="4391025"/>
            <a:ext cx="16173450" cy="800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1362075" y="460057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它原来的结局</a:t>
            </a:r>
            <a:endParaRPr lang="en-US" sz="2250" dirty="0"/>
          </a:p>
        </p:txBody>
      </p:sp>
      <p:sp>
        <p:nvSpPr>
          <p:cNvPr id="18" name="Shape 14"/>
          <p:cNvSpPr/>
          <p:nvPr/>
        </p:nvSpPr>
        <p:spPr>
          <a:xfrm>
            <a:off x="8296275" y="4391025"/>
            <a:ext cx="9525" cy="8001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1057275" y="5191125"/>
            <a:ext cx="16173450" cy="8001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1362075" y="540067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我要的新结局</a:t>
            </a:r>
            <a:endParaRPr lang="en-US" sz="2250" dirty="0"/>
          </a:p>
        </p:txBody>
      </p:sp>
      <p:sp>
        <p:nvSpPr>
          <p:cNvPr id="21" name="Shape 17"/>
          <p:cNvSpPr/>
          <p:nvPr/>
        </p:nvSpPr>
        <p:spPr>
          <a:xfrm>
            <a:off x="8296275" y="5191125"/>
            <a:ext cx="9525" cy="8001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1057275" y="5991225"/>
            <a:ext cx="16173450" cy="800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362075" y="620077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是哪一处变了（编《龟兔赛跑》的从课本五条里挑）</a:t>
            </a:r>
            <a:endParaRPr lang="en-US" sz="2250" dirty="0"/>
          </a:p>
        </p:txBody>
      </p:sp>
      <p:sp>
        <p:nvSpPr>
          <p:cNvPr id="24" name="Shape 20"/>
          <p:cNvSpPr/>
          <p:nvPr/>
        </p:nvSpPr>
        <p:spPr>
          <a:xfrm>
            <a:off x="8296275" y="5991225"/>
            <a:ext cx="9525" cy="8001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1057275" y="6791325"/>
            <a:ext cx="16173450" cy="8001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1362075" y="700087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跟着变的事（两三件）</a:t>
            </a:r>
            <a:endParaRPr lang="en-US" sz="2250" dirty="0"/>
          </a:p>
        </p:txBody>
      </p:sp>
      <p:sp>
        <p:nvSpPr>
          <p:cNvPr id="27" name="Shape 23"/>
          <p:cNvSpPr/>
          <p:nvPr/>
        </p:nvSpPr>
        <p:spPr>
          <a:xfrm>
            <a:off x="8296275" y="6791325"/>
            <a:ext cx="9525" cy="8001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1057275" y="7591425"/>
            <a:ext cx="16173450" cy="800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1362075" y="780097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最关键的那一幕：谁在做什么</a:t>
            </a:r>
            <a:endParaRPr lang="en-US" sz="2250" dirty="0"/>
          </a:p>
        </p:txBody>
      </p:sp>
      <p:sp>
        <p:nvSpPr>
          <p:cNvPr id="30" name="Shape 26"/>
          <p:cNvSpPr/>
          <p:nvPr/>
        </p:nvSpPr>
        <p:spPr>
          <a:xfrm>
            <a:off x="8296275" y="7591425"/>
            <a:ext cx="9525" cy="8001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第四栏是整张表的根基：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这里写得模糊，后面几栏就填不扎实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构思表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911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老师先填一张：改编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《狐假虎威》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5695950"/>
          </a:xfrm>
          <a:prstGeom prst="roundRect">
            <a:avLst>
              <a:gd name="adj" fmla="val 2341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16173450" cy="723900"/>
          </a:xfrm>
          <a:custGeom>
            <a:avLst/>
            <a:gdLst/>
            <a:ahLst/>
            <a:cxnLst/>
            <a:rect l="l" t="t" r="r" b="b"/>
            <a:pathLst>
              <a:path w="16173450" h="723900">
                <a:moveTo>
                  <a:pt x="133350" y="0"/>
                </a:moveTo>
                <a:lnTo>
                  <a:pt x="16040100" y="0"/>
                </a:lnTo>
                <a:arcTo hR="133350" wR="133350" stAng="16200000" swAng="5400000"/>
                <a:lnTo>
                  <a:pt x="16173450" y="723900"/>
                </a:lnTo>
                <a:lnTo>
                  <a:pt x="0" y="723900"/>
                </a:lnTo>
                <a:lnTo>
                  <a:pt x="0" y="133350"/>
                </a:lnTo>
                <a:arcTo hR="133350" wR="133350" stAng="10800000" swAng="5400000"/>
                <a:close/>
              </a:path>
            </a:pathLst>
          </a:custGeom>
          <a:solidFill>
            <a:srgbClr val="3D4A6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2771775"/>
            <a:ext cx="16173450" cy="723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62075" y="294322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</a:t>
            </a:r>
            <a:endParaRPr lang="en-US" sz="2250" dirty="0"/>
          </a:p>
        </p:txBody>
      </p:sp>
      <p:sp>
        <p:nvSpPr>
          <p:cNvPr id="11" name="Shape 7"/>
          <p:cNvSpPr/>
          <p:nvPr/>
        </p:nvSpPr>
        <p:spPr>
          <a:xfrm>
            <a:off x="8296275" y="277177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8610600" y="2943225"/>
            <a:ext cx="858335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写下关键词</a:t>
            </a:r>
            <a:endParaRPr lang="en-US" sz="2250" dirty="0"/>
          </a:p>
        </p:txBody>
      </p:sp>
      <p:sp>
        <p:nvSpPr>
          <p:cNvPr id="13" name="Shape 9"/>
          <p:cNvSpPr/>
          <p:nvPr/>
        </p:nvSpPr>
        <p:spPr>
          <a:xfrm>
            <a:off x="1057275" y="3495675"/>
            <a:ext cx="16173450" cy="8001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362075" y="370522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我编的老故事</a:t>
            </a:r>
            <a:endParaRPr lang="en-US" sz="2250" dirty="0"/>
          </a:p>
        </p:txBody>
      </p:sp>
      <p:sp>
        <p:nvSpPr>
          <p:cNvPr id="15" name="Shape 11"/>
          <p:cNvSpPr/>
          <p:nvPr/>
        </p:nvSpPr>
        <p:spPr>
          <a:xfrm>
            <a:off x="8296275" y="3495675"/>
            <a:ext cx="9525" cy="8001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8610600" y="3705225"/>
            <a:ext cx="858335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狐假虎威</a:t>
            </a:r>
            <a:endParaRPr lang="en-US" sz="2250" dirty="0"/>
          </a:p>
        </p:txBody>
      </p:sp>
      <p:sp>
        <p:nvSpPr>
          <p:cNvPr id="17" name="Shape 13"/>
          <p:cNvSpPr/>
          <p:nvPr/>
        </p:nvSpPr>
        <p:spPr>
          <a:xfrm>
            <a:off x="1057275" y="4295775"/>
            <a:ext cx="16173450" cy="800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362075" y="450532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它原来的结局</a:t>
            </a:r>
            <a:endParaRPr lang="en-US" sz="2250" dirty="0"/>
          </a:p>
        </p:txBody>
      </p:sp>
      <p:sp>
        <p:nvSpPr>
          <p:cNvPr id="19" name="Shape 15"/>
          <p:cNvSpPr/>
          <p:nvPr/>
        </p:nvSpPr>
        <p:spPr>
          <a:xfrm>
            <a:off x="8296275" y="4295775"/>
            <a:ext cx="9525" cy="8001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8610600" y="4505325"/>
            <a:ext cx="858335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老虎相信狐狸的话</a:t>
            </a:r>
            <a:endParaRPr lang="en-US" sz="2250" dirty="0"/>
          </a:p>
        </p:txBody>
      </p:sp>
      <p:sp>
        <p:nvSpPr>
          <p:cNvPr id="21" name="Shape 17"/>
          <p:cNvSpPr/>
          <p:nvPr/>
        </p:nvSpPr>
        <p:spPr>
          <a:xfrm>
            <a:off x="1057275" y="5095875"/>
            <a:ext cx="16173450" cy="8001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1362075" y="530542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我要的新结局</a:t>
            </a:r>
            <a:endParaRPr lang="en-US" sz="2250" dirty="0"/>
          </a:p>
        </p:txBody>
      </p:sp>
      <p:sp>
        <p:nvSpPr>
          <p:cNvPr id="23" name="Shape 19"/>
          <p:cNvSpPr/>
          <p:nvPr/>
        </p:nvSpPr>
        <p:spPr>
          <a:xfrm>
            <a:off x="8296275" y="5095875"/>
            <a:ext cx="9525" cy="8001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8610600" y="5305425"/>
            <a:ext cx="858335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老虎识破狐狸的把戏</a:t>
            </a:r>
            <a:endParaRPr lang="en-US" sz="2250" dirty="0"/>
          </a:p>
        </p:txBody>
      </p:sp>
      <p:sp>
        <p:nvSpPr>
          <p:cNvPr id="25" name="Shape 21"/>
          <p:cNvSpPr/>
          <p:nvPr/>
        </p:nvSpPr>
        <p:spPr>
          <a:xfrm>
            <a:off x="1057275" y="5895975"/>
            <a:ext cx="16173450" cy="800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1362075" y="610552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是哪一处变了</a:t>
            </a:r>
            <a:endParaRPr lang="en-US" sz="2250" dirty="0"/>
          </a:p>
        </p:txBody>
      </p:sp>
      <p:sp>
        <p:nvSpPr>
          <p:cNvPr id="27" name="Shape 23"/>
          <p:cNvSpPr/>
          <p:nvPr/>
        </p:nvSpPr>
        <p:spPr>
          <a:xfrm>
            <a:off x="8296275" y="5895975"/>
            <a:ext cx="9525" cy="8001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8610600" y="6105525"/>
            <a:ext cx="858335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路遇不测 · 老虎踩折枯枝滑落土沟</a:t>
            </a:r>
            <a:endParaRPr lang="en-US" sz="2250" dirty="0"/>
          </a:p>
        </p:txBody>
      </p:sp>
      <p:sp>
        <p:nvSpPr>
          <p:cNvPr id="29" name="Shape 25"/>
          <p:cNvSpPr/>
          <p:nvPr/>
        </p:nvSpPr>
        <p:spPr>
          <a:xfrm>
            <a:off x="1057275" y="6696075"/>
            <a:ext cx="16173450" cy="8001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1362075" y="690562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跟着变的事（两三件）</a:t>
            </a:r>
            <a:endParaRPr lang="en-US" sz="2250" dirty="0"/>
          </a:p>
        </p:txBody>
      </p:sp>
      <p:sp>
        <p:nvSpPr>
          <p:cNvPr id="31" name="Shape 27"/>
          <p:cNvSpPr/>
          <p:nvPr/>
        </p:nvSpPr>
        <p:spPr>
          <a:xfrm>
            <a:off x="8296275" y="6696075"/>
            <a:ext cx="9525" cy="8001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8610600" y="6905625"/>
            <a:ext cx="858335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狐狸轻视老虎、百兽不再躲避、围拢坑边</a:t>
            </a:r>
            <a:endParaRPr lang="en-US" sz="2250" dirty="0"/>
          </a:p>
        </p:txBody>
      </p:sp>
      <p:sp>
        <p:nvSpPr>
          <p:cNvPr id="33" name="Shape 29"/>
          <p:cNvSpPr/>
          <p:nvPr/>
        </p:nvSpPr>
        <p:spPr>
          <a:xfrm>
            <a:off x="1057275" y="7496175"/>
            <a:ext cx="16173450" cy="952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1362075" y="7705725"/>
            <a:ext cx="68465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最关键的那一幕：谁在做什么</a:t>
            </a:r>
            <a:endParaRPr lang="en-US" sz="2250" dirty="0"/>
          </a:p>
        </p:txBody>
      </p:sp>
      <p:sp>
        <p:nvSpPr>
          <p:cNvPr id="35" name="Shape 31"/>
          <p:cNvSpPr/>
          <p:nvPr/>
        </p:nvSpPr>
        <p:spPr>
          <a:xfrm>
            <a:off x="8296275" y="7496175"/>
            <a:ext cx="9525" cy="9525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8610600" y="7705725"/>
            <a:ext cx="47091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百兽围拢沟边，花斑豹凑近狐狸探查</a:t>
            </a:r>
            <a:endParaRPr lang="en-US" sz="2250" dirty="0"/>
          </a:p>
        </p:txBody>
      </p:sp>
      <p:sp>
        <p:nvSpPr>
          <p:cNvPr id="37" name="Shape 33"/>
          <p:cNvSpPr/>
          <p:nvPr/>
        </p:nvSpPr>
        <p:spPr>
          <a:xfrm>
            <a:off x="8610600" y="8181975"/>
            <a:ext cx="4953000" cy="5715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8" name="Text 34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每栏只写短短几个词，最多十几个字；第六栏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画上横线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，那是明天写作最花笔墨的地方。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构思表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8963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710839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填完以后：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顺着表格把故事说一遍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1432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21945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219450"/>
            <a:ext cx="6867525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通读整张表，在第六栏的内容下面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画一条横线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026694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102894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102894"/>
            <a:ext cx="9330023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小声自言自语，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完整说一遍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：改编的是哪个故事，原版结局是什么，改动了哪一处，又衍生出哪些新情节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393531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469731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469731"/>
            <a:ext cx="9330023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说到哪一栏觉得讲不通顺，就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给这一栏做个标记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，那里还没想透彻</a:t>
            </a:r>
            <a:endParaRPr lang="en-US" sz="262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0" y="3238500"/>
            <a:ext cx="4762500" cy="41910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8015288"/>
            <a:ext cx="16192500" cy="938213"/>
          </a:xfrm>
          <a:prstGeom prst="roundRect">
            <a:avLst>
              <a:gd name="adj" fmla="val 1624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28750" y="8262938"/>
            <a:ext cx="169735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全班分享：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请两位同学说一说自己的构思。台下重点判断：他的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关键改动点和后面几件事，能不能顺理成章衔接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画横线的那一幕要花最多笔墨，表格里的其他内容，作文里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简单交代几句就可以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60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84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六个字的关键词，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怎样扩写成一个片段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2819400" cy="866775"/>
          </a:xfrm>
          <a:prstGeom prst="roundRect">
            <a:avLst>
              <a:gd name="adj" fmla="val 17582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3067050"/>
            <a:ext cx="226314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老虎踩塌枯枝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4210050" y="3038475"/>
            <a:ext cx="4572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933950" y="3090863"/>
            <a:ext cx="63703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构思表第六栏的关键词，扩写成下面这一段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047750" y="3924300"/>
            <a:ext cx="16192500" cy="2918222"/>
          </a:xfrm>
          <a:prstGeom prst="roundRect">
            <a:avLst>
              <a:gd name="adj" fmla="val 5875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562100" y="4286250"/>
            <a:ext cx="15618714" cy="2232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609600" marL="0">
              <a:lnSpc>
                <a:spcPct val="137143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山林一侧的坡面上落着一层枯枝，枯枝下面的泥土早已被雨水泡得松散。狐狸身子轻，一个侧身就跨了过去。老虎紧随其后跟上来，前爪刚踩上去，厚厚的枯枝 </a:t>
            </a:r>
            <a:pPr algn="l" indent="609600" marL="0">
              <a:lnSpc>
                <a:spcPct val="137143"/>
              </a:lnSpc>
              <a:buNone/>
            </a:pPr>
            <a:r>
              <a:rPr lang="en-US" sz="24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“咔”地一声骤然折断 </a:t>
            </a:r>
            <a:pPr algn="l" indent="609600" marL="0">
              <a:lnSpc>
                <a:spcPct val="137143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，脚下的泥土也跟着往下坍塌。老虎顺着垮塌的土坡滑落到半人多深的土沟当中。它 </a:t>
            </a:r>
            <a:pPr algn="l" indent="609600" marL="0">
              <a:lnSpc>
                <a:spcPct val="137143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两只前爪使劲扒着倾斜的沟壁，却抓不住半点着力点 </a:t>
            </a:r>
            <a:pPr algn="l" indent="609600" marL="0">
              <a:lnSpc>
                <a:spcPct val="137143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，重重跌坐在沟底。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047750" y="7962454"/>
            <a:ext cx="16192500" cy="991046"/>
          </a:xfrm>
          <a:prstGeom prst="roundRect">
            <a:avLst>
              <a:gd name="adj" fmla="val 17300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66850" y="8229154"/>
            <a:ext cx="1688973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整个片段真正新增的设定只有一个：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山坡的疏松土层形成的土沟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。其余都是围绕它写出来的动作与声音。</a:t>
            </a:r>
            <a:endParaRPr lang="en-US" sz="2325" dirty="0"/>
          </a:p>
        </p:txBody>
      </p:sp>
      <p:sp>
        <p:nvSpPr>
          <p:cNvPr id="15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读一读，想一想：这一段哪些内容，是围绕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那六个字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扩写出来的。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6862911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671100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新编《狐假虎威》：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老虎识破了它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152650"/>
            <a:ext cx="16192500" cy="6991350"/>
          </a:xfrm>
          <a:prstGeom prst="roundRect">
            <a:avLst>
              <a:gd name="adj" fmla="val 2452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581150" y="2400300"/>
            <a:ext cx="15579471" cy="1206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1048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从跟着狐狸在森林里走过一趟，老虎就再也没有怀疑过狐狸的说辞。那一趟走下来，野猪、小鹿、兔子，见了狐狸全都四散逃窜，老虎跟在后头看得清清楚楚，狐狸说自己是天帝派来管百兽的，在它看来这话似乎千真万确。这天狐狸又找上门，提议趁着天气晴好，再到山林里巡视一番。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581150" y="3644503"/>
            <a:ext cx="15579471" cy="816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1048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狐狸高高翘着尾巴走在前面，老虎跟在它身后七八步远。路边草丛一动，两只野兔</a:t>
            </a:r>
            <a:pPr algn="just" indent="533400" marL="0">
              <a:lnSpc>
                <a:spcPct val="110486"/>
              </a:lnSpc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“嗖”地窜了出去 </a:t>
            </a:r>
            <a:pPr algn="just" indent="533400" marL="0">
              <a:lnSpc>
                <a:spcPct val="11048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。狐狸回过头，得意地看向老虎：“看见没有？”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581150" y="4499372"/>
            <a:ext cx="15579471" cy="1206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1048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山林一侧的坡面上落着一层枯枝，枯枝下面的泥土早已被雨水泡得松散。狐狸身子轻，一个侧身就跨了过去。老虎紧随其后跟上来，前爪刚踩上去，厚厚的枯枝 </a:t>
            </a:r>
            <a:pPr algn="just" indent="533400" marL="0">
              <a:lnSpc>
                <a:spcPct val="110486"/>
              </a:lnSpc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“咔”地一声骤然折断 </a:t>
            </a:r>
            <a:pPr algn="just" indent="533400" marL="0">
              <a:lnSpc>
                <a:spcPct val="11048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，脚下的泥土也跟着往下坍塌。老虎顺着垮塌的土坡滑落到半人多深的土沟当中。它 </a:t>
            </a:r>
            <a:pPr algn="just" indent="533400" marL="0">
              <a:lnSpc>
                <a:spcPct val="110486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两只前爪使劲扒着倾斜的沟壁，却抓不住半点着力点</a:t>
            </a:r>
            <a:pPr algn="just" indent="533400" marL="0">
              <a:lnSpc>
                <a:spcPct val="11048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，重重跌坐在沟底。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581150" y="5743575"/>
            <a:ext cx="15579471" cy="1206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1048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狐狸朝沟下瞟了一眼，便继续向前赶路。可还没走出几步，刚才逃走的两只野兔又从草丛探出头。这一回它们没有逃跑，一步步向着土沟的沟口聚拢过来。别的野兽也纷纷跟了过来，全都围到沟沿边上。 </a:t>
            </a:r>
            <a:pPr algn="just" indent="533400" marL="0">
              <a:lnSpc>
                <a:spcPct val="110486"/>
              </a:lnSpc>
              <a:buNone/>
            </a:pPr>
            <a:r>
              <a:rPr lang="en-US" sz="210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一只野兔就地趴下，低头啃起地上的草根 </a:t>
            </a:r>
            <a:pPr algn="just" indent="533400" marL="0">
              <a:lnSpc>
                <a:spcPct val="11048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；连一头花斑豹也凑到沟沿，低下脑袋， </a:t>
            </a:r>
            <a:pPr algn="just" indent="533400" marL="0">
              <a:lnSpc>
                <a:spcPct val="110486"/>
              </a:lnSpc>
              <a:buNone/>
            </a:pPr>
            <a:r>
              <a:rPr lang="en-US" sz="210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鼻子几乎贴到狐狸的脸上，仔细嗅了嗅</a:t>
            </a:r>
            <a:pPr algn="just" indent="533400" marL="0">
              <a:lnSpc>
                <a:spcPct val="11048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。狐狸吓得连连后退，被逼到土沟的边沿。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581150" y="6987778"/>
            <a:ext cx="16638270" cy="427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1048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沟沿上发生的一切，全都尽收在老虎的眼底。</a:t>
            </a:r>
            <a:pPr algn="just" indent="533400" marL="0">
              <a:lnSpc>
                <a:spcPct val="110486"/>
              </a:lnSpc>
              <a:buNone/>
            </a:pPr>
            <a:r>
              <a:rPr lang="en-US" sz="210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这一刻它终于恍然大悟：当初百兽四散奔逃，惧怕的根本不是狐狸。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581150" y="7453312"/>
            <a:ext cx="15579471" cy="816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1048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老虎蹬住斜坡，后腿用力一蹬，纵身翻上沟沿。围在旁边的野兽呼啦一下子全部散开。树林里只剩下狐狸呆呆站在原地，高高扬起的尾巴也终于垂落了下来。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047750" y="9401175"/>
            <a:ext cx="290505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动作拆开一步一步写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4031605" y="9401175"/>
            <a:ext cx="202494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听得见的声音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215360" y="9401175"/>
            <a:ext cx="231831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周围角色的反应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8665815" y="9401175"/>
            <a:ext cx="202494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人物心里想的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31227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492147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默读全文，思考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5181600" cy="4057650"/>
          </a:xfrm>
          <a:prstGeom prst="roundRect">
            <a:avLst>
              <a:gd name="adj" fmla="val 422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295650"/>
            <a:ext cx="49034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问题① 开头起到什么作用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409700" y="3924300"/>
            <a:ext cx="4591431" cy="278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没有跳出故事去介绍老故事，而是顺着故事往下写，借老虎的心理 </a:t>
            </a:r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自然交代原版背景 </a:t>
            </a:r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 你写开头也这样：融入故事当中，不站在故事外面做说明。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6553200" y="2952750"/>
            <a:ext cx="5181600" cy="4057650"/>
          </a:xfrm>
          <a:prstGeom prst="roundRect">
            <a:avLst>
              <a:gd name="adj" fmla="val 422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915150" y="3295650"/>
            <a:ext cx="49034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问题② 哪些地方发生了改动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915150" y="3924300"/>
            <a:ext cx="4591431" cy="278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真正新增的关键改动</a:t>
            </a:r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只有一处 </a:t>
            </a:r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：老虎踩塌枯枝土层，滑进路边的土沟。 野兽不再逃跑、狐狸威风扫地，都是这一处带来的结果。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2058650" y="2952750"/>
            <a:ext cx="5181600" cy="4057650"/>
          </a:xfrm>
          <a:prstGeom prst="roundRect">
            <a:avLst>
              <a:gd name="adj" fmla="val 422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420600" y="3295650"/>
            <a:ext cx="49034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问题③ 哪一句想借鉴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2420600" y="3924300"/>
            <a:ext cx="4591431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找出一两句可以用到自己习作里的句子，说一说 </a:t>
            </a:r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你为什么喜欢它 </a:t>
            </a:r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 下一页把这几句用到的方法一起梳理出来。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结尾把新旧结局放在一起对比，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一句话点明新编的不同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，不需要过多讲述。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旁批表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85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15842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这几句话，各自用了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什么写作小妙招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33700"/>
            <a:ext cx="16192500" cy="5519738"/>
          </a:xfrm>
          <a:prstGeom prst="roundRect">
            <a:avLst>
              <a:gd name="adj" fmla="val 2416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943225"/>
            <a:ext cx="16173450" cy="771525"/>
          </a:xfrm>
          <a:custGeom>
            <a:avLst/>
            <a:gdLst/>
            <a:ahLst/>
            <a:cxnLst/>
            <a:rect l="l" t="t" r="r" b="b"/>
            <a:pathLst>
              <a:path w="16173450" h="771525">
                <a:moveTo>
                  <a:pt x="133350" y="0"/>
                </a:moveTo>
                <a:lnTo>
                  <a:pt x="16040100" y="0"/>
                </a:lnTo>
                <a:arcTo hR="133350" wR="133350" stAng="16200000" swAng="5400000"/>
                <a:lnTo>
                  <a:pt x="16173450" y="771525"/>
                </a:lnTo>
                <a:lnTo>
                  <a:pt x="0" y="771525"/>
                </a:lnTo>
                <a:lnTo>
                  <a:pt x="0" y="133350"/>
                </a:lnTo>
                <a:arcTo hR="133350" wR="1333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2943225"/>
            <a:ext cx="16173450" cy="7715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62075" y="3133725"/>
            <a:ext cx="996638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示范文里的句子</a:t>
            </a:r>
            <a:endParaRPr lang="en-US" sz="2325" dirty="0"/>
          </a:p>
        </p:txBody>
      </p:sp>
      <p:sp>
        <p:nvSpPr>
          <p:cNvPr id="11" name="Shape 7"/>
          <p:cNvSpPr/>
          <p:nvPr/>
        </p:nvSpPr>
        <p:spPr>
          <a:xfrm>
            <a:off x="11325225" y="2943225"/>
            <a:ext cx="9525" cy="771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1639550" y="3133725"/>
            <a:ext cx="54635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这一句用了什么</a:t>
            </a:r>
            <a:endParaRPr lang="en-US" sz="2325" dirty="0"/>
          </a:p>
        </p:txBody>
      </p:sp>
      <p:sp>
        <p:nvSpPr>
          <p:cNvPr id="13" name="Shape 9"/>
          <p:cNvSpPr/>
          <p:nvPr/>
        </p:nvSpPr>
        <p:spPr>
          <a:xfrm>
            <a:off x="1057275" y="3714750"/>
            <a:ext cx="16173450" cy="12858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362075" y="3943350"/>
            <a:ext cx="996638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两只前爪使劲扒着倾斜的沟壁，却抓不住半点着力点</a:t>
            </a:r>
            <a:endParaRPr lang="en-US" sz="2175" dirty="0"/>
          </a:p>
        </p:txBody>
      </p:sp>
      <p:sp>
        <p:nvSpPr>
          <p:cNvPr id="15" name="Shape 11"/>
          <p:cNvSpPr/>
          <p:nvPr/>
        </p:nvSpPr>
        <p:spPr>
          <a:xfrm>
            <a:off x="11325225" y="3714750"/>
            <a:ext cx="9525" cy="12858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11639550" y="3943350"/>
            <a:ext cx="546354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一个动作拆成几步写，不笼统写“它掉了下去”</a:t>
            </a:r>
            <a:endParaRPr lang="en-US" sz="2175" dirty="0"/>
          </a:p>
        </p:txBody>
      </p:sp>
      <p:sp>
        <p:nvSpPr>
          <p:cNvPr id="17" name="Shape 13"/>
          <p:cNvSpPr/>
          <p:nvPr/>
        </p:nvSpPr>
        <p:spPr>
          <a:xfrm>
            <a:off x="1057275" y="5000625"/>
            <a:ext cx="16173450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362075" y="5229225"/>
            <a:ext cx="996638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一只野兔就地趴下，低头啃起地上的草根</a:t>
            </a:r>
            <a:endParaRPr lang="en-US" sz="2175" dirty="0"/>
          </a:p>
        </p:txBody>
      </p:sp>
      <p:sp>
        <p:nvSpPr>
          <p:cNvPr id="19" name="Shape 15"/>
          <p:cNvSpPr/>
          <p:nvPr/>
        </p:nvSpPr>
        <p:spPr>
          <a:xfrm>
            <a:off x="11325225" y="5000625"/>
            <a:ext cx="9525" cy="12858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11639550" y="5229225"/>
            <a:ext cx="546354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借周围角色的反应，写出这一处改动带来的变化</a:t>
            </a:r>
            <a:endParaRPr lang="en-US" sz="2175" dirty="0"/>
          </a:p>
        </p:txBody>
      </p:sp>
      <p:sp>
        <p:nvSpPr>
          <p:cNvPr id="21" name="Shape 17"/>
          <p:cNvSpPr/>
          <p:nvPr/>
        </p:nvSpPr>
        <p:spPr>
          <a:xfrm>
            <a:off x="1057275" y="6286500"/>
            <a:ext cx="16173450" cy="871538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1362075" y="6515100"/>
            <a:ext cx="996638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花斑豹低下头，鼻子几乎碰到狐狸脸上，细细嗅了嗅</a:t>
            </a:r>
            <a:endParaRPr lang="en-US" sz="2175" dirty="0"/>
          </a:p>
        </p:txBody>
      </p:sp>
      <p:sp>
        <p:nvSpPr>
          <p:cNvPr id="23" name="Shape 19"/>
          <p:cNvSpPr/>
          <p:nvPr/>
        </p:nvSpPr>
        <p:spPr>
          <a:xfrm>
            <a:off x="11325225" y="6286500"/>
            <a:ext cx="9525" cy="871538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11639550" y="6515100"/>
            <a:ext cx="546354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抓住一处细节描写，体现人物当下的处境</a:t>
            </a:r>
            <a:endParaRPr lang="en-US" sz="2175" dirty="0"/>
          </a:p>
        </p:txBody>
      </p:sp>
      <p:sp>
        <p:nvSpPr>
          <p:cNvPr id="25" name="Shape 21"/>
          <p:cNvSpPr/>
          <p:nvPr/>
        </p:nvSpPr>
        <p:spPr>
          <a:xfrm>
            <a:off x="1057275" y="7158038"/>
            <a:ext cx="16173450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1362075" y="7386638"/>
            <a:ext cx="996638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当初百兽四散奔逃，惧怕的根本不是狐狸</a:t>
            </a:r>
            <a:endParaRPr lang="en-US" sz="2175" dirty="0"/>
          </a:p>
        </p:txBody>
      </p:sp>
      <p:sp>
        <p:nvSpPr>
          <p:cNvPr id="27" name="Shape 23"/>
          <p:cNvSpPr/>
          <p:nvPr/>
        </p:nvSpPr>
        <p:spPr>
          <a:xfrm>
            <a:off x="11325225" y="7158038"/>
            <a:ext cx="9525" cy="12858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11639550" y="7386638"/>
            <a:ext cx="546354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写出人物内心的想法，不直白写“老虎想明白了”</a:t>
            </a:r>
            <a:endParaRPr lang="en-US" sz="2175" dirty="0"/>
          </a:p>
        </p:txBody>
      </p:sp>
      <p:sp>
        <p:nvSpPr>
          <p:cNvPr id="29" name="Shape 25"/>
          <p:cNvSpPr/>
          <p:nvPr/>
        </p:nvSpPr>
        <p:spPr>
          <a:xfrm>
            <a:off x="1047750" y="8148638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1428750" y="8377238"/>
            <a:ext cx="169735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例文不必照搬，但两点要记牢：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关键改动集中在一处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改动发生的关键场面写具体、写生动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31" name="Text 27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这节课的三样成果：选定的老故事、填好的构思表、梳理清楚的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故事脉络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50292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48780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78"/>
              </a:lnSpc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确定开篇与顺序 · 自由写作 · 故事新编分享会 · 自评与修改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动笔之前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755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601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看着构思表：先定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，再理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写作顺序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8801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一、敲定开头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47750" y="3467100"/>
            <a:ext cx="8001000" cy="1343025"/>
          </a:xfrm>
          <a:prstGeom prst="roundRect">
            <a:avLst>
              <a:gd name="adj" fmla="val 9929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52550" y="3695700"/>
            <a:ext cx="761314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第二格“它原来的结局”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，就是你的开篇内容：一两句话交代原版故事。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1047750" y="5000625"/>
            <a:ext cx="8001000" cy="1343025"/>
          </a:xfrm>
          <a:prstGeom prst="roundRect">
            <a:avLst>
              <a:gd name="adj" fmla="val 9929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52550" y="5229225"/>
            <a:ext cx="761314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交代完自然转折，引出你的新编。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融入故事叙事，不跳出故事解说。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47750" y="6534150"/>
            <a:ext cx="8001000" cy="1381125"/>
          </a:xfrm>
          <a:prstGeom prst="roundRect">
            <a:avLst>
              <a:gd name="adj" fmla="val 965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71600" y="6781800"/>
            <a:ext cx="7573899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不要用“在老故事里”“从前有一个故事”这类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场外介绍式开头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9239250" y="2857500"/>
            <a:ext cx="8801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二、理清顺序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239250" y="34671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409361" y="35433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9953625" y="3505200"/>
            <a:ext cx="66008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第四格“是哪一处变了”就是整件事的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起因变故</a:t>
            </a:r>
            <a:endParaRPr lang="en-US" sz="2250" dirty="0"/>
          </a:p>
        </p:txBody>
      </p:sp>
      <p:sp>
        <p:nvSpPr>
          <p:cNvPr id="18" name="Shape 15"/>
          <p:cNvSpPr/>
          <p:nvPr/>
        </p:nvSpPr>
        <p:spPr>
          <a:xfrm>
            <a:off x="9239250" y="416242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409361" y="423862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9953625" y="4200525"/>
            <a:ext cx="56578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第五格就是由它带出来的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两三件后续事件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9239250" y="48577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409361" y="493395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9953625" y="4895850"/>
            <a:ext cx="69151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第六格就是从第五格里挑出的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高潮画面，全篇详写</a:t>
            </a:r>
            <a:endParaRPr lang="en-US" sz="2250" dirty="0"/>
          </a:p>
        </p:txBody>
      </p:sp>
      <p:sp>
        <p:nvSpPr>
          <p:cNvPr id="24" name="Shape 21"/>
          <p:cNvSpPr/>
          <p:nvPr/>
        </p:nvSpPr>
        <p:spPr>
          <a:xfrm>
            <a:off x="9239250" y="5553075"/>
            <a:ext cx="8001000" cy="1343025"/>
          </a:xfrm>
          <a:prstGeom prst="roundRect">
            <a:avLst>
              <a:gd name="adj" fmla="val 9929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9544050" y="5781675"/>
            <a:ext cx="761314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画横线的那一幕是全篇重点，前后所有情节都为它铺垫、让路，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主次分明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26" name="Text 2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请两位同学说一说自己的规划：怎样开篇，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详写的一幕排在第几步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，为什么这样安排。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911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完整写下你的故事新编：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三个要求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143250"/>
            <a:ext cx="5143500" cy="34290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47800" y="3524250"/>
            <a:ext cx="47777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1447800" y="4476750"/>
            <a:ext cx="4473702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一处关键情节 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，全文情节都由这一处衍生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6572250" y="3143250"/>
            <a:ext cx="5143500" cy="34290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972300" y="3524250"/>
            <a:ext cx="47777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6972300" y="4476750"/>
            <a:ext cx="4473702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把改动发生的关键场面 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写具体、写细致 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，让读者看见画面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2096750" y="3143250"/>
            <a:ext cx="5143500" cy="34290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496800" y="3524250"/>
            <a:ext cx="47777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12496800" y="4476750"/>
            <a:ext cx="4473702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结尾用一句话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对比新旧结局 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，交代新编的不同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1047750" y="8605838"/>
            <a:ext cx="135159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整篇习作四百五十字左右。不会写的字先用拼音，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先写下去，不要停笔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17" name="Shape 14"/>
          <p:cNvSpPr/>
          <p:nvPr/>
        </p:nvSpPr>
        <p:spPr>
          <a:xfrm>
            <a:off x="12728377" y="8791575"/>
            <a:ext cx="4511873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109377" y="8982075"/>
            <a:ext cx="412486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写作时间约 25 分钟</a:t>
            </a:r>
            <a:endParaRPr lang="en-US" sz="2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85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15842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故事新编分享会：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听完回答两个问题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2004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048000"/>
            <a:ext cx="1018413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朗读的同学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只读关键改动的段落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，不读整篇，也不报故事题目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1047750" y="4002286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3849886"/>
            <a:ext cx="641223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台下回答：作者改动的是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哪一处情节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047750" y="4804172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4651772"/>
            <a:ext cx="565785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再回答：后面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哪几件事跟着变了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0" y="3143250"/>
            <a:ext cx="4762500" cy="4191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47750" y="7924354"/>
            <a:ext cx="16192500" cy="1029146"/>
          </a:xfrm>
          <a:prstGeom prst="roundRect">
            <a:avLst>
              <a:gd name="adj" fmla="val 16659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466850" y="8210104"/>
            <a:ext cx="1688973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点评的同学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答不出第二个问题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，就说明作者的后续情节衔接不自然、铺垫不到位，那正是需要重点修改的地方。</a:t>
            </a:r>
            <a:endParaRPr lang="en-US" sz="2325" dirty="0"/>
          </a:p>
        </p:txBody>
      </p:sp>
      <p:sp>
        <p:nvSpPr>
          <p:cNvPr id="16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两个问题都答得上来，说明这一处改动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找得准、带得动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3236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全员互评：在同学文末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填一句话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16192500" cy="1588740"/>
          </a:xfrm>
          <a:prstGeom prst="roundRect">
            <a:avLst>
              <a:gd name="adj" fmla="val 14389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600200" y="3486150"/>
            <a:ext cx="15540228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780"/>
              </a:lnSpc>
              <a:buNone/>
            </a:pPr>
            <a:r>
              <a:rPr lang="en-US" sz="33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原来的故事结局是</a:t>
            </a:r>
            <a:pPr algn="l" indent="0" marL="0">
              <a:lnSpc>
                <a:spcPct val="126780"/>
              </a:lnSpc>
              <a:buNone/>
            </a:pPr>
            <a:r>
              <a:rPr lang="en-US" sz="3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＿＿＿＿＿＿</a:t>
            </a:r>
            <a:pPr algn="l" indent="0" marL="0">
              <a:lnSpc>
                <a:spcPct val="126780"/>
              </a:lnSpc>
              <a:buNone/>
            </a:pPr>
            <a:r>
              <a:rPr lang="en-US" sz="33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，你新编的结局是</a:t>
            </a:r>
            <a:pPr algn="l" indent="0" marL="0">
              <a:lnSpc>
                <a:spcPct val="126780"/>
              </a:lnSpc>
              <a:buNone/>
            </a:pPr>
            <a:r>
              <a:rPr lang="en-US" sz="3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＿＿＿＿＿＿</a:t>
            </a:r>
            <a:pPr algn="l" indent="0" marL="0">
              <a:lnSpc>
                <a:spcPct val="126780"/>
              </a:lnSpc>
              <a:buNone/>
            </a:pPr>
            <a:r>
              <a:rPr lang="en-US" sz="33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3300" dirty="0"/>
          </a:p>
        </p:txBody>
      </p:sp>
      <p:sp>
        <p:nvSpPr>
          <p:cNvPr id="9" name="Shape 6"/>
          <p:cNvSpPr/>
          <p:nvPr/>
        </p:nvSpPr>
        <p:spPr>
          <a:xfrm>
            <a:off x="1047750" y="4953000"/>
            <a:ext cx="7886700" cy="2581275"/>
          </a:xfrm>
          <a:prstGeom prst="roundRect">
            <a:avLst>
              <a:gd name="adj" fmla="val 664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28750" y="5276850"/>
            <a:ext cx="78371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</a:t>
            </a:r>
            <a:endParaRPr lang="en-US" sz="2325" dirty="0"/>
          </a:p>
        </p:txBody>
      </p:sp>
      <p:sp>
        <p:nvSpPr>
          <p:cNvPr id="11" name="Text 8"/>
          <p:cNvSpPr/>
          <p:nvPr/>
        </p:nvSpPr>
        <p:spPr>
          <a:xfrm>
            <a:off x="1428750" y="5838825"/>
            <a:ext cx="733844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带着自己的习作，找一位</a:t>
            </a:r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没有听过你故事 </a:t>
            </a:r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的同学交换互评。读完填写这句话，再把稿子换回来。交换一轮，约三分钟。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9353550" y="4953000"/>
            <a:ext cx="7886700" cy="2581275"/>
          </a:xfrm>
          <a:prstGeom prst="roundRect">
            <a:avLst>
              <a:gd name="adj" fmla="val 664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734550" y="5276850"/>
            <a:ext cx="78371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怎么看结果</a:t>
            </a:r>
            <a:endParaRPr lang="en-US" sz="2325" dirty="0"/>
          </a:p>
        </p:txBody>
      </p:sp>
      <p:sp>
        <p:nvSpPr>
          <p:cNvPr id="14" name="Text 11"/>
          <p:cNvSpPr/>
          <p:nvPr/>
        </p:nvSpPr>
        <p:spPr>
          <a:xfrm>
            <a:off x="9734550" y="5838825"/>
            <a:ext cx="733844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新旧结局都被准确概括，说明你的故事</a:t>
            </a:r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逻辑清晰 </a:t>
            </a:r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；同桌填不全、对应不上，说明情节衔接或结尾交代有问题。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别人能不能一句话说清你改了什么，就是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最直接的检验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自评与修改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911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对照标准自查：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我这一篇在哪一档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16192500" cy="1417141"/>
          </a:xfrm>
          <a:prstGeom prst="roundRect">
            <a:avLst>
              <a:gd name="adj" fmla="val 672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2952750"/>
            <a:ext cx="76200" cy="1417141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66850" y="3219450"/>
            <a:ext cx="15893415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完全做到 </a:t>
            </a:r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开头一两句交代了原版故事；改动集中在一处，是原来没有的；后面有两三件事从这一处接下来；关键场面写出动作、心理、环境和周边反应；结尾对比新旧结局，点明新编亮点</a:t>
            </a:r>
            <a:endParaRPr lang="en-US" sz="2175" dirty="0"/>
          </a:p>
        </p:txBody>
      </p:sp>
      <p:sp>
        <p:nvSpPr>
          <p:cNvPr id="10" name="Shape 7"/>
          <p:cNvSpPr/>
          <p:nvPr/>
        </p:nvSpPr>
        <p:spPr>
          <a:xfrm>
            <a:off x="1047750" y="4617541"/>
            <a:ext cx="16192500" cy="975271"/>
          </a:xfrm>
          <a:prstGeom prst="roundRect">
            <a:avLst>
              <a:gd name="adj" fmla="val 9767"/>
            </a:avLst>
          </a:prstGeom>
          <a:solidFill>
            <a:srgbClr val="FBF3E6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047750" y="4617541"/>
            <a:ext cx="76200" cy="975271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66850" y="4884241"/>
            <a:ext cx="16973550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略有欠缺</a:t>
            </a:r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关键改动写清楚了，但个别后续情节衔接生硬；关键场面只写结果、缺少细节；或者结尾没说清新在哪里</a:t>
            </a:r>
            <a:endParaRPr lang="en-US" sz="2175" dirty="0"/>
          </a:p>
        </p:txBody>
      </p:sp>
      <p:sp>
        <p:nvSpPr>
          <p:cNvPr id="13" name="Shape 10"/>
          <p:cNvSpPr/>
          <p:nvPr/>
        </p:nvSpPr>
        <p:spPr>
          <a:xfrm>
            <a:off x="1047750" y="5840462"/>
            <a:ext cx="16192500" cy="975271"/>
          </a:xfrm>
          <a:prstGeom prst="roundRect">
            <a:avLst>
              <a:gd name="adj" fmla="val 9767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047750" y="5840462"/>
            <a:ext cx="76200" cy="975271"/>
          </a:xfrm>
          <a:prstGeom prst="rect">
            <a:avLst/>
          </a:prstGeom>
          <a:solidFill>
            <a:srgbClr val="9AA6B6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466850" y="6107162"/>
            <a:ext cx="16973550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需要整改</a:t>
            </a:r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仅修改了结尾，主体情节和原版完全一致；或者改了好几处，情节之间毫无关联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1047750" y="8015288"/>
            <a:ext cx="16192500" cy="938213"/>
          </a:xfrm>
          <a:prstGeom prst="roundRect">
            <a:avLst>
              <a:gd name="adj" fmla="val 1624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428750" y="8262938"/>
            <a:ext cx="169735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同桌互助：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找出文中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只交代结果、没有画面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的句子，互相说一说，这句话可以补上哪些细节。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是不是每句都要展开？不是。次要情节一句带过，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详写的只有关键的一幕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自评与修改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12561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581615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修改的顺序：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先补最缺的一处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143250"/>
            <a:ext cx="7924800" cy="1028700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429000"/>
            <a:ext cx="792099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开头交代不清</a:t>
            </a:r>
            <a:pPr algn="l" indent="0" marL="0">
              <a:lnSpc>
                <a:spcPct val="114286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补上一两句原版故事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9315450" y="3143250"/>
            <a:ext cx="7924800" cy="1028700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677400" y="3429000"/>
            <a:ext cx="792099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情节衔接不顺</a:t>
            </a:r>
            <a:pPr algn="l" indent="0" marL="0">
              <a:lnSpc>
                <a:spcPct val="114286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调整语句，让它接得上改动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047750" y="4514850"/>
            <a:ext cx="7924800" cy="1028700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4800600"/>
            <a:ext cx="792099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关键场面缺细节</a:t>
            </a:r>
            <a:pPr algn="l" indent="0" marL="0">
              <a:lnSpc>
                <a:spcPct val="114286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补写动作、神态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9315450" y="4514850"/>
            <a:ext cx="7924800" cy="1028700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677400" y="4800600"/>
            <a:ext cx="792099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结尾没有对比</a:t>
            </a:r>
            <a:pPr algn="l" indent="0" marL="0">
              <a:lnSpc>
                <a:spcPct val="114286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补写一句新旧结局的不同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1047750" y="5715000"/>
            <a:ext cx="11334750" cy="1097161"/>
          </a:xfrm>
          <a:prstGeom prst="roundRect">
            <a:avLst>
              <a:gd name="adj" fmla="val 15627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66850" y="6019800"/>
            <a:ext cx="11546205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集中改透一处问题，比多处浅改效果更好。修改时</a:t>
            </a:r>
            <a:pPr algn="l" indent="0" marL="0">
              <a:lnSpc>
                <a:spcPct val="12190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使用规范的修改符号</a:t>
            </a:r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12763500" y="5715000"/>
            <a:ext cx="4476750" cy="91440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2539663" y="5943600"/>
            <a:ext cx="49244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修改时间约 3 分半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老故事的结局是固定的，今天从你们笔下写出来的，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一人一个不一样的版本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20234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 · 习作讲评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8504039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85162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习作讲评环节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（可选 · 课后或下次课开场）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571750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2–3 篇当堂完成的稿子投屏（不具名），每篇约 3–5 分钟，只围绕本课三个要点；＿＿＿处换成本班学生的真实句子。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3333750"/>
            <a:ext cx="5181600" cy="4286250"/>
          </a:xfrm>
          <a:prstGeom prst="roundRect">
            <a:avLst>
              <a:gd name="adj" fmla="val 400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3343275"/>
            <a:ext cx="5162550" cy="762000"/>
          </a:xfrm>
          <a:custGeom>
            <a:avLst/>
            <a:gdLst/>
            <a:ahLst/>
            <a:cxnLst/>
            <a:rect l="l" t="t" r="r" b="b"/>
            <a:pathLst>
              <a:path w="5162550" h="762000">
                <a:moveTo>
                  <a:pt x="171450" y="0"/>
                </a:moveTo>
                <a:lnTo>
                  <a:pt x="4991100" y="0"/>
                </a:lnTo>
                <a:arcTo hR="171450" wR="171450" stAng="16200000" swAng="5400000"/>
                <a:lnTo>
                  <a:pt x="5162550" y="762000"/>
                </a:lnTo>
                <a:lnTo>
                  <a:pt x="0" y="76200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4E9A57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3343275"/>
            <a:ext cx="5162550" cy="762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3975" y="3533775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较好的一篇</a:t>
            </a:r>
            <a:endParaRPr lang="en-US" sz="2250" dirty="0"/>
          </a:p>
        </p:txBody>
      </p:sp>
      <p:sp>
        <p:nvSpPr>
          <p:cNvPr id="12" name="Shape 8"/>
          <p:cNvSpPr/>
          <p:nvPr/>
        </p:nvSpPr>
        <p:spPr>
          <a:xfrm>
            <a:off x="1057275" y="4105275"/>
            <a:ext cx="5162550" cy="35052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1343025" y="4391025"/>
            <a:ext cx="4745926" cy="297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改动集中在一处，后面两三件事都从这一处接下来，那一幕写得看得见。 读画面感最强的一句： </a:t>
            </a:r>
            <a:pPr algn="l" indent="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既写出动作，也写出神态 </a:t>
            </a:r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175" dirty="0"/>
          </a:p>
        </p:txBody>
      </p:sp>
      <p:sp>
        <p:nvSpPr>
          <p:cNvPr id="14" name="Shape 10"/>
          <p:cNvSpPr/>
          <p:nvPr/>
        </p:nvSpPr>
        <p:spPr>
          <a:xfrm>
            <a:off x="6553200" y="3333750"/>
            <a:ext cx="5181600" cy="4286250"/>
          </a:xfrm>
          <a:prstGeom prst="roundRect">
            <a:avLst>
              <a:gd name="adj" fmla="val 400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562725" y="3343275"/>
            <a:ext cx="5162550" cy="762000"/>
          </a:xfrm>
          <a:custGeom>
            <a:avLst/>
            <a:gdLst/>
            <a:ahLst/>
            <a:cxnLst/>
            <a:rect l="l" t="t" r="r" b="b"/>
            <a:pathLst>
              <a:path w="5162550" h="762000">
                <a:moveTo>
                  <a:pt x="171450" y="0"/>
                </a:moveTo>
                <a:lnTo>
                  <a:pt x="4991100" y="0"/>
                </a:lnTo>
                <a:arcTo hR="171450" wR="171450" stAng="16200000" swAng="5400000"/>
                <a:lnTo>
                  <a:pt x="5162550" y="762000"/>
                </a:lnTo>
                <a:lnTo>
                  <a:pt x="0" y="76200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E0A43B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343275"/>
            <a:ext cx="5162550" cy="762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29425" y="3533775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中等的一篇</a:t>
            </a:r>
            <a:endParaRPr lang="en-US" sz="2250" dirty="0"/>
          </a:p>
        </p:txBody>
      </p:sp>
      <p:sp>
        <p:nvSpPr>
          <p:cNvPr id="18" name="Shape 13"/>
          <p:cNvSpPr/>
          <p:nvPr/>
        </p:nvSpPr>
        <p:spPr>
          <a:xfrm>
            <a:off x="6562725" y="4105275"/>
            <a:ext cx="5162550" cy="35052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6848475" y="4391025"/>
            <a:ext cx="4745926" cy="297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改动找得准，后续情节也跟得上，短板是那一幕只交代了结果。 一起改一改： </a:t>
            </a:r>
            <a:pPr algn="l" indent="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换成角色做了什么、说了什么 </a:t>
            </a:r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175" dirty="0"/>
          </a:p>
        </p:txBody>
      </p:sp>
      <p:sp>
        <p:nvSpPr>
          <p:cNvPr id="20" name="Shape 15"/>
          <p:cNvSpPr/>
          <p:nvPr/>
        </p:nvSpPr>
        <p:spPr>
          <a:xfrm>
            <a:off x="12058650" y="3333750"/>
            <a:ext cx="5181600" cy="4286250"/>
          </a:xfrm>
          <a:prstGeom prst="roundRect">
            <a:avLst>
              <a:gd name="adj" fmla="val 400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12068175" y="3343275"/>
            <a:ext cx="5162550" cy="762000"/>
          </a:xfrm>
          <a:custGeom>
            <a:avLst/>
            <a:gdLst/>
            <a:ahLst/>
            <a:cxnLst/>
            <a:rect l="l" t="t" r="r" b="b"/>
            <a:pathLst>
              <a:path w="5162550" h="762000">
                <a:moveTo>
                  <a:pt x="171450" y="0"/>
                </a:moveTo>
                <a:lnTo>
                  <a:pt x="4991100" y="0"/>
                </a:lnTo>
                <a:arcTo hR="171450" wR="171450" stAng="16200000" swAng="5400000"/>
                <a:lnTo>
                  <a:pt x="5162550" y="762000"/>
                </a:lnTo>
                <a:lnTo>
                  <a:pt x="0" y="76200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8175" y="3343275"/>
            <a:ext cx="5162550" cy="7620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34875" y="3533775"/>
            <a:ext cx="25146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有典型问题的一篇</a:t>
            </a:r>
            <a:endParaRPr lang="en-US" sz="2250" dirty="0"/>
          </a:p>
        </p:txBody>
      </p:sp>
      <p:sp>
        <p:nvSpPr>
          <p:cNvPr id="24" name="Shape 18"/>
          <p:cNvSpPr/>
          <p:nvPr/>
        </p:nvSpPr>
        <p:spPr>
          <a:xfrm>
            <a:off x="12068175" y="4105275"/>
            <a:ext cx="5162550" cy="35052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12353925" y="4391025"/>
            <a:ext cx="4745926" cy="297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前面照抄原故事，改动只放在最后一句，前面的情节没有被带动。 修改办法：</a:t>
            </a:r>
            <a:pPr algn="l" indent="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把关键改动向前调整</a:t>
            </a:r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175" dirty="0"/>
          </a:p>
        </p:txBody>
      </p:sp>
      <p:sp>
        <p:nvSpPr>
          <p:cNvPr id="26" name="Text 20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收尾点回：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改一处，后面跟着变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；先想好新结局，再反向找那个关键改动点。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943100" y="3657600"/>
            <a:ext cx="8064892" cy="1900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7"/>
              </a:lnSpc>
              <a:buNone/>
            </a:pPr>
            <a:r>
              <a:rPr lang="en-US" sz="12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END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2057400" y="5676900"/>
            <a:ext cx="13620750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先定下新结局，再倒回去找出是哪一处变了：改一处，后面跟着变。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792200" y="8058150"/>
            <a:ext cx="2095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5925800" y="8039100"/>
            <a:ext cx="419100" cy="533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0" y="8039100"/>
            <a:ext cx="419100" cy="53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2026-09-10T08:22:41Z</dcterms:created>
  <dcterms:modified xsi:type="dcterms:W3CDTF">2026-09-10T08:22:41Z</dcterms:modified>
</cp:coreProperties>
</file>