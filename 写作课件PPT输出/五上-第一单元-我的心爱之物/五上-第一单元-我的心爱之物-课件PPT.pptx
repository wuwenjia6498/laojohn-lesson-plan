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课前导入：今天两节课，每人写一样自己的心爱之物，写完在教室里开一场'心爱之物展览会'——东西都不在现场，展台上只有你写的这篇作文。五上第一单元状物习作，2课时连排。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第1课时·写作指导课。主线：旧帆布包三问导入'心爱之物展览会'任务→摸手边最久的一样东西找痕迹→两段滑板对照学三条小妙招→填构思表→读教师示范文与旁批表。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旧帆布包放到桌上，请学生猜三个数：用了几年（九年）、当初多少钱（五十八块）、中间坏过一回主人自己拿针线缝上了。追问：外面商店就有新包卖，主人一直没买——这是为什么？参考答案：用惯了／有纪念意义／舍不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贯穿任务：每人写一样自己的心爱之物，玩具、文具、旧衣服，也可以是养的小动物、种的一盆花。写完在这间教室开一场'心爱之物展览会'——稿子先传给旁边的同学，再请几位念给全班听。特别之处：东西都在家里柜子上、抽屉里，谁也搬不来，展台上只有你写的这篇作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标准讲在动笔前：念完之后，听的人能说出它长什么样，还能说出它为什么偏偏是你的，就算写成功了。没写成功的样子：从头到尾都是'我很喜欢它''它对我很重要'，一圈听下来别人既记不住样子，也说不出为什么是你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手边的东西说起：把身上、桌上、书包里用得最久的一样找出来，拿在手上摸一摸。等大多数学生拿到手上再问：它身上有哪些痕迹，是刚买回来那天没有的？参考：橡皮少了一个角、水杯盖上的字掉了、铅笔盒磕掉一块漆、贴纸翘边、笔杆上有牙印。同桌互说：哪一处是别人手上那一件没有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范围放大：今天要写的不一定是手上这一样。问两句：你那件在哪儿放着？上一次拿起它是什么时候？举手抽说两三位，听到'养的仓鼠''种的多肉'明确肯定。学生在两三样之间来回换的，不问'哪个最喜欢'，改问'哪一样你搬家会第一个装进箱子''哪一样丢了你会去找一整天'。挑定了就别再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两段写同一块滑板的话，请学生判断哪一段读完会觉得这东西对他不一样。会有学生选第一段——先肯定：第一段写得确实不糙，颜色尺寸图案都交代了，画面也有。再追问：第一段这些话里，有哪一句是只有他那块滑板才写得出来的？搬到任何一块同款滑板上，一个字都不用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学生数出的三处差别命名成今天的三条小妙招：一、样子只挑属于它的印记与痕迹；二、用一件因为它才发生过的事作证；三、试着不直白说'我很喜欢它'，把喜爱藏进事情和动作里。强调：凡是换成别人那一件也照样成立的话，写了也白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透第一条：颜色、长短、材料是商品标签上的东西，谁的滑板都写得出。写养的小动物、种的花的同学道理一样，只是换个找法：找只有它才有的记号——右耳尖上那一小撮白毛、叶子缺掉的那个角、笼子边上被啃出的一道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透第二条：光有样子还不够，要用一件事作证，而且这件事得是'因为它'才有的。三个问法帮学生找事：它有没有坏过、丢过？你有没有带着它去过什么地方？有没有哪一天你专门为它做过什么（清洗、维修、藏起来）？学生说的事跟东西没关系时（如'我拿它去过外婆家'），追问'那天它出了什么事，还是它派上了什么用场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示范：先念带三句直接抒情的那一小段（'这个包我特别喜欢''它对我太重要了''我真是一天也离不开它'），再当场把这三句划掉重念一遍，问学生：喜欢的劲儿是淡了，还是没淡？参考：没淡／好像还更明显了。点明：划掉的三句放到任何人的心爱之物上都能用；留下的歪针脚、出门第一个抓它，才是专属这个包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文呼应：《桂花雨》整篇写的是小时候在院子里摇桂花那件事——抱着树使劲摇，花落了一头一身，一家人把桂花收起来晒干、做糕点、泡茶。作者从头到尾没写一句'我很想念家乡'，读完的人都明白她想。然后口头一句练笔：说一句'因为它才有过的事'，这一次先不使用'喜欢'这类词。举手抽两三位，点评只点一处——他说的哪一句别人无法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之前用构思表把要写的收一收。每一格只写关键词，不写完整句子，自己看得懂就行。第二栏和第四栏最重要，就是今天三条小妙招里的前两条。第三栏来历动笔时一句话带过。第四栏只记下这件事是什么，正式写作时再扩展细节。填表约3分钟，教师巡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先填一张给学生看，填的就是桌上这个包。问：这张表跟平时写作文的句子比，哪儿不一样？参考：全是词、没有一句整话、很短。填完的同学小声把要写的从头说给自己听一遍，说到哪一栏说不下去，那里就是还没想清楚的。再请两位说给大家听，其余同学听：哪一处只属于他那一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教师示范文：老师把刚才那张表整篇写出来。完整读一遍，请学生留意：表上那几个关键词是怎么变成一段一段的话的。标色：写样子的痕迹（红）、那件事的经过（蓝）、藏着喜爱的小动作（绿）、来历一句带过（紫）——与后面旁批表同色呼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整篇框架：一共五段——开头一句话把东西亮出来；中间样子、来历、发生的那件事各占一段；结尾收在一个动作上。这个框架学生照着用就行。再往细里看第二段：写了磨白的角、破洞、那道针脚，颜色、大小、牌子一样也没写。追问：这一整篇里有没有写过'我很喜欢这个包'？一次也没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学生挑出的句子摆成旁批表，逐句说这一句在做什么。颜色与示范文标色一一对应：红=只属于它的痕迹，蓝=那件事的经过，绿=藏着喜爱的小动作，紫=来历一句带过。提醒：你们的心爱之物是什么样、发生过什么故事，只有你自己清楚，不用写得和老师这篇一模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第2课时·当堂写作与评改课。看着构思表写开头几句→自由写作二十分钟写完整篇→传稿互读、心爱之物展览会、对照三档标准修改收束。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构思表，找到第一栏。那几个词连起来就是一句话：老师填的是'深灰帆布包·背了九年'，连起来就是'门后的挂钩上，常年挂着一只深灰色的帆布包'。空两格写在第一行。再看第二栏，别都展开，只挑最想写的那一个关键词，写三四句话把它写清楚，三个角度任选其一。写完回头读一遍：只看这一小段，别人能不能认出这就是你那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口气往下写约二十分钟，写完整篇。牢记三个要点，结尾可以参考范文用一个日常小动作收尾。写作过程中不回头改错别字和语句。巡视只做正向介入，按学情四类处理：接不下去型领回构思表第四栏；内容空泛型就着最具体的一处追问；书写顺畅型不打断；草草收尾型先肯定再推一步问'当时你是怎么修补它的'。临近时间：把手上这一句写到句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班稿件朝同一个方向传给身边的同学。拿到别人习作的同学，重点读写样子、外观细节那一段，判断：这是随便哪一件同款物品都有的普通样子，还是只属于作者这一件的独特痕迹。读完在稿件末尾写下简单感受，再传回原作者。一轮约4分钟，教师控节奏。拿回自己的稿子后回想同伴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览会开场：每排推选一位，随机邀请三位同学上台。不用读整篇，只读文章开头和你与物品发生难忘故事的那一段。台下听完简单分享两点：一是记住了这件物品的哪一处独特细节，二是从文字里感受到这件物品对作者的什么特殊意义。每一位念完，教师随机抽取学生点评，再针对性点评：哪一处细节让读者能亲眼看见，哪一段叙事真实动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三档自评标准，给自己的习作定一个档位。再举一组对比：同样写滑板，'它是深蓝色的，板面长八十厘米'和'板尾的漆磨掉了一大片，露出底下的木头'，更相信哪一句是作者专属的？参考：第二句，商店里也这么写第一句，磨损的痕迹才是独一无二的经历印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做好三处修改：一、优化外形段落，通用描写一句带过，多添专属痕迹（写小动物、植物的换成只属于它的特征）；二、叙事段落只有结果、缺少过程的，补一两句关键动作、场景细节；三、检查全文，试着弱化直白抒情，保留也可以，两种写法都出彩。三处改完再检查结尾是否落在一个日常小动作上。最后用规范修改符号梳理全文：改错别字、补漏字、删冗余。没写完的优先补完正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今天写的心爱之物，大多不是精致贵重的东西，它们或许有磨白的边角、残缺的缺口、修补过的痕迹。很多同学没有直白写'喜爱''不舍'，但藏在细节里的真心，大家都能体会到。课后可以把习作放在对应的物品旁边，或者读给家人听。总结方法：不堆砌通用外形，抓它独有的专属痕迹，搭一件独一无二的往事寄托情感——写景、写人同样适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选环节，不计入两节连排：课后集中讲评一次，或作下次课开场（约15–20分钟）。从当堂稿子里对着三条技法各挑一篇，投屏或朗读，不具名、不排名次，每篇约3–5分钟。屏上＿＿＿处务必换成本班学生习作里的真实句子，切勿虚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收束：样子挑独一份的几处，事情挑因为它才有的那一件，喜欢不说出口。往后写猫、写常走的那条路，一样是这么办。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810000" y="2667000"/>
            <a:ext cx="1236345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我的心爱之物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2363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五年级上册 · 第一单元 · 校内同步写作（状物）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五年级上册 · 第一单元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观察体验 · 学写法（三条小妙招） · 构思表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1908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88786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先猜三个数——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桌上这只旧包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2385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58491" y="334327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905000" y="3294757"/>
            <a:ext cx="377190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这个包用了几年？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41338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58491" y="42386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905000" y="4190107"/>
            <a:ext cx="452628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当初买它多少钱？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五十八块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1047750" y="50292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58491" y="513397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905000" y="5085457"/>
            <a:ext cx="684982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中间坏过一回——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主人自己拿针线缝上了</a:t>
            </a:r>
            <a:endParaRPr lang="en-US" sz="2700" dirty="0"/>
          </a:p>
        </p:txBody>
      </p:sp>
      <p:sp>
        <p:nvSpPr>
          <p:cNvPr id="17" name="Shape 14"/>
          <p:cNvSpPr/>
          <p:nvPr/>
        </p:nvSpPr>
        <p:spPr>
          <a:xfrm>
            <a:off x="1047750" y="5924550"/>
            <a:ext cx="9810750" cy="1645741"/>
          </a:xfrm>
          <a:prstGeom prst="roundRect">
            <a:avLst>
              <a:gd name="adj" fmla="val 12733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47800" y="6229350"/>
            <a:ext cx="9280969" cy="1074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89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外面商店里就有新包卖，主人一直没买，还是用这个—— </a:t>
            </a:r>
            <a:pPr algn="l" indent="0" marL="0">
              <a:lnSpc>
                <a:spcPct val="120889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这是为什么？</a:t>
            </a:r>
            <a:endParaRPr lang="en-US" sz="25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3333750"/>
            <a:ext cx="5334000" cy="4953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一样东西在主人心里的分量，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跟它值多少钱往往没有多大关系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93879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81064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今天的任务——办一场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心爱之物展览会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76550"/>
            <a:ext cx="16973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你们写的那些东西这会儿在家里的柜子上、抽屉里、窗台上，</a:t>
            </a:r>
            <a:pPr algn="l" indent="0" marL="0"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谁也搬不来</a:t>
            </a:r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——展台上只有你写的这篇作文。</a:t>
            </a:r>
            <a:endParaRPr lang="en-US" sz="2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810000"/>
            <a:ext cx="3810000" cy="44767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0" y="38671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306741" y="39719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953250" y="3924300"/>
            <a:ext cx="10497503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每人写一样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对你意义不一样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的东西——玩具、文具、旧衣服，养的小动物、种的花都行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6096000" y="5299472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306741" y="5404247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953250" y="5356622"/>
            <a:ext cx="964136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稿子先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传给旁边的同学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，让他隔着一张稿纸认一认你这件东西</a:t>
            </a: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6096000" y="6290072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306741" y="6394847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953250" y="6347222"/>
            <a:ext cx="10497503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再请几位同学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念给全班听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——听的人看不见实物，全靠这篇作文认识它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2133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371263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什么算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写成功了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7886700" cy="3943350"/>
          </a:xfrm>
          <a:prstGeom prst="roundRect">
            <a:avLst>
              <a:gd name="adj" fmla="val 4348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3057525"/>
            <a:ext cx="7867650" cy="781050"/>
          </a:xfrm>
          <a:custGeom>
            <a:avLst/>
            <a:gdLst/>
            <a:ahLst/>
            <a:cxnLst/>
            <a:rect l="l" t="t" r="r" b="b"/>
            <a:pathLst>
              <a:path w="7867650" h="7810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81050"/>
                </a:lnTo>
                <a:lnTo>
                  <a:pt x="0" y="7810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4E9A57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057525"/>
            <a:ext cx="7867650" cy="781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3442" y="3248025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写成了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057275" y="38385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19225" y="4162425"/>
            <a:ext cx="7358063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念完之后，听的人能说出 </a:t>
            </a:r>
            <a:pPr algn="l" indent="0" marL="0">
              <a:lnSpc>
                <a:spcPct val="127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它长什么样</a:t>
            </a:r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，也能说出 </a:t>
            </a:r>
            <a:pPr algn="l" indent="0" marL="0">
              <a:lnSpc>
                <a:spcPct val="127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它为什么偏偏是你的 </a:t>
            </a:r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75" dirty="0"/>
          </a:p>
        </p:txBody>
      </p:sp>
      <p:sp>
        <p:nvSpPr>
          <p:cNvPr id="13" name="Shape 9"/>
          <p:cNvSpPr/>
          <p:nvPr/>
        </p:nvSpPr>
        <p:spPr>
          <a:xfrm>
            <a:off x="9353550" y="3048000"/>
            <a:ext cx="7886700" cy="3943350"/>
          </a:xfrm>
          <a:prstGeom prst="roundRect">
            <a:avLst>
              <a:gd name="adj" fmla="val 4348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363075" y="3057525"/>
            <a:ext cx="7867650" cy="781050"/>
          </a:xfrm>
          <a:custGeom>
            <a:avLst/>
            <a:gdLst/>
            <a:ahLst/>
            <a:cxnLst/>
            <a:rect l="l" t="t" r="r" b="b"/>
            <a:pathLst>
              <a:path w="7867650" h="7810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81050"/>
                </a:lnTo>
                <a:lnTo>
                  <a:pt x="0" y="7810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75" y="3057525"/>
            <a:ext cx="7867650" cy="7810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79242" y="3248025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没写成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9363075" y="38385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725025" y="4162425"/>
            <a:ext cx="7358063" cy="1640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从头到尾都是“我很喜欢它”“它对我很重要”——一圈听下来，别人 </a:t>
            </a:r>
            <a:pPr algn="l" indent="0" marL="0">
              <a:lnSpc>
                <a:spcPct val="127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既记不住它长什么样，也说不出为什么是你的 </a:t>
            </a:r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75" dirty="0"/>
          </a:p>
        </p:txBody>
      </p:sp>
      <p:sp>
        <p:nvSpPr>
          <p:cNvPr id="19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他相不相信这样东西对你有特别的意义，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全看你写的这篇文章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15903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15291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摸一摸手边那一样——找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买来那天没有的痕迹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263842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33500" y="3048000"/>
            <a:ext cx="227361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橡皮少了一个角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3876675" y="2857500"/>
            <a:ext cx="293370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162425" y="3048000"/>
            <a:ext cx="25984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水杯盖上的字掉了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7000875" y="2857500"/>
            <a:ext cx="35242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86625" y="3048000"/>
            <a:ext cx="32480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铅笔盒角上磕掉一块漆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0715625" y="2857500"/>
            <a:ext cx="204787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1001375" y="3048000"/>
            <a:ext cx="162401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贴纸翘边了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12954000" y="2857500"/>
            <a:ext cx="23431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3239750" y="3048000"/>
            <a:ext cx="19488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笔杆上有牙印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047750" y="4381500"/>
            <a:ext cx="16192500" cy="895350"/>
          </a:xfrm>
          <a:prstGeom prst="roundRect">
            <a:avLst>
              <a:gd name="adj" fmla="val 1702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28750" y="4629150"/>
            <a:ext cx="16973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跟同桌说一说：这些痕迹里，</a:t>
            </a:r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哪一处是别人手上那一件没有的</a:t>
            </a:r>
            <a:pPr algn="l" indent="0" marL="0"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047750" y="5810250"/>
            <a:ext cx="16192500" cy="1150590"/>
          </a:xfrm>
          <a:prstGeom prst="roundRect">
            <a:avLst>
              <a:gd name="adj" fmla="val 14901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85900" y="6134100"/>
            <a:ext cx="1684782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磨掉的漆、翘边的贴纸、掉下去磕的那一块，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都不是买来就有的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——是它跟着你过日子，一天一天留下来的。</a:t>
            </a:r>
            <a:endParaRPr lang="en-US" sz="2475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那道划痕是怎么来的？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一说来历，这一下就不一样了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41104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23013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把范围放大——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选定你要写的那一件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4480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3295650"/>
            <a:ext cx="8528685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它这会儿在哪儿放着？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书桌上、床头、柜子最上层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1047750" y="4282827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9700" y="4130427"/>
            <a:ext cx="5270837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 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上一次拿起它 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是什么时候？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047750" y="5117604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09700" y="4965204"/>
            <a:ext cx="9437942" cy="1059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在两三样之间定不下来？问自己—— 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哪一样搬家会第一个装进箱子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047750" y="646330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409700" y="6310908"/>
            <a:ext cx="6590348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或者：哪一样丢了，你会去找一整天。</a:t>
            </a:r>
            <a:endParaRPr lang="en-US" sz="277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3238500"/>
            <a:ext cx="5334000" cy="4953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挑定了就别再换——接下来两节课只做一件事：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让没见过它的人，隔着一张稿纸看见它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判断对比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47822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70402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同写一块滑板——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哪一段读完，你觉得这东西对他不一样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4476750"/>
          </a:xfrm>
          <a:prstGeom prst="roundRect">
            <a:avLst>
              <a:gd name="adj" fmla="val 383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867025"/>
            <a:ext cx="7867650" cy="742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24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057275" y="3609975"/>
            <a:ext cx="7867650" cy="37147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381125" y="3895725"/>
            <a:ext cx="7436549" cy="285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最心爱的东西是一块滑板。它是深蓝色的，板面长八十厘米，宽二十厘米，板底印着一只张着嘴的老虎，四个轮子是橡胶的，滑起来几乎没有声音。踩上去往前一蹬，风从耳朵边呼呼地过，那种痛快劲儿没法说。周末我常带着它去广场，一玩就是一下午，累得满头汗也不想回家。它给我带来了很多快乐，我非常喜欢它。</a:t>
            </a:r>
            <a:endParaRPr lang="en-US" sz="2175" dirty="0"/>
          </a:p>
        </p:txBody>
      </p:sp>
      <p:sp>
        <p:nvSpPr>
          <p:cNvPr id="13" name="Shape 9"/>
          <p:cNvSpPr/>
          <p:nvPr/>
        </p:nvSpPr>
        <p:spPr>
          <a:xfrm>
            <a:off x="9353550" y="2857500"/>
            <a:ext cx="7886700" cy="4476750"/>
          </a:xfrm>
          <a:prstGeom prst="roundRect">
            <a:avLst>
              <a:gd name="adj" fmla="val 383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3630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75" y="2867025"/>
            <a:ext cx="7867650" cy="7429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582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9363075" y="3609975"/>
            <a:ext cx="7867650" cy="37147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686925" y="3895725"/>
            <a:ext cx="7436549" cy="191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我那块滑板，</a:t>
            </a:r>
            <a:pPr algn="l" indent="552450" marL="0">
              <a:lnSpc>
                <a:spcPct val="126410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板尾的漆磨掉了一大片 </a:t>
            </a:r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，露出底下的木头，摸上去毛毛的。那片漆是去年夏天磨掉的，我在小区那道斜坡上练急停， </a:t>
            </a:r>
            <a:pPr algn="l" indent="552450" marL="0">
              <a:lnSpc>
                <a:spcPct val="126410"/>
              </a:lnSpc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摔了七八回，每回都是板尾先蹭地 </a:t>
            </a:r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。现在我一低头，就能看见那片木头色。</a:t>
            </a:r>
            <a:endParaRPr lang="en-US" sz="2175" dirty="0"/>
          </a:p>
        </p:txBody>
      </p:sp>
      <p:sp>
        <p:nvSpPr>
          <p:cNvPr id="19" name="Text 14"/>
          <p:cNvSpPr/>
          <p:nvPr/>
        </p:nvSpPr>
        <p:spPr>
          <a:xfrm>
            <a:off x="1047750" y="8772525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第一段颜色、尺寸、图案样样不少，可这些话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搬到任何一块同款滑板上，一个字都不用改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20" name="Text 15"/>
          <p:cNvSpPr/>
          <p:nvPr/>
        </p:nvSpPr>
        <p:spPr>
          <a:xfrm>
            <a:off x="1047750" y="9339263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第二段不一样：板尾那片磨掉的漆、练急停摔的那七八回——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别人那块上没有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02667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60731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今天练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三个写作小妙招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143250"/>
            <a:ext cx="5143500" cy="4638675"/>
          </a:xfrm>
          <a:prstGeom prst="roundRect">
            <a:avLst>
              <a:gd name="adj" fmla="val 4107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152775"/>
            <a:ext cx="5124450" cy="809625"/>
          </a:xfrm>
          <a:custGeom>
            <a:avLst/>
            <a:gdLst/>
            <a:ahLst/>
            <a:cxnLst/>
            <a:rect l="l" t="t" r="r" b="b"/>
            <a:pathLst>
              <a:path w="5124450" h="809625">
                <a:moveTo>
                  <a:pt x="190500" y="0"/>
                </a:moveTo>
                <a:lnTo>
                  <a:pt x="4933950" y="0"/>
                </a:lnTo>
                <a:arcTo hR="190500" wR="190500" stAng="16200000" swAng="5400000"/>
                <a:lnTo>
                  <a:pt x="5124450" y="809625"/>
                </a:lnTo>
                <a:lnTo>
                  <a:pt x="0" y="809625"/>
                </a:lnTo>
                <a:lnTo>
                  <a:pt x="0" y="190500"/>
                </a:lnTo>
                <a:arcTo hR="190500" wR="190500" stAng="10800000" swAng="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152775"/>
            <a:ext cx="5124450" cy="8096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3025" y="3362325"/>
            <a:ext cx="50082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妙招一 · 写样子</a:t>
            </a:r>
            <a:endParaRPr lang="en-US" sz="2325" dirty="0"/>
          </a:p>
        </p:txBody>
      </p:sp>
      <p:sp>
        <p:nvSpPr>
          <p:cNvPr id="12" name="Shape 8"/>
          <p:cNvSpPr/>
          <p:nvPr/>
        </p:nvSpPr>
        <p:spPr>
          <a:xfrm>
            <a:off x="1057275" y="3962400"/>
            <a:ext cx="5124450" cy="3810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381125" y="4286250"/>
            <a:ext cx="4611052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只挑 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属于它的印记与痕迹 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——磨白的边、掉漆的角、缺的一块、补过的地方。</a:t>
            </a:r>
            <a:endParaRPr lang="en-US" sz="2475" dirty="0"/>
          </a:p>
        </p:txBody>
      </p:sp>
      <p:sp>
        <p:nvSpPr>
          <p:cNvPr id="14" name="Shape 10"/>
          <p:cNvSpPr/>
          <p:nvPr/>
        </p:nvSpPr>
        <p:spPr>
          <a:xfrm>
            <a:off x="6572250" y="3143250"/>
            <a:ext cx="5143500" cy="4638675"/>
          </a:xfrm>
          <a:prstGeom prst="roundRect">
            <a:avLst>
              <a:gd name="adj" fmla="val 4107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581775" y="3152775"/>
            <a:ext cx="5124450" cy="809625"/>
          </a:xfrm>
          <a:custGeom>
            <a:avLst/>
            <a:gdLst/>
            <a:ahLst/>
            <a:cxnLst/>
            <a:rect l="l" t="t" r="r" b="b"/>
            <a:pathLst>
              <a:path w="5124450" h="809625">
                <a:moveTo>
                  <a:pt x="190500" y="0"/>
                </a:moveTo>
                <a:lnTo>
                  <a:pt x="4933950" y="0"/>
                </a:lnTo>
                <a:arcTo hR="190500" wR="190500" stAng="16200000" swAng="5400000"/>
                <a:lnTo>
                  <a:pt x="5124450" y="809625"/>
                </a:lnTo>
                <a:lnTo>
                  <a:pt x="0" y="809625"/>
                </a:lnTo>
                <a:lnTo>
                  <a:pt x="0" y="190500"/>
                </a:lnTo>
                <a:arcTo hR="190500" wR="190500" stAng="10800000" swAng="5400000"/>
                <a:close/>
              </a:path>
            </a:pathLst>
          </a:custGeom>
          <a:solidFill>
            <a:srgbClr val="2F72B8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3152775"/>
            <a:ext cx="5124450" cy="8096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67525" y="3362325"/>
            <a:ext cx="50082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妙招二 · 一件事作证</a:t>
            </a:r>
            <a:endParaRPr lang="en-US" sz="2325" dirty="0"/>
          </a:p>
        </p:txBody>
      </p:sp>
      <p:sp>
        <p:nvSpPr>
          <p:cNvPr id="18" name="Shape 13"/>
          <p:cNvSpPr/>
          <p:nvPr/>
        </p:nvSpPr>
        <p:spPr>
          <a:xfrm>
            <a:off x="6581775" y="3962400"/>
            <a:ext cx="5124450" cy="3810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905625" y="4286250"/>
            <a:ext cx="4611052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写一件 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因为它才发生的事 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——它坏过一回你怎么处理，你带着它经历过什么。</a:t>
            </a:r>
            <a:endParaRPr lang="en-US" sz="2475" dirty="0"/>
          </a:p>
        </p:txBody>
      </p:sp>
      <p:sp>
        <p:nvSpPr>
          <p:cNvPr id="20" name="Shape 15"/>
          <p:cNvSpPr/>
          <p:nvPr/>
        </p:nvSpPr>
        <p:spPr>
          <a:xfrm>
            <a:off x="12096750" y="3143250"/>
            <a:ext cx="5143500" cy="4638675"/>
          </a:xfrm>
          <a:prstGeom prst="roundRect">
            <a:avLst>
              <a:gd name="adj" fmla="val 4107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12106275" y="3152775"/>
            <a:ext cx="5124450" cy="809625"/>
          </a:xfrm>
          <a:custGeom>
            <a:avLst/>
            <a:gdLst/>
            <a:ahLst/>
            <a:cxnLst/>
            <a:rect l="l" t="t" r="r" b="b"/>
            <a:pathLst>
              <a:path w="5124450" h="809625">
                <a:moveTo>
                  <a:pt x="190500" y="0"/>
                </a:moveTo>
                <a:lnTo>
                  <a:pt x="4933950" y="0"/>
                </a:lnTo>
                <a:arcTo hR="190500" wR="190500" stAng="16200000" swAng="5400000"/>
                <a:lnTo>
                  <a:pt x="5124450" y="809625"/>
                </a:lnTo>
                <a:lnTo>
                  <a:pt x="0" y="809625"/>
                </a:lnTo>
                <a:lnTo>
                  <a:pt x="0" y="190500"/>
                </a:lnTo>
                <a:arcTo hR="190500" wR="190500" stAng="10800000" swAng="5400000"/>
                <a:close/>
              </a:path>
            </a:pathLst>
          </a:custGeom>
          <a:solidFill>
            <a:srgbClr val="4E9A57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6275" y="3152775"/>
            <a:ext cx="5124450" cy="8096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92025" y="3362325"/>
            <a:ext cx="50082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妙招三 · 把喜爱藏起来</a:t>
            </a:r>
            <a:endParaRPr lang="en-US" sz="2325" dirty="0"/>
          </a:p>
        </p:txBody>
      </p:sp>
      <p:sp>
        <p:nvSpPr>
          <p:cNvPr id="24" name="Shape 18"/>
          <p:cNvSpPr/>
          <p:nvPr/>
        </p:nvSpPr>
        <p:spPr>
          <a:xfrm>
            <a:off x="12106275" y="3962400"/>
            <a:ext cx="5124450" cy="3810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12430125" y="4286250"/>
            <a:ext cx="4611052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试着 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不直白说“我很喜欢它” 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，只用故事和动作，让别人自己读出来。</a:t>
            </a:r>
            <a:endParaRPr lang="en-US" sz="2475" dirty="0"/>
          </a:p>
        </p:txBody>
      </p:sp>
      <p:sp>
        <p:nvSpPr>
          <p:cNvPr id="26" name="Text 2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凡是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换成别人那一件也照样成立 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的话，写了也白写。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358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 · 妙招一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43341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05473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商品标签上的话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不算样子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886700" cy="28575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3295650"/>
            <a:ext cx="7837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这些别写——标签上就有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428750" y="3924300"/>
            <a:ext cx="7338441" cy="1139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44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深蓝色 · 长八十厘米 · 橡胶轮子 · 什么牌子 · 什么材料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9353550" y="2952750"/>
            <a:ext cx="7886700" cy="2857500"/>
          </a:xfrm>
          <a:prstGeom prst="roundRect">
            <a:avLst>
              <a:gd name="adj" fmla="val 600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34550" y="3295650"/>
            <a:ext cx="7837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这些才写——只有你那一件有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734550" y="3924300"/>
            <a:ext cx="7338441" cy="1139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44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磨白的边 · 掉漆的角 · 缺的那一块 · 补过的地方 · 一道歪针脚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6572250"/>
            <a:ext cx="16192500" cy="1615380"/>
          </a:xfrm>
          <a:prstGeom prst="roundRect">
            <a:avLst>
              <a:gd name="adj" fmla="val 1061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85900" y="6877050"/>
            <a:ext cx="15775686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写小动物、写花的同学：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换个找法，找 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只有它才有的记号 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——右耳尖上那一小撮白毛、叶子缺掉的那个角、笼子边被啃出的一道印。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这些痕迹，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别人家那一只、那一盆上头也没有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358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 · 妙招二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8401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5021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找一件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因为它才发生过的事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58491" y="32480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905000" y="3200400"/>
            <a:ext cx="610949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它有没有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坏过、丢过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？后来怎么办的？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47750" y="40576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58491" y="41624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05000" y="4114800"/>
            <a:ext cx="8228613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你有没有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带着它去过什么地方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？那天它出了什么事？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1047750" y="49720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58491" y="50768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905000" y="5029200"/>
            <a:ext cx="9025890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有没有哪一天你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专门为它做过什么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——清洗、修补、藏起来？</a:t>
            </a:r>
            <a:endParaRPr lang="en-US" sz="2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957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8001000"/>
            <a:ext cx="16192500" cy="9525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8248650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这件事得是“因为它”才有的。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光说“我拿它去过外婆家”不算——那天 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它出了什么事，或者派上了什么用场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有了这一件事，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别人才相信你说的“心爱”是真的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3587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 · 妙招三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93893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81081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把这三句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划掉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——喜欢的劲儿淡了吗？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2286000"/>
          </a:xfrm>
          <a:prstGeom prst="roundRect">
            <a:avLst>
              <a:gd name="adj" fmla="val 75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24000" y="3200400"/>
            <a:ext cx="1569720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609600" marL="0">
              <a:lnSpc>
                <a:spcPct val="133333"/>
              </a:lnSpc>
              <a:buNone/>
            </a:pPr>
            <a:r>
              <a:rPr lang="en-US" sz="2400" strike="sngStrike" dirty="0">
                <a:solidFill>
                  <a:srgbClr val="9AA6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这个包我特别喜欢。 </a:t>
            </a:r>
            <a:pPr algn="l" indent="60960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带断过一回，是从书店出来那回，一包书压断的。我从鞋子上解下一根鞋带，把断掉的背带两头系紧，打了个死结，就这样拎着包往家走。晚上回家翻出针线，自己一针一线缝了起来，缝出来的针脚歪歪扭扭的，直到现在我也没有拆掉。 </a:t>
            </a:r>
            <a:pPr algn="l" indent="609600" marL="0">
              <a:lnSpc>
                <a:spcPct val="133333"/>
              </a:lnSpc>
              <a:buNone/>
            </a:pPr>
            <a:r>
              <a:rPr lang="en-US" sz="2400" strike="sngStrike" dirty="0">
                <a:solidFill>
                  <a:srgbClr val="9AA6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它对我太重要了。</a:t>
            </a:r>
            <a:pPr algn="l" indent="60960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每天出门，我第一个抓的就是它。</a:t>
            </a:r>
            <a:pPr algn="l" indent="609600" marL="0">
              <a:lnSpc>
                <a:spcPct val="133333"/>
              </a:lnSpc>
              <a:buNone/>
            </a:pPr>
            <a:r>
              <a:rPr lang="en-US" sz="2400" strike="sngStrike" dirty="0">
                <a:solidFill>
                  <a:srgbClr val="9AA6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我真是一天也离不开它。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47750" y="6096000"/>
            <a:ext cx="7886700" cy="2086868"/>
          </a:xfrm>
          <a:prstGeom prst="roundRect">
            <a:avLst>
              <a:gd name="adj" fmla="val 821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6400800"/>
            <a:ext cx="78790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划掉的三句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409700" y="6962775"/>
            <a:ext cx="787908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放到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任何人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的心爱之物上都能用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353550" y="6096000"/>
            <a:ext cx="7886700" cy="2086868"/>
          </a:xfrm>
          <a:prstGeom prst="roundRect">
            <a:avLst>
              <a:gd name="adj" fmla="val 821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715500" y="6400800"/>
            <a:ext cx="78790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留下的几句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9715500" y="6962775"/>
            <a:ext cx="7377684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歪歪扭扭那道针脚、出门第一个抓它——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只属于这一个包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两种写法都可行：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把喜爱藏进事情和动作里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，读者自己就能体会出来。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302930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课文呼应 · 口头练笔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8401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5021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这一招，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《桂花雨》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就在用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9810750" cy="2326779"/>
          </a:xfrm>
          <a:prstGeom prst="roundRect">
            <a:avLst>
              <a:gd name="adj" fmla="val 11462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33550" y="5241429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241429"/>
            <a:ext cx="45720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4950" y="3314700"/>
            <a:ext cx="9163240" cy="1640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整整一篇写的是小时候在院子里 </a:t>
            </a:r>
            <a:pPr algn="l" indent="0" marL="0">
              <a:lnSpc>
                <a:spcPct val="127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摇桂花 </a:t>
            </a:r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那件事——抱着桂花树使劲摇，花落了一头一身；接着一家人把落下的桂花收起来晒干，做糕点、泡茶。</a:t>
            </a:r>
            <a:endParaRPr lang="en-US" sz="2475" dirty="0"/>
          </a:p>
        </p:txBody>
      </p:sp>
      <p:sp>
        <p:nvSpPr>
          <p:cNvPr id="11" name="Shape 7"/>
          <p:cNvSpPr/>
          <p:nvPr/>
        </p:nvSpPr>
        <p:spPr>
          <a:xfrm>
            <a:off x="1047750" y="5955804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09700" y="5812929"/>
            <a:ext cx="993528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没写过一句“我很想念家乡”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，读完的人都明白她想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1047750" y="671959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409700" y="6576715"/>
            <a:ext cx="841064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把感情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放进一件具体的事里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，让读的人自己读出来</a:t>
            </a:r>
            <a:endParaRPr lang="en-US" sz="27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3048000"/>
            <a:ext cx="4953000" cy="40005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47750" y="8001000"/>
            <a:ext cx="16192500" cy="9525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1428750" y="8248650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轮到你试试：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说一句“因为它才有过的事”，这一次 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先不用“喜欢”这类词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。想好了先小声说一遍。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听的时候只找一处：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他说的哪一句，是别人那一件用不上的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546745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我的心爱之物 · 构思表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71700"/>
            <a:ext cx="8801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每格只写关键词，不写整句；填不出的先空着，自己看得懂就行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5162550"/>
          </a:xfrm>
          <a:prstGeom prst="roundRect">
            <a:avLst>
              <a:gd name="adj" fmla="val 258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620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57525"/>
            <a:ext cx="78276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9248775" y="2867025"/>
            <a:ext cx="9525" cy="7620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563100" y="3057525"/>
            <a:ext cx="76022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我的关键词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629025"/>
            <a:ext cx="16173450" cy="8763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876675"/>
            <a:ext cx="78276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9248775" y="3629025"/>
            <a:ext cx="9525" cy="8763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563100" y="3876675"/>
            <a:ext cx="76022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9C0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 ）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057275" y="4505325"/>
            <a:ext cx="16173450" cy="876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752975"/>
            <a:ext cx="78276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只属于它的特别痕迹 ★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9248775" y="4505325"/>
            <a:ext cx="9525" cy="8763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563100" y="4752975"/>
            <a:ext cx="76022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9C0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 ）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1057275" y="5381625"/>
            <a:ext cx="16173450" cy="8763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629275"/>
            <a:ext cx="78276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它是怎么来的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9248775" y="5381625"/>
            <a:ext cx="9525" cy="8763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63100" y="5629275"/>
            <a:ext cx="76022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9C0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 ）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1057275" y="6257925"/>
            <a:ext cx="16173450" cy="876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505575"/>
            <a:ext cx="78276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和它之间发生过的一件事 ★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9248775" y="6257925"/>
            <a:ext cx="9525" cy="8763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9563100" y="6505575"/>
            <a:ext cx="76022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9C0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 ）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1057275" y="7134225"/>
            <a:ext cx="16173450" cy="8763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7381875"/>
            <a:ext cx="782764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它如今放在哪里，平时和它相处的小故事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9248775" y="7134225"/>
            <a:ext cx="9525" cy="8763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9563100" y="7381875"/>
            <a:ext cx="76022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9C0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 ）</a:t>
            </a:r>
            <a:endParaRPr lang="en-US" sz="2250" dirty="0"/>
          </a:p>
        </p:txBody>
      </p:sp>
      <p:sp>
        <p:nvSpPr>
          <p:cNvPr id="32" name="Text 29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这两栏最重要——就是今天三条小妙招里的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前两条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22439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12481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老师先填一张——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全是词，没有一句整话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4972050"/>
          </a:xfrm>
          <a:prstGeom prst="roundRect">
            <a:avLst>
              <a:gd name="adj" fmla="val 2682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620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575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8296275" y="2867025"/>
            <a:ext cx="9525" cy="7620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610600" y="30575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老师的关键词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629025"/>
            <a:ext cx="16173450" cy="8382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8576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8296275" y="3629025"/>
            <a:ext cx="9525" cy="8382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610600" y="38576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深灰帆布包 · 背了九年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057275" y="4467225"/>
            <a:ext cx="1617345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6958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只属于它的特别痕迹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8296275" y="4467225"/>
            <a:ext cx="9525" cy="8382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610600" y="46958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下角磨白 · 侧袋一个洞 · 一道歪针脚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1057275" y="5305425"/>
            <a:ext cx="16173450" cy="8382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5340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它是怎么来的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8296275" y="5305425"/>
            <a:ext cx="9525" cy="8382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610600" y="55340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上班第一年 · 小店门口 · 五十八块</a:t>
            </a:r>
            <a:endParaRPr lang="en-US" sz="2250" dirty="0"/>
          </a:p>
        </p:txBody>
      </p:sp>
      <p:sp>
        <p:nvSpPr>
          <p:cNvPr id="24" name="Shape 21"/>
          <p:cNvSpPr/>
          <p:nvPr/>
        </p:nvSpPr>
        <p:spPr>
          <a:xfrm>
            <a:off x="1057275" y="6143625"/>
            <a:ext cx="1617345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3722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和它之间发生过的一件事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8296275" y="6143625"/>
            <a:ext cx="9525" cy="8382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610600" y="63722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书店出来 · 背带崩断 · 鞋带绑着拎回家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1057275" y="6981825"/>
            <a:ext cx="16173450" cy="8382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7210425"/>
            <a:ext cx="68465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它如今放在哪里，平时的小故事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8296275" y="6981825"/>
            <a:ext cx="9525" cy="8382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610600" y="7210425"/>
            <a:ext cx="85833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挂在门后 · 出门先摘它</a:t>
            </a:r>
            <a:endParaRPr lang="en-US" sz="2250" dirty="0"/>
          </a:p>
        </p:txBody>
      </p:sp>
      <p:sp>
        <p:nvSpPr>
          <p:cNvPr id="32" name="Shape 29"/>
          <p:cNvSpPr/>
          <p:nvPr/>
        </p:nvSpPr>
        <p:spPr>
          <a:xfrm>
            <a:off x="1047750" y="8053387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428750" y="8281987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填完小声把要写的从头说给自己听一遍——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说到哪一栏说不下去，那里就是还没想清楚的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34" name="Text 31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一栏几个词就够，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等会儿动笔再把它们变成长句子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5236071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28750" y="1562100"/>
            <a:ext cx="49214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那张表，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变成了一篇文章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26695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600200" y="2552700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我家门后的挂钩上，常年挂着一只深灰色的帆布包。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600200" y="3000375"/>
            <a:ext cx="155402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两个下角早磨白了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，表层的布都快磨破了。右边侧袋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破了一个洞，起先只有指甲盖那么大，现在能塞进一只拳头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。最显眼的是背带靠肩那一段，缝着一道线，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针脚一会儿密一会儿疏，歪歪扭扭地爬过去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，线的颜色也明显比包身浅一些——那是我自己缝的。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600200" y="3819525"/>
            <a:ext cx="155402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包是我上班第一年买的，在一家小店门口的架子上挂着，五十八块。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那时候我每天要装的东西很多，一摞作业本、水杯，还有太阳伞。选来选去我看中了这一只，它开口宽，大大小小的物件往里放很方便。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600200" y="4638675"/>
            <a:ext cx="1554022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那道针脚是第三年冬天留下的。那天我从书店出来，抱了六七本书塞进包里，走到路口，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背带“啪”地一声断了，包包从肩上滑下来，砸到地上，书撒了一地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。我蹲下去，把书一本一本捡起来，风把书页吹得哗哗响。断掉的背带散着细碎的线头。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我从鞋上抽了根鞋带，把断掉的两端扎牢，打了个死结，一路拎回家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。晚上我找出针线，坐在灯下缝了半个多小时，手指都扎了三四回。缝完看了半天，那道线歪歪扭扭的，难看得很，但是我没拆。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600200" y="6200775"/>
            <a:ext cx="155402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后来包又旧了些。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出门的时候，我总是先把它从挂钩上摘下来，甩到肩上，再回头关门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。有几回同事说，这包该换了。我说等它彻底坏得不能用了再换。今天早上，我又是这么摘下它，走出门去。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47750" y="9410700"/>
            <a:ext cx="22354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只属于它的痕迹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3422898" y="9410700"/>
            <a:ext cx="19525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那件事的经过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5540871" y="9410700"/>
            <a:ext cx="25183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藏着喜爱的小动作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8173194" y="9410700"/>
            <a:ext cx="25183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来历（一句带过）</a:t>
            </a:r>
            <a:endParaRPr lang="en-US" sz="2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41089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22996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五个段落——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这个框架你照着用就行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76312" y="320040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724150" y="3163044"/>
            <a:ext cx="1122205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一句话把东西 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亮出来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——门后的挂钩上，常年挂着一只深灰色的帆布包。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39433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6312" y="40957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724150" y="4058394"/>
            <a:ext cx="1042822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写样子——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磨白的角、破洞、那道针脚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颜色、大小、牌子一样也没写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48387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6312" y="499110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第三段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2724150" y="4953744"/>
            <a:ext cx="1008246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写来历——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一句带过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，不展开 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上班第一年、小店门口、五十八块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1047750" y="57340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76312" y="58864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第四段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724150" y="5849094"/>
            <a:ext cx="800792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写那件事——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背带断了、鞋带绑上、灯下缝了半小时</a:t>
            </a:r>
            <a:endParaRPr lang="en-US" sz="2475" dirty="0"/>
          </a:p>
        </p:txBody>
      </p:sp>
      <p:sp>
        <p:nvSpPr>
          <p:cNvPr id="19" name="Shape 16"/>
          <p:cNvSpPr/>
          <p:nvPr/>
        </p:nvSpPr>
        <p:spPr>
          <a:xfrm>
            <a:off x="1047750" y="66294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76312" y="678180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第五段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2724150" y="6744444"/>
            <a:ext cx="746554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收在 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一个动作 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 </a:t>
            </a:r>
            <a:pPr algn="l" indent="0" marL="0">
              <a:lnSpc>
                <a:spcPct val="108750"/>
              </a:lnSpc>
              <a:buNone/>
            </a:pPr>
            <a:r>
              <a:rPr lang="en-US" sz="24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出门先把它摘下来，甩到肩上</a:t>
            </a:r>
            <a:endParaRPr lang="en-US" sz="2475" dirty="0"/>
          </a:p>
        </p:txBody>
      </p:sp>
      <p:sp>
        <p:nvSpPr>
          <p:cNvPr id="22" name="Shape 19"/>
          <p:cNvSpPr/>
          <p:nvPr/>
        </p:nvSpPr>
        <p:spPr>
          <a:xfrm>
            <a:off x="1047750" y="7962900"/>
            <a:ext cx="16192500" cy="990600"/>
          </a:xfrm>
          <a:prstGeom prst="roundRect">
            <a:avLst>
              <a:gd name="adj" fmla="val 17308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66850" y="8229600"/>
            <a:ext cx="16889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这一整篇里，有没有写过一句“我很喜欢这个包”？——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一次也没有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，可你们依然感受得到。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默读一遍再找一找：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哪一句你读着读着，眼前就浮现出这个包的样子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22439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12481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把挑出的句子摆一起——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这一句在做什么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6200775"/>
          </a:xfrm>
          <a:prstGeom prst="roundRect">
            <a:avLst>
              <a:gd name="adj" fmla="val 2151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996638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1325225" y="28670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639550" y="3038475"/>
            <a:ext cx="54635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这一句在做什么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590925"/>
            <a:ext cx="16173450" cy="10858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781425"/>
            <a:ext cx="996638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它两个下角早磨白了，表层的布都快磨破了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1325225" y="3590925"/>
            <a:ext cx="9525" cy="10858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639550" y="3781425"/>
            <a:ext cx="546354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写样子，挑的是用过的痕迹，不是买来就有的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676775"/>
            <a:ext cx="1617345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867275"/>
            <a:ext cx="99663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右边侧袋破了一个洞，起先只有指甲盖那么大，现在能塞进一只拳头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1325225" y="4676775"/>
            <a:ext cx="9525" cy="7334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639550" y="4867275"/>
            <a:ext cx="54635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同一处前后一对比，年头就出来了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5410200"/>
            <a:ext cx="16173450" cy="10858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600700"/>
            <a:ext cx="996638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针脚一会儿密一会儿疏，歪歪扭扭地爬过去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1325225" y="5410200"/>
            <a:ext cx="9525" cy="10858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639550" y="5600700"/>
            <a:ext cx="546354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这道线别人那个包上没有，是独属于它的地方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6496050"/>
            <a:ext cx="1617345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686550"/>
            <a:ext cx="99663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背带“啪”地一声断了，包包从肩上滑下来，砸到地上，书撒了一地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1325225" y="6496050"/>
            <a:ext cx="9525" cy="7334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639550" y="6686550"/>
            <a:ext cx="54635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记录最紧张的一刻，声音、画面都写出来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7229475"/>
            <a:ext cx="16173450" cy="7334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7419975"/>
            <a:ext cx="99663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我从鞋上抽了根鞋带，把断掉的两端扎牢，打了个死结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1325225" y="7229475"/>
            <a:ext cx="9525" cy="7334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1639550" y="7419975"/>
            <a:ext cx="54635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一连串动作，写出舍不得丢掉它的心情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7962900"/>
            <a:ext cx="16173450" cy="1085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8153400"/>
            <a:ext cx="996638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出门的时候，我总是先把它从挂钩上摘下来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11325225" y="7962900"/>
            <a:ext cx="9525" cy="10858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1639550" y="8153400"/>
            <a:ext cx="546354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一个日常的小动作，悄悄流露藏在心底的喜爱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你手上已经有三样东西：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选定的那一件、填好的构思表、口头说通的几句话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。休息回来动笔。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写下开头几句 · 自由写作 · 传稿互读 · 心爱之物展览会 · 修改收束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写作热身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40164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31979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第一栏连成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开头一句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，第二栏挑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一处细节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1546622"/>
          </a:xfrm>
          <a:prstGeom prst="roundRect">
            <a:avLst>
              <a:gd name="adj" fmla="val 1108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85900" y="3048000"/>
            <a:ext cx="15775686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老师表上填的是“深灰帆布包·背了九年”，连起来就是——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“门后的挂钩上，常年挂着一只深灰色的帆布包。” 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空两格，写在第一行。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7750" y="4286250"/>
            <a:ext cx="877097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第二栏只挑一个关键词，写三四句话——三个角度任选其一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47750" y="4953000"/>
            <a:ext cx="5168801" cy="2667000"/>
          </a:xfrm>
          <a:prstGeom prst="roundRect">
            <a:avLst>
              <a:gd name="adj" fmla="val 642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62075" y="5248275"/>
            <a:ext cx="49941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颜色形状大小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362075" y="5781675"/>
            <a:ext cx="467635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只写这一处的颜色、形状、大小，不要把整件东西从头写到尾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6559451" y="4953000"/>
            <a:ext cx="5168950" cy="2667000"/>
          </a:xfrm>
          <a:prstGeom prst="roundRect">
            <a:avLst>
              <a:gd name="adj" fmla="val 642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73776" y="5248275"/>
            <a:ext cx="49943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它是怎么形成的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873776" y="5781675"/>
            <a:ext cx="467650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是磨损留下的印记、一道划痕、一处缺口，还是后来修补过的痕迹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2071300" y="4953000"/>
            <a:ext cx="5168950" cy="2667000"/>
          </a:xfrm>
          <a:prstGeom prst="roundRect">
            <a:avLst>
              <a:gd name="adj" fmla="val 642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2385625" y="5248275"/>
            <a:ext cx="49943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· 摸上去什么感觉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2385625" y="5781675"/>
            <a:ext cx="467650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手摸上去的触感；有特别的气味或声响也可以加上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写完读一遍——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只看这一小段，别人能不能认出这就是你那一件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9740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33512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一口气写完整篇——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记住三件事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1435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3390900"/>
            <a:ext cx="48196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28750" y="4343400"/>
            <a:ext cx="451294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重点写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专属的痕迹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，不用面面俱到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6572250" y="3048000"/>
            <a:ext cx="51435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53250" y="3390900"/>
            <a:ext cx="48196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953250" y="4343400"/>
            <a:ext cx="451294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中间写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一件亲身经历的往事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，把经过写具体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2096750" y="3048000"/>
            <a:ext cx="51435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477750" y="3390900"/>
            <a:ext cx="48196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77750" y="4343400"/>
            <a:ext cx="451294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抒情可以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藏在细节里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，不用直白写“我很喜欢它”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047750" y="8239125"/>
            <a:ext cx="1265586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结尾可以参考老师的范文，用你平时和它相处的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一个小动作 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收尾。写的时候不用回头改错别字和语句，先专心把整篇写完。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3452277" y="8791575"/>
            <a:ext cx="3787973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833277" y="8982075"/>
            <a:ext cx="332857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大约写 20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46159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48573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稿子朝同一个方向传——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邻座只读“样子”那一段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3337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81350"/>
            <a:ext cx="9536049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读的时候只判断一件事：这是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随便哪一件同款都有的普通样子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，还是只属于他这一件的独特痕迹？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63272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480322"/>
            <a:ext cx="803345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在稿子末尾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写下一句自己的感受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，再传回原作者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5282208"/>
            <a:ext cx="9620250" cy="1419225"/>
          </a:xfrm>
          <a:prstGeom prst="roundRect">
            <a:avLst>
              <a:gd name="adj" fmla="val 1208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47800" y="5548908"/>
            <a:ext cx="908475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拿回自己的稿子：一眼能看出独一无二，说明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外形描写抓得准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；读起来和普通物品没区别，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那就是接下来要改的地方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3352800"/>
            <a:ext cx="4953000" cy="476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49845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12628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心爱之物展览会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——开场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9536049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上台的同学不用读整篇——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只读开头，和你跟它那件事的那一段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61367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461272"/>
            <a:ext cx="878783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台下听完说两点：一、你记住了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它哪一处独特的细节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543460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282208"/>
            <a:ext cx="765626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二、你从字里感受到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这件东西对他的什么意义</a:t>
            </a:r>
            <a:endParaRPr lang="en-US" sz="2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95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939087"/>
            <a:ext cx="16192500" cy="1014413"/>
          </a:xfrm>
          <a:prstGeom prst="roundRect">
            <a:avLst>
              <a:gd name="adj" fmla="val 16901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66850" y="8224837"/>
            <a:ext cx="1688973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东西一样没搬来——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听的人能说出它长什么样、说出它为什么偏偏是他的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，这一篇就顶替了实物。</a:t>
            </a:r>
            <a:endParaRPr lang="en-US" sz="2325" dirty="0"/>
          </a:p>
        </p:txBody>
      </p:sp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每排推选一位，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老师随机请三位上台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61992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15989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先给自己 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定一个档位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16192500" cy="976312"/>
          </a:xfrm>
          <a:prstGeom prst="roundRect">
            <a:avLst>
              <a:gd name="adj" fmla="val 975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2952750"/>
            <a:ext cx="76200" cy="976312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47800" y="3219450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写完整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它是什么、什么样子、怎么来的，都写清楚了；文章结构齐全、内容通顺。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4176712"/>
            <a:ext cx="16192500" cy="976312"/>
          </a:xfrm>
          <a:prstGeom prst="roundRect">
            <a:avLst>
              <a:gd name="adj" fmla="val 9756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047750" y="4176712"/>
            <a:ext cx="76200" cy="976312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47800" y="4443413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写具体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写出了物品独一无二的专属痕迹，不堆砌通用外形；完整讲述一件和它相关的往事，经过写得细致清楚。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047750" y="5400675"/>
            <a:ext cx="16192500" cy="976312"/>
          </a:xfrm>
          <a:prstGeom prst="roundRect">
            <a:avLst>
              <a:gd name="adj" fmla="val 9756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047750" y="5400675"/>
            <a:ext cx="76200" cy="9763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447800" y="5667375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写得打动人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依靠细节和故事寄托情感，读者读完就能体会到这件物品的珍贵、感受到真挚心意。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1047750" y="7477125"/>
            <a:ext cx="16192500" cy="1381125"/>
          </a:xfrm>
          <a:prstGeom prst="roundRect">
            <a:avLst>
              <a:gd name="adj" fmla="val 1103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28750" y="7724775"/>
            <a:ext cx="1589341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再判断一句：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同样写滑板——“它是深蓝色的，板面长八十厘米” 和 “板尾的漆磨掉了一大片，露出底下的木头”，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你更相信哪一句是作者专属的滑板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磨损的痕迹，是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作者独一无二的经历印记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——商店里写不出这一句。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37745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99318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照着标准改——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重点三处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58491" y="296227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905000" y="2914650"/>
            <a:ext cx="971264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改外形段落：</a:t>
            </a:r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颜色、大小一句带过，多添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磨损的边角、细小的缺口、修补的印记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1052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58491" y="4210050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05000" y="4162425"/>
            <a:ext cx="971264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改叙事段落：</a:t>
            </a:r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只有结果、缺少过程的，补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一两句关键动作、场景细节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53530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58491" y="5457825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905000" y="5410200"/>
            <a:ext cx="971264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改抒情句子：</a:t>
            </a:r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“我很喜欢它”“它对我很重要”试着删掉，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改用细节和故事传递 </a:t>
            </a:r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（保留也可以）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1047750" y="66008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258491" y="6705600"/>
            <a:ext cx="2641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905000" y="6657975"/>
            <a:ext cx="7637975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再看结尾：</a:t>
            </a:r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是否落在你和它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日常相处的一个小动作 </a:t>
            </a:r>
            <a:pPr algn="l" indent="0" marL="0">
              <a:lnSpc>
                <a:spcPct val="112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11525250" y="2857500"/>
            <a:ext cx="6286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最后用修改符号梳理全文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1525250" y="3467100"/>
            <a:ext cx="5715000" cy="1192411"/>
          </a:xfrm>
          <a:prstGeom prst="roundRect">
            <a:avLst>
              <a:gd name="adj" fmla="val 1118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811000" y="3676650"/>
            <a:ext cx="529780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删除号 </a:t>
            </a:r>
            <a:pPr algn="l" indent="0" marL="0">
              <a:lnSpc>
                <a:spcPct val="104103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多写或写错的字，用一道横线划掉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11525250" y="4850011"/>
            <a:ext cx="5715000" cy="1192411"/>
          </a:xfrm>
          <a:prstGeom prst="roundRect">
            <a:avLst>
              <a:gd name="adj" fmla="val 1118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811000" y="5059561"/>
            <a:ext cx="529780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增补号 </a:t>
            </a:r>
            <a:pPr algn="l" indent="0" marL="0">
              <a:lnSpc>
                <a:spcPct val="104103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两字间加字，画朝上的尖记号，字写在尖上方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1525250" y="6232922"/>
            <a:ext cx="5715000" cy="1192411"/>
          </a:xfrm>
          <a:prstGeom prst="roundRect">
            <a:avLst>
              <a:gd name="adj" fmla="val 1118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1811000" y="6442472"/>
            <a:ext cx="529780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改正号 </a:t>
            </a:r>
            <a:pPr algn="l" indent="0" marL="0">
              <a:lnSpc>
                <a:spcPct val="104103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写错的字划掉，在旁边写上正确的字</a:t>
            </a:r>
            <a:endParaRPr lang="en-US" sz="2175" dirty="0"/>
          </a:p>
        </p:txBody>
      </p:sp>
      <p:sp>
        <p:nvSpPr>
          <p:cNvPr id="26" name="Text 23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还没写完的同学：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先补完正文，再重点优化一处核心细节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81764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7738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写一件物品——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这套写法以后都用得上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4480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295650"/>
            <a:ext cx="709359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不堆砌通用外形，抓住它 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独有的专属痕迹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1047750" y="433863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186238"/>
            <a:ext cx="682150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搭配一件 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独一无二的专属往事 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寄托情感</a:t>
            </a:r>
            <a:endParaRPr lang="en-US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52292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076825"/>
            <a:ext cx="852868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不必直白抒情，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藏在细节里的心意，读者自然读懂</a:t>
            </a:r>
            <a:endParaRPr lang="en-US" sz="2775" dirty="0"/>
          </a:p>
        </p:txBody>
      </p:sp>
      <p:sp>
        <p:nvSpPr>
          <p:cNvPr id="13" name="Shape 10"/>
          <p:cNvSpPr/>
          <p:nvPr/>
        </p:nvSpPr>
        <p:spPr>
          <a:xfrm>
            <a:off x="1047750" y="6119813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5967413"/>
            <a:ext cx="891635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课后可以把习作放在那样东西旁边，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或者读给家人听</a:t>
            </a:r>
            <a:endParaRPr lang="en-US" sz="277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3429000"/>
            <a:ext cx="4953000" cy="4762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这套写法，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后续写景物、写人物同样适用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625185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28750" y="1562100"/>
            <a:ext cx="86495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 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71750"/>
            <a:ext cx="139260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 2–3 篇当堂稿子，对着本课三条技法各挑一类；不具名、不排名次；＿＿＿处换成本班真实句子。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24802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4E9A57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248025"/>
            <a:ext cx="5162550" cy="762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3975" y="34385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三条都做到了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3430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样子挑了独一份的几处、有一件因为它才发生的事、全篇没直说喜欢。 念他写样子和写事的那一两句——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这几个字从他那一件身上长出来，换到别人那件安不上去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655320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562725" y="324802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E0A43B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48025"/>
            <a:ext cx="5162550" cy="762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29425" y="34385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事写出来了，样子还停在尺寸上</a:t>
            </a:r>
            <a:endParaRPr lang="en-US" sz="2250" dirty="0"/>
          </a:p>
        </p:txBody>
      </p:sp>
      <p:sp>
        <p:nvSpPr>
          <p:cNvPr id="17" name="Text 12"/>
          <p:cNvSpPr/>
          <p:nvPr/>
        </p:nvSpPr>
        <p:spPr>
          <a:xfrm>
            <a:off x="684847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那件事写得好，可写样子那一句放到商店同款上一个字都不用改。 全班帮他改：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换成它身上那处磨的、缺的、补过的地方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——前后就接上了。</a:t>
            </a:r>
            <a:endParaRPr lang="en-US" sz="2250" dirty="0"/>
          </a:p>
        </p:txBody>
      </p:sp>
      <p:sp>
        <p:nvSpPr>
          <p:cNvPr id="18" name="Shape 13"/>
          <p:cNvSpPr/>
          <p:nvPr/>
        </p:nvSpPr>
        <p:spPr>
          <a:xfrm>
            <a:off x="120586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2068175" y="324802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8175" y="3248025"/>
            <a:ext cx="5162550" cy="762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34875" y="34385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通篇在说很喜欢</a:t>
            </a:r>
            <a:endParaRPr lang="en-US" sz="2250" dirty="0"/>
          </a:p>
        </p:txBody>
      </p:sp>
      <p:sp>
        <p:nvSpPr>
          <p:cNvPr id="22" name="Text 16"/>
          <p:cNvSpPr/>
          <p:nvPr/>
        </p:nvSpPr>
        <p:spPr>
          <a:xfrm>
            <a:off x="123539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只念一句典型的直说喜欢的话，问全班：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把这一句划掉，剩下的还能不能让人看见这样东西？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补一处痕迹，或补一件因为它才发生的事。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三篇不分高下——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缺的是不一样的东西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：一篇差一处样子，一篇差一件事的经过，一篇两样都要补。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943100" y="3657600"/>
            <a:ext cx="12573000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3620750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样子挑独一份的那几处，事情挑因为它才有的那一件——喜欢不说出口。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2026-08-24T09:26:24Z</dcterms:created>
  <dcterms:modified xsi:type="dcterms:W3CDTF">2026-08-24T09:26:24Z</dcterms:modified>
</cp:coreProperties>
</file>