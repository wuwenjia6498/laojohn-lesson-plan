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571750"/>
            <a:ext cx="125730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围绕中心意思写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第五单元 · 校内同步写作（记事）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第五单元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一字唤事 · 学写法 · 中心选材表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35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26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先听老师读一段话：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这段话里藏着哪个字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048000"/>
            <a:ext cx="16192500" cy="2510433"/>
          </a:xfrm>
          <a:prstGeom prst="roundRect">
            <a:avLst>
              <a:gd name="adj" fmla="val 682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81150" y="3429000"/>
            <a:ext cx="15579471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47700" marL="0">
              <a:lnSpc>
                <a:spcPct val="136000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只杯子是外婆从老家带来的，杯口有一圈细细的金边。我拿它接水的时候手一滑，它在地上碎成了四瓣。我把碎片扫进簸箕，倒进垃圾桶，又拿一张报纸盖在上面。晚上外婆问杯子哪儿去了，我说不知道。那天夜里我翻来覆去，一闭上眼睛，就是那四瓣碎片和那张报纸。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666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6743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6724650"/>
            <a:ext cx="4238244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这段话里藏着的是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哪个字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9334500" y="666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504611" y="6743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86975" y="6724650"/>
            <a:ext cx="388505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你是从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听出来的？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这段话是老师围绕一个字写的，写的时候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把这个字藏了起来，从头到尾一次也没有说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624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85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再看最后一句：这是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“怕”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“悔”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2463998"/>
          </a:xfrm>
          <a:prstGeom prst="roundRect">
            <a:avLst>
              <a:gd name="adj" fmla="val 10824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5378648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378648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5900" y="3333750"/>
            <a:ext cx="7711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有同学说</a:t>
            </a:r>
            <a:endParaRPr lang="en-US" sz="2325" dirty="0"/>
          </a:p>
        </p:txBody>
      </p:sp>
      <p:sp>
        <p:nvSpPr>
          <p:cNvPr id="11" name="Text 7"/>
          <p:cNvSpPr/>
          <p:nvPr/>
        </p:nvSpPr>
        <p:spPr>
          <a:xfrm>
            <a:off x="1485900" y="3895725"/>
            <a:ext cx="7220712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67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是“怕”，他怕外婆知道。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1485900" y="4563368"/>
            <a:ext cx="771144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说得有道理：打碎杯子的时候，他确实是怕的。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9353550" y="2952750"/>
            <a:ext cx="7886700" cy="2463998"/>
          </a:xfrm>
          <a:prstGeom prst="roundRect">
            <a:avLst>
              <a:gd name="adj" fmla="val 6958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72650" y="3314700"/>
            <a:ext cx="77533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</a:t>
            </a:r>
            <a:endParaRPr lang="en-US" sz="2325" dirty="0"/>
          </a:p>
        </p:txBody>
      </p:sp>
      <p:sp>
        <p:nvSpPr>
          <p:cNvPr id="15" name="Text 11"/>
          <p:cNvSpPr/>
          <p:nvPr/>
        </p:nvSpPr>
        <p:spPr>
          <a:xfrm>
            <a:off x="9772650" y="3876675"/>
            <a:ext cx="7259955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67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那天夜里我翻来覆去，一闭上眼睛，就是 </a:t>
            </a:r>
            <a:pPr algn="l" indent="0" marL="0">
              <a:lnSpc>
                <a:spcPct val="124667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那四瓣碎片和那张报纸 </a:t>
            </a:r>
            <a:pPr algn="l" indent="0" marL="0">
              <a:lnSpc>
                <a:spcPct val="124667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550" dirty="0"/>
          </a:p>
        </p:txBody>
      </p:sp>
      <p:sp>
        <p:nvSpPr>
          <p:cNvPr id="16" name="Shape 12"/>
          <p:cNvSpPr/>
          <p:nvPr/>
        </p:nvSpPr>
        <p:spPr>
          <a:xfrm>
            <a:off x="1047750" y="6438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409700" y="6286500"/>
            <a:ext cx="8434387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杯子已经扫掉了，外婆也没有发现，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他还是睡不着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25" dirty="0"/>
          </a:p>
        </p:txBody>
      </p:sp>
      <p:sp>
        <p:nvSpPr>
          <p:cNvPr id="18" name="Shape 14"/>
          <p:cNvSpPr/>
          <p:nvPr/>
        </p:nvSpPr>
        <p:spPr>
          <a:xfrm>
            <a:off x="1047750" y="713184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09700" y="6979444"/>
            <a:ext cx="1026795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已经没有人知道了，他还是睡不着，这是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悔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：他不该说不知道。</a:t>
            </a:r>
            <a:endParaRPr lang="en-US" sz="2625" dirty="0"/>
          </a:p>
        </p:txBody>
      </p:sp>
      <p:sp>
        <p:nvSpPr>
          <p:cNvPr id="20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老师从头到尾没有写“悔”这个字，大家却都读出来了。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这就是这次习作要做的事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这次习作：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选一个字，围绕它写一篇文章</a:t>
            </a:r>
            <a:endParaRPr lang="en-US" sz="32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5143500" cy="5524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67500" y="2857500"/>
            <a:ext cx="10572750" cy="1371600"/>
          </a:xfrm>
          <a:prstGeom prst="roundRect">
            <a:avLst>
              <a:gd name="adj" fmla="val 1111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029450" y="3086100"/>
            <a:ext cx="1014431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课文《盼》围绕“盼”字，写出了“我”的种种表现。选择一个你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感受最深的汉字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，写一篇习作。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6675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532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77343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0200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88011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0868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泪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98679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01536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</a:t>
            </a:r>
            <a:endParaRPr lang="en-US" sz="2700" dirty="0"/>
          </a:p>
        </p:txBody>
      </p:sp>
      <p:sp>
        <p:nvSpPr>
          <p:cNvPr id="18" name="Shape 14"/>
          <p:cNvSpPr/>
          <p:nvPr/>
        </p:nvSpPr>
        <p:spPr>
          <a:xfrm>
            <a:off x="109347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12204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悔</a:t>
            </a:r>
            <a:endParaRPr lang="en-US" sz="2700" dirty="0"/>
          </a:p>
        </p:txBody>
      </p:sp>
      <p:sp>
        <p:nvSpPr>
          <p:cNvPr id="20" name="Shape 16"/>
          <p:cNvSpPr/>
          <p:nvPr/>
        </p:nvSpPr>
        <p:spPr>
          <a:xfrm>
            <a:off x="120015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22872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</a:t>
            </a:r>
            <a:endParaRPr lang="en-US" sz="2700" dirty="0"/>
          </a:p>
        </p:txBody>
      </p:sp>
      <p:sp>
        <p:nvSpPr>
          <p:cNvPr id="22" name="Shape 18"/>
          <p:cNvSpPr/>
          <p:nvPr/>
        </p:nvSpPr>
        <p:spPr>
          <a:xfrm>
            <a:off x="130683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33540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</a:t>
            </a:r>
            <a:endParaRPr lang="en-US" sz="2700" dirty="0"/>
          </a:p>
        </p:txBody>
      </p:sp>
      <p:sp>
        <p:nvSpPr>
          <p:cNvPr id="24" name="Shape 20"/>
          <p:cNvSpPr/>
          <p:nvPr/>
        </p:nvSpPr>
        <p:spPr>
          <a:xfrm>
            <a:off x="141351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44208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妙</a:t>
            </a:r>
            <a:endParaRPr lang="en-US" sz="2700" dirty="0"/>
          </a:p>
        </p:txBody>
      </p:sp>
      <p:sp>
        <p:nvSpPr>
          <p:cNvPr id="26" name="Shape 22"/>
          <p:cNvSpPr/>
          <p:nvPr/>
        </p:nvSpPr>
        <p:spPr>
          <a:xfrm>
            <a:off x="152019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54876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</a:t>
            </a:r>
            <a:endParaRPr lang="en-US" sz="2700" dirty="0"/>
          </a:p>
        </p:txBody>
      </p:sp>
      <p:sp>
        <p:nvSpPr>
          <p:cNvPr id="28" name="Shape 24"/>
          <p:cNvSpPr/>
          <p:nvPr/>
        </p:nvSpPr>
        <p:spPr>
          <a:xfrm>
            <a:off x="162687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6554450" y="466725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2700" dirty="0"/>
          </a:p>
        </p:txBody>
      </p:sp>
      <p:sp>
        <p:nvSpPr>
          <p:cNvPr id="30" name="Shape 26"/>
          <p:cNvSpPr/>
          <p:nvPr/>
        </p:nvSpPr>
        <p:spPr>
          <a:xfrm>
            <a:off x="6667500" y="5400675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953250" y="5534025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</a:t>
            </a:r>
            <a:endParaRPr lang="en-US" sz="2700" dirty="0"/>
          </a:p>
        </p:txBody>
      </p:sp>
      <p:sp>
        <p:nvSpPr>
          <p:cNvPr id="32" name="Shape 28"/>
          <p:cNvSpPr/>
          <p:nvPr/>
        </p:nvSpPr>
        <p:spPr>
          <a:xfrm>
            <a:off x="7734300" y="5400675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020050" y="5534025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</a:t>
            </a:r>
            <a:endParaRPr lang="en-US" sz="2700" dirty="0"/>
          </a:p>
        </p:txBody>
      </p:sp>
      <p:sp>
        <p:nvSpPr>
          <p:cNvPr id="34" name="Shape 30"/>
          <p:cNvSpPr/>
          <p:nvPr/>
        </p:nvSpPr>
        <p:spPr>
          <a:xfrm>
            <a:off x="6667500" y="66103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7029450" y="6457950"/>
            <a:ext cx="641223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可以从这十二个字里选，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也可以选别的字</a:t>
            </a:r>
            <a:endParaRPr lang="en-US" sz="2550" dirty="0"/>
          </a:p>
        </p:txBody>
      </p:sp>
      <p:sp>
        <p:nvSpPr>
          <p:cNvPr id="36" name="Shape 32"/>
          <p:cNvSpPr/>
          <p:nvPr/>
        </p:nvSpPr>
        <p:spPr>
          <a:xfrm>
            <a:off x="6667500" y="728945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7029450" y="7137053"/>
            <a:ext cx="748093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可以写生活中发生过的事，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也可以写想象的故事</a:t>
            </a:r>
            <a:endParaRPr lang="en-US" sz="2550" dirty="0"/>
          </a:p>
        </p:txBody>
      </p:sp>
      <p:sp>
        <p:nvSpPr>
          <p:cNvPr id="38" name="Text 3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要求只有一件事：选一个你感受最深的字，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围绕它写一篇文章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。老师刚才那一段，选的是“悔”。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这一篇写成了没有，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让同学读出你的字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81350"/>
            <a:ext cx="962434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写完以后，把稿子里写得最具体的那一段读给同学听：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不报题目，不说那个字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5243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6005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562475"/>
            <a:ext cx="962434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第二节课的后半段，四人一组轮着读；听的人把读出的字写在纸上，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写完同时亮出来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905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981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943600"/>
            <a:ext cx="962434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听的人写的字和你选的一样，或者意思很近，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这一篇就写成了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；写出来的字五花八门，就要接着改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4572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像老师刚才那样，不说那个字，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让听的人自己读出来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先试一试：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一个字能从心里带出什么事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048000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276600"/>
            <a:ext cx="1593265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老师说一个字，不用举手，先想一想，再在稿纸角上写下这个字让你想起的第一件事：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只写几个关键词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，带上当时看见的一件实物，或者听见的一句话。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667250"/>
            <a:ext cx="1619250" cy="2483495"/>
          </a:xfrm>
          <a:prstGeom prst="roundRect">
            <a:avLst>
              <a:gd name="adj" fmla="val 10588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0175" y="5304086"/>
            <a:ext cx="990600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</a:t>
            </a:r>
            <a:endParaRPr lang="en-US" sz="7200" dirty="0"/>
          </a:p>
        </p:txBody>
      </p:sp>
      <p:sp>
        <p:nvSpPr>
          <p:cNvPr id="12" name="Shape 9"/>
          <p:cNvSpPr/>
          <p:nvPr/>
        </p:nvSpPr>
        <p:spPr>
          <a:xfrm>
            <a:off x="2952750" y="4667250"/>
            <a:ext cx="5981700" cy="2483495"/>
          </a:xfrm>
          <a:prstGeom prst="roundRect">
            <a:avLst>
              <a:gd name="adj" fmla="val 690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257550" y="4914900"/>
            <a:ext cx="590931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同学们写下的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257550" y="5434905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过生日，蛋糕上的草莓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3257550" y="5968752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考了一百分，妈妈说的那句“行啊你”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3257550" y="6502598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外婆的桂花糖，黏牙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9353550" y="4667250"/>
            <a:ext cx="1619250" cy="2483495"/>
          </a:xfrm>
          <a:prstGeom prst="roundRect">
            <a:avLst>
              <a:gd name="adj" fmla="val 10588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705975" y="5304086"/>
            <a:ext cx="990600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</a:t>
            </a:r>
            <a:endParaRPr lang="en-US" sz="7200" dirty="0"/>
          </a:p>
        </p:txBody>
      </p:sp>
      <p:sp>
        <p:nvSpPr>
          <p:cNvPr id="19" name="Shape 16"/>
          <p:cNvSpPr/>
          <p:nvPr/>
        </p:nvSpPr>
        <p:spPr>
          <a:xfrm>
            <a:off x="11258550" y="4667250"/>
            <a:ext cx="5981700" cy="2483495"/>
          </a:xfrm>
          <a:prstGeom prst="roundRect">
            <a:avLst>
              <a:gd name="adj" fmla="val 690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563350" y="4914900"/>
            <a:ext cx="590931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同学们写下的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1563350" y="5434905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找猫，它躲在洗衣机后面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11563350" y="5968752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找钥匙，找了半个小时，在书包夹层里</a:t>
            </a:r>
            <a:endParaRPr lang="en-US" sz="2175" dirty="0"/>
          </a:p>
        </p:txBody>
      </p:sp>
      <p:sp>
        <p:nvSpPr>
          <p:cNvPr id="23" name="Text 20"/>
          <p:cNvSpPr/>
          <p:nvPr/>
        </p:nvSpPr>
        <p:spPr>
          <a:xfrm>
            <a:off x="11563350" y="6502598"/>
            <a:ext cx="590931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在操场上找掉了的校牌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写下来的都是自己身上发生过的事，每一件都带着一件具体的事物。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这就是一个字带出来的材料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定下自己的字，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写四五件事的关键词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81350"/>
            <a:ext cx="721090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定下自己的字：十二个字里的一个，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或者别的字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02431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100513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62413"/>
            <a:ext cx="942813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用三分钟，把这个字让你想起的事一件一件写在稿纸角上，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写四五件，多写不限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，同样只写关键词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4054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4816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43538"/>
            <a:ext cx="721090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想写想象故事的同学，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把想到的几个情节写下来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09700" y="8186738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只写了一两件？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问一问自己：这个字，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在家里、在学校、在路上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，各让你想起哪一件？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例如：我选“变”，弟弟以前一进门就抢电视，现在先写作业。材料先放在这里，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等一下要用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判断对比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81978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20797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两段话写同一天、同一个字：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读完哪一段，你能说出那个字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724400"/>
          </a:xfrm>
          <a:prstGeom prst="roundRect">
            <a:avLst>
              <a:gd name="adj" fmla="val 362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048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1533" y="3019425"/>
            <a:ext cx="83191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71875"/>
            <a:ext cx="7867650" cy="4000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57625"/>
            <a:ext cx="7436549" cy="2385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三我发烧了。早上量体温，三十八度五，妈妈给单位打了电话，说要请一天假。中午她煮了一锅白粥，我喝了两碗。下午没什么事，我靠在床上看了两集动画片，又睡了一觉。傍晚再量，三十七度二，妈妈说明天可以上学了。晚上爸爸下班回来，带回来一盒草莓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4724400"/>
          </a:xfrm>
          <a:prstGeom prst="roundRect">
            <a:avLst>
              <a:gd name="adj" fmla="val 362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048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37333" y="3019425"/>
            <a:ext cx="83191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571875"/>
            <a:ext cx="7867650" cy="4000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857625"/>
            <a:ext cx="7436549" cy="285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三我发烧了。妈妈的手先伸过来，手背贴在我额头上，比体温计还早知道我烧了。中午她端来一碗白粥，勺子搁在碗边，舀了一勺，先吹了两口，再递到我嘴边。下午手机响了一声，是同桌发来的语音：“今天的作业我帮你记好了，放你课桌洞里了。”傍晚再量体温，三十七度二。我把那条语音又听了一遍。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047750" y="233172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两段都是老师写的，字照旧藏着。默读，读完举手：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哪一段读完你能说出那个字？说出来的是哪个字？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1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79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第一段事事有数，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读的人却说不出这一天要说什么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701355"/>
          </a:xfrm>
          <a:prstGeom prst="roundRect">
            <a:avLst>
              <a:gd name="adj" fmla="val 463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162300"/>
            <a:ext cx="7837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第一段：每一件都有数，读出来的却各不相同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28750" y="3752850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两碗粥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吃饱了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28750" y="4300538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两集动画片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28750" y="4848225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一盒草莓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428750" y="5453063"/>
            <a:ext cx="783717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三件合在一起，读的人说不出这一天到底要说什么。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701355"/>
          </a:xfrm>
          <a:prstGeom prst="roundRect">
            <a:avLst>
              <a:gd name="adj" fmla="val 463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34550" y="3162300"/>
            <a:ext cx="7837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第二段：三处都落在同一个字上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734550" y="3752850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手背贴在我额头上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734550" y="4300538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舀了一勺，先吹了两口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34550" y="4848225"/>
            <a:ext cx="78371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同桌的语音，作业放在课桌洞里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734550" y="5453063"/>
            <a:ext cx="7338441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大家说的字差不多都落在“暖”上。老师写的字正是“暖”。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1047750" y="6572250"/>
            <a:ext cx="16192500" cy="1516261"/>
          </a:xfrm>
          <a:prstGeom prst="roundRect">
            <a:avLst>
              <a:gd name="adj" fmla="val 113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66850" y="6858000"/>
            <a:ext cx="1581492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这次习作要写的，就是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围绕一个字选材料 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：先定下这个字代表的中心意思，再看手里的每一件事，能不能让读的人从它这里读出这个字；能的留下，不能的去掉。写想象故事的同学也一样，每一个情节都问这一句。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课文《盼》整篇紧扣一个“盼”字，写的全是“我”盼着穿上新雨衣的种种表现，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没有一处走到别的地方去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5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73747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用教材上的一道题来练：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哪些材料能表现“戏迷爷爷”</a:t>
            </a:r>
            <a:endParaRPr lang="en-US" sz="32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5334000" cy="5524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0" y="2857500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124700" y="2990850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跑了几十里地去看戏</a:t>
            </a:r>
            <a:endParaRPr lang="en-US" sz="2325" dirty="0"/>
          </a:p>
        </p:txBody>
      </p:sp>
      <p:sp>
        <p:nvSpPr>
          <p:cNvPr id="10" name="Shape 6"/>
          <p:cNvSpPr/>
          <p:nvPr/>
        </p:nvSpPr>
        <p:spPr>
          <a:xfrm>
            <a:off x="6858000" y="3685580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124700" y="3818930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常给我们讲故事</a:t>
            </a:r>
            <a:endParaRPr lang="en-US" sz="2325" dirty="0"/>
          </a:p>
        </p:txBody>
      </p:sp>
      <p:sp>
        <p:nvSpPr>
          <p:cNvPr id="12" name="Shape 8"/>
          <p:cNvSpPr/>
          <p:nvPr/>
        </p:nvSpPr>
        <p:spPr>
          <a:xfrm>
            <a:off x="6858000" y="451365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124700" y="4647009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在爷爷的倡导下，街道组织了业余戏班子</a:t>
            </a:r>
            <a:endParaRPr lang="en-US" sz="2325" dirty="0"/>
          </a:p>
        </p:txBody>
      </p:sp>
      <p:sp>
        <p:nvSpPr>
          <p:cNvPr id="14" name="Shape 10"/>
          <p:cNvSpPr/>
          <p:nvPr/>
        </p:nvSpPr>
        <p:spPr>
          <a:xfrm>
            <a:off x="6858000" y="534173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24700" y="5475089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干活时会哼上两句流行歌曲</a:t>
            </a:r>
            <a:endParaRPr lang="en-US" sz="2325" dirty="0"/>
          </a:p>
        </p:txBody>
      </p:sp>
      <p:sp>
        <p:nvSpPr>
          <p:cNvPr id="16" name="Shape 12"/>
          <p:cNvSpPr/>
          <p:nvPr/>
        </p:nvSpPr>
        <p:spPr>
          <a:xfrm>
            <a:off x="6858000" y="616981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124700" y="6303169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边炒菜边做戏曲里的动作，把菜炒煳了</a:t>
            </a:r>
            <a:endParaRPr lang="en-US" sz="2325" dirty="0"/>
          </a:p>
        </p:txBody>
      </p:sp>
      <p:sp>
        <p:nvSpPr>
          <p:cNvPr id="18" name="Shape 14"/>
          <p:cNvSpPr/>
          <p:nvPr/>
        </p:nvSpPr>
        <p:spPr>
          <a:xfrm>
            <a:off x="6858000" y="6997898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124700" y="7131248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到文化馆拜师学戏</a:t>
            </a:r>
            <a:endParaRPr lang="en-US" sz="2325" dirty="0"/>
          </a:p>
        </p:txBody>
      </p:sp>
      <p:sp>
        <p:nvSpPr>
          <p:cNvPr id="20" name="Shape 16"/>
          <p:cNvSpPr/>
          <p:nvPr/>
        </p:nvSpPr>
        <p:spPr>
          <a:xfrm>
            <a:off x="6858000" y="7825978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24700" y="7959328"/>
            <a:ext cx="108337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每天看书到深夜</a:t>
            </a:r>
            <a:endParaRPr lang="en-US" sz="2325" dirty="0"/>
          </a:p>
        </p:txBody>
      </p:sp>
      <p:sp>
        <p:nvSpPr>
          <p:cNvPr id="22" name="Text 18"/>
          <p:cNvSpPr/>
          <p:nvPr/>
        </p:nvSpPr>
        <p:spPr>
          <a:xfrm>
            <a:off x="1047750" y="22860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先各自判断，能用的在心里记下序号。判断时只问一句：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读的人从这一条里，能不能读出“戏迷”两个字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四条留下，三条去掉，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还有一条可以改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867150"/>
          </a:xfrm>
          <a:prstGeom prst="roundRect">
            <a:avLst>
              <a:gd name="adj" fmla="val 44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048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1942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能读出“戏迷”，留下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718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19525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跑了几十里地去看戏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是迷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81125" y="4381500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组织了业余戏班子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是迷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81125" y="4943475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边炒菜边做戏曲动作，把菜炒煳了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也是迷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81125" y="5505450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到文化馆拜师学戏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是迷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353550" y="2857500"/>
            <a:ext cx="7886700" cy="3867150"/>
          </a:xfrm>
          <a:prstGeom prst="roundRect">
            <a:avLst>
              <a:gd name="adj" fmla="val 44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363075" y="2867025"/>
            <a:ext cx="7867650" cy="7048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67875" y="301942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读不出“戏迷”，去掉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63075" y="35718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686925" y="3819525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每天看书到深夜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写的是爱看书，不是迷戏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686925" y="4381500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哼流行歌曲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差了一点，哼的是戏才算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686925" y="4943475"/>
            <a:ext cx="79419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常给我们讲故事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读的人读不出讲的是戏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1047750" y="7048500"/>
            <a:ext cx="16192500" cy="1478161"/>
          </a:xfrm>
          <a:prstGeom prst="roundRect">
            <a:avLst>
              <a:gd name="adj" fmla="val 1159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66850" y="7315200"/>
            <a:ext cx="1581492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材料不合适，有时不是去掉，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改一改就能往中心上靠 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：“常给我们讲故事”改成“常给我们讲戏里的故事”，这一条就能用了。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教材说：“要选择合适的材料，突出中心意思。”课文《灯光》只写两件事，合在一起才让人读出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先烈的献身精神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0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留下的四条，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只能把一条写得最详细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，选哪一条？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362200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43025" y="3038475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跑几十里看戏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3600450" y="2857500"/>
            <a:ext cx="2066925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95725" y="3038475"/>
            <a:ext cx="16240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组织戏班子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5857875" y="2857500"/>
            <a:ext cx="5000625" cy="752475"/>
          </a:xfrm>
          <a:prstGeom prst="roundRect">
            <a:avLst>
              <a:gd name="adj" fmla="val 1772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143625" y="3028950"/>
            <a:ext cx="48720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边炒菜边做戏曲动作，把菜炒煳了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1049000" y="2857500"/>
            <a:ext cx="1771650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344275" y="3038475"/>
            <a:ext cx="1257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拜师学戏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4000500"/>
            <a:ext cx="1630546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选哪一条，理由都落在同一处：这一条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有没有动作、有没有结果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，能不能让人看见一个戏迷。炒菜那一条，菜煳了，有动作也有结果，最适合写具体。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1047750" y="530155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9700" y="5149155"/>
            <a:ext cx="1630546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选材料的第二步：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最能表现中心的那一条写具体，其余的一两句带过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。教材说：“重要的部分要写得详细、具体一些。”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1047750" y="6572250"/>
            <a:ext cx="7886700" cy="1700213"/>
          </a:xfrm>
          <a:prstGeom prst="roundRect">
            <a:avLst>
              <a:gd name="adj" fmla="val 896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52550" y="6800850"/>
            <a:ext cx="749541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《爸爸的计划》写几件事：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先罗列爸爸给每个人订的计划，再写两个典型事例，最后把订暑假计划写得最具体，整篇没有一句写爸爸别的事。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9353550" y="6572250"/>
            <a:ext cx="7886700" cy="1700213"/>
          </a:xfrm>
          <a:prstGeom prst="roundRect">
            <a:avLst>
              <a:gd name="adj" fmla="val 8964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658350" y="6800850"/>
            <a:ext cx="749541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《小站》写几个方面：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红榜、喷水池、杏树、月台上的人，一处一处写过去，最后落到给旅客带来温暖的春意上。</a:t>
            </a:r>
            <a:endParaRPr lang="en-US" sz="2175" dirty="0"/>
          </a:p>
        </p:txBody>
      </p:sp>
      <p:sp>
        <p:nvSpPr>
          <p:cNvPr id="23" name="Text 2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写几件事也可以，写几个方面也可以，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两条路都通向那一个字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76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81632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围绕一个字选材料，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334000"/>
          </a:xfrm>
          <a:prstGeom prst="roundRect">
            <a:avLst>
              <a:gd name="adj" fmla="val 3929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44955" y="4530179"/>
            <a:ext cx="5101590" cy="25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82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定中心 选材料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76600"/>
            <a:ext cx="583739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先用一句话定下这个字代表的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中心意思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8001000" y="415766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233863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195763"/>
            <a:ext cx="87413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把想到的材料一条一条问一遍：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读的人能不能从它这里读出这个字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；读不出的去掉，改一改能往中心上靠的就改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8001000" y="55768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171111" y="56530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753475" y="5614988"/>
            <a:ext cx="87413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留下的两三条里，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最能表现这个字的那一条写具体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，其余一两句带过</a:t>
            </a:r>
            <a:endParaRPr lang="en-US" sz="26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教材第二题的六个题目，闲不住的奶奶、弟弟变了，判断的办法和刚才一样，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课后可以自己想一想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中心选材表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中心选材表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6973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这张表就是刚才说的三件事。先看老师填的一张：老师选的字是“忙”，“初试身手”第二题里正好有一个“忙碌的早晨”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5305425"/>
          </a:xfrm>
          <a:prstGeom prst="roundRect">
            <a:avLst>
              <a:gd name="adj" fmla="val 251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81325"/>
            <a:ext cx="3101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4486275" y="28289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800600" y="2981325"/>
            <a:ext cx="74704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1896725" y="28289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211050" y="2981325"/>
            <a:ext cx="51863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能不能读出这个字 / 详或略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57275" y="351472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62075" y="3657600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我选的字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4486275" y="35147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00600" y="3657600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11896725" y="35147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57275" y="417195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62075" y="4314825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中心意思（一句话）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4486275" y="41719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4314825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我们家的忙，全挤在早上七点到七点二十这二十分钟里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11896725" y="41719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2211050" y="4314825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谁的忙，忙在哪里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482917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4972050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材料一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4486275" y="482917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800600" y="4972050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 · 肩膀夹着手机接电话 · 锅铲翻煎蛋 · 扎头发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1896725" y="482917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2211050" y="4972050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 · 详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1057275" y="548640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362075" y="5629275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材料二</a:t>
            </a:r>
            <a:endParaRPr lang="en-US" sz="2175" dirty="0"/>
          </a:p>
        </p:txBody>
      </p:sp>
      <p:sp>
        <p:nvSpPr>
          <p:cNvPr id="33" name="Shape 30"/>
          <p:cNvSpPr/>
          <p:nvPr/>
        </p:nvSpPr>
        <p:spPr>
          <a:xfrm>
            <a:off x="4486275" y="548640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800600" y="5629275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 · 找车钥匙 · 每天在一个新地方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11896725" y="548640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2211050" y="5629275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 · 略</a:t>
            </a:r>
            <a:endParaRPr lang="en-US" sz="2175" dirty="0"/>
          </a:p>
        </p:txBody>
      </p:sp>
      <p:sp>
        <p:nvSpPr>
          <p:cNvPr id="37" name="Shape 34"/>
          <p:cNvSpPr/>
          <p:nvPr/>
        </p:nvSpPr>
        <p:spPr>
          <a:xfrm>
            <a:off x="1057275" y="614362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362075" y="6286500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材料三</a:t>
            </a:r>
            <a:endParaRPr lang="en-US" sz="2175" dirty="0"/>
          </a:p>
        </p:txBody>
      </p:sp>
      <p:sp>
        <p:nvSpPr>
          <p:cNvPr id="39" name="Shape 36"/>
          <p:cNvSpPr/>
          <p:nvPr/>
        </p:nvSpPr>
        <p:spPr>
          <a:xfrm>
            <a:off x="4486275" y="61436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4800600" y="6286500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 · 一边刷牙一边背古诗 · 牙膏沫溅到书上</a:t>
            </a:r>
            <a:endParaRPr lang="en-US" sz="2175" dirty="0"/>
          </a:p>
        </p:txBody>
      </p:sp>
      <p:sp>
        <p:nvSpPr>
          <p:cNvPr id="41" name="Shape 38"/>
          <p:cNvSpPr/>
          <p:nvPr/>
        </p:nvSpPr>
        <p:spPr>
          <a:xfrm>
            <a:off x="11896725" y="614362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12211050" y="6286500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 · 略</a:t>
            </a:r>
            <a:endParaRPr lang="en-US" sz="2175" dirty="0"/>
          </a:p>
        </p:txBody>
      </p:sp>
      <p:sp>
        <p:nvSpPr>
          <p:cNvPr id="43" name="Shape 40"/>
          <p:cNvSpPr/>
          <p:nvPr/>
        </p:nvSpPr>
        <p:spPr>
          <a:xfrm>
            <a:off x="1057275" y="6800850"/>
            <a:ext cx="16173450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362075" y="6943725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材料四</a:t>
            </a:r>
            <a:endParaRPr lang="en-US" sz="2175" dirty="0"/>
          </a:p>
        </p:txBody>
      </p:sp>
      <p:sp>
        <p:nvSpPr>
          <p:cNvPr id="45" name="Shape 42"/>
          <p:cNvSpPr/>
          <p:nvPr/>
        </p:nvSpPr>
        <p:spPr>
          <a:xfrm>
            <a:off x="4486275" y="68008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00600" y="6943725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妈妈煎的蛋很好吃</a:t>
            </a:r>
            <a:endParaRPr lang="en-US" sz="2175" dirty="0"/>
          </a:p>
        </p:txBody>
      </p:sp>
      <p:sp>
        <p:nvSpPr>
          <p:cNvPr id="47" name="Shape 44"/>
          <p:cNvSpPr/>
          <p:nvPr/>
        </p:nvSpPr>
        <p:spPr>
          <a:xfrm>
            <a:off x="11896725" y="6800850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12211050" y="6943725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不能，读出的是好吃 · 去掉</a:t>
            </a:r>
            <a:endParaRPr lang="en-US" sz="2175" dirty="0"/>
          </a:p>
        </p:txBody>
      </p:sp>
      <p:sp>
        <p:nvSpPr>
          <p:cNvPr id="49" name="Shape 46"/>
          <p:cNvSpPr/>
          <p:nvPr/>
        </p:nvSpPr>
        <p:spPr>
          <a:xfrm>
            <a:off x="1057275" y="7458075"/>
            <a:ext cx="16173450" cy="6572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1362075" y="7600950"/>
            <a:ext cx="292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材料五</a:t>
            </a:r>
            <a:endParaRPr lang="en-US" sz="2175" dirty="0"/>
          </a:p>
        </p:txBody>
      </p:sp>
      <p:sp>
        <p:nvSpPr>
          <p:cNvPr id="51" name="Shape 48"/>
          <p:cNvSpPr/>
          <p:nvPr/>
        </p:nvSpPr>
        <p:spPr>
          <a:xfrm>
            <a:off x="4486275" y="745807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800600" y="7600950"/>
            <a:ext cx="7013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周六全家睡到九点</a:t>
            </a:r>
            <a:endParaRPr lang="en-US" sz="2175" dirty="0"/>
          </a:p>
        </p:txBody>
      </p:sp>
      <p:sp>
        <p:nvSpPr>
          <p:cNvPr id="53" name="Shape 50"/>
          <p:cNvSpPr/>
          <p:nvPr/>
        </p:nvSpPr>
        <p:spPr>
          <a:xfrm>
            <a:off x="11896725" y="7458075"/>
            <a:ext cx="9525" cy="6572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12211050" y="7600950"/>
            <a:ext cx="48748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不能，读出的是不忙 · 去掉</a:t>
            </a:r>
            <a:endParaRPr lang="en-US" sz="2175" dirty="0"/>
          </a:p>
        </p:txBody>
      </p:sp>
      <p:sp>
        <p:nvSpPr>
          <p:cNvPr id="55" name="Text 52"/>
          <p:cNvSpPr/>
          <p:nvPr/>
        </p:nvSpPr>
        <p:spPr>
          <a:xfrm>
            <a:off x="1047750" y="891540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第二行那一句是关键：字后面要有一句话说清楚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谁的忙，忙在哪里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。有了这一句，后面每一条材料才有依据可对。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中心选材表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轮到你了：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填自己的表，再和同桌互说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2990850"/>
            <a:ext cx="1590322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稿纸角上的事直接抄进材料几行。第二行那一句自己定，一时拿不定主意的，先写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“谁的什么”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，比如“弟弟的变”“奶奶的闲不住”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2005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2767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238625"/>
            <a:ext cx="1590322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逐条判断：读的人能不能从这一条读出这个字，能就写“能”，不能就写“去掉”，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改一改能往中心上靠的，把改法写在旁边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448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524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86400"/>
            <a:ext cx="874137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留下的材料里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选一条标“详”，其余标“略”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。给大家六分钟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638175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9700" y="6610350"/>
            <a:ext cx="159326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填好后和同桌互说，三分钟：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作者先说自己的字，再把留下的每一条材料读一遍；同桌每听一条，只答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“读得出”或者“读不出”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。答“读不出”的那一条，作者自己定：去掉，还是改。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填这张表，或者拟一个提纲，都可以；必须写在纸上的只有两样：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中心意思那一句，每一条材料后面的判断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表上材料一那一条，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在文章里写成了什么样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62263"/>
            <a:ext cx="2200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表上的关键词：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3238500" y="2762250"/>
            <a:ext cx="1028700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476625" y="2867025"/>
            <a:ext cx="628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4457700" y="2762250"/>
            <a:ext cx="296227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95825" y="2867025"/>
            <a:ext cx="2734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肩膀夹着手机接电话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7610475" y="2762250"/>
            <a:ext cx="185737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48600" y="2867025"/>
            <a:ext cx="1519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锅铲翻煎蛋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9658350" y="2762250"/>
            <a:ext cx="130492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896475" y="2867025"/>
            <a:ext cx="9048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扎头发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47750" y="3619500"/>
            <a:ext cx="16192500" cy="2919264"/>
          </a:xfrm>
          <a:prstGeom prst="roundRect">
            <a:avLst>
              <a:gd name="adj" fmla="val 587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524000" y="3905250"/>
            <a:ext cx="15697200" cy="2385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七点刚过，厨房里同时响着三样声音：油锅里鸡蛋的滋啦声，妈妈的手机铃声，还有她冲着卧室喊我起床的声音。妈妈正煎着蛋，手机一响，她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把锅铲往锅沿上一搁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，腾出手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把手机夹在肩膀和耳朵中间，歪着头接起来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：“对，那份表我改过了。”两只手也没停，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把皮筋往头顶上一举，几下扎好了头发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。话说到一半，锅里的鸡蛋边上有点发黄了，她抽出一只手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把锅铲一翻，鸡蛋在锅里转了半圈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，正好翻了个面。等她把电话挂掉，头发也扎好了，鸡蛋也铲进盘子里，锅铲还搁在灶台上冒着热气。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这一整套动作，她早上做惯了，从来没有把鸡蛋煎糊过。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1047750" y="7524750"/>
            <a:ext cx="38100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485900" y="7524750"/>
            <a:ext cx="704088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表上只有十几个字，到了文章里，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长成了几句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353550" y="7524750"/>
            <a:ext cx="38100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791700" y="7524750"/>
            <a:ext cx="502920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文章里有、表上没有的，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详写，就是把这一条拆开，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一个动作一个动作写出来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；最后那一句是写到这里才想到的，表上没有。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726965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71584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老师填的那张表，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写成了一篇《忙》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581150" y="2533650"/>
            <a:ext cx="166382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我们家的忙，全挤在早上七点到七点二十这二十分钟里。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581150" y="2967038"/>
            <a:ext cx="1557947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七点刚过，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厨房里同时响着三样声音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：油锅里鸡蛋的滋啦声，妈妈的手机铃声，还有她冲着卧室喊我起床的声音。妈妈正煎着蛋，手机一响，她把锅铲往锅沿上一搁，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腾出手把手机夹在肩膀和耳朵中间，歪着头接起来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“对，那份表我改过了。”两只手也没停，把皮筋往头顶上一举，几下扎好了头发。话说到一半，锅里的鸡蛋边上有点发黄了，她抽出一只手把锅铲一翻，鸡蛋在锅里转了半圈，正好翻了个面。等她把电话挂掉，头发也扎好了，鸡蛋也铲进盘子里，锅铲还搁在灶台上冒着热气。这一整套动作，她早上做惯了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从来没有把鸡蛋煎糊过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581150" y="4471988"/>
            <a:ext cx="1557947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爸爸的忙，忙在找车钥匙上。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他的钥匙每天早上都在一个新地方：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前天落在沙发缝里，昨天在饭桌的报纸底下，今天又揣在了外套口袋里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。他一边四处翻找，嘴里念叨着“我明明放这儿了”，慌乱间还把外套穿反了。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581150" y="5262563"/>
            <a:ext cx="1557947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我呢，左手攥着牙刷，右手捧着语文书，一边刷牙，一边背诵《宿建德江》。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牙膏沫溅到书页上，我随手用袖子一抹，又接着往下背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。背到一半才猛然想起红领巾还没戴，昨天放学随手塞进书包，此刻从包底摸出来，已经皱成一团，我只好先塞进口袋，打算下楼之后边走边把它捋平整。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581150" y="6410325"/>
            <a:ext cx="166382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七点二十，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家门“咔哒”一声关上，方才屋里此起彼伏的喧闹瞬间归于安静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。三个人下楼的脚步声，一个比一个急促。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581150" y="6843713"/>
            <a:ext cx="1557947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我跟在最后，手插进外套口袋，摸到一个温温的东西。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是早上那个没来得及吃的煎鸡蛋，装在小小的保鲜袋里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，我竟完全没留意妈妈是什么时候悄悄塞进来的。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047750" y="9410700"/>
            <a:ext cx="2518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一句点出中心意思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3680073" y="9410700"/>
            <a:ext cx="44986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详写的一条：一个动作一个动作写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8112621" y="9410700"/>
            <a:ext cx="33670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略写的两条：一两句带过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1516469" y="9410700"/>
            <a:ext cx="2245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收住 · 回到中心</a:t>
            </a:r>
            <a:endParaRPr lang="en-US" sz="20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读完整篇，想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5180856"/>
          </a:xfrm>
          <a:prstGeom prst="roundRect">
            <a:avLst>
              <a:gd name="adj" fmla="val 330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200400"/>
            <a:ext cx="7299198" cy="140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爸爸和“我”这两条各只写了三句。如果把其中一条也写成妈妈那一段那么长，读起来会怎么样？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447800" y="4796135"/>
            <a:ext cx="779526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那就不知道谁最忙了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447800" y="5329982"/>
            <a:ext cx="779526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三个人平均了，读的人不知道该看谁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447800" y="5863828"/>
            <a:ext cx="779526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文章太长，忙反而散了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1447800" y="6492925"/>
            <a:ext cx="729919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三条都扣着“忙”，可是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只有一条写足，另外两条一两句带过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，读的人才知道该看谁。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5180856"/>
          </a:xfrm>
          <a:prstGeom prst="roundRect">
            <a:avLst>
              <a:gd name="adj" fmla="val 330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53600" y="3200400"/>
            <a:ext cx="729919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整篇读下来，哪一句让你像走进了他们家那个早晨？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9753600" y="4340423"/>
            <a:ext cx="779526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腾出手把手机夹在肩膀和耳朵中间，歪着头接起来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9753600" y="4874270"/>
            <a:ext cx="729919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前天落在沙发缝里，昨天在饭桌的报纸底下，今天又揣在了外套口袋里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9753600" y="5808613"/>
            <a:ext cx="729919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牙膏沫溅到书页上，我随手用袖子一抹，又接着往下背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9753600" y="6838206"/>
            <a:ext cx="729919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这几句里找不到“很忙”两个字，写的是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肩膀夹着手机的样子，是钥匙的三个地方，是牙膏沫溅到书上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表上去掉的两条，煎蛋好吃和周六睡到九点，文章里也没有回来；结尾那个煎蛋，写的还是忙，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不是写好吃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68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73763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字要让人读出来，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靠的是这样的句子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，动笔时可以对照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353050"/>
          </a:xfrm>
          <a:prstGeom prst="roundRect">
            <a:avLst>
              <a:gd name="adj" fmla="val 249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97859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56322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877550" y="2924175"/>
            <a:ext cx="66532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这一句用了什么写法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5810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571875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我们家的忙，全挤在早上七点到七点二十这二十分钟里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563225" y="3457575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877550" y="3571875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开头一句点出中心意思：谁的忙，忙在什么时候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038600"/>
            <a:ext cx="1617345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152900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厨房里同时响着三样声音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563225" y="4038600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877550" y="4152900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三样声音一起来，忙是先听出来的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619625"/>
            <a:ext cx="16173450" cy="5810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733925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腾出手把手机夹在肩膀和耳朵中间，歪着头接起来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0563225" y="4619625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877550" y="4733925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详写：一个人做三件事，一个动作一个动作写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200650"/>
            <a:ext cx="1617345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314950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从来没有把鸡蛋煎糊过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0563225" y="5200650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877550" y="5314950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详写的最后一句：动作写完，用一句话收住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781675"/>
            <a:ext cx="16173450" cy="5810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5895975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爸爸的忙，忙在找车钥匙上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0563225" y="5781675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877550" y="5895975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略写：段首先点这一条写什么，只写这一件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362700"/>
            <a:ext cx="1617345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477000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前天落在沙发缝里，昨天在饭桌的报纸底下，今天又揣在了外套口袋里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0563225" y="6362700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0877550" y="6477000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略写也不能空着：三个地方，一句话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6943725"/>
            <a:ext cx="16173450" cy="5810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7058025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家门“咔哒”一声关上，方才屋里此起彼伏的喧闹瞬间归于安静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10563225" y="6943725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877550" y="7058025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开头的三样声音到这里一起收住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7524750"/>
            <a:ext cx="1617345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62075" y="7639050"/>
            <a:ext cx="91815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是早上那个没来得及吃的煎鸡蛋，装在小小的保鲜袋里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10563225" y="7524750"/>
            <a:ext cx="9525" cy="5810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877550" y="7639050"/>
            <a:ext cx="6248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结尾回到详写的那一条上，中心意思落回来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这几句里找不到“很忙”两个字，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字是靠动作、声音和地方让人读出来的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5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73747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教材给例文标的三条旁批，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和老师的表说的是同一件事</a:t>
            </a:r>
            <a:endParaRPr lang="en-US" sz="32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4762500" cy="3810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86500" y="285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456611" y="2933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038975" y="2895600"/>
            <a:ext cx="1000696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“罗列爸爸给每个人订的计划，突出了爸爸爱订计划的特点。”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先点出中心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6286500" y="35528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56611" y="36290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038975" y="3590925"/>
            <a:ext cx="76523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“两个典型的事例，让人印象深刻。”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几条材料都扣着它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6286500" y="42481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456611" y="43243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038975" y="4286250"/>
            <a:ext cx="82410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“订暑假计划这个事例，写得很具体。”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最后一条写得最具体</a:t>
            </a:r>
            <a:endParaRPr lang="en-US" sz="2250" dirty="0"/>
          </a:p>
        </p:txBody>
      </p:sp>
      <p:sp>
        <p:nvSpPr>
          <p:cNvPr id="17" name="Shape 13"/>
          <p:cNvSpPr/>
          <p:nvPr/>
        </p:nvSpPr>
        <p:spPr>
          <a:xfrm>
            <a:off x="1047750" y="7048500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315200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再看结尾。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老师停在了口袋里那个煎蛋上，没有再说一句“我们家真忙”；也可以在这个画面后面再加一句，直接说出自己对这二十分钟的感受。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两种收法都成立，选哪一种由作者自己决定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老师写的是想出来的一家人，大家写的是自己那个字、自己的事，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不必照老师的样子来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。中心选材表和稿纸放在一起，休息以后接着用。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先定两件事 · 自由写作 · 轮读猜字 · 同桌互读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拿出中心选材表，动笔之前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先定两件事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200400"/>
            <a:ext cx="77952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89"/>
              </a:lnSpc>
              <a:buNone/>
            </a:pPr>
            <a:r>
              <a:rPr lang="en-US" sz="5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447800" y="4057650"/>
            <a:ext cx="779526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从哪一句起笔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447800" y="4698653"/>
            <a:ext cx="779526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像老师那样，第一句就把中心意思说出来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447800" y="5227290"/>
            <a:ext cx="729919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先从详写那一条里选一个画面起笔，中心意思放到结尾再说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753600" y="3200400"/>
            <a:ext cx="77952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89"/>
              </a:lnSpc>
              <a:buNone/>
            </a:pPr>
            <a:r>
              <a:rPr lang="en-US" sz="5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9753600" y="4057650"/>
            <a:ext cx="779526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详写那一条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放在什么位置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753600" y="4698653"/>
            <a:ext cx="779526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放在最前面，读的人一开始就读出这个字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9753600" y="5227290"/>
            <a:ext cx="729919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放在最后，前面几条先把这个字铺出来，最后一条写足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47750" y="6953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9700" y="7181850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在表上详写那一条旁边写上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“前”或者“后”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，再在稿纸第一行把起笔的那一句写下来。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例如：第一句写“弟弟这个学期变了”，先说出来，后面三件事一件比一件明显。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两件事定下来，就接着往下写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接着起笔那一句往下写，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一条写一段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1002658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留下的材料一条写一段；标了“详”的那一条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把动作一个一个写出来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，其余两条一两句带过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047750" y="452437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371975"/>
            <a:ext cx="696753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开头或者结尾，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有一句话把中心意思说出来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534828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195888"/>
            <a:ext cx="1002658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篇幅五百字到六百字；中途碰到错字病句先放着，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一直写到结尾再说</a:t>
            </a:r>
            <a:endParaRPr lang="en-US" sz="26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048000"/>
            <a:ext cx="4953000" cy="3810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581900"/>
            <a:ext cx="16192500" cy="1276350"/>
          </a:xfrm>
          <a:prstGeom prst="roundRect">
            <a:avLst>
              <a:gd name="adj" fmla="val 1194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09700" y="7791450"/>
            <a:ext cx="159326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接不下去？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对着自己的表看，还有哪几条没有写到。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详写那一段只写了“妈妈很忙”？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问一问自己：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这时候这个人在做什么动作，身子朝着哪边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，选一处补进去。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047750" y="9252793"/>
            <a:ext cx="11525250" cy="500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09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写不完的，当堂至少把</a:t>
            </a:r>
            <a:pPr algn="l" indent="0" marL="0">
              <a:lnSpc>
                <a:spcPct val="105609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详写的那一条写完</a:t>
            </a:r>
            <a:pPr algn="l" indent="0" marL="0">
              <a:lnSpc>
                <a:spcPct val="105609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  <p:sp>
        <p:nvSpPr>
          <p:cNvPr id="17" name="Shape 13"/>
          <p:cNvSpPr/>
          <p:nvPr/>
        </p:nvSpPr>
        <p:spPr>
          <a:xfrm>
            <a:off x="12847439" y="8943975"/>
            <a:ext cx="4392811" cy="828675"/>
          </a:xfrm>
          <a:prstGeom prst="roundRect">
            <a:avLst>
              <a:gd name="adj" fmla="val 18391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228439" y="9115425"/>
            <a:ext cx="39938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25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四人一组轮读，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让同学读出你的字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2990850"/>
            <a:ext cx="962434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每人只读标了“详”的那一段：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不读题目，不读点出中心意思的那一句，不说那个字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2005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2767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238625"/>
            <a:ext cx="962434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同桌以外的两位听完，各自在稿纸角上写下读出的字，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写完同时亮出来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给作者看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448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524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86400"/>
            <a:ext cx="938888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同桌不猜，只记一件事：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哪一句让你听出了这个字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，读完告诉作者</a:t>
            </a:r>
            <a:endParaRPr lang="en-US" sz="247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2952750"/>
            <a:ext cx="4953000" cy="3238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572250"/>
            <a:ext cx="16192500" cy="1824038"/>
          </a:xfrm>
          <a:prstGeom prst="roundRect">
            <a:avLst>
              <a:gd name="adj" fmla="val 939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6819900"/>
            <a:ext cx="15814929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写出来的字和你选的一样，或者意思很近，比如“忙”和“急”，就算读出来了。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两位写的字都对不上？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先不要急着改：请两位听众各说一句，从哪一句读出了他写的字；作者自己判断，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是这一段没有写出这个字，还是写出来的其实是另一个字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每人读约一分钟，四个人轮完，各自看结果。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同桌互换稿子默读，做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两个记号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～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05300"/>
            <a:ext cx="77533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最让你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读出这个字的一句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，画一道波浪线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9353550" y="2952750"/>
            <a:ext cx="788670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33375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05300"/>
            <a:ext cx="725995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和这个字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关系不大的一句或者一段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，在旁边打一个问号；全篇没有这样的句子，一个问号也不打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685800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7086600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从头到尾默读一遍，给大家两分钟。读完把稿子传回作者。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记号是给作者看的：稿子上多了什么记号，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决定接下来改哪里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对照记号，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只改一处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；先看自己写到了哪一档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9429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三种情况，各自定下改哪里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48050"/>
            <a:ext cx="8572500" cy="1154311"/>
          </a:xfrm>
          <a:prstGeom prst="roundRect">
            <a:avLst>
              <a:gd name="adj" fmla="val 115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14450" y="3638550"/>
            <a:ext cx="828027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字没猜对，也没有波浪线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详写那一段还没有把字写出来：回到这一段，在他做事的地方补上两句，一句写动作，一句写这个动作的结果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4754761"/>
            <a:ext cx="8572500" cy="1154311"/>
          </a:xfrm>
          <a:prstGeom prst="roundRect">
            <a:avLst>
              <a:gd name="adj" fmla="val 115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14450" y="4945261"/>
            <a:ext cx="828027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有问号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打了问号的那一句或者那一段，先看能不能改一句，让它往中心意思上靠，靠不上就去掉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47750" y="6061472"/>
            <a:ext cx="8572500" cy="1154311"/>
          </a:xfrm>
          <a:prstGeom prst="roundRect">
            <a:avLst>
              <a:gd name="adj" fmla="val 115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14450" y="6251972"/>
            <a:ext cx="828027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字猜对了，也没有问号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看留下的两三条是不是一条详、其余略；三条差不多长的，把略写的压到两三句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191750" y="2857500"/>
            <a:ext cx="77533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我写到了哪一步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191750" y="3448050"/>
            <a:ext cx="7048500" cy="1154311"/>
          </a:xfrm>
          <a:prstGeom prst="roundRect">
            <a:avLst>
              <a:gd name="adj" fmla="val 825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191750" y="3448050"/>
            <a:ext cx="76200" cy="1154311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534650" y="3638550"/>
            <a:ext cx="66320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基础过关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我选定了一个字，围绕它写出了几件事，句子读得通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191750" y="4754761"/>
            <a:ext cx="7048500" cy="1154311"/>
          </a:xfrm>
          <a:prstGeom prst="roundRect">
            <a:avLst>
              <a:gd name="adj" fmla="val 8252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191750" y="4754761"/>
            <a:ext cx="76200" cy="1154311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534650" y="4945261"/>
            <a:ext cx="66320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良好达标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我留下的每一条材料都扣着那个字，听的人说得出我写的是哪个字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191750" y="6061472"/>
            <a:ext cx="7048500" cy="1154311"/>
          </a:xfrm>
          <a:prstGeom prst="roundRect">
            <a:avLst>
              <a:gd name="adj" fmla="val 825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191750" y="6061472"/>
            <a:ext cx="76200" cy="1154311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534650" y="6251972"/>
            <a:ext cx="66320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优秀进阶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我有一条写足了，动作一个接一个；其余的一两句带过；开头或者结尾有一句把中心意思说出来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只改这一处，三分钟；改完再用一分钟通读，多出来的字、漏掉的字、写错的字，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用修改符号就地改过来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单元导语里的一句话：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意犹帅也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9906000" cy="1371600"/>
          </a:xfrm>
          <a:prstGeom prst="roundRect">
            <a:avLst>
              <a:gd name="adj" fmla="val 12500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24000" y="3429000"/>
            <a:ext cx="92221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3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“无论诗歌与长行文字，俱以意为主。</a:t>
            </a:r>
            <a:pPr algn="l" indent="0" marL="0">
              <a:lnSpc>
                <a:spcPct val="123077"/>
              </a:lnSpc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意犹帅也</a:t>
            </a:r>
            <a:pPr algn="l" indent="0" marL="0">
              <a:lnSpc>
                <a:spcPct val="123077"/>
              </a:lnSpc>
              <a:buNone/>
            </a:pPr>
            <a:r>
              <a:rPr lang="en-US" sz="3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047750" y="49530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800600"/>
            <a:ext cx="88011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写文章，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中心意思是主帅，材料是兵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，兵都要听主帅的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573881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586413"/>
            <a:ext cx="660082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今天做的就是这件事：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先定主帅，再选兵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65246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372225"/>
            <a:ext cx="733425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把稿子交上来，中心选材表夹在稿子里一起交</a:t>
            </a:r>
            <a:endParaRPr lang="en-US" sz="262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0" y="3143250"/>
            <a:ext cx="5143500" cy="4762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围绕一个字选材料：一句话定下中心意思，材料一条一条问一遍，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最能表现它的那一条写足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66782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2–3 篇投屏（不具名），每篇约 3–5 分钟，只对两条：材料是不是每一条都扣着那个字，详写的那一条有没有写足。＿＿＿处换成本班学生的真实句子。</a:t>
            </a:r>
            <a:endParaRPr lang="en-US" sz="2175" dirty="0"/>
          </a:p>
        </p:txBody>
      </p:sp>
      <p:sp>
        <p:nvSpPr>
          <p:cNvPr id="8" name="Shape 5"/>
          <p:cNvSpPr/>
          <p:nvPr/>
        </p:nvSpPr>
        <p:spPr>
          <a:xfrm>
            <a:off x="1047750" y="352425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533775"/>
            <a:ext cx="5162550" cy="7239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7052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524375"/>
            <a:ext cx="4745926" cy="304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点出中心意思的那一句“＿＿＿”，字落在谁身上、什么时候，一句交代清楚。详写段“＿＿＿”一个动作接一个动作，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不用看题目也读得出那个字 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；略写的两条各几句，详略分得清。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6553200" y="352425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533775"/>
            <a:ext cx="5162550" cy="7239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7052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524375"/>
            <a:ext cx="4745926" cy="304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字读得出，材料也都扣得住，可是三条差不多长，读的人分不出作者最想让我们看哪一条。 全班帮他想：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哪一条最能看出那个字，该留足？另外两条压成两三句，可以怎么压？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2058650" y="352425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533775"/>
            <a:ext cx="5162550" cy="7239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7052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待改进的一篇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524375"/>
            <a:ext cx="4745926" cy="304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先听扣得住中心的一段，再听关系不大的一段。请大家判断：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这一段里，哪一句能让人读出那个字？ 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一句也找不到，这一段就游离在中心以外了：有能靠上的动作就留那一句，没有就整段去掉。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047750" y="891540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以后写任何一篇文章都是这样：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先定中心意思，再选材料，把最能表现它的那一条写足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。下一个单元写倡议书，理由也照这个思路选。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围绕一个字选材料：先定主帅，再选兵，最能表现它的那一条写足。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2026-09-22T04:03:02Z</dcterms:created>
  <dcterms:modified xsi:type="dcterms:W3CDTF">2026-09-22T04:03:02Z</dcterms:modified>
</cp:coreProperties>
</file>