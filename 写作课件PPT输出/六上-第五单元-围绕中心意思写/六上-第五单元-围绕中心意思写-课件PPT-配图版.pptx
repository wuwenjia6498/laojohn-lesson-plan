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6" r:id="rId28"/>
    <p:sldId id="280" r:id="rId29"/>
    <p:sldId id="281" r:id="rId30"/>
    <p:sldId id="282" r:id="rId31"/>
    <p:sldId id="283" r:id="rId32"/>
    <p:sldId id="285" r:id="rId3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jpeg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6.jpe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8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9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0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2.jpeg"/><Relationship Id="rId3" Type="http://schemas.openxmlformats.org/officeDocument/2006/relationships/image" Target="../media/image19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5.jpeg"/><Relationship Id="rId3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6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7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8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9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1589" y="323850"/>
            <a:ext cx="1668661" cy="628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7250" y="1143000"/>
            <a:ext cx="16573500" cy="5715000"/>
          </a:xfrm>
          <a:prstGeom prst="roundRect">
            <a:avLst>
              <a:gd name="adj" fmla="val 2667"/>
            </a:avLst>
          </a:prstGeom>
          <a:gradFill rotWithShape="1">
            <a:gsLst>
              <a:gs pos="0">
                <a:srgbClr val="EE7B2E">
                  <a:alpha val="100000"/>
                </a:srgbClr>
              </a:gs>
              <a:gs pos="42000">
                <a:srgbClr val="F0A63C">
                  <a:alpha val="100000"/>
                </a:srgbClr>
              </a:gs>
              <a:gs pos="100000">
                <a:srgbClr val="57B0A6">
                  <a:alpha val="100000"/>
                </a:srgbClr>
              </a:gs>
            </a:gsLst>
            <a:lin ang="900000" scaled="0"/>
          </a:gradFill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2952750" y="1428750"/>
            <a:ext cx="3429000" cy="3429000"/>
          </a:xfrm>
          <a:prstGeom prst="ellipse">
            <a:avLst/>
          </a:prstGeom>
          <a:solidFill>
            <a:srgbClr val="FFFFFF">
              <a:alpha val="10000"/>
            </a:srgbClr>
          </a:solidFill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5810250" y="4191000"/>
            <a:ext cx="4095750" cy="4095750"/>
          </a:xfrm>
          <a:prstGeom prst="ellipse">
            <a:avLst/>
          </a:prstGeom>
          <a:solidFill>
            <a:srgbClr val="FFFFFF">
              <a:alpha val="8000"/>
            </a:srgbClr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3810000" y="2571750"/>
            <a:ext cx="12573000" cy="14430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zh-CN" altLang="en-US" sz="8850" b="1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围绕中心意思写</a:t>
            </a:r>
            <a:endParaRPr lang="zh-CN" sz="8850" dirty="0"/>
          </a:p>
        </p:txBody>
      </p:sp>
      <p:sp>
        <p:nvSpPr>
          <p:cNvPr id="7" name="Text 4"/>
          <p:cNvSpPr/>
          <p:nvPr/>
        </p:nvSpPr>
        <p:spPr>
          <a:xfrm>
            <a:off x="3848100" y="4476750"/>
            <a:ext cx="11734800" cy="571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zh-CN" altLang="en-US" sz="30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六年级上册 · 第五单元 · 校内同步写作（记事）</a:t>
            </a:r>
            <a:endParaRPr lang="zh-CN" sz="3000" dirty="0"/>
          </a:p>
        </p:txBody>
      </p:sp>
      <p:sp>
        <p:nvSpPr>
          <p:cNvPr id="8" name="Shape 5"/>
          <p:cNvSpPr/>
          <p:nvPr/>
        </p:nvSpPr>
        <p:spPr>
          <a:xfrm>
            <a:off x="0" y="2857500"/>
            <a:ext cx="1066800" cy="13335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00"/>
            <a:ext cx="1066800" cy="133350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4039362"/>
            <a:ext cx="8229600" cy="62476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47750" y="8943975"/>
            <a:ext cx="3574956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55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六年级上册 · 第五单元</a:t>
            </a:r>
            <a:endParaRPr lang="zh-CN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solidFill>
            <a:srgbClr val="7F93B0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038350" y="3181350"/>
            <a:ext cx="6286500" cy="2119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2228850" y="5676900"/>
            <a:ext cx="14668500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4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写作指导课</a:t>
            </a:r>
            <a:endParaRPr lang="zh-CN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15716250" cy="4914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zh-CN" altLang="en-US" sz="2550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 · 一字唤事 · 学写法 · 中心选材表 · 教师示范文</a:t>
            </a:r>
            <a:endParaRPr lang="zh-CN" sz="2550" dirty="0"/>
          </a:p>
        </p:txBody>
      </p:sp>
      <p:sp>
        <p:nvSpPr>
          <p:cNvPr id="7" name="Shape 5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底带"/>
          <p:cNvSpPr/>
          <p:nvPr/>
        </p:nvSpPr>
        <p:spPr>
          <a:xfrm>
            <a:off x="0" y="2788920"/>
            <a:ext cx="18288000" cy="3703320"/>
          </a:xfrm>
          <a:prstGeom prst="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3E9F2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124712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先听老师读一段话：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这段话里藏着哪个字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47750" y="3048000"/>
            <a:ext cx="10058400" cy="3291840"/>
          </a:xfrm>
          <a:prstGeom prst="roundRect">
            <a:avLst>
              <a:gd name="adj" fmla="val 6829"/>
            </a:avLst>
          </a:prstGeom>
          <a:solidFill>
            <a:srgbClr val="F7F5F2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581150" y="3429000"/>
            <a:ext cx="9509760" cy="28346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647700" algn="l">
              <a:lnSpc>
                <a:spcPct val="136000"/>
              </a:lnSpc>
              <a:buNone/>
            </a:pPr>
            <a:r>
              <a:rPr lang="zh-CN" altLang="en-US" sz="25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那只杯子是外婆从老家带来的，杯口有一圈细细的金边。我拿它接水的时候手一滑，它在地上碎成了四瓣。我把碎片扫进簸箕，倒进垃圾桶，又拿一张报纸盖在上面。晚上外婆问杯子哪儿去了，我说不知道。那天夜里我翻来覆去，一闭上眼睛，就是那四瓣碎片和那张报纸。</a:t>
            </a:r>
            <a:endParaRPr lang="zh-CN" sz="2550" dirty="0"/>
          </a:p>
        </p:txBody>
      </p:sp>
      <p:sp>
        <p:nvSpPr>
          <p:cNvPr id="10" name="Shape 7"/>
          <p:cNvSpPr/>
          <p:nvPr/>
        </p:nvSpPr>
        <p:spPr>
          <a:xfrm>
            <a:off x="1047750" y="66675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6743700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6724650"/>
            <a:ext cx="4238244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这段话里藏着的是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哪个字</a:t>
            </a: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sz="2700" dirty="0"/>
          </a:p>
        </p:txBody>
      </p:sp>
      <p:sp>
        <p:nvSpPr>
          <p:cNvPr id="13" name="Shape 10"/>
          <p:cNvSpPr/>
          <p:nvPr/>
        </p:nvSpPr>
        <p:spPr>
          <a:xfrm>
            <a:off x="6225540" y="66675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95651" y="6743700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978015" y="6724650"/>
            <a:ext cx="3885057" cy="5351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你是从</a:t>
            </a: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哪一句</a:t>
            </a:r>
            <a:r>
              <a:rPr lang="zh-CN" altLang="en-US" sz="27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听出来的？</a:t>
            </a:r>
            <a:endParaRPr lang="zh-CN" sz="2700" dirty="0"/>
          </a:p>
        </p:txBody>
      </p:sp>
      <p:sp>
        <p:nvSpPr>
          <p:cNvPr id="16" name="Text 13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这段话是老师围绕一个字写的，写的时候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把这个字藏了起来，从头到尾一次也没有说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36" name="插图" descr="抠-P03-91479256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9977" y="2880360"/>
            <a:ext cx="4900844" cy="3520440"/>
          </a:xfrm>
          <a:prstGeom prst="rect">
            <a:avLst/>
          </a:prstGeom>
        </p:spPr>
      </p:pic>
      <p:pic>
        <p:nvPicPr>
          <p:cNvPr id="37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38" name="吉祥物" descr="吉祥物-招手-030705a97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228953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底带"/>
          <p:cNvSpPr/>
          <p:nvPr/>
        </p:nvSpPr>
        <p:spPr>
          <a:xfrm>
            <a:off x="0" y="5897880"/>
            <a:ext cx="18288000" cy="4389120"/>
          </a:xfrm>
          <a:prstGeom prst="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3E9F2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124712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再看最后一句：这是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“怕”</a:t>
            </a: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，还是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“悔”</a:t>
            </a: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7886700" cy="2463998"/>
          </a:xfrm>
          <a:prstGeom prst="roundRect">
            <a:avLst>
              <a:gd name="adj" fmla="val 10824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733550" y="5378648"/>
            <a:ext cx="457200" cy="285750"/>
          </a:xfrm>
          <a:prstGeom prst="rect">
            <a:avLst/>
          </a:prstGeom>
          <a:solidFill>
            <a:srgbClr val="EAF1FB"/>
          </a:solidFill>
        </p:spPr>
        <p:txBody>
          <a:bodyPr/>
          <a:p/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5378648"/>
            <a:ext cx="457200" cy="2857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85900" y="3333750"/>
            <a:ext cx="771144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325" b="1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有同学说</a:t>
            </a:r>
            <a:endParaRPr lang="zh-CN" sz="2325" dirty="0"/>
          </a:p>
        </p:txBody>
      </p:sp>
      <p:sp>
        <p:nvSpPr>
          <p:cNvPr id="11" name="Text 7"/>
          <p:cNvSpPr/>
          <p:nvPr/>
        </p:nvSpPr>
        <p:spPr>
          <a:xfrm>
            <a:off x="1485900" y="3895725"/>
            <a:ext cx="7220712" cy="57239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zh-CN" alt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是“怕”，他怕外婆知道。</a:t>
            </a:r>
            <a:endParaRPr lang="zh-CN" sz="2550" dirty="0"/>
          </a:p>
        </p:txBody>
      </p:sp>
      <p:sp>
        <p:nvSpPr>
          <p:cNvPr id="12" name="Text 8"/>
          <p:cNvSpPr/>
          <p:nvPr/>
        </p:nvSpPr>
        <p:spPr>
          <a:xfrm>
            <a:off x="1485900" y="4563368"/>
            <a:ext cx="7711440" cy="5104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zh-CN" altLang="en-US" sz="232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说得有道理：打碎杯子的时候，他确实是怕的。</a:t>
            </a:r>
            <a:endParaRPr lang="zh-CN" sz="2325" dirty="0"/>
          </a:p>
        </p:txBody>
      </p:sp>
      <p:sp>
        <p:nvSpPr>
          <p:cNvPr id="13" name="Shape 9"/>
          <p:cNvSpPr/>
          <p:nvPr/>
        </p:nvSpPr>
        <p:spPr>
          <a:xfrm>
            <a:off x="9353550" y="2952750"/>
            <a:ext cx="7886700" cy="2463998"/>
          </a:xfrm>
          <a:prstGeom prst="roundRect">
            <a:avLst>
              <a:gd name="adj" fmla="val 6958"/>
            </a:avLst>
          </a:prstGeom>
          <a:solidFill>
            <a:srgbClr val="F7F5F2"/>
          </a:solidFill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9772650" y="3314700"/>
            <a:ext cx="775335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325" b="1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最后一句</a:t>
            </a:r>
            <a:endParaRPr lang="zh-CN" sz="2325" dirty="0"/>
          </a:p>
        </p:txBody>
      </p:sp>
      <p:sp>
        <p:nvSpPr>
          <p:cNvPr id="15" name="Text 11"/>
          <p:cNvSpPr/>
          <p:nvPr/>
        </p:nvSpPr>
        <p:spPr>
          <a:xfrm>
            <a:off x="9772650" y="3876675"/>
            <a:ext cx="7259955" cy="110668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zh-CN" alt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那天夜里我翻来覆去，一闭上眼睛，就是</a:t>
            </a:r>
            <a:r>
              <a:rPr lang="zh-CN" alt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那四瓣碎片和那张报纸</a:t>
            </a:r>
            <a:r>
              <a:rPr lang="zh-CN" alt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550" dirty="0"/>
          </a:p>
        </p:txBody>
      </p:sp>
      <p:sp>
        <p:nvSpPr>
          <p:cNvPr id="16" name="Shape 12"/>
          <p:cNvSpPr/>
          <p:nvPr/>
        </p:nvSpPr>
        <p:spPr>
          <a:xfrm>
            <a:off x="1047750" y="643890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1409700" y="6286500"/>
            <a:ext cx="8434387" cy="52149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杯子已经扫掉了，外婆也没有发现，</a:t>
            </a:r>
            <a:r>
              <a:rPr lang="zh-CN" alt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他还是睡不着</a:t>
            </a: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25" dirty="0"/>
          </a:p>
        </p:txBody>
      </p:sp>
      <p:sp>
        <p:nvSpPr>
          <p:cNvPr id="18" name="Shape 14"/>
          <p:cNvSpPr/>
          <p:nvPr/>
        </p:nvSpPr>
        <p:spPr>
          <a:xfrm>
            <a:off x="1047750" y="7131844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1409700" y="6979444"/>
            <a:ext cx="10267950" cy="52149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已经没有人知道了，他还是睡不着，这是</a:t>
            </a:r>
            <a:r>
              <a:rPr lang="zh-CN" alt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悔</a:t>
            </a: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：他不该说不知道。</a:t>
            </a:r>
            <a:endParaRPr lang="zh-CN" sz="2625" dirty="0"/>
          </a:p>
        </p:txBody>
      </p:sp>
      <p:sp>
        <p:nvSpPr>
          <p:cNvPr id="20" name="Text 16"/>
          <p:cNvSpPr/>
          <p:nvPr/>
        </p:nvSpPr>
        <p:spPr>
          <a:xfrm>
            <a:off x="1687830" y="9334500"/>
            <a:ext cx="978408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老师从头到尾没有写“悔”这个字，大家却都读出来了。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这次习作要学的，正是这种写法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56" name="插图" descr="抠-P04-509dbda1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0" y="5257038"/>
            <a:ext cx="6400800" cy="5029962"/>
          </a:xfrm>
          <a:prstGeom prst="rect">
            <a:avLst/>
          </a:prstGeom>
        </p:spPr>
      </p:pic>
      <p:pic>
        <p:nvPicPr>
          <p:cNvPr id="57" name="提示图标" descr="手指点击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58" name="吉祥物" descr="吉祥物-招手-030705a97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760" y="341947"/>
            <a:ext cx="1228953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3E9F2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124712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这次习作：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选一个字，围绕它写一篇文章</a:t>
            </a:r>
            <a:endParaRPr lang="zh-CN" sz="3205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013" y="2852928"/>
            <a:ext cx="4492020" cy="552297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67500" y="2857500"/>
            <a:ext cx="10572750" cy="1371600"/>
          </a:xfrm>
          <a:prstGeom prst="roundRect">
            <a:avLst>
              <a:gd name="adj" fmla="val 11111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7029450" y="3086100"/>
            <a:ext cx="10144316" cy="952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zh-CN" altLang="en-US" sz="24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课文《盼》围绕“盼”字，写出了“我”的种种表现。选择一个你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感受最深的汉字</a:t>
            </a:r>
            <a:r>
              <a:rPr lang="zh-CN" altLang="en-US" sz="240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，写一篇习作。</a:t>
            </a:r>
            <a:endParaRPr lang="zh-CN" sz="2400" dirty="0"/>
          </a:p>
        </p:txBody>
      </p:sp>
      <p:sp>
        <p:nvSpPr>
          <p:cNvPr id="10" name="Shape 6"/>
          <p:cNvSpPr/>
          <p:nvPr/>
        </p:nvSpPr>
        <p:spPr>
          <a:xfrm>
            <a:off x="6667500" y="4533900"/>
            <a:ext cx="914400" cy="714375"/>
          </a:xfrm>
          <a:prstGeom prst="roundRect">
            <a:avLst>
              <a:gd name="adj" fmla="val 18667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953250" y="4667250"/>
            <a:ext cx="419100" cy="485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甜</a:t>
            </a:r>
            <a:endParaRPr lang="zh-CN" sz="2700" dirty="0"/>
          </a:p>
        </p:txBody>
      </p:sp>
      <p:sp>
        <p:nvSpPr>
          <p:cNvPr id="12" name="Shape 8"/>
          <p:cNvSpPr/>
          <p:nvPr/>
        </p:nvSpPr>
        <p:spPr>
          <a:xfrm>
            <a:off x="7734300" y="4533900"/>
            <a:ext cx="914400" cy="714375"/>
          </a:xfrm>
          <a:prstGeom prst="roundRect">
            <a:avLst>
              <a:gd name="adj" fmla="val 18667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8020050" y="4667250"/>
            <a:ext cx="419100" cy="485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乐</a:t>
            </a:r>
            <a:endParaRPr lang="zh-CN" sz="2700" dirty="0"/>
          </a:p>
        </p:txBody>
      </p:sp>
      <p:sp>
        <p:nvSpPr>
          <p:cNvPr id="14" name="Shape 10"/>
          <p:cNvSpPr/>
          <p:nvPr/>
        </p:nvSpPr>
        <p:spPr>
          <a:xfrm>
            <a:off x="8801100" y="4533900"/>
            <a:ext cx="914400" cy="714375"/>
          </a:xfrm>
          <a:prstGeom prst="roundRect">
            <a:avLst>
              <a:gd name="adj" fmla="val 18667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9086850" y="4667250"/>
            <a:ext cx="419100" cy="485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泪</a:t>
            </a:r>
            <a:endParaRPr lang="zh-CN" sz="2700" dirty="0"/>
          </a:p>
        </p:txBody>
      </p:sp>
      <p:sp>
        <p:nvSpPr>
          <p:cNvPr id="16" name="Shape 12"/>
          <p:cNvSpPr/>
          <p:nvPr/>
        </p:nvSpPr>
        <p:spPr>
          <a:xfrm>
            <a:off x="9867900" y="4533900"/>
            <a:ext cx="914400" cy="714375"/>
          </a:xfrm>
          <a:prstGeom prst="roundRect">
            <a:avLst>
              <a:gd name="adj" fmla="val 18667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10153650" y="4667250"/>
            <a:ext cx="419100" cy="485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暖</a:t>
            </a:r>
            <a:endParaRPr lang="zh-CN" sz="2700" dirty="0"/>
          </a:p>
        </p:txBody>
      </p:sp>
      <p:sp>
        <p:nvSpPr>
          <p:cNvPr id="18" name="Shape 14"/>
          <p:cNvSpPr/>
          <p:nvPr/>
        </p:nvSpPr>
        <p:spPr>
          <a:xfrm>
            <a:off x="10934700" y="4533900"/>
            <a:ext cx="914400" cy="714375"/>
          </a:xfrm>
          <a:prstGeom prst="roundRect">
            <a:avLst>
              <a:gd name="adj" fmla="val 18667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11220450" y="4667250"/>
            <a:ext cx="419100" cy="485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悔</a:t>
            </a:r>
            <a:endParaRPr lang="zh-CN" sz="2700" dirty="0"/>
          </a:p>
        </p:txBody>
      </p:sp>
      <p:sp>
        <p:nvSpPr>
          <p:cNvPr id="20" name="Shape 16"/>
          <p:cNvSpPr/>
          <p:nvPr/>
        </p:nvSpPr>
        <p:spPr>
          <a:xfrm>
            <a:off x="12001500" y="4533900"/>
            <a:ext cx="914400" cy="714375"/>
          </a:xfrm>
          <a:prstGeom prst="roundRect">
            <a:avLst>
              <a:gd name="adj" fmla="val 18667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12287250" y="4667250"/>
            <a:ext cx="419100" cy="485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望</a:t>
            </a:r>
            <a:endParaRPr lang="zh-CN" sz="2700" dirty="0"/>
          </a:p>
        </p:txBody>
      </p:sp>
      <p:sp>
        <p:nvSpPr>
          <p:cNvPr id="22" name="Shape 18"/>
          <p:cNvSpPr/>
          <p:nvPr/>
        </p:nvSpPr>
        <p:spPr>
          <a:xfrm>
            <a:off x="13068300" y="4533900"/>
            <a:ext cx="914400" cy="714375"/>
          </a:xfrm>
          <a:prstGeom prst="roundRect">
            <a:avLst>
              <a:gd name="adj" fmla="val 18667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13354050" y="4667250"/>
            <a:ext cx="419100" cy="485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迷</a:t>
            </a:r>
            <a:endParaRPr lang="zh-CN" sz="2700" dirty="0"/>
          </a:p>
        </p:txBody>
      </p:sp>
      <p:sp>
        <p:nvSpPr>
          <p:cNvPr id="24" name="Shape 20"/>
          <p:cNvSpPr/>
          <p:nvPr/>
        </p:nvSpPr>
        <p:spPr>
          <a:xfrm>
            <a:off x="14135100" y="4533900"/>
            <a:ext cx="914400" cy="714375"/>
          </a:xfrm>
          <a:prstGeom prst="roundRect">
            <a:avLst>
              <a:gd name="adj" fmla="val 18667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25" name="Text 21"/>
          <p:cNvSpPr/>
          <p:nvPr/>
        </p:nvSpPr>
        <p:spPr>
          <a:xfrm>
            <a:off x="14420850" y="4667250"/>
            <a:ext cx="419100" cy="485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妙</a:t>
            </a:r>
            <a:endParaRPr lang="zh-CN" sz="2700" dirty="0"/>
          </a:p>
        </p:txBody>
      </p:sp>
      <p:sp>
        <p:nvSpPr>
          <p:cNvPr id="26" name="Shape 22"/>
          <p:cNvSpPr/>
          <p:nvPr/>
        </p:nvSpPr>
        <p:spPr>
          <a:xfrm>
            <a:off x="15201900" y="4533900"/>
            <a:ext cx="914400" cy="714375"/>
          </a:xfrm>
          <a:prstGeom prst="roundRect">
            <a:avLst>
              <a:gd name="adj" fmla="val 18667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15487650" y="4667250"/>
            <a:ext cx="419100" cy="485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</a:t>
            </a:r>
            <a:endParaRPr lang="zh-CN" sz="2700" dirty="0"/>
          </a:p>
        </p:txBody>
      </p:sp>
      <p:sp>
        <p:nvSpPr>
          <p:cNvPr id="28" name="Shape 24"/>
          <p:cNvSpPr/>
          <p:nvPr/>
        </p:nvSpPr>
        <p:spPr>
          <a:xfrm>
            <a:off x="16268700" y="4533900"/>
            <a:ext cx="914400" cy="714375"/>
          </a:xfrm>
          <a:prstGeom prst="roundRect">
            <a:avLst>
              <a:gd name="adj" fmla="val 18667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16554450" y="4667250"/>
            <a:ext cx="419100" cy="485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忙</a:t>
            </a:r>
            <a:endParaRPr lang="zh-CN" sz="2700" dirty="0"/>
          </a:p>
        </p:txBody>
      </p:sp>
      <p:sp>
        <p:nvSpPr>
          <p:cNvPr id="30" name="Shape 26"/>
          <p:cNvSpPr/>
          <p:nvPr/>
        </p:nvSpPr>
        <p:spPr>
          <a:xfrm>
            <a:off x="6667500" y="5400675"/>
            <a:ext cx="914400" cy="714375"/>
          </a:xfrm>
          <a:prstGeom prst="roundRect">
            <a:avLst>
              <a:gd name="adj" fmla="val 18667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31" name="Text 27"/>
          <p:cNvSpPr/>
          <p:nvPr/>
        </p:nvSpPr>
        <p:spPr>
          <a:xfrm>
            <a:off x="6953250" y="5534025"/>
            <a:ext cx="419100" cy="485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寻</a:t>
            </a:r>
            <a:endParaRPr lang="zh-CN" sz="2700" dirty="0"/>
          </a:p>
        </p:txBody>
      </p:sp>
      <p:sp>
        <p:nvSpPr>
          <p:cNvPr id="32" name="Shape 28"/>
          <p:cNvSpPr/>
          <p:nvPr/>
        </p:nvSpPr>
        <p:spPr>
          <a:xfrm>
            <a:off x="7734300" y="5400675"/>
            <a:ext cx="914400" cy="714375"/>
          </a:xfrm>
          <a:prstGeom prst="roundRect">
            <a:avLst>
              <a:gd name="adj" fmla="val 18667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33" name="Text 29"/>
          <p:cNvSpPr/>
          <p:nvPr/>
        </p:nvSpPr>
        <p:spPr>
          <a:xfrm>
            <a:off x="8020050" y="5534025"/>
            <a:ext cx="419100" cy="485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7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</a:t>
            </a:r>
            <a:endParaRPr lang="zh-CN" sz="2700" dirty="0"/>
          </a:p>
        </p:txBody>
      </p:sp>
      <p:sp>
        <p:nvSpPr>
          <p:cNvPr id="34" name="Shape 30"/>
          <p:cNvSpPr/>
          <p:nvPr/>
        </p:nvSpPr>
        <p:spPr>
          <a:xfrm>
            <a:off x="6667500" y="661035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35" name="Text 31"/>
          <p:cNvSpPr/>
          <p:nvPr/>
        </p:nvSpPr>
        <p:spPr>
          <a:xfrm>
            <a:off x="7029450" y="6457950"/>
            <a:ext cx="6412230" cy="50765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可以从这十二个字里选，</a:t>
            </a:r>
            <a:r>
              <a:rPr lang="zh-CN" alt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也可以选别的字</a:t>
            </a:r>
            <a:endParaRPr lang="zh-CN" sz="2550" dirty="0"/>
          </a:p>
        </p:txBody>
      </p:sp>
      <p:sp>
        <p:nvSpPr>
          <p:cNvPr id="36" name="Shape 32"/>
          <p:cNvSpPr/>
          <p:nvPr/>
        </p:nvSpPr>
        <p:spPr>
          <a:xfrm>
            <a:off x="6667500" y="7289453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37" name="Text 33"/>
          <p:cNvSpPr/>
          <p:nvPr/>
        </p:nvSpPr>
        <p:spPr>
          <a:xfrm>
            <a:off x="7029450" y="7137053"/>
            <a:ext cx="7480935" cy="50765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可以写生活中发生过的事，</a:t>
            </a:r>
            <a:r>
              <a:rPr lang="zh-CN" alt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也可以写想象的故事</a:t>
            </a:r>
            <a:endParaRPr lang="zh-CN" sz="2550" dirty="0"/>
          </a:p>
        </p:txBody>
      </p:sp>
      <p:sp>
        <p:nvSpPr>
          <p:cNvPr id="38" name="Text 34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要求只有一件事：选一个你感受最深的字，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围绕它写一篇文章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。老师刚才那一段，选的是“悔”。</a:t>
            </a:r>
            <a:endParaRPr lang="zh-CN" sz="2605" dirty="0"/>
          </a:p>
        </p:txBody>
      </p:sp>
      <p:pic>
        <p:nvPicPr>
          <p:cNvPr id="106" name="插图" descr="抠-P05-bc948521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4897" y="5394960"/>
            <a:ext cx="2634462" cy="3520440"/>
          </a:xfrm>
          <a:prstGeom prst="rect">
            <a:avLst/>
          </a:prstGeom>
        </p:spPr>
      </p:pic>
      <p:pic>
        <p:nvPicPr>
          <p:cNvPr id="107" name="提示图标" descr="手指点击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108" name="吉祥物" descr="吉祥物-招手-030705a97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760" y="341947"/>
            <a:ext cx="1228953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底带"/>
          <p:cNvSpPr/>
          <p:nvPr/>
        </p:nvSpPr>
        <p:spPr>
          <a:xfrm>
            <a:off x="0" y="2834640"/>
            <a:ext cx="18288000" cy="4480560"/>
          </a:xfrm>
          <a:prstGeom prst="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创设情境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3E9F2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124712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怎样才算写成，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让同学读出你的字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314325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219450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3181350"/>
            <a:ext cx="9624346" cy="1038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写完以后，把稿子里写得最具体的那一段读给同学听：</a:t>
            </a:r>
            <a:r>
              <a:rPr lang="zh-CN" alt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不报题目，不说那个字</a:t>
            </a:r>
            <a:endParaRPr lang="zh-CN" sz="2625" dirty="0"/>
          </a:p>
        </p:txBody>
      </p:sp>
      <p:sp>
        <p:nvSpPr>
          <p:cNvPr id="10" name="Shape 7"/>
          <p:cNvSpPr/>
          <p:nvPr/>
        </p:nvSpPr>
        <p:spPr>
          <a:xfrm>
            <a:off x="1047750" y="452437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4600575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4562475"/>
            <a:ext cx="9624346" cy="1038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第二节课的后半段，四人一组轮流读；听的同学把读出的字写在纸上，</a:t>
            </a:r>
            <a:r>
              <a:rPr lang="zh-CN" alt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写完同时亮出来</a:t>
            </a:r>
            <a:endParaRPr lang="zh-CN" sz="2625" dirty="0"/>
          </a:p>
        </p:txBody>
      </p:sp>
      <p:sp>
        <p:nvSpPr>
          <p:cNvPr id="13" name="Shape 10"/>
          <p:cNvSpPr/>
          <p:nvPr/>
        </p:nvSpPr>
        <p:spPr>
          <a:xfrm>
            <a:off x="1047750" y="59055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5981700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5943600"/>
            <a:ext cx="9624346" cy="1038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听的同学写的字和你选的一样，或者意思很近，</a:t>
            </a:r>
            <a:r>
              <a:rPr lang="zh-CN" alt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这一篇就写成了</a:t>
            </a: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；写出来的字各不相同，就要继续修改</a:t>
            </a:r>
            <a:endParaRPr lang="zh-CN" sz="2625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1040" y="4316095"/>
            <a:ext cx="5551805" cy="44602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像老师刚才那样，不说那个字，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让听的人自己读出来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42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43" name="吉祥物" descr="吉祥物-招手-030705a97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228953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观察体验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3E9F2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124712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先试一试：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一个字能让你想起什么事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47750" y="3048000"/>
            <a:ext cx="16192500" cy="1343025"/>
          </a:xfrm>
          <a:prstGeom prst="roundRect">
            <a:avLst>
              <a:gd name="adj" fmla="val 11348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09700" y="3276600"/>
            <a:ext cx="15932658" cy="923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老师说一个字，不必举手，先想一想，再在稿纸角上写下这个字让你想起的第一件事：</a:t>
            </a: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只写几个关键词</a:t>
            </a:r>
            <a:r>
              <a:rPr lang="zh-CN" alt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，其中要有当时看见的一件实物，或者听见的一句话。</a:t>
            </a:r>
            <a:endParaRPr lang="zh-CN" sz="2325" dirty="0"/>
          </a:p>
        </p:txBody>
      </p:sp>
      <p:sp>
        <p:nvSpPr>
          <p:cNvPr id="10" name="Shape 7"/>
          <p:cNvSpPr/>
          <p:nvPr/>
        </p:nvSpPr>
        <p:spPr>
          <a:xfrm>
            <a:off x="1047750" y="4667250"/>
            <a:ext cx="1619250" cy="3931920"/>
          </a:xfrm>
          <a:prstGeom prst="roundRect">
            <a:avLst>
              <a:gd name="adj" fmla="val 10588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400175" y="5998464"/>
            <a:ext cx="990600" cy="1247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7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甜</a:t>
            </a:r>
            <a:endParaRPr lang="zh-CN" sz="7200" dirty="0"/>
          </a:p>
        </p:txBody>
      </p:sp>
      <p:sp>
        <p:nvSpPr>
          <p:cNvPr id="12" name="Shape 9"/>
          <p:cNvSpPr/>
          <p:nvPr/>
        </p:nvSpPr>
        <p:spPr>
          <a:xfrm>
            <a:off x="2952750" y="4667250"/>
            <a:ext cx="5981700" cy="3931920"/>
          </a:xfrm>
          <a:prstGeom prst="roundRect">
            <a:avLst>
              <a:gd name="adj" fmla="val 6904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3257550" y="4914900"/>
            <a:ext cx="5909310" cy="424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100" b="1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同学们写下的</a:t>
            </a:r>
            <a:endParaRPr lang="zh-CN" sz="2100" dirty="0"/>
          </a:p>
        </p:txBody>
      </p:sp>
      <p:sp>
        <p:nvSpPr>
          <p:cNvPr id="14" name="Text 11"/>
          <p:cNvSpPr/>
          <p:nvPr/>
        </p:nvSpPr>
        <p:spPr>
          <a:xfrm>
            <a:off x="3257550" y="5434905"/>
            <a:ext cx="5909310" cy="4385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 </a:t>
            </a:r>
            <a:r>
              <a:rPr lang="zh-CN" alt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过生日，蛋糕上的草莓</a:t>
            </a:r>
            <a:endParaRPr lang="zh-CN" sz="2175" dirty="0"/>
          </a:p>
        </p:txBody>
      </p:sp>
      <p:sp>
        <p:nvSpPr>
          <p:cNvPr id="15" name="Text 12"/>
          <p:cNvSpPr/>
          <p:nvPr/>
        </p:nvSpPr>
        <p:spPr>
          <a:xfrm>
            <a:off x="3257550" y="5968752"/>
            <a:ext cx="5909310" cy="4385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 </a:t>
            </a:r>
            <a:r>
              <a:rPr lang="zh-CN" alt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考了一百分，妈妈说的那句“行啊你”</a:t>
            </a:r>
            <a:endParaRPr lang="zh-CN" sz="2175" dirty="0"/>
          </a:p>
        </p:txBody>
      </p:sp>
      <p:sp>
        <p:nvSpPr>
          <p:cNvPr id="16" name="Text 13"/>
          <p:cNvSpPr/>
          <p:nvPr/>
        </p:nvSpPr>
        <p:spPr>
          <a:xfrm>
            <a:off x="3257550" y="6502598"/>
            <a:ext cx="5909310" cy="4385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 </a:t>
            </a:r>
            <a:r>
              <a:rPr lang="zh-CN" alt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外婆的桂花糖，黏牙</a:t>
            </a:r>
            <a:endParaRPr lang="zh-CN" sz="2175" dirty="0"/>
          </a:p>
        </p:txBody>
      </p:sp>
      <p:sp>
        <p:nvSpPr>
          <p:cNvPr id="17" name="Shape 14"/>
          <p:cNvSpPr/>
          <p:nvPr/>
        </p:nvSpPr>
        <p:spPr>
          <a:xfrm>
            <a:off x="9353550" y="4667250"/>
            <a:ext cx="1619250" cy="3931920"/>
          </a:xfrm>
          <a:prstGeom prst="roundRect">
            <a:avLst>
              <a:gd name="adj" fmla="val 10588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705975" y="5998464"/>
            <a:ext cx="990600" cy="1247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7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寻</a:t>
            </a:r>
            <a:endParaRPr lang="zh-CN" sz="7200" dirty="0"/>
          </a:p>
        </p:txBody>
      </p:sp>
      <p:sp>
        <p:nvSpPr>
          <p:cNvPr id="19" name="Shape 16"/>
          <p:cNvSpPr/>
          <p:nvPr/>
        </p:nvSpPr>
        <p:spPr>
          <a:xfrm>
            <a:off x="11258550" y="4667250"/>
            <a:ext cx="5981700" cy="3931920"/>
          </a:xfrm>
          <a:prstGeom prst="roundRect">
            <a:avLst>
              <a:gd name="adj" fmla="val 6904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1563350" y="4914900"/>
            <a:ext cx="5909310" cy="4247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100" b="1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同学们写下的</a:t>
            </a:r>
            <a:endParaRPr lang="zh-CN" sz="2100" dirty="0"/>
          </a:p>
        </p:txBody>
      </p:sp>
      <p:sp>
        <p:nvSpPr>
          <p:cNvPr id="21" name="Text 18"/>
          <p:cNvSpPr/>
          <p:nvPr/>
        </p:nvSpPr>
        <p:spPr>
          <a:xfrm>
            <a:off x="11563350" y="5434905"/>
            <a:ext cx="5909310" cy="4385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 </a:t>
            </a:r>
            <a:r>
              <a:rPr lang="zh-CN" alt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找猫，它躲在洗衣机后面</a:t>
            </a:r>
            <a:endParaRPr lang="zh-CN" sz="2175" dirty="0"/>
          </a:p>
        </p:txBody>
      </p:sp>
      <p:sp>
        <p:nvSpPr>
          <p:cNvPr id="22" name="Text 19"/>
          <p:cNvSpPr/>
          <p:nvPr/>
        </p:nvSpPr>
        <p:spPr>
          <a:xfrm>
            <a:off x="11563350" y="5968752"/>
            <a:ext cx="5909310" cy="4385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 </a:t>
            </a:r>
            <a:r>
              <a:rPr lang="zh-CN" alt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找钥匙，找了半个小时，在书包夹层里</a:t>
            </a:r>
            <a:endParaRPr lang="zh-CN" sz="2175" dirty="0"/>
          </a:p>
        </p:txBody>
      </p:sp>
      <p:sp>
        <p:nvSpPr>
          <p:cNvPr id="23" name="Text 20"/>
          <p:cNvSpPr/>
          <p:nvPr/>
        </p:nvSpPr>
        <p:spPr>
          <a:xfrm>
            <a:off x="11563350" y="6502598"/>
            <a:ext cx="5909310" cy="4385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 </a:t>
            </a:r>
            <a:r>
              <a:rPr lang="zh-CN" alt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在操场上找掉了的校牌</a:t>
            </a:r>
            <a:endParaRPr lang="zh-CN" sz="2175" dirty="0"/>
          </a:p>
        </p:txBody>
      </p:sp>
      <p:sp>
        <p:nvSpPr>
          <p:cNvPr id="24" name="Text 21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写下来的都是自己经历过的事，每一件都有一样具体的事物。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这些就是由一个字想起的材料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66" name="插图" descr="抠-P07a-a108a4b3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08" y="6355079"/>
            <a:ext cx="1993392" cy="2743200"/>
          </a:xfrm>
          <a:prstGeom prst="rect">
            <a:avLst/>
          </a:prstGeom>
        </p:spPr>
      </p:pic>
      <p:pic>
        <p:nvPicPr>
          <p:cNvPr id="67" name="插图" descr="抠-P07b-dc5bdfee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5324" y="6355079"/>
            <a:ext cx="2391156" cy="2743200"/>
          </a:xfrm>
          <a:prstGeom prst="rect">
            <a:avLst/>
          </a:prstGeom>
        </p:spPr>
      </p:pic>
      <p:pic>
        <p:nvPicPr>
          <p:cNvPr id="68" name="提示图标" descr="手指点击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69" name="吉祥物" descr="吉祥物-招手-030705a97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760" y="341947"/>
            <a:ext cx="1228953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底带"/>
          <p:cNvSpPr/>
          <p:nvPr/>
        </p:nvSpPr>
        <p:spPr>
          <a:xfrm>
            <a:off x="0" y="2834640"/>
            <a:ext cx="18288000" cy="4846320"/>
          </a:xfrm>
          <a:prstGeom prst="rect">
            <a:avLst/>
          </a:prstGeom>
          <a:solidFill>
            <a:srgbClr val="EE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观察体验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3E9F2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124712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定下自己的字，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写四五件事的关键词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314325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219450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3181350"/>
            <a:ext cx="7210901" cy="5381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定下自己的字：十二个字里的一个，</a:t>
            </a:r>
            <a:r>
              <a:rPr lang="zh-CN" alt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或者别的字</a:t>
            </a:r>
            <a:endParaRPr lang="zh-CN" sz="2625" dirty="0"/>
          </a:p>
        </p:txBody>
      </p:sp>
      <p:sp>
        <p:nvSpPr>
          <p:cNvPr id="10" name="Shape 7"/>
          <p:cNvSpPr/>
          <p:nvPr/>
        </p:nvSpPr>
        <p:spPr>
          <a:xfrm>
            <a:off x="1047750" y="4024313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4100513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4062413"/>
            <a:ext cx="9428131" cy="1038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用三分钟，把这个字让你想起的事一件一件写在稿纸角上，</a:t>
            </a:r>
            <a:r>
              <a:rPr lang="zh-CN" alt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写四五件，多写不限</a:t>
            </a: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，同样只写关键词</a:t>
            </a:r>
            <a:endParaRPr lang="zh-CN" sz="2625" dirty="0"/>
          </a:p>
        </p:txBody>
      </p:sp>
      <p:sp>
        <p:nvSpPr>
          <p:cNvPr id="13" name="Shape 10"/>
          <p:cNvSpPr/>
          <p:nvPr/>
        </p:nvSpPr>
        <p:spPr>
          <a:xfrm>
            <a:off x="1047750" y="5405438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5481638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5443538"/>
            <a:ext cx="7210901" cy="5381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想写想象故事的同学，</a:t>
            </a:r>
            <a:r>
              <a:rPr lang="zh-CN" alt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把想到的几个情节写下来</a:t>
            </a:r>
            <a:endParaRPr lang="zh-CN" sz="2625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0475" y="2468880"/>
            <a:ext cx="4797524" cy="356616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47750" y="7958138"/>
            <a:ext cx="16192500" cy="900113"/>
          </a:xfrm>
          <a:prstGeom prst="roundRect">
            <a:avLst>
              <a:gd name="adj" fmla="val 16931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409700" y="8186738"/>
            <a:ext cx="17015460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只写了一两件？</a:t>
            </a:r>
            <a:r>
              <a:rPr lang="zh-CN" alt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问一问自己：这个字，</a:t>
            </a: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在家里、在学校、在路上</a:t>
            </a:r>
            <a:r>
              <a:rPr lang="zh-CN" altLang="en-US" sz="2325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，各让你想起哪一件？</a:t>
            </a:r>
            <a:endParaRPr lang="zh-CN" sz="2325" dirty="0"/>
          </a:p>
        </p:txBody>
      </p:sp>
      <p:sp>
        <p:nvSpPr>
          <p:cNvPr id="19" name="Text 15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例如：我选“变”，弟弟以前一进门就抢电视，现在先写作业。材料先放在这里，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稍后还要用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50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51" name="吉祥物" descr="吉祥物-招手-030705a97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228953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底带"/>
          <p:cNvSpPr/>
          <p:nvPr/>
        </p:nvSpPr>
        <p:spPr>
          <a:xfrm>
            <a:off x="0" y="2971800"/>
            <a:ext cx="18288000" cy="7315200"/>
          </a:xfrm>
          <a:prstGeom prst="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判断对比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3E9F2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2079739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两段话写同一天、同一个字：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读完哪一段，你能说出那个字</a:t>
            </a: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51560" y="3154680"/>
            <a:ext cx="6035040" cy="6172200"/>
          </a:xfrm>
          <a:prstGeom prst="roundRect">
            <a:avLst>
              <a:gd name="adj" fmla="val 3629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60704" y="3172968"/>
            <a:ext cx="6016752" cy="704088"/>
          </a:xfrm>
          <a:prstGeom prst="rect">
            <a:avLst/>
          </a:prstGeom>
          <a:solidFill>
            <a:srgbClr val="C98A2E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32103" y="3319272"/>
            <a:ext cx="6473952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第一段</a:t>
            </a:r>
            <a:endParaRPr lang="zh-CN" sz="2400" dirty="0"/>
          </a:p>
        </p:txBody>
      </p:sp>
      <p:sp>
        <p:nvSpPr>
          <p:cNvPr id="10" name="Shape 7"/>
          <p:cNvSpPr/>
          <p:nvPr/>
        </p:nvSpPr>
        <p:spPr>
          <a:xfrm>
            <a:off x="1060704" y="3877056"/>
            <a:ext cx="6016752" cy="5440680"/>
          </a:xfrm>
          <a:prstGeom prst="rect">
            <a:avLst/>
          </a:prstGeom>
          <a:solidFill>
            <a:srgbClr val="F7F8FA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80743" y="4160520"/>
            <a:ext cx="5394960" cy="4937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552450" algn="l">
              <a:lnSpc>
                <a:spcPct val="126000"/>
              </a:lnSpc>
              <a:buNone/>
            </a:pPr>
            <a:r>
              <a:rPr lang="zh-CN" altLang="en-US" sz="25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星期三我发烧了。早上量体温，三十八度五，妈妈给单位打了电话，说要请一天假。中午她煮了一锅白粥，我喝了两碗。下午没什么事，我靠在床上看了两集动画片，又睡了一觉。傍晚再量，三十七度二，妈妈说明天可以上学了。晚上爸爸下班回来，带回来一盒草莓。</a:t>
            </a:r>
            <a:endParaRPr lang="zh-CN" sz="2175" dirty="0"/>
          </a:p>
        </p:txBody>
      </p:sp>
      <p:sp>
        <p:nvSpPr>
          <p:cNvPr id="12" name="Shape 9"/>
          <p:cNvSpPr/>
          <p:nvPr/>
        </p:nvSpPr>
        <p:spPr>
          <a:xfrm>
            <a:off x="7315200" y="3154680"/>
            <a:ext cx="6035040" cy="6172200"/>
          </a:xfrm>
          <a:prstGeom prst="roundRect">
            <a:avLst>
              <a:gd name="adj" fmla="val 3629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7324344" y="3172968"/>
            <a:ext cx="6016752" cy="704088"/>
          </a:xfrm>
          <a:prstGeom prst="rect">
            <a:avLst/>
          </a:prstGeom>
          <a:solidFill>
            <a:srgbClr val="C98A2E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095744" y="3319272"/>
            <a:ext cx="6473952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第二段</a:t>
            </a:r>
            <a:endParaRPr lang="zh-CN" sz="2400" dirty="0"/>
          </a:p>
        </p:txBody>
      </p:sp>
      <p:sp>
        <p:nvSpPr>
          <p:cNvPr id="15" name="Shape 12"/>
          <p:cNvSpPr/>
          <p:nvPr/>
        </p:nvSpPr>
        <p:spPr>
          <a:xfrm>
            <a:off x="7324344" y="3877056"/>
            <a:ext cx="6016752" cy="5440680"/>
          </a:xfrm>
          <a:prstGeom prst="rect">
            <a:avLst/>
          </a:prstGeom>
          <a:solidFill>
            <a:srgbClr val="F7F8FA"/>
          </a:solidFill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644383" y="4160520"/>
            <a:ext cx="5394960" cy="49377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552450" algn="l">
              <a:lnSpc>
                <a:spcPct val="126000"/>
              </a:lnSpc>
              <a:buNone/>
            </a:pPr>
            <a:r>
              <a:rPr lang="zh-CN" altLang="en-US" sz="25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星期三我发烧了。妈妈的手先伸过来，手背贴在我额头上，比体温计还早知道我烧了。中午她端来一碗白粥，勺子搁在碗边，舀了一勺，先吹了两口，再递到我嘴边。下午手机响了一声，是同桌发来的语音：“今天的作业我帮你记好了，放你课桌洞里了。”傍晚再量体温，三十七度二。我把那条语音又听了一遍。</a:t>
            </a:r>
            <a:endParaRPr lang="zh-CN" sz="2175" dirty="0"/>
          </a:p>
        </p:txBody>
      </p:sp>
      <p:sp>
        <p:nvSpPr>
          <p:cNvPr id="17" name="Text 14"/>
          <p:cNvSpPr/>
          <p:nvPr/>
        </p:nvSpPr>
        <p:spPr>
          <a:xfrm>
            <a:off x="1047750" y="2487168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两段都是老师写的，同样没有写出那个字。请默读，读完举手：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哪一段读完你能说出那个字？说出来的是哪个字？</a:t>
            </a:r>
            <a:endParaRPr lang="zh-CN" sz="2605" dirty="0"/>
          </a:p>
        </p:txBody>
      </p:sp>
      <p:pic>
        <p:nvPicPr>
          <p:cNvPr id="43" name="插图" descr="抠-P09-c15d512c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680" y="3931170"/>
            <a:ext cx="4846320" cy="6355829"/>
          </a:xfrm>
          <a:prstGeom prst="rect">
            <a:avLst/>
          </a:prstGeom>
        </p:spPr>
      </p:pic>
      <p:pic>
        <p:nvPicPr>
          <p:cNvPr id="44" name="吉祥物" descr="吉祥物-招手-030705a9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760" y="341947"/>
            <a:ext cx="1228953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3E9F2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124712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第一段件件写清，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读的人却说不出这一天要说什么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886700" cy="3701355"/>
          </a:xfrm>
          <a:prstGeom prst="roundRect">
            <a:avLst>
              <a:gd name="adj" fmla="val 4632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28750" y="3162300"/>
            <a:ext cx="783717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第一段：每一件都写清了，读出的字却各不相同</a:t>
            </a:r>
            <a:endParaRPr lang="zh-CN" sz="2400" dirty="0"/>
          </a:p>
        </p:txBody>
      </p:sp>
      <p:sp>
        <p:nvSpPr>
          <p:cNvPr id="9" name="Text 6"/>
          <p:cNvSpPr/>
          <p:nvPr/>
        </p:nvSpPr>
        <p:spPr>
          <a:xfrm>
            <a:off x="1428750" y="3752850"/>
            <a:ext cx="7837170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两碗粥 </a:t>
            </a:r>
            <a:r>
              <a:rPr lang="en-US" sz="225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 </a:t>
            </a: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读出的是</a:t>
            </a: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吃饱了</a:t>
            </a:r>
            <a:endParaRPr lang="zh-CN" sz="2250" dirty="0"/>
          </a:p>
        </p:txBody>
      </p:sp>
      <p:sp>
        <p:nvSpPr>
          <p:cNvPr id="10" name="Text 7"/>
          <p:cNvSpPr/>
          <p:nvPr/>
        </p:nvSpPr>
        <p:spPr>
          <a:xfrm>
            <a:off x="1428750" y="4300538"/>
            <a:ext cx="7837170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两集动画片 </a:t>
            </a:r>
            <a:r>
              <a:rPr lang="en-US" sz="225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 </a:t>
            </a: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读出的是</a:t>
            </a: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闲</a:t>
            </a:r>
            <a:endParaRPr lang="zh-CN" sz="2250" dirty="0"/>
          </a:p>
        </p:txBody>
      </p:sp>
      <p:sp>
        <p:nvSpPr>
          <p:cNvPr id="11" name="Text 8"/>
          <p:cNvSpPr/>
          <p:nvPr/>
        </p:nvSpPr>
        <p:spPr>
          <a:xfrm>
            <a:off x="1428750" y="4848225"/>
            <a:ext cx="7837170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一盒草莓 </a:t>
            </a:r>
            <a:r>
              <a:rPr lang="en-US" sz="225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 </a:t>
            </a: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读出的是</a:t>
            </a: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甜</a:t>
            </a:r>
            <a:endParaRPr lang="zh-CN" sz="2250" dirty="0"/>
          </a:p>
        </p:txBody>
      </p:sp>
      <p:sp>
        <p:nvSpPr>
          <p:cNvPr id="12" name="Text 9"/>
          <p:cNvSpPr/>
          <p:nvPr/>
        </p:nvSpPr>
        <p:spPr>
          <a:xfrm>
            <a:off x="1428750" y="5453063"/>
            <a:ext cx="7837170" cy="4385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zh-CN" alt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三件合在一起，读的人说不出这一天到底要说什么。</a:t>
            </a:r>
            <a:endParaRPr lang="zh-CN" sz="2175" dirty="0"/>
          </a:p>
        </p:txBody>
      </p:sp>
      <p:sp>
        <p:nvSpPr>
          <p:cNvPr id="13" name="Shape 10"/>
          <p:cNvSpPr/>
          <p:nvPr/>
        </p:nvSpPr>
        <p:spPr>
          <a:xfrm>
            <a:off x="9353550" y="2857500"/>
            <a:ext cx="7886700" cy="3701355"/>
          </a:xfrm>
          <a:prstGeom prst="roundRect">
            <a:avLst>
              <a:gd name="adj" fmla="val 4632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734550" y="3162300"/>
            <a:ext cx="783717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第二段：三处都落在同一个字上</a:t>
            </a:r>
            <a:endParaRPr lang="zh-CN" sz="2400" dirty="0"/>
          </a:p>
        </p:txBody>
      </p:sp>
      <p:sp>
        <p:nvSpPr>
          <p:cNvPr id="15" name="Text 12"/>
          <p:cNvSpPr/>
          <p:nvPr/>
        </p:nvSpPr>
        <p:spPr>
          <a:xfrm>
            <a:off x="9734550" y="3752850"/>
            <a:ext cx="7837170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手背贴在我额头上 </a:t>
            </a:r>
            <a:r>
              <a:rPr lang="en-US" sz="225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暖</a:t>
            </a:r>
            <a:endParaRPr lang="zh-CN" sz="2250" dirty="0"/>
          </a:p>
        </p:txBody>
      </p:sp>
      <p:sp>
        <p:nvSpPr>
          <p:cNvPr id="16" name="Text 13"/>
          <p:cNvSpPr/>
          <p:nvPr/>
        </p:nvSpPr>
        <p:spPr>
          <a:xfrm>
            <a:off x="9734550" y="4300538"/>
            <a:ext cx="7837170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舀了一勺，先吹了两口 </a:t>
            </a:r>
            <a:r>
              <a:rPr lang="en-US" sz="225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暖</a:t>
            </a:r>
            <a:endParaRPr lang="zh-CN" sz="2250" dirty="0"/>
          </a:p>
        </p:txBody>
      </p:sp>
      <p:sp>
        <p:nvSpPr>
          <p:cNvPr id="17" name="Text 14"/>
          <p:cNvSpPr/>
          <p:nvPr/>
        </p:nvSpPr>
        <p:spPr>
          <a:xfrm>
            <a:off x="9734550" y="4848225"/>
            <a:ext cx="7837170" cy="4524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同桌的语音，作业放在课桌洞里 </a:t>
            </a:r>
            <a:r>
              <a:rPr lang="en-US" sz="225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暖</a:t>
            </a:r>
            <a:endParaRPr lang="zh-CN" sz="2250" dirty="0"/>
          </a:p>
        </p:txBody>
      </p:sp>
      <p:sp>
        <p:nvSpPr>
          <p:cNvPr id="18" name="Text 15"/>
          <p:cNvSpPr/>
          <p:nvPr/>
        </p:nvSpPr>
        <p:spPr>
          <a:xfrm>
            <a:off x="9734550" y="5453063"/>
            <a:ext cx="7338441" cy="83909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zh-CN" alt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大家说出的字大多是“暖”。老师写的正是“暖”字。</a:t>
            </a:r>
            <a:endParaRPr lang="zh-CN" sz="2175" dirty="0"/>
          </a:p>
        </p:txBody>
      </p:sp>
      <p:sp>
        <p:nvSpPr>
          <p:cNvPr id="19" name="Shape 16"/>
          <p:cNvSpPr/>
          <p:nvPr/>
        </p:nvSpPr>
        <p:spPr>
          <a:xfrm>
            <a:off x="1047750" y="7086600"/>
            <a:ext cx="16192500" cy="1516261"/>
          </a:xfrm>
          <a:prstGeom prst="roundRect">
            <a:avLst>
              <a:gd name="adj" fmla="val 11307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466850" y="7370064"/>
            <a:ext cx="15814929" cy="98286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这次习作要学的，就是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围绕一个字选材料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：先定下这个字代表的中心意思，再看手里的每一件事，能不能让读的人从中读出这个字；能的留下，不能的去掉。写想象故事的同学也一样，每一个情节都要这样判断。</a:t>
            </a:r>
            <a:endParaRPr lang="zh-CN" sz="2400" dirty="0"/>
          </a:p>
        </p:txBody>
      </p:sp>
      <p:sp>
        <p:nvSpPr>
          <p:cNvPr id="21" name="Text 18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课文《盼》整篇紧扣一个“盼”字，写的全是“我”盼着穿上新雨衣的种种表现，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没有一处偏离中心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56" name="提示图标" descr="手指点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57" name="吉祥物" descr="吉祥物-招手-030705a9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760" y="341947"/>
            <a:ext cx="1228953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底带"/>
          <p:cNvSpPr/>
          <p:nvPr/>
        </p:nvSpPr>
        <p:spPr>
          <a:xfrm>
            <a:off x="0" y="6675120"/>
            <a:ext cx="18288000" cy="3611880"/>
          </a:xfrm>
          <a:prstGeom prst="rect">
            <a:avLst/>
          </a:prstGeom>
          <a:solidFill>
            <a:srgbClr val="EE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3E9F2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124712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用教材上的一道题来练：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哪些材料能表现“戏迷爷爷”</a:t>
            </a:r>
            <a:endParaRPr lang="zh-CN" sz="3205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0"/>
            <a:ext cx="5760720" cy="309981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858000" y="3314700"/>
            <a:ext cx="10382250" cy="694730"/>
          </a:xfrm>
          <a:prstGeom prst="roundRect">
            <a:avLst>
              <a:gd name="adj" fmla="val 16452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7124700" y="3448050"/>
            <a:ext cx="10833735" cy="466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跑了几十里地去看戏</a:t>
            </a:r>
            <a:endParaRPr lang="zh-CN" sz="2325" dirty="0"/>
          </a:p>
        </p:txBody>
      </p:sp>
      <p:sp>
        <p:nvSpPr>
          <p:cNvPr id="10" name="Shape 6"/>
          <p:cNvSpPr/>
          <p:nvPr/>
        </p:nvSpPr>
        <p:spPr>
          <a:xfrm>
            <a:off x="6858000" y="4142780"/>
            <a:ext cx="10382250" cy="694730"/>
          </a:xfrm>
          <a:prstGeom prst="roundRect">
            <a:avLst>
              <a:gd name="adj" fmla="val 16452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7124700" y="4276130"/>
            <a:ext cx="10833735" cy="466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常给我们讲故事</a:t>
            </a:r>
            <a:endParaRPr lang="zh-CN" sz="2325" dirty="0"/>
          </a:p>
        </p:txBody>
      </p:sp>
      <p:sp>
        <p:nvSpPr>
          <p:cNvPr id="12" name="Shape 8"/>
          <p:cNvSpPr/>
          <p:nvPr/>
        </p:nvSpPr>
        <p:spPr>
          <a:xfrm>
            <a:off x="6858000" y="4970859"/>
            <a:ext cx="10382250" cy="694730"/>
          </a:xfrm>
          <a:prstGeom prst="roundRect">
            <a:avLst>
              <a:gd name="adj" fmla="val 16452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7124700" y="5104209"/>
            <a:ext cx="10833735" cy="466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在爷爷的倡导下，街道组织了业余戏班子</a:t>
            </a:r>
            <a:endParaRPr lang="zh-CN" sz="2325" dirty="0"/>
          </a:p>
        </p:txBody>
      </p:sp>
      <p:sp>
        <p:nvSpPr>
          <p:cNvPr id="14" name="Shape 10"/>
          <p:cNvSpPr/>
          <p:nvPr/>
        </p:nvSpPr>
        <p:spPr>
          <a:xfrm>
            <a:off x="6858000" y="5798939"/>
            <a:ext cx="10382250" cy="694730"/>
          </a:xfrm>
          <a:prstGeom prst="roundRect">
            <a:avLst>
              <a:gd name="adj" fmla="val 16452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7124700" y="5932289"/>
            <a:ext cx="10833735" cy="466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 干活时会哼上两句流行歌曲</a:t>
            </a:r>
            <a:endParaRPr lang="zh-CN" sz="2325" dirty="0"/>
          </a:p>
        </p:txBody>
      </p:sp>
      <p:sp>
        <p:nvSpPr>
          <p:cNvPr id="16" name="Shape 12"/>
          <p:cNvSpPr/>
          <p:nvPr/>
        </p:nvSpPr>
        <p:spPr>
          <a:xfrm>
            <a:off x="6858000" y="6627019"/>
            <a:ext cx="10382250" cy="694730"/>
          </a:xfrm>
          <a:prstGeom prst="roundRect">
            <a:avLst>
              <a:gd name="adj" fmla="val 16452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7124700" y="6760369"/>
            <a:ext cx="10833735" cy="466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⑤ 边炒菜边做戏曲里的动作，把菜炒煳了</a:t>
            </a:r>
            <a:endParaRPr lang="zh-CN" sz="2325" dirty="0"/>
          </a:p>
        </p:txBody>
      </p:sp>
      <p:sp>
        <p:nvSpPr>
          <p:cNvPr id="18" name="Shape 14"/>
          <p:cNvSpPr/>
          <p:nvPr/>
        </p:nvSpPr>
        <p:spPr>
          <a:xfrm>
            <a:off x="6858000" y="7455098"/>
            <a:ext cx="10382250" cy="694730"/>
          </a:xfrm>
          <a:prstGeom prst="roundRect">
            <a:avLst>
              <a:gd name="adj" fmla="val 16452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7124700" y="7588448"/>
            <a:ext cx="10833735" cy="466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⑥ 到文化馆拜师学戏</a:t>
            </a:r>
            <a:endParaRPr lang="zh-CN" sz="2325" dirty="0"/>
          </a:p>
        </p:txBody>
      </p:sp>
      <p:sp>
        <p:nvSpPr>
          <p:cNvPr id="20" name="Shape 16"/>
          <p:cNvSpPr/>
          <p:nvPr/>
        </p:nvSpPr>
        <p:spPr>
          <a:xfrm>
            <a:off x="6858000" y="8283178"/>
            <a:ext cx="10382250" cy="694730"/>
          </a:xfrm>
          <a:prstGeom prst="roundRect">
            <a:avLst>
              <a:gd name="adj" fmla="val 16452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7124700" y="8416528"/>
            <a:ext cx="10833735" cy="4661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⑦ 每天看书到深夜</a:t>
            </a:r>
            <a:endParaRPr lang="zh-CN" sz="2325" dirty="0"/>
          </a:p>
        </p:txBody>
      </p:sp>
      <p:sp>
        <p:nvSpPr>
          <p:cNvPr id="22" name="Text 18"/>
          <p:cNvSpPr/>
          <p:nvPr/>
        </p:nvSpPr>
        <p:spPr>
          <a:xfrm>
            <a:off x="1047750" y="2468880"/>
            <a:ext cx="1781175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先各自判断，能用的在心里记下序号。判断时只问一句：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读的人从这一条里，能不能读出“戏迷”两个字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54" name="吉祥物" descr="吉祥物-招手-030705a9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760" y="341947"/>
            <a:ext cx="1228953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3E9F2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124712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判断结果：留下四条，去掉三条，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其中一条可以改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6492240" cy="3867150"/>
          </a:xfrm>
          <a:prstGeom prst="roundRect">
            <a:avLst>
              <a:gd name="adj" fmla="val 4433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6473952" cy="704850"/>
          </a:xfrm>
          <a:prstGeom prst="rect">
            <a:avLst/>
          </a:prstGeom>
          <a:solidFill>
            <a:srgbClr val="4E9A5B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3019425"/>
            <a:ext cx="62179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能读出“戏迷”，留下</a:t>
            </a:r>
            <a:endParaRPr lang="zh-CN" sz="2400" dirty="0"/>
          </a:p>
        </p:txBody>
      </p:sp>
      <p:sp>
        <p:nvSpPr>
          <p:cNvPr id="10" name="Shape 7"/>
          <p:cNvSpPr/>
          <p:nvPr/>
        </p:nvSpPr>
        <p:spPr>
          <a:xfrm>
            <a:off x="1057275" y="3571875"/>
            <a:ext cx="6473952" cy="3143250"/>
          </a:xfrm>
          <a:prstGeom prst="rect">
            <a:avLst/>
          </a:prstGeom>
          <a:solidFill>
            <a:srgbClr val="F7F8FA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81125" y="3819525"/>
            <a:ext cx="621792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跑了几十里地去看戏 </a:t>
            </a:r>
            <a:r>
              <a:rPr lang="zh-CN" altLang="en-US" sz="2250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是迷</a:t>
            </a:r>
            <a:endParaRPr lang="zh-CN" sz="2250" dirty="0"/>
          </a:p>
        </p:txBody>
      </p:sp>
      <p:sp>
        <p:nvSpPr>
          <p:cNvPr id="12" name="Text 9"/>
          <p:cNvSpPr/>
          <p:nvPr/>
        </p:nvSpPr>
        <p:spPr>
          <a:xfrm>
            <a:off x="1381125" y="4381500"/>
            <a:ext cx="621792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组织了业余戏班子 </a:t>
            </a:r>
            <a:r>
              <a:rPr lang="zh-CN" altLang="en-US" sz="2250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是迷</a:t>
            </a:r>
            <a:endParaRPr lang="zh-CN" sz="2250" dirty="0"/>
          </a:p>
        </p:txBody>
      </p:sp>
      <p:sp>
        <p:nvSpPr>
          <p:cNvPr id="13" name="Text 10"/>
          <p:cNvSpPr/>
          <p:nvPr/>
        </p:nvSpPr>
        <p:spPr>
          <a:xfrm>
            <a:off x="1381125" y="4943475"/>
            <a:ext cx="621792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⑤ 边炒菜边做戏曲动作，把菜炒煳了 </a:t>
            </a:r>
            <a:r>
              <a:rPr lang="zh-CN" altLang="en-US" sz="2250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也是迷</a:t>
            </a:r>
            <a:endParaRPr lang="zh-CN" sz="2250" dirty="0"/>
          </a:p>
        </p:txBody>
      </p:sp>
      <p:sp>
        <p:nvSpPr>
          <p:cNvPr id="14" name="Text 11"/>
          <p:cNvSpPr/>
          <p:nvPr/>
        </p:nvSpPr>
        <p:spPr>
          <a:xfrm>
            <a:off x="1381125" y="5505450"/>
            <a:ext cx="621792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⑥ 到文化馆拜师学戏 </a:t>
            </a:r>
            <a:r>
              <a:rPr lang="zh-CN" altLang="en-US" sz="2250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是迷</a:t>
            </a:r>
            <a:endParaRPr lang="zh-CN" sz="2250" dirty="0"/>
          </a:p>
        </p:txBody>
      </p:sp>
      <p:sp>
        <p:nvSpPr>
          <p:cNvPr id="15" name="Shape 12"/>
          <p:cNvSpPr/>
          <p:nvPr/>
        </p:nvSpPr>
        <p:spPr>
          <a:xfrm>
            <a:off x="7726679" y="2857500"/>
            <a:ext cx="6492240" cy="3867150"/>
          </a:xfrm>
          <a:prstGeom prst="roundRect">
            <a:avLst>
              <a:gd name="adj" fmla="val 4433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7735824" y="2867025"/>
            <a:ext cx="6473952" cy="704850"/>
          </a:xfrm>
          <a:prstGeom prst="rect">
            <a:avLst/>
          </a:prstGeom>
          <a:solidFill>
            <a:srgbClr val="C0504D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028431" y="3019425"/>
            <a:ext cx="62179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读不出“戏迷”，去掉</a:t>
            </a:r>
            <a:endParaRPr lang="zh-CN" sz="2400" dirty="0"/>
          </a:p>
        </p:txBody>
      </p:sp>
      <p:sp>
        <p:nvSpPr>
          <p:cNvPr id="18" name="Shape 15"/>
          <p:cNvSpPr/>
          <p:nvPr/>
        </p:nvSpPr>
        <p:spPr>
          <a:xfrm>
            <a:off x="7735824" y="3571875"/>
            <a:ext cx="6473952" cy="3143250"/>
          </a:xfrm>
          <a:prstGeom prst="rect">
            <a:avLst/>
          </a:prstGeom>
          <a:solidFill>
            <a:srgbClr val="F7F8FA"/>
          </a:solidFill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8046720" y="3819525"/>
            <a:ext cx="621792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⑦ 每天看书到深夜 </a:t>
            </a: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写的是爱看书，与戏无关</a:t>
            </a:r>
            <a:endParaRPr lang="zh-CN" sz="2250" dirty="0"/>
          </a:p>
        </p:txBody>
      </p:sp>
      <p:sp>
        <p:nvSpPr>
          <p:cNvPr id="20" name="Text 17"/>
          <p:cNvSpPr/>
          <p:nvPr/>
        </p:nvSpPr>
        <p:spPr>
          <a:xfrm>
            <a:off x="8046720" y="4381500"/>
            <a:ext cx="621792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 哼流行歌曲 </a:t>
            </a: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还不够，哼的是戏曲才算</a:t>
            </a:r>
            <a:endParaRPr lang="zh-CN" sz="2250" dirty="0"/>
          </a:p>
        </p:txBody>
      </p:sp>
      <p:sp>
        <p:nvSpPr>
          <p:cNvPr id="21" name="Text 18"/>
          <p:cNvSpPr/>
          <p:nvPr/>
        </p:nvSpPr>
        <p:spPr>
          <a:xfrm>
            <a:off x="8046720" y="4943475"/>
            <a:ext cx="621792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常给我们讲故事 </a:t>
            </a: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读的人读不出讲的是戏</a:t>
            </a:r>
            <a:endParaRPr lang="zh-CN" sz="2250" dirty="0"/>
          </a:p>
        </p:txBody>
      </p:sp>
      <p:sp>
        <p:nvSpPr>
          <p:cNvPr id="22" name="Shape 19"/>
          <p:cNvSpPr/>
          <p:nvPr/>
        </p:nvSpPr>
        <p:spPr>
          <a:xfrm>
            <a:off x="1047750" y="7048500"/>
            <a:ext cx="16192500" cy="1478161"/>
          </a:xfrm>
          <a:prstGeom prst="roundRect">
            <a:avLst>
              <a:gd name="adj" fmla="val 11599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466850" y="7315200"/>
            <a:ext cx="15814929" cy="98286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材料不合适，有时不必去掉，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改一改就能贴近中心</a:t>
            </a:r>
            <a:r>
              <a:rPr lang="zh-CN" altLang="en-US" sz="24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：“常给我们讲故事”改成“常给我们讲戏里的故事”，这一条就能用了。</a:t>
            </a:r>
            <a:endParaRPr lang="zh-CN" sz="2400" dirty="0"/>
          </a:p>
        </p:txBody>
      </p:sp>
      <p:sp>
        <p:nvSpPr>
          <p:cNvPr id="24" name="Text 21"/>
          <p:cNvSpPr/>
          <p:nvPr/>
        </p:nvSpPr>
        <p:spPr>
          <a:xfrm>
            <a:off x="1687830" y="8896350"/>
            <a:ext cx="16038195" cy="9144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教材说：“要选择合适的材料，突出中心意思。”课文《灯光》只写两件事，合在一起才让人读出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先烈的献身精神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65" name="提示图标" descr="手指点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8859774"/>
            <a:ext cx="502920" cy="502920"/>
          </a:xfrm>
          <a:prstGeom prst="rect">
            <a:avLst/>
          </a:prstGeom>
        </p:spPr>
      </p:pic>
      <p:pic>
        <p:nvPicPr>
          <p:cNvPr id="66" name="吉祥物" descr="吉祥物-招手-030705a9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760" y="341947"/>
            <a:ext cx="1228953" cy="1920240"/>
          </a:xfrm>
          <a:prstGeom prst="rect">
            <a:avLst/>
          </a:prstGeom>
        </p:spPr>
      </p:pic>
      <p:pic>
        <p:nvPicPr>
          <p:cNvPr id="67" name="插图" descr="抠-戏迷爷爷-终稿取出-d9fddd19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5412" y="2377440"/>
            <a:ext cx="3541814" cy="4526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3E9F2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124712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留下的四条：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只能把一条写得最详细</a:t>
            </a: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，选哪一条？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2362200" cy="752475"/>
          </a:xfrm>
          <a:prstGeom prst="roundRect">
            <a:avLst>
              <a:gd name="adj" fmla="val 17722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343025" y="3038475"/>
            <a:ext cx="1948815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325" b="1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跑几十里看戏</a:t>
            </a:r>
            <a:endParaRPr lang="zh-CN" sz="2325" dirty="0"/>
          </a:p>
        </p:txBody>
      </p:sp>
      <p:sp>
        <p:nvSpPr>
          <p:cNvPr id="9" name="Shape 6"/>
          <p:cNvSpPr/>
          <p:nvPr/>
        </p:nvSpPr>
        <p:spPr>
          <a:xfrm>
            <a:off x="3600450" y="2857500"/>
            <a:ext cx="2066925" cy="752475"/>
          </a:xfrm>
          <a:prstGeom prst="roundRect">
            <a:avLst>
              <a:gd name="adj" fmla="val 17722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895725" y="3038475"/>
            <a:ext cx="1624012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325" b="1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组织戏班子</a:t>
            </a:r>
            <a:endParaRPr lang="zh-CN" sz="2325" dirty="0"/>
          </a:p>
        </p:txBody>
      </p:sp>
      <p:sp>
        <p:nvSpPr>
          <p:cNvPr id="11" name="Shape 8"/>
          <p:cNvSpPr/>
          <p:nvPr/>
        </p:nvSpPr>
        <p:spPr>
          <a:xfrm>
            <a:off x="5857875" y="2857500"/>
            <a:ext cx="5000625" cy="752475"/>
          </a:xfrm>
          <a:prstGeom prst="roundRect">
            <a:avLst>
              <a:gd name="adj" fmla="val 17722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143625" y="3028950"/>
            <a:ext cx="4872038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边炒菜边做戏曲动作，把菜炒煳了</a:t>
            </a:r>
            <a:endParaRPr lang="zh-CN" sz="2325" dirty="0"/>
          </a:p>
        </p:txBody>
      </p:sp>
      <p:sp>
        <p:nvSpPr>
          <p:cNvPr id="13" name="Shape 10"/>
          <p:cNvSpPr/>
          <p:nvPr/>
        </p:nvSpPr>
        <p:spPr>
          <a:xfrm>
            <a:off x="11049000" y="2857500"/>
            <a:ext cx="1771650" cy="752475"/>
          </a:xfrm>
          <a:prstGeom prst="roundRect">
            <a:avLst>
              <a:gd name="adj" fmla="val 17722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1344275" y="3038475"/>
            <a:ext cx="1257300" cy="4286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325" b="1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拜师学戏</a:t>
            </a:r>
            <a:endParaRPr lang="zh-CN" sz="2325" dirty="0"/>
          </a:p>
        </p:txBody>
      </p:sp>
      <p:sp>
        <p:nvSpPr>
          <p:cNvPr id="15" name="Shape 12"/>
          <p:cNvSpPr/>
          <p:nvPr/>
        </p:nvSpPr>
        <p:spPr>
          <a:xfrm>
            <a:off x="1047750" y="415290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409700" y="4000500"/>
            <a:ext cx="16305467" cy="9772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选哪一条，都看同一点：这一条</a:t>
            </a:r>
            <a:r>
              <a:rPr lang="zh-CN" alt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有没有动作、有没有结果</a:t>
            </a:r>
            <a:r>
              <a:rPr lang="zh-CN" alt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，能不能让人看见一个戏迷。炒菜那一条，菜煳了，有动作也有结果，最适合写具体。</a:t>
            </a:r>
            <a:endParaRPr lang="zh-CN" sz="2550" dirty="0"/>
          </a:p>
        </p:txBody>
      </p:sp>
      <p:sp>
        <p:nvSpPr>
          <p:cNvPr id="17" name="Shape 14"/>
          <p:cNvSpPr/>
          <p:nvPr/>
        </p:nvSpPr>
        <p:spPr>
          <a:xfrm>
            <a:off x="1047750" y="5301555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409700" y="5149155"/>
            <a:ext cx="16305467" cy="9772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选材料的第二步：</a:t>
            </a:r>
            <a:r>
              <a:rPr lang="zh-CN" alt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最能表现中心的那一条写具体，其余的一两句带过</a:t>
            </a:r>
            <a:r>
              <a:rPr lang="zh-CN" alt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。教材说：“重要的部分要写得详细、具体一些。”</a:t>
            </a:r>
            <a:endParaRPr lang="zh-CN" sz="2550" dirty="0"/>
          </a:p>
        </p:txBody>
      </p:sp>
      <p:sp>
        <p:nvSpPr>
          <p:cNvPr id="19" name="Shape 16"/>
          <p:cNvSpPr/>
          <p:nvPr/>
        </p:nvSpPr>
        <p:spPr>
          <a:xfrm>
            <a:off x="1047750" y="7040880"/>
            <a:ext cx="7886700" cy="1700213"/>
          </a:xfrm>
          <a:prstGeom prst="roundRect">
            <a:avLst>
              <a:gd name="adj" fmla="val 8964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352550" y="7269480"/>
            <a:ext cx="7495413" cy="128111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zh-CN" altLang="en-US" sz="217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《爸爸的计划》写几件事：</a:t>
            </a:r>
            <a:r>
              <a:rPr lang="zh-CN" alt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先罗列爸爸给每个人订的计划，再写两个典型事例，最后把订暑假计划写得最具体，整篇没有一句写爸爸别的事。</a:t>
            </a:r>
            <a:endParaRPr lang="zh-CN" sz="2175" dirty="0"/>
          </a:p>
        </p:txBody>
      </p:sp>
      <p:sp>
        <p:nvSpPr>
          <p:cNvPr id="21" name="Shape 18"/>
          <p:cNvSpPr/>
          <p:nvPr/>
        </p:nvSpPr>
        <p:spPr>
          <a:xfrm>
            <a:off x="9353550" y="7040880"/>
            <a:ext cx="7886700" cy="1700213"/>
          </a:xfrm>
          <a:prstGeom prst="roundRect">
            <a:avLst>
              <a:gd name="adj" fmla="val 8964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9658350" y="7269480"/>
            <a:ext cx="7495413" cy="8667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zh-CN" altLang="en-US" sz="217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《小站》写几个方面：</a:t>
            </a:r>
            <a:r>
              <a:rPr lang="zh-CN" alt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红榜、喷水池、杏树、月台上的人，一处一处写过去，最后落到给旅客带来温暖的春意上。</a:t>
            </a:r>
            <a:endParaRPr lang="zh-CN" sz="2175" dirty="0"/>
          </a:p>
        </p:txBody>
      </p:sp>
      <p:sp>
        <p:nvSpPr>
          <p:cNvPr id="23" name="Text 20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写几件事可以，写几个方面也可以，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都是为了表现那一个字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66" name="提示图标" descr="手指点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67" name="吉祥物" descr="吉祥物-招手-030705a9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760" y="341947"/>
            <a:ext cx="1228953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底带"/>
          <p:cNvSpPr/>
          <p:nvPr/>
        </p:nvSpPr>
        <p:spPr>
          <a:xfrm>
            <a:off x="1051560" y="4297680"/>
            <a:ext cx="6099048" cy="4892040"/>
          </a:xfrm>
          <a:prstGeom prst="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学写法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3E9F2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124712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围绕一个字选材料，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做三件事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1560" y="3145536"/>
            <a:ext cx="6099048" cy="960120"/>
          </a:xfrm>
          <a:prstGeom prst="roundRect">
            <a:avLst>
              <a:gd name="adj" fmla="val 3929"/>
            </a:avLst>
          </a:prstGeom>
          <a:gradFill rotWithShape="1">
            <a:gsLst>
              <a:gs pos="0">
                <a:srgbClr val="3D4A63">
                  <a:alpha val="100000"/>
                </a:srgbClr>
              </a:gs>
              <a:gs pos="100000">
                <a:srgbClr val="2C3650">
                  <a:alpha val="100000"/>
                </a:srgbClr>
              </a:gs>
            </a:gsLst>
            <a:lin ang="2700000" scaled="0"/>
          </a:gra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188720" y="3200400"/>
            <a:ext cx="5824728" cy="85039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6000"/>
              </a:lnSpc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定中心 选材料</a:t>
            </a:r>
            <a:endParaRPr lang="zh-CN" sz="7200" dirty="0"/>
          </a:p>
        </p:txBody>
      </p:sp>
      <p:sp>
        <p:nvSpPr>
          <p:cNvPr id="10" name="Shape 7"/>
          <p:cNvSpPr/>
          <p:nvPr/>
        </p:nvSpPr>
        <p:spPr>
          <a:xfrm>
            <a:off x="8001000" y="32385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171111" y="3314700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753475" y="3276600"/>
            <a:ext cx="5837396" cy="5381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先用一句话定下这个字代表的</a:t>
            </a:r>
            <a:r>
              <a:rPr lang="zh-CN" alt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中心意思</a:t>
            </a:r>
            <a:endParaRPr lang="zh-CN" sz="2625" dirty="0"/>
          </a:p>
        </p:txBody>
      </p:sp>
      <p:sp>
        <p:nvSpPr>
          <p:cNvPr id="13" name="Shape 10"/>
          <p:cNvSpPr/>
          <p:nvPr/>
        </p:nvSpPr>
        <p:spPr>
          <a:xfrm>
            <a:off x="8001000" y="4157663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171111" y="4233863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8753475" y="4195763"/>
            <a:ext cx="8741378" cy="1038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把想到的材料一条一条问一遍：</a:t>
            </a:r>
            <a:r>
              <a:rPr lang="zh-CN" alt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读的人能不能从中读出这个字</a:t>
            </a: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；读不出的去掉，改一改能贴近中心的就改</a:t>
            </a:r>
            <a:endParaRPr lang="zh-CN" sz="2625" dirty="0"/>
          </a:p>
        </p:txBody>
      </p:sp>
      <p:sp>
        <p:nvSpPr>
          <p:cNvPr id="16" name="Shape 13"/>
          <p:cNvSpPr/>
          <p:nvPr/>
        </p:nvSpPr>
        <p:spPr>
          <a:xfrm>
            <a:off x="8001000" y="5576888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171111" y="5653088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8753475" y="5614988"/>
            <a:ext cx="8741378" cy="1038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留下的两三条里，</a:t>
            </a:r>
            <a:r>
              <a:rPr lang="zh-CN" alt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最能表现这个字的那一条写具体</a:t>
            </a: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，其余一两句带过</a:t>
            </a:r>
            <a:endParaRPr lang="zh-CN" sz="2625" dirty="0"/>
          </a:p>
        </p:txBody>
      </p:sp>
      <p:sp>
        <p:nvSpPr>
          <p:cNvPr id="19" name="Text 16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教材第二题的六个题目，如“闲不住的奶奶”“弟弟变了”，判断的方法和刚才一样，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课后可以自己想一想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50" name="插图" descr="抠-P14-7d680786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4672949"/>
            <a:ext cx="5148072" cy="4324380"/>
          </a:xfrm>
          <a:prstGeom prst="rect">
            <a:avLst/>
          </a:prstGeom>
        </p:spPr>
      </p:pic>
      <p:pic>
        <p:nvPicPr>
          <p:cNvPr id="51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52" name="吉祥物" descr="吉祥物-招手-030705a97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228953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中心选材表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1428750"/>
            <a:ext cx="2724150" cy="6819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zh-CN" altLang="en-US" sz="39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中心选材表</a:t>
            </a:r>
            <a:endParaRPr lang="zh-CN" sz="3900" dirty="0"/>
          </a:p>
        </p:txBody>
      </p:sp>
      <p:sp>
        <p:nvSpPr>
          <p:cNvPr id="6" name="Text 3"/>
          <p:cNvSpPr/>
          <p:nvPr/>
        </p:nvSpPr>
        <p:spPr>
          <a:xfrm>
            <a:off x="1047750" y="2133600"/>
            <a:ext cx="1697355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50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这张表就是刚才说的三件事。先看老师填的一张：老师选的字是“忙”，“初试身手”第二题里正好有一个“忙碌的早晨”</a:t>
            </a:r>
            <a:endParaRPr lang="zh-CN" sz="2250" dirty="0"/>
          </a:p>
        </p:txBody>
      </p:sp>
      <p:sp>
        <p:nvSpPr>
          <p:cNvPr id="7" name="Shape 4"/>
          <p:cNvSpPr/>
          <p:nvPr/>
        </p:nvSpPr>
        <p:spPr>
          <a:xfrm>
            <a:off x="1047750" y="2819400"/>
            <a:ext cx="16192500" cy="5305425"/>
          </a:xfrm>
          <a:prstGeom prst="roundRect">
            <a:avLst>
              <a:gd name="adj" fmla="val 2513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28925"/>
            <a:ext cx="16173450" cy="6858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2981325"/>
            <a:ext cx="3101340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</a:t>
            </a:r>
            <a:endParaRPr lang="zh-CN" sz="2250" dirty="0"/>
          </a:p>
        </p:txBody>
      </p:sp>
      <p:sp>
        <p:nvSpPr>
          <p:cNvPr id="10" name="Shape 7"/>
          <p:cNvSpPr/>
          <p:nvPr/>
        </p:nvSpPr>
        <p:spPr>
          <a:xfrm>
            <a:off x="4486275" y="2828925"/>
            <a:ext cx="9525" cy="68580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800600" y="2981325"/>
            <a:ext cx="7470458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关键词</a:t>
            </a:r>
            <a:endParaRPr lang="zh-CN" sz="2250" dirty="0"/>
          </a:p>
        </p:txBody>
      </p:sp>
      <p:sp>
        <p:nvSpPr>
          <p:cNvPr id="12" name="Shape 9"/>
          <p:cNvSpPr/>
          <p:nvPr/>
        </p:nvSpPr>
        <p:spPr>
          <a:xfrm>
            <a:off x="11896725" y="2828925"/>
            <a:ext cx="9525" cy="68580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2211050" y="2981325"/>
            <a:ext cx="5186363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能不能读出这个字 · 详或略</a:t>
            </a:r>
            <a:endParaRPr lang="zh-CN" sz="2250" dirty="0"/>
          </a:p>
        </p:txBody>
      </p:sp>
      <p:sp>
        <p:nvSpPr>
          <p:cNvPr id="14" name="Shape 11"/>
          <p:cNvSpPr/>
          <p:nvPr/>
        </p:nvSpPr>
        <p:spPr>
          <a:xfrm>
            <a:off x="1057275" y="3514725"/>
            <a:ext cx="16173450" cy="65722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362075" y="3657600"/>
            <a:ext cx="292227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我选的字</a:t>
            </a:r>
            <a:endParaRPr lang="zh-CN" sz="2175" dirty="0"/>
          </a:p>
        </p:txBody>
      </p:sp>
      <p:sp>
        <p:nvSpPr>
          <p:cNvPr id="16" name="Shape 13"/>
          <p:cNvSpPr/>
          <p:nvPr/>
        </p:nvSpPr>
        <p:spPr>
          <a:xfrm>
            <a:off x="4486275" y="3514725"/>
            <a:ext cx="9525" cy="6572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800600" y="3657600"/>
            <a:ext cx="7013639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忙</a:t>
            </a:r>
            <a:endParaRPr lang="zh-CN" sz="2175" dirty="0"/>
          </a:p>
        </p:txBody>
      </p:sp>
      <p:sp>
        <p:nvSpPr>
          <p:cNvPr id="18" name="Shape 15"/>
          <p:cNvSpPr/>
          <p:nvPr/>
        </p:nvSpPr>
        <p:spPr>
          <a:xfrm>
            <a:off x="11896725" y="3514725"/>
            <a:ext cx="9525" cy="6572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57275" y="4171950"/>
            <a:ext cx="16173450" cy="6572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362075" y="4314825"/>
            <a:ext cx="292227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中心意思（一句话）</a:t>
            </a:r>
            <a:endParaRPr lang="zh-CN" sz="2175" dirty="0"/>
          </a:p>
        </p:txBody>
      </p:sp>
      <p:sp>
        <p:nvSpPr>
          <p:cNvPr id="21" name="Shape 18"/>
          <p:cNvSpPr/>
          <p:nvPr/>
        </p:nvSpPr>
        <p:spPr>
          <a:xfrm>
            <a:off x="4486275" y="4171950"/>
            <a:ext cx="9525" cy="6572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00600" y="4314825"/>
            <a:ext cx="7013639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我们家的忙，全挤在早上七点到七点二十这二十分钟里</a:t>
            </a:r>
            <a:endParaRPr lang="zh-CN" sz="2175" dirty="0"/>
          </a:p>
        </p:txBody>
      </p:sp>
      <p:sp>
        <p:nvSpPr>
          <p:cNvPr id="23" name="Shape 20"/>
          <p:cNvSpPr/>
          <p:nvPr/>
        </p:nvSpPr>
        <p:spPr>
          <a:xfrm>
            <a:off x="11896725" y="4171950"/>
            <a:ext cx="9525" cy="6572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12211050" y="4314825"/>
            <a:ext cx="48748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谁的忙，忙在哪里</a:t>
            </a:r>
            <a:endParaRPr lang="zh-CN" sz="2175" dirty="0"/>
          </a:p>
        </p:txBody>
      </p:sp>
      <p:sp>
        <p:nvSpPr>
          <p:cNvPr id="25" name="Shape 22"/>
          <p:cNvSpPr/>
          <p:nvPr/>
        </p:nvSpPr>
        <p:spPr>
          <a:xfrm>
            <a:off x="1057275" y="4829175"/>
            <a:ext cx="16173450" cy="65722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362075" y="4972050"/>
            <a:ext cx="292227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材料一</a:t>
            </a:r>
            <a:endParaRPr lang="zh-CN" sz="2175" dirty="0"/>
          </a:p>
        </p:txBody>
      </p:sp>
      <p:sp>
        <p:nvSpPr>
          <p:cNvPr id="27" name="Shape 24"/>
          <p:cNvSpPr/>
          <p:nvPr/>
        </p:nvSpPr>
        <p:spPr>
          <a:xfrm>
            <a:off x="4486275" y="4829175"/>
            <a:ext cx="9525" cy="6572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800600" y="4972050"/>
            <a:ext cx="7013639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妈妈 · 肩膀夹着手机接电话 · 锅铲翻煎蛋 · 扎头发</a:t>
            </a:r>
            <a:endParaRPr lang="zh-CN" sz="2175" dirty="0"/>
          </a:p>
        </p:txBody>
      </p:sp>
      <p:sp>
        <p:nvSpPr>
          <p:cNvPr id="29" name="Shape 26"/>
          <p:cNvSpPr/>
          <p:nvPr/>
        </p:nvSpPr>
        <p:spPr>
          <a:xfrm>
            <a:off x="11896725" y="4829175"/>
            <a:ext cx="9525" cy="6572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12211050" y="4972050"/>
            <a:ext cx="48748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 · 详</a:t>
            </a:r>
            <a:endParaRPr lang="zh-CN" sz="2175" dirty="0"/>
          </a:p>
        </p:txBody>
      </p:sp>
      <p:sp>
        <p:nvSpPr>
          <p:cNvPr id="31" name="Shape 28"/>
          <p:cNvSpPr/>
          <p:nvPr/>
        </p:nvSpPr>
        <p:spPr>
          <a:xfrm>
            <a:off x="1057275" y="5486400"/>
            <a:ext cx="16173450" cy="6572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1362075" y="5629275"/>
            <a:ext cx="292227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材料二</a:t>
            </a:r>
            <a:endParaRPr lang="zh-CN" sz="2175" dirty="0"/>
          </a:p>
        </p:txBody>
      </p:sp>
      <p:sp>
        <p:nvSpPr>
          <p:cNvPr id="33" name="Shape 30"/>
          <p:cNvSpPr/>
          <p:nvPr/>
        </p:nvSpPr>
        <p:spPr>
          <a:xfrm>
            <a:off x="4486275" y="5486400"/>
            <a:ext cx="9525" cy="6572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4800600" y="5629275"/>
            <a:ext cx="7013639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爸爸 · 找车钥匙 · 每天在一个新地方</a:t>
            </a:r>
            <a:endParaRPr lang="zh-CN" sz="2175" dirty="0"/>
          </a:p>
        </p:txBody>
      </p:sp>
      <p:sp>
        <p:nvSpPr>
          <p:cNvPr id="35" name="Shape 32"/>
          <p:cNvSpPr/>
          <p:nvPr/>
        </p:nvSpPr>
        <p:spPr>
          <a:xfrm>
            <a:off x="11896725" y="5486400"/>
            <a:ext cx="9525" cy="6572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12211050" y="5629275"/>
            <a:ext cx="48748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 · 略</a:t>
            </a:r>
            <a:endParaRPr lang="zh-CN" sz="2175" dirty="0"/>
          </a:p>
        </p:txBody>
      </p:sp>
      <p:sp>
        <p:nvSpPr>
          <p:cNvPr id="37" name="Shape 34"/>
          <p:cNvSpPr/>
          <p:nvPr/>
        </p:nvSpPr>
        <p:spPr>
          <a:xfrm>
            <a:off x="1057275" y="6143625"/>
            <a:ext cx="16173450" cy="65722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1362075" y="6286500"/>
            <a:ext cx="292227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材料三</a:t>
            </a:r>
            <a:endParaRPr lang="zh-CN" sz="2175" dirty="0"/>
          </a:p>
        </p:txBody>
      </p:sp>
      <p:sp>
        <p:nvSpPr>
          <p:cNvPr id="39" name="Shape 36"/>
          <p:cNvSpPr/>
          <p:nvPr/>
        </p:nvSpPr>
        <p:spPr>
          <a:xfrm>
            <a:off x="4486275" y="6143625"/>
            <a:ext cx="9525" cy="6572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4800600" y="6286500"/>
            <a:ext cx="7013639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 · 一边刷牙一边背古诗 · 牙膏沫溅到书上</a:t>
            </a:r>
            <a:endParaRPr lang="zh-CN" sz="2175" dirty="0"/>
          </a:p>
        </p:txBody>
      </p:sp>
      <p:sp>
        <p:nvSpPr>
          <p:cNvPr id="41" name="Shape 38"/>
          <p:cNvSpPr/>
          <p:nvPr/>
        </p:nvSpPr>
        <p:spPr>
          <a:xfrm>
            <a:off x="11896725" y="6143625"/>
            <a:ext cx="9525" cy="6572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12211050" y="6286500"/>
            <a:ext cx="48748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 · 略</a:t>
            </a:r>
            <a:endParaRPr lang="zh-CN" sz="2175" dirty="0"/>
          </a:p>
        </p:txBody>
      </p:sp>
      <p:sp>
        <p:nvSpPr>
          <p:cNvPr id="43" name="Shape 40"/>
          <p:cNvSpPr/>
          <p:nvPr/>
        </p:nvSpPr>
        <p:spPr>
          <a:xfrm>
            <a:off x="1057275" y="6800850"/>
            <a:ext cx="16173450" cy="6572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1362075" y="6943725"/>
            <a:ext cx="292227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材料四</a:t>
            </a:r>
            <a:endParaRPr lang="zh-CN" sz="2175" dirty="0"/>
          </a:p>
        </p:txBody>
      </p:sp>
      <p:sp>
        <p:nvSpPr>
          <p:cNvPr id="45" name="Shape 42"/>
          <p:cNvSpPr/>
          <p:nvPr/>
        </p:nvSpPr>
        <p:spPr>
          <a:xfrm>
            <a:off x="4486275" y="6800850"/>
            <a:ext cx="9525" cy="6572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4800600" y="6943725"/>
            <a:ext cx="7013639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妈妈煎的蛋很好吃</a:t>
            </a:r>
            <a:endParaRPr lang="zh-CN" sz="2175" dirty="0"/>
          </a:p>
        </p:txBody>
      </p:sp>
      <p:sp>
        <p:nvSpPr>
          <p:cNvPr id="47" name="Shape 44"/>
          <p:cNvSpPr/>
          <p:nvPr/>
        </p:nvSpPr>
        <p:spPr>
          <a:xfrm>
            <a:off x="11896725" y="6800850"/>
            <a:ext cx="9525" cy="6572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48" name="Text 45"/>
          <p:cNvSpPr/>
          <p:nvPr/>
        </p:nvSpPr>
        <p:spPr>
          <a:xfrm>
            <a:off x="12211050" y="6943725"/>
            <a:ext cx="48748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不能，读出的是好吃 · 去掉</a:t>
            </a:r>
            <a:endParaRPr lang="zh-CN" sz="2175" dirty="0"/>
          </a:p>
        </p:txBody>
      </p:sp>
      <p:sp>
        <p:nvSpPr>
          <p:cNvPr id="49" name="Shape 46"/>
          <p:cNvSpPr/>
          <p:nvPr/>
        </p:nvSpPr>
        <p:spPr>
          <a:xfrm>
            <a:off x="1057275" y="7458075"/>
            <a:ext cx="16173450" cy="65722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1362075" y="7600950"/>
            <a:ext cx="292227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材料五</a:t>
            </a:r>
            <a:endParaRPr lang="zh-CN" sz="2175" dirty="0"/>
          </a:p>
        </p:txBody>
      </p:sp>
      <p:sp>
        <p:nvSpPr>
          <p:cNvPr id="51" name="Shape 48"/>
          <p:cNvSpPr/>
          <p:nvPr/>
        </p:nvSpPr>
        <p:spPr>
          <a:xfrm>
            <a:off x="4486275" y="7458075"/>
            <a:ext cx="9525" cy="6572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4800600" y="7600950"/>
            <a:ext cx="7013639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dirty="0">
                <a:solidFill>
                  <a:srgbClr val="8A929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周六全家睡到九点</a:t>
            </a:r>
            <a:endParaRPr lang="zh-CN" sz="2175" dirty="0"/>
          </a:p>
        </p:txBody>
      </p:sp>
      <p:sp>
        <p:nvSpPr>
          <p:cNvPr id="53" name="Shape 50"/>
          <p:cNvSpPr/>
          <p:nvPr/>
        </p:nvSpPr>
        <p:spPr>
          <a:xfrm>
            <a:off x="11896725" y="7458075"/>
            <a:ext cx="9525" cy="6572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54" name="Text 51"/>
          <p:cNvSpPr/>
          <p:nvPr/>
        </p:nvSpPr>
        <p:spPr>
          <a:xfrm>
            <a:off x="12211050" y="7600950"/>
            <a:ext cx="487489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不能，读出的是不忙 · 去掉</a:t>
            </a:r>
            <a:endParaRPr lang="zh-CN" sz="2175" dirty="0"/>
          </a:p>
        </p:txBody>
      </p:sp>
      <p:sp>
        <p:nvSpPr>
          <p:cNvPr id="55" name="Text 52"/>
          <p:cNvSpPr/>
          <p:nvPr/>
        </p:nvSpPr>
        <p:spPr>
          <a:xfrm>
            <a:off x="1047750" y="8915400"/>
            <a:ext cx="16678275" cy="9144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第二行那一句是关键：字后面要有一句话说清楚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谁的忙，忙在哪里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。有了这一句，后面每一条材料才有判断的依据。</a:t>
            </a:r>
            <a:endParaRPr lang="zh-CN" sz="260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底带"/>
          <p:cNvSpPr/>
          <p:nvPr/>
        </p:nvSpPr>
        <p:spPr>
          <a:xfrm>
            <a:off x="0" y="6217920"/>
            <a:ext cx="18288000" cy="4069080"/>
          </a:xfrm>
          <a:prstGeom prst="rect">
            <a:avLst/>
          </a:prstGeom>
          <a:solidFill>
            <a:srgbClr val="FD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中心选材表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3E9F2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124712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轮到你了：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填自己的表，再和同桌互说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028950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2990850"/>
            <a:ext cx="15903226" cy="9810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4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把稿纸角上写的事直接抄进材料各行。第二行那一句自己定，一时拿不定主意的，可以先写</a:t>
            </a:r>
            <a:r>
              <a:rPr lang="zh-CN" altLang="en-US" sz="24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“谁的什么”</a:t>
            </a:r>
            <a:r>
              <a:rPr lang="zh-CN" altLang="en-US" sz="24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，比如“弟弟的变”“奶奶的闲不住”</a:t>
            </a:r>
            <a:endParaRPr lang="zh-CN" sz="2475" dirty="0"/>
          </a:p>
        </p:txBody>
      </p:sp>
      <p:sp>
        <p:nvSpPr>
          <p:cNvPr id="10" name="Shape 7"/>
          <p:cNvSpPr/>
          <p:nvPr/>
        </p:nvSpPr>
        <p:spPr>
          <a:xfrm>
            <a:off x="1047750" y="420052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4276725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4238625"/>
            <a:ext cx="15903226" cy="9810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4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逐条判断：读的人能不能从这一条读出这个字，能就写“能”，不能就写“去掉”，</a:t>
            </a:r>
            <a:r>
              <a:rPr lang="zh-CN" altLang="en-US" sz="24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改一改能贴近中心的，把改法写在旁边</a:t>
            </a:r>
            <a:endParaRPr lang="zh-CN" sz="2475" dirty="0"/>
          </a:p>
        </p:txBody>
      </p:sp>
      <p:sp>
        <p:nvSpPr>
          <p:cNvPr id="13" name="Shape 10"/>
          <p:cNvSpPr/>
          <p:nvPr/>
        </p:nvSpPr>
        <p:spPr>
          <a:xfrm>
            <a:off x="1047750" y="54483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5524500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5486400"/>
            <a:ext cx="8741378" cy="5095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4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留下的材料里</a:t>
            </a:r>
            <a:r>
              <a:rPr lang="zh-CN" altLang="en-US" sz="24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选一条标“详”，其余标“略”</a:t>
            </a:r>
            <a:r>
              <a:rPr lang="zh-CN" altLang="en-US" sz="24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。给大家六分钟</a:t>
            </a:r>
            <a:endParaRPr lang="zh-CN" sz="2475" dirty="0"/>
          </a:p>
        </p:txBody>
      </p:sp>
      <p:sp>
        <p:nvSpPr>
          <p:cNvPr id="16" name="Shape 13"/>
          <p:cNvSpPr/>
          <p:nvPr/>
        </p:nvSpPr>
        <p:spPr>
          <a:xfrm>
            <a:off x="1047750" y="6381750"/>
            <a:ext cx="11795760" cy="1783080"/>
          </a:xfrm>
          <a:prstGeom prst="roundRect">
            <a:avLst>
              <a:gd name="adj" fmla="val 11594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409700" y="6610350"/>
            <a:ext cx="11430000" cy="1371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25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填好后和同桌互说，时间三分钟：</a:t>
            </a:r>
            <a:r>
              <a:rPr lang="zh-CN" altLang="en-US" sz="225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作者先说自己的字，再把留下的每一条材料读一遍；同桌每听一条，只答</a:t>
            </a: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“读得出”或者“读不出”</a:t>
            </a:r>
            <a:r>
              <a:rPr lang="zh-CN" altLang="en-US" sz="225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。答“读不出”的那一条，由作者自己决定：去掉还是修改。</a:t>
            </a:r>
            <a:endParaRPr lang="zh-CN" sz="2250" dirty="0"/>
          </a:p>
        </p:txBody>
      </p:sp>
      <p:sp>
        <p:nvSpPr>
          <p:cNvPr id="18" name="Text 15"/>
          <p:cNvSpPr/>
          <p:nvPr/>
        </p:nvSpPr>
        <p:spPr>
          <a:xfrm>
            <a:off x="1687830" y="9334500"/>
            <a:ext cx="1033272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填这张表，或者拟一个提纲，都可以；必须写在纸上的只有两项：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中心意思那一句，每一条材料后面的判断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50" name="插图" descr="抠-P16-b002bcec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7695" y="6355080"/>
            <a:ext cx="4513580" cy="3607435"/>
          </a:xfrm>
          <a:prstGeom prst="rect">
            <a:avLst/>
          </a:prstGeom>
        </p:spPr>
      </p:pic>
      <p:pic>
        <p:nvPicPr>
          <p:cNvPr id="51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52" name="吉祥物" descr="吉祥物-招手-030705a97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228953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底带"/>
          <p:cNvSpPr/>
          <p:nvPr/>
        </p:nvSpPr>
        <p:spPr>
          <a:xfrm>
            <a:off x="0" y="7223760"/>
            <a:ext cx="18288000" cy="3063240"/>
          </a:xfrm>
          <a:prstGeom prst="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教师示范文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3E9F2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124712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表上的材料一：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在文章里写成了什么样</a:t>
            </a:r>
            <a:endParaRPr lang="zh-CN" sz="3205" dirty="0"/>
          </a:p>
        </p:txBody>
      </p:sp>
      <p:sp>
        <p:nvSpPr>
          <p:cNvPr id="7" name="Text 4"/>
          <p:cNvSpPr/>
          <p:nvPr/>
        </p:nvSpPr>
        <p:spPr>
          <a:xfrm>
            <a:off x="1047750" y="2862263"/>
            <a:ext cx="220027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5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表上的关键词：</a:t>
            </a:r>
            <a:endParaRPr lang="zh-CN" sz="2250" dirty="0"/>
          </a:p>
        </p:txBody>
      </p:sp>
      <p:sp>
        <p:nvSpPr>
          <p:cNvPr id="8" name="Shape 5"/>
          <p:cNvSpPr/>
          <p:nvPr/>
        </p:nvSpPr>
        <p:spPr>
          <a:xfrm>
            <a:off x="3238500" y="2762250"/>
            <a:ext cx="1028700" cy="581025"/>
          </a:xfrm>
          <a:prstGeom prst="roundRect">
            <a:avLst>
              <a:gd name="adj" fmla="val 19672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476625" y="2867025"/>
            <a:ext cx="628650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妈妈</a:t>
            </a:r>
            <a:endParaRPr lang="zh-CN" sz="2175" dirty="0"/>
          </a:p>
        </p:txBody>
      </p:sp>
      <p:sp>
        <p:nvSpPr>
          <p:cNvPr id="10" name="Shape 7"/>
          <p:cNvSpPr/>
          <p:nvPr/>
        </p:nvSpPr>
        <p:spPr>
          <a:xfrm>
            <a:off x="4457700" y="2762250"/>
            <a:ext cx="2962275" cy="581025"/>
          </a:xfrm>
          <a:prstGeom prst="roundRect">
            <a:avLst>
              <a:gd name="adj" fmla="val 19672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695825" y="2867025"/>
            <a:ext cx="2734628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肩膀夹着手机接电话</a:t>
            </a:r>
            <a:endParaRPr lang="zh-CN" sz="2175" dirty="0"/>
          </a:p>
        </p:txBody>
      </p:sp>
      <p:sp>
        <p:nvSpPr>
          <p:cNvPr id="12" name="Shape 9"/>
          <p:cNvSpPr/>
          <p:nvPr/>
        </p:nvSpPr>
        <p:spPr>
          <a:xfrm>
            <a:off x="7610475" y="2762250"/>
            <a:ext cx="1857375" cy="581025"/>
          </a:xfrm>
          <a:prstGeom prst="roundRect">
            <a:avLst>
              <a:gd name="adj" fmla="val 19672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848600" y="2867025"/>
            <a:ext cx="1519238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锅铲翻煎蛋</a:t>
            </a:r>
            <a:endParaRPr lang="zh-CN" sz="2175" dirty="0"/>
          </a:p>
        </p:txBody>
      </p:sp>
      <p:sp>
        <p:nvSpPr>
          <p:cNvPr id="14" name="Shape 11"/>
          <p:cNvSpPr/>
          <p:nvPr/>
        </p:nvSpPr>
        <p:spPr>
          <a:xfrm>
            <a:off x="9658350" y="2762250"/>
            <a:ext cx="1304925" cy="581025"/>
          </a:xfrm>
          <a:prstGeom prst="roundRect">
            <a:avLst>
              <a:gd name="adj" fmla="val 19672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9896475" y="2867025"/>
            <a:ext cx="904875" cy="4095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75" b="1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扎头发</a:t>
            </a:r>
            <a:endParaRPr lang="zh-CN" sz="2175" dirty="0"/>
          </a:p>
        </p:txBody>
      </p:sp>
      <p:sp>
        <p:nvSpPr>
          <p:cNvPr id="16" name="Shape 13"/>
          <p:cNvSpPr/>
          <p:nvPr/>
        </p:nvSpPr>
        <p:spPr>
          <a:xfrm>
            <a:off x="1047750" y="3619500"/>
            <a:ext cx="16192500" cy="2919264"/>
          </a:xfrm>
          <a:prstGeom prst="roundRect">
            <a:avLst>
              <a:gd name="adj" fmla="val 5873"/>
            </a:avLst>
          </a:prstGeom>
          <a:solidFill>
            <a:srgbClr val="F7F5F2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524000" y="3905250"/>
            <a:ext cx="15697200" cy="238586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552450" algn="l">
              <a:lnSpc>
                <a:spcPct val="126000"/>
              </a:lnSpc>
              <a:buNone/>
            </a:pPr>
            <a:r>
              <a:rPr lang="zh-CN" alt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七点刚过，厨房里同时响着三样声音：油锅里鸡蛋的滋啦声，妈妈的手机铃声，还有她冲着卧室喊我起床的声音。妈妈正煎着蛋，手机一响，她</a:t>
            </a:r>
            <a:r>
              <a:rPr lang="zh-CN" altLang="en-US" sz="217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把锅铲往锅沿上一搁</a:t>
            </a:r>
            <a:r>
              <a:rPr lang="zh-CN" alt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，腾出手</a:t>
            </a:r>
            <a:r>
              <a:rPr lang="zh-CN" altLang="en-US" sz="217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把手机夹在肩膀和耳朵中间，歪着头接起来</a:t>
            </a:r>
            <a:r>
              <a:rPr lang="zh-CN" alt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：“对，那份表我改过了。”两只手也没停，</a:t>
            </a:r>
            <a:r>
              <a:rPr lang="zh-CN" altLang="en-US" sz="217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把皮筋往头顶上一举，几下扎好了头发</a:t>
            </a:r>
            <a:r>
              <a:rPr lang="zh-CN" alt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。话说到一半，锅里的鸡蛋边上有点发黄了，她抽出一只手</a:t>
            </a:r>
            <a:r>
              <a:rPr lang="zh-CN" altLang="en-US" sz="217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把锅铲一翻，鸡蛋在锅里转了半圈</a:t>
            </a:r>
            <a:r>
              <a:rPr lang="zh-CN" altLang="en-US" sz="21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，正好翻了个面。等她把电话挂掉，头发也扎好了，鸡蛋也铲进盘子里，锅铲还搁在灶台上冒着热气。</a:t>
            </a:r>
            <a:r>
              <a:rPr lang="zh-CN" altLang="en-US" sz="21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这一整套动作，她早上做惯了，从来没有把鸡蛋煎煳过。</a:t>
            </a:r>
            <a:endParaRPr lang="zh-CN" sz="2175" dirty="0"/>
          </a:p>
        </p:txBody>
      </p:sp>
      <p:sp>
        <p:nvSpPr>
          <p:cNvPr id="18" name="Text 15"/>
          <p:cNvSpPr/>
          <p:nvPr/>
        </p:nvSpPr>
        <p:spPr>
          <a:xfrm>
            <a:off x="1047750" y="7524750"/>
            <a:ext cx="381000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485900" y="7524750"/>
            <a:ext cx="7040880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表上只有十几个字，到了文章里，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写成了几句</a:t>
            </a: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sz="2400" dirty="0"/>
          </a:p>
        </p:txBody>
      </p:sp>
      <p:sp>
        <p:nvSpPr>
          <p:cNvPr id="20" name="Text 17"/>
          <p:cNvSpPr/>
          <p:nvPr/>
        </p:nvSpPr>
        <p:spPr>
          <a:xfrm>
            <a:off x="9353550" y="7524750"/>
            <a:ext cx="381000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9791700" y="7524750"/>
            <a:ext cx="5029200" cy="47997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文章里有、表上没有的，</a:t>
            </a:r>
            <a:r>
              <a:rPr lang="zh-CN" altLang="en-US" sz="24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是什么</a:t>
            </a: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sz="2400" dirty="0"/>
          </a:p>
        </p:txBody>
      </p:sp>
      <p:sp>
        <p:nvSpPr>
          <p:cNvPr id="22" name="Text 19"/>
          <p:cNvSpPr/>
          <p:nvPr/>
        </p:nvSpPr>
        <p:spPr>
          <a:xfrm>
            <a:off x="1687830" y="9334500"/>
            <a:ext cx="1243584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详写，就是把这一条拆开，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一个动作一个动作写出来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；最后那一句是写到这里才想到的，表上没有。</a:t>
            </a:r>
            <a:endParaRPr lang="zh-CN" sz="2605" dirty="0"/>
          </a:p>
        </p:txBody>
      </p:sp>
      <p:pic>
        <p:nvPicPr>
          <p:cNvPr id="62" name="插图" descr="抠-P01-3778f8b2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7237" y="5852160"/>
            <a:ext cx="3089605" cy="4434840"/>
          </a:xfrm>
          <a:prstGeom prst="rect">
            <a:avLst/>
          </a:prstGeom>
        </p:spPr>
      </p:pic>
      <p:pic>
        <p:nvPicPr>
          <p:cNvPr id="63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64" name="吉祥物" descr="吉祥物-招手-030705a97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228953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教师示范文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09700"/>
            <a:ext cx="12942570" cy="838200"/>
          </a:xfrm>
          <a:prstGeom prst="roundRect">
            <a:avLst>
              <a:gd name="adj" fmla="val 22727"/>
            </a:avLst>
          </a:prstGeom>
          <a:solidFill>
            <a:srgbClr val="E3E9F2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28750" y="1562100"/>
            <a:ext cx="11247120" cy="5715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老师填的那张表，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写成了一篇《忙》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266950"/>
            <a:ext cx="16192500" cy="6877050"/>
          </a:xfrm>
          <a:prstGeom prst="roundRect">
            <a:avLst>
              <a:gd name="adj" fmla="val 2493"/>
            </a:avLst>
          </a:prstGeom>
          <a:solidFill>
            <a:srgbClr val="F7F5F2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581150" y="2533650"/>
            <a:ext cx="16638270" cy="39528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476250" algn="just">
              <a:lnSpc>
                <a:spcPct val="114000"/>
              </a:lnSpc>
              <a:buNone/>
            </a:pPr>
            <a:r>
              <a:rPr lang="zh-CN" altLang="en-US" sz="18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我们家的忙，全挤在早上七点到七点二十这二十分钟里。</a:t>
            </a:r>
            <a:endParaRPr lang="zh-CN" sz="1875" dirty="0"/>
          </a:p>
        </p:txBody>
      </p:sp>
      <p:sp>
        <p:nvSpPr>
          <p:cNvPr id="9" name="Text 6"/>
          <p:cNvSpPr/>
          <p:nvPr/>
        </p:nvSpPr>
        <p:spPr>
          <a:xfrm>
            <a:off x="1581150" y="2967038"/>
            <a:ext cx="15579471" cy="1466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476250" algn="just">
              <a:lnSpc>
                <a:spcPct val="114000"/>
              </a:lnSpc>
              <a:buNone/>
            </a:pPr>
            <a:r>
              <a:rPr lang="zh-CN" altLang="en-US" sz="18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七点刚过，</a:t>
            </a:r>
            <a:r>
              <a:rPr lang="zh-CN" altLang="en-US" sz="187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厨房里同时响着三样声音</a:t>
            </a:r>
            <a:r>
              <a:rPr lang="zh-CN" altLang="en-US" sz="18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：油锅里鸡蛋的滋啦声，妈妈的手机铃声，还有她冲着卧室喊我起床的声音。妈妈正煎着蛋，手机一响，她把锅铲往锅沿上一搁，</a:t>
            </a:r>
            <a:r>
              <a:rPr lang="zh-CN" altLang="en-US" sz="187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腾出手把手机夹在肩膀和耳朵中间，歪着头接起来</a:t>
            </a:r>
            <a:r>
              <a:rPr lang="zh-CN" altLang="en-US" sz="18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“对，那份表我改过了。”两只手也没停，把皮筋往头顶上一举，几下扎好了头发。话说到一半，锅里的鸡蛋边上有点发黄了，她抽出一只手把锅铲一翻，鸡蛋在锅里转了半圈，正好翻了个面。等她把电话挂掉，头发也扎好了，鸡蛋也铲进盘子里，锅铲还搁在灶台上冒着热气。这一整套动作，她早上做惯了，</a:t>
            </a:r>
            <a:r>
              <a:rPr lang="zh-CN" altLang="en-US" sz="187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从来没有把鸡蛋煎煳过</a:t>
            </a:r>
            <a:r>
              <a:rPr lang="zh-CN" altLang="en-US" sz="18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1875" dirty="0"/>
          </a:p>
        </p:txBody>
      </p:sp>
      <p:sp>
        <p:nvSpPr>
          <p:cNvPr id="10" name="Text 7"/>
          <p:cNvSpPr/>
          <p:nvPr/>
        </p:nvSpPr>
        <p:spPr>
          <a:xfrm>
            <a:off x="1581150" y="4471988"/>
            <a:ext cx="15579471" cy="7524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476250" algn="just">
              <a:lnSpc>
                <a:spcPct val="114000"/>
              </a:lnSpc>
              <a:buNone/>
            </a:pPr>
            <a:r>
              <a:rPr lang="zh-CN" altLang="en-US" sz="1875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爸爸的忙，忙在找车钥匙上。</a:t>
            </a:r>
            <a:r>
              <a:rPr lang="zh-CN" altLang="en-US" sz="18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他的钥匙每天早上都在一个新地方：</a:t>
            </a:r>
            <a:r>
              <a:rPr lang="zh-CN" altLang="en-US" sz="1875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前天落在沙发缝里，昨天在饭桌的报纸底下，今天又揣在了外套口袋里</a:t>
            </a:r>
            <a:r>
              <a:rPr lang="zh-CN" altLang="en-US" sz="18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。他一边四处翻找，嘴里念叨着“我明明放这儿了”，慌乱间还把外套穿反了。</a:t>
            </a:r>
            <a:endParaRPr lang="zh-CN" sz="1875" dirty="0"/>
          </a:p>
        </p:txBody>
      </p:sp>
      <p:sp>
        <p:nvSpPr>
          <p:cNvPr id="11" name="Text 8"/>
          <p:cNvSpPr/>
          <p:nvPr/>
        </p:nvSpPr>
        <p:spPr>
          <a:xfrm>
            <a:off x="1581150" y="5262563"/>
            <a:ext cx="15579471" cy="11096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476250" algn="just">
              <a:lnSpc>
                <a:spcPct val="114000"/>
              </a:lnSpc>
              <a:buNone/>
            </a:pPr>
            <a:r>
              <a:rPr lang="zh-CN" altLang="en-US" sz="18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我呢，左手攥着牙刷，右手捧着语文书，一边刷牙，一边背诵《宿建德江》。</a:t>
            </a:r>
            <a:r>
              <a:rPr lang="zh-CN" altLang="en-US" sz="1875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牙膏沫溅到书页上，我随手用袖子一抹，又接着往下背</a:t>
            </a:r>
            <a:r>
              <a:rPr lang="zh-CN" altLang="en-US" sz="18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。背到一半才猛然想起红领巾还没戴，昨天放学随手塞进书包，此刻从包底摸出来，已经皱成一团，我只好先塞进口袋，打算下楼之后边走边把它捋平整。</a:t>
            </a:r>
            <a:endParaRPr lang="zh-CN" sz="1875" dirty="0"/>
          </a:p>
        </p:txBody>
      </p:sp>
      <p:sp>
        <p:nvSpPr>
          <p:cNvPr id="12" name="Text 9"/>
          <p:cNvSpPr/>
          <p:nvPr/>
        </p:nvSpPr>
        <p:spPr>
          <a:xfrm>
            <a:off x="1581150" y="6410325"/>
            <a:ext cx="9326880" cy="8229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476250" algn="just">
              <a:lnSpc>
                <a:spcPct val="114000"/>
              </a:lnSpc>
              <a:buNone/>
            </a:pPr>
            <a:r>
              <a:rPr lang="zh-CN" altLang="en-US" sz="18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七点二十，</a:t>
            </a:r>
            <a:r>
              <a:rPr lang="zh-CN" altLang="en-US" sz="1875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家门“咔嗒”一声关上，方才屋里此起彼伏的喧闹瞬间归于安静</a:t>
            </a:r>
            <a:r>
              <a:rPr lang="zh-CN" altLang="en-US" sz="18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。三个人下楼的脚步声，一个比一个急促。</a:t>
            </a:r>
            <a:endParaRPr lang="zh-CN" sz="1875" dirty="0"/>
          </a:p>
        </p:txBody>
      </p:sp>
      <p:sp>
        <p:nvSpPr>
          <p:cNvPr id="13" name="Text 10"/>
          <p:cNvSpPr/>
          <p:nvPr/>
        </p:nvSpPr>
        <p:spPr>
          <a:xfrm>
            <a:off x="1581150" y="7269480"/>
            <a:ext cx="9326880" cy="164592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476250" algn="just">
              <a:lnSpc>
                <a:spcPct val="114000"/>
              </a:lnSpc>
              <a:buNone/>
            </a:pPr>
            <a:r>
              <a:rPr lang="zh-CN" altLang="en-US" sz="18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我跟在最后，手插进外套口袋，摸到一个温温的东西。</a:t>
            </a:r>
            <a:r>
              <a:rPr lang="zh-CN" altLang="en-US" sz="1875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是早上那个没来得及吃的煎鸡蛋，装在小小的保鲜袋里</a:t>
            </a:r>
            <a:r>
              <a:rPr lang="zh-CN" altLang="en-US" sz="187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，我竟完全没留意妈妈是什么时候悄悄塞进来的。</a:t>
            </a:r>
            <a:endParaRPr lang="zh-CN" sz="1875" dirty="0"/>
          </a:p>
        </p:txBody>
      </p:sp>
      <p:sp>
        <p:nvSpPr>
          <p:cNvPr id="14" name="Text 11"/>
          <p:cNvSpPr/>
          <p:nvPr/>
        </p:nvSpPr>
        <p:spPr>
          <a:xfrm>
            <a:off x="1047750" y="9410700"/>
            <a:ext cx="2518365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一句点出中心意思</a:t>
            </a:r>
            <a:endParaRPr lang="zh-CN" sz="2025" dirty="0"/>
          </a:p>
        </p:txBody>
      </p:sp>
      <p:sp>
        <p:nvSpPr>
          <p:cNvPr id="15" name="Text 12"/>
          <p:cNvSpPr/>
          <p:nvPr/>
        </p:nvSpPr>
        <p:spPr>
          <a:xfrm>
            <a:off x="3680073" y="9410700"/>
            <a:ext cx="4498613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25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详写的一条：一个动作一个动作写</a:t>
            </a:r>
            <a:endParaRPr lang="zh-CN" sz="2025" dirty="0"/>
          </a:p>
        </p:txBody>
      </p:sp>
      <p:sp>
        <p:nvSpPr>
          <p:cNvPr id="16" name="Text 13"/>
          <p:cNvSpPr/>
          <p:nvPr/>
        </p:nvSpPr>
        <p:spPr>
          <a:xfrm>
            <a:off x="8112621" y="9410700"/>
            <a:ext cx="3367043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25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略写的两条：一两句带过</a:t>
            </a:r>
            <a:endParaRPr lang="zh-CN" sz="2025" dirty="0"/>
          </a:p>
        </p:txBody>
      </p:sp>
      <p:sp>
        <p:nvSpPr>
          <p:cNvPr id="17" name="Text 14"/>
          <p:cNvSpPr/>
          <p:nvPr/>
        </p:nvSpPr>
        <p:spPr>
          <a:xfrm>
            <a:off x="11516469" y="9410700"/>
            <a:ext cx="2245459" cy="3810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25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■ 收住 · 回到中心</a:t>
            </a:r>
            <a:endParaRPr lang="zh-CN" sz="2025" dirty="0"/>
          </a:p>
        </p:txBody>
      </p:sp>
      <p:pic>
        <p:nvPicPr>
          <p:cNvPr id="18" name="插图" descr="抠-P18-570182ff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3723" y="6355080"/>
            <a:ext cx="4641753" cy="2788920"/>
          </a:xfrm>
          <a:prstGeom prst="rect">
            <a:avLst/>
          </a:prstGeom>
        </p:spPr>
      </p:pic>
      <p:pic>
        <p:nvPicPr>
          <p:cNvPr id="19" name="吉祥物" descr="吉祥物-招手-030705a9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760" y="327660"/>
            <a:ext cx="1228953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读样稿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3E9F2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124712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读完整篇，思考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两个问题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886700" cy="5458968"/>
          </a:xfrm>
          <a:prstGeom prst="roundRect">
            <a:avLst>
              <a:gd name="adj" fmla="val 3309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47800" y="3200400"/>
            <a:ext cx="7299198" cy="14052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47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问题① 爸爸和“我”这两条各只写了三句。如果把其中一条也写成妈妈那一段那么长，读起来会怎么样？</a:t>
            </a:r>
            <a:endParaRPr lang="zh-CN" sz="2475" dirty="0"/>
          </a:p>
        </p:txBody>
      </p:sp>
      <p:sp>
        <p:nvSpPr>
          <p:cNvPr id="9" name="Text 6"/>
          <p:cNvSpPr/>
          <p:nvPr/>
        </p:nvSpPr>
        <p:spPr>
          <a:xfrm>
            <a:off x="1447800" y="4796135"/>
            <a:ext cx="7795260" cy="4385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 </a:t>
            </a:r>
            <a:r>
              <a:rPr lang="zh-CN" alt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那就不知道谁最忙了</a:t>
            </a:r>
            <a:endParaRPr lang="zh-CN" sz="2175" dirty="0"/>
          </a:p>
        </p:txBody>
      </p:sp>
      <p:sp>
        <p:nvSpPr>
          <p:cNvPr id="10" name="Text 7"/>
          <p:cNvSpPr/>
          <p:nvPr/>
        </p:nvSpPr>
        <p:spPr>
          <a:xfrm>
            <a:off x="1447800" y="5329982"/>
            <a:ext cx="7795260" cy="4385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 </a:t>
            </a:r>
            <a:r>
              <a:rPr lang="zh-CN" alt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三个人平均了，读的人不知道该看谁</a:t>
            </a:r>
            <a:endParaRPr lang="zh-CN" sz="2175" dirty="0"/>
          </a:p>
        </p:txBody>
      </p:sp>
      <p:sp>
        <p:nvSpPr>
          <p:cNvPr id="11" name="Text 8"/>
          <p:cNvSpPr/>
          <p:nvPr/>
        </p:nvSpPr>
        <p:spPr>
          <a:xfrm>
            <a:off x="1447800" y="5863828"/>
            <a:ext cx="7795260" cy="4385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 </a:t>
            </a:r>
            <a:r>
              <a:rPr lang="zh-CN" alt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文章太长，忙反而散了</a:t>
            </a:r>
            <a:endParaRPr lang="zh-CN" sz="2175" dirty="0"/>
          </a:p>
        </p:txBody>
      </p:sp>
      <p:sp>
        <p:nvSpPr>
          <p:cNvPr id="12" name="Text 9"/>
          <p:cNvSpPr/>
          <p:nvPr/>
        </p:nvSpPr>
        <p:spPr>
          <a:xfrm>
            <a:off x="1447800" y="6492925"/>
            <a:ext cx="7299198" cy="895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2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三条都扣着“忙”，</a:t>
            </a: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只有一条写足、另外两条一两句带过</a:t>
            </a:r>
            <a:r>
              <a:rPr lang="zh-CN" altLang="en-US" sz="22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，读的人才知道该看谁。</a:t>
            </a:r>
            <a:endParaRPr lang="zh-CN" sz="2250" dirty="0"/>
          </a:p>
        </p:txBody>
      </p:sp>
      <p:sp>
        <p:nvSpPr>
          <p:cNvPr id="13" name="Shape 10"/>
          <p:cNvSpPr/>
          <p:nvPr/>
        </p:nvSpPr>
        <p:spPr>
          <a:xfrm>
            <a:off x="9353550" y="2857500"/>
            <a:ext cx="7886700" cy="5458968"/>
          </a:xfrm>
          <a:prstGeom prst="roundRect">
            <a:avLst>
              <a:gd name="adj" fmla="val 3309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753600" y="3200400"/>
            <a:ext cx="7299198" cy="94952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zh-CN" altLang="en-US" sz="2475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问题② 整篇读下来，哪一句让你像走进了他们家那个早晨？</a:t>
            </a:r>
            <a:endParaRPr lang="zh-CN" sz="2475" dirty="0"/>
          </a:p>
        </p:txBody>
      </p:sp>
      <p:sp>
        <p:nvSpPr>
          <p:cNvPr id="15" name="Text 12"/>
          <p:cNvSpPr/>
          <p:nvPr/>
        </p:nvSpPr>
        <p:spPr>
          <a:xfrm>
            <a:off x="9753600" y="4797623"/>
            <a:ext cx="7795260" cy="43859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 </a:t>
            </a:r>
            <a:r>
              <a:rPr lang="zh-CN" alt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腾出手把手机夹在肩膀和耳朵中间，歪着头接起来</a:t>
            </a:r>
            <a:endParaRPr lang="zh-CN" sz="2175" dirty="0"/>
          </a:p>
        </p:txBody>
      </p:sp>
      <p:sp>
        <p:nvSpPr>
          <p:cNvPr id="16" name="Text 13"/>
          <p:cNvSpPr/>
          <p:nvPr/>
        </p:nvSpPr>
        <p:spPr>
          <a:xfrm>
            <a:off x="9753600" y="5331470"/>
            <a:ext cx="7299198" cy="83909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 </a:t>
            </a:r>
            <a:r>
              <a:rPr lang="zh-CN" alt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前天落在沙发缝里，昨天在饭桌的报纸底下，今天又揣在了外套口袋里</a:t>
            </a:r>
            <a:endParaRPr lang="zh-CN" sz="2175" dirty="0"/>
          </a:p>
        </p:txBody>
      </p:sp>
      <p:sp>
        <p:nvSpPr>
          <p:cNvPr id="17" name="Text 14"/>
          <p:cNvSpPr/>
          <p:nvPr/>
        </p:nvSpPr>
        <p:spPr>
          <a:xfrm>
            <a:off x="9753600" y="6265813"/>
            <a:ext cx="7299198" cy="83909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 </a:t>
            </a:r>
            <a:r>
              <a:rPr lang="zh-CN" alt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牙膏沫溅到书页上，我随手用袖子一抹，又接着往下背</a:t>
            </a:r>
            <a:endParaRPr lang="zh-CN" sz="2175" dirty="0"/>
          </a:p>
        </p:txBody>
      </p:sp>
      <p:sp>
        <p:nvSpPr>
          <p:cNvPr id="18" name="Text 15"/>
          <p:cNvSpPr/>
          <p:nvPr/>
        </p:nvSpPr>
        <p:spPr>
          <a:xfrm>
            <a:off x="9753600" y="7295406"/>
            <a:ext cx="7299198" cy="895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2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这几句里找不到“很忙”两个字，写的是</a:t>
            </a: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肩膀夹着手机的样子、钥匙的三个地方、牙膏沫溅到书上</a:t>
            </a:r>
            <a:r>
              <a:rPr lang="zh-CN" altLang="en-US" sz="22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250" dirty="0"/>
          </a:p>
        </p:txBody>
      </p:sp>
      <p:sp>
        <p:nvSpPr>
          <p:cNvPr id="19" name="Text 16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表上去掉的两条，煎蛋好吃和周六睡到九点，文章里也没有出现；结尾那个煎蛋，写的还是忙，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不是写好吃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52" name="提示图标" descr="手指点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53" name="吉祥物" descr="吉祥物-招手-030705a9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760" y="341947"/>
            <a:ext cx="1228953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旁批表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3E9F2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124712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让人读出这个字，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靠的是这样的句子</a:t>
            </a: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，动笔时可以对照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16192500" cy="5353050"/>
          </a:xfrm>
          <a:prstGeom prst="roundRect">
            <a:avLst>
              <a:gd name="adj" fmla="val 2491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771775"/>
            <a:ext cx="16173450" cy="685800"/>
          </a:xfrm>
          <a:prstGeom prst="rect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2924175"/>
            <a:ext cx="9785985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示范文里的句子</a:t>
            </a:r>
            <a:endParaRPr lang="zh-CN" sz="2250" dirty="0"/>
          </a:p>
        </p:txBody>
      </p:sp>
      <p:sp>
        <p:nvSpPr>
          <p:cNvPr id="10" name="Shape 7"/>
          <p:cNvSpPr/>
          <p:nvPr/>
        </p:nvSpPr>
        <p:spPr>
          <a:xfrm>
            <a:off x="10563225" y="2771775"/>
            <a:ext cx="9525" cy="685800"/>
          </a:xfrm>
          <a:prstGeom prst="rect">
            <a:avLst/>
          </a:prstGeom>
          <a:solidFill>
            <a:srgbClr val="FFFFFF">
              <a:alpha val="25000"/>
            </a:srgbClr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877550" y="2924175"/>
            <a:ext cx="6653212" cy="4191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2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这一句用了什么写法</a:t>
            </a:r>
            <a:endParaRPr lang="zh-CN" sz="2250" dirty="0"/>
          </a:p>
        </p:txBody>
      </p:sp>
      <p:sp>
        <p:nvSpPr>
          <p:cNvPr id="12" name="Shape 9"/>
          <p:cNvSpPr/>
          <p:nvPr/>
        </p:nvSpPr>
        <p:spPr>
          <a:xfrm>
            <a:off x="1057275" y="3457575"/>
            <a:ext cx="16173450" cy="58102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62075" y="3571875"/>
            <a:ext cx="9181529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我们家的忙，全挤在早上七点到七点二十这二十分钟里</a:t>
            </a:r>
            <a:endParaRPr lang="zh-CN" sz="2100" dirty="0"/>
          </a:p>
        </p:txBody>
      </p:sp>
      <p:sp>
        <p:nvSpPr>
          <p:cNvPr id="14" name="Shape 11"/>
          <p:cNvSpPr/>
          <p:nvPr/>
        </p:nvSpPr>
        <p:spPr>
          <a:xfrm>
            <a:off x="10563225" y="3457575"/>
            <a:ext cx="9525" cy="5810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0877550" y="3571875"/>
            <a:ext cx="624840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开头一句点出中心意思：谁的忙，忙在什么时候</a:t>
            </a:r>
            <a:endParaRPr lang="zh-CN" sz="2100" dirty="0"/>
          </a:p>
        </p:txBody>
      </p:sp>
      <p:sp>
        <p:nvSpPr>
          <p:cNvPr id="16" name="Shape 13"/>
          <p:cNvSpPr/>
          <p:nvPr/>
        </p:nvSpPr>
        <p:spPr>
          <a:xfrm>
            <a:off x="1057275" y="4038600"/>
            <a:ext cx="16173450" cy="5810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62075" y="4152900"/>
            <a:ext cx="9181529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厨房里同时响着三样声音</a:t>
            </a:r>
            <a:endParaRPr lang="zh-CN" sz="2100" dirty="0"/>
          </a:p>
        </p:txBody>
      </p:sp>
      <p:sp>
        <p:nvSpPr>
          <p:cNvPr id="18" name="Shape 15"/>
          <p:cNvSpPr/>
          <p:nvPr/>
        </p:nvSpPr>
        <p:spPr>
          <a:xfrm>
            <a:off x="10563225" y="4038600"/>
            <a:ext cx="9525" cy="5810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0877550" y="4152900"/>
            <a:ext cx="624840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三样声音同时响起，忙先从声音里写出来</a:t>
            </a:r>
            <a:endParaRPr lang="zh-CN" sz="2100" dirty="0"/>
          </a:p>
        </p:txBody>
      </p:sp>
      <p:sp>
        <p:nvSpPr>
          <p:cNvPr id="20" name="Shape 17"/>
          <p:cNvSpPr/>
          <p:nvPr/>
        </p:nvSpPr>
        <p:spPr>
          <a:xfrm>
            <a:off x="1057275" y="4619625"/>
            <a:ext cx="16173450" cy="58102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62075" y="4733925"/>
            <a:ext cx="9181529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腾出手把手机夹在肩膀和耳朵中间，歪着头接起来</a:t>
            </a:r>
            <a:endParaRPr lang="zh-CN" sz="2100" dirty="0"/>
          </a:p>
        </p:txBody>
      </p:sp>
      <p:sp>
        <p:nvSpPr>
          <p:cNvPr id="22" name="Shape 19"/>
          <p:cNvSpPr/>
          <p:nvPr/>
        </p:nvSpPr>
        <p:spPr>
          <a:xfrm>
            <a:off x="10563225" y="4619625"/>
            <a:ext cx="9525" cy="5810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0877550" y="4733925"/>
            <a:ext cx="624840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详写：一个人做三件事，一个动作一个动作写</a:t>
            </a:r>
            <a:endParaRPr lang="zh-CN" sz="2100" dirty="0"/>
          </a:p>
        </p:txBody>
      </p:sp>
      <p:sp>
        <p:nvSpPr>
          <p:cNvPr id="24" name="Shape 21"/>
          <p:cNvSpPr/>
          <p:nvPr/>
        </p:nvSpPr>
        <p:spPr>
          <a:xfrm>
            <a:off x="1057275" y="5200650"/>
            <a:ext cx="16173450" cy="5810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362075" y="5314950"/>
            <a:ext cx="9181529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从来没有把鸡蛋煎煳过</a:t>
            </a:r>
            <a:endParaRPr lang="zh-CN" sz="2100" dirty="0"/>
          </a:p>
        </p:txBody>
      </p:sp>
      <p:sp>
        <p:nvSpPr>
          <p:cNvPr id="26" name="Shape 23"/>
          <p:cNvSpPr/>
          <p:nvPr/>
        </p:nvSpPr>
        <p:spPr>
          <a:xfrm>
            <a:off x="10563225" y="5200650"/>
            <a:ext cx="9525" cy="5810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0877550" y="5314950"/>
            <a:ext cx="624840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2F72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详写的最后一句：动作写完，用一句话收住</a:t>
            </a:r>
            <a:endParaRPr lang="zh-CN" sz="2100" dirty="0"/>
          </a:p>
        </p:txBody>
      </p:sp>
      <p:sp>
        <p:nvSpPr>
          <p:cNvPr id="28" name="Shape 25"/>
          <p:cNvSpPr/>
          <p:nvPr/>
        </p:nvSpPr>
        <p:spPr>
          <a:xfrm>
            <a:off x="1057275" y="5781675"/>
            <a:ext cx="16173450" cy="58102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362075" y="5895975"/>
            <a:ext cx="9181529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爸爸的忙，忙在找车钥匙上</a:t>
            </a:r>
            <a:endParaRPr lang="zh-CN" sz="2100" dirty="0"/>
          </a:p>
        </p:txBody>
      </p:sp>
      <p:sp>
        <p:nvSpPr>
          <p:cNvPr id="30" name="Shape 27"/>
          <p:cNvSpPr/>
          <p:nvPr/>
        </p:nvSpPr>
        <p:spPr>
          <a:xfrm>
            <a:off x="10563225" y="5781675"/>
            <a:ext cx="9525" cy="5810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877550" y="5895975"/>
            <a:ext cx="624840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略写：段首先点明这一段写什么，只写这一件事</a:t>
            </a:r>
            <a:endParaRPr lang="zh-CN" sz="2100" dirty="0"/>
          </a:p>
        </p:txBody>
      </p:sp>
      <p:sp>
        <p:nvSpPr>
          <p:cNvPr id="32" name="Shape 29"/>
          <p:cNvSpPr/>
          <p:nvPr/>
        </p:nvSpPr>
        <p:spPr>
          <a:xfrm>
            <a:off x="1057275" y="6362700"/>
            <a:ext cx="16173450" cy="5810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362075" y="6477000"/>
            <a:ext cx="9181529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前天落在沙发缝里，昨天在饭桌的报纸底下，今天又揣在了外套口袋里</a:t>
            </a:r>
            <a:endParaRPr lang="zh-CN" sz="2100" dirty="0"/>
          </a:p>
        </p:txBody>
      </p:sp>
      <p:sp>
        <p:nvSpPr>
          <p:cNvPr id="34" name="Shape 31"/>
          <p:cNvSpPr/>
          <p:nvPr/>
        </p:nvSpPr>
        <p:spPr>
          <a:xfrm>
            <a:off x="10563225" y="6362700"/>
            <a:ext cx="9525" cy="5810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10877550" y="6477000"/>
            <a:ext cx="624840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4E9A5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略写也要具体：三个地方，一句话写完</a:t>
            </a:r>
            <a:endParaRPr lang="zh-CN" sz="2100" dirty="0"/>
          </a:p>
        </p:txBody>
      </p:sp>
      <p:sp>
        <p:nvSpPr>
          <p:cNvPr id="36" name="Shape 33"/>
          <p:cNvSpPr/>
          <p:nvPr/>
        </p:nvSpPr>
        <p:spPr>
          <a:xfrm>
            <a:off x="1057275" y="6943725"/>
            <a:ext cx="16173450" cy="581025"/>
          </a:xfrm>
          <a:prstGeom prst="rect">
            <a:avLst/>
          </a:prstGeom>
          <a:solidFill>
            <a:srgbClr val="EEF1F5"/>
          </a:solidFill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1362075" y="7058025"/>
            <a:ext cx="9181529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家门“咔嗒”一声关上，方才屋里此起彼伏的喧闹瞬间归于安静</a:t>
            </a:r>
            <a:endParaRPr lang="zh-CN" sz="2100" dirty="0"/>
          </a:p>
        </p:txBody>
      </p:sp>
      <p:sp>
        <p:nvSpPr>
          <p:cNvPr id="38" name="Shape 35"/>
          <p:cNvSpPr/>
          <p:nvPr/>
        </p:nvSpPr>
        <p:spPr>
          <a:xfrm>
            <a:off x="10563225" y="6943725"/>
            <a:ext cx="9525" cy="5810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10877550" y="7058025"/>
            <a:ext cx="624840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开头的三样声音到这里一起停下</a:t>
            </a:r>
            <a:endParaRPr lang="zh-CN" sz="2100" dirty="0"/>
          </a:p>
        </p:txBody>
      </p:sp>
      <p:sp>
        <p:nvSpPr>
          <p:cNvPr id="40" name="Shape 37"/>
          <p:cNvSpPr/>
          <p:nvPr/>
        </p:nvSpPr>
        <p:spPr>
          <a:xfrm>
            <a:off x="1057275" y="7524750"/>
            <a:ext cx="16173450" cy="581025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1362075" y="7639050"/>
            <a:ext cx="9181529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是早上那个没来得及吃的煎鸡蛋，装在小小的保鲜袋里</a:t>
            </a:r>
            <a:endParaRPr lang="zh-CN" sz="2100" dirty="0"/>
          </a:p>
        </p:txBody>
      </p:sp>
      <p:sp>
        <p:nvSpPr>
          <p:cNvPr id="42" name="Shape 39"/>
          <p:cNvSpPr/>
          <p:nvPr/>
        </p:nvSpPr>
        <p:spPr>
          <a:xfrm>
            <a:off x="10563225" y="7524750"/>
            <a:ext cx="9525" cy="581025"/>
          </a:xfrm>
          <a:prstGeom prst="rect">
            <a:avLst/>
          </a:prstGeom>
          <a:solidFill>
            <a:srgbClr val="DFE3E9"/>
          </a:solidFill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10877550" y="7639050"/>
            <a:ext cx="6248400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100" b="1" dirty="0">
                <a:solidFill>
                  <a:srgbClr val="8E5A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结尾回到详写的那一条，再次点明中心意思</a:t>
            </a:r>
            <a:endParaRPr lang="zh-CN" sz="2100" dirty="0"/>
          </a:p>
        </p:txBody>
      </p:sp>
      <p:sp>
        <p:nvSpPr>
          <p:cNvPr id="44" name="Text 41"/>
          <p:cNvSpPr/>
          <p:nvPr/>
        </p:nvSpPr>
        <p:spPr>
          <a:xfrm>
            <a:off x="1687830" y="935355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这几句里找不到“很忙”两个字，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字是靠动作、声音和地方让人读出来的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137" name="提示图标" descr="手指点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9316974"/>
            <a:ext cx="502920" cy="502920"/>
          </a:xfrm>
          <a:prstGeom prst="rect">
            <a:avLst/>
          </a:prstGeom>
        </p:spPr>
      </p:pic>
      <p:pic>
        <p:nvPicPr>
          <p:cNvPr id="138" name="吉祥物" descr="吉祥物-招手-030705a9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8760" y="341947"/>
            <a:ext cx="1228953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读样稿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3E9F2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124712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教材例文的三条旁批，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和中心选材表的三件事一致</a:t>
            </a:r>
            <a:endParaRPr lang="zh-CN" sz="3205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680527"/>
            <a:ext cx="4846320" cy="22767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286500" y="28575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6456611" y="2933700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7038975" y="2895600"/>
            <a:ext cx="1000696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“罗列爸爸给每个人订的计划，突出了爸爸爱订计划的特点。” </a:t>
            </a: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先点出中心</a:t>
            </a:r>
            <a:endParaRPr lang="zh-CN" sz="2250" dirty="0"/>
          </a:p>
        </p:txBody>
      </p:sp>
      <p:sp>
        <p:nvSpPr>
          <p:cNvPr id="11" name="Shape 7"/>
          <p:cNvSpPr/>
          <p:nvPr/>
        </p:nvSpPr>
        <p:spPr>
          <a:xfrm>
            <a:off x="6286500" y="355282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456611" y="3629025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7038975" y="3590925"/>
            <a:ext cx="7652385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“两个典型的事例，让人印象深刻。” </a:t>
            </a: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几条材料都扣着它</a:t>
            </a:r>
            <a:endParaRPr lang="zh-CN" sz="2250" dirty="0"/>
          </a:p>
        </p:txBody>
      </p:sp>
      <p:sp>
        <p:nvSpPr>
          <p:cNvPr id="14" name="Shape 10"/>
          <p:cNvSpPr/>
          <p:nvPr/>
        </p:nvSpPr>
        <p:spPr>
          <a:xfrm>
            <a:off x="6286500" y="424815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6456611" y="4324350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7038975" y="4286250"/>
            <a:ext cx="8241030" cy="4667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“订暑假计划这个事例，写得很具体。” </a:t>
            </a: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最后一条写得最具体</a:t>
            </a:r>
            <a:endParaRPr lang="zh-CN" sz="2250" dirty="0"/>
          </a:p>
        </p:txBody>
      </p:sp>
      <p:sp>
        <p:nvSpPr>
          <p:cNvPr id="17" name="Shape 13"/>
          <p:cNvSpPr/>
          <p:nvPr/>
        </p:nvSpPr>
        <p:spPr>
          <a:xfrm>
            <a:off x="1047750" y="7048500"/>
            <a:ext cx="16192500" cy="1448693"/>
          </a:xfrm>
          <a:prstGeom prst="roundRect">
            <a:avLst>
              <a:gd name="adj" fmla="val 11835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466850" y="7315200"/>
            <a:ext cx="15814929" cy="95339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zh-CN" altLang="en-US" sz="23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再看结尾。</a:t>
            </a: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老师的文章结束在口袋里那个煎蛋上，没有再说一句“我们家真忙”；也可以在这个画面后面再加一句，直接说出自己对这二十分钟的感受。</a:t>
            </a: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两种收法都可以，选哪一种由作者自己决定</a:t>
            </a:r>
            <a:r>
              <a:rPr lang="zh-CN" altLang="en-US" sz="2325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325" dirty="0"/>
          </a:p>
        </p:txBody>
      </p:sp>
      <p:sp>
        <p:nvSpPr>
          <p:cNvPr id="19" name="Text 15"/>
          <p:cNvSpPr/>
          <p:nvPr/>
        </p:nvSpPr>
        <p:spPr>
          <a:xfrm>
            <a:off x="1687830" y="8896350"/>
            <a:ext cx="16038195" cy="9144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老师写的是虚构的一家人，大家写的是自己那个字、自己的事，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不必照着老师的样子写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。中心选材表和稿纸放在一起，课间休息后继续使用。</a:t>
            </a:r>
            <a:endParaRPr lang="zh-CN" sz="2605" dirty="0"/>
          </a:p>
        </p:txBody>
      </p:sp>
      <p:pic>
        <p:nvPicPr>
          <p:cNvPr id="49" name="插图" descr="抠-P21-335ef186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3209" y="4846320"/>
            <a:ext cx="2746060" cy="2194560"/>
          </a:xfrm>
          <a:prstGeom prst="rect">
            <a:avLst/>
          </a:prstGeom>
        </p:spPr>
      </p:pic>
      <p:pic>
        <p:nvPicPr>
          <p:cNvPr id="50" name="提示图标" descr="手指点击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50" y="8859774"/>
            <a:ext cx="502920" cy="502920"/>
          </a:xfrm>
          <a:prstGeom prst="rect">
            <a:avLst/>
          </a:prstGeom>
        </p:spPr>
      </p:pic>
      <p:pic>
        <p:nvPicPr>
          <p:cNvPr id="51" name="吉祥物" descr="吉祥物-招手-030705a97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8760" y="341947"/>
            <a:ext cx="1228953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solidFill>
            <a:srgbClr val="7F93B0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038350" y="3181350"/>
            <a:ext cx="6286500" cy="21193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2228850" y="5676900"/>
            <a:ext cx="14668500" cy="7810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4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当堂写作与评改课</a:t>
            </a:r>
            <a:endParaRPr lang="zh-CN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15716250" cy="4914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zh-CN" altLang="en-US" sz="2550" dirty="0">
                <a:solidFill>
                  <a:srgbClr val="FFFFFF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先定两件事 · 自由写作 · 轮读猜字 · 同桌互读 · 修改收束</a:t>
            </a:r>
            <a:endParaRPr lang="zh-CN" sz="2550" dirty="0"/>
          </a:p>
        </p:txBody>
      </p:sp>
      <p:sp>
        <p:nvSpPr>
          <p:cNvPr id="7" name="Shape 5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底带"/>
          <p:cNvSpPr/>
          <p:nvPr/>
        </p:nvSpPr>
        <p:spPr>
          <a:xfrm>
            <a:off x="0" y="2560320"/>
            <a:ext cx="18288000" cy="4434840"/>
          </a:xfrm>
          <a:prstGeom prst="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写作热身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3E9F2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124712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拿出中心选材表，动笔之前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先定两件事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51560" y="2743200"/>
            <a:ext cx="11430000" cy="1920240"/>
          </a:xfrm>
          <a:prstGeom prst="roundRect">
            <a:avLst>
              <a:gd name="adj" fmla="val 4737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325880" y="2971800"/>
            <a:ext cx="822960" cy="7223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000"/>
              </a:lnSpc>
              <a:buNone/>
            </a:pPr>
            <a:r>
              <a:rPr lang="zh-CN" altLang="en-US" sz="54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</a:t>
            </a:r>
            <a:endParaRPr lang="zh-CN" sz="5400" dirty="0"/>
          </a:p>
        </p:txBody>
      </p:sp>
      <p:sp>
        <p:nvSpPr>
          <p:cNvPr id="9" name="Text 6"/>
          <p:cNvSpPr/>
          <p:nvPr/>
        </p:nvSpPr>
        <p:spPr>
          <a:xfrm>
            <a:off x="2377440" y="2880360"/>
            <a:ext cx="9875520" cy="51206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整篇</a:t>
            </a:r>
            <a:r>
              <a:rPr lang="zh-CN" alt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从哪一句起笔</a:t>
            </a:r>
            <a:endParaRPr lang="zh-CN" sz="2550" dirty="0"/>
          </a:p>
        </p:txBody>
      </p:sp>
      <p:sp>
        <p:nvSpPr>
          <p:cNvPr id="10" name="Text 7"/>
          <p:cNvSpPr/>
          <p:nvPr/>
        </p:nvSpPr>
        <p:spPr>
          <a:xfrm>
            <a:off x="2377440" y="3474720"/>
            <a:ext cx="9875520" cy="44805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 </a:t>
            </a:r>
            <a:r>
              <a:rPr lang="zh-CN" alt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像老师那样，第一句就把中心意思说出来</a:t>
            </a:r>
            <a:endParaRPr lang="zh-CN" sz="2175" dirty="0"/>
          </a:p>
        </p:txBody>
      </p:sp>
      <p:sp>
        <p:nvSpPr>
          <p:cNvPr id="11" name="Text 8"/>
          <p:cNvSpPr/>
          <p:nvPr/>
        </p:nvSpPr>
        <p:spPr>
          <a:xfrm>
            <a:off x="2377440" y="3950208"/>
            <a:ext cx="9875520" cy="5486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 </a:t>
            </a:r>
            <a:r>
              <a:rPr lang="zh-CN" alt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先从详写那一条里选一个画面起笔，中心意思放到结尾再说</a:t>
            </a:r>
            <a:endParaRPr lang="zh-CN" sz="2175" dirty="0"/>
          </a:p>
        </p:txBody>
      </p:sp>
      <p:sp>
        <p:nvSpPr>
          <p:cNvPr id="12" name="Shape 9"/>
          <p:cNvSpPr/>
          <p:nvPr/>
        </p:nvSpPr>
        <p:spPr>
          <a:xfrm>
            <a:off x="1051560" y="4846320"/>
            <a:ext cx="11430000" cy="1920240"/>
          </a:xfrm>
          <a:prstGeom prst="roundRect">
            <a:avLst>
              <a:gd name="adj" fmla="val 4737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25880" y="5074920"/>
            <a:ext cx="822960" cy="72237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000"/>
              </a:lnSpc>
              <a:buNone/>
            </a:pPr>
            <a:r>
              <a:rPr lang="zh-CN" altLang="en-US" sz="54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</a:t>
            </a:r>
            <a:endParaRPr lang="zh-CN" sz="5400" dirty="0"/>
          </a:p>
        </p:txBody>
      </p:sp>
      <p:sp>
        <p:nvSpPr>
          <p:cNvPr id="14" name="Text 11"/>
          <p:cNvSpPr/>
          <p:nvPr/>
        </p:nvSpPr>
        <p:spPr>
          <a:xfrm>
            <a:off x="2377440" y="4983480"/>
            <a:ext cx="9875520" cy="512064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详写那一条</a:t>
            </a:r>
            <a:r>
              <a:rPr lang="zh-CN" alt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放在什么位置</a:t>
            </a:r>
            <a:endParaRPr lang="zh-CN" sz="2550" dirty="0"/>
          </a:p>
        </p:txBody>
      </p:sp>
      <p:sp>
        <p:nvSpPr>
          <p:cNvPr id="15" name="Text 12"/>
          <p:cNvSpPr/>
          <p:nvPr/>
        </p:nvSpPr>
        <p:spPr>
          <a:xfrm>
            <a:off x="2377440" y="5577840"/>
            <a:ext cx="9875520" cy="448056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 </a:t>
            </a:r>
            <a:r>
              <a:rPr lang="zh-CN" alt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放在最前面，读的人一开始就读出这个字</a:t>
            </a:r>
            <a:endParaRPr lang="zh-CN" sz="2175" dirty="0"/>
          </a:p>
        </p:txBody>
      </p:sp>
      <p:sp>
        <p:nvSpPr>
          <p:cNvPr id="16" name="Text 13"/>
          <p:cNvSpPr/>
          <p:nvPr/>
        </p:nvSpPr>
        <p:spPr>
          <a:xfrm>
            <a:off x="2377440" y="6053328"/>
            <a:ext cx="9875520" cy="5486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75" b="1" dirty="0">
                <a:solidFill>
                  <a:srgbClr val="7FA3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➤ </a:t>
            </a:r>
            <a:r>
              <a:rPr lang="zh-CN" altLang="en-US" sz="2175" dirty="0">
                <a:solidFill>
                  <a:srgbClr val="5B64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放在最后，前面几条先作铺垫，最后一条写足</a:t>
            </a:r>
            <a:endParaRPr lang="zh-CN" sz="2175" dirty="0"/>
          </a:p>
        </p:txBody>
      </p:sp>
      <p:sp>
        <p:nvSpPr>
          <p:cNvPr id="17" name="Shape 14"/>
          <p:cNvSpPr/>
          <p:nvPr/>
        </p:nvSpPr>
        <p:spPr>
          <a:xfrm>
            <a:off x="1051560" y="7269480"/>
            <a:ext cx="16194024" cy="900113"/>
          </a:xfrm>
          <a:prstGeom prst="roundRect">
            <a:avLst>
              <a:gd name="adj" fmla="val 16931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408176" y="7498079"/>
            <a:ext cx="15819120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在表上详写那一条旁边写上</a:t>
            </a:r>
            <a:r>
              <a:rPr lang="zh-CN" altLang="en-US" sz="23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“前”或者“后”</a:t>
            </a:r>
            <a:r>
              <a:rPr lang="zh-CN" alt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，再在稿纸第一行把起笔的那一句写下来。</a:t>
            </a:r>
            <a:endParaRPr lang="zh-CN" sz="2325" dirty="0"/>
          </a:p>
        </p:txBody>
      </p:sp>
      <p:sp>
        <p:nvSpPr>
          <p:cNvPr id="19" name="Text 16"/>
          <p:cNvSpPr/>
          <p:nvPr/>
        </p:nvSpPr>
        <p:spPr>
          <a:xfrm>
            <a:off x="1687830" y="8896350"/>
            <a:ext cx="16038195" cy="9144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例如：第一句写“弟弟这个学期变了”，先点明中心，后面三件事一件比一件明显。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两件事定好后，接着往下写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51" name="插图" descr="抠-P23-d28b4a89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160" y="2990088"/>
            <a:ext cx="5486400" cy="3803904"/>
          </a:xfrm>
          <a:prstGeom prst="rect">
            <a:avLst/>
          </a:prstGeom>
        </p:spPr>
      </p:pic>
      <p:pic>
        <p:nvPicPr>
          <p:cNvPr id="52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8859774"/>
            <a:ext cx="502920" cy="502920"/>
          </a:xfrm>
          <a:prstGeom prst="rect">
            <a:avLst/>
          </a:prstGeom>
        </p:spPr>
      </p:pic>
      <p:pic>
        <p:nvPicPr>
          <p:cNvPr id="53" name="吉祥物" descr="吉祥物-招手-030705a97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228953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底带"/>
          <p:cNvSpPr/>
          <p:nvPr/>
        </p:nvSpPr>
        <p:spPr>
          <a:xfrm>
            <a:off x="0" y="2743200"/>
            <a:ext cx="18288000" cy="4663440"/>
          </a:xfrm>
          <a:prstGeom prst="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自由写作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3E9F2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124712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接着起笔的那一句往下写：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一条材料写一段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320040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9700" y="3048000"/>
            <a:ext cx="10026587" cy="1038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留下的材料一条写一段；标了“详”的那一条</a:t>
            </a:r>
            <a:r>
              <a:rPr lang="zh-CN" alt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把动作一个一个写出来</a:t>
            </a: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，其余两条一两句带过</a:t>
            </a:r>
            <a:endParaRPr lang="zh-CN" sz="2625" dirty="0"/>
          </a:p>
        </p:txBody>
      </p:sp>
      <p:sp>
        <p:nvSpPr>
          <p:cNvPr id="9" name="Shape 6"/>
          <p:cNvSpPr/>
          <p:nvPr/>
        </p:nvSpPr>
        <p:spPr>
          <a:xfrm>
            <a:off x="1047750" y="4524375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9700" y="4371975"/>
            <a:ext cx="6967537" cy="5381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开头或者结尾，</a:t>
            </a:r>
            <a:r>
              <a:rPr lang="zh-CN" alt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有一句话把中心意思说出来</a:t>
            </a:r>
            <a:endParaRPr lang="zh-CN" sz="2625" dirty="0"/>
          </a:p>
        </p:txBody>
      </p:sp>
      <p:sp>
        <p:nvSpPr>
          <p:cNvPr id="11" name="Shape 8"/>
          <p:cNvSpPr/>
          <p:nvPr/>
        </p:nvSpPr>
        <p:spPr>
          <a:xfrm>
            <a:off x="1047750" y="5348288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9700" y="5195888"/>
            <a:ext cx="10026587" cy="10382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篇幅五百字到六百字；中途遇到错字、病句先不改，</a:t>
            </a:r>
            <a:r>
              <a:rPr lang="zh-CN" alt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写完全篇再修改</a:t>
            </a:r>
            <a:endParaRPr lang="zh-CN" sz="2625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40" y="2553004"/>
            <a:ext cx="5852160" cy="440375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47750" y="7581900"/>
            <a:ext cx="16192500" cy="1276350"/>
          </a:xfrm>
          <a:prstGeom prst="roundRect">
            <a:avLst>
              <a:gd name="adj" fmla="val 11940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1409700" y="7791450"/>
            <a:ext cx="15932658" cy="8953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25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接不下去？</a:t>
            </a:r>
            <a:r>
              <a:rPr lang="zh-CN" altLang="en-US" sz="225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对照自己的表，看看还有哪几条没有写到。</a:t>
            </a:r>
            <a:r>
              <a:rPr lang="zh-CN" altLang="en-US" sz="2250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详写那一段只写了“妈妈很忙”？</a:t>
            </a:r>
            <a:r>
              <a:rPr lang="zh-CN" altLang="en-US" sz="225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问一问自己：</a:t>
            </a: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这时候这个人在做什么动作，身子朝着哪边</a:t>
            </a:r>
            <a:r>
              <a:rPr lang="zh-CN" altLang="en-US" sz="2250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，选一处补进去。</a:t>
            </a:r>
            <a:endParaRPr lang="zh-CN" sz="2250" dirty="0"/>
          </a:p>
        </p:txBody>
      </p:sp>
      <p:sp>
        <p:nvSpPr>
          <p:cNvPr id="16" name="Text 12"/>
          <p:cNvSpPr/>
          <p:nvPr/>
        </p:nvSpPr>
        <p:spPr>
          <a:xfrm>
            <a:off x="1687830" y="9252793"/>
            <a:ext cx="10885170" cy="50080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写不完的，当堂至少把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详写的那一条写完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sp>
        <p:nvSpPr>
          <p:cNvPr id="17" name="Shape 13"/>
          <p:cNvSpPr/>
          <p:nvPr/>
        </p:nvSpPr>
        <p:spPr>
          <a:xfrm>
            <a:off x="12847439" y="8943975"/>
            <a:ext cx="4392811" cy="828675"/>
          </a:xfrm>
          <a:prstGeom prst="roundRect">
            <a:avLst>
              <a:gd name="adj" fmla="val 18391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3228439" y="9115425"/>
            <a:ext cx="3993892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8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⏱ 写作时间约 25 分钟</a:t>
            </a:r>
            <a:endParaRPr lang="zh-CN" sz="2850" dirty="0"/>
          </a:p>
        </p:txBody>
      </p:sp>
      <p:pic>
        <p:nvPicPr>
          <p:cNvPr id="47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16217"/>
            <a:ext cx="502920" cy="502920"/>
          </a:xfrm>
          <a:prstGeom prst="rect">
            <a:avLst/>
          </a:prstGeom>
        </p:spPr>
      </p:pic>
      <p:pic>
        <p:nvPicPr>
          <p:cNvPr id="48" name="吉祥物" descr="吉祥物-招手-030705a97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228953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自由写作</a:t>
            </a:r>
            <a:endParaRPr lang="zh-CN" sz="2400" dirty="0"/>
          </a:p>
        </p:txBody>
      </p:sp>
      <p:sp>
        <p:nvSpPr>
          <p:cNvPr id="17" name="Shape 13"/>
          <p:cNvSpPr/>
          <p:nvPr/>
        </p:nvSpPr>
        <p:spPr>
          <a:xfrm>
            <a:off x="12847439" y="8943975"/>
            <a:ext cx="4392811" cy="828675"/>
          </a:xfrm>
          <a:prstGeom prst="roundRect">
            <a:avLst>
              <a:gd name="adj" fmla="val 18391"/>
            </a:avLst>
          </a:prstGeom>
          <a:solidFill>
            <a:srgbClr val="C0392B"/>
          </a:solidFill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3228439" y="9115425"/>
            <a:ext cx="3993892" cy="5238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8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⏱ 写作时间约 25 分钟</a:t>
            </a:r>
            <a:endParaRPr lang="zh-CN" sz="2850" dirty="0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163" y="1399032"/>
            <a:ext cx="13377672" cy="71846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底带"/>
          <p:cNvSpPr/>
          <p:nvPr/>
        </p:nvSpPr>
        <p:spPr>
          <a:xfrm>
            <a:off x="0" y="2697480"/>
            <a:ext cx="18288000" cy="3703320"/>
          </a:xfrm>
          <a:prstGeom prst="rect">
            <a:avLst/>
          </a:prstGeom>
          <a:solidFill>
            <a:srgbClr val="EE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交流评议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3E9F2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124712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四人一组轮读，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让同学读出你的字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295275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028950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2990850"/>
            <a:ext cx="9624346" cy="9810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4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每人只读标了“详”的那一段：</a:t>
            </a:r>
            <a:r>
              <a:rPr lang="zh-CN" altLang="en-US" sz="24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不读题目，不读点出中心意思的那一句，不说那个字</a:t>
            </a:r>
            <a:endParaRPr lang="zh-CN" sz="2475" dirty="0"/>
          </a:p>
        </p:txBody>
      </p:sp>
      <p:sp>
        <p:nvSpPr>
          <p:cNvPr id="10" name="Shape 7"/>
          <p:cNvSpPr/>
          <p:nvPr/>
        </p:nvSpPr>
        <p:spPr>
          <a:xfrm>
            <a:off x="1047750" y="420052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4276725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4238625"/>
            <a:ext cx="9624346" cy="9810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4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同桌以外的两位同学听完，各自在稿纸角上写下读出的字，</a:t>
            </a:r>
            <a:r>
              <a:rPr lang="zh-CN" altLang="en-US" sz="24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写完同时亮出来</a:t>
            </a:r>
            <a:r>
              <a:rPr lang="zh-CN" altLang="en-US" sz="24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给作者看</a:t>
            </a:r>
            <a:endParaRPr lang="zh-CN" sz="2475" dirty="0"/>
          </a:p>
        </p:txBody>
      </p:sp>
      <p:sp>
        <p:nvSpPr>
          <p:cNvPr id="13" name="Shape 10"/>
          <p:cNvSpPr/>
          <p:nvPr/>
        </p:nvSpPr>
        <p:spPr>
          <a:xfrm>
            <a:off x="1047750" y="54483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5524500"/>
            <a:ext cx="240804" cy="3905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5486400"/>
            <a:ext cx="9388888" cy="50958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4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同桌不猜，只记一件事：</a:t>
            </a:r>
            <a:r>
              <a:rPr lang="zh-CN" altLang="en-US" sz="247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哪一句让你听出了这个字</a:t>
            </a:r>
            <a:r>
              <a:rPr lang="zh-CN" altLang="en-US" sz="247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，读完告诉作者</a:t>
            </a:r>
            <a:endParaRPr lang="zh-CN" sz="2475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7208" y="2286000"/>
            <a:ext cx="4095022" cy="402336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47750" y="6572250"/>
            <a:ext cx="16192500" cy="1824038"/>
          </a:xfrm>
          <a:prstGeom prst="roundRect">
            <a:avLst>
              <a:gd name="adj" fmla="val 9399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466850" y="6819900"/>
            <a:ext cx="15814929" cy="13668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写出来的字和你选的一样，或者意思很近，比如“忙”和“急”，就算读出来了。</a:t>
            </a:r>
            <a:r>
              <a:rPr lang="zh-CN" altLang="en-US" sz="22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两位同学写的字都对不上？</a:t>
            </a: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先不要急着改：请两位同学各自说一说，是从哪一句读出了自己写的字；作者自己判断，</a:t>
            </a:r>
            <a:r>
              <a:rPr lang="zh-CN" altLang="en-US" sz="22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是这一段没有写出这个字，还是写出来的其实是另一个字</a:t>
            </a:r>
            <a:r>
              <a:rPr lang="zh-CN" altLang="en-US" sz="225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250" dirty="0"/>
          </a:p>
        </p:txBody>
      </p:sp>
      <p:sp>
        <p:nvSpPr>
          <p:cNvPr id="19" name="Text 15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每人读约一分钟，四人轮流读完后，各自查看结果。</a:t>
            </a:r>
            <a:endParaRPr lang="zh-CN" sz="2605" dirty="0"/>
          </a:p>
        </p:txBody>
      </p:sp>
      <p:pic>
        <p:nvPicPr>
          <p:cNvPr id="50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51" name="吉祥物" descr="吉祥物-招手-030705a97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228953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底带"/>
          <p:cNvSpPr/>
          <p:nvPr/>
        </p:nvSpPr>
        <p:spPr>
          <a:xfrm>
            <a:off x="0" y="2560320"/>
            <a:ext cx="18288000" cy="4846320"/>
          </a:xfrm>
          <a:prstGeom prst="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交流评议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3E9F2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124712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同桌互换稿子默读，做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两个记号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51560" y="2743200"/>
            <a:ext cx="11430000" cy="2103120"/>
          </a:xfrm>
          <a:prstGeom prst="roundRect">
            <a:avLst>
              <a:gd name="adj" fmla="val 5000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371600" y="3246120"/>
            <a:ext cx="731520" cy="80467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000"/>
              </a:lnSpc>
              <a:buNone/>
            </a:pPr>
            <a:r>
              <a:rPr lang="zh-CN" altLang="en-US" sz="60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～</a:t>
            </a:r>
            <a:endParaRPr lang="zh-CN" sz="6000" dirty="0"/>
          </a:p>
        </p:txBody>
      </p:sp>
      <p:sp>
        <p:nvSpPr>
          <p:cNvPr id="9" name="Text 6"/>
          <p:cNvSpPr/>
          <p:nvPr/>
        </p:nvSpPr>
        <p:spPr>
          <a:xfrm>
            <a:off x="2377440" y="3520440"/>
            <a:ext cx="9692640" cy="521207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最能让你</a:t>
            </a:r>
            <a:r>
              <a:rPr lang="zh-CN" alt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读出这个字的一句</a:t>
            </a:r>
            <a:r>
              <a:rPr lang="zh-CN" alt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，画一道波浪线</a:t>
            </a:r>
            <a:endParaRPr lang="zh-CN" sz="2550" dirty="0"/>
          </a:p>
        </p:txBody>
      </p:sp>
      <p:sp>
        <p:nvSpPr>
          <p:cNvPr id="10" name="Shape 7"/>
          <p:cNvSpPr/>
          <p:nvPr/>
        </p:nvSpPr>
        <p:spPr>
          <a:xfrm>
            <a:off x="1051560" y="5120640"/>
            <a:ext cx="11430000" cy="2103120"/>
          </a:xfrm>
          <a:prstGeom prst="roundRect">
            <a:avLst>
              <a:gd name="adj" fmla="val 5000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71600" y="5623560"/>
            <a:ext cx="731520" cy="80467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5000"/>
              </a:lnSpc>
              <a:buNone/>
            </a:pPr>
            <a:r>
              <a:rPr lang="zh-CN" altLang="en-US" sz="60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？</a:t>
            </a:r>
            <a:endParaRPr lang="zh-CN" sz="6000" dirty="0"/>
          </a:p>
        </p:txBody>
      </p:sp>
      <p:sp>
        <p:nvSpPr>
          <p:cNvPr id="12" name="Text 9"/>
          <p:cNvSpPr/>
          <p:nvPr/>
        </p:nvSpPr>
        <p:spPr>
          <a:xfrm>
            <a:off x="2377440" y="5669280"/>
            <a:ext cx="9692640" cy="100584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和这个字</a:t>
            </a:r>
            <a:r>
              <a:rPr lang="zh-CN" altLang="en-US" sz="255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关系不大的一句或者一段</a:t>
            </a:r>
            <a:r>
              <a:rPr lang="zh-CN" altLang="en-US" sz="255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，在旁边打一个问号；全篇没有这样的句子，就不打问号</a:t>
            </a:r>
            <a:endParaRPr lang="zh-CN" sz="2550" dirty="0"/>
          </a:p>
        </p:txBody>
      </p:sp>
      <p:sp>
        <p:nvSpPr>
          <p:cNvPr id="13" name="Shape 10"/>
          <p:cNvSpPr/>
          <p:nvPr/>
        </p:nvSpPr>
        <p:spPr>
          <a:xfrm>
            <a:off x="1051560" y="7726679"/>
            <a:ext cx="16194024" cy="900113"/>
          </a:xfrm>
          <a:prstGeom prst="roundRect">
            <a:avLst>
              <a:gd name="adj" fmla="val 16931"/>
            </a:avLst>
          </a:prstGeom>
          <a:solidFill>
            <a:srgbClr val="DCE6F5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408176" y="7955279"/>
            <a:ext cx="15819120" cy="481012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zh-CN" altLang="en-US" sz="2325" b="1" dirty="0">
                <a:solidFill>
                  <a:srgbClr val="2C3A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默读全文，时间两分钟。读完把稿子还给作者。</a:t>
            </a:r>
            <a:endParaRPr lang="zh-CN" sz="2325" dirty="0"/>
          </a:p>
        </p:txBody>
      </p:sp>
      <p:sp>
        <p:nvSpPr>
          <p:cNvPr id="15" name="Text 12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记号是给作者看的：稿子上多了什么记号，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决定接下来改哪里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39" name="插图" descr="抠-P26-7cfea098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0847" y="3291840"/>
            <a:ext cx="4585025" cy="4023360"/>
          </a:xfrm>
          <a:prstGeom prst="rect">
            <a:avLst/>
          </a:prstGeom>
        </p:spPr>
      </p:pic>
      <p:pic>
        <p:nvPicPr>
          <p:cNvPr id="40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41" name="吉祥物" descr="吉祥物-招手-030705a97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228953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底带"/>
          <p:cNvSpPr/>
          <p:nvPr/>
        </p:nvSpPr>
        <p:spPr>
          <a:xfrm>
            <a:off x="0" y="6675120"/>
            <a:ext cx="18288000" cy="3611880"/>
          </a:xfrm>
          <a:prstGeom prst="rect">
            <a:avLst/>
          </a:prstGeom>
          <a:solidFill>
            <a:srgbClr val="FD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修改收束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3E9F2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124712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对照记号，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只改一处</a:t>
            </a: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：先看自己写到了哪一档</a:t>
            </a:r>
            <a:endParaRPr lang="zh-CN" sz="3205" dirty="0"/>
          </a:p>
        </p:txBody>
      </p:sp>
      <p:sp>
        <p:nvSpPr>
          <p:cNvPr id="7" name="Text 4"/>
          <p:cNvSpPr/>
          <p:nvPr/>
        </p:nvSpPr>
        <p:spPr>
          <a:xfrm>
            <a:off x="1047750" y="2743200"/>
            <a:ext cx="942975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三种情况，各自确定改哪里</a:t>
            </a:r>
            <a:endParaRPr lang="zh-CN" sz="2400" dirty="0"/>
          </a:p>
        </p:txBody>
      </p:sp>
      <p:sp>
        <p:nvSpPr>
          <p:cNvPr id="8" name="Shape 5"/>
          <p:cNvSpPr/>
          <p:nvPr/>
        </p:nvSpPr>
        <p:spPr>
          <a:xfrm>
            <a:off x="1047750" y="3246120"/>
            <a:ext cx="8572500" cy="960120"/>
          </a:xfrm>
          <a:prstGeom prst="roundRect">
            <a:avLst>
              <a:gd name="adj" fmla="val 11552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14450" y="3319272"/>
            <a:ext cx="8280273" cy="81141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字没猜对，也没有波浪线 </a:t>
            </a: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详写那一段还没有把字写出来：回到这一段，在人物做事的地方补上两句，一句写动作，一句写这个动作的结果</a:t>
            </a:r>
            <a:endParaRPr lang="zh-CN" sz="2100" dirty="0"/>
          </a:p>
        </p:txBody>
      </p:sp>
      <p:sp>
        <p:nvSpPr>
          <p:cNvPr id="10" name="Shape 7"/>
          <p:cNvSpPr/>
          <p:nvPr/>
        </p:nvSpPr>
        <p:spPr>
          <a:xfrm>
            <a:off x="1047750" y="4315968"/>
            <a:ext cx="8572500" cy="960120"/>
          </a:xfrm>
          <a:prstGeom prst="roundRect">
            <a:avLst>
              <a:gd name="adj" fmla="val 11552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14450" y="4389120"/>
            <a:ext cx="8280273" cy="81141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有问号 </a:t>
            </a: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打了问号的那一句或者那一段，先看能不能改一句，让它贴近中心意思，改不了就去掉</a:t>
            </a:r>
            <a:endParaRPr lang="zh-CN" sz="2100" dirty="0"/>
          </a:p>
        </p:txBody>
      </p:sp>
      <p:sp>
        <p:nvSpPr>
          <p:cNvPr id="12" name="Shape 9"/>
          <p:cNvSpPr/>
          <p:nvPr/>
        </p:nvSpPr>
        <p:spPr>
          <a:xfrm>
            <a:off x="1047750" y="5385816"/>
            <a:ext cx="8572500" cy="960120"/>
          </a:xfrm>
          <a:prstGeom prst="roundRect">
            <a:avLst>
              <a:gd name="adj" fmla="val 11552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14450" y="5458968"/>
            <a:ext cx="8280273" cy="81141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1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字猜对了，也没有问号 </a:t>
            </a: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看留下的两三条是不是一条详、其余略；三条差不多长的，把略写的压缩到两三句</a:t>
            </a:r>
            <a:endParaRPr lang="zh-CN" sz="2100" dirty="0"/>
          </a:p>
        </p:txBody>
      </p:sp>
      <p:sp>
        <p:nvSpPr>
          <p:cNvPr id="14" name="Text 11"/>
          <p:cNvSpPr/>
          <p:nvPr/>
        </p:nvSpPr>
        <p:spPr>
          <a:xfrm>
            <a:off x="10191750" y="2743200"/>
            <a:ext cx="775335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我写到了哪一档</a:t>
            </a:r>
            <a:endParaRPr lang="zh-CN" sz="2400" dirty="0"/>
          </a:p>
        </p:txBody>
      </p:sp>
      <p:sp>
        <p:nvSpPr>
          <p:cNvPr id="15" name="Shape 12"/>
          <p:cNvSpPr/>
          <p:nvPr/>
        </p:nvSpPr>
        <p:spPr>
          <a:xfrm>
            <a:off x="10191750" y="3246120"/>
            <a:ext cx="7048500" cy="960120"/>
          </a:xfrm>
          <a:prstGeom prst="roundRect">
            <a:avLst>
              <a:gd name="adj" fmla="val 8252"/>
            </a:avLst>
          </a:prstGeom>
          <a:solidFill>
            <a:srgbClr val="F7F8FA"/>
          </a:solidFill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10191750" y="3246120"/>
            <a:ext cx="76200" cy="960120"/>
          </a:xfrm>
          <a:prstGeom prst="rect">
            <a:avLst/>
          </a:prstGeom>
          <a:solidFill>
            <a:srgbClr val="9AA6B6"/>
          </a:solidFill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0534650" y="3319272"/>
            <a:ext cx="6632067" cy="81141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基础过关 </a:t>
            </a: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我选定了一个字，围绕它写出了几件事，句子读得通</a:t>
            </a:r>
            <a:endParaRPr lang="zh-CN" sz="2100" dirty="0"/>
          </a:p>
        </p:txBody>
      </p:sp>
      <p:sp>
        <p:nvSpPr>
          <p:cNvPr id="18" name="Shape 15"/>
          <p:cNvSpPr/>
          <p:nvPr/>
        </p:nvSpPr>
        <p:spPr>
          <a:xfrm>
            <a:off x="10191750" y="4315968"/>
            <a:ext cx="7048500" cy="960120"/>
          </a:xfrm>
          <a:prstGeom prst="roundRect">
            <a:avLst>
              <a:gd name="adj" fmla="val 8252"/>
            </a:avLst>
          </a:prstGeom>
          <a:solidFill>
            <a:srgbClr val="FBF3E6"/>
          </a:solidFill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191750" y="4315968"/>
            <a:ext cx="76200" cy="960120"/>
          </a:xfrm>
          <a:prstGeom prst="rect">
            <a:avLst/>
          </a:prstGeom>
          <a:solidFill>
            <a:srgbClr val="E0A43B"/>
          </a:solidFill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0534650" y="4389120"/>
            <a:ext cx="6632067" cy="81141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良好达标 </a:t>
            </a: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我留下的每一条材料都扣着那个字，听的人说得出我写的是哪个字</a:t>
            </a:r>
            <a:endParaRPr lang="zh-CN" sz="2100" dirty="0"/>
          </a:p>
        </p:txBody>
      </p:sp>
      <p:sp>
        <p:nvSpPr>
          <p:cNvPr id="21" name="Shape 18"/>
          <p:cNvSpPr/>
          <p:nvPr/>
        </p:nvSpPr>
        <p:spPr>
          <a:xfrm>
            <a:off x="10191750" y="5385816"/>
            <a:ext cx="7048500" cy="960120"/>
          </a:xfrm>
          <a:prstGeom prst="roundRect">
            <a:avLst>
              <a:gd name="adj" fmla="val 8252"/>
            </a:avLst>
          </a:prstGeom>
          <a:solidFill>
            <a:srgbClr val="FCE7EA"/>
          </a:solidFill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191750" y="5385816"/>
            <a:ext cx="76200" cy="960120"/>
          </a:xfrm>
          <a:prstGeom prst="rect">
            <a:avLst/>
          </a:prstGeom>
          <a:solidFill>
            <a:srgbClr val="C0392B"/>
          </a:solidFill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0534650" y="5458968"/>
            <a:ext cx="6632067" cy="81141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zh-CN" altLang="en-US" sz="21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优秀进阶 </a:t>
            </a:r>
            <a:r>
              <a:rPr lang="zh-CN" altLang="en-US" sz="2100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我有一条写足了，动作一个接一个；其余的一两句带过；开头或者结尾有一句把中心意思说出来</a:t>
            </a:r>
            <a:endParaRPr lang="zh-CN" sz="2100" dirty="0"/>
          </a:p>
        </p:txBody>
      </p:sp>
      <p:sp>
        <p:nvSpPr>
          <p:cNvPr id="24" name="Text 21"/>
          <p:cNvSpPr/>
          <p:nvPr/>
        </p:nvSpPr>
        <p:spPr>
          <a:xfrm>
            <a:off x="1687830" y="9353550"/>
            <a:ext cx="996696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只改这一处，时间三分钟；改完再用一分钟通读全文，多字、漏字、错字，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用修改符号直接改正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64" name="插图" descr="抠-P27-729f866c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7083" y="6263640"/>
            <a:ext cx="4441113" cy="3749039"/>
          </a:xfrm>
          <a:prstGeom prst="rect">
            <a:avLst/>
          </a:prstGeom>
        </p:spPr>
      </p:pic>
      <p:pic>
        <p:nvPicPr>
          <p:cNvPr id="65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316974"/>
            <a:ext cx="502920" cy="502920"/>
          </a:xfrm>
          <a:prstGeom prst="rect">
            <a:avLst/>
          </a:prstGeom>
        </p:spPr>
      </p:pic>
      <p:pic>
        <p:nvPicPr>
          <p:cNvPr id="66" name="吉祥物" descr="吉祥物-招手-030705a97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228953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底带"/>
          <p:cNvSpPr/>
          <p:nvPr/>
        </p:nvSpPr>
        <p:spPr>
          <a:xfrm>
            <a:off x="0" y="7086600"/>
            <a:ext cx="18288000" cy="2057400"/>
          </a:xfrm>
          <a:prstGeom prst="rect">
            <a:avLst/>
          </a:prstGeom>
          <a:solidFill>
            <a:srgbClr val="FFF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685800" cy="4381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400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收束</a:t>
            </a:r>
            <a:endParaRPr lang="zh-CN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2942570" cy="833438"/>
          </a:xfrm>
          <a:prstGeom prst="roundRect">
            <a:avLst>
              <a:gd name="adj" fmla="val 22857"/>
            </a:avLst>
          </a:prstGeom>
          <a:solidFill>
            <a:srgbClr val="E3E9F2"/>
          </a:solidFill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11247120" cy="5667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zh-CN" altLang="en-US" sz="320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单元导语里的一句话：</a:t>
            </a:r>
            <a:r>
              <a:rPr lang="zh-CN" altLang="en-US" sz="32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意犹帅也</a:t>
            </a:r>
            <a:endParaRPr lang="zh-CN" sz="3205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9906000" cy="1371600"/>
          </a:xfrm>
          <a:prstGeom prst="roundRect">
            <a:avLst>
              <a:gd name="adj" fmla="val 12500"/>
            </a:avLst>
          </a:prstGeom>
          <a:solidFill>
            <a:srgbClr val="F7F5F2"/>
          </a:solidFill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524000" y="3429000"/>
            <a:ext cx="9222105" cy="6477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zh-CN" altLang="en-US" sz="30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“无论诗歌与长行文字，俱以意为主。</a:t>
            </a:r>
            <a:r>
              <a:rPr lang="zh-CN" altLang="en-US" sz="3000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意犹帅也</a:t>
            </a:r>
            <a:r>
              <a:rPr lang="zh-CN" altLang="en-US" sz="3000" b="1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。”</a:t>
            </a:r>
            <a:endParaRPr lang="zh-CN" sz="3000" dirty="0"/>
          </a:p>
        </p:txBody>
      </p:sp>
      <p:sp>
        <p:nvSpPr>
          <p:cNvPr id="9" name="Shape 6"/>
          <p:cNvSpPr/>
          <p:nvPr/>
        </p:nvSpPr>
        <p:spPr>
          <a:xfrm>
            <a:off x="1047750" y="4953000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9700" y="4800600"/>
            <a:ext cx="8801100" cy="5381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写文章，</a:t>
            </a:r>
            <a:r>
              <a:rPr lang="zh-CN" alt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中心意思是主帅，材料是兵</a:t>
            </a: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，兵都要听从主帅</a:t>
            </a:r>
            <a:endParaRPr lang="zh-CN" sz="2625" dirty="0"/>
          </a:p>
        </p:txBody>
      </p:sp>
      <p:sp>
        <p:nvSpPr>
          <p:cNvPr id="11" name="Shape 8"/>
          <p:cNvSpPr/>
          <p:nvPr/>
        </p:nvSpPr>
        <p:spPr>
          <a:xfrm>
            <a:off x="1047750" y="5738813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9700" y="5586413"/>
            <a:ext cx="6600825" cy="5381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今天做的就是这件事：</a:t>
            </a:r>
            <a:r>
              <a:rPr lang="zh-CN" altLang="en-US" sz="262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先定主帅，再选兵</a:t>
            </a:r>
            <a:endParaRPr lang="zh-CN" sz="2625" dirty="0"/>
          </a:p>
        </p:txBody>
      </p:sp>
      <p:sp>
        <p:nvSpPr>
          <p:cNvPr id="13" name="Shape 10"/>
          <p:cNvSpPr/>
          <p:nvPr/>
        </p:nvSpPr>
        <p:spPr>
          <a:xfrm>
            <a:off x="1047750" y="6524625"/>
            <a:ext cx="152400" cy="152400"/>
          </a:xfrm>
          <a:prstGeom prst="ellipse">
            <a:avLst/>
          </a:prstGeom>
          <a:solidFill>
            <a:srgbClr val="3D4A63"/>
          </a:solidFill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409700" y="6372225"/>
            <a:ext cx="8778240" cy="538163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zh-CN" altLang="en-US" sz="2625" b="1" dirty="0">
                <a:solidFill>
                  <a:srgbClr val="2A2E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请把稿子交上来，中心选材表夹在稿子里一起上交</a:t>
            </a:r>
            <a:endParaRPr lang="zh-CN" sz="2625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0388" y="2651760"/>
            <a:ext cx="6031382" cy="6217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87830" y="9334500"/>
            <a:ext cx="17171670" cy="4762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围绕一个字选材料：一句话定下中心意思，材料一条一条问一遍，</a:t>
            </a:r>
            <a:r>
              <a:rPr lang="zh-CN" altLang="en-US" sz="2605" b="1" dirty="0">
                <a:solidFill>
                  <a:srgbClr val="C039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最能表现它的那一条写足</a:t>
            </a:r>
            <a:r>
              <a:rPr lang="zh-CN" altLang="en-US" sz="2605" dirty="0">
                <a:solidFill>
                  <a:srgbClr val="3D4A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sz="2605" dirty="0"/>
          </a:p>
        </p:txBody>
      </p:sp>
      <p:pic>
        <p:nvPicPr>
          <p:cNvPr id="41" name="提示图标" descr="手指点击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297924"/>
            <a:ext cx="502920" cy="502920"/>
          </a:xfrm>
          <a:prstGeom prst="rect">
            <a:avLst/>
          </a:prstGeom>
        </p:spPr>
      </p:pic>
      <p:pic>
        <p:nvPicPr>
          <p:cNvPr id="42" name="吉祥物" descr="吉祥物-招手-030705a97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8760" y="341947"/>
            <a:ext cx="1228953" cy="192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solidFill>
            <a:srgbClr val="7F93B0"/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943100" y="3657600"/>
            <a:ext cx="12573000" cy="1900238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27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THE END</a:t>
            </a:r>
            <a:endParaRPr lang="en-US" sz="12750" dirty="0"/>
          </a:p>
        </p:txBody>
      </p:sp>
      <p:sp>
        <p:nvSpPr>
          <p:cNvPr id="5" name="Text 3"/>
          <p:cNvSpPr/>
          <p:nvPr/>
        </p:nvSpPr>
        <p:spPr>
          <a:xfrm>
            <a:off x="2057400" y="5676900"/>
            <a:ext cx="15716250" cy="544711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zh-CN" altLang="en-US" sz="2850" dirty="0">
                <a:solidFill>
                  <a:srgbClr val="FFFFFF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围绕一个字选材料：先定主帅，再选兵，最能表现它的那一条写足。</a:t>
            </a:r>
            <a:endParaRPr lang="zh-CN" sz="2850" dirty="0"/>
          </a:p>
        </p:txBody>
      </p:sp>
      <p:sp>
        <p:nvSpPr>
          <p:cNvPr id="6" name="Text 4"/>
          <p:cNvSpPr/>
          <p:nvPr/>
        </p:nvSpPr>
        <p:spPr>
          <a:xfrm>
            <a:off x="13792200" y="8058150"/>
            <a:ext cx="2095500" cy="5334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下一次再见</a:t>
            </a:r>
            <a:endParaRPr lang="zh-CN" sz="3000" dirty="0"/>
          </a:p>
        </p:txBody>
      </p:sp>
      <p:sp>
        <p:nvSpPr>
          <p:cNvPr id="7" name="Shape 5"/>
          <p:cNvSpPr/>
          <p:nvPr/>
        </p:nvSpPr>
        <p:spPr>
          <a:xfrm>
            <a:off x="15925800" y="8039100"/>
            <a:ext cx="419100" cy="5334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5800" y="8039100"/>
            <a:ext cx="419100" cy="533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6888</Words>
  <Application>WPS 演示</Application>
  <PresentationFormat>On-screen Show (16:9)</PresentationFormat>
  <Paragraphs>620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9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飞鱼</cp:lastModifiedBy>
  <cp:revision>3</cp:revision>
  <dcterms:created xsi:type="dcterms:W3CDTF">2026-09-22T04:03:00Z</dcterms:created>
  <dcterms:modified xsi:type="dcterms:W3CDTF">2026-09-27T04:11:18Z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258AE1AEFA3A425984D496756DF0F208_12</vt:lpwstr>
  </property>
  <property fmtid="{D5CDD505-2E9C-101B-9397-08002B2CF9AE}" pid="3" name="KSOProductBuildVer">
    <vt:lpwstr>2052-12.1.0.20305</vt:lpwstr>
  </property>
</Properties>
</file>