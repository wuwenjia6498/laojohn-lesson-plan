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5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6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8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9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17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20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21.xml" ContentType="application/vnd.openxmlformats-officedocument.presentationml.notesSlid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9" r:id="rId18"/>
    <p:sldId id="273" r:id="rId19"/>
    <p:sldId id="280" r:id="rId20"/>
    <p:sldId id="274" r:id="rId21"/>
    <p:sldId id="275" r:id="rId22"/>
    <p:sldId id="276" r:id="rId23"/>
    <p:sldId id="278" r:id="rId24"/>
  </p:sldIdLst>
  <p:sldSz cx="18288000" cy="10287000"/>
  <p:notesSz cx="10287000" cy="18288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楷体" panose="02010609060101010101" pitchFamily="49" charset="-122"/>
      <p:regular r:id="rId31"/>
    </p:embeddedFont>
    <p:embeddedFont>
      <p:font typeface="微软雅黑" panose="020B0503020204020204" pitchFamily="34" charset="-122"/>
      <p:regular r:id="rId32"/>
      <p:bold r:id="rId33"/>
    </p:embeddedFont>
    <p:embeddedFont>
      <p:font typeface="Calibri Light" panose="020F0302020204030204" pitchFamily="34" charset="0"/>
      <p:regular r:id="rId34"/>
      <p:italic r:id="rId35"/>
    </p:embeddedFont>
    <p:embeddedFont>
      <p:font typeface="等线" panose="02010600030101010101" pitchFamily="2" charset="-122"/>
      <p:regular r:id="rId36"/>
      <p:bold r:id="rId37"/>
    </p:embeddedFont>
  </p:embeddedFontLst>
  <p:custDataLst>
    <p:tags r:id="rId3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8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686550" cy="1835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27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8740379" y="0"/>
            <a:ext cx="6686550" cy="1835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2700"/>
            </a:lvl1pPr>
          </a:lstStyle>
          <a:p>
            <a:fld id="{0F9B84EA-7D68-4D60-9CB1-D50884785D1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34740852"/>
            <a:ext cx="6686550" cy="18351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7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8740379" y="34740852"/>
            <a:ext cx="6686550" cy="18351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7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9385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30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课前导入：今天开始写自己的日记——日记本上的第一篇。三上第二单元应用文·日记，2课时连排。授课前把示范文中金鱼事件整体替换为本班真事，人名日期天气同步替换。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97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第1课时·写作指导课。线索：《蚯蚓的日记》导入，认识日记格式，说新鲜事打开思路，学'挑一件事按顺序写清楚、把心情写成看得见的样子'，填日记构思表，读教师示范文与旁批。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33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你们小时候读过《蚯蚓的日记》吗？（请认识的同学说一两句）一只小蚯蚓把每天遇到的事一天一天记下来，又好玩又有趣。这样的日记，咱们每个人都写得出来。（出示日记本实物）日记就写在这样一个本子里——可它到底长什么样、和平时写的作文有什么不一样？老师也写了一则，一起来看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5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示教师日记（换发型小事）。提问：这则日记和平时写的作文，开头有点不一样——第一行写的是什么？对，三样：日期、星期、天气，中间空一格。为什么写这三样？因为日记记的是'某一天发生的事'，过些日子翻回来一看第一行就想起来了。正文另起一行，开头空两格，和写作文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17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记写给谁看？主要写给将来的自己——过一个月、一年再翻开，还能想起今天的事、今天的心情。也正因为写给自己，什么都装得下：开心的、不开心的、憋在心里的小不满都能写，只管写真话真感受。今天的任务：给自己的日记本写下第一篇；写完开'日记分享会'。提醒：今天挑一件不介意讲给大家听的事，更私密的心事留着以后自己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49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热身：回想今天从早上到现在、或昨天，有没有一件新鲜的、好玩的、心里有点感触的小事？哪怕很小——上学路上、课间、家里都行。同桌两两互说，像记者播报新鲜事那样几句话说清'发生了一件什么事'，同桌听完可以问'后来呢'。再请三四位讲给全班（教师顺势点评每件事的可写之处）。总结：日记要写的事不用稀奇，就藏在每天的日子里；难在从好多事里挑出最值得记的那一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59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笔前先弄清日记该怎么写。两段对照：A从起床刷牙上课一直记到吃饭睡觉——天天如此、人人一样，读完心里空落落的，这就是'流水账'；B只盯着放学看蚂蚁搬饼干渣这一件事，怎么拖怎么推写得清清楚楚，还写了自己看得入神——就这一件，反倒让人过目不忘。提问：哪一段你愿意收进日记本？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20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日记最要紧的一条：不是把一天的事统统记下来，而是从一天里挑出最值得写、最有话想说的那一件，把它写清楚。挑哪件？新鲜的、有意思的、让你心里一动的。怎么算写清楚？按事情发生的先后顺序：先怎样、接着怎样、然后怎样、最后怎样，把时间地点有谁经过结果交代明白（回扣上一单元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10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记里还少不了当时的感受。可'高兴''难过'光写两个字，别人看不见。示范：今天早上老师发现班里的小金鱼不动了——看老师怎么把'难过'变成一段（见屏）。从头到尾没写'我很难过'，可处处觉出不好受：'咯噔'一下、赶紧捞起来、又轻轻放回盼它再游两下。把这些写出来，'难过'就不再是空空两个字，而是实实在在的样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42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该你们了：拿你想写的那件新鲜事——那一刻你心里最强烈的感觉是什么？先别说'我很……'，想想：那时候你在做什么？心里冒出过哪一句话？请两三人说。点评：都没停在'我很高兴'上，全是当时的动作和心里话——对了。三步窍门收束：挑一件最有话说的事，按次序写清楚，心情落到看得见的做法和心里的话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476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笔前用'日记构思表'把事捋顺，每格填几个词、不成句。老师拿今天送别小金鱼这件事示范（见表）。第一行定日期星期天气；第二行几个词写清'我要写哪一件事'；第三行在哪儿有谁；第四行按先后顺序填经过关键词；最后一行写当时心里的滋味。表填好，这件事就理清楚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98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填表：只填关键词、写简洁些，填不出的格子先空着。提示：写的是昨天的事？第一行仍填今天的日期，正文开头交代一句'昨天'即可。填好后不找人讨论——日记本来就是写给自己的：用只有自己听得见的声音，把这件事从头到尾说给自己听一遍；哪里磕磕绊绊，哪里就是没想清楚的地方，回表上补一两个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19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示教师示范文：老师把那张表写成了完整的一则日记。完整读一遍，注意标色：心里的感觉（紫）、看得见的动作（红）、看得见的神情（蓝）、大家的安静（绿）——与后面旁批表同色呼应。边读边想：哪些关键词被老师写'活'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08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完先想：①这则日记从头到尾就记了一件什么事？按什么次序写的？——整则就'送别小金鱼豆豆'一件事：早上发现→孩子们围过来→中午埋在桂花树下→回教室谁都没说话。②第一行交代了什么？——照例是日期、星期、天气。一件事照着发生的次序写下来，今天这篇日记就完成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96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找一处：哪一句让你一下'看见'了当时的样子、觉出了那份难过？把每句用了什么摆成旁批表（颜色与示范文标色一一对应）。通篇没有一句'我很难过'，可那份难过全在里头——心情不直接讲出来，全落在做法、神情和大家的安静里。最后提醒：老师这则记的是老师自己的事，你们写自己的；第一行别忘三样，正文空两格、标点点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79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课间休息回来进入第2课时。先拿出上节课填好的日记构思表，照着它把日记开个头，再正式写作、开日记分享会、修改收束。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81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出构思表。第一步最省事：把表上的日期、星期、天气照抄到稿纸第一行，三样中间空一格——开头完成。接下来不从头写：先找'经过'里印象最深的那个瞬间，在脑子里像放慢镜头一样过一遍。老师一句一句问，想到什么就写，三五个字也行，错字不停笔、不会写的用拼音、拼不出画圈跳过。写完连起来读——这就是这件事最精彩的部分。请一位同学读给大家听：没有一句'我很开心'，全是看得见听得见的样子。正式写时可以从这里写起再回头补开头，也可以从头按顺序写，挑顺手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30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写约18分钟，刚写的那几句就是现成的好开头，顺着往下接；也可以从头按顺序写、把它放在经过里写足。盯住两件事：①盯住挑的这一件事，别写成流水账——像老师那则只写送别小金鱼，不写当天上了什么课吃了什么饭；②写经过时把感受用看得见听得见的样子写出来。巡视分类提示：接不下去的领回构思表补开头结尾；空泛的落到具体动作和心里话；顺畅的不打断；草草收尾的追问'后来怎么样了'补足经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081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写约18分钟，刚写的那几句就是现成的好开头，顺着往下接；也可以从头按顺序写、把它放在经过里写足。盯住两件事：①盯住挑的这一件事，别写成流水账——像老师那则只写送别小金鱼，不写当天上了什么课吃了什么饭；②写经过时把感受用看得见听得见的样子写出来。巡视分类提示：接不下去的领回构思表补开头结尾；空泛的落到具体动作和心里话；顺畅的不打断；草草收尾的追问'后来怎么样了'补足经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577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约好的'日记分享会'。请2-3位同学朗读自己的日记（宁少勿多）。听众做两件事：①听完复述'作者今天遇到的是件什么事'——复述得顺当，说明他写清楚了；②听听大家记的事各不相同，看看日记里能装下多少种不一样的一天。每读完一篇教师一句具体轻点评；对从早记到晚或没说清的不批评，把问题变成下一步修改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212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之前先对着三条自己读一遍：①第一行日期星期天气写齐没有；②是不是只写了一件事、按顺序写清楚了；③心情有没有写成看得见的做法和心里的话。读完动手改：格式上第一行三样补齐、正文空两格；内容上把'我很开心'换成看得见的做法动作或心里话；再用修改符号理一理——多的字圈掉、漏的补上、错的改正。三档标准供教师掌握，不必念给学生。今天不求十全十美，把'挑准一件事、写清楚'弄扎实就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226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今天每个人都给自己的日记本写下了第一篇——留住的是今天最值得记的那一件事。稿纸先收好，日记本准备好了贴进去或工工整整誊在第一页；往后每周接着写几篇，想写哪件写哪件，本子越写越厚。点回口诀：挑一件、写清楚、写出心情——写日记就这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556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收束：挑一件、写清楚、写出心情——写日记就这三步。今天写下的是日记本的第一篇，往后常写常练，本子越写越厚。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04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6" Type="http://schemas.openxmlformats.org/officeDocument/2006/relationships/image" Target="../media/image5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4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5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3.png"/><Relationship Id="rId5" Type="http://schemas.openxmlformats.org/officeDocument/2006/relationships/tags" Target="../tags/tag17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16.xml"/><Relationship Id="rId9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6.pn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3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notesSlide" Target="../notesSlides/notesSlide5.xml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32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5.png"/><Relationship Id="rId5" Type="http://schemas.openxmlformats.org/officeDocument/2006/relationships/tags" Target="../tags/tag34.xml"/><Relationship Id="rId10" Type="http://schemas.openxmlformats.org/officeDocument/2006/relationships/image" Target="../media/image7.png"/><Relationship Id="rId4" Type="http://schemas.openxmlformats.org/officeDocument/2006/relationships/tags" Target="../tags/tag33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image" Target="../media/image8.png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image" Target="../media/image3.png"/><Relationship Id="rId2" Type="http://schemas.openxmlformats.org/officeDocument/2006/relationships/tags" Target="../tags/tag37.xml"/><Relationship Id="rId16" Type="http://schemas.openxmlformats.org/officeDocument/2006/relationships/notesSlide" Target="../notesSlides/notesSlide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image" Target="../media/image5.png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image" Target="../media/image9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image" Target="../media/image3.png"/><Relationship Id="rId5" Type="http://schemas.openxmlformats.org/officeDocument/2006/relationships/tags" Target="../tags/tag54.xml"/><Relationship Id="rId10" Type="http://schemas.openxmlformats.org/officeDocument/2006/relationships/notesSlide" Target="../notesSlides/notesSlide8.xml"/><Relationship Id="rId4" Type="http://schemas.openxmlformats.org/officeDocument/2006/relationships/tags" Target="../tags/tag53.xml"/><Relationship Id="rId9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notesSlide" Target="../notesSlides/notesSlide9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59.xml"/><Relationship Id="rId16" Type="http://schemas.openxmlformats.org/officeDocument/2006/relationships/image" Target="../media/image5.pn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image" Target="../media/image3.png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image" Target="../media/image3.png"/><Relationship Id="rId3" Type="http://schemas.openxmlformats.org/officeDocument/2006/relationships/tags" Target="../tags/tag71.xml"/><Relationship Id="rId21" Type="http://schemas.openxmlformats.org/officeDocument/2006/relationships/image" Target="../media/image13.png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notesSlide" Target="../notesSlides/notesSlide10.xml"/><Relationship Id="rId2" Type="http://schemas.openxmlformats.org/officeDocument/2006/relationships/tags" Target="../tags/tag70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12.png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11.png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notesSlide" Target="../notesSlides/notesSlide12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5" Type="http://schemas.openxmlformats.org/officeDocument/2006/relationships/tags" Target="../tags/tag88.xml"/><Relationship Id="rId15" Type="http://schemas.openxmlformats.org/officeDocument/2006/relationships/image" Target="../media/image2.png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image" Target="../media/image14.png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image" Target="../media/image3.png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notesSlide" Target="../notesSlides/notesSlide14.xml"/><Relationship Id="rId5" Type="http://schemas.openxmlformats.org/officeDocument/2006/relationships/tags" Target="../tags/tag99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17" Type="http://schemas.openxmlformats.org/officeDocument/2006/relationships/image" Target="../media/image5.png"/><Relationship Id="rId2" Type="http://schemas.openxmlformats.org/officeDocument/2006/relationships/tags" Target="../tags/tag105.xml"/><Relationship Id="rId16" Type="http://schemas.openxmlformats.org/officeDocument/2006/relationships/image" Target="../media/image15.png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5" Type="http://schemas.openxmlformats.org/officeDocument/2006/relationships/image" Target="../media/image3.png"/><Relationship Id="rId10" Type="http://schemas.openxmlformats.org/officeDocument/2006/relationships/tags" Target="../tags/tag113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image" Target="../media/image16.png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image" Target="../media/image3.png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notesSlide" Target="../notesSlides/notesSlide18.xml"/><Relationship Id="rId5" Type="http://schemas.openxmlformats.org/officeDocument/2006/relationships/tags" Target="../tags/tag120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13" Type="http://schemas.openxmlformats.org/officeDocument/2006/relationships/image" Target="../media/image5.png"/><Relationship Id="rId3" Type="http://schemas.openxmlformats.org/officeDocument/2006/relationships/tags" Target="../tags/tag127.xml"/><Relationship Id="rId7" Type="http://schemas.openxmlformats.org/officeDocument/2006/relationships/tags" Target="../tags/tag131.xml"/><Relationship Id="rId12" Type="http://schemas.openxmlformats.org/officeDocument/2006/relationships/image" Target="../media/image18.png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11" Type="http://schemas.openxmlformats.org/officeDocument/2006/relationships/image" Target="../media/image3.png"/><Relationship Id="rId5" Type="http://schemas.openxmlformats.org/officeDocument/2006/relationships/tags" Target="../tags/tag129.xml"/><Relationship Id="rId10" Type="http://schemas.openxmlformats.org/officeDocument/2006/relationships/notesSlide" Target="../notesSlides/notesSlide20.xml"/><Relationship Id="rId4" Type="http://schemas.openxmlformats.org/officeDocument/2006/relationships/tags" Target="../tags/tag128.xml"/><Relationship Id="rId9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tags" Target="../tags/tag145.xml"/><Relationship Id="rId18" Type="http://schemas.openxmlformats.org/officeDocument/2006/relationships/image" Target="../media/image19.png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tags" Target="../tags/tag144.xml"/><Relationship Id="rId17" Type="http://schemas.openxmlformats.org/officeDocument/2006/relationships/image" Target="../media/image3.png"/><Relationship Id="rId2" Type="http://schemas.openxmlformats.org/officeDocument/2006/relationships/tags" Target="../tags/tag134.xml"/><Relationship Id="rId16" Type="http://schemas.openxmlformats.org/officeDocument/2006/relationships/notesSlide" Target="../notesSlides/notesSlide21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5" Type="http://schemas.openxmlformats.org/officeDocument/2006/relationships/tags" Target="../tags/tag137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142.xml"/><Relationship Id="rId19" Type="http://schemas.openxmlformats.org/officeDocument/2006/relationships/image" Target="../media/image5.png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tags" Target="../tags/tag14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notesSlide" Target="../notesSlides/notesSlide22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148.xml"/><Relationship Id="rId16" Type="http://schemas.openxmlformats.org/officeDocument/2006/relationships/image" Target="../media/image5.png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5" Type="http://schemas.openxmlformats.org/officeDocument/2006/relationships/image" Target="../media/image20.png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2400" y="-244475"/>
            <a:ext cx="20288885" cy="8912225"/>
            <a:chOff x="-240" y="-385"/>
            <a:chExt cx="31951" cy="14035"/>
          </a:xfrm>
        </p:grpSpPr>
        <p:sp>
          <p:nvSpPr>
            <p:cNvPr id="9" name="Shape 1"/>
            <p:cNvSpPr/>
            <p:nvPr/>
          </p:nvSpPr>
          <p:spPr>
            <a:xfrm>
              <a:off x="728" y="2595"/>
              <a:ext cx="27293" cy="8400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EE7B2E">
                    <a:alpha val="100000"/>
                  </a:srgbClr>
                </a:gs>
                <a:gs pos="42000">
                  <a:srgbClr val="F0A63C">
                    <a:alpha val="100000"/>
                  </a:srgbClr>
                </a:gs>
                <a:gs pos="100000">
                  <a:srgbClr val="57B0A6">
                    <a:alpha val="100000"/>
                  </a:srgbClr>
                </a:gs>
              </a:gsLst>
              <a:lin ang="900000" scaled="0"/>
            </a:gradFill>
          </p:spPr>
          <p:txBody>
            <a:bodyPr/>
            <a:lstStyle/>
            <a:p>
              <a:endParaRPr/>
            </a:p>
          </p:txBody>
        </p:sp>
        <p:sp>
          <p:nvSpPr>
            <p:cNvPr id="10" name="Shape 3"/>
            <p:cNvSpPr/>
            <p:nvPr/>
          </p:nvSpPr>
          <p:spPr>
            <a:xfrm>
              <a:off x="23495" y="-385"/>
              <a:ext cx="8216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" name="Shape 2"/>
            <p:cNvSpPr/>
            <p:nvPr/>
          </p:nvSpPr>
          <p:spPr>
            <a:xfrm>
              <a:off x="4650" y="2250"/>
              <a:ext cx="5400" cy="54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7" name="Shape 3"/>
            <p:cNvSpPr/>
            <p:nvPr/>
          </p:nvSpPr>
          <p:spPr>
            <a:xfrm>
              <a:off x="9150" y="7200"/>
              <a:ext cx="6450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>
              <a:endParaRPr/>
            </a:p>
          </p:txBody>
        </p:sp>
        <p:pic>
          <p:nvPicPr>
            <p:cNvPr id="19" name="Picture 3" descr="logo-r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69" y="893"/>
              <a:ext cx="3355" cy="1415"/>
            </a:xfrm>
            <a:prstGeom prst="rect">
              <a:avLst/>
            </a:prstGeom>
          </p:spPr>
        </p:pic>
        <p:sp>
          <p:nvSpPr>
            <p:cNvPr id="18" name="Shape 1"/>
            <p:cNvSpPr/>
            <p:nvPr/>
          </p:nvSpPr>
          <p:spPr>
            <a:xfrm>
              <a:off x="-240" y="810"/>
              <a:ext cx="1560" cy="1110"/>
            </a:xfrm>
            <a:prstGeom prst="roundRect">
              <a:avLst>
                <a:gd name="adj" fmla="val 4054"/>
              </a:avLst>
            </a:prstGeom>
            <a:solidFill>
              <a:srgbClr val="3D4A63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 4"/>
          <p:cNvSpPr/>
          <p:nvPr/>
        </p:nvSpPr>
        <p:spPr>
          <a:xfrm>
            <a:off x="4597400" y="2196465"/>
            <a:ext cx="4893310" cy="144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写日记</a:t>
            </a:r>
          </a:p>
        </p:txBody>
      </p:sp>
      <p:sp>
        <p:nvSpPr>
          <p:cNvPr id="8" name="Text 5"/>
          <p:cNvSpPr/>
          <p:nvPr/>
        </p:nvSpPr>
        <p:spPr>
          <a:xfrm>
            <a:off x="4635500" y="3766185"/>
            <a:ext cx="1018032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三年级上册 · 第二单元 · 校内同步写作（应用文 · 日记）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三年级上册 · 第二单元</a:t>
            </a:r>
            <a:endParaRPr lang="en-US" sz="2550" dirty="0"/>
          </a:p>
        </p:txBody>
      </p:sp>
      <p:pic>
        <p:nvPicPr>
          <p:cNvPr id="16" name="图片 15" descr="封面用图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3340" y="4034790"/>
            <a:ext cx="6437630" cy="606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250" dirty="0"/>
          </a:p>
        </p:txBody>
      </p:sp>
      <p:sp>
        <p:nvSpPr>
          <p:cNvPr id="6" name="Text 4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10388769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 · 认识日记 · 说新鲜事 · 学写法 · 日记构思表 · 教师示范文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2941955"/>
            <a:ext cx="18288000" cy="607314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619250"/>
            <a:ext cx="752094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还记得那只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写日记的小蚯蚓 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吗？</a:t>
            </a:r>
          </a:p>
        </p:txBody>
      </p:sp>
      <p:sp>
        <p:nvSpPr>
          <p:cNvPr id="10" name="Text 7"/>
          <p:cNvSpPr/>
          <p:nvPr>
            <p:custDataLst>
              <p:tags r:id="rId1"/>
            </p:custDataLst>
          </p:nvPr>
        </p:nvSpPr>
        <p:spPr>
          <a:xfrm>
            <a:off x="1409700" y="4025900"/>
            <a:ext cx="10770235" cy="6718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绘本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《蚯蚓的日记》——它把每天遇到的事， 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一天一天记下来</a:t>
            </a:r>
            <a:endParaRPr lang="en-US" sz="2775" dirty="0"/>
          </a:p>
        </p:txBody>
      </p:sp>
      <p:sp>
        <p:nvSpPr>
          <p:cNvPr id="12" name="Text 9"/>
          <p:cNvSpPr/>
          <p:nvPr>
            <p:custDataLst>
              <p:tags r:id="rId2"/>
            </p:custDataLst>
          </p:nvPr>
        </p:nvSpPr>
        <p:spPr>
          <a:xfrm>
            <a:off x="1409700" y="5328285"/>
            <a:ext cx="1040511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有趣又生动——这样的日记，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我们每个人都能写出来</a:t>
            </a:r>
            <a:endParaRPr lang="en-US" sz="2775" dirty="0"/>
          </a:p>
        </p:txBody>
      </p:sp>
      <p:sp>
        <p:nvSpPr>
          <p:cNvPr id="14" name="Text 11"/>
          <p:cNvSpPr/>
          <p:nvPr>
            <p:custDataLst>
              <p:tags r:id="rId3"/>
            </p:custDataLst>
          </p:nvPr>
        </p:nvSpPr>
        <p:spPr>
          <a:xfrm>
            <a:off x="1409700" y="6671945"/>
            <a:ext cx="10694670" cy="1095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日记，写在一个 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自己的本子 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里——它是什么样子？和作文有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什么不一样？</a:t>
            </a:r>
            <a:endParaRPr lang="en-US" sz="2775" dirty="0"/>
          </a:p>
        </p:txBody>
      </p:sp>
      <p:sp>
        <p:nvSpPr>
          <p:cNvPr id="16" name="Text 12"/>
          <p:cNvSpPr/>
          <p:nvPr/>
        </p:nvSpPr>
        <p:spPr>
          <a:xfrm>
            <a:off x="1047750" y="9162415"/>
            <a:ext cx="1042416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老师也写了一则日记——我们一起来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看看它的样子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pic>
        <p:nvPicPr>
          <p:cNvPr id="17" name="图片 16" descr="蚯蚓的日记-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62535" y="2930525"/>
            <a:ext cx="4429760" cy="61315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3" name="椭圆 172"/>
          <p:cNvSpPr/>
          <p:nvPr>
            <p:custDataLst>
              <p:tags r:id="rId4"/>
            </p:custDataLst>
          </p:nvPr>
        </p:nvSpPr>
        <p:spPr>
          <a:xfrm>
            <a:off x="896620" y="4017645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5"/>
            </p:custDataLst>
          </p:nvPr>
        </p:nvSpPr>
        <p:spPr>
          <a:xfrm>
            <a:off x="896620" y="5371783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5" name="椭圆 174"/>
          <p:cNvSpPr/>
          <p:nvPr>
            <p:custDataLst>
              <p:tags r:id="rId6"/>
            </p:custDataLst>
          </p:nvPr>
        </p:nvSpPr>
        <p:spPr>
          <a:xfrm>
            <a:off x="896620" y="6716395"/>
            <a:ext cx="476250" cy="476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7"/>
            </p:custDataLst>
          </p:nvPr>
        </p:nvCxnSpPr>
        <p:spPr>
          <a:xfrm>
            <a:off x="1134745" y="4551045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8"/>
            </p:custDataLst>
          </p:nvPr>
        </p:nvCxnSpPr>
        <p:spPr>
          <a:xfrm>
            <a:off x="1134745" y="5903595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9"/>
            </p:custDataLst>
          </p:nvPr>
        </p:nvSpPr>
        <p:spPr>
          <a:xfrm>
            <a:off x="896620" y="4093528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10"/>
            </p:custDataLst>
          </p:nvPr>
        </p:nvSpPr>
        <p:spPr>
          <a:xfrm>
            <a:off x="893445" y="5449570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  <p:sp>
        <p:nvSpPr>
          <p:cNvPr id="180" name="文本框 179"/>
          <p:cNvSpPr txBox="1"/>
          <p:nvPr>
            <p:custDataLst>
              <p:tags r:id="rId11"/>
            </p:custDataLst>
          </p:nvPr>
        </p:nvSpPr>
        <p:spPr>
          <a:xfrm>
            <a:off x="893445" y="6783070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bldLvl="0" animBg="1"/>
      <p:bldP spid="174" grpId="0" bldLvl="0" animBg="1"/>
      <p:bldP spid="175" grpId="0" bldLvl="0" animBg="1"/>
      <p:bldP spid="178" grpId="0"/>
      <p:bldP spid="179" grpId="0"/>
      <p:bldP spid="18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20" name="Shape 0"/>
          <p:cNvSpPr/>
          <p:nvPr/>
        </p:nvSpPr>
        <p:spPr>
          <a:xfrm>
            <a:off x="0" y="2941955"/>
            <a:ext cx="18288000" cy="734504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认识格式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60830"/>
            <a:ext cx="8220801" cy="6076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老师写的一则日记 ——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开头有什么不同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</a:p>
        </p:txBody>
      </p:sp>
      <p:sp>
        <p:nvSpPr>
          <p:cNvPr id="8" name="Shape 5"/>
          <p:cNvSpPr/>
          <p:nvPr/>
        </p:nvSpPr>
        <p:spPr>
          <a:xfrm>
            <a:off x="1047750" y="3162935"/>
            <a:ext cx="10090785" cy="5631815"/>
          </a:xfrm>
          <a:prstGeom prst="roundRect">
            <a:avLst>
              <a:gd name="adj" fmla="val 4712"/>
            </a:avLst>
          </a:prstGeom>
          <a:solidFill>
            <a:schemeClr val="bg1"/>
          </a:solidFill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524000" y="3429000"/>
            <a:ext cx="8318500" cy="5867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          9月15日               星期一                    晴</a:t>
            </a:r>
            <a:endParaRPr lang="en-US" sz="2400" dirty="0"/>
          </a:p>
        </p:txBody>
      </p:sp>
      <p:sp>
        <p:nvSpPr>
          <p:cNvPr id="11" name="Shape 8"/>
          <p:cNvSpPr/>
          <p:nvPr>
            <p:custDataLst>
              <p:tags r:id="rId1"/>
            </p:custDataLst>
          </p:nvPr>
        </p:nvSpPr>
        <p:spPr>
          <a:xfrm>
            <a:off x="11525250" y="3176905"/>
            <a:ext cx="5715000" cy="1390650"/>
          </a:xfrm>
          <a:prstGeom prst="roundRect">
            <a:avLst>
              <a:gd name="adj" fmla="val 10959"/>
            </a:avLst>
          </a:prstGeom>
          <a:solidFill>
            <a:schemeClr val="bg1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>
            <p:custDataLst>
              <p:tags r:id="rId2"/>
            </p:custDataLst>
          </p:nvPr>
        </p:nvSpPr>
        <p:spPr>
          <a:xfrm>
            <a:off x="11839575" y="3434080"/>
            <a:ext cx="367538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第一行写三项</a:t>
            </a:r>
            <a:endParaRPr lang="en-US" sz="2250" dirty="0"/>
          </a:p>
        </p:txBody>
      </p:sp>
      <p:sp>
        <p:nvSpPr>
          <p:cNvPr id="13" name="Text 10"/>
          <p:cNvSpPr/>
          <p:nvPr>
            <p:custDataLst>
              <p:tags r:id="rId3"/>
            </p:custDataLst>
          </p:nvPr>
        </p:nvSpPr>
        <p:spPr>
          <a:xfrm>
            <a:off x="11839575" y="3910330"/>
            <a:ext cx="538289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 · 星期 · 天气，中间空</a:t>
            </a: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几格</a:t>
            </a:r>
          </a:p>
        </p:txBody>
      </p:sp>
      <p:sp>
        <p:nvSpPr>
          <p:cNvPr id="14" name="Shape 11"/>
          <p:cNvSpPr/>
          <p:nvPr>
            <p:custDataLst>
              <p:tags r:id="rId4"/>
            </p:custDataLst>
          </p:nvPr>
        </p:nvSpPr>
        <p:spPr>
          <a:xfrm>
            <a:off x="11525250" y="4815205"/>
            <a:ext cx="5715000" cy="1390650"/>
          </a:xfrm>
          <a:prstGeom prst="roundRect">
            <a:avLst>
              <a:gd name="adj" fmla="val 10959"/>
            </a:avLst>
          </a:prstGeom>
          <a:solidFill>
            <a:schemeClr val="bg1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>
            <p:custDataLst>
              <p:tags r:id="rId5"/>
            </p:custDataLst>
          </p:nvPr>
        </p:nvSpPr>
        <p:spPr>
          <a:xfrm>
            <a:off x="11839575" y="5072380"/>
            <a:ext cx="368744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正文另起一行</a:t>
            </a:r>
            <a:endParaRPr lang="en-US" sz="2250" dirty="0"/>
          </a:p>
        </p:txBody>
      </p:sp>
      <p:sp>
        <p:nvSpPr>
          <p:cNvPr id="16" name="Text 13"/>
          <p:cNvSpPr/>
          <p:nvPr>
            <p:custDataLst>
              <p:tags r:id="rId6"/>
            </p:custDataLst>
          </p:nvPr>
        </p:nvSpPr>
        <p:spPr>
          <a:xfrm>
            <a:off x="11839575" y="5548630"/>
            <a:ext cx="424751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和写作文一样，开头空两格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1525250" y="6453505"/>
            <a:ext cx="5715000" cy="2341245"/>
          </a:xfrm>
          <a:prstGeom prst="roundRect">
            <a:avLst>
              <a:gd name="adj" fmla="val 8783"/>
            </a:avLst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1830050" y="6701155"/>
            <a:ext cx="5809615" cy="1766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为什么要写这三项？日后翻</a:t>
            </a:r>
            <a:r>
              <a:rPr lang="zh-CN" altLang="en-US" sz="21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</a:t>
            </a:r>
            <a:r>
              <a:rPr lang="en-US" sz="21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时，一看第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一行，就知道 </a:t>
            </a: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这是哪天的事、那天</a:t>
            </a: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星期几、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</a:t>
            </a: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什么天气 </a:t>
            </a:r>
            <a:r>
              <a:rPr lang="en-US" sz="21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，当时的情景就想起来了。</a:t>
            </a:r>
          </a:p>
        </p:txBody>
      </p:sp>
      <p:sp>
        <p:nvSpPr>
          <p:cNvPr id="19" name="Text 16"/>
          <p:cNvSpPr/>
          <p:nvPr/>
        </p:nvSpPr>
        <p:spPr>
          <a:xfrm>
            <a:off x="1132840" y="9391650"/>
            <a:ext cx="903097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短短几句话，记的就是 </a:t>
            </a:r>
            <a:r>
              <a:rPr 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一天里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发生</a:t>
            </a:r>
            <a:r>
              <a:rPr 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的一件小事</a:t>
            </a:r>
            <a:r>
              <a:rPr 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579880" y="4244340"/>
            <a:ext cx="9430385" cy="3664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今天课间，我刚走到走廊，就被几个孩子团团围住，</a:t>
            </a:r>
          </a:p>
          <a:p>
            <a:pPr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齐声喊：“老师，您今天换发型啦！”我愣了一下——</a:t>
            </a:r>
          </a:p>
          <a:p>
            <a:pPr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其实只是早上来不及，随手把头发扎了起来。一个小姑娘</a:t>
            </a:r>
          </a:p>
          <a:p>
            <a:pPr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踮着脚认真端详，说：“好看，像幼儿园的老师。”我哭</a:t>
            </a:r>
          </a:p>
          <a:p>
            <a:pPr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笑不得，伸手又把头发往紧里拢了拢。</a:t>
            </a:r>
          </a:p>
        </p:txBody>
      </p:sp>
      <p:sp>
        <p:nvSpPr>
          <p:cNvPr id="22" name="矩形 21"/>
          <p:cNvSpPr/>
          <p:nvPr/>
        </p:nvSpPr>
        <p:spPr>
          <a:xfrm>
            <a:off x="2395855" y="3392170"/>
            <a:ext cx="7447280" cy="6768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640840" y="4626610"/>
            <a:ext cx="360000" cy="36000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2072640" y="4625975"/>
            <a:ext cx="360000" cy="36000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2"/>
          <p:cNvSpPr/>
          <p:nvPr>
            <p:custDataLst>
              <p:tags r:id="rId7"/>
            </p:custDataLst>
          </p:nvPr>
        </p:nvSpPr>
        <p:spPr>
          <a:xfrm flipH="1">
            <a:off x="11230610" y="3535680"/>
            <a:ext cx="375920" cy="64198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reeform 2"/>
          <p:cNvSpPr/>
          <p:nvPr>
            <p:custDataLst>
              <p:tags r:id="rId8"/>
            </p:custDataLst>
          </p:nvPr>
        </p:nvSpPr>
        <p:spPr>
          <a:xfrm flipH="1">
            <a:off x="11224260" y="5196205"/>
            <a:ext cx="375920" cy="64198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" name="直接连接符 1"/>
          <p:cNvCxnSpPr/>
          <p:nvPr/>
        </p:nvCxnSpPr>
        <p:spPr>
          <a:xfrm>
            <a:off x="1466850" y="5108575"/>
            <a:ext cx="912812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466850" y="4307205"/>
            <a:ext cx="912812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466850" y="5909945"/>
            <a:ext cx="912812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466850" y="7512685"/>
            <a:ext cx="912812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466850" y="6711315"/>
            <a:ext cx="912812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466850" y="8314055"/>
            <a:ext cx="912812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 bldLvl="0" animBg="1"/>
      <p:bldP spid="25" grpId="0" bldLvl="0" animBg="1"/>
      <p:bldP spid="26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5435"/>
            <a:ext cx="735076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55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今天的任务 —— </a:t>
            </a:r>
            <a:r>
              <a:rPr lang="zh-CN" altLang="en-US" sz="355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写下你的</a:t>
            </a:r>
            <a:r>
              <a:rPr lang="en-US" sz="355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第一篇</a:t>
            </a:r>
            <a:r>
              <a:rPr lang="zh-CN" altLang="en-US" sz="355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</a:t>
            </a:r>
          </a:p>
        </p:txBody>
      </p:sp>
      <p:sp>
        <p:nvSpPr>
          <p:cNvPr id="8" name="Shape 5"/>
          <p:cNvSpPr/>
          <p:nvPr/>
        </p:nvSpPr>
        <p:spPr>
          <a:xfrm>
            <a:off x="539115" y="2667000"/>
            <a:ext cx="17272635" cy="5982335"/>
          </a:xfrm>
          <a:prstGeom prst="roundRect">
            <a:avLst>
              <a:gd name="adj" fmla="val 5041"/>
            </a:avLst>
          </a:prstGeom>
          <a:solidFill>
            <a:srgbClr val="DCE6F5"/>
          </a:solidFill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459095" y="2948940"/>
            <a:ext cx="12250420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日记主要是写给 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将来的自己 </a:t>
            </a:r>
            <a:r>
              <a:rPr 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看的</a:t>
            </a:r>
          </a:p>
          <a:p>
            <a:pPr marL="0" indent="0" algn="l">
              <a:buNone/>
            </a:pPr>
            <a:r>
              <a:rPr 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——今天记下来，一个月、一年后再翻开，还能想起今天</a:t>
            </a:r>
            <a:r>
              <a:rPr lang="zh-CN" alt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发生</a:t>
            </a:r>
            <a:r>
              <a:rPr 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的事和当时的心情。</a:t>
            </a:r>
            <a:endParaRPr lang="en-US" sz="2550" dirty="0"/>
          </a:p>
        </p:txBody>
      </p:sp>
      <p:sp>
        <p:nvSpPr>
          <p:cNvPr id="11" name="Shape 7"/>
          <p:cNvSpPr/>
          <p:nvPr>
            <p:custDataLst>
              <p:tags r:id="rId1"/>
            </p:custDataLst>
          </p:nvPr>
        </p:nvSpPr>
        <p:spPr>
          <a:xfrm>
            <a:off x="5469890" y="465963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>
            <p:custDataLst>
              <p:tags r:id="rId2"/>
            </p:custDataLst>
          </p:nvPr>
        </p:nvSpPr>
        <p:spPr>
          <a:xfrm>
            <a:off x="5431790" y="4659630"/>
            <a:ext cx="685800" cy="6477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9"/>
          <p:cNvSpPr/>
          <p:nvPr>
            <p:custDataLst>
              <p:tags r:id="rId3"/>
            </p:custDataLst>
          </p:nvPr>
        </p:nvSpPr>
        <p:spPr>
          <a:xfrm>
            <a:off x="6327140" y="4457700"/>
            <a:ext cx="11655425" cy="10325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日记里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什么都可以写</a:t>
            </a:r>
          </a:p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——开心的、不开心的、藏在心里的，都能写；写真话、写真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实的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感受</a:t>
            </a:r>
            <a:endParaRPr lang="en-US" sz="2700" dirty="0"/>
          </a:p>
        </p:txBody>
      </p:sp>
      <p:sp>
        <p:nvSpPr>
          <p:cNvPr id="14" name="Shape 10"/>
          <p:cNvSpPr/>
          <p:nvPr>
            <p:custDataLst>
              <p:tags r:id="rId4"/>
            </p:custDataLst>
          </p:nvPr>
        </p:nvSpPr>
        <p:spPr>
          <a:xfrm>
            <a:off x="5469890" y="6091952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>
            <p:custDataLst>
              <p:tags r:id="rId5"/>
            </p:custDataLst>
          </p:nvPr>
        </p:nvSpPr>
        <p:spPr>
          <a:xfrm>
            <a:off x="5431790" y="6091952"/>
            <a:ext cx="685800" cy="6477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2"/>
          <p:cNvSpPr/>
          <p:nvPr>
            <p:custDataLst>
              <p:tags r:id="rId6"/>
            </p:custDataLst>
          </p:nvPr>
        </p:nvSpPr>
        <p:spPr>
          <a:xfrm>
            <a:off x="6327140" y="5905500"/>
            <a:ext cx="7768590" cy="10325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今天写第一篇，写完举行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“日记分享会” </a:t>
            </a:r>
          </a:p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——听一听别人记了什么、是怎么写清楚的</a:t>
            </a:r>
            <a:endParaRPr lang="en-US" sz="2700" dirty="0"/>
          </a:p>
        </p:txBody>
      </p:sp>
      <p:sp>
        <p:nvSpPr>
          <p:cNvPr id="17" name="Shape 13"/>
          <p:cNvSpPr/>
          <p:nvPr>
            <p:custDataLst>
              <p:tags r:id="rId7"/>
            </p:custDataLst>
          </p:nvPr>
        </p:nvSpPr>
        <p:spPr>
          <a:xfrm>
            <a:off x="5469890" y="7524274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>
            <p:custDataLst>
              <p:tags r:id="rId8"/>
            </p:custDataLst>
          </p:nvPr>
        </p:nvSpPr>
        <p:spPr>
          <a:xfrm>
            <a:off x="5431790" y="7524274"/>
            <a:ext cx="685800" cy="6477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>
            <p:custDataLst>
              <p:tags r:id="rId9"/>
            </p:custDataLst>
          </p:nvPr>
        </p:nvSpPr>
        <p:spPr>
          <a:xfrm>
            <a:off x="6327140" y="7352665"/>
            <a:ext cx="8989695" cy="10325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要分享，就先选一件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可以讲给大家听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的事</a:t>
            </a:r>
          </a:p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——心里的悄悄话，留到以后自己写</a:t>
            </a:r>
            <a:endParaRPr lang="en-US" sz="2700" dirty="0"/>
          </a:p>
        </p:txBody>
      </p:sp>
      <p:pic>
        <p:nvPicPr>
          <p:cNvPr id="20" name="图片 19" descr="写日记-插图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4117975"/>
            <a:ext cx="5073015" cy="6189345"/>
          </a:xfrm>
          <a:prstGeom prst="rect">
            <a:avLst/>
          </a:prstGeom>
        </p:spPr>
      </p:pic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1047750" y="2973070"/>
            <a:ext cx="16192500" cy="5245100"/>
          </a:xfrm>
          <a:prstGeom prst="roundRect">
            <a:avLst>
              <a:gd name="adj" fmla="val 5314"/>
            </a:avLst>
          </a:prstGeom>
          <a:solidFill>
            <a:srgbClr val="DCE6F5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246253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说说新鲜事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5435"/>
            <a:ext cx="710692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像记者一样 ——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播报一条新鲜事</a:t>
            </a:r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1428750" y="4621530"/>
            <a:ext cx="4599305" cy="1040130"/>
          </a:xfrm>
          <a:prstGeom prst="roundRect">
            <a:avLst>
              <a:gd name="adj" fmla="val 17284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1829435" y="4848225"/>
            <a:ext cx="4016375" cy="587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在学校领到了一张奖状</a:t>
            </a:r>
          </a:p>
        </p:txBody>
      </p:sp>
      <p:sp>
        <p:nvSpPr>
          <p:cNvPr id="15" name="Text 12"/>
          <p:cNvSpPr/>
          <p:nvPr/>
        </p:nvSpPr>
        <p:spPr>
          <a:xfrm>
            <a:off x="1428750" y="3030855"/>
            <a:ext cx="12780645" cy="1060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同桌互说：一人用几句话简要地说，说清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“发生了一件什么事”</a:t>
            </a:r>
            <a:r>
              <a:rPr lang="en-US" sz="28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同桌听完，可以追问一句“后来呢”。</a:t>
            </a:r>
          </a:p>
        </p:txBody>
      </p:sp>
      <p:sp>
        <p:nvSpPr>
          <p:cNvPr id="17" name="Text 14"/>
          <p:cNvSpPr/>
          <p:nvPr/>
        </p:nvSpPr>
        <p:spPr>
          <a:xfrm>
            <a:off x="1485900" y="6229350"/>
            <a:ext cx="12722860" cy="1270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这些事有大有小，但每一件都是 </a:t>
            </a:r>
            <a:r>
              <a:rPr 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今天、昨天刚发生的 </a:t>
            </a: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，都有话可说——这样的事，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最适合写进日记。</a:t>
            </a:r>
          </a:p>
        </p:txBody>
      </p:sp>
      <p:sp>
        <p:nvSpPr>
          <p:cNvPr id="18" name="Text 15"/>
          <p:cNvSpPr/>
          <p:nvPr/>
        </p:nvSpPr>
        <p:spPr>
          <a:xfrm>
            <a:off x="1219200" y="8795385"/>
            <a:ext cx="12661900" cy="6769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日记里写的事不必稀奇，难的是从一天的许多事里，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选出最值得记的那一件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sp>
        <p:nvSpPr>
          <p:cNvPr id="19" name="Shape 5"/>
          <p:cNvSpPr/>
          <p:nvPr>
            <p:custDataLst>
              <p:tags r:id="rId3"/>
            </p:custDataLst>
          </p:nvPr>
        </p:nvSpPr>
        <p:spPr>
          <a:xfrm>
            <a:off x="6504940" y="4617085"/>
            <a:ext cx="4599305" cy="1040130"/>
          </a:xfrm>
          <a:prstGeom prst="roundRect">
            <a:avLst>
              <a:gd name="adj" fmla="val 17284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20" name="Text 6"/>
          <p:cNvSpPr/>
          <p:nvPr>
            <p:custDataLst>
              <p:tags r:id="rId4"/>
            </p:custDataLst>
          </p:nvPr>
        </p:nvSpPr>
        <p:spPr>
          <a:xfrm>
            <a:off x="6905625" y="4843780"/>
            <a:ext cx="4228465" cy="587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家里种的草莓终于能摘了</a:t>
            </a:r>
          </a:p>
        </p:txBody>
      </p:sp>
      <p:sp>
        <p:nvSpPr>
          <p:cNvPr id="21" name="Shape 5"/>
          <p:cNvSpPr/>
          <p:nvPr>
            <p:custDataLst>
              <p:tags r:id="rId5"/>
            </p:custDataLst>
          </p:nvPr>
        </p:nvSpPr>
        <p:spPr>
          <a:xfrm>
            <a:off x="11581130" y="4617085"/>
            <a:ext cx="4599305" cy="1040130"/>
          </a:xfrm>
          <a:prstGeom prst="roundRect">
            <a:avLst>
              <a:gd name="adj" fmla="val 17284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22" name="Text 6"/>
          <p:cNvSpPr/>
          <p:nvPr>
            <p:custDataLst>
              <p:tags r:id="rId6"/>
            </p:custDataLst>
          </p:nvPr>
        </p:nvSpPr>
        <p:spPr>
          <a:xfrm>
            <a:off x="11981815" y="4843780"/>
            <a:ext cx="4016375" cy="587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拼完了一整盒乐高模型</a:t>
            </a:r>
          </a:p>
        </p:txBody>
      </p:sp>
      <p:pic>
        <p:nvPicPr>
          <p:cNvPr id="23" name="图片 22" descr="写日记-搭乐高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40690" y="5445760"/>
            <a:ext cx="5139055" cy="4841240"/>
          </a:xfrm>
          <a:prstGeom prst="rect">
            <a:avLst/>
          </a:prstGeom>
        </p:spPr>
      </p:pic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/>
      <p:bldP spid="19" grpId="0" bldLvl="0" animBg="1"/>
      <p:bldP spid="20" grpId="0"/>
      <p:bldP spid="21" grpId="0" bldLvl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判断对比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32890"/>
            <a:ext cx="7831590" cy="6076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这两段话，哪一段你愿意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收进日记本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1047750" y="285750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2251710" y="3007995"/>
            <a:ext cx="168465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流水账</a:t>
            </a:r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1057275" y="3609975"/>
            <a:ext cx="7867650" cy="4288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>
            <p:custDataLst>
              <p:tags r:id="rId5"/>
            </p:custDataLst>
          </p:nvPr>
        </p:nvSpPr>
        <p:spPr>
          <a:xfrm>
            <a:off x="9353550" y="285750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>
            <p:custDataLst>
              <p:tags r:id="rId6"/>
            </p:custDataLst>
          </p:nvPr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>
            <p:custDataLst>
              <p:tags r:id="rId7"/>
            </p:custDataLst>
          </p:nvPr>
        </p:nvSpPr>
        <p:spPr>
          <a:xfrm>
            <a:off x="10506710" y="3007995"/>
            <a:ext cx="295529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集中</a:t>
            </a: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写一件事</a:t>
            </a:r>
          </a:p>
        </p:txBody>
      </p:sp>
      <p:sp>
        <p:nvSpPr>
          <p:cNvPr id="16" name="Shape 13"/>
          <p:cNvSpPr/>
          <p:nvPr>
            <p:custDataLst>
              <p:tags r:id="rId8"/>
            </p:custDataLst>
          </p:nvPr>
        </p:nvSpPr>
        <p:spPr>
          <a:xfrm>
            <a:off x="9363075" y="3609975"/>
            <a:ext cx="7867650" cy="4288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047750" y="8144510"/>
            <a:ext cx="1499362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左边从起床记到睡觉，列了一长串——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天天如此、人人一样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，读完印象模糊，什么也没留下。</a:t>
            </a:r>
          </a:p>
        </p:txBody>
      </p:sp>
      <p:sp>
        <p:nvSpPr>
          <p:cNvPr id="19" name="Text 16"/>
          <p:cNvSpPr/>
          <p:nvPr/>
        </p:nvSpPr>
        <p:spPr>
          <a:xfrm>
            <a:off x="1047750" y="8843010"/>
            <a:ext cx="1499362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右边只写看蚂蚁这一件事，怎么拖、怎么推写得清清楚楚——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只写一件，反而让人印象深刻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sp>
        <p:nvSpPr>
          <p:cNvPr id="20" name="Shape 6"/>
          <p:cNvSpPr/>
          <p:nvPr>
            <p:custDataLst>
              <p:tags r:id="rId9"/>
            </p:custDataLst>
          </p:nvPr>
        </p:nvSpPr>
        <p:spPr>
          <a:xfrm flipH="1">
            <a:off x="1974215" y="2867025"/>
            <a:ext cx="76200" cy="74295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7"/>
          <p:cNvSpPr/>
          <p:nvPr>
            <p:custDataLst>
              <p:tags r:id="rId10"/>
            </p:custDataLst>
          </p:nvPr>
        </p:nvSpPr>
        <p:spPr>
          <a:xfrm>
            <a:off x="1358900" y="2987675"/>
            <a:ext cx="413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</a:p>
        </p:txBody>
      </p:sp>
      <p:sp>
        <p:nvSpPr>
          <p:cNvPr id="23" name="Shape 6"/>
          <p:cNvSpPr/>
          <p:nvPr>
            <p:custDataLst>
              <p:tags r:id="rId11"/>
            </p:custDataLst>
          </p:nvPr>
        </p:nvSpPr>
        <p:spPr>
          <a:xfrm flipH="1">
            <a:off x="10292715" y="2867025"/>
            <a:ext cx="76200" cy="74295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7"/>
          <p:cNvSpPr/>
          <p:nvPr>
            <p:custDataLst>
              <p:tags r:id="rId12"/>
            </p:custDataLst>
          </p:nvPr>
        </p:nvSpPr>
        <p:spPr>
          <a:xfrm>
            <a:off x="9677400" y="2978150"/>
            <a:ext cx="413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9490710" y="3914775"/>
            <a:ext cx="7684135" cy="3207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今天放学路上，我看见</a:t>
            </a: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一队蚂蚁在搬一大块</a:t>
            </a:r>
          </a:p>
          <a:p>
            <a:pPr>
              <a:lnSpc>
                <a:spcPct val="150000"/>
              </a:lnSpc>
            </a:pP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饼干渣</a:t>
            </a:r>
            <a:r>
              <a: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。它们排着队，一个接一个，有的在前面</a:t>
            </a:r>
          </a:p>
          <a:p>
            <a:pPr>
              <a:lnSpc>
                <a:spcPct val="150000"/>
              </a:lnSpc>
            </a:pPr>
            <a:r>
              <a: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拖、有的在后面推，那么小的身子，竟然把比自</a:t>
            </a:r>
          </a:p>
          <a:p>
            <a:pPr>
              <a:lnSpc>
                <a:spcPct val="150000"/>
              </a:lnSpc>
            </a:pPr>
            <a:r>
              <a: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己大好几倍的饼干渣，一点一点挪进了墙角的小</a:t>
            </a:r>
          </a:p>
          <a:p>
            <a:pPr>
              <a:lnSpc>
                <a:spcPct val="150000"/>
              </a:lnSpc>
            </a:pPr>
            <a:r>
              <a: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洞里。 </a:t>
            </a:r>
            <a:r>
              <a:rPr lang="zh-CN" altLang="en-US" sz="27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我蹲在那儿看了好久</a:t>
            </a:r>
            <a:r>
              <a: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，觉得真有意思。</a:t>
            </a:r>
          </a:p>
        </p:txBody>
      </p:sp>
      <p:sp>
        <p:nvSpPr>
          <p:cNvPr id="27" name="文本框 26"/>
          <p:cNvSpPr txBox="1"/>
          <p:nvPr>
            <p:custDataLst>
              <p:tags r:id="rId14"/>
            </p:custDataLst>
          </p:nvPr>
        </p:nvSpPr>
        <p:spPr>
          <a:xfrm>
            <a:off x="1252220" y="3996690"/>
            <a:ext cx="757618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70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rPr>
              <a:t>今天早上我七点起床，刷了牙、洗了脸，吃</a:t>
            </a:r>
          </a:p>
          <a:p>
            <a:pPr>
              <a:lnSpc>
                <a:spcPct val="150000"/>
              </a:lnSpc>
            </a:pPr>
            <a:r>
              <a: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rPr>
              <a:t>完早饭就去上学。上午上了语文课、数学课、英</a:t>
            </a:r>
          </a:p>
          <a:p>
            <a:pPr>
              <a:lnSpc>
                <a:spcPct val="150000"/>
              </a:lnSpc>
            </a:pPr>
            <a:r>
              <a: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rPr>
              <a:t>语课。中午吃了饭。下午上了体育课，放学回到</a:t>
            </a:r>
          </a:p>
          <a:p>
            <a:pPr>
              <a:lnSpc>
                <a:spcPct val="150000"/>
              </a:lnSpc>
            </a:pPr>
            <a:r>
              <a:rPr lang="zh-CN" altLang="en-US" sz="2700">
                <a:latin typeface="微软雅黑" panose="020B0503020204020204" pitchFamily="34" charset="-122"/>
                <a:ea typeface="微软雅黑" panose="020B0503020204020204" pitchFamily="34" charset="-122"/>
              </a:rPr>
              <a:t>家写作业，然后吃饭、看电视，最后就睡觉了。</a:t>
            </a:r>
          </a:p>
        </p:txBody>
      </p:sp>
      <p:pic>
        <p:nvPicPr>
          <p:cNvPr id="28" name="图片 27" descr="写日记-蚂蚁搬饼干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110845" y="652780"/>
            <a:ext cx="3779520" cy="2959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23" name="Shape 5"/>
          <p:cNvSpPr/>
          <p:nvPr/>
        </p:nvSpPr>
        <p:spPr>
          <a:xfrm>
            <a:off x="539115" y="2667000"/>
            <a:ext cx="17272635" cy="5982335"/>
          </a:xfrm>
          <a:prstGeom prst="roundRect">
            <a:avLst>
              <a:gd name="adj" fmla="val 5041"/>
            </a:avLst>
          </a:prstGeom>
          <a:solidFill>
            <a:srgbClr val="DCE6F5"/>
          </a:solidFill>
        </p:spPr>
        <p:txBody>
          <a:bodyPr/>
          <a:lstStyle/>
          <a:p>
            <a:endParaRPr/>
          </a:p>
        </p:txBody>
      </p:sp>
      <p:sp>
        <p:nvSpPr>
          <p:cNvPr id="175" name="椭圆 174"/>
          <p:cNvSpPr/>
          <p:nvPr>
            <p:custDataLst>
              <p:tags r:id="rId1"/>
            </p:custDataLst>
          </p:nvPr>
        </p:nvSpPr>
        <p:spPr>
          <a:xfrm>
            <a:off x="7066915" y="6051550"/>
            <a:ext cx="476250" cy="4762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2"/>
            </p:custDataLst>
          </p:nvPr>
        </p:nvSpPr>
        <p:spPr>
          <a:xfrm>
            <a:off x="7063740" y="6118225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63830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6225"/>
            <a:ext cx="767715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今天的写法 ——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挑一件事，写清楚</a:t>
            </a:r>
          </a:p>
        </p:txBody>
      </p:sp>
      <p:sp>
        <p:nvSpPr>
          <p:cNvPr id="12" name="Text 9"/>
          <p:cNvSpPr/>
          <p:nvPr/>
        </p:nvSpPr>
        <p:spPr>
          <a:xfrm>
            <a:off x="7768590" y="3307080"/>
            <a:ext cx="7339489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不是把一天的事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全部记下来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——那是流水账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7768590" y="4461510"/>
            <a:ext cx="10065385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从一天里挑出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最有话可说的那一件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——新鲜的、有意思的、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让你心中有感触的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7768590" y="5855970"/>
            <a:ext cx="10285095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按先后顺序写：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先怎样 → 接着怎样 → 然后怎样 → 最后怎样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把时间、地点、人物、经过和结果交代清楚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1047750" y="8995410"/>
            <a:ext cx="914527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日记里还少不了一样内容：</a:t>
            </a: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当时你心里的感受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sp>
        <p:nvSpPr>
          <p:cNvPr id="173" name="椭圆 172"/>
          <p:cNvSpPr/>
          <p:nvPr>
            <p:custDataLst>
              <p:tags r:id="rId3"/>
            </p:custDataLst>
          </p:nvPr>
        </p:nvSpPr>
        <p:spPr>
          <a:xfrm>
            <a:off x="7066915" y="3352800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4"/>
            </p:custDataLst>
          </p:nvPr>
        </p:nvSpPr>
        <p:spPr>
          <a:xfrm>
            <a:off x="7066915" y="4706938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5"/>
            </p:custDataLst>
          </p:nvPr>
        </p:nvCxnSpPr>
        <p:spPr>
          <a:xfrm>
            <a:off x="7305040" y="388620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6"/>
            </p:custDataLst>
          </p:nvPr>
        </p:nvCxnSpPr>
        <p:spPr>
          <a:xfrm>
            <a:off x="7305040" y="523875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7"/>
            </p:custDataLst>
          </p:nvPr>
        </p:nvSpPr>
        <p:spPr>
          <a:xfrm>
            <a:off x="7066915" y="3428683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8"/>
            </p:custDataLst>
          </p:nvPr>
        </p:nvSpPr>
        <p:spPr>
          <a:xfrm>
            <a:off x="7063740" y="4784725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  <p:pic>
        <p:nvPicPr>
          <p:cNvPr id="24" name="图片 23" descr="写日记-摘草莓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9115" y="2666365"/>
            <a:ext cx="6350771" cy="5983200"/>
          </a:xfrm>
          <a:prstGeom prst="roundRect">
            <a:avLst>
              <a:gd name="adj" fmla="val 5529"/>
            </a:avLst>
          </a:prstGeom>
        </p:spPr>
      </p:pic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bldLvl="0" animBg="1"/>
      <p:bldP spid="180" grpId="0"/>
      <p:bldP spid="173" grpId="0" bldLvl="0" animBg="1"/>
      <p:bldP spid="174" grpId="0" bldLvl="0" animBg="1"/>
      <p:bldP spid="178" grpId="0"/>
      <p:bldP spid="1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24" name="Shape 0"/>
          <p:cNvSpPr/>
          <p:nvPr/>
        </p:nvSpPr>
        <p:spPr>
          <a:xfrm>
            <a:off x="0" y="2941955"/>
            <a:ext cx="18288000" cy="734504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0" y="3223895"/>
            <a:ext cx="10702290" cy="5647690"/>
          </a:xfrm>
          <a:prstGeom prst="roundRect">
            <a:avLst>
              <a:gd name="adj" fmla="val 5745"/>
            </a:avLst>
          </a:prstGeom>
          <a:solidFill>
            <a:schemeClr val="bg1"/>
          </a:solidFill>
          <a:ln w="1905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图片 26" descr="写日记-鱼缸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0" y="3223895"/>
            <a:ext cx="4236300" cy="56484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4878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60830"/>
            <a:ext cx="940562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看老师怎样把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“难过”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写成看得见的样子</a:t>
            </a:r>
          </a:p>
        </p:txBody>
      </p:sp>
      <p:sp>
        <p:nvSpPr>
          <p:cNvPr id="10" name="Shape 7"/>
          <p:cNvSpPr/>
          <p:nvPr>
            <p:custDataLst>
              <p:tags r:id="rId1"/>
            </p:custDataLst>
          </p:nvPr>
        </p:nvSpPr>
        <p:spPr>
          <a:xfrm>
            <a:off x="11343005" y="3223260"/>
            <a:ext cx="5890895" cy="1726565"/>
          </a:xfrm>
          <a:prstGeom prst="roundRect">
            <a:avLst>
              <a:gd name="adj" fmla="val 10997"/>
            </a:avLst>
          </a:prstGeom>
          <a:solidFill>
            <a:srgbClr val="F7F8F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>
            <p:custDataLst>
              <p:tags r:id="rId2"/>
            </p:custDataLst>
          </p:nvPr>
        </p:nvSpPr>
        <p:spPr>
          <a:xfrm>
            <a:off x="11619230" y="3649345"/>
            <a:ext cx="2730500" cy="5092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心里的感觉</a:t>
            </a:r>
          </a:p>
        </p:txBody>
      </p:sp>
      <p:sp>
        <p:nvSpPr>
          <p:cNvPr id="12" name="Text 9"/>
          <p:cNvSpPr/>
          <p:nvPr>
            <p:custDataLst>
              <p:tags r:id="rId3"/>
            </p:custDataLst>
          </p:nvPr>
        </p:nvSpPr>
        <p:spPr>
          <a:xfrm>
            <a:off x="11619230" y="4133215"/>
            <a:ext cx="6015990" cy="5276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6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心里“咯噔”一下、盼着它再游两下</a:t>
            </a:r>
          </a:p>
        </p:txBody>
      </p:sp>
      <p:sp>
        <p:nvSpPr>
          <p:cNvPr id="13" name="Shape 10"/>
          <p:cNvSpPr/>
          <p:nvPr>
            <p:custDataLst>
              <p:tags r:id="rId4"/>
            </p:custDataLst>
          </p:nvPr>
        </p:nvSpPr>
        <p:spPr>
          <a:xfrm>
            <a:off x="11343005" y="5184140"/>
            <a:ext cx="5890895" cy="1726565"/>
          </a:xfrm>
          <a:prstGeom prst="roundRect">
            <a:avLst>
              <a:gd name="adj" fmla="val 10997"/>
            </a:avLst>
          </a:prstGeom>
          <a:solidFill>
            <a:srgbClr val="F7F8FA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>
            <p:custDataLst>
              <p:tags r:id="rId5"/>
            </p:custDataLst>
          </p:nvPr>
        </p:nvSpPr>
        <p:spPr>
          <a:xfrm>
            <a:off x="11619230" y="5489575"/>
            <a:ext cx="2767965" cy="5092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看得见的动作</a:t>
            </a:r>
          </a:p>
        </p:txBody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11619230" y="6003925"/>
            <a:ext cx="5267325" cy="5276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6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赶紧捞起来、又轻轻放回水里</a:t>
            </a:r>
          </a:p>
        </p:txBody>
      </p:sp>
      <p:sp>
        <p:nvSpPr>
          <p:cNvPr id="16" name="Shape 13"/>
          <p:cNvSpPr/>
          <p:nvPr>
            <p:custDataLst>
              <p:tags r:id="rId7"/>
            </p:custDataLst>
          </p:nvPr>
        </p:nvSpPr>
        <p:spPr>
          <a:xfrm>
            <a:off x="11357610" y="7145020"/>
            <a:ext cx="5890895" cy="1726565"/>
          </a:xfrm>
          <a:prstGeom prst="roundRect">
            <a:avLst>
              <a:gd name="adj" fmla="val 10997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>
            <p:custDataLst>
              <p:tags r:id="rId8"/>
            </p:custDataLst>
          </p:nvPr>
        </p:nvSpPr>
        <p:spPr>
          <a:xfrm>
            <a:off x="11633835" y="7346950"/>
            <a:ext cx="2753360" cy="5092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没有直接说出</a:t>
            </a:r>
          </a:p>
        </p:txBody>
      </p:sp>
      <p:sp>
        <p:nvSpPr>
          <p:cNvPr id="18" name="Text 15"/>
          <p:cNvSpPr/>
          <p:nvPr>
            <p:custDataLst>
              <p:tags r:id="rId9"/>
            </p:custDataLst>
          </p:nvPr>
        </p:nvSpPr>
        <p:spPr>
          <a:xfrm>
            <a:off x="11633835" y="7861300"/>
            <a:ext cx="5803900" cy="5276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6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全文没有出现“我很难过”这四个字</a:t>
            </a:r>
          </a:p>
        </p:txBody>
      </p:sp>
      <p:sp>
        <p:nvSpPr>
          <p:cNvPr id="19" name="Text 16"/>
          <p:cNvSpPr/>
          <p:nvPr/>
        </p:nvSpPr>
        <p:spPr>
          <a:xfrm>
            <a:off x="1047750" y="9239250"/>
            <a:ext cx="1681353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“高兴”“难过”……只写这样的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词语</a:t>
            </a: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，别人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感受不到；</a:t>
            </a: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写出 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当时的动作、做法和心里的话</a:t>
            </a: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你的心情就能让人看得见了</a:t>
            </a: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757170" y="3563620"/>
            <a:ext cx="7945755" cy="366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我走到鱼缸边，一看，</a:t>
            </a:r>
            <a:r>
              <a:rPr lang="zh-CN" altLang="en-US" sz="29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心里“咯噔”一下</a:t>
            </a:r>
          </a:p>
          <a:p>
            <a:pPr>
              <a:lnSpc>
                <a:spcPct val="200000"/>
              </a:lnSpc>
            </a:pPr>
            <a:r>
              <a:rPr lang="zh-CN" altLang="en-US" sz="2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——豆豆肚皮朝上，浮在水面，一动不动。我</a:t>
            </a:r>
          </a:p>
          <a:p>
            <a:pPr>
              <a:lnSpc>
                <a:spcPct val="200000"/>
              </a:lnSpc>
            </a:pPr>
            <a:r>
              <a:rPr lang="zh-CN" altLang="en-US" sz="29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赶紧用网兜把它捞起来 </a:t>
            </a:r>
            <a:r>
              <a:rPr lang="zh-CN" altLang="en-US" sz="2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，又</a:t>
            </a:r>
            <a:r>
              <a:rPr lang="zh-CN" altLang="en-US" sz="29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轻轻放回水里</a:t>
            </a:r>
            <a:r>
              <a:rPr lang="zh-CN" altLang="en-US" sz="2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9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盼</a:t>
            </a:r>
          </a:p>
          <a:p>
            <a:pPr>
              <a:lnSpc>
                <a:spcPct val="200000"/>
              </a:lnSpc>
            </a:pPr>
            <a:r>
              <a:rPr lang="zh-CN" altLang="en-US" sz="29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着它能再游两下</a:t>
            </a:r>
            <a:r>
              <a:rPr lang="zh-CN" altLang="en-US" sz="2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21" name="矩形 20"/>
          <p:cNvSpPr/>
          <p:nvPr/>
        </p:nvSpPr>
        <p:spPr>
          <a:xfrm>
            <a:off x="7138670" y="3786505"/>
            <a:ext cx="3253740" cy="828000"/>
          </a:xfrm>
          <a:prstGeom prst="rect">
            <a:avLst/>
          </a:prstGeom>
          <a:noFill/>
          <a:ln w="28575">
            <a:solidFill>
              <a:srgbClr val="7030A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743200" y="5547360"/>
            <a:ext cx="7019925" cy="82804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Freeform 2"/>
          <p:cNvSpPr/>
          <p:nvPr>
            <p:custDataLst>
              <p:tags r:id="rId10"/>
            </p:custDataLst>
          </p:nvPr>
        </p:nvSpPr>
        <p:spPr>
          <a:xfrm flipH="1">
            <a:off x="10995660" y="3756025"/>
            <a:ext cx="375920" cy="64198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"/>
          <p:cNvSpPr/>
          <p:nvPr>
            <p:custDataLst>
              <p:tags r:id="rId11"/>
            </p:custDataLst>
          </p:nvPr>
        </p:nvSpPr>
        <p:spPr>
          <a:xfrm flipH="1">
            <a:off x="10995660" y="5711825"/>
            <a:ext cx="375920" cy="64198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bldLvl="0" animBg="1"/>
      <p:bldP spid="22" grpId="0" bldLvl="0" animBg="1"/>
      <p:bldP spid="26" grpId="0" bldLvl="0" animBg="1"/>
      <p:bldP spid="2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6529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3510" y="1546225"/>
            <a:ext cx="778065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4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试一试 —— 不</a:t>
            </a:r>
            <a:r>
              <a:rPr lang="zh-CN" altLang="en-US" sz="34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</a:t>
            </a:r>
            <a:r>
              <a:rPr lang="en-US" sz="34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34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“我很……”</a:t>
            </a:r>
          </a:p>
        </p:txBody>
      </p:sp>
      <p:sp>
        <p:nvSpPr>
          <p:cNvPr id="8" name="Shape 5"/>
          <p:cNvSpPr/>
          <p:nvPr/>
        </p:nvSpPr>
        <p:spPr>
          <a:xfrm>
            <a:off x="1047750" y="2335530"/>
            <a:ext cx="16192500" cy="6480000"/>
          </a:xfrm>
          <a:prstGeom prst="roundRect">
            <a:avLst>
              <a:gd name="adj" fmla="val 4821"/>
            </a:avLst>
          </a:prstGeom>
          <a:solidFill>
            <a:srgbClr val="DCE6F5"/>
          </a:solidFill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413510" y="2537460"/>
            <a:ext cx="1323784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就拿你要写的那件事</a:t>
            </a:r>
            <a:r>
              <a:rPr lang="zh-CN" altLang="en-US" sz="26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来说</a:t>
            </a:r>
            <a:r>
              <a:rPr lang="en-US" sz="26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——那一刻你在做什么？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心里有没有冒出一句话</a:t>
            </a:r>
            <a:r>
              <a:rPr lang="en-US" sz="26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</a:p>
        </p:txBody>
      </p:sp>
      <p:sp>
        <p:nvSpPr>
          <p:cNvPr id="11" name="Text 8"/>
          <p:cNvSpPr/>
          <p:nvPr>
            <p:custDataLst>
              <p:tags r:id="rId1"/>
            </p:custDataLst>
          </p:nvPr>
        </p:nvSpPr>
        <p:spPr>
          <a:xfrm>
            <a:off x="1785620" y="7023735"/>
            <a:ext cx="4589145" cy="1031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我攥着刚得的奖状，指尖反复摩挲着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金边，心里默念 </a:t>
            </a:r>
            <a:r>
              <a:rPr lang="en-US" sz="2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“努力总算没白费”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238250" y="9149715"/>
            <a:ext cx="3908425" cy="6673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今天写日记的方法就三步：</a:t>
            </a:r>
          </a:p>
        </p:txBody>
      </p:sp>
      <p:sp>
        <p:nvSpPr>
          <p:cNvPr id="18" name="Text 15"/>
          <p:cNvSpPr/>
          <p:nvPr/>
        </p:nvSpPr>
        <p:spPr>
          <a:xfrm>
            <a:off x="5653405" y="8166735"/>
            <a:ext cx="897509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你心里想说的那一句话，稍后就填在 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构思表最后一行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pic>
        <p:nvPicPr>
          <p:cNvPr id="23" name="图片 22" descr="写日记-领奖状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/>
          <a:srcRect l="4394" t="6528" r="-4394" b="3556"/>
          <a:stretch>
            <a:fillRect/>
          </a:stretch>
        </p:blipFill>
        <p:spPr>
          <a:xfrm>
            <a:off x="2361565" y="3159760"/>
            <a:ext cx="3154045" cy="3687445"/>
          </a:xfrm>
          <a:prstGeom prst="roundRect">
            <a:avLst>
              <a:gd name="adj" fmla="val 6529"/>
            </a:avLst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</p:spPr>
      </p:pic>
      <p:pic>
        <p:nvPicPr>
          <p:cNvPr id="25" name="图片 24" descr="E:/22222小学配图/同步写作/三上2-写日记/写日记-摘草莓1.png写日记-摘草莓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/>
          <a:srcRect t="7087" b="5214"/>
          <a:stretch>
            <a:fillRect/>
          </a:stretch>
        </p:blipFill>
        <p:spPr>
          <a:xfrm>
            <a:off x="7625715" y="3159760"/>
            <a:ext cx="3154045" cy="3687445"/>
          </a:xfrm>
          <a:prstGeom prst="roundRect">
            <a:avLst>
              <a:gd name="adj" fmla="val 6529"/>
            </a:avLst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</p:spPr>
      </p:pic>
      <p:pic>
        <p:nvPicPr>
          <p:cNvPr id="26" name="图片 25" descr="E:/22222小学配图/同步写作/三上2-写日记/写日记-搭乐高1.png写日记-搭乐高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/>
          <a:srcRect t="6151" b="6151"/>
          <a:stretch>
            <a:fillRect/>
          </a:stretch>
        </p:blipFill>
        <p:spPr>
          <a:xfrm>
            <a:off x="12762865" y="3159760"/>
            <a:ext cx="3154045" cy="3687445"/>
          </a:xfrm>
          <a:prstGeom prst="roundRect">
            <a:avLst>
              <a:gd name="adj" fmla="val 6529"/>
            </a:avLst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</p:spPr>
      </p:pic>
      <p:sp>
        <p:nvSpPr>
          <p:cNvPr id="29" name="Text 8"/>
          <p:cNvSpPr/>
          <p:nvPr>
            <p:custDataLst>
              <p:tags r:id="rId5"/>
            </p:custDataLst>
          </p:nvPr>
        </p:nvSpPr>
        <p:spPr>
          <a:xfrm>
            <a:off x="7108190" y="7023735"/>
            <a:ext cx="4674235" cy="1292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zh-CN" altLang="en-US" sz="20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我捧着刚摘的草莓，指尖还沾着果汁，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zh-CN" altLang="en-US" sz="20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心里暗暗想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“自己种的果子真甜”</a:t>
            </a:r>
          </a:p>
        </p:txBody>
      </p:sp>
      <p:sp>
        <p:nvSpPr>
          <p:cNvPr id="30" name="Text 8"/>
          <p:cNvSpPr/>
          <p:nvPr>
            <p:custDataLst>
              <p:tags r:id="rId6"/>
            </p:custDataLst>
          </p:nvPr>
        </p:nvSpPr>
        <p:spPr>
          <a:xfrm>
            <a:off x="12057380" y="7023735"/>
            <a:ext cx="5697855" cy="1292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zh-CN" altLang="en-US" sz="20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我把最后一块零件按上去，看着自己拼装完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zh-CN" altLang="en-US" sz="20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成的作品，心里忍不住说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“我终于拼完了”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1780540" y="4547870"/>
            <a:ext cx="669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领</a:t>
            </a:r>
          </a:p>
          <a:p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奖</a:t>
            </a:r>
          </a:p>
          <a:p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状</a:t>
            </a:r>
            <a:endParaRPr lang="zh-CN" altLang="en-US" sz="2400"/>
          </a:p>
        </p:txBody>
      </p:sp>
      <p:sp>
        <p:nvSpPr>
          <p:cNvPr id="32" name="文本框 31"/>
          <p:cNvSpPr txBox="1"/>
          <p:nvPr>
            <p:custDataLst>
              <p:tags r:id="rId8"/>
            </p:custDataLst>
          </p:nvPr>
        </p:nvSpPr>
        <p:spPr>
          <a:xfrm>
            <a:off x="7078345" y="4549140"/>
            <a:ext cx="531495" cy="1351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摘</a:t>
            </a:r>
          </a:p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草</a:t>
            </a:r>
          </a:p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莓</a:t>
            </a:r>
          </a:p>
        </p:txBody>
      </p: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12202795" y="4549140"/>
            <a:ext cx="669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拼乐高</a:t>
            </a:r>
            <a:endParaRPr lang="zh-CN" altLang="en-US" sz="2400"/>
          </a:p>
        </p:txBody>
      </p:sp>
      <p:sp>
        <p:nvSpPr>
          <p:cNvPr id="35" name="Shape 5"/>
          <p:cNvSpPr/>
          <p:nvPr>
            <p:custDataLst>
              <p:tags r:id="rId10"/>
            </p:custDataLst>
          </p:nvPr>
        </p:nvSpPr>
        <p:spPr>
          <a:xfrm>
            <a:off x="4995545" y="9072245"/>
            <a:ext cx="3445510" cy="639445"/>
          </a:xfrm>
          <a:prstGeom prst="roundRect">
            <a:avLst>
              <a:gd name="adj" fmla="val 17284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36" name="Text 6"/>
          <p:cNvSpPr/>
          <p:nvPr>
            <p:custDataLst>
              <p:tags r:id="rId11"/>
            </p:custDataLst>
          </p:nvPr>
        </p:nvSpPr>
        <p:spPr>
          <a:xfrm>
            <a:off x="5270500" y="9181465"/>
            <a:ext cx="3674110" cy="898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挑一件最有话说的事</a:t>
            </a:r>
          </a:p>
        </p:txBody>
      </p:sp>
      <p:sp>
        <p:nvSpPr>
          <p:cNvPr id="37" name="Shape 5"/>
          <p:cNvSpPr/>
          <p:nvPr>
            <p:custDataLst>
              <p:tags r:id="rId12"/>
            </p:custDataLst>
          </p:nvPr>
        </p:nvSpPr>
        <p:spPr>
          <a:xfrm>
            <a:off x="8963025" y="9072245"/>
            <a:ext cx="2546350" cy="639445"/>
          </a:xfrm>
          <a:prstGeom prst="roundRect">
            <a:avLst>
              <a:gd name="adj" fmla="val 17284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38" name="Text 6"/>
          <p:cNvSpPr/>
          <p:nvPr>
            <p:custDataLst>
              <p:tags r:id="rId13"/>
            </p:custDataLst>
          </p:nvPr>
        </p:nvSpPr>
        <p:spPr>
          <a:xfrm>
            <a:off x="9267190" y="9181465"/>
            <a:ext cx="3067685" cy="898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按顺序写清楚</a:t>
            </a:r>
          </a:p>
        </p:txBody>
      </p:sp>
      <p:sp>
        <p:nvSpPr>
          <p:cNvPr id="39" name="Shape 5"/>
          <p:cNvSpPr/>
          <p:nvPr>
            <p:custDataLst>
              <p:tags r:id="rId14"/>
            </p:custDataLst>
          </p:nvPr>
        </p:nvSpPr>
        <p:spPr>
          <a:xfrm>
            <a:off x="12026900" y="9072245"/>
            <a:ext cx="5229860" cy="639445"/>
          </a:xfrm>
          <a:prstGeom prst="roundRect">
            <a:avLst>
              <a:gd name="adj" fmla="val 17284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40" name="Text 6"/>
          <p:cNvSpPr/>
          <p:nvPr>
            <p:custDataLst>
              <p:tags r:id="rId15"/>
            </p:custDataLst>
          </p:nvPr>
        </p:nvSpPr>
        <p:spPr>
          <a:xfrm>
            <a:off x="12202795" y="9181465"/>
            <a:ext cx="5554345" cy="624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心情写成看得见的动作和心里的话</a:t>
            </a:r>
          </a:p>
        </p:txBody>
      </p:sp>
      <p:sp>
        <p:nvSpPr>
          <p:cNvPr id="41" name="右箭头 40"/>
          <p:cNvSpPr/>
          <p:nvPr/>
        </p:nvSpPr>
        <p:spPr>
          <a:xfrm>
            <a:off x="8529955" y="9299575"/>
            <a:ext cx="360000" cy="1800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/>
        </p:nvSpPr>
        <p:spPr>
          <a:xfrm>
            <a:off x="11615420" y="9300845"/>
            <a:ext cx="360000" cy="1800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/>
      <p:bldP spid="11" grpId="0"/>
      <p:bldP spid="18" grpId="0"/>
      <p:bldP spid="29" grpId="0"/>
      <p:bldP spid="30" grpId="0"/>
      <p:bldP spid="31" grpId="0"/>
      <p:bldP spid="32" grpId="0"/>
      <p:bldP spid="33" grpId="0"/>
      <p:bldP spid="35" grpId="0" bldLvl="0" animBg="1"/>
      <p:bldP spid="36" grpId="0"/>
      <p:bldP spid="37" grpId="0" bldLvl="0" animBg="1"/>
      <p:bldP spid="38" grpId="0"/>
      <p:bldP spid="39" grpId="0" bldLvl="0" animBg="1"/>
      <p:bldP spid="40" grpId="0"/>
      <p:bldP spid="41" grpId="0" bldLvl="0" animBg="1"/>
      <p:bldP spid="4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78117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日记构思表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日记构思表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1047750" y="2133600"/>
            <a:ext cx="9074988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每格只填几个关键词，不必</a:t>
            </a:r>
            <a:r>
              <a:rPr lang="zh-CN" alt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</a:t>
            </a:r>
            <a:r>
              <a:rPr lang="zh-CN" alt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完整的</a:t>
            </a:r>
            <a:r>
              <a:rPr 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</a:t>
            </a:r>
            <a:r>
              <a:rPr lang="zh-CN" alt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</a:t>
            </a:r>
            <a:r>
              <a:rPr 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（老师</a:t>
            </a:r>
            <a:r>
              <a:rPr lang="zh-CN" alt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示范：</a:t>
            </a:r>
            <a:r>
              <a:rPr 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“送别小金鱼”）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2819400"/>
            <a:ext cx="16192500" cy="4676775"/>
          </a:xfrm>
          <a:prstGeom prst="roundRect">
            <a:avLst>
              <a:gd name="adj" fmla="val 2851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1057275" y="2828925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362075" y="3000375"/>
            <a:ext cx="58654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7343775" y="28289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658100" y="3000375"/>
            <a:ext cx="95644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关键词（填两三个即可）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57275" y="3552825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362075" y="3714750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 · 星期 · 天气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7343775" y="355282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658100" y="3714750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9月18日 星期四 多云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1057275" y="4248150"/>
            <a:ext cx="16173450" cy="6953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362075" y="4410075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我要写的这一件事</a:t>
            </a:r>
            <a:endParaRPr lang="en-US" sz="2175" dirty="0"/>
          </a:p>
        </p:txBody>
      </p:sp>
      <p:sp>
        <p:nvSpPr>
          <p:cNvPr id="19" name="Shape 16"/>
          <p:cNvSpPr/>
          <p:nvPr/>
        </p:nvSpPr>
        <p:spPr>
          <a:xfrm>
            <a:off x="7343775" y="4248150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658100" y="4410075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小金鱼豆豆死了、全班送别</a:t>
            </a: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1057275" y="4943475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1362075" y="5105400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地点 · 人物</a:t>
            </a:r>
            <a:endParaRPr lang="en-US" sz="2175" dirty="0"/>
          </a:p>
        </p:txBody>
      </p:sp>
      <p:sp>
        <p:nvSpPr>
          <p:cNvPr id="23" name="Shape 20"/>
          <p:cNvSpPr/>
          <p:nvPr/>
        </p:nvSpPr>
        <p:spPr>
          <a:xfrm>
            <a:off x="7343775" y="494347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658100" y="5105400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教室、花坛边；我、全班同学（小雨）</a:t>
            </a:r>
            <a:endParaRPr lang="en-US" sz="2175" dirty="0"/>
          </a:p>
        </p:txBody>
      </p:sp>
      <p:sp>
        <p:nvSpPr>
          <p:cNvPr id="25" name="Shape 22"/>
          <p:cNvSpPr/>
          <p:nvPr/>
        </p:nvSpPr>
        <p:spPr>
          <a:xfrm>
            <a:off x="1057275" y="5638800"/>
            <a:ext cx="16173450" cy="11525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362075" y="5800725"/>
            <a:ext cx="5865495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经过：开始 → 接着 → 然后 → 最后</a:t>
            </a:r>
            <a:endParaRPr lang="en-US" sz="2175" dirty="0"/>
          </a:p>
        </p:txBody>
      </p:sp>
      <p:sp>
        <p:nvSpPr>
          <p:cNvPr id="27" name="Shape 24"/>
          <p:cNvSpPr/>
          <p:nvPr/>
        </p:nvSpPr>
        <p:spPr>
          <a:xfrm>
            <a:off x="7343775" y="5638800"/>
            <a:ext cx="9525" cy="11525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7658100" y="5800725"/>
            <a:ext cx="9564434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发现豆豆浮在水面、没救活 → 孩子们围上来、小雨红了眼 → 中午埋在桂花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树下、插了纸船 → 回教室路上谁都没说话</a:t>
            </a:r>
            <a:endParaRPr lang="en-US" sz="2175" dirty="0"/>
          </a:p>
        </p:txBody>
      </p:sp>
      <p:sp>
        <p:nvSpPr>
          <p:cNvPr id="29" name="Shape 26"/>
          <p:cNvSpPr/>
          <p:nvPr/>
        </p:nvSpPr>
        <p:spPr>
          <a:xfrm>
            <a:off x="1057275" y="6791325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1362075" y="6953250"/>
            <a:ext cx="58654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当时心里最想记下的感受</a:t>
            </a:r>
            <a:endParaRPr lang="en-US" sz="2175" dirty="0"/>
          </a:p>
        </p:txBody>
      </p:sp>
      <p:sp>
        <p:nvSpPr>
          <p:cNvPr id="31" name="Shape 28"/>
          <p:cNvSpPr/>
          <p:nvPr/>
        </p:nvSpPr>
        <p:spPr>
          <a:xfrm>
            <a:off x="7343775" y="679132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658100" y="6953250"/>
            <a:ext cx="956443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心里沉甸甸的、</a:t>
            </a: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伤感</a:t>
            </a:r>
          </a:p>
        </p:txBody>
      </p:sp>
      <p:sp>
        <p:nvSpPr>
          <p:cNvPr id="33" name="Text 30"/>
          <p:cNvSpPr/>
          <p:nvPr/>
        </p:nvSpPr>
        <p:spPr>
          <a:xfrm>
            <a:off x="1047750" y="8947785"/>
            <a:ext cx="1476502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一件事的前后经过</a:t>
            </a:r>
            <a:r>
              <a:rPr lang="zh-CN" alt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</a:t>
            </a:r>
            <a:r>
              <a:rPr 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</a:t>
            </a:r>
            <a:r>
              <a:rPr lang="zh-CN" alt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表格</a:t>
            </a:r>
            <a:r>
              <a:rPr 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里——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要写哪些内容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先写什么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、后写什么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，一眼就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看明白</a:t>
            </a:r>
            <a:r>
              <a:rPr 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214439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日记构思表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8209915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466850" y="1560830"/>
            <a:ext cx="674878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55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</a:t>
            </a:r>
            <a:r>
              <a:rPr lang="zh-CN" altLang="en-US" sz="355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请你</a:t>
            </a:r>
            <a:r>
              <a:rPr lang="en-US" sz="355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 </a:t>
            </a:r>
            <a:r>
              <a:rPr lang="en-US" sz="355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填好表，说给自己听</a:t>
            </a:r>
          </a:p>
        </p:txBody>
      </p:sp>
      <p:sp>
        <p:nvSpPr>
          <p:cNvPr id="10" name="Text 7"/>
          <p:cNvSpPr/>
          <p:nvPr>
            <p:custDataLst>
              <p:tags r:id="rId1"/>
            </p:custDataLst>
          </p:nvPr>
        </p:nvSpPr>
        <p:spPr>
          <a:xfrm>
            <a:off x="1905000" y="3177540"/>
            <a:ext cx="8560435" cy="5213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只填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，不写句子；暂时填不出的格子先空着</a:t>
            </a:r>
            <a:endParaRPr lang="en-US" sz="2625" dirty="0"/>
          </a:p>
        </p:txBody>
      </p:sp>
      <p:sp>
        <p:nvSpPr>
          <p:cNvPr id="13" name="Text 10"/>
          <p:cNvSpPr/>
          <p:nvPr>
            <p:custDataLst>
              <p:tags r:id="rId2"/>
            </p:custDataLst>
          </p:nvPr>
        </p:nvSpPr>
        <p:spPr>
          <a:xfrm>
            <a:off x="1905000" y="4287520"/>
            <a:ext cx="7667625" cy="12153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“经过”一行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按先后顺序 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填；最后一行不要忘记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当时心里的感受</a:t>
            </a:r>
            <a:endParaRPr lang="en-US" sz="2625" dirty="0"/>
          </a:p>
        </p:txBody>
      </p:sp>
      <p:sp>
        <p:nvSpPr>
          <p:cNvPr id="16" name="Text 13"/>
          <p:cNvSpPr/>
          <p:nvPr>
            <p:custDataLst>
              <p:tags r:id="rId3"/>
            </p:custDataLst>
          </p:nvPr>
        </p:nvSpPr>
        <p:spPr>
          <a:xfrm>
            <a:off x="1905000" y="5704840"/>
            <a:ext cx="7667625" cy="1005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填好后，用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只有自己听得见的声音 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，把这件事从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头到尾说给自己听一遍</a:t>
            </a:r>
            <a:endParaRPr lang="en-US" sz="2625" dirty="0"/>
          </a:p>
        </p:txBody>
      </p:sp>
      <p:sp>
        <p:nvSpPr>
          <p:cNvPr id="18" name="Shape 14"/>
          <p:cNvSpPr/>
          <p:nvPr/>
        </p:nvSpPr>
        <p:spPr>
          <a:xfrm>
            <a:off x="1047750" y="7389495"/>
            <a:ext cx="16192500" cy="1553845"/>
          </a:xfrm>
          <a:prstGeom prst="roundRect">
            <a:avLst>
              <a:gd name="adj" fmla="val 11034"/>
            </a:avLst>
          </a:prstGeom>
          <a:solidFill>
            <a:srgbClr val="DCE6F5"/>
          </a:solidFill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1383030" y="7530465"/>
            <a:ext cx="15906115" cy="145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哪里说得不顺畅，哪里就是还没想清楚的地方</a:t>
            </a:r>
            <a:r>
              <a:rPr lang="en-US" sz="25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</a:t>
            </a:r>
            <a:r>
              <a:rPr lang="zh-CN" altLang="en-US" sz="25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</a:t>
            </a:r>
            <a:r>
              <a:rPr lang="en-US" sz="25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回到表上，给那一格</a:t>
            </a:r>
            <a:r>
              <a:rPr lang="zh-CN" altLang="en-US" sz="25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</a:t>
            </a:r>
            <a:r>
              <a:rPr lang="en-US" altLang="zh-CN" sz="25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补上一两个词 </a:t>
            </a:r>
            <a:r>
              <a:rPr lang="en-US" sz="25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。写昨天的事</a:t>
            </a:r>
            <a:r>
              <a:rPr lang="zh-CN" altLang="en-US" sz="25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2500" dirty="0">
              <a:solidFill>
                <a:srgbClr val="2C3A54"/>
              </a:solidFill>
              <a:highlight>
                <a:srgbClr val="DCE6F5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5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第一行仍填今天的日期，正文开头交代一句“昨天”。</a:t>
            </a:r>
          </a:p>
        </p:txBody>
      </p:sp>
      <p:sp>
        <p:nvSpPr>
          <p:cNvPr id="20" name="Text 16"/>
          <p:cNvSpPr/>
          <p:nvPr/>
        </p:nvSpPr>
        <p:spPr>
          <a:xfrm>
            <a:off x="1383030" y="9178290"/>
            <a:ext cx="618617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表在手上，动笔时 </a:t>
            </a:r>
            <a:r>
              <a:rPr 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心里有底</a:t>
            </a:r>
            <a:r>
              <a:rPr lang="en-US" sz="25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sp>
        <p:nvSpPr>
          <p:cNvPr id="175" name="椭圆 174"/>
          <p:cNvSpPr/>
          <p:nvPr>
            <p:custDataLst>
              <p:tags r:id="rId4"/>
            </p:custDataLst>
          </p:nvPr>
        </p:nvSpPr>
        <p:spPr>
          <a:xfrm>
            <a:off x="1325245" y="5883910"/>
            <a:ext cx="476250" cy="4762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5"/>
            </p:custDataLst>
          </p:nvPr>
        </p:nvSpPr>
        <p:spPr>
          <a:xfrm>
            <a:off x="1322070" y="5950585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sp>
        <p:nvSpPr>
          <p:cNvPr id="173" name="椭圆 172"/>
          <p:cNvSpPr/>
          <p:nvPr>
            <p:custDataLst>
              <p:tags r:id="rId6"/>
            </p:custDataLst>
          </p:nvPr>
        </p:nvSpPr>
        <p:spPr>
          <a:xfrm>
            <a:off x="1325245" y="3185160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7"/>
            </p:custDataLst>
          </p:nvPr>
        </p:nvSpPr>
        <p:spPr>
          <a:xfrm>
            <a:off x="1325245" y="4539298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8"/>
            </p:custDataLst>
          </p:nvPr>
        </p:nvCxnSpPr>
        <p:spPr>
          <a:xfrm>
            <a:off x="1563370" y="371856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9"/>
            </p:custDataLst>
          </p:nvPr>
        </p:nvCxnSpPr>
        <p:spPr>
          <a:xfrm>
            <a:off x="1563370" y="507111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10"/>
            </p:custDataLst>
          </p:nvPr>
        </p:nvSpPr>
        <p:spPr>
          <a:xfrm>
            <a:off x="1325245" y="3261043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11"/>
            </p:custDataLst>
          </p:nvPr>
        </p:nvSpPr>
        <p:spPr>
          <a:xfrm>
            <a:off x="1322070" y="4617085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  <p:pic>
        <p:nvPicPr>
          <p:cNvPr id="21" name="图片 20" descr="封面用图-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93680" y="995045"/>
            <a:ext cx="6722745" cy="6332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215900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8750" y="1562100"/>
            <a:ext cx="8347075" cy="980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老师把那张表，写成了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一则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完整的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</a:t>
            </a:r>
          </a:p>
        </p:txBody>
      </p:sp>
      <p:sp>
        <p:nvSpPr>
          <p:cNvPr id="8" name="Shape 5"/>
          <p:cNvSpPr/>
          <p:nvPr/>
        </p:nvSpPr>
        <p:spPr>
          <a:xfrm>
            <a:off x="1047750" y="2542540"/>
            <a:ext cx="16192500" cy="6480000"/>
          </a:xfrm>
          <a:prstGeom prst="roundRect">
            <a:avLst>
              <a:gd name="adj" fmla="val 2493"/>
            </a:avLst>
          </a:prstGeom>
          <a:solidFill>
            <a:srgbClr val="F7F5F2"/>
          </a:solidFill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583680" y="2856230"/>
            <a:ext cx="6104255" cy="4368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lnSpc>
                <a:spcPct val="116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9月18日     星期四       多云</a:t>
            </a:r>
          </a:p>
        </p:txBody>
      </p:sp>
      <p:sp>
        <p:nvSpPr>
          <p:cNvPr id="14" name="Text 11"/>
          <p:cNvSpPr/>
          <p:nvPr/>
        </p:nvSpPr>
        <p:spPr>
          <a:xfrm>
            <a:off x="1261110" y="9141460"/>
            <a:ext cx="2637790" cy="570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心里的感觉</a:t>
            </a:r>
          </a:p>
        </p:txBody>
      </p:sp>
      <p:sp>
        <p:nvSpPr>
          <p:cNvPr id="15" name="Text 12"/>
          <p:cNvSpPr/>
          <p:nvPr/>
        </p:nvSpPr>
        <p:spPr>
          <a:xfrm>
            <a:off x="3666490" y="9141460"/>
            <a:ext cx="3054350" cy="5772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看得见的动作</a:t>
            </a:r>
          </a:p>
        </p:txBody>
      </p:sp>
      <p:sp>
        <p:nvSpPr>
          <p:cNvPr id="16" name="Text 13"/>
          <p:cNvSpPr/>
          <p:nvPr/>
        </p:nvSpPr>
        <p:spPr>
          <a:xfrm>
            <a:off x="6482080" y="9141460"/>
            <a:ext cx="3005455" cy="5772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看得见的神情</a:t>
            </a:r>
          </a:p>
        </p:txBody>
      </p:sp>
      <p:sp>
        <p:nvSpPr>
          <p:cNvPr id="17" name="Text 14"/>
          <p:cNvSpPr/>
          <p:nvPr/>
        </p:nvSpPr>
        <p:spPr>
          <a:xfrm>
            <a:off x="9312275" y="9141460"/>
            <a:ext cx="2924175" cy="5626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大家的安静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600200" y="3483610"/>
            <a:ext cx="15579090" cy="1585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今天一早进教室，我就发现不对劲。讲台边的鱼缸里，养了半个多月的小金鱼“豆豆”，肚皮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朝上，一动不动地浮在水面。我 </a:t>
            </a:r>
            <a:r>
              <a:rPr lang="zh-CN" altLang="en-US" sz="2700" b="1"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心里“咯噔”一下</a:t>
            </a:r>
            <a:r>
              <a:rPr lang="zh-CN" altLang="en-US" sz="2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，</a:t>
            </a:r>
            <a:r>
              <a:rPr lang="zh-CN" altLang="en-US" sz="27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赶紧用网兜把它捞起来，又轻轻放回水里</a:t>
            </a:r>
            <a:r>
              <a:rPr lang="zh-CN" altLang="en-US" sz="2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盼着它能游两下。可它沉下去，再没动。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600200" y="5168265"/>
            <a:ext cx="15567660" cy="1585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铃响了，孩子们涌进来。眼尖的乐乐第一个发现，“啊”地叫出声，几个孩子一下围了上来：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“它是不是睡着了？”“能不能救活呀？”</a:t>
            </a:r>
            <a:r>
              <a:rPr lang="zh-CN" altLang="en-US" sz="27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小雨没说话，眼圈一下就红了</a:t>
            </a:r>
            <a:r>
              <a:rPr lang="zh-CN" altLang="en-US" sz="2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——这鱼是开学第一天她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7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从家里带来的。我蹲下来，轻声说：豆豆陪了我们半个多月，今天我们好好送送它。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600200" y="6837680"/>
            <a:ext cx="15567660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70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2700">
                <a:latin typeface="楷体" panose="02010609060101010101" charset="-122"/>
                <a:ea typeface="楷体" panose="02010609060101010101" charset="-122"/>
              </a:rPr>
              <a:t>中午，我们把豆豆埋在花坛边的桂花树下，小雨往土上插了一个自己折的小纸船。</a:t>
            </a:r>
            <a:r>
              <a:rPr lang="zh-CN" altLang="en-US" sz="2700" b="1">
                <a:solidFill>
                  <a:schemeClr val="accent6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回教室的路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700" b="1">
                <a:solidFill>
                  <a:schemeClr val="accent6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上，谁都没怎么说话</a:t>
            </a:r>
            <a:r>
              <a:rPr lang="zh-CN" altLang="en-US" sz="2700">
                <a:latin typeface="楷体" panose="02010609060101010101" charset="-122"/>
                <a:ea typeface="楷体" panose="02010609060101010101" charset="-122"/>
              </a:rPr>
              <a:t>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600200" y="8100060"/>
            <a:ext cx="1490091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700" b="1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2700" b="1">
                <a:latin typeface="楷体" panose="02010609060101010101" charset="-122"/>
                <a:ea typeface="楷体" panose="02010609060101010101" charset="-122"/>
              </a:rPr>
              <a:t>原来一条小鱼的离去，也会在孩子们心底，留下一份沉甸甸的伤感。</a:t>
            </a:r>
          </a:p>
        </p:txBody>
      </p:sp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50177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读样稿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60830"/>
            <a:ext cx="554990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读完，先思考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两个问题</a:t>
            </a:r>
          </a:p>
        </p:txBody>
      </p:sp>
      <p:sp>
        <p:nvSpPr>
          <p:cNvPr id="8" name="Shape 5"/>
          <p:cNvSpPr/>
          <p:nvPr/>
        </p:nvSpPr>
        <p:spPr>
          <a:xfrm>
            <a:off x="1047750" y="2954655"/>
            <a:ext cx="7886700" cy="5686425"/>
          </a:xfrm>
          <a:prstGeom prst="roundRect">
            <a:avLst>
              <a:gd name="adj" fmla="val 4826"/>
            </a:avLst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>
            <p:custDataLst>
              <p:tags r:id="rId1"/>
            </p:custDataLst>
          </p:nvPr>
        </p:nvSpPr>
        <p:spPr>
          <a:xfrm>
            <a:off x="1466850" y="4406265"/>
            <a:ext cx="121920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早上</a:t>
            </a:r>
          </a:p>
        </p:txBody>
      </p:sp>
      <p:sp>
        <p:nvSpPr>
          <p:cNvPr id="11" name="Text 8"/>
          <p:cNvSpPr/>
          <p:nvPr>
            <p:custDataLst>
              <p:tags r:id="rId2"/>
            </p:custDataLst>
          </p:nvPr>
        </p:nvSpPr>
        <p:spPr>
          <a:xfrm>
            <a:off x="2245995" y="4406265"/>
            <a:ext cx="553339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发现豆豆浮在水面，没救活</a:t>
            </a:r>
          </a:p>
        </p:txBody>
      </p:sp>
      <p:sp>
        <p:nvSpPr>
          <p:cNvPr id="12" name="Text 9"/>
          <p:cNvSpPr/>
          <p:nvPr>
            <p:custDataLst>
              <p:tags r:id="rId3"/>
            </p:custDataLst>
          </p:nvPr>
        </p:nvSpPr>
        <p:spPr>
          <a:xfrm>
            <a:off x="1771650" y="5049203"/>
            <a:ext cx="21907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</a:p>
        </p:txBody>
      </p:sp>
      <p:sp>
        <p:nvSpPr>
          <p:cNvPr id="13" name="Text 10"/>
          <p:cNvSpPr/>
          <p:nvPr>
            <p:custDataLst>
              <p:tags r:id="rId4"/>
            </p:custDataLst>
          </p:nvPr>
        </p:nvSpPr>
        <p:spPr>
          <a:xfrm>
            <a:off x="2245995" y="5064760"/>
            <a:ext cx="5034915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孩子们围上来，小雨红了眼</a:t>
            </a:r>
          </a:p>
        </p:txBody>
      </p:sp>
      <p:sp>
        <p:nvSpPr>
          <p:cNvPr id="14" name="Text 11"/>
          <p:cNvSpPr/>
          <p:nvPr>
            <p:custDataLst>
              <p:tags r:id="rId5"/>
            </p:custDataLst>
          </p:nvPr>
        </p:nvSpPr>
        <p:spPr>
          <a:xfrm>
            <a:off x="1466850" y="5844540"/>
            <a:ext cx="1247775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中午</a:t>
            </a:r>
          </a:p>
        </p:txBody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2245995" y="5844540"/>
            <a:ext cx="554482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埋在桂花树下，插了小纸船</a:t>
            </a:r>
          </a:p>
        </p:txBody>
      </p:sp>
      <p:sp>
        <p:nvSpPr>
          <p:cNvPr id="16" name="Text 13"/>
          <p:cNvSpPr/>
          <p:nvPr>
            <p:custDataLst>
              <p:tags r:id="rId7"/>
            </p:custDataLst>
          </p:nvPr>
        </p:nvSpPr>
        <p:spPr>
          <a:xfrm>
            <a:off x="1465580" y="6544945"/>
            <a:ext cx="1275715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</a:t>
            </a:r>
          </a:p>
        </p:txBody>
      </p:sp>
      <p:sp>
        <p:nvSpPr>
          <p:cNvPr id="17" name="Text 14"/>
          <p:cNvSpPr/>
          <p:nvPr>
            <p:custDataLst>
              <p:tags r:id="rId8"/>
            </p:custDataLst>
          </p:nvPr>
        </p:nvSpPr>
        <p:spPr>
          <a:xfrm>
            <a:off x="2245995" y="6544945"/>
            <a:ext cx="5532755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回教室路上，谁都没说话</a:t>
            </a:r>
          </a:p>
        </p:txBody>
      </p:sp>
      <p:sp>
        <p:nvSpPr>
          <p:cNvPr id="18" name="Shape 15"/>
          <p:cNvSpPr/>
          <p:nvPr/>
        </p:nvSpPr>
        <p:spPr>
          <a:xfrm>
            <a:off x="9353550" y="2952750"/>
            <a:ext cx="7886700" cy="5685790"/>
          </a:xfrm>
          <a:prstGeom prst="roundRect">
            <a:avLst>
              <a:gd name="adj" fmla="val 4826"/>
            </a:avLst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772650" y="4192905"/>
            <a:ext cx="371475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</a:p>
        </p:txBody>
      </p:sp>
      <p:sp>
        <p:nvSpPr>
          <p:cNvPr id="21" name="Text 18"/>
          <p:cNvSpPr/>
          <p:nvPr/>
        </p:nvSpPr>
        <p:spPr>
          <a:xfrm>
            <a:off x="10201275" y="4192905"/>
            <a:ext cx="6543040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仍然是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日期、星期、天气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，中间空</a:t>
            </a:r>
            <a:r>
              <a:rPr lang="zh-CN" alt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格</a:t>
            </a:r>
          </a:p>
        </p:txBody>
      </p:sp>
      <p:sp>
        <p:nvSpPr>
          <p:cNvPr id="22" name="Text 19"/>
          <p:cNvSpPr/>
          <p:nvPr/>
        </p:nvSpPr>
        <p:spPr>
          <a:xfrm>
            <a:off x="9772650" y="4845368"/>
            <a:ext cx="371475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</a:p>
        </p:txBody>
      </p:sp>
      <p:sp>
        <p:nvSpPr>
          <p:cNvPr id="23" name="Text 20"/>
          <p:cNvSpPr/>
          <p:nvPr/>
        </p:nvSpPr>
        <p:spPr>
          <a:xfrm>
            <a:off x="10201275" y="4845685"/>
            <a:ext cx="5314315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正文另起一行，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开头空两格</a:t>
            </a:r>
          </a:p>
        </p:txBody>
      </p:sp>
      <p:sp>
        <p:nvSpPr>
          <p:cNvPr id="25" name="Text 8"/>
          <p:cNvSpPr/>
          <p:nvPr>
            <p:custDataLst>
              <p:tags r:id="rId9"/>
            </p:custDataLst>
          </p:nvPr>
        </p:nvSpPr>
        <p:spPr>
          <a:xfrm>
            <a:off x="1443355" y="7527925"/>
            <a:ext cx="3136265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342900" indent="-342900" algn="l">
              <a:lnSpc>
                <a:spcPct val="109000"/>
              </a:lnSpc>
              <a:buFont typeface="Wingdings" panose="05000000000000000000" charset="0"/>
              <a:buChar char="Ø"/>
            </a:pPr>
            <a:r>
              <a:rPr lang="zh-CN" alt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按时间顺序</a:t>
            </a:r>
          </a:p>
        </p:txBody>
      </p:sp>
      <p:sp>
        <p:nvSpPr>
          <p:cNvPr id="26" name="Text 7"/>
          <p:cNvSpPr/>
          <p:nvPr/>
        </p:nvSpPr>
        <p:spPr>
          <a:xfrm>
            <a:off x="2251710" y="3084195"/>
            <a:ext cx="6540500" cy="1047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这则日记记了一件什么事？按什么</a:t>
            </a:r>
          </a:p>
          <a:p>
            <a:pPr marL="0" indent="0" algn="l">
              <a:buNone/>
            </a:pPr>
            <a:r>
              <a:rPr lang="zh-CN" altLang="en-US" sz="3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顺序写的？</a:t>
            </a:r>
          </a:p>
        </p:txBody>
      </p:sp>
      <p:sp>
        <p:nvSpPr>
          <p:cNvPr id="27" name="Shape 6"/>
          <p:cNvSpPr/>
          <p:nvPr/>
        </p:nvSpPr>
        <p:spPr>
          <a:xfrm flipH="1">
            <a:off x="1974215" y="2954655"/>
            <a:ext cx="57600" cy="108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7"/>
          <p:cNvSpPr/>
          <p:nvPr/>
        </p:nvSpPr>
        <p:spPr>
          <a:xfrm>
            <a:off x="1358900" y="3063875"/>
            <a:ext cx="413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</a:p>
        </p:txBody>
      </p:sp>
      <p:sp>
        <p:nvSpPr>
          <p:cNvPr id="29" name="Text 7"/>
          <p:cNvSpPr/>
          <p:nvPr/>
        </p:nvSpPr>
        <p:spPr>
          <a:xfrm>
            <a:off x="10664825" y="3063875"/>
            <a:ext cx="6066790" cy="774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第一行交代了什么？</a:t>
            </a:r>
          </a:p>
        </p:txBody>
      </p:sp>
      <p:sp>
        <p:nvSpPr>
          <p:cNvPr id="30" name="Shape 6"/>
          <p:cNvSpPr/>
          <p:nvPr/>
        </p:nvSpPr>
        <p:spPr>
          <a:xfrm flipH="1">
            <a:off x="10387330" y="2934335"/>
            <a:ext cx="57600" cy="108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7"/>
          <p:cNvSpPr/>
          <p:nvPr/>
        </p:nvSpPr>
        <p:spPr>
          <a:xfrm>
            <a:off x="9772015" y="3043555"/>
            <a:ext cx="413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</a:p>
        </p:txBody>
      </p:sp>
      <p:sp>
        <p:nvSpPr>
          <p:cNvPr id="24" name="Text 21"/>
          <p:cNvSpPr/>
          <p:nvPr/>
        </p:nvSpPr>
        <p:spPr>
          <a:xfrm>
            <a:off x="1047750" y="9144000"/>
            <a:ext cx="1568386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整则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写了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一件事 ——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一件事，按照发生的顺序写下来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，日记就完成了。</a:t>
            </a:r>
          </a:p>
        </p:txBody>
      </p:sp>
      <p:pic>
        <p:nvPicPr>
          <p:cNvPr id="2" name="图片 1" descr="写日记-鱼缸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12729210" y="5796280"/>
            <a:ext cx="4511040" cy="2842260"/>
          </a:xfrm>
          <a:prstGeom prst="rect">
            <a:avLst/>
          </a:prstGeom>
        </p:spPr>
      </p:pic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bldLvl="0" animBg="1"/>
      <p:bldP spid="20" grpId="0"/>
      <p:bldP spid="21" grpId="0"/>
      <p:bldP spid="22" grpId="0"/>
      <p:bldP spid="23" grpId="0"/>
      <p:bldP spid="25" grpId="0"/>
      <p:bldP spid="26" grpId="0"/>
      <p:bldP spid="27" grpId="0" animBg="1"/>
      <p:bldP spid="28" grpId="0"/>
      <p:bldP spid="29" grpId="0"/>
      <p:bldP spid="30" grpId="0" animBg="1"/>
      <p:bldP spid="31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53225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619250"/>
            <a:ext cx="14020165" cy="7753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哪一句，让你仿佛“看见”了当时的情景，感受到了那份难过？</a:t>
            </a:r>
          </a:p>
        </p:txBody>
      </p:sp>
      <p:sp>
        <p:nvSpPr>
          <p:cNvPr id="8" name="Shape 5"/>
          <p:cNvSpPr/>
          <p:nvPr/>
        </p:nvSpPr>
        <p:spPr>
          <a:xfrm>
            <a:off x="1047750" y="2933700"/>
            <a:ext cx="16192500" cy="3838575"/>
          </a:xfrm>
          <a:prstGeom prst="roundRect">
            <a:avLst>
              <a:gd name="adj" fmla="val 3474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1057275" y="2943225"/>
            <a:ext cx="16173450" cy="771525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362075" y="3133725"/>
            <a:ext cx="10555034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日记里的这一句</a:t>
            </a:r>
            <a:endParaRPr lang="en-US" sz="2325" dirty="0"/>
          </a:p>
        </p:txBody>
      </p:sp>
      <p:sp>
        <p:nvSpPr>
          <p:cNvPr id="11" name="Shape 8"/>
          <p:cNvSpPr/>
          <p:nvPr/>
        </p:nvSpPr>
        <p:spPr>
          <a:xfrm>
            <a:off x="11896725" y="2943225"/>
            <a:ext cx="9525" cy="77152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2211050" y="3133725"/>
            <a:ext cx="487489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把心情写成了什么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057275" y="3714750"/>
            <a:ext cx="16173450" cy="762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362075" y="3905250"/>
            <a:ext cx="105550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心里“咯噔”一下、赶紧用网兜把它捞起来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11896725" y="3714750"/>
            <a:ext cx="9525" cy="7620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2211050" y="3905250"/>
            <a:ext cx="48748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用动作写出吃惊和想救它的心情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057275" y="4476750"/>
            <a:ext cx="16173450" cy="762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362075" y="4667250"/>
            <a:ext cx="105550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又轻轻放回水里，盼着它能游两下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11896725" y="4476750"/>
            <a:ext cx="9525" cy="7620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2211050" y="4667250"/>
            <a:ext cx="48748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一个“轻轻”的小动作，藏着不舍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1057275" y="5238750"/>
            <a:ext cx="16173450" cy="7620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1362075" y="5429250"/>
            <a:ext cx="105550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小雨没说话，眼圈一下就红了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11896725" y="5238750"/>
            <a:ext cx="9525" cy="7620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2211050" y="5429250"/>
            <a:ext cx="48748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看得见的神情，写出难过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1057275" y="6000750"/>
            <a:ext cx="16173450" cy="762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362075" y="6191250"/>
            <a:ext cx="105550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回教室的路上，谁都没怎么说话</a:t>
            </a:r>
            <a:endParaRPr lang="en-US" sz="2250" dirty="0"/>
          </a:p>
        </p:txBody>
      </p:sp>
      <p:sp>
        <p:nvSpPr>
          <p:cNvPr id="27" name="Shape 24"/>
          <p:cNvSpPr/>
          <p:nvPr/>
        </p:nvSpPr>
        <p:spPr>
          <a:xfrm>
            <a:off x="11896725" y="6000750"/>
            <a:ext cx="9525" cy="7620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12211050" y="6191250"/>
            <a:ext cx="48748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用大家的安静，写出沉重的心情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1057275" y="8923020"/>
            <a:ext cx="147167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全文没有一句“我很难过”，可那份难过 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都在字里行间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——你们写自己的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，也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这样写。</a:t>
            </a:r>
          </a:p>
        </p:txBody>
      </p:sp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6" name="Text 4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10448523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写好第一行 · 慢镜头写精彩瞬间 · 自由写作 · 日记分享会 · 修改收束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92024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写作热身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5435"/>
            <a:ext cx="7677150" cy="789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慢镜头 ——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先写最精彩的那个瞬间</a:t>
            </a:r>
          </a:p>
        </p:txBody>
      </p:sp>
      <p:sp>
        <p:nvSpPr>
          <p:cNvPr id="8" name="Shape 5"/>
          <p:cNvSpPr/>
          <p:nvPr/>
        </p:nvSpPr>
        <p:spPr>
          <a:xfrm>
            <a:off x="1047750" y="2762250"/>
            <a:ext cx="16192500" cy="6192000"/>
          </a:xfrm>
          <a:prstGeom prst="roundRect">
            <a:avLst>
              <a:gd name="adj" fmla="val 3429"/>
            </a:avLst>
          </a:prstGeom>
          <a:solidFill>
            <a:srgbClr val="DCE6F5"/>
          </a:solidFill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409700" y="2990850"/>
            <a:ext cx="1582166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第一步很简单：把表上的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日期、星期、天气 </a:t>
            </a:r>
            <a:r>
              <a:rPr lang="en-US" sz="28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抄到稿纸第一行——日记的开头就完成了。</a:t>
            </a:r>
          </a:p>
        </p:txBody>
      </p:sp>
      <p:sp>
        <p:nvSpPr>
          <p:cNvPr id="10" name="Shape 7"/>
          <p:cNvSpPr/>
          <p:nvPr>
            <p:custDataLst>
              <p:tags r:id="rId1"/>
            </p:custDataLst>
          </p:nvPr>
        </p:nvSpPr>
        <p:spPr>
          <a:xfrm>
            <a:off x="1443990" y="4000500"/>
            <a:ext cx="1890395" cy="907415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>
            <p:custDataLst>
              <p:tags r:id="rId2"/>
            </p:custDataLst>
          </p:nvPr>
        </p:nvSpPr>
        <p:spPr>
          <a:xfrm>
            <a:off x="1924050" y="4152900"/>
            <a:ext cx="1238250" cy="554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</a:t>
            </a:r>
          </a:p>
        </p:txBody>
      </p:sp>
      <p:sp>
        <p:nvSpPr>
          <p:cNvPr id="12" name="Text 9"/>
          <p:cNvSpPr/>
          <p:nvPr>
            <p:custDataLst>
              <p:tags r:id="rId3"/>
            </p:custDataLst>
          </p:nvPr>
        </p:nvSpPr>
        <p:spPr>
          <a:xfrm>
            <a:off x="3440430" y="4175125"/>
            <a:ext cx="4439285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那一刻，你在做什么？</a:t>
            </a:r>
          </a:p>
        </p:txBody>
      </p:sp>
      <p:sp>
        <p:nvSpPr>
          <p:cNvPr id="13" name="Shape 10"/>
          <p:cNvSpPr/>
          <p:nvPr>
            <p:custDataLst>
              <p:tags r:id="rId4"/>
            </p:custDataLst>
          </p:nvPr>
        </p:nvSpPr>
        <p:spPr>
          <a:xfrm>
            <a:off x="1443990" y="5154930"/>
            <a:ext cx="1890395" cy="907415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>
            <p:custDataLst>
              <p:tags r:id="rId5"/>
            </p:custDataLst>
          </p:nvPr>
        </p:nvSpPr>
        <p:spPr>
          <a:xfrm>
            <a:off x="1924050" y="5292090"/>
            <a:ext cx="1238250" cy="554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声音</a:t>
            </a:r>
          </a:p>
        </p:txBody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3440430" y="5314315"/>
            <a:ext cx="3789045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身边有什么声音？</a:t>
            </a:r>
          </a:p>
        </p:txBody>
      </p:sp>
      <p:sp>
        <p:nvSpPr>
          <p:cNvPr id="16" name="Shape 13"/>
          <p:cNvSpPr/>
          <p:nvPr>
            <p:custDataLst>
              <p:tags r:id="rId7"/>
            </p:custDataLst>
          </p:nvPr>
        </p:nvSpPr>
        <p:spPr>
          <a:xfrm>
            <a:off x="1443990" y="6309360"/>
            <a:ext cx="1890395" cy="907415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>
            <p:custDataLst>
              <p:tags r:id="rId8"/>
            </p:custDataLst>
          </p:nvPr>
        </p:nvSpPr>
        <p:spPr>
          <a:xfrm>
            <a:off x="1924050" y="6446520"/>
            <a:ext cx="1238250" cy="554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眼睛</a:t>
            </a:r>
          </a:p>
        </p:txBody>
      </p:sp>
      <p:sp>
        <p:nvSpPr>
          <p:cNvPr id="18" name="Text 15"/>
          <p:cNvSpPr/>
          <p:nvPr>
            <p:custDataLst>
              <p:tags r:id="rId9"/>
            </p:custDataLst>
          </p:nvPr>
        </p:nvSpPr>
        <p:spPr>
          <a:xfrm>
            <a:off x="3440430" y="6468745"/>
            <a:ext cx="4439285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你最先看见的是什么？</a:t>
            </a:r>
          </a:p>
        </p:txBody>
      </p:sp>
      <p:sp>
        <p:nvSpPr>
          <p:cNvPr id="19" name="Shape 16"/>
          <p:cNvSpPr/>
          <p:nvPr>
            <p:custDataLst>
              <p:tags r:id="rId10"/>
            </p:custDataLst>
          </p:nvPr>
        </p:nvSpPr>
        <p:spPr>
          <a:xfrm>
            <a:off x="1443990" y="7463790"/>
            <a:ext cx="1890395" cy="907415"/>
          </a:xfrm>
          <a:prstGeom prst="roundRect">
            <a:avLst>
              <a:gd name="adj" fmla="val 19444"/>
            </a:avLst>
          </a:prstGeom>
          <a:solidFill>
            <a:srgbClr val="C0392B"/>
          </a:solidFill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>
            <p:custDataLst>
              <p:tags r:id="rId11"/>
            </p:custDataLst>
          </p:nvPr>
        </p:nvSpPr>
        <p:spPr>
          <a:xfrm>
            <a:off x="1924050" y="7616190"/>
            <a:ext cx="1238250" cy="554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</a:t>
            </a:r>
            <a:r>
              <a:rPr lang="zh-CN" alt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</a:t>
            </a:r>
          </a:p>
        </p:txBody>
      </p:sp>
      <p:sp>
        <p:nvSpPr>
          <p:cNvPr id="21" name="Text 18"/>
          <p:cNvSpPr/>
          <p:nvPr>
            <p:custDataLst>
              <p:tags r:id="rId12"/>
            </p:custDataLst>
          </p:nvPr>
        </p:nvSpPr>
        <p:spPr>
          <a:xfrm>
            <a:off x="3440430" y="7653655"/>
            <a:ext cx="6922770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心里冒出的 </a:t>
            </a:r>
            <a:r>
              <a:rPr lang="en-US" sz="3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第一个念头 </a:t>
            </a: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是什么？</a:t>
            </a:r>
          </a:p>
        </p:txBody>
      </p:sp>
      <p:sp>
        <p:nvSpPr>
          <p:cNvPr id="22" name="Text 19"/>
          <p:cNvSpPr/>
          <p:nvPr/>
        </p:nvSpPr>
        <p:spPr>
          <a:xfrm>
            <a:off x="1169670" y="9178290"/>
            <a:ext cx="1446720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三五个字也可以，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错字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先不改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、不会写的字先用拼音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——写完连起来读一读，最精彩的部分就有了。</a:t>
            </a:r>
          </a:p>
        </p:txBody>
      </p:sp>
      <p:pic>
        <p:nvPicPr>
          <p:cNvPr id="32" name="图片 31" descr="写日记-写日记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811635" y="3131820"/>
            <a:ext cx="6783070" cy="6363335"/>
          </a:xfrm>
          <a:prstGeom prst="rect">
            <a:avLst/>
          </a:prstGeom>
        </p:spPr>
      </p:pic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20" name="Shape 5"/>
          <p:cNvSpPr/>
          <p:nvPr>
            <p:custDataLst>
              <p:tags r:id="rId1"/>
            </p:custDataLst>
          </p:nvPr>
        </p:nvSpPr>
        <p:spPr>
          <a:xfrm>
            <a:off x="1047750" y="5609590"/>
            <a:ext cx="16210280" cy="2190750"/>
          </a:xfrm>
          <a:prstGeom prst="roundRect">
            <a:avLst>
              <a:gd name="adj" fmla="val 7723"/>
            </a:avLst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7" name="Shape 5"/>
          <p:cNvSpPr/>
          <p:nvPr>
            <p:custDataLst>
              <p:tags r:id="rId2"/>
            </p:custDataLst>
          </p:nvPr>
        </p:nvSpPr>
        <p:spPr>
          <a:xfrm>
            <a:off x="1047750" y="2952750"/>
            <a:ext cx="7886700" cy="2190750"/>
          </a:xfrm>
          <a:prstGeom prst="roundRect">
            <a:avLst>
              <a:gd name="adj" fmla="val 7723"/>
            </a:avLst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>
            <p:custDataLst>
              <p:tags r:id="rId3"/>
            </p:custDataLst>
          </p:nvPr>
        </p:nvSpPr>
        <p:spPr>
          <a:xfrm>
            <a:off x="9353550" y="2952750"/>
            <a:ext cx="7886700" cy="2190750"/>
          </a:xfrm>
          <a:prstGeom prst="roundRect">
            <a:avLst>
              <a:gd name="adj" fmla="val 7375"/>
            </a:avLst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26" name="Text 7"/>
          <p:cNvSpPr/>
          <p:nvPr>
            <p:custDataLst>
              <p:tags r:id="rId4"/>
            </p:custDataLst>
          </p:nvPr>
        </p:nvSpPr>
        <p:spPr>
          <a:xfrm>
            <a:off x="2251710" y="3084195"/>
            <a:ext cx="6540500" cy="17138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只写你挑的</a:t>
            </a:r>
            <a:r>
              <a:rPr lang="zh-CN" altLang="en-US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这一件事</a:t>
            </a: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——不要写成流水账，按先后顺序一步一步写</a:t>
            </a:r>
          </a:p>
        </p:txBody>
      </p:sp>
      <p:sp>
        <p:nvSpPr>
          <p:cNvPr id="27" name="Shape 6"/>
          <p:cNvSpPr/>
          <p:nvPr>
            <p:custDataLst>
              <p:tags r:id="rId5"/>
            </p:custDataLst>
          </p:nvPr>
        </p:nvSpPr>
        <p:spPr>
          <a:xfrm flipH="1">
            <a:off x="1974215" y="2954655"/>
            <a:ext cx="57600" cy="108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7"/>
          <p:cNvSpPr/>
          <p:nvPr>
            <p:custDataLst>
              <p:tags r:id="rId6"/>
            </p:custDataLst>
          </p:nvPr>
        </p:nvSpPr>
        <p:spPr>
          <a:xfrm>
            <a:off x="1358900" y="3063875"/>
            <a:ext cx="413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</a:p>
        </p:txBody>
      </p:sp>
      <p:sp>
        <p:nvSpPr>
          <p:cNvPr id="29" name="Text 7"/>
          <p:cNvSpPr/>
          <p:nvPr>
            <p:custDataLst>
              <p:tags r:id="rId7"/>
            </p:custDataLst>
          </p:nvPr>
        </p:nvSpPr>
        <p:spPr>
          <a:xfrm>
            <a:off x="10664825" y="3063875"/>
            <a:ext cx="6066790" cy="20789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心情要写得</a:t>
            </a:r>
            <a:r>
              <a:rPr lang="zh-CN" altLang="en-US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看得见、听得见 </a:t>
            </a: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——抓住动作、语言和心里的想法来写</a:t>
            </a:r>
          </a:p>
        </p:txBody>
      </p:sp>
      <p:sp>
        <p:nvSpPr>
          <p:cNvPr id="30" name="Shape 6"/>
          <p:cNvSpPr/>
          <p:nvPr>
            <p:custDataLst>
              <p:tags r:id="rId8"/>
            </p:custDataLst>
          </p:nvPr>
        </p:nvSpPr>
        <p:spPr>
          <a:xfrm flipH="1">
            <a:off x="10387330" y="2934335"/>
            <a:ext cx="57600" cy="108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7"/>
          <p:cNvSpPr/>
          <p:nvPr>
            <p:custDataLst>
              <p:tags r:id="rId9"/>
            </p:custDataLst>
          </p:nvPr>
        </p:nvSpPr>
        <p:spPr>
          <a:xfrm>
            <a:off x="9772015" y="3043555"/>
            <a:ext cx="41338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83324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5435"/>
            <a:ext cx="732599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把这件事写完整 ——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记住两点</a:t>
            </a:r>
          </a:p>
        </p:txBody>
      </p:sp>
      <p:sp>
        <p:nvSpPr>
          <p:cNvPr id="15" name="Shape 12"/>
          <p:cNvSpPr/>
          <p:nvPr/>
        </p:nvSpPr>
        <p:spPr>
          <a:xfrm>
            <a:off x="13571339" y="8730615"/>
            <a:ext cx="36689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3952339" y="8921115"/>
            <a:ext cx="3016978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大约写 18 分钟</a:t>
            </a:r>
            <a:endParaRPr lang="en-US" sz="2850" dirty="0"/>
          </a:p>
        </p:txBody>
      </p:sp>
      <p:sp>
        <p:nvSpPr>
          <p:cNvPr id="19" name="文本框 18"/>
          <p:cNvSpPr txBox="1"/>
          <p:nvPr/>
        </p:nvSpPr>
        <p:spPr>
          <a:xfrm>
            <a:off x="1358900" y="5869305"/>
            <a:ext cx="164230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刚才写下的几句就是现成的开头，可以顺着往下写；也可以从头按先后顺序写，把这几句放进经过里写充分——两种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方法都可以，选顺手的一种。字数不限，重要的是读的人能跟着你的文字， 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看见这件事怎样发生、你是什么心情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不会写的字用拼音代替，不要停下来。</a:t>
            </a:r>
          </a:p>
        </p:txBody>
      </p:sp>
      <p:pic>
        <p:nvPicPr>
          <p:cNvPr id="21" name="图片 20" descr="写日记-蚂蚁搬饼干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3960" y="8143875"/>
            <a:ext cx="10985500" cy="1933575"/>
          </a:xfrm>
          <a:prstGeom prst="rect">
            <a:avLst/>
          </a:prstGeom>
        </p:spPr>
      </p:pic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7" grpId="0" animBg="1"/>
      <p:bldP spid="18" grpId="0" animBg="1"/>
      <p:bldP spid="26" grpId="0"/>
      <p:bldP spid="27" grpId="0" animBg="1"/>
      <p:bldP spid="28" grpId="0"/>
      <p:bldP spid="29" grpId="0"/>
      <p:bldP spid="30" grpId="0" animBg="1"/>
      <p:bldP spid="31" grpId="0"/>
      <p:bldP spid="15" grpId="0" animBg="1"/>
      <p:bldP spid="16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3571339" y="8730615"/>
            <a:ext cx="36689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3952339" y="8921115"/>
            <a:ext cx="3016978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大约写 18 分钟</a:t>
            </a:r>
            <a:endParaRPr lang="en-US" sz="285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295" y="1461135"/>
            <a:ext cx="15292705" cy="715581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19" name="Shape 5"/>
          <p:cNvSpPr/>
          <p:nvPr/>
        </p:nvSpPr>
        <p:spPr>
          <a:xfrm>
            <a:off x="653415" y="2607310"/>
            <a:ext cx="17091660" cy="6346825"/>
          </a:xfrm>
          <a:prstGeom prst="roundRect">
            <a:avLst>
              <a:gd name="adj" fmla="val 3429"/>
            </a:avLst>
          </a:prstGeom>
          <a:solidFill>
            <a:srgbClr val="DCE6F5"/>
          </a:solidFill>
        </p:spPr>
        <p:txBody>
          <a:bodyPr/>
          <a:lstStyle/>
          <a:p>
            <a:endParaRPr/>
          </a:p>
        </p:txBody>
      </p:sp>
      <p:sp>
        <p:nvSpPr>
          <p:cNvPr id="20" name="Shape 3"/>
          <p:cNvSpPr/>
          <p:nvPr/>
        </p:nvSpPr>
        <p:spPr>
          <a:xfrm>
            <a:off x="2495550" y="7052945"/>
            <a:ext cx="14671040" cy="1290320"/>
          </a:xfrm>
          <a:prstGeom prst="roundRect">
            <a:avLst>
              <a:gd name="adj" fmla="val 12992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9704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90040"/>
            <a:ext cx="559244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55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举行 </a:t>
            </a:r>
            <a:r>
              <a:rPr lang="en-US" sz="355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“日记分享会”</a:t>
            </a:r>
          </a:p>
        </p:txBody>
      </p:sp>
      <p:sp>
        <p:nvSpPr>
          <p:cNvPr id="9" name="Text 6"/>
          <p:cNvSpPr/>
          <p:nvPr/>
        </p:nvSpPr>
        <p:spPr>
          <a:xfrm>
            <a:off x="6212840" y="3172460"/>
            <a:ext cx="716661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请几位同学上台，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读一读自己写的这则日记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6212840" y="4266565"/>
            <a:ext cx="11122025" cy="15773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听的同学：听完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复述“他今天遇到了一件什么事”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——复述得顺畅，就说明写清楚了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212840" y="5871845"/>
            <a:ext cx="11129010" cy="6991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再听一听——大家记的事各不相同，日记里能写下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多少种不一样的一天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6212840" y="7095490"/>
            <a:ext cx="10170160" cy="1238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听的人能把这件事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顺畅地复述出来</a:t>
            </a:r>
            <a:r>
              <a:rPr lang="en-US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——就说明这一则日记，</a:t>
            </a: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把事情写清楚了。</a:t>
            </a:r>
          </a:p>
        </p:txBody>
      </p:sp>
      <p:sp>
        <p:nvSpPr>
          <p:cNvPr id="17" name="Text 13"/>
          <p:cNvSpPr/>
          <p:nvPr/>
        </p:nvSpPr>
        <p:spPr>
          <a:xfrm>
            <a:off x="5807075" y="9211310"/>
            <a:ext cx="10888345" cy="7219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从早记到晚、没写清楚？不要紧——那正是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接下来要修改的方向</a:t>
            </a:r>
            <a:r>
              <a:rPr lang="en-US" sz="27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</p:txBody>
      </p:sp>
      <p:sp>
        <p:nvSpPr>
          <p:cNvPr id="175" name="椭圆 174"/>
          <p:cNvSpPr/>
          <p:nvPr>
            <p:custDataLst>
              <p:tags r:id="rId1"/>
            </p:custDataLst>
          </p:nvPr>
        </p:nvSpPr>
        <p:spPr>
          <a:xfrm>
            <a:off x="5590540" y="5899150"/>
            <a:ext cx="476250" cy="4762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2"/>
            </p:custDataLst>
          </p:nvPr>
        </p:nvSpPr>
        <p:spPr>
          <a:xfrm>
            <a:off x="5587365" y="5965825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sp>
        <p:nvSpPr>
          <p:cNvPr id="173" name="椭圆 172"/>
          <p:cNvSpPr/>
          <p:nvPr>
            <p:custDataLst>
              <p:tags r:id="rId3"/>
            </p:custDataLst>
          </p:nvPr>
        </p:nvSpPr>
        <p:spPr>
          <a:xfrm>
            <a:off x="5590540" y="3200400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4"/>
            </p:custDataLst>
          </p:nvPr>
        </p:nvSpPr>
        <p:spPr>
          <a:xfrm>
            <a:off x="5590540" y="4554538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5"/>
            </p:custDataLst>
          </p:nvPr>
        </p:nvCxnSpPr>
        <p:spPr>
          <a:xfrm>
            <a:off x="5828665" y="373380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6"/>
            </p:custDataLst>
          </p:nvPr>
        </p:nvCxnSpPr>
        <p:spPr>
          <a:xfrm>
            <a:off x="5828665" y="508635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7"/>
            </p:custDataLst>
          </p:nvPr>
        </p:nvSpPr>
        <p:spPr>
          <a:xfrm>
            <a:off x="5590540" y="3276283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8"/>
            </p:custDataLst>
          </p:nvPr>
        </p:nvSpPr>
        <p:spPr>
          <a:xfrm>
            <a:off x="5587365" y="4632325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  <p:pic>
        <p:nvPicPr>
          <p:cNvPr id="18" name="图片 17" descr="写日记-分享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215" y="2401570"/>
            <a:ext cx="4860925" cy="7885430"/>
          </a:xfrm>
          <a:prstGeom prst="rect">
            <a:avLst/>
          </a:prstGeom>
        </p:spPr>
      </p:pic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9" grpId="0"/>
      <p:bldP spid="11" grpId="0"/>
      <p:bldP spid="13" grpId="0"/>
      <p:bldP spid="16" grpId="0"/>
      <p:bldP spid="17" grpId="0"/>
      <p:bldP spid="175" grpId="0" animBg="1"/>
      <p:bldP spid="180" grpId="0"/>
      <p:bldP spid="173" grpId="0" animBg="1"/>
      <p:bldP spid="174" grpId="0" animBg="1"/>
      <p:bldP spid="178" grpId="0"/>
      <p:bldP spid="17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91008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619250"/>
            <a:ext cx="815657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改一改 —— </a:t>
            </a:r>
            <a:r>
              <a:rPr lang="en-US" sz="3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先看三条</a:t>
            </a:r>
            <a:r>
              <a:rPr lang="zh-CN" altLang="en-US" sz="3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注意事项</a:t>
            </a:r>
            <a:r>
              <a:rPr lang="en-US" sz="3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，再动笔</a:t>
            </a:r>
          </a:p>
        </p:txBody>
      </p:sp>
      <p:sp>
        <p:nvSpPr>
          <p:cNvPr id="8" name="Text 5"/>
          <p:cNvSpPr/>
          <p:nvPr/>
        </p:nvSpPr>
        <p:spPr>
          <a:xfrm>
            <a:off x="1675765" y="2769870"/>
            <a:ext cx="79629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</a:t>
            </a: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下面这</a:t>
            </a: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三条，自己先读一遍</a:t>
            </a:r>
          </a:p>
        </p:txBody>
      </p:sp>
      <p:sp>
        <p:nvSpPr>
          <p:cNvPr id="9" name="Shape 6"/>
          <p:cNvSpPr/>
          <p:nvPr>
            <p:custDataLst>
              <p:tags r:id="rId1"/>
            </p:custDataLst>
          </p:nvPr>
        </p:nvSpPr>
        <p:spPr>
          <a:xfrm>
            <a:off x="1675765" y="3630930"/>
            <a:ext cx="11481435" cy="819785"/>
          </a:xfrm>
          <a:prstGeom prst="roundRect">
            <a:avLst>
              <a:gd name="adj" fmla="val 16270"/>
            </a:avLst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>
            <p:custDataLst>
              <p:tags r:id="rId2"/>
            </p:custDataLst>
          </p:nvPr>
        </p:nvSpPr>
        <p:spPr>
          <a:xfrm>
            <a:off x="1961515" y="3840480"/>
            <a:ext cx="688467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第一行的 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日期、星期、天气 </a:t>
            </a: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是否写齐</a:t>
            </a:r>
          </a:p>
        </p:txBody>
      </p:sp>
      <p:sp>
        <p:nvSpPr>
          <p:cNvPr id="11" name="Shape 8"/>
          <p:cNvSpPr/>
          <p:nvPr>
            <p:custDataLst>
              <p:tags r:id="rId3"/>
            </p:custDataLst>
          </p:nvPr>
        </p:nvSpPr>
        <p:spPr>
          <a:xfrm>
            <a:off x="1675765" y="4962525"/>
            <a:ext cx="11481435" cy="819785"/>
          </a:xfrm>
          <a:prstGeom prst="roundRect">
            <a:avLst>
              <a:gd name="adj" fmla="val 16270"/>
            </a:avLst>
          </a:prstGeom>
          <a:solidFill>
            <a:schemeClr val="accent2"/>
          </a:solidFill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1961515" y="5171886"/>
            <a:ext cx="688467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 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只写了一件事</a:t>
            </a: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，并按顺序写清楚</a:t>
            </a:r>
          </a:p>
        </p:txBody>
      </p:sp>
      <p:sp>
        <p:nvSpPr>
          <p:cNvPr id="13" name="Shape 10"/>
          <p:cNvSpPr/>
          <p:nvPr>
            <p:custDataLst>
              <p:tags r:id="rId5"/>
            </p:custDataLst>
          </p:nvPr>
        </p:nvSpPr>
        <p:spPr>
          <a:xfrm>
            <a:off x="1675765" y="6322695"/>
            <a:ext cx="11509375" cy="819785"/>
          </a:xfrm>
          <a:prstGeom prst="roundRect">
            <a:avLst>
              <a:gd name="adj" fmla="val 16270"/>
            </a:avLst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>
            <p:custDataLst>
              <p:tags r:id="rId6"/>
            </p:custDataLst>
          </p:nvPr>
        </p:nvSpPr>
        <p:spPr>
          <a:xfrm>
            <a:off x="1961515" y="6532245"/>
            <a:ext cx="10996295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心情是否写得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看得见、听得见，有没有写出动作、对话和心里的想法</a:t>
            </a:r>
          </a:p>
        </p:txBody>
      </p:sp>
      <p:sp>
        <p:nvSpPr>
          <p:cNvPr id="25" name="Text 22"/>
          <p:cNvSpPr/>
          <p:nvPr/>
        </p:nvSpPr>
        <p:spPr>
          <a:xfrm>
            <a:off x="1273810" y="8053705"/>
            <a:ext cx="11351260" cy="17138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把“我很开心”这样的空话换成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具体的动作、做法或心里话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再用修改符号修改——多余的删去、遗漏的补上、写错的改正。</a:t>
            </a:r>
          </a:p>
        </p:txBody>
      </p:sp>
      <p:sp>
        <p:nvSpPr>
          <p:cNvPr id="175" name="椭圆 174"/>
          <p:cNvSpPr/>
          <p:nvPr>
            <p:custDataLst>
              <p:tags r:id="rId7"/>
            </p:custDataLst>
          </p:nvPr>
        </p:nvSpPr>
        <p:spPr>
          <a:xfrm>
            <a:off x="1106170" y="6468110"/>
            <a:ext cx="476250" cy="4762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8"/>
            </p:custDataLst>
          </p:nvPr>
        </p:nvSpPr>
        <p:spPr>
          <a:xfrm>
            <a:off x="1102995" y="6534785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sp>
        <p:nvSpPr>
          <p:cNvPr id="173" name="椭圆 172"/>
          <p:cNvSpPr/>
          <p:nvPr>
            <p:custDataLst>
              <p:tags r:id="rId9"/>
            </p:custDataLst>
          </p:nvPr>
        </p:nvSpPr>
        <p:spPr>
          <a:xfrm>
            <a:off x="1106170" y="3769360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10"/>
            </p:custDataLst>
          </p:nvPr>
        </p:nvSpPr>
        <p:spPr>
          <a:xfrm>
            <a:off x="1106170" y="5123498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11"/>
            </p:custDataLst>
          </p:nvPr>
        </p:nvCxnSpPr>
        <p:spPr>
          <a:xfrm>
            <a:off x="1344295" y="430276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12"/>
            </p:custDataLst>
          </p:nvPr>
        </p:nvCxnSpPr>
        <p:spPr>
          <a:xfrm>
            <a:off x="1344295" y="565531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13"/>
            </p:custDataLst>
          </p:nvPr>
        </p:nvSpPr>
        <p:spPr>
          <a:xfrm>
            <a:off x="1106170" y="3845243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14"/>
            </p:custDataLst>
          </p:nvPr>
        </p:nvSpPr>
        <p:spPr>
          <a:xfrm>
            <a:off x="1102995" y="5201285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  <p:pic>
        <p:nvPicPr>
          <p:cNvPr id="15" name="图片 14" descr="写日记-分享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30535" y="3016250"/>
            <a:ext cx="7657465" cy="6436360"/>
          </a:xfrm>
          <a:prstGeom prst="rect">
            <a:avLst/>
          </a:prstGeom>
        </p:spPr>
      </p:pic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25" grpId="0"/>
      <p:bldP spid="175" grpId="0" animBg="1"/>
      <p:bldP spid="180" grpId="0"/>
      <p:bldP spid="173" grpId="0" animBg="1"/>
      <p:bldP spid="174" grpId="0" animBg="1"/>
      <p:bldP spid="178" grpId="0"/>
      <p:bldP spid="17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/>
          <p:nvPr/>
        </p:nvSpPr>
        <p:spPr>
          <a:xfrm>
            <a:off x="1047750" y="1428750"/>
            <a:ext cx="13319999" cy="828040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>
            <a:endParaRPr/>
          </a:p>
        </p:txBody>
      </p:sp>
      <p:sp>
        <p:nvSpPr>
          <p:cNvPr id="19" name="Shape 5"/>
          <p:cNvSpPr/>
          <p:nvPr/>
        </p:nvSpPr>
        <p:spPr>
          <a:xfrm>
            <a:off x="635" y="2607310"/>
            <a:ext cx="18288000" cy="4445635"/>
          </a:xfrm>
          <a:prstGeom prst="roundRect">
            <a:avLst>
              <a:gd name="adj" fmla="val 0"/>
            </a:avLst>
          </a:prstGeom>
          <a:solidFill>
            <a:srgbClr val="DCE6F5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2541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收束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6225"/>
            <a:ext cx="672211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你日记本上的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第一篇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，完成了</a:t>
            </a:r>
          </a:p>
        </p:txBody>
      </p:sp>
      <p:sp>
        <p:nvSpPr>
          <p:cNvPr id="9" name="Text 6"/>
          <p:cNvSpPr/>
          <p:nvPr>
            <p:custDataLst>
              <p:tags r:id="rId1"/>
            </p:custDataLst>
          </p:nvPr>
        </p:nvSpPr>
        <p:spPr>
          <a:xfrm>
            <a:off x="8129905" y="3325495"/>
            <a:ext cx="10042525" cy="7016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这页稿纸先收好——日记本准备好后，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贴进去，或誊抄在第一页</a:t>
            </a:r>
            <a:endParaRPr lang="en-US" sz="2600" dirty="0"/>
          </a:p>
        </p:txBody>
      </p:sp>
      <p:sp>
        <p:nvSpPr>
          <p:cNvPr id="11" name="Text 8"/>
          <p:cNvSpPr/>
          <p:nvPr>
            <p:custDataLst>
              <p:tags r:id="rId2"/>
            </p:custDataLst>
          </p:nvPr>
        </p:nvSpPr>
        <p:spPr>
          <a:xfrm>
            <a:off x="8173720" y="4617720"/>
            <a:ext cx="9996805" cy="7092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以后每周接着写几篇，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想写哪件就写哪件 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——本子会越写越厚</a:t>
            </a:r>
            <a:endParaRPr lang="en-US" sz="2600" dirty="0"/>
          </a:p>
        </p:txBody>
      </p:sp>
      <p:sp>
        <p:nvSpPr>
          <p:cNvPr id="13" name="Text 10"/>
          <p:cNvSpPr/>
          <p:nvPr>
            <p:custDataLst>
              <p:tags r:id="rId3"/>
            </p:custDataLst>
          </p:nvPr>
        </p:nvSpPr>
        <p:spPr>
          <a:xfrm>
            <a:off x="8173720" y="5982970"/>
            <a:ext cx="6705927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用文字，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留住今天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最值得记的那一件事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155305" y="7266940"/>
            <a:ext cx="4170680" cy="6115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写日记，就是三步</a:t>
            </a:r>
          </a:p>
        </p:txBody>
      </p:sp>
      <p:pic>
        <p:nvPicPr>
          <p:cNvPr id="16" name="图片 15" descr="写日记-分享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0015" y="3082290"/>
            <a:ext cx="7348855" cy="6806565"/>
          </a:xfrm>
          <a:prstGeom prst="rect">
            <a:avLst/>
          </a:prstGeom>
        </p:spPr>
      </p:pic>
      <p:sp>
        <p:nvSpPr>
          <p:cNvPr id="175" name="椭圆 174"/>
          <p:cNvSpPr/>
          <p:nvPr>
            <p:custDataLst>
              <p:tags r:id="rId4"/>
            </p:custDataLst>
          </p:nvPr>
        </p:nvSpPr>
        <p:spPr>
          <a:xfrm>
            <a:off x="7566660" y="6009640"/>
            <a:ext cx="476250" cy="4762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80" name="文本框 179"/>
          <p:cNvSpPr txBox="1"/>
          <p:nvPr>
            <p:custDataLst>
              <p:tags r:id="rId5"/>
            </p:custDataLst>
          </p:nvPr>
        </p:nvSpPr>
        <p:spPr>
          <a:xfrm>
            <a:off x="7563485" y="6076315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</a:p>
        </p:txBody>
      </p:sp>
      <p:sp>
        <p:nvSpPr>
          <p:cNvPr id="173" name="椭圆 172"/>
          <p:cNvSpPr/>
          <p:nvPr>
            <p:custDataLst>
              <p:tags r:id="rId6"/>
            </p:custDataLst>
          </p:nvPr>
        </p:nvSpPr>
        <p:spPr>
          <a:xfrm>
            <a:off x="7566660" y="3310890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7"/>
            </p:custDataLst>
          </p:nvPr>
        </p:nvSpPr>
        <p:spPr>
          <a:xfrm>
            <a:off x="7566660" y="4665028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8"/>
            </p:custDataLst>
          </p:nvPr>
        </p:nvCxnSpPr>
        <p:spPr>
          <a:xfrm>
            <a:off x="7804785" y="384429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9"/>
            </p:custDataLst>
          </p:nvPr>
        </p:nvCxnSpPr>
        <p:spPr>
          <a:xfrm>
            <a:off x="7804785" y="5196840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8" name="文本框 177"/>
          <p:cNvSpPr txBox="1"/>
          <p:nvPr>
            <p:custDataLst>
              <p:tags r:id="rId10"/>
            </p:custDataLst>
          </p:nvPr>
        </p:nvSpPr>
        <p:spPr>
          <a:xfrm>
            <a:off x="7566660" y="3386773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</a:p>
        </p:txBody>
      </p:sp>
      <p:sp>
        <p:nvSpPr>
          <p:cNvPr id="179" name="文本框 178"/>
          <p:cNvSpPr txBox="1"/>
          <p:nvPr>
            <p:custDataLst>
              <p:tags r:id="rId11"/>
            </p:custDataLst>
          </p:nvPr>
        </p:nvSpPr>
        <p:spPr>
          <a:xfrm>
            <a:off x="7563485" y="4742815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</a:p>
        </p:txBody>
      </p:sp>
      <p:sp>
        <p:nvSpPr>
          <p:cNvPr id="17" name="圆角矩形标注 16"/>
          <p:cNvSpPr/>
          <p:nvPr/>
        </p:nvSpPr>
        <p:spPr>
          <a:xfrm>
            <a:off x="8155305" y="7910195"/>
            <a:ext cx="1679575" cy="996950"/>
          </a:xfrm>
          <a:prstGeom prst="wedgeRoundRectCallou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281670" y="8140700"/>
            <a:ext cx="1575435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挑一件</a:t>
            </a:r>
            <a:endParaRPr lang="en-US" altLang="en-US" sz="3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0" name="圆角矩形标注 19"/>
          <p:cNvSpPr/>
          <p:nvPr/>
        </p:nvSpPr>
        <p:spPr>
          <a:xfrm>
            <a:off x="10267315" y="7910195"/>
            <a:ext cx="1679575" cy="996950"/>
          </a:xfrm>
          <a:prstGeom prst="wedgeRoundRectCallou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0393680" y="8140700"/>
            <a:ext cx="1575435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写清楚</a:t>
            </a:r>
            <a:endParaRPr lang="en-US" altLang="en-US" sz="3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3" name="圆角矩形标注 22"/>
          <p:cNvSpPr/>
          <p:nvPr/>
        </p:nvSpPr>
        <p:spPr>
          <a:xfrm>
            <a:off x="12379325" y="7910195"/>
            <a:ext cx="3287395" cy="996950"/>
          </a:xfrm>
          <a:prstGeom prst="wedgeRoundRectCallou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2505690" y="8140700"/>
            <a:ext cx="31661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写</a:t>
            </a:r>
            <a:r>
              <a:rPr lang="zh-CN" alt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下当时的</a:t>
            </a: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心情</a:t>
            </a:r>
            <a:endParaRPr lang="en-US" altLang="en-US" sz="3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8155305" y="9258935"/>
            <a:ext cx="3677920" cy="508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坚持常写常练。</a:t>
            </a:r>
          </a:p>
        </p:txBody>
      </p:sp>
      <p:pic>
        <p:nvPicPr>
          <p:cNvPr id="6" name="图片 5" descr="我的家人-27-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13169900" y="549275"/>
            <a:ext cx="1579122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5" grpId="0"/>
      <p:bldP spid="175" grpId="0" bldLvl="0" animBg="1"/>
      <p:bldP spid="180" grpId="0"/>
      <p:bldP spid="173" grpId="0" bldLvl="0" animBg="1"/>
      <p:bldP spid="174" grpId="0" bldLvl="0" animBg="1"/>
      <p:bldP spid="178" grpId="0"/>
      <p:bldP spid="179" grpId="0"/>
      <p:bldP spid="17" grpId="0" bldLvl="0" animBg="1"/>
      <p:bldP spid="18" grpId="0"/>
      <p:bldP spid="20" grpId="0" bldLvl="0" animBg="1"/>
      <p:bldP spid="21" grpId="0"/>
      <p:bldP spid="23" grpId="0" bldLvl="0" animBg="1"/>
      <p:bldP spid="24" grpId="0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35" y="-1905"/>
            <a:ext cx="18289905" cy="1028890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057400" y="3674110"/>
            <a:ext cx="8232775" cy="19926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</a:p>
        </p:txBody>
      </p:sp>
      <p:sp>
        <p:nvSpPr>
          <p:cNvPr id="6" name="Text 4"/>
          <p:cNvSpPr/>
          <p:nvPr/>
        </p:nvSpPr>
        <p:spPr>
          <a:xfrm>
            <a:off x="2057400" y="5676900"/>
            <a:ext cx="11610052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挑一件、写清楚、写出心情——今天，你写下了日记本的第一篇。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4157325" y="8804910"/>
            <a:ext cx="2700655" cy="6807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20725" y="8625840"/>
            <a:ext cx="2266315" cy="97409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05" y="8773795"/>
            <a:ext cx="1808480" cy="681355"/>
          </a:xfrm>
          <a:prstGeom prst="rect">
            <a:avLst/>
          </a:prstGeom>
        </p:spPr>
      </p:pic>
      <p:sp>
        <p:nvSpPr>
          <p:cNvPr id="19" name="Freeform 2"/>
          <p:cNvSpPr/>
          <p:nvPr/>
        </p:nvSpPr>
        <p:spPr>
          <a:xfrm>
            <a:off x="16277590" y="8688070"/>
            <a:ext cx="549275" cy="71564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NkMGVmZTg3ZDFjNzBmZGRjYjliYWY5MzNlMTc1Z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0.65,&quot;left&quot;:64.35,&quot;top&quot;:100.95000000000002,&quot;width&quot;:894.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0.65,&quot;left&quot;:64.35,&quot;top&quot;:100.95000000000002,&quot;width&quot;:894.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0.65,&quot;left&quot;:64.35,&quot;top&quot;:100.95000000000002,&quot;width&quot;:894.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510.65,&quot;left&quot;:64.35,&quot;top&quot;:100.95000000000002,&quot;width&quot;:894.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510.65,&quot;left&quot;:64.35,&quot;top&quot;:100.95000000000002,&quot;width&quot;:894.7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510.65,&quot;left&quot;:64.35,&quot;top&quot;:100.95000000000002,&quot;width&quot;:894.7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510.65,&quot;left&quot;:64.35,&quot;top&quot;:100.95000000000002,&quot;width&quot;:894.7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510.65,&quot;left&quot;:64.35,&quot;top&quot;:100.95000000000002,&quot;width&quot;:894.7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510.65,&quot;left&quot;:64.35,&quot;top&quot;:100.95000000000002,&quot;width&quot;:894.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510.65,&quot;left&quot;:64.35,&quot;top&quot;:100.95000000000002,&quot;width&quot;:894.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510.65,&quot;left&quot;:64.35,&quot;top&quot;:100.95000000000002,&quot;width&quot;:894.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883.8,&quot;top&quot;:240,&quot;width&quot;:48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883.8,&quot;top&quot;:240,&quot;width&quot;:48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883.8,&quot;top&quot;:240,&quot;width&quot;:48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883.8,&quot;top&quot;:240,&quot;width&quot;:48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883.8,&quot;top&quot;:240,&quot;width&quot;:48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883.8,&quot;top&quot;:240,&quot;width&quot;:48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883.8,&quot;top&quot;:240,&quot;width&quot;:48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883.8,&quot;top&quot;:240,&quot;width&quot;:48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15,&quot;left&quot;:477,&quot;top&quot;:304.5,&quot;width&quot;:898.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15,&quot;left&quot;:477,&quot;top&quot;:304.5,&quot;width&quot;:898.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15,&quot;left&quot;:477,&quot;top&quot;:304.5,&quot;width&quot;:898.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15,&quot;left&quot;:477,&quot;top&quot;:304.5,&quot;width&quot;:898.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15,&quot;left&quot;:477,&quot;top&quot;:304.5,&quot;width&quot;:898.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15,&quot;left&quot;:477,&quot;top&quot;:304.5,&quot;width&quot;:898.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15,&quot;left&quot;:477,&quot;top&quot;:304.5,&quot;width&quot;:898.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15,&quot;left&quot;:477,&quot;top&quot;:304.5,&quot;width&quot;:898.2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8.15,&quot;left&quot;:477,&quot;top&quot;:304.5,&quot;width&quot;:898.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7.8,&quot;left&quot;:82.5,&quot;top&quot;:19.9,&quot;width&quot;:1249.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7.8,&quot;left&quot;:82.5,&quot;top&quot;:19.9,&quot;width&quot;:1249.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7.8,&quot;left&quot;:82.5,&quot;top&quot;:19.9,&quot;width&quot;:1249.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7.8,&quot;left&quot;:82.5,&quot;top&quot;:19.9,&quot;width&quot;:1249.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7.8,&quot;left&quot;:82.5,&quot;top&quot;:19.9,&quot;width&quot;:1249.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7.8,&quot;left&quot;:82.5,&quot;top&quot;:19.9,&quot;width&quot;:1249.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95,&quot;left&quot;:82.5,&quot;top&quot;:225,&quot;width&quot;:127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3.2,&quot;left&quot;:82.5,&quot;top&quot;:175.35,&quot;width&quot;:1322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3.2,&quot;left&quot;:82.5,&quot;top&quot;:175.35,&quot;width&quot;:1322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3.2,&quot;left&quot;:82.5,&quot;top&quot;:175.35,&quot;width&quot;:1322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3.2,&quot;left&quot;:82.5,&quot;top&quot;:175.35,&quot;width&quot;:1322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3.2,&quot;left&quot;:82.5,&quot;top&quot;:175.35,&quot;width&quot;:1322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3.2,&quot;left&quot;:82.5,&quot;top&quot;:175.35,&quot;width&quot;:1322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3.2,&quot;left&quot;:82.5,&quot;top&quot;:175.35,&quot;width&quot;:1322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3.2,&quot;left&quot;:82.5,&quot;top&quot;:175.35,&quot;width&quot;:1322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3.2,&quot;left&quot;:82.5,&quot;top&quot;:175.35,&quot;width&quot;:1322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883.8,&quot;top&quot;:240,&quot;width&quot;:489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,&quot;left&quot;:883.8,&quot;top&quot;:240,&quot;width&quot;:489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23.55,&quot;left&quot;:82.5,&quot;top&quot;:-68.75,&quot;width&quot;:1322.0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23.55,&quot;left&quot;:82.5,&quot;top&quot;:-68.75,&quot;width&quot;:1322.0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23.55,&quot;left&quot;:82.5,&quot;top&quot;:-68.75,&quot;width&quot;:1322.0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23.55,&quot;left&quot;:82.5,&quot;top&quot;:-68.75,&quot;width&quot;:1322.0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23.55,&quot;left&quot;:82.5,&quot;top&quot;:-68.75,&quot;width&quot;:1322.0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23.55,&quot;left&quot;:82.5,&quot;top&quot;:-68.75,&quot;width&quot;:1322.0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23.55,&quot;left&quot;:82.5,&quot;top&quot;:-68.75,&quot;width&quot;:1322.0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23.55,&quot;left&quot;:82.5,&quot;top&quot;:-68.75,&quot;width&quot;:1322.0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23.55,&quot;left&quot;:82.5,&quot;top&quot;:-68.75,&quot;width&quot;:1322.0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7.8,&quot;left&quot;:82.5,&quot;top&quot;:19.9,&quot;width&quot;:1249.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7.8,&quot;left&quot;:82.5,&quot;top&quot;:19.9,&quot;width&quot;:1249.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7.8,&quot;left&quot;:82.5,&quot;top&quot;:19.9,&quot;width&quot;:1249.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7.8,&quot;left&quot;:82.5,&quot;top&quot;:19.9,&quot;width&quot;:1249.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7.8,&quot;left&quot;:82.5,&quot;top&quot;:19.9,&quot;width&quot;:1249.5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7.8,&quot;left&quot;:82.5,&quot;top&quot;:19.9,&quot;width&quot;:1249.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4,&quot;left&quot;:64.35,&quot;top&quot;:100.95000000000002,&quot;width&quot;:841.7125196850393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4,&quot;left&quot;:64.35,&quot;top&quot;:100.95000000000002,&quot;width&quot;:841.7125196850393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7.4,&quot;left&quot;:64.35,&quot;top&quot;:100.95000000000002,&quot;width&quot;:841.7125196850393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427.4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27.4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427.4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427.4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27.4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27.4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27.4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27.4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50007874015756,&quot;left&quot;:115.5,&quot;top&quot;:315.75,&quot;width&quot;:352.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,&quot;left&quot;:79.5,&quot;top&quot;:315,&quot;width&quot;:999.1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,&quot;left&quot;:79.5,&quot;top&quot;:315,&quot;width&quot;:999.1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,&quot;left&quot;:79.5,&quot;top&quot;:315,&quot;width&quot;:999.1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,&quot;left&quot;:79.5,&quot;top&quot;:315,&quot;width&quot;:999.1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,&quot;left&quot;:79.5,&quot;top&quot;:315,&quot;width&quot;:999.1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,&quot;left&quot;:79.5,&quot;top&quot;:315,&quot;width&quot;:999.1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,&quot;left&quot;:79.5,&quot;top&quot;:315,&quot;width&quot;:999.1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,&quot;left&quot;:79.5,&quot;top&quot;:315,&quot;width&quot;:999.1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,&quot;left&quot;:79.5,&quot;top&quot;:315,&quot;width&quot;:999.1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,&quot;left&quot;:79.5,&quot;top&quot;:315,&quot;width&quot;:999.1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,&quot;left&quot;:79.5,&quot;top&quot;:315,&quot;width&quot;:999.1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15,&quot;left&quot;:79.5,&quot;top&quot;:315,&quot;width&quot;:999.1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55,&quot;left&quot;:82.5,&quot;top&quot;:231.05,&quot;width&quot;:1275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054330708661,&quot;left&quot;:82.5,&quot;top&quot;:279,&quot;width&quot;:1064.85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054330708661,&quot;left&quot;:82.5,&quot;top&quot;:279,&quot;width&quot;:1064.85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054330708661,&quot;left&quot;:82.5,&quot;top&quot;:279,&quot;width&quot;:1064.85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054330708661,&quot;left&quot;:82.5,&quot;top&quot;:279,&quot;width&quot;:1064.85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054330708661,&quot;left&quot;:82.5,&quot;top&quot;:279,&quot;width&quot;:1064.85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054330708661,&quot;left&quot;:82.5,&quot;top&quot;:279,&quot;width&quot;:1064.85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7750393700788,&quot;left&quot;:64.35,&quot;top&quot;:100.95000000000002,&quot;width&quot;:1378.05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7750393700788,&quot;left&quot;:64.35,&quot;top&quot;:100.95000000000002,&quot;width&quot;:1378.05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7750393700788,&quot;left&quot;:64.35,&quot;top&quot;:100.95000000000002,&quot;width&quot;:1378.05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414.7750393700788,&quot;left&quot;:64.35,&quot;top&quot;:100.95000000000002,&quot;width&quot;:1378.0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14.7750393700788,&quot;left&quot;:64.35,&quot;top&quot;:100.95000000000002,&quot;width&quot;:1378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414.7750393700788,&quot;left&quot;:64.35,&quot;top&quot;:100.95000000000002,&quot;width&quot;:1378.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414.7750393700788,&quot;left&quot;:64.35,&quot;top&quot;:100.95000000000002,&quot;width&quot;:1378.0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14.7750393700788,&quot;left&quot;:64.35,&quot;top&quot;:100.95000000000002,&quot;width&quot;:1378.05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14.7750393700788,&quot;left&quot;:64.35,&quot;top&quot;:100.95000000000002,&quot;width&quot;:1378.05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14.7750393700788,&quot;left&quot;:64.35,&quot;top&quot;:100.95000000000002,&quot;width&quot;:1378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414.7750393700788,&quot;left&quot;:64.35,&quot;top&quot;:100.95000000000002,&quot;width&quot;:1378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2444</Words>
  <Application>Microsoft Office PowerPoint</Application>
  <PresentationFormat>自定义</PresentationFormat>
  <Paragraphs>310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Calibri</vt:lpstr>
      <vt:lpstr>楷体</vt:lpstr>
      <vt:lpstr>Wingdings</vt:lpstr>
      <vt:lpstr>思源黑体 CN Normal</vt:lpstr>
      <vt:lpstr>微软雅黑</vt:lpstr>
      <vt:lpstr>Arial</vt:lpstr>
      <vt:lpstr>Calibri Light</vt:lpstr>
      <vt:lpstr>宋体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Windows User</cp:lastModifiedBy>
  <cp:revision>72</cp:revision>
  <dcterms:created xsi:type="dcterms:W3CDTF">2026-08-04T12:16:00Z</dcterms:created>
  <dcterms:modified xsi:type="dcterms:W3CDTF">2026-09-02T03:25:55Z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B85F5A36315C4E4AB9001C0D7EE46725_13</vt:lpwstr>
  </property>
  <property fmtid="{D5CDD505-2E9C-101B-9397-08002B2CF9AE}" pid="3" name="KSOProductBuildVer">
    <vt:lpwstr>2052-12.1.0.26895</vt:lpwstr>
  </property>
</Properties>
</file>