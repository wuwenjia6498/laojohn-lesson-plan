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0" r:id="rId23"/>
    <p:sldId id="274" r:id="rId24"/>
    <p:sldId id="275" r:id="rId25"/>
    <p:sldId id="276" r:id="rId26"/>
    <p:sldId id="277" r:id="rId27"/>
    <p:sldId id="279" r:id="rId28"/>
  </p:sldIdLst>
  <p:sldSz cx="18288000" cy="10287000"/>
  <p:notesSz cx="10287000" cy="18288000"/>
  <p:embeddedFontLst>
    <p:embeddedFont>
      <p:font typeface="微软雅黑" panose="020B0503020204020204" pitchFamily="34" charset="-122"/>
      <p:regular r:id="rId32"/>
    </p:embeddedFont>
    <p:embeddedFont>
      <p:font typeface="微软雅黑" panose="020B0503020204020204" pitchFamily="34" charset="-120"/>
      <p:regular r:id="rId33"/>
    </p:embeddedFont>
    <p:embeddedFont>
      <p:font typeface="Calibri" panose="020F0502020204030204"/>
      <p:regular r:id="rId34"/>
      <p:bold r:id="rId35"/>
      <p:italic r:id="rId36"/>
      <p:boldItalic r:id="rId37"/>
    </p:embeddedFont>
    <p:embeddedFont>
      <p:font typeface="楷体" panose="02010609060101010101" charset="-122"/>
      <p:regular r:id="rId38"/>
    </p:embeddedFont>
    <p:embeddedFont>
      <p:font typeface="等线" panose="02010600030101010101" charset="-122"/>
      <p:regular r:id="rId39"/>
    </p:embeddedFont>
  </p:embeddedFontLst>
  <p:custDataLst>
    <p:tags r:id="rId40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4A63"/>
    <a:srgbClr val="F7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8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tags" Target="tags/tag104.xml"/><Relationship Id="rId4" Type="http://schemas.openxmlformats.org/officeDocument/2006/relationships/slide" Target="slides/slide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前教具：三杯黄豆（六天前、三天前、前一晚各浸泡一杯），杯身贴上“第一天／第三天／第六天”标签，课前记录各杯的浸泡日期与星期。若豆子发酸变质，改用三张对比照片投屏。本课为四年级上册第三单元《写观察日记》，两课时连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第1课时·写作指导课。教学线索：三杯黄豆导入→分组围盘观察→学习“一天一则，只写变化之处”的写法→填写观察记录表→阅读教师示范文（养蚕日记）及旁批。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三杯黄豆并排放在讲台上，杯身贴有“第一天／第三天／第六天”标签，前两杯揭去湿布，第三杯带水。投屏出示三杯各自的浸泡日期与星期（按课前记录的实际情况说明）。说明条件：同一袋豆子、同样的杯子、同样的方法（浸泡一夜→沥干→湿布避光→早晚各冲水一次），唯一的不同是浸泡时间。追问：仅凭肉眼，能否清楚说出这几天的细微变化？（预设回答：看得出变化／豆子长大了／最后一杯发芽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核心任务：对照第一天、第三天、第六天的豆子，每天写一则，完成一组三则观察日记。说明反馈方式：写完后小组内轮流朗读，其他同学对照实物豆子，找出所描写的位置。能找到，说明写得准确具体；找不到，说明写得笼统，只说了“豆子变大了”，没有写清具体哪里变了、变成了什么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组发一个浅盘，放入第一天、第三天、第六天的豆子各一两颗并标明天数，盘底垫湿纸巾。要求：先不说“变大了、真神奇”这类概括性的话，只说眼睛看到的、手摸到的、鼻子闻到的真实细节。四人小组轮流分享，尽量不重复他人说过的内容。教师巡视倾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组推选一个“最细微、最不容易发现”的细节向全班分享（随机抽取三四组）。教师复述强化，如“豆皮上有淡淡的白印”“小芽的顶端是弯的”。小结：豆皮、纹路、裂缝、嫩芽、颜色、软硬，这些亲身观察到的细节，使日记有内容、不空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两段同写第三天豆子的文字，请学生判断哪一段是合格的观察日记。第一段颜色、形状、触感、光影面面俱到，篇幅比第二段更长，但写的全是豆子本来的样子；第二段只写了与前天相比皮松了、裂开一条缝。追问：第一段的问题在哪里？（预设回答：没有说哪里不一样了／没有和之前对比）明确判断标准在于“有没有写出新变化”，而不在于“写得细不细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点明核心写法：一天一则，每一则都要写出与上一次相比新出现的变化。只写固有的样子，三则日记放在一起完全看不出生长过程，这是写观察日记最常见的问题。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练习：从本组盘中取出第一天、第三天的豆子并排对比（教师同步投屏对比照片，统一观察对象）。先看豆皮：第一天紧贴在豆子上，第三天变松、发皱；再比大小、颜色：略微变大、黄里带白、有一条缝。找出变化还要写出变化，教师当场把这一处写成一句话（见屏），点明“原来……现在……”等常用句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重点掌握三个写作要点：①每则开头直接点明当天新出现的变化，不写“我又来看豆子了”这类空话；②用对比句式写清之前的样子和现在的状态；③结尾写一句当时真实的想法感受，如迫不及待、舍不得碰、有些失望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按照三个要点，当场完整写一则第三天的观察日记（见屏，标色：红＝点明变化与对比，蓝＝听到、闻到的，绿＝打比方，紫＝内心感受）。随后学生练笔：写刚才在盘中看到的任意一处，用“原来……现在……”写一句话，再加一句真实感受，两句即可。抽取两三位学生朗读，反馈聚焦这两句：对比的是豆皮、颜色还是芽？对比是否清楚？感受是否真实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则日记要写三处不同的变化，仅凭记忆容易混淆，先用观察记录表梳理。发放表格，投屏同款空白表。第二栏按投屏的三行抄写（日期、星期、天气均在投屏上）。教师投屏逐格示范填写（见屏），边填边说明：每格最多两三个词，不写完整句子，但每个词在写作时都能扩展成一两句话。最重要的是第四栏，三天的变化必须各不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表约3分钟，教师巡视。应对策略：三行填同一处变化的，不直接否定，指着盘子提问“大小以外，豆皮呢？颜色呢？水呢？”，引导其自行替换一行；家里正养着其他事物（如小猫、蒜苗）的，允许改写自己熟悉的对象，同样三则、三处不同，表格照填。填完后轻声按表格说一遍：第一天看到什么、第三天哪里不一样、第六天又有什么变化，说得不顺的地方就是还没有想清楚的地方。抽取两位学生分享三处变化，确认不重复、有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示教师示范文：教师此前养蚕时写的观察日记（拟写供讲授使用；教师如有自己真实的观察记录，替换为自己的更佳）。带着问题听读：三则日记，每一则开头分别写了什么新变化？标色与旁批表同色呼应：红＝点明变化与对比句式，蓝＝听到的声音，绿＝打比方与具体形态，紫＝真实感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梳理结构：三则日记开头都有日期、星期、天气；第二则开头写颜色变浅，第三则写啃食桑叶的声音和形态变化，每一则都写一处新变化，不重复之前的内容。第一天没有对比对象，就把初始的样子写清楚，作为后续观察的基础。再找出哪些句子把变化写得特别具体，逐行带读旁批表。颜色与示范文标色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课间休息后进入第2课时。把观察记录表放在手边，先跟随老师写第一天的日记，再自由完成三则，最后组内轮读、对照实物指认、修改收束。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放稿纸，投屏保留三则日记对应的日期、星期、天气。第一行照投屏抄写；开头空两格，第一句交代背景（参考：“今天，盘子里泡进一把黄豆。”也可以用自己的话来写）。第一天没有对比，重点写刚浸泡时的样子，写清楚了后两则才有参照。按提示逐步写：①什么颜色、什么形状？②凑近看豆皮有没有纹路、印记，黄色深浅有没有区别？③摸一摸、闻一闻，有感受就写，没有则不必勉强；④最后一句写心里的想法（参考记录表最后一栏）。写完通读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完成第二、三则，写完一则再写下一则，尽量保持连贯，不频繁停笔，约17—18分钟。巡视分类提示：写完第一则停滞的，看记录表第二行，围绕该点动笔；通篇只写“豆子长大了我很开心”的，看盘中豆子，到底哪里变了？豆皮撑开还是冒芽？补充进去；写得顺畅的，轻声示意继续；每则只写两三行草草收尾的，先肯定其发现，再请其补一句裂缝有多长、露出来的是什么颜色。临近结束时提示：先停笔，写到哪里算哪里，修改环节还可补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着完成第二、三则，写完一则再写下一则，尽量保持连贯，不频繁停笔，约17—18分钟。巡视分类提示：写完第一则停滞的，看记录表第二行，围绕该点动笔；通篇只写“豆子长大了我很开心”的，看盘中豆子，到底哪里变了？豆皮撑开还是冒芽？补充进去；写得顺畅的，轻声示意继续；每则只写两三行草草收尾的，先肯定其发现，再请其补一句裂缝有多长、露出来的是什么颜色。临近结束时提示：先停笔，写到哪里算哪里，修改环节还可补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内轮读并对照实物（约6分钟）：四人一组，每人朗读一则最满意的日记，其余三人端好托盘，一边听一边找所写细节对应豆子上的哪一处，找到后指出来。找不到时不说“写得不对”，而是友好提醒：“你描写的这一处我没有找到，可以再补充几句细节。”教师深入几个小组旁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桌互读并做标记（约3分钟）：与同桌交换习作，在对方每一则中找出点明“当天变化”的句子，在旁边标一个箭头，三则日记应能找到三处。拿回自己的习作检查：三个箭头是否齐全？缺少箭头的那一则没有写出新变化，是接下来修改的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三级标准自查，再重点修改三处：①补上缺失的日期、星期、天气；②两则写了同一处变化的，重新寻找新细节扩充或改写；③删去“豆子变大了、真神奇”这类空话，换成亲眼观察到的样子。改完通读一遍，修正错别字、补充遗漏。不会写的字请教同桌或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回扣：三杯黄豆培育了六天没有留下一个字，今天大家写下的三则日记，就是属于自己的观察记录。同学们能根据文字找到豆子上的细节，靠的不是“豆子长大了”，而是写清了豆皮怎样变松、缝里冒出什么、嫩芽长成什么样。豆子老师会继续培育，明天是第七天，有兴趣的同学可以续写；家里养植物、养小动物的，也可以用同样的方法记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结束语：记一盆花、记一只小狗的成长、记这几天的天气，看一次，记一次，记的是它与上次的不同。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notesSlide" Target="../notesSlides/notesSlide3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image" Target="../media/image6.png"/><Relationship Id="rId21" Type="http://schemas.openxmlformats.org/officeDocument/2006/relationships/tags" Target="../tags/tag18.xml"/><Relationship Id="rId20" Type="http://schemas.openxmlformats.org/officeDocument/2006/relationships/image" Target="../media/image5.png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image" Target="../media/image4.png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image" Target="../media/image7.png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1.png"/><Relationship Id="rId14" Type="http://schemas.openxmlformats.org/officeDocument/2006/relationships/image" Target="../media/image10.svg"/><Relationship Id="rId13" Type="http://schemas.openxmlformats.org/officeDocument/2006/relationships/image" Target="../media/image9.png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tags" Target="../tags/tag41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4.png"/><Relationship Id="rId14" Type="http://schemas.openxmlformats.org/officeDocument/2006/relationships/image" Target="../media/image10.svg"/><Relationship Id="rId13" Type="http://schemas.openxmlformats.org/officeDocument/2006/relationships/image" Target="../media/image9.png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tags" Target="../tags/tag58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7.png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8.png"/><Relationship Id="rId10" Type="http://schemas.openxmlformats.org/officeDocument/2006/relationships/tags" Target="../tags/tag76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3.png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52400" y="-244475"/>
            <a:ext cx="20288885" cy="8912225"/>
            <a:chOff x="-240" y="-385"/>
            <a:chExt cx="31951" cy="14035"/>
          </a:xfrm>
        </p:grpSpPr>
        <p:sp>
          <p:nvSpPr>
            <p:cNvPr id="14" name="Shape 1"/>
            <p:cNvSpPr/>
            <p:nvPr/>
          </p:nvSpPr>
          <p:spPr>
            <a:xfrm>
              <a:off x="728" y="2595"/>
              <a:ext cx="27293" cy="8400"/>
            </a:xfrm>
            <a:prstGeom prst="roundRect">
              <a:avLst>
                <a:gd name="adj" fmla="val 2667"/>
              </a:avLst>
            </a:prstGeom>
            <a:gradFill rotWithShape="1">
              <a:gsLst>
                <a:gs pos="0">
                  <a:srgbClr val="EE7B2E">
                    <a:alpha val="100000"/>
                  </a:srgbClr>
                </a:gs>
                <a:gs pos="42000">
                  <a:srgbClr val="F0A63C">
                    <a:alpha val="100000"/>
                  </a:srgbClr>
                </a:gs>
                <a:gs pos="100000">
                  <a:srgbClr val="57B0A6">
                    <a:alpha val="100000"/>
                  </a:srgbClr>
                </a:gs>
              </a:gsLst>
              <a:lin ang="900000" scaled="0"/>
            </a:gradFill>
          </p:spPr>
          <p:txBody>
            <a:bodyPr/>
            <a:lstStyle/>
            <a:p/>
          </p:txBody>
        </p:sp>
        <p:sp>
          <p:nvSpPr>
            <p:cNvPr id="15" name="Shape 3"/>
            <p:cNvSpPr/>
            <p:nvPr/>
          </p:nvSpPr>
          <p:spPr>
            <a:xfrm>
              <a:off x="23495" y="-385"/>
              <a:ext cx="8216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Shape 2"/>
            <p:cNvSpPr/>
            <p:nvPr/>
          </p:nvSpPr>
          <p:spPr>
            <a:xfrm>
              <a:off x="4650" y="2250"/>
              <a:ext cx="5400" cy="5400"/>
            </a:xfrm>
            <a:prstGeom prst="ellipse">
              <a:avLst/>
            </a:prstGeom>
            <a:solidFill>
              <a:srgbClr val="FFFFFF">
                <a:alpha val="1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Shape 3"/>
            <p:cNvSpPr/>
            <p:nvPr/>
          </p:nvSpPr>
          <p:spPr>
            <a:xfrm>
              <a:off x="9150" y="7200"/>
              <a:ext cx="6450" cy="6450"/>
            </a:xfrm>
            <a:prstGeom prst="ellipse">
              <a:avLst/>
            </a:prstGeom>
            <a:solidFill>
              <a:srgbClr val="FFFFFF">
                <a:alpha val="8000"/>
              </a:srgbClr>
            </a:solidFill>
          </p:spPr>
          <p:txBody>
            <a:bodyPr/>
            <a:lstStyle/>
            <a:p/>
          </p:txBody>
        </p:sp>
        <p:pic>
          <p:nvPicPr>
            <p:cNvPr id="19" name="Picture 3" descr="logo-r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569" y="893"/>
              <a:ext cx="3355" cy="1415"/>
            </a:xfrm>
            <a:prstGeom prst="rect">
              <a:avLst/>
            </a:prstGeom>
          </p:spPr>
        </p:pic>
        <p:sp>
          <p:nvSpPr>
            <p:cNvPr id="18" name="Shape 1"/>
            <p:cNvSpPr/>
            <p:nvPr/>
          </p:nvSpPr>
          <p:spPr>
            <a:xfrm>
              <a:off x="-240" y="810"/>
              <a:ext cx="1560" cy="1110"/>
            </a:xfrm>
            <a:prstGeom prst="roundRect">
              <a:avLst>
                <a:gd name="adj" fmla="val 4054"/>
              </a:avLst>
            </a:prstGeom>
            <a:solidFill>
              <a:srgbClr val="3D4A63"/>
            </a:solidFill>
          </p:spPr>
          <p:txBody>
            <a:bodyPr/>
            <a:lstStyle/>
            <a:p/>
          </p:txBody>
        </p:sp>
      </p:grpSp>
      <p:sp>
        <p:nvSpPr>
          <p:cNvPr id="7" name="Text 4"/>
          <p:cNvSpPr/>
          <p:nvPr/>
        </p:nvSpPr>
        <p:spPr>
          <a:xfrm>
            <a:off x="3313430" y="2947670"/>
            <a:ext cx="7507605" cy="14433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写观察日记</a:t>
            </a:r>
            <a:endParaRPr lang="en-US" sz="8850" dirty="0"/>
          </a:p>
        </p:txBody>
      </p:sp>
      <p:sp>
        <p:nvSpPr>
          <p:cNvPr id="8" name="Text 5"/>
          <p:cNvSpPr/>
          <p:nvPr/>
        </p:nvSpPr>
        <p:spPr>
          <a:xfrm>
            <a:off x="3351530" y="4494530"/>
            <a:ext cx="9446895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第三单元 · 校内同步写作（观察日记）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 · 第三单元</a:t>
            </a:r>
            <a:endParaRPr lang="en-US" sz="2550" dirty="0"/>
          </a:p>
        </p:txBody>
      </p:sp>
      <p:pic>
        <p:nvPicPr>
          <p:cNvPr id="3" name="图片 2" descr="写观察日记-18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325" y="4115435"/>
            <a:ext cx="7694295" cy="6156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866734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观察体验 · 学习写法 · 观察记录表 · 教师示范文</a:t>
            </a:r>
            <a:endParaRPr lang="en-US" sz="2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0288905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513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3530"/>
            <a:ext cx="9022080" cy="8102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alt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讲台上的三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盘</a:t>
            </a: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黄豆：</a:t>
            </a:r>
            <a:r>
              <a:rPr lang="zh-CN" altLang="en-US" sz="3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只是培育时间不同</a:t>
            </a:r>
            <a:endParaRPr lang="zh-CN" altLang="en-US" sz="3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1139190" y="5596890"/>
            <a:ext cx="4680000" cy="1980000"/>
          </a:xfrm>
          <a:prstGeom prst="roundRect">
            <a:avLst>
              <a:gd name="adj" fmla="val 7860"/>
            </a:avLst>
          </a:prstGeom>
          <a:solidFill>
            <a:srgbClr val="F7F8FA"/>
          </a:solidFill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Shape 7"/>
          <p:cNvSpPr/>
          <p:nvPr>
            <p:custDataLst>
              <p:tags r:id="rId3"/>
            </p:custDataLst>
          </p:nvPr>
        </p:nvSpPr>
        <p:spPr>
          <a:xfrm>
            <a:off x="1139190" y="5606415"/>
            <a:ext cx="4680000" cy="576000"/>
          </a:xfrm>
          <a:custGeom>
            <a:avLst/>
            <a:gdLst/>
            <a:ahLst/>
            <a:cxnLst/>
            <a:rect l="l" t="t" r="r" b="b"/>
            <a:pathLst>
              <a:path w="5149751" h="742950">
                <a:moveTo>
                  <a:pt x="171450" y="0"/>
                </a:moveTo>
                <a:lnTo>
                  <a:pt x="4978301" y="0"/>
                </a:lnTo>
                <a:arcTo wR="171450" hR="171450" stAng="16200000" swAng="5400000"/>
                <a:lnTo>
                  <a:pt x="5149751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/>
        </p:txBody>
      </p:sp>
      <p:sp>
        <p:nvSpPr>
          <p:cNvPr id="13" name="Text 9"/>
          <p:cNvSpPr/>
          <p:nvPr>
            <p:custDataLst>
              <p:tags r:id="rId4"/>
            </p:custDataLst>
          </p:nvPr>
        </p:nvSpPr>
        <p:spPr>
          <a:xfrm>
            <a:off x="1621155" y="6590665"/>
            <a:ext cx="4694643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昨晚刚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浸泡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，现在仍 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浸在水中</a:t>
            </a:r>
            <a:endParaRPr lang="en-US" sz="225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——黄豆最初的样子</a:t>
            </a:r>
            <a:endParaRPr lang="en-US" sz="2250" dirty="0"/>
          </a:p>
        </p:txBody>
      </p:sp>
      <p:sp>
        <p:nvSpPr>
          <p:cNvPr id="14" name="Shape 10"/>
          <p:cNvSpPr/>
          <p:nvPr>
            <p:custDataLst>
              <p:tags r:id="rId5"/>
            </p:custDataLst>
          </p:nvPr>
        </p:nvSpPr>
        <p:spPr>
          <a:xfrm>
            <a:off x="6650891" y="5596890"/>
            <a:ext cx="4680000" cy="1980000"/>
          </a:xfrm>
          <a:prstGeom prst="roundRect">
            <a:avLst>
              <a:gd name="adj" fmla="val 7860"/>
            </a:avLst>
          </a:prstGeom>
          <a:solidFill>
            <a:srgbClr val="F7F8FA"/>
          </a:solidFill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Shape 11"/>
          <p:cNvSpPr/>
          <p:nvPr>
            <p:custDataLst>
              <p:tags r:id="rId6"/>
            </p:custDataLst>
          </p:nvPr>
        </p:nvSpPr>
        <p:spPr>
          <a:xfrm>
            <a:off x="6650891" y="5606415"/>
            <a:ext cx="4680000" cy="576000"/>
          </a:xfrm>
          <a:custGeom>
            <a:avLst/>
            <a:gdLst/>
            <a:ahLst/>
            <a:cxnLst/>
            <a:rect l="l" t="t" r="r" b="b"/>
            <a:pathLst>
              <a:path w="5149900" h="742950">
                <a:moveTo>
                  <a:pt x="171450" y="0"/>
                </a:moveTo>
                <a:lnTo>
                  <a:pt x="4978450" y="0"/>
                </a:lnTo>
                <a:arcTo wR="171450" hR="171450" stAng="16200000" swAng="5400000"/>
                <a:lnTo>
                  <a:pt x="514990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/>
        </p:txBody>
      </p:sp>
      <p:sp>
        <p:nvSpPr>
          <p:cNvPr id="18" name="Text 13"/>
          <p:cNvSpPr/>
          <p:nvPr>
            <p:custDataLst>
              <p:tags r:id="rId7"/>
            </p:custDataLst>
          </p:nvPr>
        </p:nvSpPr>
        <p:spPr>
          <a:xfrm>
            <a:off x="7218680" y="6590665"/>
            <a:ext cx="418084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三天前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浸泡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，用湿布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盖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着培育</a:t>
            </a:r>
            <a:endParaRPr lang="en-US" sz="225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 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已经有了明显变化</a:t>
            </a:r>
            <a:endParaRPr lang="en-US" sz="2250" dirty="0"/>
          </a:p>
        </p:txBody>
      </p:sp>
      <p:sp>
        <p:nvSpPr>
          <p:cNvPr id="19" name="Shape 14"/>
          <p:cNvSpPr/>
          <p:nvPr>
            <p:custDataLst>
              <p:tags r:id="rId8"/>
            </p:custDataLst>
          </p:nvPr>
        </p:nvSpPr>
        <p:spPr>
          <a:xfrm>
            <a:off x="12162740" y="5596890"/>
            <a:ext cx="4680000" cy="1980000"/>
          </a:xfrm>
          <a:prstGeom prst="roundRect">
            <a:avLst>
              <a:gd name="adj" fmla="val 7860"/>
            </a:avLst>
          </a:prstGeom>
          <a:solidFill>
            <a:srgbClr val="F7F8FA"/>
          </a:solidFill>
          <a:ln w="1905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20" name="Shape 15"/>
          <p:cNvSpPr/>
          <p:nvPr>
            <p:custDataLst>
              <p:tags r:id="rId9"/>
            </p:custDataLst>
          </p:nvPr>
        </p:nvSpPr>
        <p:spPr>
          <a:xfrm>
            <a:off x="12162740" y="5606415"/>
            <a:ext cx="4680000" cy="576000"/>
          </a:xfrm>
          <a:custGeom>
            <a:avLst/>
            <a:gdLst/>
            <a:ahLst/>
            <a:cxnLst/>
            <a:rect l="l" t="t" r="r" b="b"/>
            <a:pathLst>
              <a:path w="5149900" h="742950">
                <a:moveTo>
                  <a:pt x="171450" y="0"/>
                </a:moveTo>
                <a:lnTo>
                  <a:pt x="4978450" y="0"/>
                </a:lnTo>
                <a:arcTo wR="171450" hR="171450" stAng="16200000" swAng="5400000"/>
                <a:lnTo>
                  <a:pt x="5149900" y="742950"/>
                </a:lnTo>
                <a:lnTo>
                  <a:pt x="0" y="742950"/>
                </a:lnTo>
                <a:lnTo>
                  <a:pt x="0" y="171450"/>
                </a:lnTo>
                <a:arcTo wR="171450" hR="171450" stAng="10800000" swAng="5400000"/>
                <a:close/>
              </a:path>
            </a:pathLst>
          </a:custGeom>
          <a:solidFill>
            <a:schemeClr val="accent6"/>
          </a:solidFill>
        </p:spPr>
        <p:txBody>
          <a:bodyPr/>
          <a:lstStyle/>
          <a:p/>
        </p:txBody>
      </p:sp>
      <p:sp>
        <p:nvSpPr>
          <p:cNvPr id="23" name="Text 17"/>
          <p:cNvSpPr/>
          <p:nvPr>
            <p:custDataLst>
              <p:tags r:id="rId10"/>
            </p:custDataLst>
          </p:nvPr>
        </p:nvSpPr>
        <p:spPr>
          <a:xfrm>
            <a:off x="12319000" y="6590665"/>
            <a:ext cx="4452620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六天前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浸泡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同样用湿布盖着</a:t>
            </a: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培育</a:t>
            </a:r>
            <a:endParaRPr lang="en-US" sz="225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6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到今天—— </a:t>
            </a: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变化最大的一盘</a:t>
            </a:r>
            <a:endParaRPr lang="en-US" sz="2250" dirty="0"/>
          </a:p>
        </p:txBody>
      </p:sp>
      <p:sp>
        <p:nvSpPr>
          <p:cNvPr id="24" name="Shape 18"/>
          <p:cNvSpPr/>
          <p:nvPr/>
        </p:nvSpPr>
        <p:spPr>
          <a:xfrm>
            <a:off x="0" y="7757795"/>
            <a:ext cx="18287365" cy="255143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25" name="Text 19"/>
          <p:cNvSpPr/>
          <p:nvPr/>
        </p:nvSpPr>
        <p:spPr>
          <a:xfrm>
            <a:off x="1504950" y="7910195"/>
            <a:ext cx="11522075" cy="480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一袋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豆子、同样的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盘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子、同样的方法，唯一的不同是 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培育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的时间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325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1504950" y="8496935"/>
            <a:ext cx="15840075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老师培育了六天，没有做任何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，就等大家今天来观察、来记录。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仅凭肉眼，能说清这几天的细微变化吗？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4848860" y="9317355"/>
            <a:ext cx="859028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豆子长大了／第一盘最小，第六天的发芽了</a:t>
            </a:r>
            <a:endParaRPr lang="zh-CN" altLang="en-US" sz="28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5" name="TextBox 74"/>
          <p:cNvSpPr txBox="1"/>
          <p:nvPr>
            <p:custDataLst>
              <p:tags r:id="rId11"/>
            </p:custDataLst>
          </p:nvPr>
        </p:nvSpPr>
        <p:spPr>
          <a:xfrm>
            <a:off x="2040255" y="6214110"/>
            <a:ext cx="3370580" cy="332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月</a:t>
            </a: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日　星期</a:t>
            </a: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天气</a:t>
            </a:r>
            <a:r>
              <a:rPr lang="en-US" b="1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  <a:sym typeface="+mn-ea"/>
              </a:rPr>
              <a:t>     </a:t>
            </a:r>
            <a:endParaRPr lang="en-US" sz="1800" b="1" i="0" u="sng">
              <a:solidFill>
                <a:srgbClr val="F7F8FA"/>
              </a:solidFill>
              <a:latin typeface="Calibri" panose="020F0502020204030204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9" name="TextBox 74"/>
          <p:cNvSpPr txBox="1"/>
          <p:nvPr>
            <p:custDataLst>
              <p:tags r:id="rId12"/>
            </p:custDataLst>
          </p:nvPr>
        </p:nvSpPr>
        <p:spPr>
          <a:xfrm>
            <a:off x="7628890" y="6220460"/>
            <a:ext cx="3447415" cy="332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月</a:t>
            </a: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日　星期</a:t>
            </a: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天气</a:t>
            </a:r>
            <a:r>
              <a:rPr lang="en-US" b="1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  <a:sym typeface="+mn-ea"/>
              </a:rPr>
              <a:t>     </a:t>
            </a:r>
            <a:endParaRPr lang="en-US" sz="1800" b="1" i="0" u="sng">
              <a:solidFill>
                <a:srgbClr val="F7F8FA"/>
              </a:solidFill>
              <a:latin typeface="Calibri" panose="020F0502020204030204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0" name="TextBox 74"/>
          <p:cNvSpPr txBox="1"/>
          <p:nvPr>
            <p:custDataLst>
              <p:tags r:id="rId13"/>
            </p:custDataLst>
          </p:nvPr>
        </p:nvSpPr>
        <p:spPr>
          <a:xfrm>
            <a:off x="13014325" y="6258560"/>
            <a:ext cx="3333115" cy="332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月</a:t>
            </a: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日　星期</a:t>
            </a:r>
            <a:r>
              <a:rPr lang="en-US" sz="1800" b="1" i="0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      </a:t>
            </a:r>
            <a:r>
              <a:rPr sz="1800" b="1" i="0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</a:rPr>
              <a:t>天气</a:t>
            </a:r>
            <a:r>
              <a:rPr lang="en-US" b="1" u="sng">
                <a:solidFill>
                  <a:srgbClr val="C0392B"/>
                </a:solidFill>
                <a:latin typeface="Calibri" panose="020F0502020204030204"/>
                <a:ea typeface="微软雅黑" panose="020B0503020204020204" pitchFamily="34" charset="-122"/>
                <a:sym typeface="+mn-ea"/>
              </a:rPr>
              <a:t>     </a:t>
            </a:r>
            <a:endParaRPr lang="en-US" sz="1800" b="1" i="0" u="sng">
              <a:solidFill>
                <a:srgbClr val="F7F8FA"/>
              </a:solidFill>
              <a:latin typeface="Calibri" panose="020F0502020204030204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2877185" y="5657215"/>
            <a:ext cx="1365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第一天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5"/>
            </p:custDataLst>
          </p:nvPr>
        </p:nvSpPr>
        <p:spPr>
          <a:xfrm>
            <a:off x="8420100" y="5657215"/>
            <a:ext cx="1365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第三天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13973810" y="5657215"/>
            <a:ext cx="1365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第六天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 descr="写观察日记-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rcRect l="5630" t="15228" r="2372" b="9473"/>
          <a:stretch>
            <a:fillRect/>
          </a:stretch>
        </p:blipFill>
        <p:spPr>
          <a:xfrm>
            <a:off x="1143000" y="2523490"/>
            <a:ext cx="4680000" cy="3023687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32" name="图片 31" descr="E:/22222小学配图/同步写作/四上3-写观察日记/写观察日记-2.png写观察日记-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rcRect t="16602" b="10146"/>
          <a:stretch>
            <a:fillRect/>
          </a:stretch>
        </p:blipFill>
        <p:spPr>
          <a:xfrm>
            <a:off x="6650990" y="2508250"/>
            <a:ext cx="4680000" cy="3023687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33" name="图片 32" descr="E:/22222小学配图/同步写作/四上3-写观察日记/写观察日记-3.png写观察日记-3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rcRect l="-76" t="16360" r="76" b="10389"/>
          <a:stretch>
            <a:fillRect/>
          </a:stretch>
        </p:blipFill>
        <p:spPr>
          <a:xfrm>
            <a:off x="12158980" y="2508250"/>
            <a:ext cx="4680000" cy="3023687"/>
          </a:xfrm>
          <a:prstGeom prst="rect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34" name="文本框 33"/>
          <p:cNvSpPr txBox="1"/>
          <p:nvPr>
            <p:custDataLst>
              <p:tags r:id="rId23"/>
            </p:custDataLst>
          </p:nvPr>
        </p:nvSpPr>
        <p:spPr>
          <a:xfrm>
            <a:off x="5423535" y="5133975"/>
            <a:ext cx="31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4"/>
            </p:custDataLst>
          </p:nvPr>
        </p:nvSpPr>
        <p:spPr>
          <a:xfrm>
            <a:off x="10932795" y="5133975"/>
            <a:ext cx="31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25"/>
            </p:custDataLst>
          </p:nvPr>
        </p:nvSpPr>
        <p:spPr>
          <a:xfrm>
            <a:off x="16445230" y="5133975"/>
            <a:ext cx="317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/>
      <p:bldP spid="14" grpId="0" animBg="1"/>
      <p:bldP spid="15" grpId="0" animBg="1"/>
      <p:bldP spid="18" grpId="0"/>
      <p:bldP spid="19" grpId="0" animBg="1"/>
      <p:bldP spid="20" grpId="0" animBg="1"/>
      <p:bldP spid="23" grpId="0"/>
      <p:bldP spid="24" grpId="0" bldLvl="0" animBg="1"/>
      <p:bldP spid="25" grpId="0"/>
      <p:bldP spid="27" grpId="0"/>
      <p:bldP spid="28" grpId="0"/>
      <p:bldP spid="75" grpId="0"/>
      <p:bldP spid="29" grpId="0"/>
      <p:bldP spid="30" grpId="0"/>
      <p:bldP spid="6" grpId="0"/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7581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9190990" cy="789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本课任务：为黄豆写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一组观察日记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667000"/>
            <a:ext cx="16192500" cy="6522720"/>
          </a:xfrm>
          <a:prstGeom prst="roundRect">
            <a:avLst>
              <a:gd name="adj" fmla="val 4518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219200" y="3098165"/>
            <a:ext cx="16134715" cy="9493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对照黄豆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第一天、第三天、第六天 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的样子，每天写一则，下课前人人完成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三则观察日记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2"/>
            </p:custDataLst>
          </p:nvPr>
        </p:nvSpPr>
        <p:spPr>
          <a:xfrm>
            <a:off x="9572625" y="4558665"/>
            <a:ext cx="7578725" cy="662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写完后在小组内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轮流朗读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，其他同学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认真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倾听</a:t>
            </a:r>
            <a:endParaRPr lang="en-US" sz="2700" dirty="0"/>
          </a:p>
        </p:txBody>
      </p:sp>
      <p:sp>
        <p:nvSpPr>
          <p:cNvPr id="16" name="Text 12"/>
          <p:cNvSpPr/>
          <p:nvPr>
            <p:custDataLst>
              <p:tags r:id="rId3"/>
            </p:custDataLst>
          </p:nvPr>
        </p:nvSpPr>
        <p:spPr>
          <a:xfrm>
            <a:off x="9572625" y="5800090"/>
            <a:ext cx="7597140" cy="11982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听的同学要能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指出你写的是哪一处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</a:t>
            </a:r>
            <a:endParaRPr lang="zh-CN" altLang="en-US" sz="27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——能指出来，这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则观察日记就写清楚了</a:t>
            </a:r>
            <a:endParaRPr lang="zh-CN" alt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5"/>
          <p:cNvSpPr/>
          <p:nvPr>
            <p:custDataLst>
              <p:tags r:id="rId4"/>
            </p:custDataLst>
          </p:nvPr>
        </p:nvSpPr>
        <p:spPr>
          <a:xfrm>
            <a:off x="9572625" y="7383145"/>
            <a:ext cx="7208520" cy="130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指不出来，说明只写了“豆子变大了”，</a:t>
            </a:r>
            <a:endParaRPr lang="en-US" sz="27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没有写清哪里变了、变成了什么样</a:t>
            </a:r>
            <a:endParaRPr lang="en-US" sz="2700" dirty="0"/>
          </a:p>
        </p:txBody>
      </p:sp>
      <p:pic>
        <p:nvPicPr>
          <p:cNvPr id="23" name="图片 22" descr="写观察日记-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2875" y="4542790"/>
            <a:ext cx="9093200" cy="5572760"/>
          </a:xfrm>
          <a:prstGeom prst="rect">
            <a:avLst/>
          </a:prstGeom>
        </p:spPr>
      </p:pic>
      <p:sp>
        <p:nvSpPr>
          <p:cNvPr id="24" name="Shape 5"/>
          <p:cNvSpPr/>
          <p:nvPr>
            <p:custDataLst>
              <p:tags r:id="rId6"/>
            </p:custDataLst>
          </p:nvPr>
        </p:nvSpPr>
        <p:spPr>
          <a:xfrm>
            <a:off x="8928735" y="457898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7"/>
            </p:custDataLst>
          </p:nvPr>
        </p:nvSpPr>
        <p:spPr>
          <a:xfrm>
            <a:off x="8928735" y="454215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5"/>
          <p:cNvSpPr/>
          <p:nvPr>
            <p:custDataLst>
              <p:tags r:id="rId8"/>
            </p:custDataLst>
          </p:nvPr>
        </p:nvSpPr>
        <p:spPr>
          <a:xfrm>
            <a:off x="8928735" y="597154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6"/>
          <p:cNvSpPr/>
          <p:nvPr>
            <p:custDataLst>
              <p:tags r:id="rId9"/>
            </p:custDataLst>
          </p:nvPr>
        </p:nvSpPr>
        <p:spPr>
          <a:xfrm>
            <a:off x="8928735" y="593471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Shape 5"/>
          <p:cNvSpPr/>
          <p:nvPr>
            <p:custDataLst>
              <p:tags r:id="rId10"/>
            </p:custDataLst>
          </p:nvPr>
        </p:nvSpPr>
        <p:spPr>
          <a:xfrm>
            <a:off x="8928100" y="763206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11"/>
            </p:custDataLst>
          </p:nvPr>
        </p:nvSpPr>
        <p:spPr>
          <a:xfrm>
            <a:off x="8928100" y="759523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25" grpId="0"/>
      <p:bldP spid="28" grpId="0" bldLvl="0" animBg="1"/>
      <p:bldP spid="33" grpId="0"/>
      <p:bldP spid="34" grpId="0" bldLvl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/>
          <p:cNvSpPr/>
          <p:nvPr/>
        </p:nvSpPr>
        <p:spPr>
          <a:xfrm>
            <a:off x="8393430" y="8287385"/>
            <a:ext cx="10513060" cy="82804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307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2100"/>
            <a:ext cx="8439785" cy="8039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豆子就在盘中：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看清眼前这几颗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黄豆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7962900" y="3814445"/>
            <a:ext cx="5851525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认真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、轻轻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摸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、凑近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闻</a:t>
            </a:r>
            <a:endParaRPr lang="en-US" sz="2775" dirty="0"/>
          </a:p>
        </p:txBody>
      </p:sp>
      <p:sp>
        <p:nvSpPr>
          <p:cNvPr id="12" name="Text 9"/>
          <p:cNvSpPr/>
          <p:nvPr>
            <p:custDataLst>
              <p:tags r:id="rId4"/>
            </p:custDataLst>
          </p:nvPr>
        </p:nvSpPr>
        <p:spPr>
          <a:xfrm>
            <a:off x="7962900" y="5201920"/>
            <a:ext cx="7553960" cy="14566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不说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“变大了、真神奇”</a:t>
            </a:r>
            <a:endParaRPr lang="en-US" sz="277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——只说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真实看到、摸到、闻到的细节</a:t>
            </a:r>
            <a:endParaRPr lang="en-US" sz="2775" dirty="0"/>
          </a:p>
        </p:txBody>
      </p:sp>
      <p:sp>
        <p:nvSpPr>
          <p:cNvPr id="14" name="Text 11"/>
          <p:cNvSpPr/>
          <p:nvPr>
            <p:custDataLst>
              <p:tags r:id="rId5"/>
            </p:custDataLst>
          </p:nvPr>
        </p:nvSpPr>
        <p:spPr>
          <a:xfrm>
            <a:off x="7962900" y="6680835"/>
            <a:ext cx="10079355" cy="1113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四人小组轮流交流，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尽量不重复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他人说过的内容，多发现</a:t>
            </a:r>
            <a:endParaRPr lang="en-US" sz="2775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新的细微变化</a:t>
            </a:r>
            <a:endParaRPr lang="en-US" sz="2775" dirty="0"/>
          </a:p>
        </p:txBody>
      </p:sp>
      <p:sp>
        <p:nvSpPr>
          <p:cNvPr id="16" name="Text 12"/>
          <p:cNvSpPr/>
          <p:nvPr/>
        </p:nvSpPr>
        <p:spPr>
          <a:xfrm>
            <a:off x="8633460" y="8458200"/>
            <a:ext cx="7690485" cy="6337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indent="0" algn="l">
              <a:buFont typeface="Wingdings" panose="05000000000000000000" charset="0"/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写好观察日记的第一步：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学会细致观察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5"/>
          <p:cNvSpPr/>
          <p:nvPr>
            <p:custDataLst>
              <p:tags r:id="rId6"/>
            </p:custDataLst>
          </p:nvPr>
        </p:nvSpPr>
        <p:spPr>
          <a:xfrm>
            <a:off x="7325360" y="381444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7"/>
            </p:custDataLst>
          </p:nvPr>
        </p:nvSpPr>
        <p:spPr>
          <a:xfrm>
            <a:off x="7325360" y="377761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5"/>
          <p:cNvSpPr/>
          <p:nvPr>
            <p:custDataLst>
              <p:tags r:id="rId8"/>
            </p:custDataLst>
          </p:nvPr>
        </p:nvSpPr>
        <p:spPr>
          <a:xfrm>
            <a:off x="7325360" y="520700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6"/>
          <p:cNvSpPr/>
          <p:nvPr>
            <p:custDataLst>
              <p:tags r:id="rId9"/>
            </p:custDataLst>
          </p:nvPr>
        </p:nvSpPr>
        <p:spPr>
          <a:xfrm>
            <a:off x="7325360" y="517017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Shape 5"/>
          <p:cNvSpPr/>
          <p:nvPr>
            <p:custDataLst>
              <p:tags r:id="rId10"/>
            </p:custDataLst>
          </p:nvPr>
        </p:nvSpPr>
        <p:spPr>
          <a:xfrm>
            <a:off x="7324725" y="669607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11"/>
            </p:custDataLst>
          </p:nvPr>
        </p:nvSpPr>
        <p:spPr>
          <a:xfrm>
            <a:off x="7324725" y="665924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8" name="图片 7" descr="e586ea7d877a0135e2b6db8a802a3d3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7301865" y="8256905"/>
            <a:ext cx="914400" cy="914400"/>
          </a:xfrm>
          <a:prstGeom prst="rect">
            <a:avLst/>
          </a:prstGeom>
        </p:spPr>
      </p:pic>
      <p:pic>
        <p:nvPicPr>
          <p:cNvPr id="20" name="图片 19" descr="写观察日记-1-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1045" y="4143375"/>
            <a:ext cx="6384290" cy="462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bldLvl="0" animBg="1"/>
      <p:bldP spid="25" grpId="0"/>
      <p:bldP spid="28" grpId="0" bldLvl="0" animBg="1"/>
      <p:bldP spid="33" grpId="0"/>
      <p:bldP spid="34" grpId="0" bldLvl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872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1150"/>
            <a:ext cx="8300720" cy="8801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每组汇报一个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最不容易发现的细节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322897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333500" y="3238500"/>
            <a:ext cx="2754344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豆皮上有浅浅的纹路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467225" y="3048000"/>
            <a:ext cx="23431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4752975" y="3238500"/>
            <a:ext cx="18478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颜色微微发白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000875" y="3048000"/>
            <a:ext cx="26384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7286625" y="3238500"/>
            <a:ext cx="2146078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豆皮裂开一道缝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829800" y="3048000"/>
            <a:ext cx="352425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15" name="Text 12"/>
          <p:cNvSpPr/>
          <p:nvPr/>
        </p:nvSpPr>
        <p:spPr>
          <a:xfrm>
            <a:off x="10115550" y="3238500"/>
            <a:ext cx="3058478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缝里冒出白色的小嫩芽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47750" y="4010025"/>
            <a:ext cx="26384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1333500" y="4200525"/>
            <a:ext cx="2146078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嫩芽短短弯弯的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867150" y="4010025"/>
            <a:ext cx="2933700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19" name="Text 16"/>
          <p:cNvSpPr/>
          <p:nvPr/>
        </p:nvSpPr>
        <p:spPr>
          <a:xfrm>
            <a:off x="4032885" y="4200525"/>
            <a:ext cx="312483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有的坚硬、有的光滑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991350" y="4010025"/>
            <a:ext cx="2638425" cy="771525"/>
          </a:xfrm>
          <a:prstGeom prst="roundRect">
            <a:avLst>
              <a:gd name="adj" fmla="val 17284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21" name="Text 18"/>
          <p:cNvSpPr/>
          <p:nvPr/>
        </p:nvSpPr>
        <p:spPr>
          <a:xfrm>
            <a:off x="7277100" y="4200525"/>
            <a:ext cx="2146078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带着淡淡的豆香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047750" y="5375275"/>
            <a:ext cx="16341090" cy="3288665"/>
          </a:xfrm>
          <a:prstGeom prst="roundRect">
            <a:avLst>
              <a:gd name="adj" fmla="val 10614"/>
            </a:avLst>
          </a:prstGeom>
          <a:solidFill>
            <a:srgbClr val="F7F8FA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/>
        </p:txBody>
      </p:sp>
      <p:sp>
        <p:nvSpPr>
          <p:cNvPr id="25" name="Text 22"/>
          <p:cNvSpPr/>
          <p:nvPr/>
        </p:nvSpPr>
        <p:spPr>
          <a:xfrm>
            <a:off x="1485900" y="7231380"/>
            <a:ext cx="11890375" cy="10439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豆皮、纹路、裂缝、嫩芽、颜色、软硬</a:t>
            </a:r>
            <a:endParaRPr lang="en-US" sz="2475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——都是 </a:t>
            </a:r>
            <a:r>
              <a:rPr 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亲身观察到的真实内容 </a:t>
            </a:r>
            <a:r>
              <a:rPr lang="en-US" sz="24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。有了这些细节，日记就有了内容，不再空洞。</a:t>
            </a:r>
            <a:endParaRPr lang="en-US" sz="2475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592705" y="9011920"/>
            <a:ext cx="7629525" cy="6013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先积累足够的细节，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动笔时才有内容可写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8" name="Text 20"/>
          <p:cNvSpPr/>
          <p:nvPr/>
        </p:nvSpPr>
        <p:spPr>
          <a:xfrm>
            <a:off x="1428750" y="5505450"/>
            <a:ext cx="12938125" cy="1425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请每组推选一个最细微、最不容易发现的细节，与全班分享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en-US" sz="28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“豆皮上有淡淡的白印”“小芽的顶端是弯的”</a:t>
            </a:r>
            <a:r>
              <a:rPr lang="en-US" sz="28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29" name="图片 28" descr="e586ea7d877a0135e2b6db8a802a3d3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428750" y="8780780"/>
            <a:ext cx="914400" cy="914400"/>
          </a:xfrm>
          <a:prstGeom prst="rect">
            <a:avLst/>
          </a:prstGeom>
        </p:spPr>
      </p:pic>
      <p:pic>
        <p:nvPicPr>
          <p:cNvPr id="31" name="图片 30" descr="写观察日记-13-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6495" y="6107430"/>
            <a:ext cx="6100445" cy="4318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写观察日记-12-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3510" y="7826375"/>
            <a:ext cx="5833110" cy="23736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0088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79245"/>
            <a:ext cx="10933430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写第三天的豆子，哪一段才是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合格的观察日记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7750" y="7045325"/>
            <a:ext cx="7854315" cy="12687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面面俱到，篇幅更长，</a:t>
            </a:r>
            <a:endParaRPr lang="zh-CN" alt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写的却全是豆子 本来的样子，第一天也能这样写。</a:t>
            </a:r>
            <a:endParaRPr lang="zh-CN" alt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9538970" y="7045325"/>
            <a:ext cx="7867650" cy="980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只写一处：</a:t>
            </a: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与前天相比，皮松了、裂开一条缝，</a:t>
            </a:r>
            <a:endParaRPr lang="zh-CN" altLang="en-US" sz="2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09000"/>
              </a:lnSpc>
              <a:buNone/>
            </a:pPr>
            <a:r>
              <a:rPr lang="zh-CN" altLang="en-US" sz="2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生长变化一目了然。</a:t>
            </a:r>
            <a:endParaRPr lang="zh-CN" altLang="en-US" sz="2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5"/>
          <p:cNvSpPr/>
          <p:nvPr>
            <p:custDataLst>
              <p:tags r:id="rId4"/>
            </p:custDataLst>
          </p:nvPr>
        </p:nvSpPr>
        <p:spPr>
          <a:xfrm>
            <a:off x="1047750" y="2705100"/>
            <a:ext cx="78660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5" name="Shape 6"/>
          <p:cNvSpPr/>
          <p:nvPr>
            <p:custDataLst>
              <p:tags r:id="rId5"/>
            </p:custDataLst>
          </p:nvPr>
        </p:nvSpPr>
        <p:spPr>
          <a:xfrm>
            <a:off x="10477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6" name="Text 7"/>
          <p:cNvSpPr/>
          <p:nvPr>
            <p:custDataLst>
              <p:tags r:id="rId6"/>
            </p:custDataLst>
          </p:nvPr>
        </p:nvSpPr>
        <p:spPr>
          <a:xfrm>
            <a:off x="3523615" y="2840355"/>
            <a:ext cx="368109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写得细致，却不合格</a:t>
            </a:r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altLang="zh-CN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7" name="Shape 10"/>
          <p:cNvSpPr/>
          <p:nvPr>
            <p:custDataLst>
              <p:tags r:id="rId7"/>
            </p:custDataLst>
          </p:nvPr>
        </p:nvSpPr>
        <p:spPr>
          <a:xfrm>
            <a:off x="9353550" y="2705100"/>
            <a:ext cx="7866000" cy="3905250"/>
          </a:xfrm>
          <a:prstGeom prst="roundRect">
            <a:avLst>
              <a:gd name="adj" fmla="val 4390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prstDash val="solid"/>
          </a:ln>
        </p:spPr>
        <p:txBody>
          <a:bodyPr/>
          <a:lstStyle/>
          <a:p/>
        </p:txBody>
      </p:sp>
      <p:sp>
        <p:nvSpPr>
          <p:cNvPr id="28" name="Shape 11"/>
          <p:cNvSpPr/>
          <p:nvPr>
            <p:custDataLst>
              <p:tags r:id="rId8"/>
            </p:custDataLst>
          </p:nvPr>
        </p:nvSpPr>
        <p:spPr>
          <a:xfrm>
            <a:off x="9353550" y="2714625"/>
            <a:ext cx="7867650" cy="74295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9" name="Text 12"/>
          <p:cNvSpPr/>
          <p:nvPr>
            <p:custDataLst>
              <p:tags r:id="rId9"/>
            </p:custDataLst>
          </p:nvPr>
        </p:nvSpPr>
        <p:spPr>
          <a:xfrm>
            <a:off x="11829415" y="2840355"/>
            <a:ext cx="3620135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篇幅短，却写出了变化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56030" y="3766820"/>
            <a:ext cx="8097520" cy="2381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今天是第三天。我又去看了那杯豆子。它们挨挨挤挤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地堆在杯子里，圆圆的，黄澄澄的，像一颗颗小珠子。我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伸手指按了按，硬硬的，一点也不软。窗台上的太阳照过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来，豆子上头亮晶晶的。我看了好一会儿才走。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38970" y="3766820"/>
            <a:ext cx="7600315" cy="2389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今天是第三天。豆子跟前天不一样了。</a:t>
            </a: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前天它还是</a:t>
            </a:r>
            <a:endParaRPr lang="zh-CN" altLang="en-US" sz="23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圆鼓鼓的一整颗，豆皮绷得紧紧的；今天皮松了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，最深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的一道纹裂开了，</a:t>
            </a:r>
            <a:r>
              <a:rPr lang="en-US" altLang="zh-CN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缝里挤出一点白，米粒那么大。我盯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3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着那条缝看了半天。</a:t>
            </a:r>
            <a:endParaRPr lang="zh-CN" altLang="en-US" sz="23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3"/>
          <p:cNvSpPr/>
          <p:nvPr/>
        </p:nvSpPr>
        <p:spPr>
          <a:xfrm>
            <a:off x="6407785" y="8287385"/>
            <a:ext cx="12478385" cy="82804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6503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1150"/>
            <a:ext cx="7811770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与上次相比，写出</a:t>
            </a:r>
            <a:r>
              <a:rPr lang="en-US" altLang="zh-CN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</a:t>
            </a:r>
            <a:endParaRPr lang="en-US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93775" y="8397875"/>
            <a:ext cx="4465955" cy="7054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一天一则写出变化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3"/>
            </p:custDataLst>
          </p:nvPr>
        </p:nvSpPr>
        <p:spPr>
          <a:xfrm>
            <a:off x="8408670" y="3619500"/>
            <a:ext cx="690188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每一则都写出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与上一次相比新出现的变化</a:t>
            </a:r>
            <a:endParaRPr lang="en-US" sz="2700" dirty="0"/>
          </a:p>
        </p:txBody>
      </p:sp>
      <p:sp>
        <p:nvSpPr>
          <p:cNvPr id="14" name="Text 11"/>
          <p:cNvSpPr/>
          <p:nvPr>
            <p:custDataLst>
              <p:tags r:id="rId4"/>
            </p:custDataLst>
          </p:nvPr>
        </p:nvSpPr>
        <p:spPr>
          <a:xfrm>
            <a:off x="8408670" y="4903470"/>
            <a:ext cx="9924415" cy="10668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只写固有的样子，三则放在一起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完全看不出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生长变化的过程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endParaRPr lang="en-US" sz="27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——这是最常见的问题</a:t>
            </a:r>
            <a:endParaRPr lang="en-US" sz="2700" dirty="0"/>
          </a:p>
        </p:txBody>
      </p:sp>
      <p:sp>
        <p:nvSpPr>
          <p:cNvPr id="16" name="Text 13"/>
          <p:cNvSpPr/>
          <p:nvPr>
            <p:custDataLst>
              <p:tags r:id="rId5"/>
            </p:custDataLst>
          </p:nvPr>
        </p:nvSpPr>
        <p:spPr>
          <a:xfrm>
            <a:off x="8408670" y="6511290"/>
            <a:ext cx="8410649" cy="5524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三则各写 </a:t>
            </a:r>
            <a:r>
              <a:rPr 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一处新发现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上一则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已经写过的</a:t>
            </a:r>
            <a:r>
              <a:rPr 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6537960" y="8488045"/>
            <a:ext cx="11079480" cy="570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“圆圆的、黄澄澄的”写得再细，没有与上次对比，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就不是观察日记该写的</a:t>
            </a:r>
            <a:r>
              <a:rPr lang="en-US" sz="26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Shape 5"/>
          <p:cNvSpPr/>
          <p:nvPr>
            <p:custDataLst>
              <p:tags r:id="rId6"/>
            </p:custDataLst>
          </p:nvPr>
        </p:nvSpPr>
        <p:spPr>
          <a:xfrm>
            <a:off x="7706360" y="364680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5" name="Text 6"/>
          <p:cNvSpPr/>
          <p:nvPr>
            <p:custDataLst>
              <p:tags r:id="rId7"/>
            </p:custDataLst>
          </p:nvPr>
        </p:nvSpPr>
        <p:spPr>
          <a:xfrm>
            <a:off x="7706360" y="360997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Shape 5"/>
          <p:cNvSpPr/>
          <p:nvPr>
            <p:custDataLst>
              <p:tags r:id="rId8"/>
            </p:custDataLst>
          </p:nvPr>
        </p:nvSpPr>
        <p:spPr>
          <a:xfrm>
            <a:off x="7706360" y="503936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Text 6"/>
          <p:cNvSpPr/>
          <p:nvPr>
            <p:custDataLst>
              <p:tags r:id="rId9"/>
            </p:custDataLst>
          </p:nvPr>
        </p:nvSpPr>
        <p:spPr>
          <a:xfrm>
            <a:off x="7706360" y="500253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Shape 5"/>
          <p:cNvSpPr/>
          <p:nvPr>
            <p:custDataLst>
              <p:tags r:id="rId10"/>
            </p:custDataLst>
          </p:nvPr>
        </p:nvSpPr>
        <p:spPr>
          <a:xfrm>
            <a:off x="7705725" y="652843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Text 6"/>
          <p:cNvSpPr/>
          <p:nvPr>
            <p:custDataLst>
              <p:tags r:id="rId11"/>
            </p:custDataLst>
          </p:nvPr>
        </p:nvSpPr>
        <p:spPr>
          <a:xfrm>
            <a:off x="7705725" y="649160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8" name="图片 7" descr="e586ea7d877a0135e2b6db8a802a3d3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5268595" y="8256905"/>
            <a:ext cx="914400" cy="914400"/>
          </a:xfrm>
          <a:prstGeom prst="rect">
            <a:avLst/>
          </a:prstGeom>
        </p:spPr>
      </p:pic>
      <p:pic>
        <p:nvPicPr>
          <p:cNvPr id="18" name="图片 17" descr="写观察日记-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6860" y="2903855"/>
            <a:ext cx="6944360" cy="5215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4" grpId="0" bldLvl="0" animBg="1"/>
      <p:bldP spid="25" grpId="0"/>
      <p:bldP spid="28" grpId="0" bldLvl="0" animBg="1"/>
      <p:bldP spid="33" grpId="0"/>
      <p:bldP spid="34" grpId="0" bldLvl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3"/>
          <p:cNvSpPr/>
          <p:nvPr/>
        </p:nvSpPr>
        <p:spPr>
          <a:xfrm>
            <a:off x="1047750" y="6470650"/>
            <a:ext cx="16133445" cy="1800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313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4960"/>
            <a:ext cx="1009078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现场练习：把第一天和第三天的豆子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放在一起对比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72630" y="2650490"/>
            <a:ext cx="3069590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先看豆皮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072630" y="3110230"/>
            <a:ext cx="4325620" cy="6426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第一天：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紧紧贴在豆子上 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072630" y="4627880"/>
            <a:ext cx="3814445" cy="4572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</a:t>
            </a:r>
            <a:r>
              <a:rPr lang="zh-CN" alt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比大小、颜色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72630" y="5120640"/>
            <a:ext cx="4586605" cy="12344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第三天的豆子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略微变大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、黄里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带白、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有一条缝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1582420" y="6672580"/>
            <a:ext cx="9265920" cy="5765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找出变化，还要写出变化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老师把这一处写成一句话：</a:t>
            </a:r>
            <a:endParaRPr lang="en-US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1582420" y="7084060"/>
            <a:ext cx="12398375" cy="5867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原来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那层皮紧紧地贴在豆子上，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现在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变得松松的，还出现了好几道细纹。</a:t>
            </a:r>
            <a:endParaRPr lang="en-US" sz="2600" dirty="0"/>
          </a:p>
        </p:txBody>
      </p:sp>
      <p:sp>
        <p:nvSpPr>
          <p:cNvPr id="19" name="Text 15"/>
          <p:cNvSpPr/>
          <p:nvPr/>
        </p:nvSpPr>
        <p:spPr>
          <a:xfrm>
            <a:off x="1125220" y="8595043"/>
            <a:ext cx="2923223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写变化的常用句式：</a:t>
            </a:r>
            <a:endParaRPr lang="en-US" sz="2325" dirty="0"/>
          </a:p>
        </p:txBody>
      </p:sp>
      <p:sp>
        <p:nvSpPr>
          <p:cNvPr id="20" name="Shape 16"/>
          <p:cNvSpPr/>
          <p:nvPr/>
        </p:nvSpPr>
        <p:spPr>
          <a:xfrm>
            <a:off x="3973195" y="8447405"/>
            <a:ext cx="2776984" cy="685800"/>
          </a:xfrm>
          <a:prstGeom prst="roundRect">
            <a:avLst>
              <a:gd name="adj" fmla="val 19444"/>
            </a:avLst>
          </a:prstGeom>
          <a:solidFill>
            <a:srgbClr val="FCE7EA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/>
        </p:txBody>
      </p:sp>
      <p:sp>
        <p:nvSpPr>
          <p:cNvPr id="21" name="Text 17"/>
          <p:cNvSpPr/>
          <p:nvPr/>
        </p:nvSpPr>
        <p:spPr>
          <a:xfrm>
            <a:off x="4239895" y="8599805"/>
            <a:ext cx="232689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原来……现在……</a:t>
            </a:r>
            <a:endParaRPr lang="en-US" sz="2250" dirty="0"/>
          </a:p>
        </p:txBody>
      </p:sp>
      <p:sp>
        <p:nvSpPr>
          <p:cNvPr id="22" name="Shape 18"/>
          <p:cNvSpPr/>
          <p:nvPr/>
        </p:nvSpPr>
        <p:spPr>
          <a:xfrm>
            <a:off x="6940679" y="8447405"/>
            <a:ext cx="2776984" cy="685800"/>
          </a:xfrm>
          <a:prstGeom prst="roundRect">
            <a:avLst>
              <a:gd name="adj" fmla="val 19444"/>
            </a:avLst>
          </a:prstGeom>
          <a:solidFill>
            <a:srgbClr val="FCE7EA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/>
        </p:txBody>
      </p:sp>
      <p:sp>
        <p:nvSpPr>
          <p:cNvPr id="23" name="Text 19"/>
          <p:cNvSpPr/>
          <p:nvPr/>
        </p:nvSpPr>
        <p:spPr>
          <a:xfrm>
            <a:off x="7207379" y="8599805"/>
            <a:ext cx="2326894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由……变成了……</a:t>
            </a:r>
            <a:endParaRPr lang="en-US" sz="2250" dirty="0"/>
          </a:p>
        </p:txBody>
      </p:sp>
      <p:sp>
        <p:nvSpPr>
          <p:cNvPr id="24" name="Shape 20"/>
          <p:cNvSpPr/>
          <p:nvPr/>
        </p:nvSpPr>
        <p:spPr>
          <a:xfrm>
            <a:off x="9908163" y="8447405"/>
            <a:ext cx="1941016" cy="685800"/>
          </a:xfrm>
          <a:prstGeom prst="roundRect">
            <a:avLst>
              <a:gd name="adj" fmla="val 19444"/>
            </a:avLst>
          </a:prstGeom>
          <a:solidFill>
            <a:srgbClr val="FCE7EA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/>
        </p:txBody>
      </p:sp>
      <p:sp>
        <p:nvSpPr>
          <p:cNvPr id="25" name="Text 21"/>
          <p:cNvSpPr/>
          <p:nvPr/>
        </p:nvSpPr>
        <p:spPr>
          <a:xfrm>
            <a:off x="10174863" y="8599805"/>
            <a:ext cx="1483816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渐渐地……</a:t>
            </a:r>
            <a:endParaRPr lang="en-US" sz="2250" dirty="0"/>
          </a:p>
        </p:txBody>
      </p:sp>
      <p:sp>
        <p:nvSpPr>
          <p:cNvPr id="26" name="Shape 22"/>
          <p:cNvSpPr/>
          <p:nvPr/>
        </p:nvSpPr>
        <p:spPr>
          <a:xfrm>
            <a:off x="12039679" y="8447405"/>
            <a:ext cx="1941016" cy="685800"/>
          </a:xfrm>
          <a:prstGeom prst="roundRect">
            <a:avLst>
              <a:gd name="adj" fmla="val 19444"/>
            </a:avLst>
          </a:prstGeom>
          <a:solidFill>
            <a:srgbClr val="FCE7EA"/>
          </a:solidFill>
          <a:ln>
            <a:solidFill>
              <a:schemeClr val="accent2">
                <a:lumMod val="75000"/>
              </a:schemeClr>
            </a:solidFill>
          </a:ln>
        </p:spPr>
        <p:txBody>
          <a:bodyPr/>
          <a:lstStyle/>
          <a:p/>
        </p:txBody>
      </p:sp>
      <p:sp>
        <p:nvSpPr>
          <p:cNvPr id="27" name="Text 23"/>
          <p:cNvSpPr/>
          <p:nvPr/>
        </p:nvSpPr>
        <p:spPr>
          <a:xfrm>
            <a:off x="12306379" y="8599805"/>
            <a:ext cx="1483816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越来越……</a:t>
            </a:r>
            <a:endParaRPr lang="en-US" sz="2250" dirty="0"/>
          </a:p>
        </p:txBody>
      </p:sp>
      <p:sp>
        <p:nvSpPr>
          <p:cNvPr id="28" name="Text 24"/>
          <p:cNvSpPr/>
          <p:nvPr/>
        </p:nvSpPr>
        <p:spPr>
          <a:xfrm>
            <a:off x="3973195" y="9339580"/>
            <a:ext cx="12127865" cy="6705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前后一对比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，之前什么样、现在什么样，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变化就写清楚了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/>
          </a:p>
        </p:txBody>
      </p:sp>
      <p:pic>
        <p:nvPicPr>
          <p:cNvPr id="33" name="图片 32" descr="E:/22222小学配图/同步写作/四上3-写观察日记/写观察日记-22.png写观察日记-22"/>
          <p:cNvPicPr/>
          <p:nvPr/>
        </p:nvPicPr>
        <p:blipFill>
          <a:blip r:embed="rId3"/>
          <a:srcRect l="273" t="14874" r="190" b="10061"/>
          <a:stretch>
            <a:fillRect/>
          </a:stretch>
        </p:blipFill>
        <p:spPr>
          <a:xfrm>
            <a:off x="1062355" y="2472055"/>
            <a:ext cx="5332730" cy="3842385"/>
          </a:xfrm>
          <a:prstGeom prst="roundRect">
            <a:avLst>
              <a:gd name="adj" fmla="val 7378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34" name="圆角矩形 33"/>
          <p:cNvSpPr/>
          <p:nvPr/>
        </p:nvSpPr>
        <p:spPr>
          <a:xfrm>
            <a:off x="6710680" y="2472055"/>
            <a:ext cx="4832350" cy="1800000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6710680" y="4495730"/>
            <a:ext cx="4832350" cy="1800000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8" name="图片 37" descr="E:/22222小学配图/同步写作/四上3-写观察日记/写观察日记-21.png写观察日记-21"/>
          <p:cNvPicPr/>
          <p:nvPr/>
        </p:nvPicPr>
        <p:blipFill>
          <a:blip r:embed="rId4"/>
          <a:srcRect t="9347" b="8450"/>
          <a:stretch>
            <a:fillRect/>
          </a:stretch>
        </p:blipFill>
        <p:spPr>
          <a:xfrm>
            <a:off x="11848465" y="2472055"/>
            <a:ext cx="5332730" cy="3842385"/>
          </a:xfrm>
          <a:prstGeom prst="roundRect">
            <a:avLst>
              <a:gd name="adj" fmla="val 7378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39" name="文本框 38"/>
          <p:cNvSpPr txBox="1"/>
          <p:nvPr/>
        </p:nvSpPr>
        <p:spPr>
          <a:xfrm>
            <a:off x="1295400" y="5711190"/>
            <a:ext cx="1317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第一天</a:t>
            </a:r>
            <a:endParaRPr lang="en-US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066270" y="5711190"/>
            <a:ext cx="13176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三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天</a:t>
            </a:r>
            <a:endParaRPr lang="en-US" alt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42" name="Text 7"/>
          <p:cNvSpPr/>
          <p:nvPr/>
        </p:nvSpPr>
        <p:spPr>
          <a:xfrm>
            <a:off x="7072630" y="3643630"/>
            <a:ext cx="4325620" cy="6426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第三天：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变松了、略微发皱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43" name="图片 42" descr="e586ea7d877a0135e2b6db8a802a3d3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 flipH="1">
            <a:off x="14688185" y="9148445"/>
            <a:ext cx="914400" cy="914400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1551940" y="7689215"/>
            <a:ext cx="1242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课文《爬山虎的脚》也是这样写的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不几天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以前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原先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现在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后来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逐渐</a:t>
            </a:r>
            <a:endParaRPr lang="zh-CN" altLang="en-US" sz="24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34" grpId="0" bldLvl="0" animBg="1"/>
      <p:bldP spid="35" grpId="0" bldLvl="0" animBg="1"/>
      <p:bldP spid="39" grpId="0"/>
      <p:bldP spid="40" grpId="0"/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8" name="图片 7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8891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学习写法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62100"/>
            <a:ext cx="8053705" cy="7410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每一则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都按照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三个要点 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来写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3"/>
            </p:custDataLst>
          </p:nvPr>
        </p:nvSpPr>
        <p:spPr>
          <a:xfrm>
            <a:off x="2019300" y="3128010"/>
            <a:ext cx="11205845" cy="5810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开头直接点明 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当天新出现的变化</a:t>
            </a:r>
            <a:r>
              <a:rPr lang="en-US" sz="2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，不写“我又来看豆子了”这类空话</a:t>
            </a:r>
            <a:endParaRPr lang="en-US" sz="232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4"/>
            </p:custDataLst>
          </p:nvPr>
        </p:nvSpPr>
        <p:spPr>
          <a:xfrm>
            <a:off x="2019300" y="4354830"/>
            <a:ext cx="11405870" cy="5810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用对比句式，写清 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之前的样子、现在的状态</a:t>
            </a:r>
            <a:r>
              <a:rPr lang="en-US" sz="2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，把变化写具体</a:t>
            </a:r>
            <a:endParaRPr lang="en-US" sz="232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>
            <p:custDataLst>
              <p:tags r:id="rId5"/>
            </p:custDataLst>
          </p:nvPr>
        </p:nvSpPr>
        <p:spPr>
          <a:xfrm>
            <a:off x="2019300" y="5429250"/>
            <a:ext cx="11865610" cy="5810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结尾写一句 </a:t>
            </a:r>
            <a:r>
              <a:rPr lang="en-US" sz="28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当时真实的想法</a:t>
            </a:r>
            <a:r>
              <a:rPr lang="en-US" sz="2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：是迫不及待，是舍不得碰，还是有些失望</a:t>
            </a:r>
            <a:endParaRPr lang="zh-CN" altLang="en-US" sz="232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47750" y="7440930"/>
            <a:ext cx="14208125" cy="895350"/>
          </a:xfrm>
          <a:prstGeom prst="roundRect">
            <a:avLst>
              <a:gd name="adj" fmla="val 17021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9" name="Text 16"/>
          <p:cNvSpPr/>
          <p:nvPr/>
        </p:nvSpPr>
        <p:spPr>
          <a:xfrm>
            <a:off x="1428750" y="7688580"/>
            <a:ext cx="1048766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342900" indent="-342900" algn="l">
              <a:buFont typeface="Wingdings" panose="05000000000000000000" charset="0"/>
              <a:buChar char="l"/>
            </a:pP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日记第一行写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日期、星期、天气</a:t>
            </a: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，这是日记的基本</a:t>
            </a:r>
            <a:r>
              <a:rPr lang="zh-CN" alt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格式</a:t>
            </a:r>
            <a:r>
              <a:rPr lang="en-US" sz="28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b="1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908810" y="8663305"/>
            <a:ext cx="1208849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 → 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写具体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→ 加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感受，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一则观察日记就写完整了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6"/>
            </p:custDataLst>
          </p:nvPr>
        </p:nvSpPr>
        <p:spPr>
          <a:xfrm>
            <a:off x="1405890" y="315214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7"/>
            </p:custDataLst>
          </p:nvPr>
        </p:nvSpPr>
        <p:spPr>
          <a:xfrm>
            <a:off x="1405890" y="311531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8"/>
            </p:custDataLst>
          </p:nvPr>
        </p:nvSpPr>
        <p:spPr>
          <a:xfrm>
            <a:off x="1405890" y="439229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9"/>
            </p:custDataLst>
          </p:nvPr>
        </p:nvSpPr>
        <p:spPr>
          <a:xfrm>
            <a:off x="1405890" y="435546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10"/>
            </p:custDataLst>
          </p:nvPr>
        </p:nvSpPr>
        <p:spPr>
          <a:xfrm>
            <a:off x="1405255" y="547751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1"/>
            </p:custDataLst>
          </p:nvPr>
        </p:nvSpPr>
        <p:spPr>
          <a:xfrm>
            <a:off x="1405255" y="544068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6" name="图片 5" descr="写观察日记-6-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70535" y="4744085"/>
            <a:ext cx="5302250" cy="4946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8370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607820"/>
            <a:ext cx="8604885" cy="8959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按照三个要点，老师示范写一则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第三天的日记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476500"/>
            <a:ext cx="16192500" cy="2790825"/>
          </a:xfrm>
          <a:prstGeom prst="roundRect">
            <a:avLst>
              <a:gd name="adj" fmla="val 6143"/>
            </a:avLst>
          </a:prstGeom>
          <a:solidFill>
            <a:srgbClr val="F7F5F2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230630" y="5438140"/>
            <a:ext cx="294195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点明变化 · 对比句式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4178935" y="5438140"/>
            <a:ext cx="215138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闻到、听到的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6346240" y="5438140"/>
            <a:ext cx="1079748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打比方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7732693" y="5438140"/>
            <a:ext cx="138679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内心感受</a:t>
            </a:r>
            <a:endParaRPr lang="en-US" sz="2025" dirty="0"/>
          </a:p>
        </p:txBody>
      </p:sp>
      <p:sp>
        <p:nvSpPr>
          <p:cNvPr id="14" name="Shape 11"/>
          <p:cNvSpPr/>
          <p:nvPr/>
        </p:nvSpPr>
        <p:spPr>
          <a:xfrm>
            <a:off x="1047750" y="6322060"/>
            <a:ext cx="16192500" cy="1507629"/>
          </a:xfrm>
          <a:prstGeom prst="roundRect">
            <a:avLst>
              <a:gd name="adj" fmla="val 10109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5" name="Text 12"/>
          <p:cNvSpPr/>
          <p:nvPr/>
        </p:nvSpPr>
        <p:spPr>
          <a:xfrm>
            <a:off x="1447800" y="6515100"/>
            <a:ext cx="16151225" cy="1424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</a:t>
            </a:r>
            <a:r>
              <a:rPr lang="zh-CN" alt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练笔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：写刚才在盘中看到的任意一处，用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“原来……现在……” 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写一句</a:t>
            </a:r>
            <a:r>
              <a:rPr lang="zh-CN" alt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，再加一句 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自己的真实感受 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完成两句简短练笔即可</a:t>
            </a: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47750" y="8129270"/>
            <a:ext cx="1252664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写好后读给大家听：你对比的是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皮、颜色，还是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新长出的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芽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？对比是否清楚？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2980" y="8738870"/>
            <a:ext cx="17070070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rPr>
              <a:t>核心写法：一天一则，每一则只写一处新变化，先点明变化，再用对比句式写具体，最后加上内心感受。</a:t>
            </a:r>
            <a:endParaRPr lang="zh-CN" altLang="en-US" sz="23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53490" y="2632075"/>
            <a:ext cx="161163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今天是第三天。</a:t>
            </a: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豆子跟前天不一样了。前天它还是圆鼓鼓的一整颗，皮紧紧地绷在身上，摸上去硬邦邦的；今天</a:t>
            </a:r>
            <a:endParaRPr lang="zh-CN" altLang="en-US" sz="24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那层皮松了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，出现好几道皱纹，最深的一道裂开了，缝里挤出一点白色的芽，米粒那么大，</a:t>
            </a:r>
            <a:r>
              <a:rPr lang="zh-CN" altLang="en-US" sz="2400" b="1">
                <a:solidFill>
                  <a:schemeClr val="accent6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像刚冒出来的一颗小牙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杯壁上蒙着一层水汽，</a:t>
            </a:r>
            <a:r>
              <a:rPr lang="zh-CN" altLang="en-US" sz="2400" b="1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凑近了有股淡淡的豆腥味</a:t>
            </a: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。我伸出手指碰了碰那个新芽，软软的，一按就往里陷，我赶紧又把</a:t>
            </a:r>
            <a:endParaRPr lang="zh-CN" altLang="en-US" sz="2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手缩了回来。</a:t>
            </a:r>
            <a:r>
              <a:rPr lang="zh-CN" altLang="en-US" sz="2400" b="1"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才第三天，它就顶出这么一点来，我怕手上一使劲，明天就没得看了。</a:t>
            </a:r>
            <a:endParaRPr lang="zh-CN" altLang="en-US" sz="2400" b="1"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1043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观察记录表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1428750"/>
            <a:ext cx="3564890" cy="6819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观察记录表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1047750" y="2133600"/>
            <a:ext cx="809561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每格只填两三个关键词，不写完整句</a:t>
            </a:r>
            <a:r>
              <a:rPr lang="zh-CN" altLang="en-US" sz="22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</a:t>
            </a:r>
            <a:r>
              <a:rPr lang="en-US" sz="22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（先看老师示范填写）</a:t>
            </a:r>
            <a:endParaRPr lang="en-US" sz="225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2876550"/>
          </a:xfrm>
          <a:prstGeom prst="roundRect">
            <a:avLst>
              <a:gd name="adj" fmla="val 4636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714375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23975" y="3000375"/>
            <a:ext cx="1638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第几天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3152775" y="2828925"/>
            <a:ext cx="9525" cy="71437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3429000" y="3000375"/>
            <a:ext cx="279273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日期·星期·天气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6391275" y="2828925"/>
            <a:ext cx="9525" cy="71437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6667500" y="3000375"/>
            <a:ext cx="31851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我看到的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10010775" y="2828925"/>
            <a:ext cx="9525" cy="71437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10287000" y="3000375"/>
            <a:ext cx="395039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与上次相比的变化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4373225" y="2828925"/>
            <a:ext cx="9525" cy="714375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4649450" y="3000375"/>
            <a:ext cx="2400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内心感受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1057275" y="3543300"/>
            <a:ext cx="16173450" cy="7143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1323975" y="3714750"/>
            <a:ext cx="1638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第一天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3152775" y="354330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3492500" y="3714750"/>
            <a:ext cx="279273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/>
              <a:t>----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6391275" y="354330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6667500" y="3714750"/>
            <a:ext cx="31851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圆、黄、硬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010775" y="354330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0287000" y="3714750"/>
            <a:ext cx="395039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无对比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14373225" y="354330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14649450" y="3714750"/>
            <a:ext cx="2400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希望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黄豆</a:t>
            </a: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快些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长大</a:t>
            </a:r>
            <a:endParaRPr lang="zh-CN" altLang="en-US" sz="2175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57275" y="4257675"/>
            <a:ext cx="16173450" cy="7143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23975" y="4429125"/>
            <a:ext cx="1638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第三天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3152775" y="425767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3492500" y="4429125"/>
            <a:ext cx="279273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ym typeface="+mn-ea"/>
              </a:rPr>
              <a:t>----</a:t>
            </a:r>
            <a:endParaRPr lang="en-US" sz="2175" dirty="0"/>
          </a:p>
        </p:txBody>
      </p:sp>
      <p:sp>
        <p:nvSpPr>
          <p:cNvPr id="33" name="Shape 30"/>
          <p:cNvSpPr/>
          <p:nvPr/>
        </p:nvSpPr>
        <p:spPr>
          <a:xfrm>
            <a:off x="6391275" y="425767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6667500" y="4429125"/>
            <a:ext cx="31851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皮松、有缝</a:t>
            </a:r>
            <a:endParaRPr lang="en-US" sz="2175" dirty="0"/>
          </a:p>
        </p:txBody>
      </p:sp>
      <p:sp>
        <p:nvSpPr>
          <p:cNvPr id="35" name="Shape 32"/>
          <p:cNvSpPr/>
          <p:nvPr/>
        </p:nvSpPr>
        <p:spPr>
          <a:xfrm>
            <a:off x="10010775" y="425767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10287000" y="4429125"/>
            <a:ext cx="395039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缝里挤出</a:t>
            </a: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色的芽</a:t>
            </a:r>
            <a:endParaRPr lang="zh-CN" altLang="en-US" sz="217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14373225" y="4257675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8" name="Text 35"/>
          <p:cNvSpPr/>
          <p:nvPr/>
        </p:nvSpPr>
        <p:spPr>
          <a:xfrm>
            <a:off x="14649450" y="4429125"/>
            <a:ext cx="2400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想拨开看看</a:t>
            </a:r>
            <a:endParaRPr lang="en-US" sz="2175" dirty="0"/>
          </a:p>
        </p:txBody>
      </p:sp>
      <p:sp>
        <p:nvSpPr>
          <p:cNvPr id="39" name="Shape 36"/>
          <p:cNvSpPr/>
          <p:nvPr/>
        </p:nvSpPr>
        <p:spPr>
          <a:xfrm>
            <a:off x="1057275" y="4972050"/>
            <a:ext cx="16173450" cy="71437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40" name="Text 37"/>
          <p:cNvSpPr/>
          <p:nvPr/>
        </p:nvSpPr>
        <p:spPr>
          <a:xfrm>
            <a:off x="1323975" y="5143500"/>
            <a:ext cx="1638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第六天</a:t>
            </a:r>
            <a:endParaRPr lang="en-US" sz="2175" dirty="0"/>
          </a:p>
        </p:txBody>
      </p:sp>
      <p:sp>
        <p:nvSpPr>
          <p:cNvPr id="41" name="Shape 38"/>
          <p:cNvSpPr/>
          <p:nvPr/>
        </p:nvSpPr>
        <p:spPr>
          <a:xfrm>
            <a:off x="3152775" y="497205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2" name="Text 39"/>
          <p:cNvSpPr/>
          <p:nvPr/>
        </p:nvSpPr>
        <p:spPr>
          <a:xfrm>
            <a:off x="3492500" y="5143500"/>
            <a:ext cx="279273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ym typeface="+mn-ea"/>
              </a:rPr>
              <a:t>----</a:t>
            </a:r>
            <a:endParaRPr lang="en-US" sz="2175" dirty="0"/>
          </a:p>
        </p:txBody>
      </p:sp>
      <p:sp>
        <p:nvSpPr>
          <p:cNvPr id="43" name="Shape 40"/>
          <p:cNvSpPr/>
          <p:nvPr/>
        </p:nvSpPr>
        <p:spPr>
          <a:xfrm>
            <a:off x="6391275" y="497205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4" name="Text 41"/>
          <p:cNvSpPr/>
          <p:nvPr/>
        </p:nvSpPr>
        <p:spPr>
          <a:xfrm>
            <a:off x="6667500" y="5143500"/>
            <a:ext cx="318516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白芽、弯曲</a:t>
            </a:r>
            <a:endParaRPr lang="en-US" sz="2175" dirty="0"/>
          </a:p>
        </p:txBody>
      </p:sp>
      <p:sp>
        <p:nvSpPr>
          <p:cNvPr id="45" name="Shape 42"/>
          <p:cNvSpPr/>
          <p:nvPr/>
        </p:nvSpPr>
        <p:spPr>
          <a:xfrm>
            <a:off x="10010775" y="497205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6" name="Text 43"/>
          <p:cNvSpPr/>
          <p:nvPr/>
        </p:nvSpPr>
        <p:spPr>
          <a:xfrm>
            <a:off x="10287000" y="5143500"/>
            <a:ext cx="395039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白点长成嫩芽</a:t>
            </a:r>
            <a:endParaRPr lang="en-US" sz="2175" dirty="0"/>
          </a:p>
        </p:txBody>
      </p:sp>
      <p:sp>
        <p:nvSpPr>
          <p:cNvPr id="47" name="Shape 44"/>
          <p:cNvSpPr/>
          <p:nvPr/>
        </p:nvSpPr>
        <p:spPr>
          <a:xfrm>
            <a:off x="14373225" y="4972050"/>
            <a:ext cx="9525" cy="71437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8" name="Text 45"/>
          <p:cNvSpPr/>
          <p:nvPr/>
        </p:nvSpPr>
        <p:spPr>
          <a:xfrm>
            <a:off x="14649450" y="5143500"/>
            <a:ext cx="240030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有些得意</a:t>
            </a:r>
            <a:endParaRPr lang="en-US" sz="2175" dirty="0"/>
          </a:p>
        </p:txBody>
      </p:sp>
      <p:sp>
        <p:nvSpPr>
          <p:cNvPr id="49" name="Shape 46"/>
          <p:cNvSpPr/>
          <p:nvPr/>
        </p:nvSpPr>
        <p:spPr>
          <a:xfrm>
            <a:off x="1047750" y="6096000"/>
            <a:ext cx="16192500" cy="938213"/>
          </a:xfrm>
          <a:prstGeom prst="roundRect">
            <a:avLst>
              <a:gd name="adj" fmla="val 1624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50" name="Text 47"/>
          <p:cNvSpPr/>
          <p:nvPr/>
        </p:nvSpPr>
        <p:spPr>
          <a:xfrm>
            <a:off x="1428750" y="6343650"/>
            <a:ext cx="1120267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每格最多</a:t>
            </a:r>
            <a:r>
              <a:rPr lang="zh-CN" alt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两三个词，每个词在写作时都能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扩展成一两句话 </a:t>
            </a:r>
            <a:r>
              <a:rPr lang="en-US" sz="2600" b="1" dirty="0">
                <a:solidFill>
                  <a:srgbClr val="2C3A54"/>
                </a:solidFill>
                <a:highlight>
                  <a:srgbClr val="DCE6F5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b="1" dirty="0">
              <a:solidFill>
                <a:srgbClr val="2C3A54"/>
              </a:solidFill>
              <a:highlight>
                <a:srgbClr val="DCE6F5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047750" y="7334250"/>
            <a:ext cx="16192500" cy="1043880"/>
          </a:xfrm>
          <a:prstGeom prst="roundRect">
            <a:avLst>
              <a:gd name="adj" fmla="val 1642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52" name="Text 49"/>
          <p:cNvSpPr/>
          <p:nvPr/>
        </p:nvSpPr>
        <p:spPr>
          <a:xfrm>
            <a:off x="1428750" y="7620000"/>
            <a:ext cx="12951460" cy="5105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6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最重要的是第四栏：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三天的变化必须各不相同</a:t>
            </a:r>
            <a:r>
              <a:rPr lang="en-US" sz="2600" dirty="0">
                <a:solidFill>
                  <a:srgbClr val="2A2E37"/>
                </a:solidFill>
                <a:highlight>
                  <a:srgbClr val="FCF3EE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，不能三则都只写“豆子变大了”。</a:t>
            </a:r>
            <a:endParaRPr lang="en-US" sz="2600" dirty="0">
              <a:solidFill>
                <a:srgbClr val="2A2E37"/>
              </a:solidFill>
              <a:highlight>
                <a:srgbClr val="FCF3EE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6" name="矩形 5"/>
          <p:cNvSpPr/>
          <p:nvPr/>
        </p:nvSpPr>
        <p:spPr>
          <a:xfrm>
            <a:off x="0" y="2714625"/>
            <a:ext cx="18288000" cy="683895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5736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观察记录表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00200"/>
            <a:ext cx="8280400" cy="8312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填写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记录表</a:t>
            </a:r>
            <a:r>
              <a:rPr 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填完后</a:t>
            </a:r>
            <a:r>
              <a:rPr 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按顺序说一遍</a:t>
            </a:r>
            <a:endParaRPr lang="en-US" sz="3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2"/>
            </p:custDataLst>
          </p:nvPr>
        </p:nvSpPr>
        <p:spPr>
          <a:xfrm>
            <a:off x="1645920" y="3158490"/>
            <a:ext cx="12120880" cy="1005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第二栏</a:t>
            </a:r>
            <a:r>
              <a:rPr lang="zh-CN" alt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如实填写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日期、星期、天气 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，日记第一行就写这三项</a:t>
            </a:r>
            <a:endParaRPr lang="en-US" sz="26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3"/>
            </p:custDataLst>
          </p:nvPr>
        </p:nvSpPr>
        <p:spPr>
          <a:xfrm>
            <a:off x="1645920" y="4414520"/>
            <a:ext cx="8100695" cy="5213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只填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；三行的“变化”，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每行一个新发现</a:t>
            </a:r>
            <a:endParaRPr lang="en-US" sz="26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>
            <p:custDataLst>
              <p:tags r:id="rId4"/>
            </p:custDataLst>
          </p:nvPr>
        </p:nvSpPr>
        <p:spPr>
          <a:xfrm>
            <a:off x="1645920" y="5496560"/>
            <a:ext cx="10445750" cy="8039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填完后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轻声按表格说一遍 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，说不顺的地方，就是还没想清的地方</a:t>
            </a:r>
            <a:endParaRPr lang="en-US" sz="26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047750" y="6591300"/>
            <a:ext cx="16192500" cy="1935480"/>
          </a:xfrm>
          <a:prstGeom prst="roundRect">
            <a:avLst>
              <a:gd name="adj" fmla="val 11034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9" name="Text 15"/>
          <p:cNvSpPr/>
          <p:nvPr/>
        </p:nvSpPr>
        <p:spPr>
          <a:xfrm>
            <a:off x="1428750" y="6798945"/>
            <a:ext cx="11720195" cy="17062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20000"/>
          </a:bodyPr>
          <a:lstStyle/>
          <a:p>
            <a:pPr indent="0" algn="l" fontAlgn="auto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三行</a:t>
            </a:r>
            <a:r>
              <a:rPr lang="zh-CN" alt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不能只填同一处变化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例如除了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大小以外，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豆皮有没有变化？颜色呢？</a:t>
            </a:r>
            <a:endParaRPr lang="en-US" sz="24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家里正养着小猫、种着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蒜苗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的，也可以写自己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熟悉的事物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，同样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三则，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找出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三处</a:t>
            </a:r>
            <a:endParaRPr lang="en-US" sz="24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indent="0" algn="l" fontAlgn="auto">
              <a:lnSpc>
                <a:spcPct val="150000"/>
              </a:lnSpc>
              <a:buNone/>
            </a:pP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</a:t>
            </a:r>
            <a:r>
              <a:rPr lang="zh-CN" alt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的变化</a:t>
            </a:r>
            <a:r>
              <a:rPr lang="en-US" sz="24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1428750" y="8746490"/>
            <a:ext cx="717613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请分享你找到的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三处不同的变化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5"/>
            </p:custDataLst>
          </p:nvPr>
        </p:nvSpPr>
        <p:spPr>
          <a:xfrm>
            <a:off x="1040130" y="318643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6"/>
            </p:custDataLst>
          </p:nvPr>
        </p:nvSpPr>
        <p:spPr>
          <a:xfrm>
            <a:off x="1040130" y="314960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7"/>
            </p:custDataLst>
          </p:nvPr>
        </p:nvSpPr>
        <p:spPr>
          <a:xfrm>
            <a:off x="1040130" y="442658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8"/>
            </p:custDataLst>
          </p:nvPr>
        </p:nvSpPr>
        <p:spPr>
          <a:xfrm>
            <a:off x="1040130" y="438975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9"/>
            </p:custDataLst>
          </p:nvPr>
        </p:nvSpPr>
        <p:spPr>
          <a:xfrm>
            <a:off x="1039495" y="551180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10"/>
            </p:custDataLst>
          </p:nvPr>
        </p:nvSpPr>
        <p:spPr>
          <a:xfrm>
            <a:off x="1039495" y="547497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" name="图片 1" descr="写观察日记-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94540" y="3052445"/>
            <a:ext cx="6093460" cy="70262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43141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8750" y="1619250"/>
            <a:ext cx="10499725" cy="624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老师养蚕时写的一组日记：</a:t>
            </a:r>
            <a:r>
              <a:rPr 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每则开头写了什么新变化？</a:t>
            </a:r>
            <a:endParaRPr lang="en-US" sz="30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607945"/>
            <a:ext cx="16192500" cy="6555105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lstStyle/>
          <a:p/>
        </p:txBody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6138545" y="2769870"/>
            <a:ext cx="4431030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四月九日      星期四     晴</a:t>
            </a:r>
            <a:endParaRPr lang="en-US" sz="2200" b="1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925830" y="3238500"/>
            <a:ext cx="16277590" cy="1123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476250" algn="just">
              <a:lnSpc>
                <a:spcPct val="115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今天我从同事那里领回来一小盒蚕。盒子打开，我差点没找着它们。十几条小东西趴在桑叶上，黑黑的， </a:t>
            </a:r>
            <a:r>
              <a:rPr lang="en-US" sz="2200" b="1" dirty="0">
                <a:solidFill>
                  <a:srgbClr val="4E9A5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细得像一段一</a:t>
            </a:r>
            <a:endParaRPr lang="en-US" sz="2200" b="1" dirty="0">
              <a:solidFill>
                <a:srgbClr val="4E9A5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476250" algn="just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4E9A5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段的线头，比我的指甲盖还短 </a:t>
            </a: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。我用手指碰了碰盒子边，它们一动不动，只有嘴那一头在轻轻地动。桑叶上有几个针眼大</a:t>
            </a:r>
            <a:endParaRPr lang="en-US" sz="2200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476250" algn="just">
              <a:lnSpc>
                <a:spcPct val="115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的小洞，原来是它们咬的。 </a:t>
            </a:r>
            <a:r>
              <a:rPr lang="en-US" sz="2200" b="1" dirty="0">
                <a:solidFill>
                  <a:srgbClr val="8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就这么点大，也会吃东西了。</a:t>
            </a:r>
            <a:endParaRPr lang="en-US" sz="2200" b="1" dirty="0">
              <a:solidFill>
                <a:srgbClr val="8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6138545" y="4747260"/>
            <a:ext cx="5431790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四月十四日      星期二     阴</a:t>
            </a:r>
            <a:endParaRPr lang="en-US" sz="2200" b="1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2" name="Text 9"/>
          <p:cNvSpPr/>
          <p:nvPr>
            <p:custDataLst>
              <p:tags r:id="rId6"/>
            </p:custDataLst>
          </p:nvPr>
        </p:nvSpPr>
        <p:spPr>
          <a:xfrm>
            <a:off x="895350" y="5246370"/>
            <a:ext cx="16341090" cy="13341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476250" algn="just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C0392B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才隔了五天，它们身上的黑就退掉了大半。上次还是一段段黑线头，今天从头那一节起，渐渐地变成了灰白色 </a:t>
            </a: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，只有尾</a:t>
            </a:r>
            <a:endParaRPr lang="en-US" sz="2200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476250" algn="just">
              <a:lnSpc>
                <a:spcPct val="115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巴尖上还留着一点黑。个头也长了，最长的那一条趴直了有小半个指节。我把新桑叶铺上去，它们爬得比上次快多了，一片叶</a:t>
            </a:r>
            <a:endParaRPr lang="en-US" sz="2200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476250" algn="just">
              <a:lnSpc>
                <a:spcPct val="115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子上很快就挤满了。</a:t>
            </a:r>
            <a:endParaRPr lang="en-US" sz="2200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3" name="Text 10"/>
          <p:cNvSpPr/>
          <p:nvPr>
            <p:custDataLst>
              <p:tags r:id="rId7"/>
            </p:custDataLst>
          </p:nvPr>
        </p:nvSpPr>
        <p:spPr>
          <a:xfrm>
            <a:off x="6138545" y="6736080"/>
            <a:ext cx="4636135" cy="400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四月二十日     星期一      晴</a:t>
            </a:r>
            <a:endParaRPr lang="en-US" sz="2200" b="1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956310" y="7212330"/>
            <a:ext cx="16378555" cy="1790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476250" algn="just">
              <a:lnSpc>
                <a:spcPct val="115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 今天早上一掀盒盖，我先听见了声音——</a:t>
            </a:r>
            <a:r>
              <a:rPr lang="en-US" sz="2200" b="1" dirty="0">
                <a:solidFill>
                  <a:srgbClr val="2F72B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沙沙沙，沙沙沙，像远处在下小雨 </a:t>
            </a: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。凑近了看，那些蚕已经全白了，身子一节</a:t>
            </a:r>
            <a:endParaRPr lang="en-US" sz="2200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476250" algn="just">
              <a:lnSpc>
                <a:spcPct val="115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一节的，比上次胖了一圈，趴在叶子上一口挨着一口地啃， </a:t>
            </a:r>
            <a:r>
              <a:rPr lang="en-US" sz="2200" b="1" dirty="0">
                <a:solidFill>
                  <a:srgbClr val="4E9A5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叶子边上很快就啃出一个个半圆的缺口 </a:t>
            </a: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。有一条爬到盒角上不动</a:t>
            </a:r>
            <a:endParaRPr lang="en-US" sz="2200" dirty="0">
              <a:solidFill>
                <a:srgbClr val="2A2E37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476250" algn="just">
              <a:lnSpc>
                <a:spcPct val="115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了，昂着头，一动不动待了很久。我查了查，这是要蜕皮了。我在旁边守了十分钟，它还是那个姿势。 </a:t>
            </a:r>
            <a:r>
              <a:rPr lang="en-US" sz="2200" b="1" dirty="0">
                <a:solidFill>
                  <a:srgbClr val="8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我把盒盖轻轻合上，</a:t>
            </a:r>
            <a:endParaRPr lang="en-US" sz="2200" b="1" dirty="0">
              <a:solidFill>
                <a:srgbClr val="8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0" indent="476250" algn="just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8E5AA8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明天再来看它。</a:t>
            </a:r>
            <a:endParaRPr lang="en-US" sz="2200" b="1" dirty="0">
              <a:solidFill>
                <a:srgbClr val="8E5AA8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47750" y="9410700"/>
            <a:ext cx="432371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点明变化 · 对比句式</a:t>
            </a:r>
            <a:endParaRPr lang="en-US" sz="2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177030" y="9410700"/>
            <a:ext cx="3338830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听得见的声音</a:t>
            </a:r>
            <a:endParaRPr lang="en-US" sz="2200" b="1" dirty="0">
              <a:solidFill>
                <a:srgbClr val="2F72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11925" y="9410700"/>
            <a:ext cx="432371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打比方 · 具体形态</a:t>
            </a:r>
            <a:endParaRPr lang="en-US" sz="2200" b="1" dirty="0">
              <a:solidFill>
                <a:srgbClr val="4E9A5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441180" y="9410700"/>
            <a:ext cx="237172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真实感受</a:t>
            </a:r>
            <a:endParaRPr lang="en-US" sz="2200" b="1" dirty="0">
              <a:solidFill>
                <a:srgbClr val="8E5A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8256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4960"/>
            <a:ext cx="9312275" cy="582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每句话的作用：把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写变化的方法 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梳理清楚</a:t>
            </a:r>
            <a:endParaRPr lang="en-US" sz="32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6000750"/>
          </a:xfrm>
          <a:prstGeom prst="roundRect">
            <a:avLst>
              <a:gd name="adj" fmla="val 2222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0" name="Text 7"/>
          <p:cNvSpPr/>
          <p:nvPr/>
        </p:nvSpPr>
        <p:spPr>
          <a:xfrm>
            <a:off x="1362075" y="3000375"/>
            <a:ext cx="9966389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示范文中的句子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1132522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lstStyle/>
          <a:p/>
        </p:txBody>
      </p:sp>
      <p:sp>
        <p:nvSpPr>
          <p:cNvPr id="12" name="Text 9"/>
          <p:cNvSpPr/>
          <p:nvPr/>
        </p:nvSpPr>
        <p:spPr>
          <a:xfrm>
            <a:off x="11639550" y="3000375"/>
            <a:ext cx="54635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这一句的作用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5282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362075" y="3705225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四月九日 星期四 晴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325225" y="355282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16" name="Text 13"/>
          <p:cNvSpPr/>
          <p:nvPr/>
        </p:nvSpPr>
        <p:spPr>
          <a:xfrm>
            <a:off x="11639550" y="3705225"/>
            <a:ext cx="54635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日记的第一行：日期、星期、天气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1057275" y="421005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18" name="Text 15"/>
          <p:cNvSpPr/>
          <p:nvPr/>
        </p:nvSpPr>
        <p:spPr>
          <a:xfrm>
            <a:off x="1362075" y="4362450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细得像一段一段的线头，比我的指甲盖还短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11325225" y="421005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11639550" y="4362450"/>
            <a:ext cx="54635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第一天没有对比，先把原来的样子写清楚</a:t>
            </a:r>
            <a:endParaRPr lang="en-US" sz="2100" dirty="0"/>
          </a:p>
        </p:txBody>
      </p:sp>
      <p:sp>
        <p:nvSpPr>
          <p:cNvPr id="21" name="Shape 18"/>
          <p:cNvSpPr/>
          <p:nvPr/>
        </p:nvSpPr>
        <p:spPr>
          <a:xfrm>
            <a:off x="1057275" y="486727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22" name="Text 19"/>
          <p:cNvSpPr/>
          <p:nvPr/>
        </p:nvSpPr>
        <p:spPr>
          <a:xfrm>
            <a:off x="1362075" y="5019675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才隔了五天，它们身上的黑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色</a:t>
            </a: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就退掉了大半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11325225" y="486727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4" name="Text 21"/>
          <p:cNvSpPr/>
          <p:nvPr/>
        </p:nvSpPr>
        <p:spPr>
          <a:xfrm>
            <a:off x="11639550" y="5019675"/>
            <a:ext cx="54635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开头直接点明当天的新变化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057275" y="552450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6" name="Text 23"/>
          <p:cNvSpPr/>
          <p:nvPr/>
        </p:nvSpPr>
        <p:spPr>
          <a:xfrm>
            <a:off x="1362075" y="5676900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上次还是一段段黑线头，今天从头那一节起，渐渐地变成了灰白色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1325225" y="552450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28" name="Text 25"/>
          <p:cNvSpPr/>
          <p:nvPr/>
        </p:nvSpPr>
        <p:spPr>
          <a:xfrm>
            <a:off x="11586210" y="5676900"/>
            <a:ext cx="619252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用“上次……今天……渐渐地”的对比句式写变化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1057275" y="618172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0" name="Text 27"/>
          <p:cNvSpPr/>
          <p:nvPr/>
        </p:nvSpPr>
        <p:spPr>
          <a:xfrm>
            <a:off x="1362075" y="6334125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就这么点大，也会吃东西了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11325225" y="618172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2" name="Text 29"/>
          <p:cNvSpPr/>
          <p:nvPr/>
        </p:nvSpPr>
        <p:spPr>
          <a:xfrm>
            <a:off x="11639550" y="6334125"/>
            <a:ext cx="54635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结尾写真实感受，不写空洞套话</a:t>
            </a:r>
            <a:endParaRPr lang="en-US" sz="2100" dirty="0"/>
          </a:p>
        </p:txBody>
      </p:sp>
      <p:sp>
        <p:nvSpPr>
          <p:cNvPr id="33" name="Shape 30"/>
          <p:cNvSpPr/>
          <p:nvPr/>
        </p:nvSpPr>
        <p:spPr>
          <a:xfrm>
            <a:off x="1057275" y="683895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" name="Text 31"/>
          <p:cNvSpPr/>
          <p:nvPr/>
        </p:nvSpPr>
        <p:spPr>
          <a:xfrm>
            <a:off x="1362075" y="6991350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沙沙沙，沙沙沙，像远处在下小雨</a:t>
            </a:r>
            <a:endParaRPr lang="en-US" sz="2100" dirty="0"/>
          </a:p>
        </p:txBody>
      </p:sp>
      <p:sp>
        <p:nvSpPr>
          <p:cNvPr id="35" name="Shape 32"/>
          <p:cNvSpPr/>
          <p:nvPr/>
        </p:nvSpPr>
        <p:spPr>
          <a:xfrm>
            <a:off x="11325225" y="683895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36" name="Text 33"/>
          <p:cNvSpPr/>
          <p:nvPr/>
        </p:nvSpPr>
        <p:spPr>
          <a:xfrm>
            <a:off x="11639550" y="6991350"/>
            <a:ext cx="54635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写出听到的声音，让读者如临其境</a:t>
            </a:r>
            <a:endParaRPr lang="en-US" sz="2100" dirty="0"/>
          </a:p>
        </p:txBody>
      </p:sp>
      <p:sp>
        <p:nvSpPr>
          <p:cNvPr id="37" name="Shape 34"/>
          <p:cNvSpPr/>
          <p:nvPr/>
        </p:nvSpPr>
        <p:spPr>
          <a:xfrm>
            <a:off x="1057275" y="749617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lstStyle/>
          <a:p/>
        </p:txBody>
      </p:sp>
      <p:sp>
        <p:nvSpPr>
          <p:cNvPr id="38" name="Text 35"/>
          <p:cNvSpPr/>
          <p:nvPr/>
        </p:nvSpPr>
        <p:spPr>
          <a:xfrm>
            <a:off x="1362075" y="7648575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叶子边上很快就啃出一个个半圆的缺口</a:t>
            </a:r>
            <a:endParaRPr lang="en-US" sz="2100" dirty="0"/>
          </a:p>
        </p:txBody>
      </p:sp>
      <p:sp>
        <p:nvSpPr>
          <p:cNvPr id="39" name="Shape 36"/>
          <p:cNvSpPr/>
          <p:nvPr/>
        </p:nvSpPr>
        <p:spPr>
          <a:xfrm>
            <a:off x="11325225" y="749617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0" name="Text 37"/>
          <p:cNvSpPr/>
          <p:nvPr/>
        </p:nvSpPr>
        <p:spPr>
          <a:xfrm>
            <a:off x="11639550" y="7648575"/>
            <a:ext cx="54635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不说“吃得快”，用具体形态体现变化</a:t>
            </a:r>
            <a:endParaRPr lang="en-US" sz="2100" dirty="0"/>
          </a:p>
        </p:txBody>
      </p:sp>
      <p:sp>
        <p:nvSpPr>
          <p:cNvPr id="41" name="Shape 38"/>
          <p:cNvSpPr/>
          <p:nvPr/>
        </p:nvSpPr>
        <p:spPr>
          <a:xfrm>
            <a:off x="1057275" y="815340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42" name="Text 39"/>
          <p:cNvSpPr/>
          <p:nvPr/>
        </p:nvSpPr>
        <p:spPr>
          <a:xfrm>
            <a:off x="1362075" y="8305800"/>
            <a:ext cx="996638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我把盒盖轻轻合上，明天再来看它</a:t>
            </a:r>
            <a:endParaRPr lang="en-US" sz="2100" dirty="0"/>
          </a:p>
        </p:txBody>
      </p:sp>
      <p:sp>
        <p:nvSpPr>
          <p:cNvPr id="43" name="Shape 40"/>
          <p:cNvSpPr/>
          <p:nvPr/>
        </p:nvSpPr>
        <p:spPr>
          <a:xfrm>
            <a:off x="11325225" y="815340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lstStyle/>
          <a:p/>
        </p:txBody>
      </p:sp>
      <p:sp>
        <p:nvSpPr>
          <p:cNvPr id="44" name="Text 41"/>
          <p:cNvSpPr/>
          <p:nvPr/>
        </p:nvSpPr>
        <p:spPr>
          <a:xfrm>
            <a:off x="11639550" y="8305800"/>
            <a:ext cx="546354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自然收尾，不刻意升华</a:t>
            </a:r>
            <a:endParaRPr lang="en-US" sz="2100" dirty="0"/>
          </a:p>
        </p:txBody>
      </p:sp>
      <p:sp>
        <p:nvSpPr>
          <p:cNvPr id="45" name="Text 42"/>
          <p:cNvSpPr/>
          <p:nvPr/>
        </p:nvSpPr>
        <p:spPr>
          <a:xfrm>
            <a:off x="1184910" y="9267825"/>
            <a:ext cx="1297051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观察蚕和观察黄豆，方法相通：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开头点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变化，中间用对比写具体，结尾加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真实感受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2"/>
          <p:cNvSpPr/>
          <p:nvPr/>
        </p:nvSpPr>
        <p:spPr>
          <a:xfrm>
            <a:off x="393065" y="392430"/>
            <a:ext cx="17532985" cy="945896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1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12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7954878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写第一则 · 自由写作 · 对照实物评议 · 同桌互读 · 修改收束</a:t>
            </a:r>
            <a:endParaRPr lang="en-US" sz="2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7" name="图片 26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pic>
        <p:nvPicPr>
          <p:cNvPr id="6" name="图片 5" descr="写观察日记-14-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280" y="4023995"/>
            <a:ext cx="5703570" cy="3823335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09105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写第一则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8770"/>
            <a:ext cx="7677785" cy="607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跟随老师，先写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第一天的日记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047750" y="2781300"/>
            <a:ext cx="16192500" cy="1200150"/>
          </a:xfrm>
          <a:prstGeom prst="roundRect">
            <a:avLst>
              <a:gd name="adj" fmla="val 12698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28750" y="2990850"/>
            <a:ext cx="14614525" cy="819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第一行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日期、星期、天气</a:t>
            </a: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。开头空两格，第一句交代背景，如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“今天，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盘</a:t>
            </a:r>
            <a:r>
              <a:rPr 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子里泡进一把黄豆。” </a:t>
            </a:r>
            <a:endParaRPr lang="en-US" sz="2325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（也可以用自己的话来写）</a:t>
            </a:r>
            <a:endParaRPr lang="en-US" sz="2325" b="1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47750" y="41910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009650" y="434340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写样子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724150" y="4289425"/>
            <a:ext cx="6647815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刚泡好的豆子是什么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颜色、什么形状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047750" y="50863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009650" y="523875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写细节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2724150" y="5184775"/>
            <a:ext cx="10553065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凑近观察：豆皮上有没有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纹路、印记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？黄色深浅有没有区别？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047750" y="59817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1009650" y="613410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摸与闻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724150" y="6080125"/>
            <a:ext cx="10054590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轻轻摸一摸、凑近闻一闻，</a:t>
            </a:r>
            <a:r>
              <a:rPr lang="en-US" sz="2600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有感受就写，没有则不必勉强</a:t>
            </a:r>
            <a:endParaRPr lang="en-US" sz="2600" dirty="0">
              <a:solidFill>
                <a:srgbClr val="5B64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47750" y="68770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20" name="Text 17"/>
          <p:cNvSpPr/>
          <p:nvPr/>
        </p:nvSpPr>
        <p:spPr>
          <a:xfrm>
            <a:off x="1009650" y="7029450"/>
            <a:ext cx="15049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写感受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2724150" y="6975475"/>
            <a:ext cx="11146155" cy="466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最后一句：豆子刚泡好时，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你心里在想什么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？（参考记录表最后一栏）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047750" y="8057704"/>
            <a:ext cx="16192500" cy="991046"/>
          </a:xfrm>
          <a:prstGeom prst="roundRect">
            <a:avLst>
              <a:gd name="adj" fmla="val 17300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Text 20"/>
          <p:cNvSpPr/>
          <p:nvPr/>
        </p:nvSpPr>
        <p:spPr>
          <a:xfrm>
            <a:off x="1466850" y="8308975"/>
            <a:ext cx="13221335" cy="4959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第一天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</a:t>
            </a:r>
            <a:r>
              <a:rPr lang="zh-CN" alt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有对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，就把刚浸泡时的样子写清楚，这一则是后面两则的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参照</a:t>
            </a:r>
            <a:r>
              <a:rPr lang="en-US" sz="26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6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398270" y="9269730"/>
            <a:ext cx="892238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写完通读一遍，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观察的起点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就记录下来了。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0218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600200"/>
            <a:ext cx="7893050" cy="8902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一组观察日记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点注意事项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3"/>
            </p:custDataLst>
          </p:nvPr>
        </p:nvSpPr>
        <p:spPr>
          <a:xfrm>
            <a:off x="1047750" y="3105150"/>
            <a:ext cx="5168801" cy="285750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9" name="Text 6"/>
          <p:cNvSpPr/>
          <p:nvPr>
            <p:custDataLst>
              <p:tags r:id="rId4"/>
            </p:custDataLst>
          </p:nvPr>
        </p:nvSpPr>
        <p:spPr>
          <a:xfrm>
            <a:off x="1428750" y="3448050"/>
            <a:ext cx="4847481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zh-CN" altLang="en-US" sz="5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第一点</a:t>
            </a:r>
            <a:endParaRPr lang="en-US" sz="5400" dirty="0"/>
          </a:p>
        </p:txBody>
      </p:sp>
      <p:sp>
        <p:nvSpPr>
          <p:cNvPr id="10" name="Text 7"/>
          <p:cNvSpPr/>
          <p:nvPr>
            <p:custDataLst>
              <p:tags r:id="rId5"/>
            </p:custDataLst>
          </p:nvPr>
        </p:nvSpPr>
        <p:spPr>
          <a:xfrm>
            <a:off x="1428750" y="4133850"/>
            <a:ext cx="4538980" cy="134747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每则开头写清 </a:t>
            </a:r>
            <a:endParaRPr lang="en-US" sz="28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日期、星期、天气</a:t>
            </a:r>
            <a:endParaRPr lang="en-US" sz="2800" dirty="0"/>
          </a:p>
        </p:txBody>
      </p:sp>
      <p:sp>
        <p:nvSpPr>
          <p:cNvPr id="11" name="Shape 8"/>
          <p:cNvSpPr/>
          <p:nvPr>
            <p:custDataLst>
              <p:tags r:id="rId6"/>
            </p:custDataLst>
          </p:nvPr>
        </p:nvSpPr>
        <p:spPr>
          <a:xfrm>
            <a:off x="6559451" y="3105150"/>
            <a:ext cx="5168950" cy="285750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12" name="Text 9"/>
          <p:cNvSpPr/>
          <p:nvPr>
            <p:custDataLst>
              <p:tags r:id="rId7"/>
            </p:custDataLst>
          </p:nvPr>
        </p:nvSpPr>
        <p:spPr>
          <a:xfrm>
            <a:off x="6940451" y="3448050"/>
            <a:ext cx="4847645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zh-CN" altLang="en-US" sz="5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第二点</a:t>
            </a:r>
            <a:endParaRPr lang="en-US" sz="540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6940550" y="4133850"/>
            <a:ext cx="4847590" cy="13665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每则开头 </a:t>
            </a:r>
            <a:endParaRPr lang="en-US" sz="28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点明当天新变化</a:t>
            </a:r>
            <a:endParaRPr lang="en-US" sz="2800" dirty="0"/>
          </a:p>
        </p:txBody>
      </p:sp>
      <p:sp>
        <p:nvSpPr>
          <p:cNvPr id="14" name="Shape 11"/>
          <p:cNvSpPr/>
          <p:nvPr>
            <p:custDataLst>
              <p:tags r:id="rId9"/>
            </p:custDataLst>
          </p:nvPr>
        </p:nvSpPr>
        <p:spPr>
          <a:xfrm>
            <a:off x="12071300" y="3105150"/>
            <a:ext cx="5168950" cy="2857500"/>
          </a:xfrm>
          <a:prstGeom prst="roundRect">
            <a:avLst>
              <a:gd name="adj" fmla="val 6000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lstStyle/>
          <a:p/>
        </p:txBody>
      </p:sp>
      <p:sp>
        <p:nvSpPr>
          <p:cNvPr id="15" name="Text 12"/>
          <p:cNvSpPr/>
          <p:nvPr>
            <p:custDataLst>
              <p:tags r:id="rId10"/>
            </p:custDataLst>
          </p:nvPr>
        </p:nvSpPr>
        <p:spPr>
          <a:xfrm>
            <a:off x="12452300" y="3448050"/>
            <a:ext cx="4847645" cy="7239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70000"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zh-CN" altLang="en-US" sz="5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第三点</a:t>
            </a:r>
            <a:endParaRPr lang="en-US" sz="5400" dirty="0"/>
          </a:p>
        </p:txBody>
      </p:sp>
      <p:sp>
        <p:nvSpPr>
          <p:cNvPr id="16" name="Text 13"/>
          <p:cNvSpPr/>
          <p:nvPr>
            <p:custDataLst>
              <p:tags r:id="rId11"/>
            </p:custDataLst>
          </p:nvPr>
        </p:nvSpPr>
        <p:spPr>
          <a:xfrm>
            <a:off x="12452350" y="4133850"/>
            <a:ext cx="4847590" cy="135191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三则记录的变化 </a:t>
            </a:r>
            <a:endParaRPr lang="en-US" sz="28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不能重复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86155" y="6419850"/>
            <a:ext cx="16349345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写完第一则接着写第二则，尽量保持连贯，不频繁停笔。写错的字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暂不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，全文写完后再回头修改。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13322935" y="8791575"/>
            <a:ext cx="4201795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</p:sp>
      <p:sp>
        <p:nvSpPr>
          <p:cNvPr id="23" name="Text 13"/>
          <p:cNvSpPr/>
          <p:nvPr/>
        </p:nvSpPr>
        <p:spPr>
          <a:xfrm>
            <a:off x="13571220" y="8982075"/>
            <a:ext cx="398081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18 分钟</a:t>
            </a:r>
            <a:endParaRPr lang="en-US" sz="2850" dirty="0"/>
          </a:p>
        </p:txBody>
      </p:sp>
      <p:pic>
        <p:nvPicPr>
          <p:cNvPr id="20" name="图片 19" descr="写观察日记-12-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395" y="7363460"/>
            <a:ext cx="6390640" cy="2600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50920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自由写作：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写一组观察日记</a:t>
            </a:r>
            <a:endParaRPr lang="zh-CN" altLang="en-US" sz="255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3075920" y="8791575"/>
            <a:ext cx="4164330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</p:spPr>
      </p:sp>
      <p:sp>
        <p:nvSpPr>
          <p:cNvPr id="23" name="Text 13"/>
          <p:cNvSpPr/>
          <p:nvPr/>
        </p:nvSpPr>
        <p:spPr>
          <a:xfrm>
            <a:off x="13346430" y="8982075"/>
            <a:ext cx="3622675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18 分钟</a:t>
            </a:r>
            <a:endParaRPr lang="en-US" sz="285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8885"/>
          <a:stretch>
            <a:fillRect/>
          </a:stretch>
        </p:blipFill>
        <p:spPr>
          <a:xfrm>
            <a:off x="1274445" y="1667510"/>
            <a:ext cx="15299690" cy="678561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14" name="图片 13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714625"/>
            <a:ext cx="18288000" cy="6838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280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43000" y="34290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9" name="Text 6"/>
          <p:cNvSpPr/>
          <p:nvPr/>
        </p:nvSpPr>
        <p:spPr>
          <a:xfrm>
            <a:off x="1409700" y="3200400"/>
            <a:ext cx="7028815" cy="535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四人一组，轮流朗读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自己最满意的一则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1143000" y="4497586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409700" y="4269105"/>
            <a:ext cx="11821160" cy="10325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其他三人</a:t>
            </a: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认真听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：所写的细节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对应豆子上的哪一处 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？找到后指出来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1143000" y="5491758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13" name="Text 10"/>
          <p:cNvSpPr/>
          <p:nvPr/>
        </p:nvSpPr>
        <p:spPr>
          <a:xfrm>
            <a:off x="1409700" y="5300980"/>
            <a:ext cx="9535795" cy="12998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再请两位</a:t>
            </a: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读给全班听，大家说一说</a:t>
            </a:r>
            <a:r>
              <a:rPr lang="zh-CN" alt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文中的描写，</a:t>
            </a:r>
            <a:endParaRPr lang="zh-CN" altLang="en-US" sz="28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1000"/>
              </a:lnSpc>
              <a:buNone/>
            </a:pPr>
            <a:r>
              <a:rPr lang="en-US" sz="28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对应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讲台上三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个盘子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里的哪一处</a:t>
            </a:r>
            <a:r>
              <a:rPr lang="zh-CN" alt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实物细节</a:t>
            </a:r>
            <a:endParaRPr lang="zh-CN" altLang="en-US" sz="28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66850" y="1581150"/>
            <a:ext cx="10126980" cy="836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豆子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找出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所写的那一处</a:t>
            </a:r>
            <a:r>
              <a:rPr lang="zh-CN" alt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</a:t>
            </a:r>
            <a:endParaRPr lang="zh-CN" alt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3"/>
          <p:cNvSpPr/>
          <p:nvPr/>
        </p:nvSpPr>
        <p:spPr>
          <a:xfrm>
            <a:off x="1131570" y="7152640"/>
            <a:ext cx="13319760" cy="1468755"/>
          </a:xfrm>
          <a:prstGeom prst="roundRect">
            <a:avLst>
              <a:gd name="adj" fmla="val 20041"/>
            </a:avLst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/>
        </p:txBody>
      </p:sp>
      <p:pic>
        <p:nvPicPr>
          <p:cNvPr id="15" name="图片 14" descr="写观察日记-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2365" y="4933950"/>
            <a:ext cx="8184515" cy="53530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43050" y="7419340"/>
            <a:ext cx="8366125" cy="1259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能找到实物细节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，说明写得 </a:t>
            </a:r>
            <a:r>
              <a:rPr lang="en-US" sz="28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准确、具体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不到，</a:t>
            </a:r>
            <a:r>
              <a:rPr lang="zh-CN" alt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稍后在修改环节补充</a:t>
            </a:r>
            <a:r>
              <a:rPr lang="en-US" sz="28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8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714625"/>
            <a:ext cx="18288000" cy="683895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63017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9675" y="1581150"/>
            <a:ext cx="8123555" cy="7607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同桌互读：为 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“变化句”标箭头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818880" y="3726815"/>
            <a:ext cx="6574155" cy="7283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与同桌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交换习作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，阅读对方的三则</a:t>
            </a:r>
            <a:r>
              <a:rPr lang="zh-CN" alt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  <a:endParaRPr lang="zh-CN" altLang="en-US" sz="2600" b="1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818880" y="5064760"/>
            <a:ext cx="9229090" cy="11131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在每一则中找出点明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“当天变化”的句子</a:t>
            </a: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，在旁边标一个箭头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8818880" y="6295390"/>
            <a:ext cx="6574155" cy="5492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6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三则日记，应能标出 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三个箭头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1047750" y="8131175"/>
            <a:ext cx="16276955" cy="927100"/>
          </a:xfrm>
          <a:prstGeom prst="roundRect">
            <a:avLst>
              <a:gd name="adj" fmla="val 12081"/>
            </a:avLst>
          </a:prstGeom>
          <a:solidFill>
            <a:srgbClr val="DCE6F5"/>
          </a:solidFill>
        </p:spPr>
        <p:txBody>
          <a:bodyPr/>
          <a:lstStyle/>
          <a:p/>
        </p:txBody>
      </p:sp>
      <p:sp>
        <p:nvSpPr>
          <p:cNvPr id="16" name="Text 12"/>
          <p:cNvSpPr/>
          <p:nvPr/>
        </p:nvSpPr>
        <p:spPr>
          <a:xfrm>
            <a:off x="1447800" y="8336280"/>
            <a:ext cx="16146145" cy="7651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</a:t>
            </a:r>
            <a:r>
              <a:rPr 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拿回自己的</a:t>
            </a:r>
            <a:r>
              <a:rPr lang="zh-CN" alt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  <a:r>
              <a:rPr lang="en-US" sz="26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检查：</a:t>
            </a:r>
            <a:r>
              <a:rPr lang="en-US" sz="26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三个箭头是否齐全？</a:t>
            </a:r>
            <a:r>
              <a:rPr lang="en-US" sz="26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缺少箭头的那一则 </a:t>
            </a:r>
            <a:r>
              <a:rPr lang="en-US" sz="260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没有写出新变化，是修改时的重点。</a:t>
            </a:r>
            <a:endParaRPr lang="en-US" sz="2600" dirty="0">
              <a:solidFill>
                <a:srgbClr val="2C3A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3"/>
            </p:custDataLst>
          </p:nvPr>
        </p:nvSpPr>
        <p:spPr>
          <a:xfrm>
            <a:off x="8209280" y="372745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4"/>
            </p:custDataLst>
          </p:nvPr>
        </p:nvSpPr>
        <p:spPr>
          <a:xfrm>
            <a:off x="8209280" y="369062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5"/>
            </p:custDataLst>
          </p:nvPr>
        </p:nvSpPr>
        <p:spPr>
          <a:xfrm>
            <a:off x="8209280" y="512000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6"/>
            </p:custDataLst>
          </p:nvPr>
        </p:nvSpPr>
        <p:spPr>
          <a:xfrm>
            <a:off x="8209280" y="508317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7"/>
            </p:custDataLst>
          </p:nvPr>
        </p:nvSpPr>
        <p:spPr>
          <a:xfrm>
            <a:off x="8208645" y="634238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8"/>
            </p:custDataLst>
          </p:nvPr>
        </p:nvSpPr>
        <p:spPr>
          <a:xfrm>
            <a:off x="8208645" y="630555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" name="图片 1" descr="写观察日记-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960" y="2880360"/>
            <a:ext cx="7576820" cy="4932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pic>
        <p:nvPicPr>
          <p:cNvPr id="2" name="图片 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9959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1150"/>
            <a:ext cx="8561070" cy="751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修改习作：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三级标准与三处重点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7750" y="2750820"/>
            <a:ext cx="6350000" cy="6680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对照三级标准，先自我检查</a:t>
            </a:r>
            <a:endParaRPr lang="en-US" sz="2800" b="1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47750" y="3467100"/>
            <a:ext cx="16192500" cy="1080000"/>
          </a:xfrm>
          <a:prstGeom prst="roundRect">
            <a:avLst>
              <a:gd name="adj" fmla="val 11622"/>
            </a:avLst>
          </a:prstGeom>
          <a:solidFill>
            <a:srgbClr val="F7F8FA"/>
          </a:solidFill>
        </p:spPr>
        <p:txBody>
          <a:bodyPr/>
          <a:lstStyle/>
          <a:p/>
        </p:txBody>
      </p:sp>
      <p:sp>
        <p:nvSpPr>
          <p:cNvPr id="10" name="Shape 7"/>
          <p:cNvSpPr/>
          <p:nvPr/>
        </p:nvSpPr>
        <p:spPr>
          <a:xfrm>
            <a:off x="1047750" y="3467100"/>
            <a:ext cx="76200" cy="1080000"/>
          </a:xfrm>
          <a:prstGeom prst="rect">
            <a:avLst/>
          </a:prstGeom>
          <a:solidFill>
            <a:srgbClr val="9AA6B6"/>
          </a:solidFill>
        </p:spPr>
        <p:txBody>
          <a:bodyPr/>
          <a:lstStyle/>
          <a:p/>
        </p:txBody>
      </p:sp>
      <p:sp>
        <p:nvSpPr>
          <p:cNvPr id="11" name="Text 8"/>
          <p:cNvSpPr/>
          <p:nvPr/>
        </p:nvSpPr>
        <p:spPr>
          <a:xfrm>
            <a:off x="1409700" y="3798570"/>
            <a:ext cx="999871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基础级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写出了三则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，每一则开头都有日期、星期、天气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47750" y="4717226"/>
            <a:ext cx="16192500" cy="1080000"/>
          </a:xfrm>
          <a:prstGeom prst="roundRect">
            <a:avLst>
              <a:gd name="adj" fmla="val 11622"/>
            </a:avLst>
          </a:prstGeom>
          <a:solidFill>
            <a:srgbClr val="FBF3E6"/>
          </a:solidFill>
        </p:spPr>
        <p:txBody>
          <a:bodyPr/>
          <a:lstStyle/>
          <a:p/>
        </p:txBody>
      </p:sp>
      <p:sp>
        <p:nvSpPr>
          <p:cNvPr id="13" name="Shape 10"/>
          <p:cNvSpPr/>
          <p:nvPr/>
        </p:nvSpPr>
        <p:spPr>
          <a:xfrm>
            <a:off x="1047750" y="4717226"/>
            <a:ext cx="76200" cy="1080000"/>
          </a:xfrm>
          <a:prstGeom prst="rect">
            <a:avLst/>
          </a:prstGeom>
          <a:solidFill>
            <a:srgbClr val="E0A43B"/>
          </a:solidFill>
        </p:spPr>
        <p:txBody>
          <a:bodyPr/>
          <a:lstStyle/>
          <a:p/>
        </p:txBody>
      </p:sp>
      <p:sp>
        <p:nvSpPr>
          <p:cNvPr id="14" name="Text 11"/>
          <p:cNvSpPr/>
          <p:nvPr/>
        </p:nvSpPr>
        <p:spPr>
          <a:xfrm>
            <a:off x="1409700" y="5048885"/>
            <a:ext cx="1407795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清楚级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每一则第一句都点明当天的新变化，写清之前和现在两种样子，结尾有自己真实的想法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47750" y="5982593"/>
            <a:ext cx="16192500" cy="1080000"/>
          </a:xfrm>
          <a:prstGeom prst="roundRect">
            <a:avLst>
              <a:gd name="adj" fmla="val 11622"/>
            </a:avLst>
          </a:prstGeom>
          <a:solidFill>
            <a:srgbClr val="FCE7EA"/>
          </a:solidFill>
        </p:spPr>
        <p:txBody>
          <a:bodyPr/>
          <a:lstStyle/>
          <a:p/>
        </p:txBody>
      </p:sp>
      <p:sp>
        <p:nvSpPr>
          <p:cNvPr id="16" name="Shape 13"/>
          <p:cNvSpPr/>
          <p:nvPr/>
        </p:nvSpPr>
        <p:spPr>
          <a:xfrm>
            <a:off x="1047750" y="5982593"/>
            <a:ext cx="76200" cy="108000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/>
        </p:txBody>
      </p:sp>
      <p:sp>
        <p:nvSpPr>
          <p:cNvPr id="17" name="Text 14"/>
          <p:cNvSpPr/>
          <p:nvPr/>
        </p:nvSpPr>
        <p:spPr>
          <a:xfrm>
            <a:off x="1409700" y="6313805"/>
            <a:ext cx="12929870" cy="4387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可对照级 </a:t>
            </a:r>
            <a:r>
              <a:rPr 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他人读完文字，能在豆子上找到对应的细节；三则分别写出三处不同的变化</a:t>
            </a:r>
            <a:endParaRPr lang="en-US" sz="24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1047750" y="7307580"/>
            <a:ext cx="5206901" cy="1368000"/>
          </a:xfrm>
          <a:prstGeom prst="roundRect">
            <a:avLst>
              <a:gd name="adj" fmla="val 11594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Text 16"/>
          <p:cNvSpPr/>
          <p:nvPr/>
        </p:nvSpPr>
        <p:spPr>
          <a:xfrm>
            <a:off x="1343025" y="7381875"/>
            <a:ext cx="4170045" cy="12084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补：</a:t>
            </a:r>
            <a:endParaRPr lang="en-US" sz="2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缺失的日期、星期、天气</a:t>
            </a:r>
            <a:endParaRPr lang="en-US" sz="22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540401" y="7307580"/>
            <a:ext cx="5207050" cy="1368000"/>
          </a:xfrm>
          <a:prstGeom prst="roundRect">
            <a:avLst>
              <a:gd name="adj" fmla="val 11594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Text 18"/>
          <p:cNvSpPr/>
          <p:nvPr/>
        </p:nvSpPr>
        <p:spPr>
          <a:xfrm>
            <a:off x="6835775" y="7381875"/>
            <a:ext cx="3978910" cy="12274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换： </a:t>
            </a:r>
            <a:endParaRPr lang="en-US" sz="2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两则写了同一处变化</a:t>
            </a:r>
            <a:endParaRPr lang="en-US" sz="22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——重新寻找新细节改写</a:t>
            </a:r>
            <a:endParaRPr lang="en-US" sz="22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12033200" y="7307580"/>
            <a:ext cx="5207050" cy="1368000"/>
          </a:xfrm>
          <a:prstGeom prst="roundRect">
            <a:avLst>
              <a:gd name="adj" fmla="val 11594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E4E7EC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Text 20"/>
          <p:cNvSpPr/>
          <p:nvPr/>
        </p:nvSpPr>
        <p:spPr>
          <a:xfrm>
            <a:off x="12328525" y="7381875"/>
            <a:ext cx="5347970" cy="14420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删： </a:t>
            </a:r>
            <a:endParaRPr lang="en-US" sz="2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“变大了、真神奇”这类空话</a:t>
            </a:r>
            <a:r>
              <a:rPr lang="zh-CN" alt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删去</a:t>
            </a:r>
            <a:r>
              <a:rPr 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</a:t>
            </a:r>
            <a:endParaRPr lang="en-US" sz="22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14000"/>
              </a:lnSpc>
              <a:buNone/>
            </a:pPr>
            <a:r>
              <a:rPr lang="en-US" altLang="zh-CN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</a:t>
            </a:r>
            <a:r>
              <a:rPr lang="zh-CN" alt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换成</a:t>
            </a:r>
            <a:r>
              <a:rPr 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亲眼看到的</a:t>
            </a:r>
            <a:r>
              <a:rPr lang="zh-CN" alt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</a:t>
            </a:r>
            <a:r>
              <a:rPr lang="en-US" sz="22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样子</a:t>
            </a:r>
            <a:endParaRPr lang="en-US" sz="2200" dirty="0">
              <a:solidFill>
                <a:srgbClr val="2A2E3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47750" y="9020175"/>
            <a:ext cx="118757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改完通读一遍，修正错别字、补充遗漏；不会写的字，</a:t>
            </a:r>
            <a:r>
              <a:rPr 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可以请教同桌或老师</a:t>
            </a:r>
            <a:r>
              <a:rPr lang="en-US" sz="24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24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1047750" y="1428750"/>
            <a:ext cx="13319999" cy="828000"/>
          </a:xfrm>
          <a:prstGeom prst="roundRect">
            <a:avLst>
              <a:gd name="adj" fmla="val 20041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/>
        </p:txBody>
      </p:sp>
      <p:sp>
        <p:nvSpPr>
          <p:cNvPr id="16" name="矩形 15"/>
          <p:cNvSpPr/>
          <p:nvPr/>
        </p:nvSpPr>
        <p:spPr>
          <a:xfrm>
            <a:off x="0" y="2714625"/>
            <a:ext cx="18288000" cy="683895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 descr="我来编童话-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2399645" y="384750"/>
            <a:ext cx="1872000" cy="1872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lstStyle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85102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收束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6850" y="1581150"/>
            <a:ext cx="7814945" cy="675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豆子还在</a:t>
            </a:r>
            <a:r>
              <a:rPr lang="zh-CN" alt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</a:t>
            </a:r>
            <a:r>
              <a:rPr lang="en-US" sz="32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长，</a:t>
            </a:r>
            <a:r>
              <a:rPr lang="en-US" sz="32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日记也可以继续写下去</a:t>
            </a:r>
            <a:endParaRPr lang="en-US" sz="3200" b="1" dirty="0">
              <a:solidFill>
                <a:srgbClr val="C039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006715" y="3733800"/>
            <a:ext cx="8081645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今天这三则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日记</a:t>
            </a: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，就是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属于你的观察记录</a:t>
            </a:r>
            <a:endParaRPr lang="en-US" sz="2775" dirty="0"/>
          </a:p>
        </p:txBody>
      </p:sp>
      <p:sp>
        <p:nvSpPr>
          <p:cNvPr id="11" name="Text 8"/>
          <p:cNvSpPr/>
          <p:nvPr/>
        </p:nvSpPr>
        <p:spPr>
          <a:xfrm>
            <a:off x="8006715" y="5125403"/>
            <a:ext cx="9753898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明天是第七天，嫩芽还会继续生长，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有兴趣的同学可以续写</a:t>
            </a:r>
            <a:endParaRPr lang="en-US" sz="2775" dirty="0"/>
          </a:p>
        </p:txBody>
      </p:sp>
      <p:sp>
        <p:nvSpPr>
          <p:cNvPr id="13" name="Text 10"/>
          <p:cNvSpPr/>
          <p:nvPr/>
        </p:nvSpPr>
        <p:spPr>
          <a:xfrm>
            <a:off x="8006715" y="6355080"/>
            <a:ext cx="8670290" cy="567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家里的植物、小动物，</a:t>
            </a:r>
            <a:r>
              <a:rPr lang="zh-CN" altLang="en-US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都可以</a:t>
            </a:r>
            <a:r>
              <a:rPr lang="en-US" altLang="zh-CN" sz="27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27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用同样的方法记录</a:t>
            </a:r>
            <a:endParaRPr lang="en-US" sz="2775" dirty="0"/>
          </a:p>
        </p:txBody>
      </p:sp>
      <p:sp>
        <p:nvSpPr>
          <p:cNvPr id="15" name="Text 11"/>
          <p:cNvSpPr/>
          <p:nvPr/>
        </p:nvSpPr>
        <p:spPr>
          <a:xfrm>
            <a:off x="7229475" y="7830185"/>
            <a:ext cx="10541635" cy="14751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一天一则，抓住一处新变化：</a:t>
            </a:r>
            <a:endParaRPr lang="en-US" sz="25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先点</a:t>
            </a:r>
            <a:r>
              <a:rPr lang="zh-CN" alt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变化，</a:t>
            </a:r>
            <a:r>
              <a:rPr lang="zh-CN" alt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</a:t>
            </a:r>
            <a:r>
              <a:rPr lang="en-US" sz="25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用对比写具体，加上真实感受</a:t>
            </a:r>
            <a:r>
              <a:rPr lang="en-US" sz="2500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，这就是本课学习的方法。</a:t>
            </a:r>
            <a:endParaRPr lang="en-US" sz="2500" dirty="0">
              <a:solidFill>
                <a:srgbClr val="3D4A6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Shape 5"/>
          <p:cNvSpPr/>
          <p:nvPr>
            <p:custDataLst>
              <p:tags r:id="rId3"/>
            </p:custDataLst>
          </p:nvPr>
        </p:nvSpPr>
        <p:spPr>
          <a:xfrm>
            <a:off x="7400290" y="377063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 6"/>
          <p:cNvSpPr/>
          <p:nvPr>
            <p:custDataLst>
              <p:tags r:id="rId4"/>
            </p:custDataLst>
          </p:nvPr>
        </p:nvSpPr>
        <p:spPr>
          <a:xfrm>
            <a:off x="7400290" y="373380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Shape 5"/>
          <p:cNvSpPr/>
          <p:nvPr>
            <p:custDataLst>
              <p:tags r:id="rId5"/>
            </p:custDataLst>
          </p:nvPr>
        </p:nvSpPr>
        <p:spPr>
          <a:xfrm>
            <a:off x="7400290" y="5163185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Text 6"/>
          <p:cNvSpPr/>
          <p:nvPr>
            <p:custDataLst>
              <p:tags r:id="rId6"/>
            </p:custDataLst>
          </p:nvPr>
        </p:nvSpPr>
        <p:spPr>
          <a:xfrm>
            <a:off x="7400290" y="5126355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Shape 5"/>
          <p:cNvSpPr/>
          <p:nvPr>
            <p:custDataLst>
              <p:tags r:id="rId7"/>
            </p:custDataLst>
          </p:nvPr>
        </p:nvSpPr>
        <p:spPr>
          <a:xfrm>
            <a:off x="7399655" y="6385560"/>
            <a:ext cx="504000" cy="504000"/>
          </a:xfrm>
          <a:prstGeom prst="roundRect">
            <a:avLst>
              <a:gd name="adj" fmla="val 21875"/>
            </a:avLst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Text 6"/>
          <p:cNvSpPr/>
          <p:nvPr>
            <p:custDataLst>
              <p:tags r:id="rId8"/>
            </p:custDataLst>
          </p:nvPr>
        </p:nvSpPr>
        <p:spPr>
          <a:xfrm>
            <a:off x="7399655" y="6348730"/>
            <a:ext cx="503555" cy="603885"/>
          </a:xfrm>
          <a:prstGeom prst="rect">
            <a:avLst/>
          </a:prstGeom>
          <a:noFill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400" dirty="0"/>
          </a:p>
        </p:txBody>
      </p:sp>
      <p:pic>
        <p:nvPicPr>
          <p:cNvPr id="2" name="图片 1" descr="写观察日记-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195320"/>
            <a:ext cx="5877560" cy="5877560"/>
          </a:xfrm>
          <a:prstGeom prst="roundRect">
            <a:avLst>
              <a:gd name="adj" fmla="val 6611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  <p:bldP spid="27" grpId="0"/>
      <p:bldP spid="29" grpId="0" bldLvl="0" animBg="1"/>
      <p:bldP spid="30" grpId="0"/>
      <p:bldP spid="31" grpId="0" bldLvl="0" animBg="1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"/>
          <p:cNvSpPr/>
          <p:nvPr/>
        </p:nvSpPr>
        <p:spPr>
          <a:xfrm>
            <a:off x="635" y="-1905"/>
            <a:ext cx="18289905" cy="10288905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</p:spPr>
        <p:txBody>
          <a:bodyPr/>
          <a:lstStyle/>
          <a:p/>
        </p:txBody>
      </p:sp>
      <p:sp>
        <p:nvSpPr>
          <p:cNvPr id="13" name="Text 3"/>
          <p:cNvSpPr/>
          <p:nvPr/>
        </p:nvSpPr>
        <p:spPr>
          <a:xfrm>
            <a:off x="2057400" y="3674110"/>
            <a:ext cx="8232775" cy="19926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fontScale="9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4157325" y="8804910"/>
            <a:ext cx="2700655" cy="6807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15" name="Shape 7"/>
          <p:cNvSpPr/>
          <p:nvPr/>
        </p:nvSpPr>
        <p:spPr>
          <a:xfrm>
            <a:off x="720725" y="8625840"/>
            <a:ext cx="2266315" cy="97409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lstStyle/>
          <a:p/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705" y="8773795"/>
            <a:ext cx="1808480" cy="681355"/>
          </a:xfrm>
          <a:prstGeom prst="rect">
            <a:avLst/>
          </a:prstGeom>
        </p:spPr>
      </p:pic>
      <p:sp>
        <p:nvSpPr>
          <p:cNvPr id="19" name="Freeform 2"/>
          <p:cNvSpPr/>
          <p:nvPr/>
        </p:nvSpPr>
        <p:spPr>
          <a:xfrm>
            <a:off x="16277590" y="8688070"/>
            <a:ext cx="549275" cy="715645"/>
          </a:xfrm>
          <a:custGeom>
            <a:avLst/>
            <a:gdLst/>
            <a:ahLst/>
            <a:cxnLst/>
            <a:rect l="l" t="t" r="r" b="b"/>
            <a:pathLst>
              <a:path w="914400" h="1234440">
                <a:moveTo>
                  <a:pt x="0" y="0"/>
                </a:moveTo>
                <a:lnTo>
                  <a:pt x="914400" y="617220"/>
                </a:lnTo>
                <a:lnTo>
                  <a:pt x="0" y="12344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 4"/>
          <p:cNvSpPr/>
          <p:nvPr/>
        </p:nvSpPr>
        <p:spPr>
          <a:xfrm>
            <a:off x="2057400" y="5676900"/>
            <a:ext cx="8424892" cy="514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看一次，记一次，记的是它与上次的不同。</a:t>
            </a:r>
            <a:endParaRPr lang="en-US" sz="28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2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3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4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5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6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7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8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9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0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1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2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3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4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5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6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7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8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19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20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21.xml><?xml version="1.0" encoding="utf-8"?>
<p:tagLst xmlns:p="http://schemas.openxmlformats.org/presentationml/2006/main">
  <p:tag name="KSO_WM_DIAGRAM_VIRTUALLY_FRAME" val="{&quot;height&quot;:614.85,&quot;left&quot;:82.5,&quot;top&quot;:24,&quot;width&quot;:1275}"/>
</p:tagLst>
</file>

<file path=ppt/tags/tag22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3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4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5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6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7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8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29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30.xml><?xml version="1.0" encoding="utf-8"?>
<p:tagLst xmlns:p="http://schemas.openxmlformats.org/presentationml/2006/main">
  <p:tag name="KSO_WM_DIAGRAM_VIRTUALLY_FRAME" val="{&quot;height&quot;:466.6,&quot;left&quot;:82.5,&quot;top&quot;:217.15,&quot;width&quot;:1400.75}"/>
</p:tagLst>
</file>

<file path=ppt/tags/tag31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2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3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4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5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6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7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8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39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40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41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42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3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4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5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6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7.xml><?xml version="1.0" encoding="utf-8"?>
<p:tagLst xmlns:p="http://schemas.openxmlformats.org/presentationml/2006/main">
  <p:tag name="KSO_WM_DIAGRAM_VIRTUALLY_FRAME" val="{&quot;height&quot;:588,&quot;left&quot;:82.5,&quot;top&quot;:225,&quot;width&quot;:1381.95}"/>
</p:tagLst>
</file>

<file path=ppt/tags/tag48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49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0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1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2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3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4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5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6.xml><?xml version="1.0" encoding="utf-8"?>
<p:tagLst xmlns:p="http://schemas.openxmlformats.org/presentationml/2006/main">
  <p:tag name="KSO_WM_DIAGRAM_VIRTUALLY_FRAME" val="{&quot;height&quot;:364.1,&quot;left&quot;:82.5,&quot;top&quot;:217.15,&quot;width&quot;:1400.75}"/>
</p:tagLst>
</file>

<file path=ppt/tags/tag57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58.xml><?xml version="1.0" encoding="utf-8"?>
<p:tagLst xmlns:p="http://schemas.openxmlformats.org/presentationml/2006/main">
  <p:tag name="KSO_DOCER_RESOURCE_TRACE_INFO" val="{&quot;id&quot;:&quot;50062276&quot;,&quot;origin&quot;:0,&quot;type&quot;:&quot;icons&quot;,&quot;user&quot;:&quot;465116955&quot;}"/>
</p:tagLst>
</file>

<file path=ppt/tags/tag59.xml><?xml version="1.0" encoding="utf-8"?>
<p:tagLst xmlns:p="http://schemas.openxmlformats.org/presentationml/2006/main">
  <p:tag name="KSO_WM_DIAGRAM_VIRTUALLY_FRAME" val="{&quot;height&quot;:231.75,&quot;left&quot;:79.5,&quot;top&quot;:255,&quot;width&quot;:1013.8}"/>
</p:tagLst>
</file>

<file path=ppt/tags/tag60.xml><?xml version="1.0" encoding="utf-8"?>
<p:tagLst xmlns:p="http://schemas.openxmlformats.org/presentationml/2006/main">
  <p:tag name="KSO_WM_DIAGRAM_VIRTUALLY_FRAME" val="{&quot;height&quot;:231.75,&quot;left&quot;:79.5,&quot;top&quot;:255,&quot;width&quot;:1013.8}"/>
</p:tagLst>
</file>

<file path=ppt/tags/tag61.xml><?xml version="1.0" encoding="utf-8"?>
<p:tagLst xmlns:p="http://schemas.openxmlformats.org/presentationml/2006/main">
  <p:tag name="KSO_WM_DIAGRAM_VIRTUALLY_FRAME" val="{&quot;height&quot;:231.75,&quot;left&quot;:79.5,&quot;top&quot;:255,&quot;width&quot;:1013.8}"/>
</p:tagLst>
</file>

<file path=ppt/tags/tag62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63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64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65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66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67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68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69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0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1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2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3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4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5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6.xml><?xml version="1.0" encoding="utf-8"?>
<p:tagLst xmlns:p="http://schemas.openxmlformats.org/presentationml/2006/main">
  <p:tag name="KSO_WM_DIAGRAM_VIRTUALLY_FRAME" val="{&quot;height&quot;:279.4,&quot;left&quot;:81.85,&quot;top&quot;:217.15,&quot;width&quot;:1401.4}"/>
</p:tagLst>
</file>

<file path=ppt/tags/tag77.xml><?xml version="1.0" encoding="utf-8"?>
<p:tagLst xmlns:p="http://schemas.openxmlformats.org/presentationml/2006/main">
  <p:tag name="KSO_WM_DIAGRAM_VIRTUALLY_FRAME" val="{&quot;height&quot;:490.8,&quot;left&quot;:70.5,&quot;top&quot;:218.1,&quot;width&quot;:1335.4}"/>
</p:tagLst>
</file>

<file path=ppt/tags/tag78.xml><?xml version="1.0" encoding="utf-8"?>
<p:tagLst xmlns:p="http://schemas.openxmlformats.org/presentationml/2006/main">
  <p:tag name="KSO_WM_DIAGRAM_VIRTUALLY_FRAME" val="{&quot;height&quot;:490.8,&quot;left&quot;:70.5,&quot;top&quot;:218.1,&quot;width&quot;:1335.4}"/>
</p:tagLst>
</file>

<file path=ppt/tags/tag79.xml><?xml version="1.0" encoding="utf-8"?>
<p:tagLst xmlns:p="http://schemas.openxmlformats.org/presentationml/2006/main">
  <p:tag name="KSO_WM_DIAGRAM_VIRTUALLY_FRAME" val="{&quot;height&quot;:490.8,&quot;left&quot;:70.5,&quot;top&quot;:218.1,&quot;width&quot;:1335.4}"/>
</p:tagLst>
</file>

<file path=ppt/tags/tag80.xml><?xml version="1.0" encoding="utf-8"?>
<p:tagLst xmlns:p="http://schemas.openxmlformats.org/presentationml/2006/main">
  <p:tag name="KSO_WM_DIAGRAM_VIRTUALLY_FRAME" val="{&quot;height&quot;:490.8,&quot;left&quot;:70.5,&quot;top&quot;:218.1,&quot;width&quot;:1335.4}"/>
</p:tagLst>
</file>

<file path=ppt/tags/tag81.xml><?xml version="1.0" encoding="utf-8"?>
<p:tagLst xmlns:p="http://schemas.openxmlformats.org/presentationml/2006/main">
  <p:tag name="KSO_WM_DIAGRAM_VIRTUALLY_FRAME" val="{&quot;height&quot;:490.8,&quot;left&quot;:70.5,&quot;top&quot;:218.1,&quot;width&quot;:1335.4}"/>
</p:tagLst>
</file>

<file path=ppt/tags/tag82.xml><?xml version="1.0" encoding="utf-8"?>
<p:tagLst xmlns:p="http://schemas.openxmlformats.org/presentationml/2006/main">
  <p:tag name="KSO_WM_DIAGRAM_VIRTUALLY_FRAME" val="{&quot;height&quot;:490.8,&quot;left&quot;:70.5,&quot;top&quot;:218.1,&quot;width&quot;:1335.4}"/>
</p:tagLst>
</file>

<file path=ppt/tags/tag83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84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85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86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87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88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89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90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91.xml><?xml version="1.0" encoding="utf-8"?>
<p:tagLst xmlns:p="http://schemas.openxmlformats.org/presentationml/2006/main">
  <p:tag name="KSO_WM_DIAGRAM_VIRTUALLY_FRAME" val="{&quot;height&quot;:229.5,&quot;left&quot;:82.49999999999997,&quot;top&quot;:240,&quot;width&quot;:1279.7003937007873}"/>
</p:tagLst>
</file>

<file path=ppt/tags/tag92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93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94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95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96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97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98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99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00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01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02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03.xml><?xml version="1.0" encoding="utf-8"?>
<p:tagLst xmlns:p="http://schemas.openxmlformats.org/presentationml/2006/main">
  <p:tag name="KSO_WM_DIAGRAM_VIRTUALLY_FRAME" val="{&quot;height&quot;:279.4,&quot;left&quot;:82.5,&quot;top&quot;:217.15,&quot;width&quot;:1400.75}"/>
</p:tagLst>
</file>

<file path=ppt/tags/tag104.xml><?xml version="1.0" encoding="utf-8"?>
<p:tagLst xmlns:p="http://schemas.openxmlformats.org/presentationml/2006/main">
  <p:tag name="RESOURCE_RECORD_KEY" val="{&quot;10&quot;:[50062276]}"/>
  <p:tag name="COMMONDATA" val="eyJoZGlkIjoiYjNkMGVmZTg3ZDFjNzBmZGRjYjliYWY5MzNlMTc1ZWE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4531</Words>
  <Application>WPS 演示</Application>
  <PresentationFormat>自定义</PresentationFormat>
  <Paragraphs>528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微软雅黑</vt:lpstr>
      <vt:lpstr>Calibri</vt:lpstr>
      <vt:lpstr>Wingdings</vt:lpstr>
      <vt:lpstr>Arial Unicode MS</vt:lpstr>
      <vt:lpstr>楷体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51</cp:revision>
  <dcterms:created xsi:type="dcterms:W3CDTF">2026-08-05T16:09:00Z</dcterms:created>
  <dcterms:modified xsi:type="dcterms:W3CDTF">2026-09-01T15:02:51Z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886935DF2F124E4584CDE324032BB491_13</vt:lpwstr>
  </property>
  <property fmtid="{D5CDD505-2E9C-101B-9397-08002B2CF9AE}" pid="3" name="KSOProductBuildVer">
    <vt:lpwstr>2052-12.1.0.20305</vt:lpwstr>
  </property>
</Properties>
</file>