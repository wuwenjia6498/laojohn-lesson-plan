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90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91" r:id="rId33"/>
    <p:sldId id="283" r:id="rId34"/>
    <p:sldId id="284" r:id="rId35"/>
    <p:sldId id="285" r:id="rId36"/>
    <p:sldId id="286" r:id="rId37"/>
    <p:sldId id="287" r:id="rId38"/>
    <p:sldId id="289" r:id="rId3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Relationship Id="rId7" Type="http://schemas.openxmlformats.org/officeDocument/2006/relationships/tags" Target="../tags/tag6.xml"/><Relationship Id="rId8" Type="http://schemas.openxmlformats.org/officeDocument/2006/relationships/tags" Target="../tags/tag7.xml"/><Relationship Id="rId9" Type="http://schemas.openxmlformats.org/officeDocument/2006/relationships/tags" Target="../tags/tag8.xml"/><Relationship Id="rId10" Type="http://schemas.openxmlformats.org/officeDocument/2006/relationships/tags" Target="../tags/tag9.xml"/><Relationship Id="rId11" Type="http://schemas.openxmlformats.org/officeDocument/2006/relationships/tags" Target="../tags/tag10.xml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Relationship Id="rId14" Type="http://schemas.openxmlformats.org/officeDocument/2006/relationships/image" Target="../media/image4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0.jpeg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1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Relationship Id="rId7" Type="http://schemas.openxmlformats.org/officeDocument/2006/relationships/tags" Target="../tags/tag16.xml"/><Relationship Id="rId8" Type="http://schemas.openxmlformats.org/officeDocument/2006/relationships/tags" Target="../tags/tag17.xml"/><Relationship Id="rId9" Type="http://schemas.openxmlformats.org/officeDocument/2006/relationships/tags" Target="../tags/tag18.xml"/><Relationship Id="rId10" Type="http://schemas.openxmlformats.org/officeDocument/2006/relationships/tags" Target="../tags/tag19.xml"/><Relationship Id="rId11" Type="http://schemas.openxmlformats.org/officeDocument/2006/relationships/tags" Target="../tags/tag20.xml"/><Relationship Id="rId12" Type="http://schemas.openxmlformats.org/officeDocument/2006/relationships/tags" Target="../tags/tag21.xml"/><Relationship Id="rId13" Type="http://schemas.openxmlformats.org/officeDocument/2006/relationships/tags" Target="../tags/tag22.xml"/><Relationship Id="rId14" Type="http://schemas.openxmlformats.org/officeDocument/2006/relationships/tags" Target="../tags/tag23.xml"/><Relationship Id="rId15" Type="http://schemas.openxmlformats.org/officeDocument/2006/relationships/tags" Target="../tags/tag24.xml"/><Relationship Id="rId16" Type="http://schemas.openxmlformats.org/officeDocument/2006/relationships/tags" Target="../tags/tag25.xml"/><Relationship Id="rId17" Type="http://schemas.openxmlformats.org/officeDocument/2006/relationships/tags" Target="../tags/tag26.xml"/><Relationship Id="rId18" Type="http://schemas.openxmlformats.org/officeDocument/2006/relationships/tags" Target="../tags/tag27.xml"/><Relationship Id="rId19" Type="http://schemas.openxmlformats.org/officeDocument/2006/relationships/tags" Target="../tags/tag28.xml"/><Relationship Id="rId20" Type="http://schemas.openxmlformats.org/officeDocument/2006/relationships/tags" Target="../tags/tag29.xml"/><Relationship Id="rId21" Type="http://schemas.openxmlformats.org/officeDocument/2006/relationships/tags" Target="../tags/tag30.xml"/><Relationship Id="rId22" Type="http://schemas.openxmlformats.org/officeDocument/2006/relationships/image" Target="../media/image15.png"/><Relationship Id="rId23" Type="http://schemas.openxmlformats.org/officeDocument/2006/relationships/image" Target="../media/image8.png"/><Relationship Id="rId24" Type="http://schemas.openxmlformats.org/officeDocument/2006/relationships/image" Target="../media/image5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6.png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7.png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8.png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Relationship Id="rId9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2.png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3.png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tags" Target="../tags/tag31.xml"/><Relationship Id="rId3" Type="http://schemas.openxmlformats.org/officeDocument/2006/relationships/tags" Target="../tags/tag32.xml"/><Relationship Id="rId4" Type="http://schemas.openxmlformats.org/officeDocument/2006/relationships/tags" Target="../tags/tag33.xml"/><Relationship Id="rId5" Type="http://schemas.openxmlformats.org/officeDocument/2006/relationships/tags" Target="../tags/tag34.xml"/><Relationship Id="rId6" Type="http://schemas.openxmlformats.org/officeDocument/2006/relationships/tags" Target="../tags/tag35.xml"/><Relationship Id="rId7" Type="http://schemas.openxmlformats.org/officeDocument/2006/relationships/tags" Target="../tags/tag36.xml"/><Relationship Id="rId8" Type="http://schemas.openxmlformats.org/officeDocument/2006/relationships/tags" Target="../tags/tag37.xml"/><Relationship Id="rId9" Type="http://schemas.openxmlformats.org/officeDocument/2006/relationships/tags" Target="../tags/tag38.xml"/><Relationship Id="rId10" Type="http://schemas.openxmlformats.org/officeDocument/2006/relationships/tags" Target="../tags/tag39.xml"/><Relationship Id="rId11" Type="http://schemas.openxmlformats.org/officeDocument/2006/relationships/tags" Target="../tags/tag40.xml"/><Relationship Id="rId12" Type="http://schemas.openxmlformats.org/officeDocument/2006/relationships/tags" Target="../tags/tag41.xml"/><Relationship Id="rId13" Type="http://schemas.openxmlformats.org/officeDocument/2006/relationships/tags" Target="../tags/tag42.xml"/><Relationship Id="rId14" Type="http://schemas.openxmlformats.org/officeDocument/2006/relationships/tags" Target="../tags/tag43.xml"/><Relationship Id="rId15" Type="http://schemas.openxmlformats.org/officeDocument/2006/relationships/image" Target="../media/image24.png"/><Relationship Id="rId16" Type="http://schemas.openxmlformats.org/officeDocument/2006/relationships/tags" Target="../tags/tag44.xml"/><Relationship Id="rId17" Type="http://schemas.openxmlformats.org/officeDocument/2006/relationships/image" Target="../media/image25.png"/><Relationship Id="rId18" Type="http://schemas.openxmlformats.org/officeDocument/2006/relationships/image" Target="../media/image8.png"/><Relationship Id="rId19" Type="http://schemas.openxmlformats.org/officeDocument/2006/relationships/image" Target="../media/image5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6.png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Relationship Id="rId6" Type="http://schemas.openxmlformats.org/officeDocument/2006/relationships/image" Target="../media/image4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Relationship Id="rId7" Type="http://schemas.openxmlformats.org/officeDocument/2006/relationships/image" Target="../media/image2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9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0.png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tags" Target="../tags/tag45.xml"/><Relationship Id="rId3" Type="http://schemas.openxmlformats.org/officeDocument/2006/relationships/tags" Target="../tags/tag46.xml"/><Relationship Id="rId4" Type="http://schemas.openxmlformats.org/officeDocument/2006/relationships/tags" Target="../tags/tag47.xml"/><Relationship Id="rId5" Type="http://schemas.openxmlformats.org/officeDocument/2006/relationships/tags" Target="../tags/tag48.xml"/><Relationship Id="rId6" Type="http://schemas.openxmlformats.org/officeDocument/2006/relationships/tags" Target="../tags/tag49.xml"/><Relationship Id="rId7" Type="http://schemas.openxmlformats.org/officeDocument/2006/relationships/tags" Target="../tags/tag50.xml"/><Relationship Id="rId8" Type="http://schemas.openxmlformats.org/officeDocument/2006/relationships/tags" Target="../tags/tag51.xml"/><Relationship Id="rId9" Type="http://schemas.openxmlformats.org/officeDocument/2006/relationships/tags" Target="../tags/tag52.xml"/><Relationship Id="rId10" Type="http://schemas.openxmlformats.org/officeDocument/2006/relationships/tags" Target="../tags/tag53.xml"/><Relationship Id="rId11" Type="http://schemas.openxmlformats.org/officeDocument/2006/relationships/tags" Target="../tags/tag54.xml"/><Relationship Id="rId12" Type="http://schemas.openxmlformats.org/officeDocument/2006/relationships/tags" Target="../tags/tag55.xml"/><Relationship Id="rId13" Type="http://schemas.openxmlformats.org/officeDocument/2006/relationships/tags" Target="../tags/tag56.xml"/><Relationship Id="rId15" Type="http://schemas.openxmlformats.org/officeDocument/2006/relationships/image" Target="../media/image8.png"/><Relationship Id="rId16" Type="http://schemas.openxmlformats.org/officeDocument/2006/relationships/image" Target="../media/image5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7.xml"/><Relationship Id="rId19" Type="http://schemas.openxmlformats.org/officeDocument/2006/relationships/image" Target="../media/image2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Relationship Id="rId6" Type="http://schemas.openxmlformats.org/officeDocument/2006/relationships/image" Target="../media/image2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Relationship Id="rId7" Type="http://schemas.openxmlformats.org/officeDocument/2006/relationships/image" Target="../media/image3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Relationship Id="rId6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8.png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71589" y="323850"/>
            <a:ext cx="1668661" cy="6286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7250" y="1143000"/>
            <a:ext cx="16573500" cy="5715000"/>
          </a:xfrm>
          <a:prstGeom prst="roundRect">
            <a:avLst>
              <a:gd name="adj" fmla="val 2667"/>
            </a:avLst>
          </a:prstGeom>
          <a:gradFill rotWithShape="1">
            <a:gsLst>
              <a:gs pos="0">
                <a:srgbClr val="EE7B2E">
                  <a:alpha val="100000"/>
                </a:srgbClr>
              </a:gs>
              <a:gs pos="42000">
                <a:srgbClr val="F0A63C">
                  <a:alpha val="100000"/>
                </a:srgbClr>
              </a:gs>
              <a:gs pos="100000">
                <a:srgbClr val="57B0A6">
                  <a:alpha val="100000"/>
                </a:srgbClr>
              </a:gs>
            </a:gsLst>
            <a:lin ang="900000" scaled="0"/>
          </a:gradFill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2952750" y="1428750"/>
            <a:ext cx="3429000" cy="3429000"/>
          </a:xfrm>
          <a:prstGeom prst="ellipse">
            <a:avLst/>
          </a:prstGeom>
          <a:solidFill>
            <a:srgbClr val="FFFFFF">
              <a:alpha val="10000"/>
            </a:srgbClr>
          </a:solidFill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5810250" y="4191000"/>
            <a:ext cx="4095750" cy="4095750"/>
          </a:xfrm>
          <a:prstGeom prst="ellipse">
            <a:avLst/>
          </a:prstGeom>
          <a:solidFill>
            <a:srgbClr val="FFFFFF">
              <a:alpha val="8000"/>
            </a:srgbClr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3810000" y="2667000"/>
            <a:ext cx="11734800" cy="14430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zh-CN" altLang="en-US" sz="8850" b="1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我们眼中的缤纷世界</a:t>
            </a:r>
            <a:endParaRPr lang="zh-CN" sz="8850" dirty="0"/>
          </a:p>
        </p:txBody>
      </p:sp>
      <p:sp>
        <p:nvSpPr>
          <p:cNvPr id="7" name="Text 4"/>
          <p:cNvSpPr/>
          <p:nvPr/>
        </p:nvSpPr>
        <p:spPr>
          <a:xfrm>
            <a:off x="3848100" y="4476750"/>
            <a:ext cx="11734800" cy="5715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zh-CN" altLang="en-US" sz="3000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三年级上册 · 第五单元 · 校内同步写作（观察作文）</a:t>
            </a:r>
            <a:endParaRPr lang="zh-CN" sz="3000" dirty="0"/>
          </a:p>
        </p:txBody>
      </p:sp>
      <p:sp>
        <p:nvSpPr>
          <p:cNvPr id="8" name="Shape 5"/>
          <p:cNvSpPr/>
          <p:nvPr/>
        </p:nvSpPr>
        <p:spPr>
          <a:xfrm>
            <a:off x="0" y="2857500"/>
            <a:ext cx="1066800" cy="1333500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" y="2857500"/>
            <a:ext cx="1066800" cy="1333500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4953533"/>
            <a:ext cx="7040880" cy="533346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47750" y="8943975"/>
            <a:ext cx="3574956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55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三年级上册 · 第五单元</a:t>
            </a:r>
            <a:endParaRPr lang="zh-CN" sz="2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00100" y="800100"/>
            <a:ext cx="16687800" cy="8686800"/>
          </a:xfrm>
          <a:prstGeom prst="roundRect">
            <a:avLst>
              <a:gd name="adj" fmla="val 1754"/>
            </a:avLst>
          </a:prstGeom>
          <a:solidFill>
            <a:srgbClr val="6E9E7A"/>
          </a:solidFill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038350" y="3181350"/>
            <a:ext cx="6286500" cy="21193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4250" b="1" dirty="0">
                <a:solidFill>
                  <a:srgbClr val="FFFFFF">
                    <a:alpha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4250" dirty="0"/>
          </a:p>
        </p:txBody>
      </p:sp>
      <p:sp>
        <p:nvSpPr>
          <p:cNvPr id="5" name="Text 3"/>
          <p:cNvSpPr/>
          <p:nvPr/>
        </p:nvSpPr>
        <p:spPr>
          <a:xfrm>
            <a:off x="2228850" y="5676900"/>
            <a:ext cx="14668500" cy="781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4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写作指导课</a:t>
            </a:r>
            <a:endParaRPr lang="zh-CN" sz="4500" dirty="0"/>
          </a:p>
        </p:txBody>
      </p:sp>
      <p:sp>
        <p:nvSpPr>
          <p:cNvPr id="6" name="Text 4"/>
          <p:cNvSpPr/>
          <p:nvPr/>
        </p:nvSpPr>
        <p:spPr>
          <a:xfrm>
            <a:off x="2247900" y="6572250"/>
            <a:ext cx="15716250" cy="4914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zh-CN" altLang="en-US" sz="2550" dirty="0">
                <a:solidFill>
                  <a:srgbClr val="FFFFFF">
                    <a:alpha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创设情境 · 观察体验 · 学写法 · 观察发现卡 · 教师示范文</a:t>
            </a:r>
            <a:endParaRPr lang="zh-CN" sz="2550" dirty="0"/>
          </a:p>
        </p:txBody>
      </p:sp>
      <p:sp>
        <p:nvSpPr>
          <p:cNvPr id="7" name="Shape 5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创设情境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E6F2E1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6263580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先看一段短片：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它们在做什么？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162050" y="2433638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</p:spPr>
        <p:txBody>
          <a:bodyPr/>
          <a:p/>
        </p:txBody>
      </p:sp>
      <p:pic>
        <p:nvPicPr>
          <p:cNvPr id="17" name="蚂蚁视频"/>
          <p:cNvPicPr/>
          <p:nvPr/>
        </p:nvPicPr>
        <p:blipFill>
          <a:blip r:embed="rId5"/>
          <a:stretch>
            <a:fillRect/>
          </a:stretch>
        </p:blipFill>
        <p:spPr>
          <a:xfrm>
            <a:off x="1162050" y="2786380"/>
            <a:ext cx="15534640" cy="6870065"/>
          </a:xfrm>
          <a:prstGeom prst="rect">
            <a:avLst/>
          </a:prstGeom>
        </p:spPr>
      </p:pic>
      <p:pic>
        <p:nvPicPr>
          <p:cNvPr id="18" name="吉祥物" descr="抠-吉祥物-ad495431f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38760" y="341947"/>
            <a:ext cx="1533448" cy="1920240"/>
          </a:xfrm>
          <a:prstGeom prst="rect">
            <a:avLst/>
          </a:prstGeom>
        </p:spPr>
      </p:pic>
      <p:sp>
        <p:nvSpPr>
          <p:cNvPr id="19" name="短片说明"/>
          <p:cNvSpPr txBox="1"/>
          <p:nvPr/>
        </p:nvSpPr>
        <p:spPr>
          <a:xfrm>
            <a:off x="12946690" y="8986445"/>
            <a:ext cx="3600000" cy="520000"/>
          </a:xfrm>
          <a:prstGeom prst="rect">
            <a:avLst/>
          </a:prstGeom>
          <a:solidFill>
            <a:srgbClr val="FFFFFF">
              <a:alpha val="85000"/>
            </a:srgbClr>
          </a:solidFill>
        </p:spPr>
        <p:txBody>
          <a:bodyPr wrap="none" lIns="144000" rIns="144000" anchor="ctr"/>
          <a:lstStyle/>
          <a:p>
            <a:pPr algn="ctr"/>
            <a:r>
              <a:rPr lang="zh-CN" altLang="en-US" sz="2000">
                <a:solidFill>
                  <a:srgbClr val="7A4A2A"/>
                </a:solidFill>
                <a:latin typeface="Microsoft YaHei"/>
                <a:ea typeface="Microsoft YaHei"/>
              </a:rPr>
              <a:t>短片见仓外原件</a:t>
            </a:r>
            <a:endParaRPr lang="zh-CN" altLang="en-US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底带"/>
          <p:cNvSpPr/>
          <p:nvPr/>
        </p:nvSpPr>
        <p:spPr>
          <a:xfrm>
            <a:off x="0" y="6949440"/>
            <a:ext cx="18288000" cy="3337560"/>
          </a:xfrm>
          <a:prstGeom prst="rect">
            <a:avLst/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创设情境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755"/>
          </a:xfrm>
          <a:prstGeom prst="roundRect">
            <a:avLst>
              <a:gd name="adj" fmla="val 22857"/>
            </a:avLst>
          </a:prstGeom>
          <a:solidFill>
            <a:srgbClr val="E6F2E1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6263580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蚂蚁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在做什么？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162050" y="2433638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1450975" y="3108960"/>
            <a:ext cx="6035040" cy="5353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这群蚂蚁</a:t>
            </a: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在做什么</a:t>
            </a: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zh-CN" sz="2700" dirty="0"/>
          </a:p>
        </p:txBody>
      </p:sp>
      <p:sp>
        <p:nvSpPr>
          <p:cNvPr id="12" name="Text 8"/>
          <p:cNvSpPr/>
          <p:nvPr/>
        </p:nvSpPr>
        <p:spPr>
          <a:xfrm>
            <a:off x="1450975" y="3931920"/>
            <a:ext cx="7863840" cy="10972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一群蚂蚁在搬东西。</a:t>
            </a: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楼下花坛边、墙根下，常常能看见这样的蚂蚁。</a:t>
            </a:r>
            <a:endParaRPr lang="zh-CN" sz="2700" dirty="0"/>
          </a:p>
        </p:txBody>
      </p:sp>
      <p:sp>
        <p:nvSpPr>
          <p:cNvPr id="14" name="Text 10"/>
          <p:cNvSpPr/>
          <p:nvPr/>
        </p:nvSpPr>
        <p:spPr>
          <a:xfrm>
            <a:off x="1450975" y="5303520"/>
            <a:ext cx="7863840" cy="10972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真正蹲下来，把它们搬东西的过程</a:t>
            </a: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从头到尾看过一次</a:t>
            </a: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的，有几位同学？</a:t>
            </a:r>
            <a:endParaRPr lang="zh-CN" sz="2700" dirty="0"/>
          </a:p>
        </p:txBody>
      </p:sp>
      <p:sp>
        <p:nvSpPr>
          <p:cNvPr id="15" name="Text 11"/>
          <p:cNvSpPr/>
          <p:nvPr/>
        </p:nvSpPr>
        <p:spPr>
          <a:xfrm>
            <a:off x="1047750" y="9334500"/>
            <a:ext cx="768096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请举手说一说：你见过它们搬运食物吗？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看到了什么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zh-CN" sz="2605" dirty="0"/>
          </a:p>
        </p:txBody>
      </p:sp>
      <p:pic>
        <p:nvPicPr>
          <p:cNvPr id="24" name="插图" descr="抠-P04-21a27e29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3149650"/>
            <a:ext cx="9418320" cy="6451549"/>
          </a:xfrm>
          <a:prstGeom prst="rect">
            <a:avLst/>
          </a:prstGeom>
        </p:spPr>
      </p:pic>
      <p:pic>
        <p:nvPicPr>
          <p:cNvPr id="26" name="吉祥物" descr="抠-吉祥物-ad495431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8760" y="342264"/>
            <a:ext cx="1533448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创设情境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E6F2E1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7605683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天天见得到的小动物，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你看清楚了吗？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9551670" y="2762250"/>
            <a:ext cx="942975" cy="695325"/>
          </a:xfrm>
          <a:prstGeom prst="roundRect">
            <a:avLst>
              <a:gd name="adj" fmla="val 19178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875520" y="2914650"/>
            <a:ext cx="371475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猫</a:t>
            </a:r>
            <a:endParaRPr lang="zh-CN" sz="2325" dirty="0"/>
          </a:p>
        </p:txBody>
      </p:sp>
      <p:sp>
        <p:nvSpPr>
          <p:cNvPr id="9" name="Shape 6"/>
          <p:cNvSpPr/>
          <p:nvPr/>
        </p:nvSpPr>
        <p:spPr>
          <a:xfrm>
            <a:off x="10685145" y="2762250"/>
            <a:ext cx="942975" cy="695325"/>
          </a:xfrm>
          <a:prstGeom prst="roundRect">
            <a:avLst>
              <a:gd name="adj" fmla="val 19178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1008995" y="2914650"/>
            <a:ext cx="371475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狗</a:t>
            </a:r>
            <a:endParaRPr lang="zh-CN" sz="2325" dirty="0"/>
          </a:p>
        </p:txBody>
      </p:sp>
      <p:sp>
        <p:nvSpPr>
          <p:cNvPr id="11" name="Shape 8"/>
          <p:cNvSpPr/>
          <p:nvPr/>
        </p:nvSpPr>
        <p:spPr>
          <a:xfrm>
            <a:off x="11818620" y="2762250"/>
            <a:ext cx="1238250" cy="695325"/>
          </a:xfrm>
          <a:prstGeom prst="roundRect">
            <a:avLst>
              <a:gd name="adj" fmla="val 19178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2142470" y="2914650"/>
            <a:ext cx="666750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金鱼</a:t>
            </a:r>
            <a:endParaRPr lang="zh-CN" sz="2325" dirty="0"/>
          </a:p>
        </p:txBody>
      </p:sp>
      <p:sp>
        <p:nvSpPr>
          <p:cNvPr id="13" name="Shape 10"/>
          <p:cNvSpPr/>
          <p:nvPr/>
        </p:nvSpPr>
        <p:spPr>
          <a:xfrm>
            <a:off x="13247370" y="2762250"/>
            <a:ext cx="1238250" cy="695325"/>
          </a:xfrm>
          <a:prstGeom prst="roundRect">
            <a:avLst>
              <a:gd name="adj" fmla="val 19178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3571220" y="2914650"/>
            <a:ext cx="666750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小鸟</a:t>
            </a:r>
            <a:endParaRPr lang="zh-CN" sz="2325" dirty="0"/>
          </a:p>
        </p:txBody>
      </p:sp>
      <p:sp>
        <p:nvSpPr>
          <p:cNvPr id="15" name="Shape 12"/>
          <p:cNvSpPr/>
          <p:nvPr/>
        </p:nvSpPr>
        <p:spPr>
          <a:xfrm>
            <a:off x="14676120" y="2762250"/>
            <a:ext cx="1238250" cy="695325"/>
          </a:xfrm>
          <a:prstGeom prst="roundRect">
            <a:avLst>
              <a:gd name="adj" fmla="val 19178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4999970" y="2914650"/>
            <a:ext cx="666750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蜗牛</a:t>
            </a:r>
            <a:endParaRPr lang="zh-CN" sz="2325" dirty="0"/>
          </a:p>
        </p:txBody>
      </p:sp>
      <p:sp>
        <p:nvSpPr>
          <p:cNvPr id="17" name="Shape 14"/>
          <p:cNvSpPr/>
          <p:nvPr/>
        </p:nvSpPr>
        <p:spPr>
          <a:xfrm>
            <a:off x="9551670" y="4152900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913620" y="4000500"/>
            <a:ext cx="3489008" cy="54902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它身上是</a:t>
            </a:r>
            <a:r>
              <a:rPr lang="zh-CN" altLang="en-US" sz="27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什么颜色</a:t>
            </a:r>
            <a:r>
              <a:rPr lang="zh-CN" alt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zh-CN" sz="2775" dirty="0"/>
          </a:p>
        </p:txBody>
      </p:sp>
      <p:sp>
        <p:nvSpPr>
          <p:cNvPr id="19" name="Shape 16"/>
          <p:cNvSpPr/>
          <p:nvPr/>
        </p:nvSpPr>
        <p:spPr>
          <a:xfrm>
            <a:off x="9551670" y="4949577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9913620" y="4797177"/>
            <a:ext cx="3876675" cy="54902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走起路来是</a:t>
            </a:r>
            <a:r>
              <a:rPr lang="zh-CN" altLang="en-US" sz="27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什么样子</a:t>
            </a:r>
            <a:r>
              <a:rPr lang="zh-CN" alt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zh-CN" sz="2775" dirty="0"/>
          </a:p>
        </p:txBody>
      </p:sp>
      <p:sp>
        <p:nvSpPr>
          <p:cNvPr id="21" name="Shape 18"/>
          <p:cNvSpPr/>
          <p:nvPr/>
        </p:nvSpPr>
        <p:spPr>
          <a:xfrm>
            <a:off x="9551670" y="5746254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9913620" y="5593854"/>
            <a:ext cx="3489008" cy="54902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叫起来是</a:t>
            </a:r>
            <a:r>
              <a:rPr lang="zh-CN" altLang="en-US" sz="27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什么声音</a:t>
            </a:r>
            <a:r>
              <a:rPr lang="zh-CN" alt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zh-CN" sz="2775" dirty="0"/>
          </a:p>
        </p:txBody>
      </p:sp>
      <p:sp>
        <p:nvSpPr>
          <p:cNvPr id="23" name="Shape 20"/>
          <p:cNvSpPr/>
          <p:nvPr/>
        </p:nvSpPr>
        <p:spPr>
          <a:xfrm>
            <a:off x="9551670" y="6542931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9913620" y="6390531"/>
            <a:ext cx="4264343" cy="54902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凑近了闻，</a:t>
            </a:r>
            <a:r>
              <a:rPr lang="zh-CN" altLang="en-US" sz="27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有没有味道</a:t>
            </a:r>
            <a:r>
              <a:rPr lang="zh-CN" alt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zh-CN" sz="2775" dirty="0"/>
          </a:p>
        </p:txBody>
      </p:sp>
      <p:sp>
        <p:nvSpPr>
          <p:cNvPr id="25" name="Shape 22"/>
          <p:cNvSpPr/>
          <p:nvPr/>
        </p:nvSpPr>
        <p:spPr>
          <a:xfrm>
            <a:off x="9551670" y="7339608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913620" y="7187208"/>
            <a:ext cx="5815013" cy="54902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有没有一个</a:t>
            </a:r>
            <a:r>
              <a:rPr lang="zh-CN" altLang="en-US" sz="27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只有它才有的小习惯</a:t>
            </a:r>
            <a:r>
              <a:rPr lang="zh-CN" alt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zh-CN" sz="2775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842" y="2743200"/>
            <a:ext cx="7670954" cy="630936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天天见得到，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并不等于看清楚了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。这节课，我们就来仔细观察一只小动物。</a:t>
            </a:r>
            <a:endParaRPr lang="zh-CN" sz="2605" dirty="0"/>
          </a:p>
        </p:txBody>
      </p:sp>
      <p:pic>
        <p:nvPicPr>
          <p:cNvPr id="75" name="提示图标" descr="手指点击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76" name="吉祥物" descr="抠-吉祥物-ad495431f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760" y="341947"/>
            <a:ext cx="1533448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底带"/>
          <p:cNvSpPr/>
          <p:nvPr/>
        </p:nvSpPr>
        <p:spPr>
          <a:xfrm>
            <a:off x="0" y="7589520"/>
            <a:ext cx="18288000" cy="2697480"/>
          </a:xfrm>
          <a:prstGeom prst="rect">
            <a:avLst/>
          </a:prstGeom>
          <a:solidFill>
            <a:srgbClr val="EE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创设情境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3769975" cy="833755"/>
          </a:xfrm>
          <a:prstGeom prst="roundRect">
            <a:avLst>
              <a:gd name="adj" fmla="val 22857"/>
            </a:avLst>
          </a:prstGeom>
          <a:solidFill>
            <a:srgbClr val="E6F2E1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219200" y="1624330"/>
            <a:ext cx="13315315" cy="5670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今天的任务：</a:t>
            </a:r>
            <a:r>
              <a:rPr lang="zh-CN" altLang="en-US" sz="3205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仔细观察一只小动物，再把看到的、听到的、摸到的、闻到的写下来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667000"/>
            <a:ext cx="4751705" cy="942975"/>
          </a:xfrm>
          <a:prstGeom prst="roundRect">
            <a:avLst>
              <a:gd name="adj" fmla="val 16162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28750" y="2895600"/>
            <a:ext cx="16973550" cy="523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写好后</a:t>
            </a:r>
            <a:r>
              <a:rPr lang="zh-CN" altLang="en-US" sz="25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读给同组三位同学听</a:t>
            </a:r>
            <a:endParaRPr lang="zh-CN" sz="25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210466" y="3931920"/>
            <a:ext cx="5571387" cy="5394960"/>
          </a:xfrm>
          <a:prstGeom prst="rect">
            <a:avLst/>
          </a:prstGeom>
        </p:spPr>
      </p:pic>
      <p:sp>
        <p:nvSpPr>
          <p:cNvPr id="10" name="Shape 6"/>
          <p:cNvSpPr/>
          <p:nvPr>
            <p:custDataLst>
              <p:tags r:id="rId3"/>
            </p:custDataLst>
          </p:nvPr>
        </p:nvSpPr>
        <p:spPr>
          <a:xfrm>
            <a:off x="1048512" y="409575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1" name="Text 7"/>
          <p:cNvSpPr/>
          <p:nvPr>
            <p:custDataLst>
              <p:tags r:id="rId4"/>
            </p:custDataLst>
          </p:nvPr>
        </p:nvSpPr>
        <p:spPr>
          <a:xfrm>
            <a:off x="1218623" y="4171950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100" dirty="0"/>
          </a:p>
        </p:txBody>
      </p:sp>
      <p:sp>
        <p:nvSpPr>
          <p:cNvPr id="12" name="Text 8"/>
          <p:cNvSpPr/>
          <p:nvPr>
            <p:custDataLst>
              <p:tags r:id="rId5"/>
            </p:custDataLst>
          </p:nvPr>
        </p:nvSpPr>
        <p:spPr>
          <a:xfrm>
            <a:off x="1800860" y="4152900"/>
            <a:ext cx="9820275" cy="10325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听的同学说出一处：他写的这一处，你在自己观察的小动物身上</a:t>
            </a: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也见过，却从来没有留意</a:t>
            </a:r>
            <a:endParaRPr lang="zh-CN" sz="2700" dirty="0"/>
          </a:p>
        </p:txBody>
      </p:sp>
      <p:sp>
        <p:nvSpPr>
          <p:cNvPr id="13" name="Shape 9"/>
          <p:cNvSpPr/>
          <p:nvPr>
            <p:custDataLst>
              <p:tags r:id="rId6"/>
            </p:custDataLst>
          </p:nvPr>
        </p:nvSpPr>
        <p:spPr>
          <a:xfrm>
            <a:off x="1048512" y="5566172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4" name="Text 10"/>
          <p:cNvSpPr/>
          <p:nvPr>
            <p:custDataLst>
              <p:tags r:id="rId7"/>
            </p:custDataLst>
          </p:nvPr>
        </p:nvSpPr>
        <p:spPr>
          <a:xfrm>
            <a:off x="1218623" y="5642372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100" dirty="0"/>
          </a:p>
        </p:txBody>
      </p:sp>
      <p:sp>
        <p:nvSpPr>
          <p:cNvPr id="15" name="Text 11"/>
          <p:cNvSpPr/>
          <p:nvPr>
            <p:custDataLst>
              <p:tags r:id="rId8"/>
            </p:custDataLst>
          </p:nvPr>
        </p:nvSpPr>
        <p:spPr>
          <a:xfrm>
            <a:off x="1800987" y="5623322"/>
            <a:ext cx="9601200" cy="53518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或者说出一处：他写的这一处，是你</a:t>
            </a: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从来没想到可以写下来的</a:t>
            </a:r>
            <a:endParaRPr lang="zh-CN" sz="2700" dirty="0"/>
          </a:p>
        </p:txBody>
      </p:sp>
      <p:sp>
        <p:nvSpPr>
          <p:cNvPr id="16" name="Shape 12"/>
          <p:cNvSpPr/>
          <p:nvPr>
            <p:custDataLst>
              <p:tags r:id="rId9"/>
            </p:custDataLst>
          </p:nvPr>
        </p:nvSpPr>
        <p:spPr>
          <a:xfrm>
            <a:off x="1048512" y="6539508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7" name="Text 13"/>
          <p:cNvSpPr/>
          <p:nvPr>
            <p:custDataLst>
              <p:tags r:id="rId10"/>
            </p:custDataLst>
          </p:nvPr>
        </p:nvSpPr>
        <p:spPr>
          <a:xfrm>
            <a:off x="1218623" y="6615708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100" dirty="0"/>
          </a:p>
        </p:txBody>
      </p:sp>
      <p:sp>
        <p:nvSpPr>
          <p:cNvPr id="18" name="Text 14"/>
          <p:cNvSpPr/>
          <p:nvPr>
            <p:custDataLst>
              <p:tags r:id="rId11"/>
            </p:custDataLst>
          </p:nvPr>
        </p:nvSpPr>
        <p:spPr>
          <a:xfrm>
            <a:off x="1800987" y="6596658"/>
            <a:ext cx="9601200" cy="53518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同组同学能说出一处，就说明你</a:t>
            </a: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看得仔细，也写清楚了</a:t>
            </a:r>
            <a:endParaRPr lang="zh-CN" sz="2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创设情境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E6F2E1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7158261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教材习作：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《我们眼中的缤纷世界》</a:t>
            </a:r>
            <a:endParaRPr lang="zh-CN" sz="3205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060734"/>
            <a:ext cx="8229600" cy="5582851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304020" y="3095625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9665970" y="2952750"/>
            <a:ext cx="6035040" cy="53518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把最近观察时</a:t>
            </a: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印象最深的事物</a:t>
            </a: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写下来</a:t>
            </a:r>
            <a:endParaRPr lang="zh-CN" sz="2700" dirty="0"/>
          </a:p>
        </p:txBody>
      </p:sp>
      <p:sp>
        <p:nvSpPr>
          <p:cNvPr id="10" name="Shape 6"/>
          <p:cNvSpPr/>
          <p:nvPr/>
        </p:nvSpPr>
        <p:spPr>
          <a:xfrm>
            <a:off x="9304020" y="3916561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9665970" y="3773686"/>
            <a:ext cx="6412230" cy="53518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最近仔细观察过别的事物，</a:t>
            </a: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也可以写它</a:t>
            </a:r>
            <a:endParaRPr lang="zh-CN" sz="2700" dirty="0"/>
          </a:p>
        </p:txBody>
      </p:sp>
      <p:sp>
        <p:nvSpPr>
          <p:cNvPr id="12" name="Shape 8"/>
          <p:cNvSpPr/>
          <p:nvPr/>
        </p:nvSpPr>
        <p:spPr>
          <a:xfrm>
            <a:off x="9304020" y="4737497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9665970" y="4594622"/>
            <a:ext cx="7166610" cy="53518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如果没有，就写</a:t>
            </a: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身边那只天天见得到的小动物</a:t>
            </a:r>
            <a:endParaRPr lang="zh-CN" sz="2700" dirty="0"/>
          </a:p>
        </p:txBody>
      </p:sp>
      <p:sp>
        <p:nvSpPr>
          <p:cNvPr id="14" name="Shape 10"/>
          <p:cNvSpPr/>
          <p:nvPr/>
        </p:nvSpPr>
        <p:spPr>
          <a:xfrm>
            <a:off x="9304020" y="6096000"/>
            <a:ext cx="8229600" cy="1552575"/>
          </a:xfrm>
          <a:prstGeom prst="roundRect">
            <a:avLst>
              <a:gd name="adj" fmla="val 11043"/>
            </a:avLst>
          </a:prstGeom>
          <a:solidFill>
            <a:srgbClr val="F7F5F2"/>
          </a:solidFill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9685020" y="6381750"/>
            <a:ext cx="8696325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b="1" dirty="0">
                <a:solidFill>
                  <a:srgbClr val="8A92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法国雕塑家罗丹说</a:t>
            </a:r>
            <a:endParaRPr lang="zh-CN" sz="2100" dirty="0"/>
          </a:p>
        </p:txBody>
      </p:sp>
      <p:sp>
        <p:nvSpPr>
          <p:cNvPr id="16" name="Text 12"/>
          <p:cNvSpPr/>
          <p:nvPr/>
        </p:nvSpPr>
        <p:spPr>
          <a:xfrm>
            <a:off x="9685020" y="6848475"/>
            <a:ext cx="8696325" cy="5524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“生活中不缺少美，只是缺少</a:t>
            </a: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发现美的眼睛</a:t>
            </a: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。”</a:t>
            </a:r>
            <a:endParaRPr lang="zh-CN" sz="2700" dirty="0"/>
          </a:p>
        </p:txBody>
      </p:sp>
      <p:sp>
        <p:nvSpPr>
          <p:cNvPr id="17" name="Text 13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今天我们就来试一试：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一只天天见到的小动物，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仔细看过以后，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能不能有新的发现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zh-CN" sz="2605" dirty="0"/>
          </a:p>
        </p:txBody>
      </p:sp>
      <p:pic>
        <p:nvPicPr>
          <p:cNvPr id="43" name="提示图标" descr="手指点击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44" name="吉祥物" descr="抠-吉祥物-ad495431f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760" y="341947"/>
            <a:ext cx="1533448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观察体验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E6F2E1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6263580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再看一遍：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选定一只蚂蚁仔细看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162050" y="2433638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</p:spPr>
        <p:txBody>
          <a:bodyPr/>
          <a:p/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755" y="2743200"/>
            <a:ext cx="5624249" cy="46634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953500" y="323850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9123611" y="3314700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9705975" y="3295650"/>
            <a:ext cx="6004179" cy="53518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你选定的那只蚂蚁，</a:t>
            </a: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驮着的食物有多大</a:t>
            </a: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zh-CN" sz="2700" dirty="0"/>
          </a:p>
        </p:txBody>
      </p:sp>
      <p:sp>
        <p:nvSpPr>
          <p:cNvPr id="12" name="Shape 8"/>
          <p:cNvSpPr/>
          <p:nvPr/>
        </p:nvSpPr>
        <p:spPr>
          <a:xfrm>
            <a:off x="8953500" y="4173736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9123611" y="4249936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9705975" y="4230886"/>
            <a:ext cx="6710553" cy="53518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它是</a:t>
            </a: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往洞口去</a:t>
            </a: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，还是</a:t>
            </a: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从洞口出来</a:t>
            </a: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zh-CN" sz="2700" dirty="0"/>
          </a:p>
        </p:txBody>
      </p:sp>
      <p:sp>
        <p:nvSpPr>
          <p:cNvPr id="15" name="Shape 11"/>
          <p:cNvSpPr/>
          <p:nvPr/>
        </p:nvSpPr>
        <p:spPr>
          <a:xfrm>
            <a:off x="8953500" y="5108972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9123611" y="5185172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100" dirty="0"/>
          </a:p>
        </p:txBody>
      </p:sp>
      <p:sp>
        <p:nvSpPr>
          <p:cNvPr id="17" name="Text 13"/>
          <p:cNvSpPr/>
          <p:nvPr/>
        </p:nvSpPr>
        <p:spPr>
          <a:xfrm>
            <a:off x="9705975" y="5166122"/>
            <a:ext cx="5650992" cy="53518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再看一看洞口，</a:t>
            </a: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你看见了什么</a:t>
            </a: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zh-CN" sz="2700" dirty="0"/>
          </a:p>
        </p:txBody>
      </p:sp>
      <p:sp>
        <p:nvSpPr>
          <p:cNvPr id="18" name="Shape 14"/>
          <p:cNvSpPr/>
          <p:nvPr/>
        </p:nvSpPr>
        <p:spPr>
          <a:xfrm>
            <a:off x="1047750" y="7524750"/>
            <a:ext cx="16192500" cy="1043880"/>
          </a:xfrm>
          <a:prstGeom prst="roundRect">
            <a:avLst>
              <a:gd name="adj" fmla="val 16424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9" name="Text 15"/>
          <p:cNvSpPr/>
          <p:nvPr/>
        </p:nvSpPr>
        <p:spPr>
          <a:xfrm>
            <a:off x="1466850" y="7810500"/>
            <a:ext cx="16889730" cy="5104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zh-CN" alt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驮着食物的往洞口去，从洞口出来的什么也没驮；有一只</a:t>
            </a:r>
            <a:r>
              <a:rPr lang="zh-CN" alt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驮的食物比它自己还大</a:t>
            </a:r>
            <a:r>
              <a:rPr lang="zh-CN" alt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；洞口</a:t>
            </a:r>
            <a:r>
              <a:rPr lang="zh-CN" alt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挤了一小团</a:t>
            </a:r>
            <a:r>
              <a:rPr lang="zh-CN" altLang="en-US" sz="2325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来来往往的蚂蚁</a:t>
            </a:r>
            <a:r>
              <a:rPr lang="zh-CN" alt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325" dirty="0"/>
          </a:p>
        </p:txBody>
      </p:sp>
      <p:pic>
        <p:nvPicPr>
          <p:cNvPr id="44" name="吉祥物" descr="抠-吉祥物-ad495431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8760" y="341947"/>
            <a:ext cx="1533448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观察体验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E6F2E1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8500527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一件事怎么变：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刚开始、过了一会儿、最后</a:t>
            </a:r>
            <a:endParaRPr lang="zh-CN" sz="3205" dirty="0"/>
          </a:p>
        </p:txBody>
      </p:sp>
      <p:sp>
        <p:nvSpPr>
          <p:cNvPr id="7" name="Text 4"/>
          <p:cNvSpPr/>
          <p:nvPr/>
        </p:nvSpPr>
        <p:spPr>
          <a:xfrm>
            <a:off x="1047750" y="2857500"/>
            <a:ext cx="1781175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那只驮着食物的蚂蚁，刚开始在哪里，过了一会儿走到了哪里，最后怎么样了？</a:t>
            </a:r>
            <a:endParaRPr lang="zh-CN" sz="2400" dirty="0"/>
          </a:p>
        </p:txBody>
      </p:sp>
      <p:sp>
        <p:nvSpPr>
          <p:cNvPr id="8" name="Shape 5"/>
          <p:cNvSpPr/>
          <p:nvPr/>
        </p:nvSpPr>
        <p:spPr>
          <a:xfrm>
            <a:off x="1047750" y="3810000"/>
            <a:ext cx="4953000" cy="3931920"/>
          </a:xfrm>
          <a:prstGeom prst="roundRect">
            <a:avLst>
              <a:gd name="adj" fmla="val 5660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057275" y="3819525"/>
            <a:ext cx="4933950" cy="914400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381125" y="4029075"/>
            <a:ext cx="4714875" cy="5334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3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刚开始</a:t>
            </a:r>
            <a:endParaRPr lang="zh-CN" sz="3000" dirty="0"/>
          </a:p>
        </p:txBody>
      </p:sp>
      <p:sp>
        <p:nvSpPr>
          <p:cNvPr id="11" name="Text 8"/>
          <p:cNvSpPr/>
          <p:nvPr/>
        </p:nvSpPr>
        <p:spPr>
          <a:xfrm>
            <a:off x="1381125" y="5076825"/>
            <a:ext cx="4714875" cy="53994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zh-CN" altLang="en-US" sz="25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它在草根那边</a:t>
            </a:r>
            <a:endParaRPr lang="zh-CN" sz="2550" dirty="0"/>
          </a:p>
        </p:txBody>
      </p:sp>
      <p:sp>
        <p:nvSpPr>
          <p:cNvPr id="12" name="Text 9"/>
          <p:cNvSpPr/>
          <p:nvPr/>
        </p:nvSpPr>
        <p:spPr>
          <a:xfrm>
            <a:off x="5962650" y="5014913"/>
            <a:ext cx="742950" cy="6572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>
            <a:off x="6667500" y="3810000"/>
            <a:ext cx="4953000" cy="3931920"/>
          </a:xfrm>
          <a:prstGeom prst="roundRect">
            <a:avLst>
              <a:gd name="adj" fmla="val 5660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6677025" y="3819525"/>
            <a:ext cx="4933950" cy="914400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7000875" y="4029075"/>
            <a:ext cx="4714875" cy="5334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3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过了一会儿</a:t>
            </a:r>
            <a:endParaRPr lang="zh-CN" sz="3000" dirty="0"/>
          </a:p>
        </p:txBody>
      </p:sp>
      <p:sp>
        <p:nvSpPr>
          <p:cNvPr id="16" name="Text 13"/>
          <p:cNvSpPr/>
          <p:nvPr/>
        </p:nvSpPr>
        <p:spPr>
          <a:xfrm>
            <a:off x="7000875" y="5076825"/>
            <a:ext cx="4714875" cy="53994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zh-CN" altLang="en-US" sz="25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驮着东西，一路往洞口挪</a:t>
            </a:r>
            <a:endParaRPr lang="zh-CN" sz="2550" dirty="0"/>
          </a:p>
        </p:txBody>
      </p:sp>
      <p:sp>
        <p:nvSpPr>
          <p:cNvPr id="17" name="Text 14"/>
          <p:cNvSpPr/>
          <p:nvPr/>
        </p:nvSpPr>
        <p:spPr>
          <a:xfrm>
            <a:off x="11582400" y="5014913"/>
            <a:ext cx="742950" cy="6572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  <a:endParaRPr lang="en-US" sz="3600" dirty="0"/>
          </a:p>
        </p:txBody>
      </p:sp>
      <p:sp>
        <p:nvSpPr>
          <p:cNvPr id="18" name="Shape 15"/>
          <p:cNvSpPr/>
          <p:nvPr/>
        </p:nvSpPr>
        <p:spPr>
          <a:xfrm>
            <a:off x="12287250" y="3810000"/>
            <a:ext cx="4953000" cy="3931920"/>
          </a:xfrm>
          <a:prstGeom prst="roundRect">
            <a:avLst>
              <a:gd name="adj" fmla="val 5660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2296775" y="3819525"/>
            <a:ext cx="4933950" cy="914400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2620625" y="4029075"/>
            <a:ext cx="4714875" cy="5334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3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最后</a:t>
            </a:r>
            <a:endParaRPr lang="zh-CN" sz="3000" dirty="0"/>
          </a:p>
        </p:txBody>
      </p:sp>
      <p:sp>
        <p:nvSpPr>
          <p:cNvPr id="21" name="Text 18"/>
          <p:cNvSpPr/>
          <p:nvPr/>
        </p:nvSpPr>
        <p:spPr>
          <a:xfrm>
            <a:off x="12620625" y="5076825"/>
            <a:ext cx="4714875" cy="53994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zh-CN" altLang="en-US" sz="25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钻进洞口，不见了</a:t>
            </a:r>
            <a:endParaRPr lang="zh-CN" sz="2550" dirty="0"/>
          </a:p>
        </p:txBody>
      </p:sp>
      <p:sp>
        <p:nvSpPr>
          <p:cNvPr id="22" name="Text 19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短时间内能看完的变化，可以用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这三个词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一步一步看出来。</a:t>
            </a:r>
            <a:endParaRPr lang="zh-CN" sz="2605" dirty="0"/>
          </a:p>
        </p:txBody>
      </p:sp>
      <p:pic>
        <p:nvPicPr>
          <p:cNvPr id="61" name="插图" descr="抠-P09a-df7858c0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026" y="5577840"/>
            <a:ext cx="2059115" cy="2057400"/>
          </a:xfrm>
          <a:prstGeom prst="rect">
            <a:avLst/>
          </a:prstGeom>
        </p:spPr>
      </p:pic>
      <p:pic>
        <p:nvPicPr>
          <p:cNvPr id="62" name="插图" descr="抠-P09b-d766d1e9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4614" y="5577840"/>
            <a:ext cx="2298770" cy="2057400"/>
          </a:xfrm>
          <a:prstGeom prst="rect">
            <a:avLst/>
          </a:prstGeom>
        </p:spPr>
      </p:pic>
      <p:pic>
        <p:nvPicPr>
          <p:cNvPr id="63" name="插图" descr="抠-P09c-57011803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59693" y="5577840"/>
            <a:ext cx="2415733" cy="2057400"/>
          </a:xfrm>
          <a:prstGeom prst="rect">
            <a:avLst/>
          </a:prstGeom>
        </p:spPr>
      </p:pic>
      <p:pic>
        <p:nvPicPr>
          <p:cNvPr id="70" name="提示图标" descr="手指点击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71" name="吉祥物" descr="抠-吉祥物-ad495431f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38760" y="341947"/>
            <a:ext cx="1533448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观察体验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E6F2E1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7605683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回想自己那只小动物：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老师问四个问题</a:t>
            </a:r>
            <a:endParaRPr lang="zh-CN" sz="3205" dirty="0"/>
          </a:p>
        </p:txBody>
      </p:sp>
      <p:sp>
        <p:nvSpPr>
          <p:cNvPr id="7" name="Shape 4"/>
          <p:cNvSpPr/>
          <p:nvPr>
            <p:custDataLst>
              <p:tags r:id="rId2"/>
            </p:custDataLst>
          </p:nvPr>
        </p:nvSpPr>
        <p:spPr>
          <a:xfrm>
            <a:off x="1051560" y="2761488"/>
            <a:ext cx="5577840" cy="2743200"/>
          </a:xfrm>
          <a:prstGeom prst="roundRect">
            <a:avLst>
              <a:gd name="adj" fmla="val 8077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>
            <p:custDataLst>
              <p:tags r:id="rId3"/>
            </p:custDataLst>
          </p:nvPr>
        </p:nvSpPr>
        <p:spPr>
          <a:xfrm>
            <a:off x="1060704" y="2770632"/>
            <a:ext cx="5559552" cy="695325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9" name="Text 6"/>
          <p:cNvSpPr/>
          <p:nvPr>
            <p:custDataLst>
              <p:tags r:id="rId4"/>
            </p:custDataLst>
          </p:nvPr>
        </p:nvSpPr>
        <p:spPr>
          <a:xfrm>
            <a:off x="1362456" y="2926080"/>
            <a:ext cx="5120640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32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第一问：手摸</a:t>
            </a:r>
            <a:endParaRPr lang="zh-CN" sz="2325" dirty="0"/>
          </a:p>
        </p:txBody>
      </p:sp>
      <p:sp>
        <p:nvSpPr>
          <p:cNvPr id="10" name="Text 7"/>
          <p:cNvSpPr/>
          <p:nvPr>
            <p:custDataLst>
              <p:tags r:id="rId5"/>
            </p:custDataLst>
          </p:nvPr>
        </p:nvSpPr>
        <p:spPr>
          <a:xfrm>
            <a:off x="1362456" y="3657600"/>
            <a:ext cx="5120640" cy="8686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4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你摸过它吗？</a:t>
            </a:r>
            <a:r>
              <a:rPr lang="zh-CN" altLang="en-US" sz="24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摸上去是什么感觉</a:t>
            </a:r>
            <a:r>
              <a:rPr lang="zh-CN" altLang="en-US" sz="24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zh-CN" sz="2475" dirty="0"/>
          </a:p>
        </p:txBody>
      </p:sp>
      <p:sp>
        <p:nvSpPr>
          <p:cNvPr id="11" name="Text 8"/>
          <p:cNvSpPr/>
          <p:nvPr>
            <p:custDataLst>
              <p:tags r:id="rId6"/>
            </p:custDataLst>
          </p:nvPr>
        </p:nvSpPr>
        <p:spPr>
          <a:xfrm>
            <a:off x="1362456" y="4572000"/>
            <a:ext cx="512064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zh-CN" altLang="en-US" sz="2100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毛软软的，暖暖的；壳硬硬的，滑溜溜</a:t>
            </a:r>
            <a:endParaRPr lang="zh-CN" sz="2100" dirty="0"/>
          </a:p>
        </p:txBody>
      </p:sp>
      <p:sp>
        <p:nvSpPr>
          <p:cNvPr id="12" name="Shape 9"/>
          <p:cNvSpPr/>
          <p:nvPr>
            <p:custDataLst>
              <p:tags r:id="rId7"/>
            </p:custDataLst>
          </p:nvPr>
        </p:nvSpPr>
        <p:spPr>
          <a:xfrm>
            <a:off x="6858000" y="2761488"/>
            <a:ext cx="5577840" cy="2743200"/>
          </a:xfrm>
          <a:prstGeom prst="roundRect">
            <a:avLst>
              <a:gd name="adj" fmla="val 8077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>
            <p:custDataLst>
              <p:tags r:id="rId8"/>
            </p:custDataLst>
          </p:nvPr>
        </p:nvSpPr>
        <p:spPr>
          <a:xfrm>
            <a:off x="6867144" y="2770632"/>
            <a:ext cx="5559552" cy="695325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4" name="Text 11"/>
          <p:cNvSpPr/>
          <p:nvPr>
            <p:custDataLst>
              <p:tags r:id="rId9"/>
            </p:custDataLst>
          </p:nvPr>
        </p:nvSpPr>
        <p:spPr>
          <a:xfrm>
            <a:off x="7168896" y="2926080"/>
            <a:ext cx="5120640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32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第二问：耳听</a:t>
            </a:r>
            <a:endParaRPr lang="zh-CN" sz="2325" dirty="0"/>
          </a:p>
        </p:txBody>
      </p:sp>
      <p:sp>
        <p:nvSpPr>
          <p:cNvPr id="15" name="Text 12"/>
          <p:cNvSpPr/>
          <p:nvPr>
            <p:custDataLst>
              <p:tags r:id="rId10"/>
            </p:custDataLst>
          </p:nvPr>
        </p:nvSpPr>
        <p:spPr>
          <a:xfrm>
            <a:off x="7168896" y="3657600"/>
            <a:ext cx="5120640" cy="8686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4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它叫起来是</a:t>
            </a:r>
            <a:r>
              <a:rPr lang="zh-CN" altLang="en-US" sz="24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什么声音</a:t>
            </a:r>
            <a:r>
              <a:rPr lang="zh-CN" altLang="en-US" sz="24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？走动、吃东西时有声音吗？</a:t>
            </a:r>
            <a:endParaRPr lang="zh-CN" sz="2475" dirty="0"/>
          </a:p>
        </p:txBody>
      </p:sp>
      <p:sp>
        <p:nvSpPr>
          <p:cNvPr id="16" name="Text 13"/>
          <p:cNvSpPr/>
          <p:nvPr>
            <p:custDataLst>
              <p:tags r:id="rId11"/>
            </p:custDataLst>
          </p:nvPr>
        </p:nvSpPr>
        <p:spPr>
          <a:xfrm>
            <a:off x="7168896" y="4572000"/>
            <a:ext cx="512064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zh-CN" altLang="en-US" sz="2100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喵喵叫，饿的时候声音拖得很长；爪子在地板上嗒嗒嗒</a:t>
            </a:r>
            <a:endParaRPr lang="zh-CN" sz="2100" dirty="0"/>
          </a:p>
        </p:txBody>
      </p:sp>
      <p:sp>
        <p:nvSpPr>
          <p:cNvPr id="17" name="Shape 14"/>
          <p:cNvSpPr/>
          <p:nvPr>
            <p:custDataLst>
              <p:tags r:id="rId12"/>
            </p:custDataLst>
          </p:nvPr>
        </p:nvSpPr>
        <p:spPr>
          <a:xfrm>
            <a:off x="1051560" y="5715000"/>
            <a:ext cx="5577840" cy="2743200"/>
          </a:xfrm>
          <a:prstGeom prst="roundRect">
            <a:avLst>
              <a:gd name="adj" fmla="val 8077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>
            <p:custDataLst>
              <p:tags r:id="rId13"/>
            </p:custDataLst>
          </p:nvPr>
        </p:nvSpPr>
        <p:spPr>
          <a:xfrm>
            <a:off x="1060704" y="5724144"/>
            <a:ext cx="5559552" cy="695325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9" name="Text 16"/>
          <p:cNvSpPr/>
          <p:nvPr>
            <p:custDataLst>
              <p:tags r:id="rId14"/>
            </p:custDataLst>
          </p:nvPr>
        </p:nvSpPr>
        <p:spPr>
          <a:xfrm>
            <a:off x="1362456" y="5879592"/>
            <a:ext cx="5120640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232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第三问：鼻</a:t>
            </a:r>
            <a:r>
              <a:rPr lang="zh-CN" altLang="en-US" sz="232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子</a:t>
            </a:r>
            <a:r>
              <a:rPr lang="zh-CN" altLang="en-US" sz="232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闻</a:t>
            </a:r>
            <a:endParaRPr lang="zh-CN" sz="2325" dirty="0"/>
          </a:p>
        </p:txBody>
      </p:sp>
      <p:sp>
        <p:nvSpPr>
          <p:cNvPr id="20" name="Text 17"/>
          <p:cNvSpPr/>
          <p:nvPr>
            <p:custDataLst>
              <p:tags r:id="rId15"/>
            </p:custDataLst>
          </p:nvPr>
        </p:nvSpPr>
        <p:spPr>
          <a:xfrm>
            <a:off x="1362456" y="6611112"/>
            <a:ext cx="5120640" cy="8686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4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凑近它，</a:t>
            </a:r>
            <a:r>
              <a:rPr lang="zh-CN" altLang="en-US" sz="24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闻到过什么味道</a:t>
            </a:r>
            <a:r>
              <a:rPr lang="zh-CN" altLang="en-US" sz="24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吗？</a:t>
            </a:r>
            <a:endParaRPr lang="zh-CN" sz="2475" dirty="0"/>
          </a:p>
        </p:txBody>
      </p:sp>
      <p:sp>
        <p:nvSpPr>
          <p:cNvPr id="21" name="Text 18"/>
          <p:cNvSpPr/>
          <p:nvPr>
            <p:custDataLst>
              <p:tags r:id="rId16"/>
            </p:custDataLst>
          </p:nvPr>
        </p:nvSpPr>
        <p:spPr>
          <a:xfrm>
            <a:off x="1362456" y="7525512"/>
            <a:ext cx="512064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zh-CN" altLang="en-US" sz="2100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晒过太阳以后有一股暖烘烘的味；鱼缸边上有点腥</a:t>
            </a:r>
            <a:endParaRPr lang="zh-CN" sz="2100" dirty="0"/>
          </a:p>
        </p:txBody>
      </p:sp>
      <p:sp>
        <p:nvSpPr>
          <p:cNvPr id="22" name="Shape 19"/>
          <p:cNvSpPr/>
          <p:nvPr>
            <p:custDataLst>
              <p:tags r:id="rId17"/>
            </p:custDataLst>
          </p:nvPr>
        </p:nvSpPr>
        <p:spPr>
          <a:xfrm>
            <a:off x="6858000" y="5715000"/>
            <a:ext cx="5577840" cy="2743200"/>
          </a:xfrm>
          <a:prstGeom prst="roundRect">
            <a:avLst>
              <a:gd name="adj" fmla="val 8077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>
            <p:custDataLst>
              <p:tags r:id="rId18"/>
            </p:custDataLst>
          </p:nvPr>
        </p:nvSpPr>
        <p:spPr>
          <a:xfrm>
            <a:off x="6867144" y="5724144"/>
            <a:ext cx="5559552" cy="695325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24" name="Text 21"/>
          <p:cNvSpPr/>
          <p:nvPr>
            <p:custDataLst>
              <p:tags r:id="rId19"/>
            </p:custDataLst>
          </p:nvPr>
        </p:nvSpPr>
        <p:spPr>
          <a:xfrm>
            <a:off x="7168896" y="5879592"/>
            <a:ext cx="5120640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32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第四问：小习惯</a:t>
            </a:r>
            <a:endParaRPr lang="zh-CN" sz="2325" dirty="0"/>
          </a:p>
        </p:txBody>
      </p:sp>
      <p:sp>
        <p:nvSpPr>
          <p:cNvPr id="25" name="Text 22"/>
          <p:cNvSpPr/>
          <p:nvPr>
            <p:custDataLst>
              <p:tags r:id="rId20"/>
            </p:custDataLst>
          </p:nvPr>
        </p:nvSpPr>
        <p:spPr>
          <a:xfrm>
            <a:off x="7168896" y="6611112"/>
            <a:ext cx="5120640" cy="8686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4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它有没有一个</a:t>
            </a:r>
            <a:r>
              <a:rPr lang="zh-CN" altLang="en-US" sz="24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只有它才有的小习惯</a:t>
            </a:r>
            <a:r>
              <a:rPr lang="zh-CN" altLang="en-US" sz="24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zh-CN" sz="2475" dirty="0"/>
          </a:p>
        </p:txBody>
      </p:sp>
      <p:sp>
        <p:nvSpPr>
          <p:cNvPr id="26" name="Text 23"/>
          <p:cNvSpPr/>
          <p:nvPr>
            <p:custDataLst>
              <p:tags r:id="rId21"/>
            </p:custDataLst>
          </p:nvPr>
        </p:nvSpPr>
        <p:spPr>
          <a:xfrm>
            <a:off x="7168896" y="7525512"/>
            <a:ext cx="512064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zh-CN" altLang="en-US" sz="2100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吸尘器一响就钻到沙发底下；它认得我的脚步声</a:t>
            </a:r>
            <a:endParaRPr lang="zh-CN" sz="2100" dirty="0"/>
          </a:p>
        </p:txBody>
      </p:sp>
      <p:sp>
        <p:nvSpPr>
          <p:cNvPr id="27" name="Text 24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想到了就请举手；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摸不着、闻不到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，也是试过以后才有的发现。</a:t>
            </a:r>
            <a:endParaRPr lang="zh-CN" sz="2605" dirty="0"/>
          </a:p>
        </p:txBody>
      </p:sp>
      <p:pic>
        <p:nvPicPr>
          <p:cNvPr id="76" name="插图" descr="抠-P10-c2283f8af4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710160" y="4621301"/>
            <a:ext cx="5577840" cy="4522698"/>
          </a:xfrm>
          <a:prstGeom prst="rect">
            <a:avLst/>
          </a:prstGeom>
        </p:spPr>
      </p:pic>
      <p:pic>
        <p:nvPicPr>
          <p:cNvPr id="77" name="提示图标" descr="手指点击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78" name="吉祥物" descr="抠-吉祥物-ad495431f4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2938760" y="341947"/>
            <a:ext cx="1533448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观察体验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E6F2E1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5816158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观察的时候：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能用上的都用上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162050" y="2433638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47750" y="3143250"/>
            <a:ext cx="3040261" cy="2331720"/>
          </a:xfrm>
          <a:prstGeom prst="roundRect">
            <a:avLst>
              <a:gd name="adj" fmla="val 6143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057275" y="3152775"/>
            <a:ext cx="3021211" cy="866775"/>
          </a:xfrm>
          <a:prstGeom prst="rect">
            <a:avLst/>
          </a:prstGeom>
          <a:solidFill>
            <a:srgbClr val="C0392B"/>
          </a:solidFill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323975" y="3362325"/>
            <a:ext cx="2736592" cy="4857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眼睛看</a:t>
            </a:r>
            <a:endParaRPr lang="zh-CN" sz="2700" dirty="0"/>
          </a:p>
        </p:txBody>
      </p:sp>
      <p:sp>
        <p:nvSpPr>
          <p:cNvPr id="11" name="Text 8"/>
          <p:cNvSpPr/>
          <p:nvPr/>
        </p:nvSpPr>
        <p:spPr>
          <a:xfrm>
            <a:off x="1323975" y="4286250"/>
            <a:ext cx="2564011" cy="923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颜色、样子、动作，还有它的变化</a:t>
            </a:r>
            <a:endParaRPr lang="zh-CN" sz="2250" dirty="0"/>
          </a:p>
        </p:txBody>
      </p:sp>
      <p:sp>
        <p:nvSpPr>
          <p:cNvPr id="12" name="Shape 9"/>
          <p:cNvSpPr/>
          <p:nvPr/>
        </p:nvSpPr>
        <p:spPr>
          <a:xfrm>
            <a:off x="4335661" y="3143250"/>
            <a:ext cx="3040410" cy="2331720"/>
          </a:xfrm>
          <a:prstGeom prst="roundRect">
            <a:avLst>
              <a:gd name="adj" fmla="val 6143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4345186" y="3152775"/>
            <a:ext cx="3021360" cy="866775"/>
          </a:xfrm>
          <a:prstGeom prst="rect">
            <a:avLst/>
          </a:prstGeom>
          <a:solidFill>
            <a:srgbClr val="2F72B8"/>
          </a:solidFill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611886" y="3362325"/>
            <a:ext cx="2736756" cy="4857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耳朵听</a:t>
            </a:r>
            <a:endParaRPr lang="zh-CN" sz="2700" dirty="0"/>
          </a:p>
        </p:txBody>
      </p:sp>
      <p:sp>
        <p:nvSpPr>
          <p:cNvPr id="15" name="Text 12"/>
          <p:cNvSpPr/>
          <p:nvPr/>
        </p:nvSpPr>
        <p:spPr>
          <a:xfrm>
            <a:off x="4611886" y="4286250"/>
            <a:ext cx="2564160" cy="923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叫声、啃食物的声音、脚步声</a:t>
            </a:r>
            <a:endParaRPr lang="zh-CN" sz="2250" dirty="0"/>
          </a:p>
        </p:txBody>
      </p:sp>
      <p:sp>
        <p:nvSpPr>
          <p:cNvPr id="16" name="Shape 13"/>
          <p:cNvSpPr/>
          <p:nvPr/>
        </p:nvSpPr>
        <p:spPr>
          <a:xfrm>
            <a:off x="7623721" y="3143250"/>
            <a:ext cx="3040410" cy="2331720"/>
          </a:xfrm>
          <a:prstGeom prst="roundRect">
            <a:avLst>
              <a:gd name="adj" fmla="val 6143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7633246" y="3152775"/>
            <a:ext cx="3021360" cy="866775"/>
          </a:xfrm>
          <a:prstGeom prst="rect">
            <a:avLst/>
          </a:prstGeom>
          <a:solidFill>
            <a:srgbClr val="D9822B"/>
          </a:solidFill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7899946" y="3362325"/>
            <a:ext cx="2736756" cy="4857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手摸</a:t>
            </a:r>
            <a:endParaRPr lang="zh-CN" sz="2700" dirty="0"/>
          </a:p>
        </p:txBody>
      </p:sp>
      <p:sp>
        <p:nvSpPr>
          <p:cNvPr id="19" name="Text 16"/>
          <p:cNvSpPr/>
          <p:nvPr/>
        </p:nvSpPr>
        <p:spPr>
          <a:xfrm>
            <a:off x="7899946" y="4286250"/>
            <a:ext cx="2564160" cy="923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毛是软的、暖的；壳是硬的、滑的</a:t>
            </a:r>
            <a:endParaRPr lang="zh-CN" sz="2250" dirty="0"/>
          </a:p>
        </p:txBody>
      </p:sp>
      <p:sp>
        <p:nvSpPr>
          <p:cNvPr id="20" name="Shape 17"/>
          <p:cNvSpPr/>
          <p:nvPr/>
        </p:nvSpPr>
        <p:spPr>
          <a:xfrm>
            <a:off x="10911780" y="3143250"/>
            <a:ext cx="3040410" cy="2331720"/>
          </a:xfrm>
          <a:prstGeom prst="roundRect">
            <a:avLst>
              <a:gd name="adj" fmla="val 6143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921305" y="3152775"/>
            <a:ext cx="3021360" cy="866775"/>
          </a:xfrm>
          <a:prstGeom prst="rect">
            <a:avLst/>
          </a:prstGeom>
          <a:solidFill>
            <a:srgbClr val="8E5AA8"/>
          </a:solidFill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11188005" y="3362325"/>
            <a:ext cx="2736756" cy="4857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鼻子闻</a:t>
            </a:r>
            <a:endParaRPr lang="zh-CN" sz="2700" dirty="0"/>
          </a:p>
        </p:txBody>
      </p:sp>
      <p:sp>
        <p:nvSpPr>
          <p:cNvPr id="23" name="Text 20"/>
          <p:cNvSpPr/>
          <p:nvPr/>
        </p:nvSpPr>
        <p:spPr>
          <a:xfrm>
            <a:off x="11188005" y="4286250"/>
            <a:ext cx="2564160" cy="923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暖烘烘的味道，或者有点腥</a:t>
            </a:r>
            <a:endParaRPr lang="zh-CN" sz="2250" dirty="0"/>
          </a:p>
        </p:txBody>
      </p:sp>
      <p:sp>
        <p:nvSpPr>
          <p:cNvPr id="24" name="Shape 21"/>
          <p:cNvSpPr/>
          <p:nvPr/>
        </p:nvSpPr>
        <p:spPr>
          <a:xfrm>
            <a:off x="14199840" y="3143250"/>
            <a:ext cx="3040410" cy="2331720"/>
          </a:xfrm>
          <a:prstGeom prst="roundRect">
            <a:avLst>
              <a:gd name="adj" fmla="val 6143"/>
            </a:avLst>
          </a:prstGeom>
          <a:solidFill>
            <a:srgbClr val="F7F8FA">
              <a:alpha val="55000"/>
            </a:srgbClr>
          </a:solidFill>
          <a:ln w="9525">
            <a:solidFill>
              <a:srgbClr val="E4E7EC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4209365" y="3152775"/>
            <a:ext cx="3021360" cy="866775"/>
          </a:xfrm>
          <a:prstGeom prst="rect">
            <a:avLst/>
          </a:prstGeom>
          <a:solidFill>
            <a:srgbClr val="8A929E">
              <a:alpha val="55000"/>
            </a:srgbClr>
          </a:solidFill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14476065" y="3362325"/>
            <a:ext cx="2736756" cy="4857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700" b="1" dirty="0">
                <a:solidFill>
                  <a:srgbClr val="FFFFFF">
                    <a:alpha val="5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嘴巴尝</a:t>
            </a:r>
            <a:endParaRPr lang="zh-CN" sz="2700" dirty="0"/>
          </a:p>
        </p:txBody>
      </p:sp>
      <p:sp>
        <p:nvSpPr>
          <p:cNvPr id="27" name="Text 24"/>
          <p:cNvSpPr/>
          <p:nvPr/>
        </p:nvSpPr>
        <p:spPr>
          <a:xfrm>
            <a:off x="14476065" y="4286250"/>
            <a:ext cx="2564160" cy="923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zh-CN" altLang="en-US" sz="2250" dirty="0">
                <a:solidFill>
                  <a:srgbClr val="2A2E37">
                    <a:alpha val="5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小动物不能尝，这一格今天空着</a:t>
            </a:r>
            <a:endParaRPr lang="zh-CN" sz="2250" dirty="0"/>
          </a:p>
        </p:txBody>
      </p:sp>
      <p:sp>
        <p:nvSpPr>
          <p:cNvPr id="28" name="Shape 25"/>
          <p:cNvSpPr/>
          <p:nvPr/>
        </p:nvSpPr>
        <p:spPr>
          <a:xfrm>
            <a:off x="1047750" y="5760720"/>
            <a:ext cx="11247120" cy="1280160"/>
          </a:xfrm>
          <a:prstGeom prst="roundRect">
            <a:avLst>
              <a:gd name="adj" fmla="val 16931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1428750" y="5943600"/>
            <a:ext cx="10881360" cy="9144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325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碰不到、闻不到的，那一格空着即可。写蚂蚁的同学，</a:t>
            </a:r>
            <a:r>
              <a:rPr lang="zh-CN" alt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看到的样子、像什么、它的变化</a:t>
            </a:r>
            <a:r>
              <a:rPr lang="zh-CN" altLang="en-US" sz="2325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这三项最容易写出内容。</a:t>
            </a:r>
            <a:endParaRPr lang="zh-CN" sz="2325" dirty="0"/>
          </a:p>
        </p:txBody>
      </p:sp>
      <p:sp>
        <p:nvSpPr>
          <p:cNvPr id="30" name="Text 27"/>
          <p:cNvSpPr/>
          <p:nvPr/>
        </p:nvSpPr>
        <p:spPr>
          <a:xfrm>
            <a:off x="1687830" y="9334500"/>
            <a:ext cx="1188720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教材上说：用眼睛看，用耳朵听，还可以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用手摸，用鼻子闻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，有时还可以尝一尝。</a:t>
            </a:r>
            <a:endParaRPr lang="zh-CN" sz="2605" dirty="0"/>
          </a:p>
        </p:txBody>
      </p:sp>
      <p:pic>
        <p:nvPicPr>
          <p:cNvPr id="78" name="插图" descr="抠-P11-2d9a7e4e2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0" y="6861810"/>
            <a:ext cx="4572000" cy="3425190"/>
          </a:xfrm>
          <a:prstGeom prst="rect">
            <a:avLst/>
          </a:prstGeom>
        </p:spPr>
      </p:pic>
      <p:pic>
        <p:nvPicPr>
          <p:cNvPr id="79" name="提示图标" descr="手指点击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80" name="吉祥物" descr="抠-吉祥物-ad495431f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760" y="341947"/>
            <a:ext cx="1533448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学写法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E6F2E1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10290051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同写一群蚂蚁：哪一段把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印象最深的地方</a:t>
            </a: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写清楚了？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762250"/>
            <a:ext cx="7886700" cy="4953000"/>
          </a:xfrm>
          <a:prstGeom prst="roundRect">
            <a:avLst>
              <a:gd name="adj" fmla="val 3462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771775"/>
            <a:ext cx="7867650" cy="742950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81125" y="2943225"/>
            <a:ext cx="794194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第一段</a:t>
            </a:r>
            <a:endParaRPr lang="zh-CN" sz="2400" dirty="0"/>
          </a:p>
        </p:txBody>
      </p:sp>
      <p:sp>
        <p:nvSpPr>
          <p:cNvPr id="10" name="Shape 7"/>
          <p:cNvSpPr/>
          <p:nvPr/>
        </p:nvSpPr>
        <p:spPr>
          <a:xfrm>
            <a:off x="1057275" y="3514725"/>
            <a:ext cx="7867650" cy="4191000"/>
          </a:xfrm>
          <a:prstGeom prst="rect">
            <a:avLst/>
          </a:prstGeom>
          <a:solidFill>
            <a:srgbClr val="F7F5F2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381125" y="3781425"/>
            <a:ext cx="7436549" cy="267771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533400" algn="l">
              <a:lnSpc>
                <a:spcPct val="125000"/>
              </a:lnSpc>
              <a:buNone/>
            </a:pPr>
            <a:r>
              <a:rPr lang="zh-CN" alt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家楼下有一群蚂蚁。它们是黑色的，背上油亮油亮的，最大的一只也不过一颗小米粒那么大。头上两根触角细得像头发丝，一刻不停地摆来摆去。六条腿跑起来飞快，一眨眼就从这块砖跑到了那块砖。它们力气大得出奇，能拖动比自己大好几倍的东西。墙根底下有一个小洞口，那就是它们的家。太阳一落山，它们就都回去了。</a:t>
            </a:r>
            <a:endParaRPr lang="zh-CN" sz="2100" dirty="0"/>
          </a:p>
        </p:txBody>
      </p:sp>
      <p:sp>
        <p:nvSpPr>
          <p:cNvPr id="12" name="Shape 9"/>
          <p:cNvSpPr/>
          <p:nvPr/>
        </p:nvSpPr>
        <p:spPr>
          <a:xfrm>
            <a:off x="9353550" y="2762250"/>
            <a:ext cx="7886700" cy="4953000"/>
          </a:xfrm>
          <a:prstGeom prst="roundRect">
            <a:avLst>
              <a:gd name="adj" fmla="val 3462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9363075" y="2771775"/>
            <a:ext cx="7867650" cy="742950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686925" y="2943225"/>
            <a:ext cx="794194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第二段</a:t>
            </a:r>
            <a:endParaRPr lang="zh-CN" sz="2400" dirty="0"/>
          </a:p>
        </p:txBody>
      </p:sp>
      <p:sp>
        <p:nvSpPr>
          <p:cNvPr id="15" name="Shape 12"/>
          <p:cNvSpPr/>
          <p:nvPr/>
        </p:nvSpPr>
        <p:spPr>
          <a:xfrm>
            <a:off x="9363075" y="3514725"/>
            <a:ext cx="7867650" cy="4191000"/>
          </a:xfrm>
          <a:prstGeom prst="rect">
            <a:avLst/>
          </a:prstGeom>
          <a:solidFill>
            <a:srgbClr val="F7F5F2"/>
          </a:solidFill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9686925" y="3781425"/>
            <a:ext cx="7436549" cy="311765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533400" algn="l">
              <a:lnSpc>
                <a:spcPct val="125000"/>
              </a:lnSpc>
              <a:buNone/>
            </a:pPr>
            <a:r>
              <a:rPr lang="zh-CN" alt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家楼下那群蚂蚁里，有一只搬着一小块饼干渣，那块饼干渣比它的脑袋还大。它把饼干渣举过头顶，走三步停一下，像是要歇一歇。它就这样一路往洞口那边挪，挪到半路，前面横着一道水痕。它在水痕跟前停住了，后面跟上来的几只蚂蚁也堵在那里：刚开始它们挤在水边打转，谁也不肯走上去；过了一会儿，有一只贴着水边试着绕了半圈；最后，来来往往的蚂蚁都顺着它绕出来的那条路走，水痕上一只蚂蚁也没有。</a:t>
            </a:r>
            <a:endParaRPr lang="zh-CN" sz="2100" dirty="0"/>
          </a:p>
        </p:txBody>
      </p:sp>
      <p:sp>
        <p:nvSpPr>
          <p:cNvPr id="17" name="Text 14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先举手表态，再说一说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你的理由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605" dirty="0"/>
          </a:p>
        </p:txBody>
      </p:sp>
      <p:pic>
        <p:nvPicPr>
          <p:cNvPr id="42" name="插图" descr="抠-P12-6d4804f4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5995" y="6591935"/>
            <a:ext cx="5576570" cy="3695065"/>
          </a:xfrm>
          <a:prstGeom prst="rect">
            <a:avLst/>
          </a:prstGeom>
        </p:spPr>
      </p:pic>
      <p:pic>
        <p:nvPicPr>
          <p:cNvPr id="45" name="提示图标" descr="手指点击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46" name="吉祥物" descr="抠-吉祥物-ad495431f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760" y="341947"/>
            <a:ext cx="1533448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学写法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E6F2E1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7158424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读完，你记住了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哪一只、哪一件事</a:t>
            </a: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7886700" cy="3749039"/>
          </a:xfrm>
          <a:prstGeom prst="roundRect">
            <a:avLst>
              <a:gd name="adj" fmla="val 4091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867025"/>
            <a:ext cx="7867650" cy="742950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62075" y="3038475"/>
            <a:ext cx="798385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第一段：写了七项，每项一句</a:t>
            </a:r>
            <a:endParaRPr lang="zh-CN" sz="2400" dirty="0"/>
          </a:p>
        </p:txBody>
      </p:sp>
      <p:sp>
        <p:nvSpPr>
          <p:cNvPr id="10" name="Shape 7"/>
          <p:cNvSpPr/>
          <p:nvPr/>
        </p:nvSpPr>
        <p:spPr>
          <a:xfrm>
            <a:off x="1362075" y="3876675"/>
            <a:ext cx="952500" cy="581025"/>
          </a:xfrm>
          <a:prstGeom prst="roundRect">
            <a:avLst>
              <a:gd name="adj" fmla="val 19672"/>
            </a:avLst>
          </a:prstGeom>
          <a:solidFill>
            <a:srgbClr val="EEF1F5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571625" y="3990975"/>
            <a:ext cx="60960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颜色</a:t>
            </a:r>
            <a:endParaRPr lang="zh-CN" sz="2100" dirty="0"/>
          </a:p>
        </p:txBody>
      </p:sp>
      <p:sp>
        <p:nvSpPr>
          <p:cNvPr id="12" name="Shape 9"/>
          <p:cNvSpPr/>
          <p:nvPr/>
        </p:nvSpPr>
        <p:spPr>
          <a:xfrm>
            <a:off x="2447925" y="3876675"/>
            <a:ext cx="952500" cy="581025"/>
          </a:xfrm>
          <a:prstGeom prst="roundRect">
            <a:avLst>
              <a:gd name="adj" fmla="val 19672"/>
            </a:avLst>
          </a:prstGeom>
          <a:solidFill>
            <a:srgbClr val="EEF1F5"/>
          </a:solidFill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2657475" y="3990975"/>
            <a:ext cx="60960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大小</a:t>
            </a:r>
            <a:endParaRPr lang="zh-CN" sz="2100" dirty="0"/>
          </a:p>
        </p:txBody>
      </p:sp>
      <p:sp>
        <p:nvSpPr>
          <p:cNvPr id="14" name="Shape 11"/>
          <p:cNvSpPr/>
          <p:nvPr/>
        </p:nvSpPr>
        <p:spPr>
          <a:xfrm>
            <a:off x="3533775" y="3876675"/>
            <a:ext cx="952500" cy="581025"/>
          </a:xfrm>
          <a:prstGeom prst="roundRect">
            <a:avLst>
              <a:gd name="adj" fmla="val 19672"/>
            </a:avLst>
          </a:prstGeom>
          <a:solidFill>
            <a:srgbClr val="EEF1F5"/>
          </a:solidFill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3743325" y="3990975"/>
            <a:ext cx="60960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触角</a:t>
            </a:r>
            <a:endParaRPr lang="zh-CN" sz="2100" dirty="0"/>
          </a:p>
        </p:txBody>
      </p:sp>
      <p:sp>
        <p:nvSpPr>
          <p:cNvPr id="16" name="Shape 13"/>
          <p:cNvSpPr/>
          <p:nvPr/>
        </p:nvSpPr>
        <p:spPr>
          <a:xfrm>
            <a:off x="4619625" y="3876675"/>
            <a:ext cx="952500" cy="581025"/>
          </a:xfrm>
          <a:prstGeom prst="roundRect">
            <a:avLst>
              <a:gd name="adj" fmla="val 19672"/>
            </a:avLst>
          </a:prstGeom>
          <a:solidFill>
            <a:srgbClr val="EEF1F5"/>
          </a:solidFill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4829175" y="3990975"/>
            <a:ext cx="60960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腿脚</a:t>
            </a:r>
            <a:endParaRPr lang="zh-CN" sz="2100" dirty="0"/>
          </a:p>
        </p:txBody>
      </p:sp>
      <p:sp>
        <p:nvSpPr>
          <p:cNvPr id="18" name="Shape 15"/>
          <p:cNvSpPr/>
          <p:nvPr/>
        </p:nvSpPr>
        <p:spPr>
          <a:xfrm>
            <a:off x="5705475" y="3876675"/>
            <a:ext cx="952500" cy="581025"/>
          </a:xfrm>
          <a:prstGeom prst="roundRect">
            <a:avLst>
              <a:gd name="adj" fmla="val 19672"/>
            </a:avLst>
          </a:prstGeom>
          <a:solidFill>
            <a:srgbClr val="EEF1F5"/>
          </a:solidFill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15025" y="3990975"/>
            <a:ext cx="60960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力气</a:t>
            </a:r>
            <a:endParaRPr lang="zh-CN" sz="2100" dirty="0"/>
          </a:p>
        </p:txBody>
      </p:sp>
      <p:sp>
        <p:nvSpPr>
          <p:cNvPr id="20" name="Shape 17"/>
          <p:cNvSpPr/>
          <p:nvPr/>
        </p:nvSpPr>
        <p:spPr>
          <a:xfrm>
            <a:off x="6791325" y="3876675"/>
            <a:ext cx="952500" cy="581025"/>
          </a:xfrm>
          <a:prstGeom prst="roundRect">
            <a:avLst>
              <a:gd name="adj" fmla="val 19672"/>
            </a:avLst>
          </a:prstGeom>
          <a:solidFill>
            <a:srgbClr val="EEF1F5"/>
          </a:solidFill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7000875" y="3990975"/>
            <a:ext cx="60960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洞口</a:t>
            </a:r>
            <a:endParaRPr lang="zh-CN" sz="2100" dirty="0"/>
          </a:p>
        </p:txBody>
      </p:sp>
      <p:sp>
        <p:nvSpPr>
          <p:cNvPr id="22" name="Shape 19"/>
          <p:cNvSpPr/>
          <p:nvPr/>
        </p:nvSpPr>
        <p:spPr>
          <a:xfrm>
            <a:off x="1362075" y="4591050"/>
            <a:ext cx="952500" cy="581025"/>
          </a:xfrm>
          <a:prstGeom prst="roundRect">
            <a:avLst>
              <a:gd name="adj" fmla="val 19672"/>
            </a:avLst>
          </a:prstGeom>
          <a:solidFill>
            <a:srgbClr val="EEF1F5"/>
          </a:solidFill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571625" y="4705350"/>
            <a:ext cx="60960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回家</a:t>
            </a:r>
            <a:endParaRPr lang="zh-CN" sz="2100" dirty="0"/>
          </a:p>
        </p:txBody>
      </p:sp>
      <p:sp>
        <p:nvSpPr>
          <p:cNvPr id="24" name="Text 21"/>
          <p:cNvSpPr/>
          <p:nvPr/>
        </p:nvSpPr>
        <p:spPr>
          <a:xfrm>
            <a:off x="1362075" y="5438775"/>
            <a:ext cx="7475792" cy="98286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作者处处都留意到了，每一句都写了具体的内容；可是</a:t>
            </a:r>
            <a:r>
              <a:rPr lang="zh-CN" alt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没有一处写详细</a:t>
            </a: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，读完记不住。</a:t>
            </a:r>
            <a:endParaRPr lang="zh-CN" sz="2400" dirty="0"/>
          </a:p>
        </p:txBody>
      </p:sp>
      <p:sp>
        <p:nvSpPr>
          <p:cNvPr id="25" name="Shape 22"/>
          <p:cNvSpPr/>
          <p:nvPr/>
        </p:nvSpPr>
        <p:spPr>
          <a:xfrm>
            <a:off x="9353550" y="2857500"/>
            <a:ext cx="7886700" cy="3749039"/>
          </a:xfrm>
          <a:prstGeom prst="roundRect">
            <a:avLst>
              <a:gd name="adj" fmla="val 4091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9363075" y="2867025"/>
            <a:ext cx="7867650" cy="742950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9667875" y="3038475"/>
            <a:ext cx="798385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第二段：写了两处，每处都写清楚</a:t>
            </a:r>
            <a:endParaRPr lang="zh-CN" sz="2400" dirty="0"/>
          </a:p>
        </p:txBody>
      </p:sp>
      <p:sp>
        <p:nvSpPr>
          <p:cNvPr id="28" name="Shape 25"/>
          <p:cNvSpPr/>
          <p:nvPr/>
        </p:nvSpPr>
        <p:spPr>
          <a:xfrm>
            <a:off x="9667875" y="3876675"/>
            <a:ext cx="2819400" cy="581025"/>
          </a:xfrm>
          <a:prstGeom prst="roundRect">
            <a:avLst>
              <a:gd name="adj" fmla="val 19672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9877425" y="3990975"/>
            <a:ext cx="264033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举着饼干渣的那一只</a:t>
            </a:r>
            <a:endParaRPr lang="zh-CN" sz="2100" dirty="0"/>
          </a:p>
        </p:txBody>
      </p:sp>
      <p:sp>
        <p:nvSpPr>
          <p:cNvPr id="30" name="Shape 27"/>
          <p:cNvSpPr/>
          <p:nvPr/>
        </p:nvSpPr>
        <p:spPr>
          <a:xfrm>
            <a:off x="12620625" y="3876675"/>
            <a:ext cx="2286000" cy="581025"/>
          </a:xfrm>
          <a:prstGeom prst="roundRect">
            <a:avLst>
              <a:gd name="adj" fmla="val 19672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2830175" y="3990975"/>
            <a:ext cx="205359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绕开水痕的过程</a:t>
            </a:r>
            <a:endParaRPr lang="zh-CN" sz="2100" dirty="0"/>
          </a:p>
        </p:txBody>
      </p:sp>
      <p:sp>
        <p:nvSpPr>
          <p:cNvPr id="32" name="Text 29"/>
          <p:cNvSpPr/>
          <p:nvPr/>
        </p:nvSpPr>
        <p:spPr>
          <a:xfrm>
            <a:off x="9667875" y="4724400"/>
            <a:ext cx="7475792" cy="98286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只写了两处，可是每一处都写清楚了，</a:t>
            </a:r>
            <a:r>
              <a:rPr lang="zh-CN" alt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读完就能记住这两处</a:t>
            </a: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400" dirty="0"/>
          </a:p>
        </p:txBody>
      </p:sp>
      <p:sp>
        <p:nvSpPr>
          <p:cNvPr id="33" name="Text 30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印象最深的一两处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写清楚，读的人才记得住。</a:t>
            </a:r>
            <a:endParaRPr lang="zh-CN" sz="2605" dirty="0"/>
          </a:p>
        </p:txBody>
      </p:sp>
      <p:pic>
        <p:nvPicPr>
          <p:cNvPr id="90" name="插图" descr="抠-P13-12fb9f29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0530" y="5443855"/>
            <a:ext cx="5695950" cy="4694555"/>
          </a:xfrm>
          <a:prstGeom prst="rect">
            <a:avLst/>
          </a:prstGeom>
        </p:spPr>
      </p:pic>
      <p:pic>
        <p:nvPicPr>
          <p:cNvPr id="93" name="提示图标" descr="手指点击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94" name="吉祥物" descr="抠-吉祥物-ad495431f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760" y="341947"/>
            <a:ext cx="1533448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学写法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E6F2E1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7605683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今天的写法：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细看、选一两处、写清楚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162050" y="2433638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47750" y="3143250"/>
            <a:ext cx="5168801" cy="4206240"/>
          </a:xfrm>
          <a:prstGeom prst="roundRect">
            <a:avLst>
              <a:gd name="adj" fmla="val 5455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390650" y="3508028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560761" y="3584228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2105025" y="3486150"/>
            <a:ext cx="990600" cy="5866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zh-CN" altLang="en-US" sz="3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细看</a:t>
            </a:r>
            <a:endParaRPr lang="zh-CN" sz="3600" dirty="0"/>
          </a:p>
        </p:txBody>
      </p:sp>
      <p:sp>
        <p:nvSpPr>
          <p:cNvPr id="12" name="Text 9"/>
          <p:cNvSpPr/>
          <p:nvPr/>
        </p:nvSpPr>
        <p:spPr>
          <a:xfrm>
            <a:off x="1390650" y="4282380"/>
            <a:ext cx="4617491" cy="145524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眼睛看、耳朵听、手摸、鼻子闻，能用上的感官都用上，处处都留意</a:t>
            </a:r>
            <a:endParaRPr lang="zh-CN" sz="2400" dirty="0"/>
          </a:p>
        </p:txBody>
      </p:sp>
      <p:sp>
        <p:nvSpPr>
          <p:cNvPr id="13" name="Shape 10"/>
          <p:cNvSpPr/>
          <p:nvPr/>
        </p:nvSpPr>
        <p:spPr>
          <a:xfrm>
            <a:off x="6559451" y="3143250"/>
            <a:ext cx="5168950" cy="4206240"/>
          </a:xfrm>
          <a:prstGeom prst="roundRect">
            <a:avLst>
              <a:gd name="adj" fmla="val 5455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6902351" y="3508028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7072461" y="3584228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7616726" y="3486150"/>
            <a:ext cx="2011680" cy="5866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zh-CN" altLang="en-US" sz="3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选一两处</a:t>
            </a:r>
            <a:endParaRPr lang="zh-CN" sz="3600" dirty="0"/>
          </a:p>
        </p:txBody>
      </p:sp>
      <p:sp>
        <p:nvSpPr>
          <p:cNvPr id="17" name="Text 14"/>
          <p:cNvSpPr/>
          <p:nvPr/>
        </p:nvSpPr>
        <p:spPr>
          <a:xfrm>
            <a:off x="6902351" y="4282380"/>
            <a:ext cx="4617644" cy="145524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从观察到的内容里选出印象最深的一两处，其余的一句带过，也可以不写</a:t>
            </a:r>
            <a:endParaRPr lang="zh-CN" sz="2400" dirty="0"/>
          </a:p>
        </p:txBody>
      </p:sp>
      <p:sp>
        <p:nvSpPr>
          <p:cNvPr id="18" name="Shape 15"/>
          <p:cNvSpPr/>
          <p:nvPr/>
        </p:nvSpPr>
        <p:spPr>
          <a:xfrm>
            <a:off x="12071300" y="3143250"/>
            <a:ext cx="5168950" cy="4206240"/>
          </a:xfrm>
          <a:prstGeom prst="roundRect">
            <a:avLst>
              <a:gd name="adj" fmla="val 5455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2414200" y="3508028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2584311" y="3584228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13128575" y="3486150"/>
            <a:ext cx="1508760" cy="5866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zh-CN" altLang="en-US" sz="3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写清楚</a:t>
            </a:r>
            <a:endParaRPr lang="zh-CN" sz="3600" dirty="0"/>
          </a:p>
        </p:txBody>
      </p:sp>
      <p:sp>
        <p:nvSpPr>
          <p:cNvPr id="22" name="Text 19"/>
          <p:cNvSpPr/>
          <p:nvPr/>
        </p:nvSpPr>
        <p:spPr>
          <a:xfrm>
            <a:off x="12414200" y="4282380"/>
            <a:ext cx="4931465" cy="5104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把选出来的这一两处写清楚</a:t>
            </a:r>
            <a:endParaRPr lang="zh-CN" sz="2400" dirty="0"/>
          </a:p>
        </p:txBody>
      </p:sp>
      <p:sp>
        <p:nvSpPr>
          <p:cNvPr id="23" name="Shape 20"/>
          <p:cNvSpPr/>
          <p:nvPr/>
        </p:nvSpPr>
        <p:spPr>
          <a:xfrm>
            <a:off x="1047750" y="7726679"/>
            <a:ext cx="16192500" cy="1005780"/>
          </a:xfrm>
          <a:prstGeom prst="roundRect">
            <a:avLst>
              <a:gd name="adj" fmla="val 17046"/>
            </a:avLst>
          </a:prstGeom>
          <a:solidFill>
            <a:srgbClr val="F7F5F2"/>
          </a:solidFill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1447800" y="7991856"/>
            <a:ext cx="16931640" cy="5104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课文《搭船的鸟》：作者仔细观察了一只翠鸟，写清楚的正是两处：</a:t>
            </a:r>
            <a:r>
              <a:rPr lang="zh-CN" alt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色彩艳丽的羽毛</a:t>
            </a: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和</a:t>
            </a:r>
            <a:r>
              <a:rPr lang="zh-CN" alt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敏捷的动作</a:t>
            </a: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400" dirty="0"/>
          </a:p>
        </p:txBody>
      </p:sp>
      <p:sp>
        <p:nvSpPr>
          <p:cNvPr id="25" name="Text 22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看得仔细，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才有内容可选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605" dirty="0"/>
          </a:p>
        </p:txBody>
      </p:sp>
      <p:pic>
        <p:nvPicPr>
          <p:cNvPr id="67" name="插图" descr="抠-P14-d712c9c1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007" y="5669280"/>
            <a:ext cx="2723744" cy="1920240"/>
          </a:xfrm>
          <a:prstGeom prst="rect">
            <a:avLst/>
          </a:prstGeom>
        </p:spPr>
      </p:pic>
      <p:pic>
        <p:nvPicPr>
          <p:cNvPr id="68" name="插图" descr="抠-P14b-6570f8315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5650" y="5669280"/>
            <a:ext cx="1881835" cy="1920240"/>
          </a:xfrm>
          <a:prstGeom prst="rect">
            <a:avLst/>
          </a:prstGeom>
        </p:spPr>
      </p:pic>
      <p:pic>
        <p:nvPicPr>
          <p:cNvPr id="69" name="插图" descr="抠-P27-b0b818851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63011" y="5669280"/>
            <a:ext cx="2100536" cy="1920240"/>
          </a:xfrm>
          <a:prstGeom prst="rect">
            <a:avLst/>
          </a:prstGeom>
        </p:spPr>
      </p:pic>
      <p:pic>
        <p:nvPicPr>
          <p:cNvPr id="76" name="提示图标" descr="手指点击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77" name="吉祥物" descr="抠-吉祥物-ad495431f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38760" y="341947"/>
            <a:ext cx="1533448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学写法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755"/>
          </a:xfrm>
          <a:prstGeom prst="roundRect">
            <a:avLst>
              <a:gd name="adj" fmla="val 22857"/>
            </a:avLst>
          </a:prstGeom>
          <a:solidFill>
            <a:srgbClr val="E6F2E1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9825990" cy="5670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看老师示范：把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“洞口有蚂蚁进进出出”</a:t>
            </a: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写清楚</a:t>
            </a:r>
            <a:endParaRPr lang="zh-CN" sz="3205" dirty="0"/>
          </a:p>
        </p:txBody>
      </p:sp>
      <p:sp>
        <p:nvSpPr>
          <p:cNvPr id="7" name="Text 4"/>
          <p:cNvSpPr/>
          <p:nvPr/>
        </p:nvSpPr>
        <p:spPr>
          <a:xfrm>
            <a:off x="1047750" y="2743200"/>
            <a:ext cx="17811750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325" b="1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只写一句：</a:t>
            </a:r>
            <a:r>
              <a:rPr lang="zh-CN" altLang="en-US" sz="232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洞口有蚂蚁进进出出。</a:t>
            </a:r>
            <a:endParaRPr lang="zh-CN" sz="2325" dirty="0"/>
          </a:p>
        </p:txBody>
      </p:sp>
      <p:sp>
        <p:nvSpPr>
          <p:cNvPr id="8" name="Shape 5"/>
          <p:cNvSpPr/>
          <p:nvPr/>
        </p:nvSpPr>
        <p:spPr>
          <a:xfrm>
            <a:off x="1047750" y="3390900"/>
            <a:ext cx="11247120" cy="3383280"/>
          </a:xfrm>
          <a:prstGeom prst="roundRect">
            <a:avLst>
              <a:gd name="adj" fmla="val 7627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524000" y="3714750"/>
            <a:ext cx="10789920" cy="28346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609600" algn="l">
              <a:lnSpc>
                <a:spcPct val="133000"/>
              </a:lnSpc>
              <a:buNone/>
            </a:pP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洞口</a:t>
            </a:r>
            <a:r>
              <a:rPr lang="zh-CN" alt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只有铅笔尖那么大，四周堆着一圈新翻上来的碎泥土</a:t>
            </a: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zh-CN" altLang="en-US" sz="2400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像一座小小的火山口</a:t>
            </a: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r>
              <a:rPr lang="zh-CN" alt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进去的那些蚂蚁多半驮着东西，出来的却什么也没驮</a:t>
            </a: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，进进出出的蚂蚁在洞口挤成一小团，谁也不让谁。我伸手碰了碰洞口那圈碎泥土，</a:t>
            </a:r>
            <a:r>
              <a:rPr lang="zh-CN" altLang="en-US" sz="2400" b="1" dirty="0">
                <a:solidFill>
                  <a:srgbClr val="D982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又松又软，指尖一按就陷下去一点</a:t>
            </a: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400" dirty="0"/>
          </a:p>
        </p:txBody>
      </p:sp>
      <p:sp>
        <p:nvSpPr>
          <p:cNvPr id="10" name="Shape 7"/>
          <p:cNvSpPr/>
          <p:nvPr/>
        </p:nvSpPr>
        <p:spPr>
          <a:xfrm>
            <a:off x="1047750" y="7040880"/>
            <a:ext cx="5219700" cy="1752600"/>
          </a:xfrm>
          <a:prstGeom prst="roundRect">
            <a:avLst>
              <a:gd name="adj" fmla="val 8696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323975" y="7278624"/>
            <a:ext cx="513397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洞口什么样，像什么</a:t>
            </a:r>
            <a:endParaRPr lang="zh-CN" sz="2250" dirty="0"/>
          </a:p>
        </p:txBody>
      </p:sp>
      <p:sp>
        <p:nvSpPr>
          <p:cNvPr id="12" name="Text 9"/>
          <p:cNvSpPr/>
          <p:nvPr/>
        </p:nvSpPr>
        <p:spPr>
          <a:xfrm>
            <a:off x="1323975" y="7754112"/>
            <a:ext cx="4807268" cy="838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zh-CN" altLang="en-US" sz="2100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铅笔尖那么大，一圈碎泥土，</a:t>
            </a:r>
            <a:r>
              <a:rPr lang="zh-CN" altLang="en-US" sz="2100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像小小的火山口</a:t>
            </a:r>
            <a:endParaRPr lang="zh-CN" sz="2100" dirty="0"/>
          </a:p>
        </p:txBody>
      </p:sp>
      <p:sp>
        <p:nvSpPr>
          <p:cNvPr id="13" name="Shape 10"/>
          <p:cNvSpPr/>
          <p:nvPr/>
        </p:nvSpPr>
        <p:spPr>
          <a:xfrm>
            <a:off x="6534150" y="7040880"/>
            <a:ext cx="5219700" cy="1752600"/>
          </a:xfrm>
          <a:prstGeom prst="roundRect">
            <a:avLst>
              <a:gd name="adj" fmla="val 8696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810375" y="7278624"/>
            <a:ext cx="513397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进去的和出来的</a:t>
            </a:r>
            <a:endParaRPr lang="zh-CN" sz="2250" dirty="0"/>
          </a:p>
        </p:txBody>
      </p:sp>
      <p:sp>
        <p:nvSpPr>
          <p:cNvPr id="15" name="Text 12"/>
          <p:cNvSpPr/>
          <p:nvPr/>
        </p:nvSpPr>
        <p:spPr>
          <a:xfrm>
            <a:off x="6810375" y="7754112"/>
            <a:ext cx="513397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zh-CN" altLang="en-US" sz="2100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进去的驮着东西，出来的什么也没驮</a:t>
            </a:r>
            <a:endParaRPr lang="zh-CN" sz="2100" dirty="0"/>
          </a:p>
        </p:txBody>
      </p:sp>
      <p:sp>
        <p:nvSpPr>
          <p:cNvPr id="16" name="Shape 13"/>
          <p:cNvSpPr/>
          <p:nvPr/>
        </p:nvSpPr>
        <p:spPr>
          <a:xfrm>
            <a:off x="12020550" y="7040880"/>
            <a:ext cx="5219700" cy="1752600"/>
          </a:xfrm>
          <a:prstGeom prst="roundRect">
            <a:avLst>
              <a:gd name="adj" fmla="val 8696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2296775" y="7278624"/>
            <a:ext cx="513397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250" b="1" dirty="0">
                <a:solidFill>
                  <a:srgbClr val="D982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手摸到的感觉</a:t>
            </a:r>
            <a:endParaRPr lang="zh-CN" sz="2250" dirty="0"/>
          </a:p>
        </p:txBody>
      </p:sp>
      <p:sp>
        <p:nvSpPr>
          <p:cNvPr id="18" name="Text 15"/>
          <p:cNvSpPr/>
          <p:nvPr/>
        </p:nvSpPr>
        <p:spPr>
          <a:xfrm>
            <a:off x="12296775" y="7754112"/>
            <a:ext cx="513397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zh-CN" altLang="en-US" sz="2100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又松又软，一按就陷下去</a:t>
            </a:r>
            <a:endParaRPr lang="zh-CN" sz="2100" dirty="0"/>
          </a:p>
        </p:txBody>
      </p:sp>
      <p:sp>
        <p:nvSpPr>
          <p:cNvPr id="19" name="Text 16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看到的和手摸到的放在一起，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这一处就写清楚了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605" dirty="0"/>
          </a:p>
        </p:txBody>
      </p:sp>
      <p:pic>
        <p:nvPicPr>
          <p:cNvPr id="54" name="插图" descr="抠-P15-d8192c62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280" y="3388995"/>
            <a:ext cx="5669280" cy="3188970"/>
          </a:xfrm>
          <a:prstGeom prst="rect">
            <a:avLst/>
          </a:prstGeom>
        </p:spPr>
      </p:pic>
      <p:pic>
        <p:nvPicPr>
          <p:cNvPr id="57" name="提示图标" descr="手指点击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58" name="吉祥物" descr="抠-吉祥物-ad495431f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760" y="342264"/>
            <a:ext cx="1533448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学写法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E6F2E1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5816322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写清楚：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先写样子，再加一项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162050" y="2433638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47750" y="3648075"/>
            <a:ext cx="2590800" cy="1323975"/>
          </a:xfrm>
          <a:prstGeom prst="roundRect">
            <a:avLst>
              <a:gd name="adj" fmla="val 12950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504950" y="4029075"/>
            <a:ext cx="1844040" cy="6000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3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它的样子</a:t>
            </a:r>
            <a:endParaRPr lang="zh-CN" sz="3300" dirty="0"/>
          </a:p>
        </p:txBody>
      </p:sp>
      <p:sp>
        <p:nvSpPr>
          <p:cNvPr id="10" name="Text 7"/>
          <p:cNvSpPr/>
          <p:nvPr/>
        </p:nvSpPr>
        <p:spPr>
          <a:xfrm>
            <a:off x="3981450" y="3857625"/>
            <a:ext cx="762000" cy="9429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54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＋</a:t>
            </a:r>
            <a:endParaRPr lang="zh-CN" sz="5400" dirty="0"/>
          </a:p>
        </p:txBody>
      </p:sp>
      <p:sp>
        <p:nvSpPr>
          <p:cNvPr id="11" name="Shape 8"/>
          <p:cNvSpPr/>
          <p:nvPr/>
        </p:nvSpPr>
        <p:spPr>
          <a:xfrm>
            <a:off x="5010150" y="3238500"/>
            <a:ext cx="146685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28575">
            <a:solidFill>
              <a:srgbClr val="4E9A5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286375" y="3400425"/>
            <a:ext cx="9906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像什么</a:t>
            </a:r>
            <a:endParaRPr 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5010150" y="4133850"/>
            <a:ext cx="9366885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b="1" dirty="0">
                <a:solidFill>
                  <a:srgbClr val="8A92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或者</a:t>
            </a:r>
            <a:endParaRPr lang="zh-CN" sz="2100" dirty="0"/>
          </a:p>
        </p:txBody>
      </p:sp>
      <p:sp>
        <p:nvSpPr>
          <p:cNvPr id="14" name="Shape 11"/>
          <p:cNvSpPr/>
          <p:nvPr/>
        </p:nvSpPr>
        <p:spPr>
          <a:xfrm>
            <a:off x="5010150" y="4657725"/>
            <a:ext cx="207645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28575">
            <a:solidFill>
              <a:srgbClr val="2F72B8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5286375" y="4819650"/>
            <a:ext cx="16764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耳朵听到的</a:t>
            </a:r>
            <a:endParaRPr lang="zh-CN" sz="2400" dirty="0"/>
          </a:p>
        </p:txBody>
      </p:sp>
      <p:sp>
        <p:nvSpPr>
          <p:cNvPr id="16" name="Shape 13"/>
          <p:cNvSpPr/>
          <p:nvPr/>
        </p:nvSpPr>
        <p:spPr>
          <a:xfrm>
            <a:off x="7258050" y="4657725"/>
            <a:ext cx="177165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28575">
            <a:solidFill>
              <a:srgbClr val="D9822B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534275" y="481965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D982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手摸到的</a:t>
            </a:r>
            <a:endParaRPr lang="zh-CN" sz="2400" dirty="0"/>
          </a:p>
        </p:txBody>
      </p:sp>
      <p:sp>
        <p:nvSpPr>
          <p:cNvPr id="18" name="Shape 15"/>
          <p:cNvSpPr/>
          <p:nvPr/>
        </p:nvSpPr>
        <p:spPr>
          <a:xfrm>
            <a:off x="9201150" y="4657725"/>
            <a:ext cx="207645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28575">
            <a:solidFill>
              <a:srgbClr val="8E5AA8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9477375" y="4819650"/>
            <a:ext cx="16764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8E5A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鼻子闻到的</a:t>
            </a:r>
            <a:endParaRPr lang="zh-CN" sz="2400" dirty="0"/>
          </a:p>
        </p:txBody>
      </p:sp>
      <p:sp>
        <p:nvSpPr>
          <p:cNvPr id="20" name="Shape 17"/>
          <p:cNvSpPr/>
          <p:nvPr/>
        </p:nvSpPr>
        <p:spPr>
          <a:xfrm>
            <a:off x="11449050" y="4657725"/>
            <a:ext cx="207645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28575">
            <a:solidFill>
              <a:srgbClr val="2E8B86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1725275" y="4819650"/>
            <a:ext cx="16764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E8B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嘴巴尝到的</a:t>
            </a:r>
            <a:endParaRPr lang="zh-CN" sz="2400" dirty="0"/>
          </a:p>
        </p:txBody>
      </p:sp>
      <p:sp>
        <p:nvSpPr>
          <p:cNvPr id="22" name="Shape 19"/>
          <p:cNvSpPr/>
          <p:nvPr/>
        </p:nvSpPr>
        <p:spPr>
          <a:xfrm>
            <a:off x="1047750" y="6667500"/>
            <a:ext cx="16192500" cy="1478161"/>
          </a:xfrm>
          <a:prstGeom prst="roundRect">
            <a:avLst>
              <a:gd name="adj" fmla="val 11599"/>
            </a:avLst>
          </a:prstGeom>
          <a:solidFill>
            <a:srgbClr val="F7F5F2"/>
          </a:solidFill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447800" y="6934200"/>
            <a:ext cx="15854172" cy="98286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例文《我家的小狗》：那只叫“王子”的狗，</a:t>
            </a:r>
            <a:r>
              <a:rPr lang="zh-CN" alt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认“狗”字时叫得最欢</a:t>
            </a: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。这是别的狗身上没有的，作者把它写了下来，读的人就记住了。</a:t>
            </a:r>
            <a:endParaRPr lang="zh-CN" sz="2400" dirty="0"/>
          </a:p>
        </p:txBody>
      </p:sp>
      <p:sp>
        <p:nvSpPr>
          <p:cNvPr id="24" name="Text 21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找一找：你的小动物身上，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别的小动物没有的那一处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特别的地方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605" dirty="0"/>
          </a:p>
        </p:txBody>
      </p:sp>
      <p:pic>
        <p:nvPicPr>
          <p:cNvPr id="60" name="插图" descr="抠-P16-a05cccfe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6082" y="2468880"/>
            <a:ext cx="3068954" cy="4114800"/>
          </a:xfrm>
          <a:prstGeom prst="rect">
            <a:avLst/>
          </a:prstGeom>
        </p:spPr>
      </p:pic>
      <p:pic>
        <p:nvPicPr>
          <p:cNvPr id="63" name="提示图标" descr="手指点击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64" name="吉祥物" descr="抠-吉祥物-ad495431f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760" y="341947"/>
            <a:ext cx="1533448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学写法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E6F2E1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5368736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会变的过程：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按先后顺序写</a:t>
            </a:r>
            <a:endParaRPr lang="zh-CN" sz="3205" dirty="0"/>
          </a:p>
        </p:txBody>
      </p:sp>
      <p:sp>
        <p:nvSpPr>
          <p:cNvPr id="7" name="Shape 4"/>
          <p:cNvSpPr/>
          <p:nvPr>
            <p:custDataLst>
              <p:tags r:id="rId2"/>
            </p:custDataLst>
          </p:nvPr>
        </p:nvSpPr>
        <p:spPr>
          <a:xfrm>
            <a:off x="1047750" y="2857500"/>
            <a:ext cx="7886700" cy="4000500"/>
          </a:xfrm>
          <a:prstGeom prst="roundRect">
            <a:avLst>
              <a:gd name="adj" fmla="val 4286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>
            <p:custDataLst>
              <p:tags r:id="rId3"/>
            </p:custDataLst>
          </p:nvPr>
        </p:nvSpPr>
        <p:spPr>
          <a:xfrm>
            <a:off x="1057275" y="2867025"/>
            <a:ext cx="7867650" cy="742950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9" name="Text 6"/>
          <p:cNvSpPr/>
          <p:nvPr>
            <p:custDataLst>
              <p:tags r:id="rId4"/>
            </p:custDataLst>
          </p:nvPr>
        </p:nvSpPr>
        <p:spPr>
          <a:xfrm>
            <a:off x="1362075" y="3038475"/>
            <a:ext cx="798385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短时间内能看完的变化</a:t>
            </a:r>
            <a:endParaRPr lang="zh-CN" sz="2400" dirty="0"/>
          </a:p>
        </p:txBody>
      </p:sp>
      <p:sp>
        <p:nvSpPr>
          <p:cNvPr id="10" name="Text 7"/>
          <p:cNvSpPr/>
          <p:nvPr>
            <p:custDataLst>
              <p:tags r:id="rId5"/>
            </p:custDataLst>
          </p:nvPr>
        </p:nvSpPr>
        <p:spPr>
          <a:xfrm>
            <a:off x="1362075" y="3876675"/>
            <a:ext cx="7475792" cy="101322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蚂蚁搬运食物、小狗见到你、金鱼抢食，从头到尾都看得见。</a:t>
            </a:r>
            <a:endParaRPr lang="zh-CN" sz="2400" dirty="0"/>
          </a:p>
        </p:txBody>
      </p:sp>
      <p:sp>
        <p:nvSpPr>
          <p:cNvPr id="11" name="Text 8"/>
          <p:cNvSpPr/>
          <p:nvPr>
            <p:custDataLst>
              <p:tags r:id="rId6"/>
            </p:custDataLst>
          </p:nvPr>
        </p:nvSpPr>
        <p:spPr>
          <a:xfrm>
            <a:off x="1362075" y="5099447"/>
            <a:ext cx="381000" cy="4476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  <a:endParaRPr lang="en-US" sz="2400" dirty="0"/>
          </a:p>
        </p:txBody>
      </p:sp>
      <p:sp>
        <p:nvSpPr>
          <p:cNvPr id="12" name="Text 9"/>
          <p:cNvSpPr/>
          <p:nvPr>
            <p:custDataLst>
              <p:tags r:id="rId7"/>
            </p:custDataLst>
          </p:nvPr>
        </p:nvSpPr>
        <p:spPr>
          <a:xfrm>
            <a:off x="1800225" y="5104209"/>
            <a:ext cx="704088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</a:t>
            </a:r>
            <a:r>
              <a:rPr lang="zh-CN" alt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刚开始、过了一会儿、最后</a:t>
            </a: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，一步一步写下来</a:t>
            </a:r>
            <a:endParaRPr lang="zh-CN" sz="2400" dirty="0"/>
          </a:p>
        </p:txBody>
      </p:sp>
      <p:sp>
        <p:nvSpPr>
          <p:cNvPr id="13" name="Shape 10"/>
          <p:cNvSpPr/>
          <p:nvPr>
            <p:custDataLst>
              <p:tags r:id="rId8"/>
            </p:custDataLst>
          </p:nvPr>
        </p:nvSpPr>
        <p:spPr>
          <a:xfrm>
            <a:off x="9353550" y="2857500"/>
            <a:ext cx="7886700" cy="4000500"/>
          </a:xfrm>
          <a:prstGeom prst="roundRect">
            <a:avLst>
              <a:gd name="adj" fmla="val 4286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>
            <p:custDataLst>
              <p:tags r:id="rId9"/>
            </p:custDataLst>
          </p:nvPr>
        </p:nvSpPr>
        <p:spPr>
          <a:xfrm>
            <a:off x="9363075" y="2867025"/>
            <a:ext cx="7867650" cy="742950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5" name="Text 12"/>
          <p:cNvSpPr/>
          <p:nvPr>
            <p:custDataLst>
              <p:tags r:id="rId10"/>
            </p:custDataLst>
          </p:nvPr>
        </p:nvSpPr>
        <p:spPr>
          <a:xfrm>
            <a:off x="9667875" y="3038475"/>
            <a:ext cx="798385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隔好些天才看得出的变化</a:t>
            </a:r>
            <a:endParaRPr lang="zh-CN" sz="2400" dirty="0"/>
          </a:p>
        </p:txBody>
      </p:sp>
      <p:sp>
        <p:nvSpPr>
          <p:cNvPr id="16" name="Text 13"/>
          <p:cNvSpPr/>
          <p:nvPr>
            <p:custDataLst>
              <p:tags r:id="rId11"/>
            </p:custDataLst>
          </p:nvPr>
        </p:nvSpPr>
        <p:spPr>
          <a:xfrm>
            <a:off x="9667875" y="3876675"/>
            <a:ext cx="7475792" cy="101322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例文《我爱故乡的杨梅》：杨梅从淡红变到深红，再变得几乎发黑。</a:t>
            </a:r>
            <a:endParaRPr lang="zh-CN" sz="2400" dirty="0"/>
          </a:p>
        </p:txBody>
      </p:sp>
      <p:sp>
        <p:nvSpPr>
          <p:cNvPr id="17" name="Text 14"/>
          <p:cNvSpPr/>
          <p:nvPr>
            <p:custDataLst>
              <p:tags r:id="rId12"/>
            </p:custDataLst>
          </p:nvPr>
        </p:nvSpPr>
        <p:spPr>
          <a:xfrm>
            <a:off x="9667875" y="5099447"/>
            <a:ext cx="381000" cy="4476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  <a:endParaRPr lang="en-US" sz="2400" dirty="0"/>
          </a:p>
        </p:txBody>
      </p:sp>
      <p:sp>
        <p:nvSpPr>
          <p:cNvPr id="18" name="Text 15"/>
          <p:cNvSpPr/>
          <p:nvPr>
            <p:custDataLst>
              <p:tags r:id="rId13"/>
            </p:custDataLst>
          </p:nvPr>
        </p:nvSpPr>
        <p:spPr>
          <a:xfrm>
            <a:off x="10106025" y="5104209"/>
            <a:ext cx="63703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不用这三个词，</a:t>
            </a:r>
            <a:r>
              <a:rPr lang="zh-CN" alt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写清楚哪一天看到的是什么样子</a:t>
            </a:r>
            <a:endParaRPr lang="zh-CN" sz="2400" dirty="0"/>
          </a:p>
        </p:txBody>
      </p:sp>
      <p:sp>
        <p:nvSpPr>
          <p:cNvPr id="19" name="Text 16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无论快慢，变化都要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按先后顺序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写。</a:t>
            </a:r>
            <a:endParaRPr lang="zh-CN" sz="2605" dirty="0"/>
          </a:p>
        </p:txBody>
      </p:sp>
      <p:pic>
        <p:nvPicPr>
          <p:cNvPr id="48" name="插图" descr="抠-P08-1b1552b113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4469765" y="5577840"/>
            <a:ext cx="4265930" cy="2884170"/>
          </a:xfrm>
          <a:prstGeom prst="rect">
            <a:avLst/>
          </a:prstGeom>
        </p:spPr>
      </p:pic>
      <p:pic>
        <p:nvPicPr>
          <p:cNvPr id="49" name="插图" descr="抠-P17-f3f045a466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3234035" y="5861685"/>
            <a:ext cx="3928110" cy="2825115"/>
          </a:xfrm>
          <a:prstGeom prst="rect">
            <a:avLst/>
          </a:prstGeom>
        </p:spPr>
      </p:pic>
      <p:pic>
        <p:nvPicPr>
          <p:cNvPr id="54" name="提示图标" descr="手指点击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55" name="吉祥物" descr="抠-吉祥物-ad495431f4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938760" y="341947"/>
            <a:ext cx="1533448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学写法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E6F2E1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8053105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三人接龙：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把蚂蚁搬运食物的过程说一遍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3048000"/>
            <a:ext cx="2190750" cy="742950"/>
          </a:xfrm>
          <a:prstGeom prst="roundRect">
            <a:avLst>
              <a:gd name="adj" fmla="val 17949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38212" y="3219450"/>
            <a:ext cx="240982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刚开始</a:t>
            </a:r>
            <a:endParaRPr lang="zh-CN" sz="2400" dirty="0"/>
          </a:p>
        </p:txBody>
      </p:sp>
      <p:sp>
        <p:nvSpPr>
          <p:cNvPr id="9" name="Text 6"/>
          <p:cNvSpPr/>
          <p:nvPr/>
        </p:nvSpPr>
        <p:spPr>
          <a:xfrm>
            <a:off x="3486150" y="3191619"/>
            <a:ext cx="6569393" cy="4938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4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第一位同学说 </a:t>
            </a:r>
            <a:r>
              <a:rPr lang="zh-CN" altLang="en-US" sz="24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如：洞口边上只有几只在爬</a:t>
            </a:r>
            <a:endParaRPr lang="zh-CN" sz="2475" dirty="0"/>
          </a:p>
        </p:txBody>
      </p:sp>
      <p:sp>
        <p:nvSpPr>
          <p:cNvPr id="10" name="Shape 7"/>
          <p:cNvSpPr/>
          <p:nvPr/>
        </p:nvSpPr>
        <p:spPr>
          <a:xfrm>
            <a:off x="1047750" y="4133850"/>
            <a:ext cx="2190750" cy="742950"/>
          </a:xfrm>
          <a:prstGeom prst="roundRect">
            <a:avLst>
              <a:gd name="adj" fmla="val 17949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938212" y="4305300"/>
            <a:ext cx="240982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过了一会儿</a:t>
            </a:r>
            <a:endParaRPr lang="zh-CN" sz="2400" dirty="0"/>
          </a:p>
        </p:txBody>
      </p:sp>
      <p:sp>
        <p:nvSpPr>
          <p:cNvPr id="12" name="Text 9"/>
          <p:cNvSpPr/>
          <p:nvPr/>
        </p:nvSpPr>
        <p:spPr>
          <a:xfrm>
            <a:off x="3486150" y="4277469"/>
            <a:ext cx="7952423" cy="4938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4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第二位同学说 </a:t>
            </a:r>
            <a:r>
              <a:rPr lang="zh-CN" altLang="en-US" sz="24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如：驮着东西的一只接一只往洞口去</a:t>
            </a:r>
            <a:endParaRPr lang="zh-CN" sz="2475" dirty="0"/>
          </a:p>
        </p:txBody>
      </p:sp>
      <p:sp>
        <p:nvSpPr>
          <p:cNvPr id="13" name="Shape 10"/>
          <p:cNvSpPr/>
          <p:nvPr/>
        </p:nvSpPr>
        <p:spPr>
          <a:xfrm>
            <a:off x="1047750" y="5303937"/>
            <a:ext cx="2190750" cy="742950"/>
          </a:xfrm>
          <a:prstGeom prst="roundRect">
            <a:avLst>
              <a:gd name="adj" fmla="val 17949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38212" y="5475387"/>
            <a:ext cx="240982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最后</a:t>
            </a:r>
            <a:endParaRPr lang="zh-CN" sz="2400" dirty="0"/>
          </a:p>
        </p:txBody>
      </p:sp>
      <p:sp>
        <p:nvSpPr>
          <p:cNvPr id="15" name="Text 12"/>
          <p:cNvSpPr/>
          <p:nvPr/>
        </p:nvSpPr>
        <p:spPr>
          <a:xfrm>
            <a:off x="3486150" y="5219700"/>
            <a:ext cx="7887843" cy="94952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4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第三位同学说 </a:t>
            </a:r>
            <a:r>
              <a:rPr lang="zh-CN" altLang="en-US" sz="24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如：洞口挤</a:t>
            </a:r>
            <a:r>
              <a:rPr lang="zh-CN" altLang="en-US" sz="24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了</a:t>
            </a:r>
            <a:r>
              <a:rPr lang="zh-CN" altLang="en-US" sz="24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一团</a:t>
            </a:r>
            <a:r>
              <a:rPr lang="zh-CN" altLang="en-US" sz="24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来来往往的蚂蚁</a:t>
            </a:r>
            <a:r>
              <a:rPr lang="zh-CN" altLang="en-US" sz="24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，东西一件一件都搬进去了</a:t>
            </a:r>
            <a:endParaRPr lang="zh-CN" sz="2475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4168139"/>
            <a:ext cx="6949440" cy="50673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三句话连起来，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搬运食物的过程就说清楚了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605" dirty="0"/>
          </a:p>
        </p:txBody>
      </p:sp>
      <p:pic>
        <p:nvPicPr>
          <p:cNvPr id="41" name="提示图标" descr="手指点击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42" name="吉祥物" descr="抠-吉祥物-ad495431f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760" y="341947"/>
            <a:ext cx="1533448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学写法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E6F2E1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3579376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试一试：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两句话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162050" y="2433638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47750" y="3048000"/>
            <a:ext cx="11247120" cy="928688"/>
          </a:xfrm>
          <a:prstGeom prst="roundRect">
            <a:avLst>
              <a:gd name="adj" fmla="val 16410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428750" y="3276600"/>
            <a:ext cx="10881360" cy="50958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475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从你观察的小动物身上，选一处</a:t>
            </a:r>
            <a:r>
              <a:rPr lang="zh-CN" altLang="en-US" sz="24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印象最深的地方</a:t>
            </a:r>
            <a:r>
              <a:rPr lang="zh-CN" altLang="en-US" sz="2475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zh-CN" altLang="en-US" sz="2475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说一说</a:t>
            </a:r>
            <a:r>
              <a:rPr lang="zh-CN" altLang="en-US" sz="2475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475" dirty="0"/>
          </a:p>
        </p:txBody>
      </p:sp>
      <p:sp>
        <p:nvSpPr>
          <p:cNvPr id="10" name="Shape 7"/>
          <p:cNvSpPr/>
          <p:nvPr/>
        </p:nvSpPr>
        <p:spPr>
          <a:xfrm>
            <a:off x="1047750" y="4476750"/>
            <a:ext cx="2190750" cy="742950"/>
          </a:xfrm>
          <a:prstGeom prst="roundRect">
            <a:avLst>
              <a:gd name="adj" fmla="val 17949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938212" y="4648200"/>
            <a:ext cx="240982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第一句</a:t>
            </a:r>
            <a:endParaRPr lang="zh-CN" sz="2400" dirty="0"/>
          </a:p>
        </p:txBody>
      </p:sp>
      <p:sp>
        <p:nvSpPr>
          <p:cNvPr id="12" name="Text 9"/>
          <p:cNvSpPr/>
          <p:nvPr/>
        </p:nvSpPr>
        <p:spPr>
          <a:xfrm>
            <a:off x="3486150" y="4620369"/>
            <a:ext cx="2420303" cy="4938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4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</a:t>
            </a:r>
            <a:r>
              <a:rPr lang="zh-CN" altLang="en-US" sz="24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它是什么样。</a:t>
            </a:r>
            <a:endParaRPr lang="zh-CN" sz="2475" dirty="0"/>
          </a:p>
        </p:txBody>
      </p:sp>
      <p:sp>
        <p:nvSpPr>
          <p:cNvPr id="13" name="Shape 10"/>
          <p:cNvSpPr/>
          <p:nvPr/>
        </p:nvSpPr>
        <p:spPr>
          <a:xfrm>
            <a:off x="1047750" y="5562600"/>
            <a:ext cx="2190750" cy="742950"/>
          </a:xfrm>
          <a:prstGeom prst="roundRect">
            <a:avLst>
              <a:gd name="adj" fmla="val 17949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38212" y="5734050"/>
            <a:ext cx="240982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第二句</a:t>
            </a:r>
            <a:endParaRPr lang="zh-CN" sz="2400" dirty="0"/>
          </a:p>
        </p:txBody>
      </p:sp>
      <p:sp>
        <p:nvSpPr>
          <p:cNvPr id="15" name="Text 12"/>
          <p:cNvSpPr/>
          <p:nvPr/>
        </p:nvSpPr>
        <p:spPr>
          <a:xfrm>
            <a:off x="3486150" y="5706219"/>
            <a:ext cx="10716768" cy="4938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4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加上</a:t>
            </a:r>
            <a:r>
              <a:rPr lang="zh-CN" altLang="en-US" sz="2475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它像什么</a:t>
            </a:r>
            <a:r>
              <a:rPr lang="zh-CN" altLang="en-US" sz="24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，或者</a:t>
            </a:r>
            <a:r>
              <a:rPr lang="zh-CN" altLang="en-US" sz="2475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耳朵听到</a:t>
            </a:r>
            <a:r>
              <a:rPr lang="zh-CN" altLang="en-US" sz="24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</a:t>
            </a:r>
            <a:r>
              <a:rPr lang="zh-CN" altLang="en-US" sz="2475" b="1" dirty="0">
                <a:solidFill>
                  <a:srgbClr val="D982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手摸到</a:t>
            </a:r>
            <a:r>
              <a:rPr lang="zh-CN" altLang="en-US" sz="24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</a:t>
            </a:r>
            <a:r>
              <a:rPr lang="zh-CN" altLang="en-US" sz="2475" b="1" dirty="0">
                <a:solidFill>
                  <a:srgbClr val="8E5A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鼻子闻到</a:t>
            </a:r>
            <a:r>
              <a:rPr lang="zh-CN" altLang="en-US" sz="24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</a:t>
            </a:r>
            <a:r>
              <a:rPr lang="zh-CN" altLang="en-US" sz="2475" b="1" dirty="0">
                <a:solidFill>
                  <a:srgbClr val="2E8B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嘴巴尝到</a:t>
            </a:r>
            <a:r>
              <a:rPr lang="zh-CN" altLang="en-US" sz="24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的感觉。</a:t>
            </a:r>
            <a:endParaRPr lang="zh-CN" sz="2475" dirty="0"/>
          </a:p>
        </p:txBody>
      </p:sp>
      <p:sp>
        <p:nvSpPr>
          <p:cNvPr id="18" name="Text 15"/>
          <p:cNvSpPr/>
          <p:nvPr/>
        </p:nvSpPr>
        <p:spPr>
          <a:xfrm>
            <a:off x="1047750" y="7367905"/>
            <a:ext cx="12893040" cy="20726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听同学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的时候想一想：他加上的是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哪一种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：像什么、听到的、摸到的，还是闻到的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zh-CN" sz="2605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加上这样一句，这一处就比原来清楚了。</a:t>
            </a:r>
            <a:endParaRPr lang="zh-CN" altLang="en-US" sz="2605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38" name="插图" descr="抠-P19-7e9a4af10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42203" y="6949440"/>
            <a:ext cx="3719593" cy="2743200"/>
          </a:xfrm>
          <a:prstGeom prst="rect">
            <a:avLst/>
          </a:prstGeom>
        </p:spPr>
      </p:pic>
      <p:pic>
        <p:nvPicPr>
          <p:cNvPr id="39" name="吉祥物" descr="抠-吉祥物-ad495431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8760" y="341947"/>
            <a:ext cx="1533448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观察发现卡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6532364" cy="833438"/>
          </a:xfrm>
          <a:prstGeom prst="roundRect">
            <a:avLst>
              <a:gd name="adj" fmla="val 22857"/>
            </a:avLst>
          </a:prstGeom>
          <a:solidFill>
            <a:srgbClr val="E6F2E1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6263580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观察发现卡：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每格只填两三个词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667000"/>
            <a:ext cx="16192500" cy="5810250"/>
          </a:xfrm>
          <a:prstGeom prst="roundRect">
            <a:avLst>
              <a:gd name="adj" fmla="val 2295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676525"/>
            <a:ext cx="16173450" cy="685800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62075" y="2828925"/>
            <a:ext cx="582549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</a:t>
            </a:r>
            <a:endParaRPr lang="zh-CN" sz="2250" dirty="0"/>
          </a:p>
        </p:txBody>
      </p:sp>
      <p:sp>
        <p:nvSpPr>
          <p:cNvPr id="10" name="Shape 7"/>
          <p:cNvSpPr/>
          <p:nvPr/>
        </p:nvSpPr>
        <p:spPr>
          <a:xfrm>
            <a:off x="6962775" y="2676525"/>
            <a:ext cx="9525" cy="685800"/>
          </a:xfrm>
          <a:prstGeom prst="rect">
            <a:avLst/>
          </a:prstGeom>
          <a:solidFill>
            <a:srgbClr val="FFFFFF">
              <a:alpha val="25000"/>
            </a:srgbClr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277100" y="2828925"/>
            <a:ext cx="10613708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关键词</a:t>
            </a:r>
            <a:endParaRPr lang="zh-CN" sz="2250" dirty="0"/>
          </a:p>
        </p:txBody>
      </p:sp>
      <p:sp>
        <p:nvSpPr>
          <p:cNvPr id="12" name="Shape 9"/>
          <p:cNvSpPr/>
          <p:nvPr/>
        </p:nvSpPr>
        <p:spPr>
          <a:xfrm>
            <a:off x="1057275" y="3362325"/>
            <a:ext cx="16173450" cy="63817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362075" y="3495675"/>
            <a:ext cx="547306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我观察的是</a:t>
            </a:r>
            <a:endParaRPr lang="zh-CN" sz="2175" dirty="0"/>
          </a:p>
        </p:txBody>
      </p:sp>
      <p:sp>
        <p:nvSpPr>
          <p:cNvPr id="14" name="Shape 11"/>
          <p:cNvSpPr/>
          <p:nvPr/>
        </p:nvSpPr>
        <p:spPr>
          <a:xfrm>
            <a:off x="6962775" y="3362325"/>
            <a:ext cx="9525" cy="6381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1057275" y="4000500"/>
            <a:ext cx="16173450" cy="63817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362075" y="4133850"/>
            <a:ext cx="547306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眼睛看到</a:t>
            </a:r>
            <a:endParaRPr lang="zh-CN" sz="2175" dirty="0"/>
          </a:p>
        </p:txBody>
      </p:sp>
      <p:sp>
        <p:nvSpPr>
          <p:cNvPr id="17" name="Shape 14"/>
          <p:cNvSpPr/>
          <p:nvPr/>
        </p:nvSpPr>
        <p:spPr>
          <a:xfrm>
            <a:off x="6962775" y="4000500"/>
            <a:ext cx="9525" cy="6381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57275" y="4638675"/>
            <a:ext cx="16173450" cy="63817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362075" y="4772025"/>
            <a:ext cx="547306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耳朵听到</a:t>
            </a:r>
            <a:endParaRPr lang="zh-CN" sz="2175" dirty="0"/>
          </a:p>
        </p:txBody>
      </p:sp>
      <p:sp>
        <p:nvSpPr>
          <p:cNvPr id="20" name="Shape 17"/>
          <p:cNvSpPr/>
          <p:nvPr/>
        </p:nvSpPr>
        <p:spPr>
          <a:xfrm>
            <a:off x="6962775" y="4638675"/>
            <a:ext cx="9525" cy="6381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57275" y="5276850"/>
            <a:ext cx="16173450" cy="63817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1362075" y="5410200"/>
            <a:ext cx="547306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手摸到</a:t>
            </a:r>
            <a:endParaRPr lang="zh-CN" sz="2175" dirty="0"/>
          </a:p>
        </p:txBody>
      </p:sp>
      <p:sp>
        <p:nvSpPr>
          <p:cNvPr id="23" name="Shape 20"/>
          <p:cNvSpPr/>
          <p:nvPr/>
        </p:nvSpPr>
        <p:spPr>
          <a:xfrm>
            <a:off x="6962775" y="5276850"/>
            <a:ext cx="9525" cy="6381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7275" y="5915025"/>
            <a:ext cx="16173450" cy="63817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362075" y="6048375"/>
            <a:ext cx="547306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鼻子闻到</a:t>
            </a:r>
            <a:endParaRPr lang="zh-CN" sz="2175" dirty="0"/>
          </a:p>
        </p:txBody>
      </p:sp>
      <p:sp>
        <p:nvSpPr>
          <p:cNvPr id="26" name="Shape 23"/>
          <p:cNvSpPr/>
          <p:nvPr/>
        </p:nvSpPr>
        <p:spPr>
          <a:xfrm>
            <a:off x="6962775" y="5915025"/>
            <a:ext cx="9525" cy="6381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1057275" y="6553200"/>
            <a:ext cx="16173450" cy="63817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1362075" y="6686550"/>
            <a:ext cx="547306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嘴巴尝到</a:t>
            </a:r>
            <a:endParaRPr lang="zh-CN" sz="2175" dirty="0"/>
          </a:p>
        </p:txBody>
      </p:sp>
      <p:sp>
        <p:nvSpPr>
          <p:cNvPr id="29" name="Shape 26"/>
          <p:cNvSpPr/>
          <p:nvPr/>
        </p:nvSpPr>
        <p:spPr>
          <a:xfrm>
            <a:off x="6962775" y="6553200"/>
            <a:ext cx="9525" cy="6381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1057275" y="7191375"/>
            <a:ext cx="16173450" cy="63817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362075" y="7324725"/>
            <a:ext cx="547306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它的变化（刚开始→过了一会儿→最后）</a:t>
            </a:r>
            <a:endParaRPr lang="zh-CN" sz="2175" dirty="0"/>
          </a:p>
        </p:txBody>
      </p:sp>
      <p:sp>
        <p:nvSpPr>
          <p:cNvPr id="32" name="Shape 29"/>
          <p:cNvSpPr/>
          <p:nvPr/>
        </p:nvSpPr>
        <p:spPr>
          <a:xfrm>
            <a:off x="6962775" y="7191375"/>
            <a:ext cx="9525" cy="6381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1057275" y="7829550"/>
            <a:ext cx="16173450" cy="63817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1362075" y="7962900"/>
            <a:ext cx="547306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印象最深的一两处（圈出来）</a:t>
            </a:r>
            <a:endParaRPr lang="zh-CN" sz="2175" dirty="0"/>
          </a:p>
        </p:txBody>
      </p:sp>
      <p:sp>
        <p:nvSpPr>
          <p:cNvPr id="35" name="Shape 32"/>
          <p:cNvSpPr/>
          <p:nvPr/>
        </p:nvSpPr>
        <p:spPr>
          <a:xfrm>
            <a:off x="6962775" y="7829550"/>
            <a:ext cx="9525" cy="6381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只填词，不写句子；没有的那一格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空着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，不必硬填。</a:t>
            </a:r>
            <a:endParaRPr lang="zh-CN" sz="2605" dirty="0"/>
          </a:p>
        </p:txBody>
      </p:sp>
      <p:pic>
        <p:nvPicPr>
          <p:cNvPr id="37" name="提示图标" descr="手指点击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观察发现卡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5718870" cy="833438"/>
          </a:xfrm>
          <a:prstGeom prst="roundRect">
            <a:avLst>
              <a:gd name="adj" fmla="val 22857"/>
            </a:avLst>
          </a:prstGeom>
          <a:solidFill>
            <a:srgbClr val="E6F2E1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5368736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老师先填一张：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一杯菊花茶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667000"/>
            <a:ext cx="16192500" cy="5838825"/>
          </a:xfrm>
          <a:prstGeom prst="roundRect">
            <a:avLst>
              <a:gd name="adj" fmla="val 2284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676525"/>
            <a:ext cx="16173450" cy="685800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62075" y="2828925"/>
            <a:ext cx="582549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</a:t>
            </a:r>
            <a:endParaRPr lang="zh-CN" sz="2250" dirty="0"/>
          </a:p>
        </p:txBody>
      </p:sp>
      <p:sp>
        <p:nvSpPr>
          <p:cNvPr id="10" name="Shape 7"/>
          <p:cNvSpPr/>
          <p:nvPr/>
        </p:nvSpPr>
        <p:spPr>
          <a:xfrm>
            <a:off x="6962775" y="2676525"/>
            <a:ext cx="9525" cy="685800"/>
          </a:xfrm>
          <a:prstGeom prst="rect">
            <a:avLst/>
          </a:prstGeom>
          <a:solidFill>
            <a:srgbClr val="FFFFFF">
              <a:alpha val="25000"/>
            </a:srgbClr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277100" y="2828925"/>
            <a:ext cx="10613708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关键词</a:t>
            </a:r>
            <a:endParaRPr lang="zh-CN" sz="2250" dirty="0"/>
          </a:p>
        </p:txBody>
      </p:sp>
      <p:sp>
        <p:nvSpPr>
          <p:cNvPr id="12" name="Shape 9"/>
          <p:cNvSpPr/>
          <p:nvPr/>
        </p:nvSpPr>
        <p:spPr>
          <a:xfrm>
            <a:off x="1057275" y="3362325"/>
            <a:ext cx="16173450" cy="63817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362075" y="3495675"/>
            <a:ext cx="547306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我观察的是</a:t>
            </a:r>
            <a:endParaRPr lang="zh-CN" sz="2175" dirty="0"/>
          </a:p>
        </p:txBody>
      </p:sp>
      <p:sp>
        <p:nvSpPr>
          <p:cNvPr id="14" name="Shape 11"/>
          <p:cNvSpPr/>
          <p:nvPr/>
        </p:nvSpPr>
        <p:spPr>
          <a:xfrm>
            <a:off x="6962775" y="3362325"/>
            <a:ext cx="9525" cy="6381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7277100" y="3495675"/>
            <a:ext cx="9956863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一杯菊花茶</a:t>
            </a:r>
            <a:endParaRPr lang="zh-CN" sz="2175" dirty="0"/>
          </a:p>
        </p:txBody>
      </p:sp>
      <p:sp>
        <p:nvSpPr>
          <p:cNvPr id="16" name="Shape 13"/>
          <p:cNvSpPr/>
          <p:nvPr/>
        </p:nvSpPr>
        <p:spPr>
          <a:xfrm>
            <a:off x="1057275" y="4000500"/>
            <a:ext cx="16173450" cy="63817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362075" y="4133850"/>
            <a:ext cx="547306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眼睛看到</a:t>
            </a:r>
            <a:endParaRPr lang="zh-CN" sz="2175" dirty="0"/>
          </a:p>
        </p:txBody>
      </p:sp>
      <p:sp>
        <p:nvSpPr>
          <p:cNvPr id="18" name="Shape 15"/>
          <p:cNvSpPr/>
          <p:nvPr/>
        </p:nvSpPr>
        <p:spPr>
          <a:xfrm>
            <a:off x="6962775" y="4000500"/>
            <a:ext cx="9525" cy="6381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7277100" y="4133850"/>
            <a:ext cx="9956863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干花小、黄里透灰；泡开后白花瓣黄花心，水变浅黄</a:t>
            </a:r>
            <a:endParaRPr lang="zh-CN" sz="2175" dirty="0"/>
          </a:p>
        </p:txBody>
      </p:sp>
      <p:sp>
        <p:nvSpPr>
          <p:cNvPr id="20" name="Shape 17"/>
          <p:cNvSpPr/>
          <p:nvPr/>
        </p:nvSpPr>
        <p:spPr>
          <a:xfrm>
            <a:off x="1057275" y="4638675"/>
            <a:ext cx="16173450" cy="63817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362075" y="4772025"/>
            <a:ext cx="547306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耳朵听到</a:t>
            </a:r>
            <a:endParaRPr lang="zh-CN" sz="2175" dirty="0"/>
          </a:p>
        </p:txBody>
      </p:sp>
      <p:sp>
        <p:nvSpPr>
          <p:cNvPr id="22" name="Shape 19"/>
          <p:cNvSpPr/>
          <p:nvPr/>
        </p:nvSpPr>
        <p:spPr>
          <a:xfrm>
            <a:off x="6962775" y="4638675"/>
            <a:ext cx="9525" cy="6381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7277100" y="4772025"/>
            <a:ext cx="9956863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dirty="0">
                <a:solidFill>
                  <a:srgbClr val="8A92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（空着）</a:t>
            </a:r>
            <a:endParaRPr lang="zh-CN" sz="2175" dirty="0"/>
          </a:p>
        </p:txBody>
      </p:sp>
      <p:sp>
        <p:nvSpPr>
          <p:cNvPr id="24" name="Shape 21"/>
          <p:cNvSpPr/>
          <p:nvPr/>
        </p:nvSpPr>
        <p:spPr>
          <a:xfrm>
            <a:off x="1057275" y="5276850"/>
            <a:ext cx="16173450" cy="63817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362075" y="5410200"/>
            <a:ext cx="547306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手摸到</a:t>
            </a:r>
            <a:endParaRPr lang="zh-CN" sz="2175" dirty="0"/>
          </a:p>
        </p:txBody>
      </p:sp>
      <p:sp>
        <p:nvSpPr>
          <p:cNvPr id="26" name="Shape 23"/>
          <p:cNvSpPr/>
          <p:nvPr/>
        </p:nvSpPr>
        <p:spPr>
          <a:xfrm>
            <a:off x="6962775" y="5276850"/>
            <a:ext cx="9525" cy="6381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7277100" y="5410200"/>
            <a:ext cx="9956863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D982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杯壁烫</a:t>
            </a:r>
            <a:endParaRPr lang="zh-CN" sz="2175" dirty="0"/>
          </a:p>
        </p:txBody>
      </p:sp>
      <p:sp>
        <p:nvSpPr>
          <p:cNvPr id="28" name="Shape 25"/>
          <p:cNvSpPr/>
          <p:nvPr/>
        </p:nvSpPr>
        <p:spPr>
          <a:xfrm>
            <a:off x="1057275" y="5915025"/>
            <a:ext cx="16173450" cy="63817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1362075" y="6048375"/>
            <a:ext cx="547306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鼻子闻到</a:t>
            </a:r>
            <a:endParaRPr lang="zh-CN" sz="2175" dirty="0"/>
          </a:p>
        </p:txBody>
      </p:sp>
      <p:sp>
        <p:nvSpPr>
          <p:cNvPr id="30" name="Shape 27"/>
          <p:cNvSpPr/>
          <p:nvPr/>
        </p:nvSpPr>
        <p:spPr>
          <a:xfrm>
            <a:off x="6962775" y="5915025"/>
            <a:ext cx="9525" cy="6381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7277100" y="6048375"/>
            <a:ext cx="9956863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8E5A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淡香，有青草味，有药香</a:t>
            </a:r>
            <a:endParaRPr lang="zh-CN" sz="2175" dirty="0"/>
          </a:p>
        </p:txBody>
      </p:sp>
      <p:sp>
        <p:nvSpPr>
          <p:cNvPr id="32" name="Shape 29"/>
          <p:cNvSpPr/>
          <p:nvPr/>
        </p:nvSpPr>
        <p:spPr>
          <a:xfrm>
            <a:off x="1057275" y="6553200"/>
            <a:ext cx="16173450" cy="63817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1362075" y="6686550"/>
            <a:ext cx="547306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嘴巴尝到</a:t>
            </a:r>
            <a:endParaRPr lang="zh-CN" sz="2175" dirty="0"/>
          </a:p>
        </p:txBody>
      </p:sp>
      <p:sp>
        <p:nvSpPr>
          <p:cNvPr id="34" name="Shape 31"/>
          <p:cNvSpPr/>
          <p:nvPr/>
        </p:nvSpPr>
        <p:spPr>
          <a:xfrm>
            <a:off x="6962775" y="6553200"/>
            <a:ext cx="9525" cy="6381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7277100" y="6686550"/>
            <a:ext cx="9956863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2E8B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先苦，咽下去有点甜</a:t>
            </a:r>
            <a:endParaRPr lang="zh-CN" sz="2175" dirty="0"/>
          </a:p>
        </p:txBody>
      </p:sp>
      <p:sp>
        <p:nvSpPr>
          <p:cNvPr id="36" name="Shape 33"/>
          <p:cNvSpPr/>
          <p:nvPr/>
        </p:nvSpPr>
        <p:spPr>
          <a:xfrm>
            <a:off x="1057275" y="7191375"/>
            <a:ext cx="16173450" cy="63817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1362075" y="7324725"/>
            <a:ext cx="547306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它的变化（刚开始→过了一会儿→最后）</a:t>
            </a:r>
            <a:endParaRPr lang="zh-CN" sz="2175" dirty="0"/>
          </a:p>
        </p:txBody>
      </p:sp>
      <p:sp>
        <p:nvSpPr>
          <p:cNvPr id="38" name="Shape 35"/>
          <p:cNvSpPr/>
          <p:nvPr/>
        </p:nvSpPr>
        <p:spPr>
          <a:xfrm>
            <a:off x="6962775" y="7191375"/>
            <a:ext cx="9525" cy="6381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7277100" y="7324725"/>
            <a:ext cx="9956863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打转浮在水面→花瓣慢慢舒展开→全部绽开，水变浅黄</a:t>
            </a:r>
            <a:endParaRPr lang="zh-CN" sz="2175" dirty="0"/>
          </a:p>
        </p:txBody>
      </p:sp>
      <p:sp>
        <p:nvSpPr>
          <p:cNvPr id="40" name="Shape 37"/>
          <p:cNvSpPr/>
          <p:nvPr/>
        </p:nvSpPr>
        <p:spPr>
          <a:xfrm>
            <a:off x="1057275" y="7829550"/>
            <a:ext cx="16173450" cy="66675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1362075" y="7962900"/>
            <a:ext cx="547306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印象最深的一两处（圈出来）</a:t>
            </a:r>
            <a:endParaRPr lang="zh-CN" sz="2175" dirty="0"/>
          </a:p>
        </p:txBody>
      </p:sp>
      <p:sp>
        <p:nvSpPr>
          <p:cNvPr id="42" name="Shape 39"/>
          <p:cNvSpPr/>
          <p:nvPr/>
        </p:nvSpPr>
        <p:spPr>
          <a:xfrm>
            <a:off x="6962775" y="7829550"/>
            <a:ext cx="9525" cy="666750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7277100" y="7962900"/>
            <a:ext cx="9956863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◯ 张开的过程 ◯ 味道</a:t>
            </a:r>
            <a:endParaRPr lang="zh-CN" sz="2175" dirty="0"/>
          </a:p>
        </p:txBody>
      </p:sp>
      <p:sp>
        <p:nvSpPr>
          <p:cNvPr id="44" name="Text 41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泡茶时没有听到特别的声音，“耳朵听到”这一格就空着；最后一格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圈出两处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，动笔时重点写。</a:t>
            </a:r>
            <a:endParaRPr lang="zh-CN" sz="2605" dirty="0"/>
          </a:p>
        </p:txBody>
      </p:sp>
      <p:pic>
        <p:nvPicPr>
          <p:cNvPr id="135" name="提示图标" descr="手指点击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观察发现卡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E6F2E1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5816158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轮到你了：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填卡，再圈一两处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95275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217861" y="3028950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800225" y="3009900"/>
            <a:ext cx="9624346" cy="10048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回想自己观察的小动物，每格填两三个词；</a:t>
            </a:r>
            <a:r>
              <a:rPr lang="zh-CN" alt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“嘴巴尝到”这一格空着</a:t>
            </a:r>
            <a:endParaRPr lang="zh-CN" sz="2625" dirty="0"/>
          </a:p>
        </p:txBody>
      </p:sp>
      <p:sp>
        <p:nvSpPr>
          <p:cNvPr id="10" name="Shape 7"/>
          <p:cNvSpPr/>
          <p:nvPr/>
        </p:nvSpPr>
        <p:spPr>
          <a:xfrm>
            <a:off x="1047750" y="4300538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217861" y="4376738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800225" y="4357688"/>
            <a:ext cx="9624346" cy="10048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“它的变化”这一格不要漏填：它见到你、抢食的时候，</a:t>
            </a:r>
            <a:r>
              <a:rPr lang="zh-CN" alt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常常是一步一步变化的</a:t>
            </a:r>
            <a:endParaRPr lang="zh-CN" sz="2625" dirty="0"/>
          </a:p>
        </p:txBody>
      </p:sp>
      <p:sp>
        <p:nvSpPr>
          <p:cNvPr id="13" name="Shape 10"/>
          <p:cNvSpPr/>
          <p:nvPr/>
        </p:nvSpPr>
        <p:spPr>
          <a:xfrm>
            <a:off x="1047750" y="5648325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217861" y="5724525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800225" y="5705475"/>
            <a:ext cx="6524149" cy="52149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在最后一格写上</a:t>
            </a:r>
            <a:r>
              <a:rPr lang="zh-CN" alt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印象最深的一两处</a:t>
            </a:r>
            <a:r>
              <a:rPr lang="zh-CN" alt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，圈出来</a:t>
            </a:r>
            <a:endParaRPr lang="zh-CN" sz="2625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02418" y="2907792"/>
            <a:ext cx="5513162" cy="470916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047750" y="6858000"/>
            <a:ext cx="10096500" cy="900113"/>
          </a:xfrm>
          <a:prstGeom prst="roundRect">
            <a:avLst>
              <a:gd name="adj" fmla="val 16931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1428750" y="7086600"/>
            <a:ext cx="10267950" cy="4810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32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同桌互说：</a:t>
            </a:r>
            <a:r>
              <a:rPr lang="zh-CN" altLang="en-US" sz="2325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一句话即可，</a:t>
            </a:r>
            <a:r>
              <a:rPr lang="zh-CN" alt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“我圈的是哪一处”</a:t>
            </a:r>
            <a:r>
              <a:rPr lang="zh-CN" altLang="en-US" sz="2325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325" dirty="0"/>
          </a:p>
        </p:txBody>
      </p:sp>
      <p:sp>
        <p:nvSpPr>
          <p:cNvPr id="21" name="Text 17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圈的时候想一想：这一处是不是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你观察的那只小动物身上才有的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zh-CN" sz="2605" dirty="0"/>
          </a:p>
        </p:txBody>
      </p:sp>
      <p:pic>
        <p:nvPicPr>
          <p:cNvPr id="49" name="提示图标" descr="手指点击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50" name="吉祥物" descr="抠-吉祥物-ad495431f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760" y="341947"/>
            <a:ext cx="1533448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教师示范文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0970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E6F2E1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28750" y="1562100"/>
            <a:ext cx="8053105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卡上圈的两处，到了短文里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各是哪几句</a:t>
            </a: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495550"/>
            <a:ext cx="16192500" cy="6667500"/>
          </a:xfrm>
          <a:prstGeom prst="roundRect">
            <a:avLst>
              <a:gd name="adj" fmla="val 2571"/>
            </a:avLst>
          </a:prstGeom>
          <a:solidFill>
            <a:srgbClr val="F7F5F2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45820" y="2743200"/>
            <a:ext cx="16596360" cy="5104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8000"/>
              </a:lnSpc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一杯菊花茶</a:t>
            </a:r>
            <a:endParaRPr lang="zh-CN" sz="2400" dirty="0"/>
          </a:p>
        </p:txBody>
      </p:sp>
      <p:sp>
        <p:nvSpPr>
          <p:cNvPr id="9" name="Text 6"/>
          <p:cNvSpPr/>
          <p:nvPr/>
        </p:nvSpPr>
        <p:spPr>
          <a:xfrm>
            <a:off x="1600200" y="3310830"/>
            <a:ext cx="16596360" cy="45139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533400" algn="just">
              <a:lnSpc>
                <a:spcPct val="117000"/>
              </a:lnSpc>
              <a:buNone/>
            </a:pPr>
            <a:r>
              <a:rPr lang="zh-CN" alt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昨天下午，奶奶在泡菊花茶，我赶紧凑过去瞧。</a:t>
            </a:r>
            <a:endParaRPr lang="zh-CN" sz="2100" dirty="0"/>
          </a:p>
        </p:txBody>
      </p:sp>
      <p:sp>
        <p:nvSpPr>
          <p:cNvPr id="10" name="Text 7"/>
          <p:cNvSpPr/>
          <p:nvPr/>
        </p:nvSpPr>
        <p:spPr>
          <a:xfrm>
            <a:off x="1600200" y="3800326"/>
            <a:ext cx="16596360" cy="45139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533400" algn="just">
              <a:lnSpc>
                <a:spcPct val="117000"/>
              </a:lnSpc>
              <a:buNone/>
            </a:pPr>
            <a:r>
              <a:rPr lang="zh-CN" alt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干菊花装在小罐子里，</a:t>
            </a:r>
            <a:r>
              <a:rPr lang="zh-CN" altLang="en-US" sz="21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一朵朵缩成小小的花团，黄里透着点灰，比我的指甲盖大不了多少</a:t>
            </a:r>
            <a:r>
              <a:rPr lang="zh-CN" alt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，看上去一点儿都不像花。</a:t>
            </a:r>
            <a:endParaRPr lang="zh-CN" sz="2100" dirty="0"/>
          </a:p>
        </p:txBody>
      </p:sp>
      <p:sp>
        <p:nvSpPr>
          <p:cNvPr id="11" name="Text 8"/>
          <p:cNvSpPr/>
          <p:nvPr/>
        </p:nvSpPr>
        <p:spPr>
          <a:xfrm>
            <a:off x="1600200" y="4289822"/>
            <a:ext cx="15540228" cy="127798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533400" algn="just">
              <a:lnSpc>
                <a:spcPct val="117000"/>
              </a:lnSpc>
              <a:buNone/>
            </a:pPr>
            <a:r>
              <a:rPr lang="zh-CN" alt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奶奶先是捏了几朵干菊花放进玻璃杯，又拎起水壶，往杯里冲入热水。</a:t>
            </a:r>
            <a:r>
              <a:rPr lang="zh-CN" altLang="en-US" sz="2100" b="1" u="sng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一开始</a:t>
            </a:r>
            <a:r>
              <a:rPr lang="zh-CN" alt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，菊花被水流冲得在杯子里直打转，一朵朵挨在一起，浮在水面上。</a:t>
            </a:r>
            <a:r>
              <a:rPr lang="zh-CN" altLang="en-US" sz="2100" b="1" u="sng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过了一会儿</a:t>
            </a:r>
            <a:r>
              <a:rPr lang="zh-CN" alt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zh-CN" altLang="en-US" sz="2100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这些紧紧卷着的花瓣慢慢舒展开，就像一个刚刚睡醒的孩子在伸懒腰</a:t>
            </a:r>
            <a:r>
              <a:rPr lang="zh-CN" alt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r>
              <a:rPr lang="zh-CN" altLang="en-US" sz="2100" b="1" u="sng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最后</a:t>
            </a:r>
            <a:r>
              <a:rPr lang="zh-CN" alt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，每一朵菊花都完全绽开了，白白的花瓣中间托着黄黄的花心，杯子里的水也变成了浅浅的黄色。</a:t>
            </a:r>
            <a:endParaRPr lang="zh-CN" sz="2100" dirty="0"/>
          </a:p>
        </p:txBody>
      </p:sp>
      <p:sp>
        <p:nvSpPr>
          <p:cNvPr id="12" name="Text 9"/>
          <p:cNvSpPr/>
          <p:nvPr/>
        </p:nvSpPr>
        <p:spPr>
          <a:xfrm>
            <a:off x="1600200" y="5605909"/>
            <a:ext cx="15540228" cy="127798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533400" algn="just">
              <a:lnSpc>
                <a:spcPct val="117000"/>
              </a:lnSpc>
              <a:buNone/>
            </a:pPr>
            <a:r>
              <a:rPr lang="zh-CN" alt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我伸手想去拿杯子，</a:t>
            </a:r>
            <a:r>
              <a:rPr lang="zh-CN" altLang="en-US" sz="2100" b="1" dirty="0">
                <a:solidFill>
                  <a:srgbClr val="D982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杯壁烫得我立刻收回了手</a:t>
            </a:r>
            <a:r>
              <a:rPr lang="zh-CN" alt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，只能把脸凑近杯口闻一闻。淡淡的香气飘过来，</a:t>
            </a:r>
            <a:r>
              <a:rPr lang="zh-CN" altLang="en-US" sz="2100" b="1" dirty="0">
                <a:solidFill>
                  <a:srgbClr val="8E5A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闻着有点青草味，又带着一丝药香</a:t>
            </a:r>
            <a:r>
              <a:rPr lang="zh-CN" alt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。等水稍微凉了些，我轻轻吹了吹，小口抿了一口。</a:t>
            </a:r>
            <a:r>
              <a:rPr lang="zh-CN" altLang="en-US" sz="2100" b="1" dirty="0">
                <a:solidFill>
                  <a:srgbClr val="2E8B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刚喝到嘴里，感觉有点苦，我的舌头不由得往回一缩，但咽下去后，我嘴里却又慢慢透出一丝淡淡的甜味</a:t>
            </a:r>
            <a:r>
              <a:rPr lang="zh-CN" alt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100" dirty="0"/>
          </a:p>
        </p:txBody>
      </p:sp>
      <p:sp>
        <p:nvSpPr>
          <p:cNvPr id="13" name="Text 10"/>
          <p:cNvSpPr/>
          <p:nvPr/>
        </p:nvSpPr>
        <p:spPr>
          <a:xfrm>
            <a:off x="1600200" y="6921996"/>
            <a:ext cx="16596360" cy="45139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533400" algn="just">
              <a:lnSpc>
                <a:spcPct val="117000"/>
              </a:lnSpc>
              <a:buNone/>
            </a:pPr>
            <a:r>
              <a:rPr lang="zh-CN" alt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原来这么小小的干菊花，泡进热水里，竟会发生这么奇妙的变化。</a:t>
            </a:r>
            <a:endParaRPr lang="zh-CN" sz="2100" dirty="0"/>
          </a:p>
        </p:txBody>
      </p:sp>
      <p:sp>
        <p:nvSpPr>
          <p:cNvPr id="14" name="Text 11"/>
          <p:cNvSpPr/>
          <p:nvPr/>
        </p:nvSpPr>
        <p:spPr>
          <a:xfrm>
            <a:off x="1047750" y="9410700"/>
            <a:ext cx="1386795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0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眼睛看到</a:t>
            </a:r>
            <a:endParaRPr lang="zh-CN" sz="2025" dirty="0"/>
          </a:p>
        </p:txBody>
      </p:sp>
      <p:sp>
        <p:nvSpPr>
          <p:cNvPr id="15" name="Text 12"/>
          <p:cNvSpPr/>
          <p:nvPr/>
        </p:nvSpPr>
        <p:spPr>
          <a:xfrm>
            <a:off x="2632323" y="9410700"/>
            <a:ext cx="2235473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025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写变化的三个词</a:t>
            </a:r>
            <a:endParaRPr lang="zh-CN" sz="2025" dirty="0"/>
          </a:p>
        </p:txBody>
      </p:sp>
      <p:sp>
        <p:nvSpPr>
          <p:cNvPr id="16" name="Text 13"/>
          <p:cNvSpPr/>
          <p:nvPr/>
        </p:nvSpPr>
        <p:spPr>
          <a:xfrm>
            <a:off x="4988421" y="9410700"/>
            <a:ext cx="1079748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025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打比方</a:t>
            </a:r>
            <a:endParaRPr lang="zh-CN" sz="2025" dirty="0"/>
          </a:p>
        </p:txBody>
      </p:sp>
      <p:sp>
        <p:nvSpPr>
          <p:cNvPr id="17" name="Text 14"/>
          <p:cNvSpPr/>
          <p:nvPr/>
        </p:nvSpPr>
        <p:spPr>
          <a:xfrm>
            <a:off x="6315819" y="9410700"/>
            <a:ext cx="1079748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025" b="1" dirty="0">
                <a:solidFill>
                  <a:srgbClr val="D982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手摸到</a:t>
            </a:r>
            <a:endParaRPr lang="zh-CN" sz="2025" dirty="0"/>
          </a:p>
        </p:txBody>
      </p:sp>
      <p:sp>
        <p:nvSpPr>
          <p:cNvPr id="18" name="Text 15"/>
          <p:cNvSpPr/>
          <p:nvPr/>
        </p:nvSpPr>
        <p:spPr>
          <a:xfrm>
            <a:off x="7643217" y="9410700"/>
            <a:ext cx="1386795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025" b="1" dirty="0">
                <a:solidFill>
                  <a:srgbClr val="8E5A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鼻子闻到</a:t>
            </a:r>
            <a:endParaRPr lang="zh-CN" sz="2025" dirty="0"/>
          </a:p>
        </p:txBody>
      </p:sp>
      <p:sp>
        <p:nvSpPr>
          <p:cNvPr id="19" name="Text 16"/>
          <p:cNvSpPr/>
          <p:nvPr/>
        </p:nvSpPr>
        <p:spPr>
          <a:xfrm>
            <a:off x="9227790" y="9410700"/>
            <a:ext cx="1386795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025" b="1" dirty="0">
                <a:solidFill>
                  <a:srgbClr val="2E8B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嘴巴尝到</a:t>
            </a:r>
            <a:endParaRPr lang="zh-CN" sz="2025" dirty="0"/>
          </a:p>
        </p:txBody>
      </p:sp>
      <p:pic>
        <p:nvPicPr>
          <p:cNvPr id="23" name="插图" descr="抠-P23-2b19ec5c9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9980" y="6604000"/>
            <a:ext cx="3170555" cy="3308985"/>
          </a:xfrm>
          <a:prstGeom prst="rect">
            <a:avLst/>
          </a:prstGeom>
        </p:spPr>
      </p:pic>
      <p:pic>
        <p:nvPicPr>
          <p:cNvPr id="24" name="吉祥物" descr="抠-吉祥物-ad495431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8760" y="322898"/>
            <a:ext cx="1533448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582930"/>
            <a:ext cx="2876550" cy="4648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读示范文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E6F2E1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4474056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读完短文，想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两个问题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7886700" cy="4953000"/>
          </a:xfrm>
          <a:prstGeom prst="roundRect">
            <a:avLst>
              <a:gd name="adj" fmla="val 3462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66850" y="3219450"/>
            <a:ext cx="7753350" cy="4914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zh-CN" altLang="en-US" sz="255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问题① 卡上圈的两处，在短文里是哪几句？</a:t>
            </a:r>
            <a:endParaRPr lang="zh-CN" sz="2550" dirty="0"/>
          </a:p>
        </p:txBody>
      </p:sp>
      <p:sp>
        <p:nvSpPr>
          <p:cNvPr id="9" name="Text 6"/>
          <p:cNvSpPr/>
          <p:nvPr/>
        </p:nvSpPr>
        <p:spPr>
          <a:xfrm>
            <a:off x="1466850" y="3920430"/>
            <a:ext cx="361950" cy="13239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50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1885950" y="3920430"/>
            <a:ext cx="6828282" cy="13239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2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菊花</a:t>
            </a:r>
            <a:r>
              <a:rPr lang="zh-CN" altLang="en-US" sz="22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张开的过程：</a:t>
            </a: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第三段，从“往杯里冲入热水”到“水也变成了浅浅的黄色”，用了一开始、过了一会儿、最后</a:t>
            </a:r>
            <a:endParaRPr lang="zh-CN" sz="2250" dirty="0"/>
          </a:p>
        </p:txBody>
      </p:sp>
      <p:sp>
        <p:nvSpPr>
          <p:cNvPr id="11" name="Text 8"/>
          <p:cNvSpPr/>
          <p:nvPr/>
        </p:nvSpPr>
        <p:spPr>
          <a:xfrm>
            <a:off x="1466850" y="5415855"/>
            <a:ext cx="361950" cy="8953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50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1885950" y="5415855"/>
            <a:ext cx="6828282" cy="8953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2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味道：</a:t>
            </a: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第四段后半，</a:t>
            </a:r>
            <a:r>
              <a:rPr lang="zh-CN" altLang="en-US" sz="2250" b="1" dirty="0">
                <a:solidFill>
                  <a:srgbClr val="2E8B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先苦，咽下去有点甜</a:t>
            </a: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，也是一个变化</a:t>
            </a:r>
            <a:endParaRPr lang="zh-CN" sz="2250" dirty="0"/>
          </a:p>
        </p:txBody>
      </p:sp>
      <p:sp>
        <p:nvSpPr>
          <p:cNvPr id="13" name="Shape 10"/>
          <p:cNvSpPr/>
          <p:nvPr/>
        </p:nvSpPr>
        <p:spPr>
          <a:xfrm>
            <a:off x="9353550" y="2857500"/>
            <a:ext cx="7886700" cy="4953000"/>
          </a:xfrm>
          <a:prstGeom prst="roundRect">
            <a:avLst>
              <a:gd name="adj" fmla="val 3462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772650" y="3219450"/>
            <a:ext cx="7753350" cy="4914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zh-CN" altLang="en-US" sz="255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问题② 卡上其余几格，各写了几句？</a:t>
            </a:r>
            <a:endParaRPr lang="zh-CN" sz="2550" dirty="0"/>
          </a:p>
        </p:txBody>
      </p:sp>
      <p:sp>
        <p:nvSpPr>
          <p:cNvPr id="15" name="Text 12"/>
          <p:cNvSpPr/>
          <p:nvPr/>
        </p:nvSpPr>
        <p:spPr>
          <a:xfrm>
            <a:off x="9772650" y="3920430"/>
            <a:ext cx="36195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50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10191750" y="3920430"/>
            <a:ext cx="534352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2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干花的样子：</a:t>
            </a: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第二段，一段就交代完了</a:t>
            </a:r>
            <a:endParaRPr lang="zh-CN" sz="2250" dirty="0"/>
          </a:p>
        </p:txBody>
      </p:sp>
      <p:sp>
        <p:nvSpPr>
          <p:cNvPr id="17" name="Text 14"/>
          <p:cNvSpPr/>
          <p:nvPr/>
        </p:nvSpPr>
        <p:spPr>
          <a:xfrm>
            <a:off x="9772650" y="4558605"/>
            <a:ext cx="36195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50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10191750" y="4558605"/>
            <a:ext cx="251460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2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杯壁烫：</a:t>
            </a: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只有一句</a:t>
            </a:r>
            <a:endParaRPr lang="zh-CN" sz="2250" dirty="0"/>
          </a:p>
        </p:txBody>
      </p:sp>
      <p:sp>
        <p:nvSpPr>
          <p:cNvPr id="19" name="Text 16"/>
          <p:cNvSpPr/>
          <p:nvPr/>
        </p:nvSpPr>
        <p:spPr>
          <a:xfrm>
            <a:off x="9772650" y="5196780"/>
            <a:ext cx="36195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50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  <a:endParaRPr lang="en-US" sz="2250" dirty="0"/>
          </a:p>
        </p:txBody>
      </p:sp>
      <p:sp>
        <p:nvSpPr>
          <p:cNvPr id="20" name="Text 17"/>
          <p:cNvSpPr/>
          <p:nvPr/>
        </p:nvSpPr>
        <p:spPr>
          <a:xfrm>
            <a:off x="10191750" y="5196780"/>
            <a:ext cx="377190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2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闻到的香味：</a:t>
            </a: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也只有一两句</a:t>
            </a:r>
            <a:endParaRPr lang="zh-CN" sz="2250" dirty="0"/>
          </a:p>
        </p:txBody>
      </p:sp>
      <p:sp>
        <p:nvSpPr>
          <p:cNvPr id="21" name="Text 18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卡上填了好几格，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重点写两处，其余一句带过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，这就是选一两处写清楚。</a:t>
            </a:r>
            <a:endParaRPr lang="zh-CN" sz="2605" dirty="0"/>
          </a:p>
        </p:txBody>
      </p:sp>
      <p:pic>
        <p:nvPicPr>
          <p:cNvPr id="54" name="插图" descr="抠-P24-6f3feb85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3510" y="5486400"/>
            <a:ext cx="5201920" cy="3832225"/>
          </a:xfrm>
          <a:prstGeom prst="rect">
            <a:avLst/>
          </a:prstGeom>
        </p:spPr>
      </p:pic>
      <p:pic>
        <p:nvPicPr>
          <p:cNvPr id="57" name="提示图标" descr="手指点击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58" name="吉祥物" descr="抠-吉祥物-ad495431f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760" y="341947"/>
            <a:ext cx="1533448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旁批表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9379446" cy="833438"/>
          </a:xfrm>
          <a:prstGeom prst="roundRect">
            <a:avLst>
              <a:gd name="adj" fmla="val 22857"/>
            </a:avLst>
          </a:prstGeom>
          <a:solidFill>
            <a:srgbClr val="E6F2E1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9395371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读到哪一句，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好像自己也看到、闻到、尝到了</a:t>
            </a: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762250"/>
            <a:ext cx="16192500" cy="4984254"/>
          </a:xfrm>
          <a:prstGeom prst="roundRect">
            <a:avLst>
              <a:gd name="adj" fmla="val 2675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771775"/>
            <a:ext cx="16173450" cy="733425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62075" y="2943225"/>
            <a:ext cx="11252835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32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示范文里的句子</a:t>
            </a:r>
            <a:endParaRPr lang="zh-CN" sz="2325" dirty="0"/>
          </a:p>
        </p:txBody>
      </p:sp>
      <p:sp>
        <p:nvSpPr>
          <p:cNvPr id="10" name="Shape 7"/>
          <p:cNvSpPr/>
          <p:nvPr/>
        </p:nvSpPr>
        <p:spPr>
          <a:xfrm>
            <a:off x="11896725" y="2771775"/>
            <a:ext cx="9525" cy="733425"/>
          </a:xfrm>
          <a:prstGeom prst="rect">
            <a:avLst/>
          </a:prstGeom>
          <a:solidFill>
            <a:srgbClr val="FFFFFF">
              <a:alpha val="25000"/>
            </a:srgbClr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2211050" y="2943225"/>
            <a:ext cx="5186363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32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这一句写的是哪一方面</a:t>
            </a:r>
            <a:endParaRPr lang="zh-CN" sz="2325" dirty="0"/>
          </a:p>
        </p:txBody>
      </p:sp>
      <p:sp>
        <p:nvSpPr>
          <p:cNvPr id="12" name="Shape 9"/>
          <p:cNvSpPr/>
          <p:nvPr/>
        </p:nvSpPr>
        <p:spPr>
          <a:xfrm>
            <a:off x="1057275" y="3505200"/>
            <a:ext cx="16173450" cy="705296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362075" y="3657600"/>
            <a:ext cx="10555034" cy="43859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zh-CN" alt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一朵朵缩成小小的花团，黄里透着点灰，比我的指甲盖大不了多少</a:t>
            </a:r>
            <a:endParaRPr lang="zh-CN" sz="2175" dirty="0"/>
          </a:p>
        </p:txBody>
      </p:sp>
      <p:sp>
        <p:nvSpPr>
          <p:cNvPr id="14" name="Shape 11"/>
          <p:cNvSpPr/>
          <p:nvPr/>
        </p:nvSpPr>
        <p:spPr>
          <a:xfrm>
            <a:off x="11896725" y="3505200"/>
            <a:ext cx="9525" cy="705296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2211050" y="3657600"/>
            <a:ext cx="4874895" cy="43859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zh-CN" alt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眼睛看到的：形状、颜色、大小</a:t>
            </a:r>
            <a:endParaRPr lang="zh-CN" sz="2175" dirty="0"/>
          </a:p>
        </p:txBody>
      </p:sp>
      <p:sp>
        <p:nvSpPr>
          <p:cNvPr id="16" name="Shape 13"/>
          <p:cNvSpPr/>
          <p:nvPr/>
        </p:nvSpPr>
        <p:spPr>
          <a:xfrm>
            <a:off x="1057275" y="4210496"/>
            <a:ext cx="16173450" cy="705296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362075" y="4362896"/>
            <a:ext cx="10555034" cy="43859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zh-CN" alt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一开始……过了一会儿……最后……</a:t>
            </a:r>
            <a:endParaRPr lang="zh-CN" sz="2175" dirty="0"/>
          </a:p>
        </p:txBody>
      </p:sp>
      <p:sp>
        <p:nvSpPr>
          <p:cNvPr id="18" name="Shape 15"/>
          <p:cNvSpPr/>
          <p:nvPr/>
        </p:nvSpPr>
        <p:spPr>
          <a:xfrm>
            <a:off x="11896725" y="4210496"/>
            <a:ext cx="9525" cy="705296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2211050" y="4362896"/>
            <a:ext cx="4874895" cy="43859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zh-CN" altLang="en-US" sz="2175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写变化的三个词</a:t>
            </a:r>
            <a:endParaRPr lang="zh-CN" sz="2175" dirty="0"/>
          </a:p>
        </p:txBody>
      </p:sp>
      <p:sp>
        <p:nvSpPr>
          <p:cNvPr id="20" name="Shape 17"/>
          <p:cNvSpPr/>
          <p:nvPr/>
        </p:nvSpPr>
        <p:spPr>
          <a:xfrm>
            <a:off x="1057275" y="4915793"/>
            <a:ext cx="16173450" cy="705296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362075" y="5068193"/>
            <a:ext cx="10555034" cy="43859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zh-CN" alt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这些紧紧卷着的花瓣慢慢舒展开，就像一个刚刚睡醒的孩子在伸懒腰</a:t>
            </a:r>
            <a:endParaRPr lang="zh-CN" sz="2175" dirty="0"/>
          </a:p>
        </p:txBody>
      </p:sp>
      <p:sp>
        <p:nvSpPr>
          <p:cNvPr id="22" name="Shape 19"/>
          <p:cNvSpPr/>
          <p:nvPr/>
        </p:nvSpPr>
        <p:spPr>
          <a:xfrm>
            <a:off x="11896725" y="4915793"/>
            <a:ext cx="9525" cy="705296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2211050" y="5068193"/>
            <a:ext cx="4874895" cy="43859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zh-CN" altLang="en-US" sz="2175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打比方</a:t>
            </a:r>
            <a:endParaRPr lang="zh-CN" sz="2175" dirty="0"/>
          </a:p>
        </p:txBody>
      </p:sp>
      <p:sp>
        <p:nvSpPr>
          <p:cNvPr id="24" name="Shape 21"/>
          <p:cNvSpPr/>
          <p:nvPr/>
        </p:nvSpPr>
        <p:spPr>
          <a:xfrm>
            <a:off x="1057275" y="5621089"/>
            <a:ext cx="16173450" cy="705296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362075" y="5773489"/>
            <a:ext cx="10555034" cy="43859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zh-CN" alt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杯壁烫得我立刻收回了手</a:t>
            </a:r>
            <a:endParaRPr lang="zh-CN" sz="2175" dirty="0"/>
          </a:p>
        </p:txBody>
      </p:sp>
      <p:sp>
        <p:nvSpPr>
          <p:cNvPr id="26" name="Shape 23"/>
          <p:cNvSpPr/>
          <p:nvPr/>
        </p:nvSpPr>
        <p:spPr>
          <a:xfrm>
            <a:off x="11896725" y="5621089"/>
            <a:ext cx="9525" cy="705296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12211050" y="5773489"/>
            <a:ext cx="4874895" cy="43859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zh-CN" altLang="en-US" sz="2175" b="1" dirty="0">
                <a:solidFill>
                  <a:srgbClr val="D982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手摸到的</a:t>
            </a:r>
            <a:endParaRPr lang="zh-CN" sz="2175" dirty="0"/>
          </a:p>
        </p:txBody>
      </p:sp>
      <p:sp>
        <p:nvSpPr>
          <p:cNvPr id="28" name="Shape 25"/>
          <p:cNvSpPr/>
          <p:nvPr/>
        </p:nvSpPr>
        <p:spPr>
          <a:xfrm>
            <a:off x="1057275" y="6326386"/>
            <a:ext cx="16173450" cy="705296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1362075" y="6478786"/>
            <a:ext cx="10555034" cy="43859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zh-CN" alt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闻着有点青草味，又带着一丝药香</a:t>
            </a:r>
            <a:endParaRPr lang="zh-CN" sz="2175" dirty="0"/>
          </a:p>
        </p:txBody>
      </p:sp>
      <p:sp>
        <p:nvSpPr>
          <p:cNvPr id="30" name="Shape 27"/>
          <p:cNvSpPr/>
          <p:nvPr/>
        </p:nvSpPr>
        <p:spPr>
          <a:xfrm>
            <a:off x="11896725" y="6326386"/>
            <a:ext cx="9525" cy="705296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2211050" y="6478786"/>
            <a:ext cx="4874895" cy="43859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zh-CN" altLang="en-US" sz="2175" b="1" dirty="0">
                <a:solidFill>
                  <a:srgbClr val="8E5A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鼻子闻到的，说清是什么味道</a:t>
            </a:r>
            <a:endParaRPr lang="zh-CN" sz="2175" dirty="0"/>
          </a:p>
        </p:txBody>
      </p:sp>
      <p:sp>
        <p:nvSpPr>
          <p:cNvPr id="32" name="Shape 29"/>
          <p:cNvSpPr/>
          <p:nvPr/>
        </p:nvSpPr>
        <p:spPr>
          <a:xfrm>
            <a:off x="1057275" y="7031682"/>
            <a:ext cx="16173450" cy="705296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1362075" y="7184082"/>
            <a:ext cx="10555034" cy="43859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zh-CN" alt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刚喝到嘴里，感觉有点苦……咽下去后……透出一丝淡淡的甜味</a:t>
            </a:r>
            <a:endParaRPr lang="zh-CN" sz="2175" dirty="0"/>
          </a:p>
        </p:txBody>
      </p:sp>
      <p:sp>
        <p:nvSpPr>
          <p:cNvPr id="34" name="Shape 31"/>
          <p:cNvSpPr/>
          <p:nvPr/>
        </p:nvSpPr>
        <p:spPr>
          <a:xfrm>
            <a:off x="11896725" y="7031682"/>
            <a:ext cx="9525" cy="705296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12211050" y="7184082"/>
            <a:ext cx="4874895" cy="43859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zh-CN" altLang="en-US" sz="2175" b="1" dirty="0">
                <a:solidFill>
                  <a:srgbClr val="2E8B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嘴巴尝到的，也写出了变化</a:t>
            </a:r>
            <a:endParaRPr lang="zh-CN" sz="2175" dirty="0"/>
          </a:p>
        </p:txBody>
      </p:sp>
      <p:sp>
        <p:nvSpPr>
          <p:cNvPr id="36" name="Text 33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写小动物的同学，重点看前三行：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它是什么样、有什么变化、像什么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605" dirty="0"/>
          </a:p>
        </p:txBody>
      </p:sp>
      <p:pic>
        <p:nvPicPr>
          <p:cNvPr id="97" name="提示图标" descr="手指点击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00100" y="800100"/>
            <a:ext cx="16687800" cy="8686800"/>
          </a:xfrm>
          <a:prstGeom prst="roundRect">
            <a:avLst>
              <a:gd name="adj" fmla="val 1754"/>
            </a:avLst>
          </a:prstGeom>
          <a:solidFill>
            <a:srgbClr val="6E9E7A"/>
          </a:solidFill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038350" y="3181350"/>
            <a:ext cx="6286500" cy="21193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4250" b="1" dirty="0">
                <a:solidFill>
                  <a:srgbClr val="FFFFFF">
                    <a:alpha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4250" dirty="0"/>
          </a:p>
        </p:txBody>
      </p:sp>
      <p:sp>
        <p:nvSpPr>
          <p:cNvPr id="5" name="Text 3"/>
          <p:cNvSpPr/>
          <p:nvPr/>
        </p:nvSpPr>
        <p:spPr>
          <a:xfrm>
            <a:off x="2228850" y="5676900"/>
            <a:ext cx="14668500" cy="781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4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当堂写作与评改课</a:t>
            </a:r>
            <a:endParaRPr lang="zh-CN" sz="4500" dirty="0"/>
          </a:p>
        </p:txBody>
      </p:sp>
      <p:sp>
        <p:nvSpPr>
          <p:cNvPr id="6" name="Text 4"/>
          <p:cNvSpPr/>
          <p:nvPr/>
        </p:nvSpPr>
        <p:spPr>
          <a:xfrm>
            <a:off x="2247900" y="6572250"/>
            <a:ext cx="15716250" cy="4914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zh-CN" altLang="en-US" sz="2550" dirty="0">
                <a:solidFill>
                  <a:srgbClr val="FFFFFF">
                    <a:alpha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写第一组句子 · 自由写作 · 小组轮读 · 对照自改 · 同桌互改</a:t>
            </a:r>
            <a:endParaRPr lang="zh-CN" sz="2550" dirty="0"/>
          </a:p>
        </p:txBody>
      </p:sp>
      <p:sp>
        <p:nvSpPr>
          <p:cNvPr id="7" name="Shape 5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写作热身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E6F2E1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6711002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借助观察发现卡：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写下第一组句子</a:t>
            </a:r>
            <a:endParaRPr lang="zh-CN" sz="3205" dirty="0"/>
          </a:p>
        </p:txBody>
      </p:sp>
      <p:sp>
        <p:nvSpPr>
          <p:cNvPr id="7" name="Shape 4"/>
          <p:cNvSpPr/>
          <p:nvPr>
            <p:custDataLst>
              <p:tags r:id="rId2"/>
            </p:custDataLst>
          </p:nvPr>
        </p:nvSpPr>
        <p:spPr>
          <a:xfrm>
            <a:off x="1047750" y="2857500"/>
            <a:ext cx="2190750" cy="742950"/>
          </a:xfrm>
          <a:prstGeom prst="roundRect">
            <a:avLst>
              <a:gd name="adj" fmla="val 17949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8" name="Text 5"/>
          <p:cNvSpPr/>
          <p:nvPr>
            <p:custDataLst>
              <p:tags r:id="rId3"/>
            </p:custDataLst>
          </p:nvPr>
        </p:nvSpPr>
        <p:spPr>
          <a:xfrm>
            <a:off x="938212" y="3028950"/>
            <a:ext cx="240982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交代</a:t>
            </a:r>
            <a:endParaRPr lang="zh-CN" sz="2400" dirty="0"/>
          </a:p>
        </p:txBody>
      </p:sp>
      <p:sp>
        <p:nvSpPr>
          <p:cNvPr id="9" name="Text 6"/>
          <p:cNvSpPr/>
          <p:nvPr>
            <p:custDataLst>
              <p:tags r:id="rId4"/>
            </p:custDataLst>
          </p:nvPr>
        </p:nvSpPr>
        <p:spPr>
          <a:xfrm>
            <a:off x="3486150" y="3001119"/>
            <a:ext cx="13830300" cy="4938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4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开头空两格，用一句话交代观察的是什么。</a:t>
            </a:r>
            <a:r>
              <a:rPr lang="zh-CN" altLang="en-US" sz="24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如“楼下那只花猫，我天天上学都能碰见。”</a:t>
            </a:r>
            <a:endParaRPr lang="zh-CN" sz="2475" dirty="0"/>
          </a:p>
        </p:txBody>
      </p:sp>
      <p:sp>
        <p:nvSpPr>
          <p:cNvPr id="10" name="Shape 7"/>
          <p:cNvSpPr/>
          <p:nvPr>
            <p:custDataLst>
              <p:tags r:id="rId5"/>
            </p:custDataLst>
          </p:nvPr>
        </p:nvSpPr>
        <p:spPr>
          <a:xfrm>
            <a:off x="1047750" y="3848100"/>
            <a:ext cx="2190750" cy="742950"/>
          </a:xfrm>
          <a:prstGeom prst="roundRect">
            <a:avLst>
              <a:gd name="adj" fmla="val 17949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1" name="Text 8"/>
          <p:cNvSpPr/>
          <p:nvPr>
            <p:custDataLst>
              <p:tags r:id="rId6"/>
            </p:custDataLst>
          </p:nvPr>
        </p:nvSpPr>
        <p:spPr>
          <a:xfrm>
            <a:off x="938212" y="4019550"/>
            <a:ext cx="240982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写样子</a:t>
            </a:r>
            <a:endParaRPr lang="zh-CN" sz="2400" dirty="0"/>
          </a:p>
        </p:txBody>
      </p:sp>
      <p:sp>
        <p:nvSpPr>
          <p:cNvPr id="12" name="Text 9"/>
          <p:cNvSpPr/>
          <p:nvPr>
            <p:custDataLst>
              <p:tags r:id="rId7"/>
            </p:custDataLst>
          </p:nvPr>
        </p:nvSpPr>
        <p:spPr>
          <a:xfrm>
            <a:off x="3486150" y="3991719"/>
            <a:ext cx="10026968" cy="4938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4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写圈出的第一处：在它身上的什么部位，</a:t>
            </a:r>
            <a:r>
              <a:rPr lang="zh-CN" altLang="en-US" sz="24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是什么颜色、什么形状</a:t>
            </a:r>
            <a:r>
              <a:rPr lang="zh-CN" altLang="en-US" sz="24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475" dirty="0"/>
          </a:p>
        </p:txBody>
      </p:sp>
      <p:sp>
        <p:nvSpPr>
          <p:cNvPr id="13" name="Shape 10"/>
          <p:cNvSpPr/>
          <p:nvPr>
            <p:custDataLst>
              <p:tags r:id="rId8"/>
            </p:custDataLst>
          </p:nvPr>
        </p:nvSpPr>
        <p:spPr>
          <a:xfrm>
            <a:off x="1047750" y="4838700"/>
            <a:ext cx="2190750" cy="742950"/>
          </a:xfrm>
          <a:prstGeom prst="roundRect">
            <a:avLst>
              <a:gd name="adj" fmla="val 17949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4" name="Text 11"/>
          <p:cNvSpPr/>
          <p:nvPr>
            <p:custDataLst>
              <p:tags r:id="rId9"/>
            </p:custDataLst>
          </p:nvPr>
        </p:nvSpPr>
        <p:spPr>
          <a:xfrm>
            <a:off x="938212" y="5010150"/>
            <a:ext cx="240982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加一句</a:t>
            </a:r>
            <a:endParaRPr lang="zh-CN" sz="2400" dirty="0"/>
          </a:p>
        </p:txBody>
      </p:sp>
      <p:sp>
        <p:nvSpPr>
          <p:cNvPr id="15" name="Text 12"/>
          <p:cNvSpPr/>
          <p:nvPr>
            <p:custDataLst>
              <p:tags r:id="rId10"/>
            </p:custDataLst>
          </p:nvPr>
        </p:nvSpPr>
        <p:spPr>
          <a:xfrm>
            <a:off x="3486150" y="4982319"/>
            <a:ext cx="9681210" cy="4938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4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</a:t>
            </a:r>
            <a:r>
              <a:rPr lang="zh-CN" altLang="en-US" sz="2475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像什么</a:t>
            </a:r>
            <a:r>
              <a:rPr lang="zh-CN" altLang="en-US" sz="24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，或者耳朵听到、手摸到、鼻子闻到、嘴巴尝到什么。</a:t>
            </a:r>
            <a:endParaRPr lang="zh-CN" sz="2475" dirty="0"/>
          </a:p>
        </p:txBody>
      </p:sp>
      <p:sp>
        <p:nvSpPr>
          <p:cNvPr id="16" name="Shape 13"/>
          <p:cNvSpPr/>
          <p:nvPr>
            <p:custDataLst>
              <p:tags r:id="rId11"/>
            </p:custDataLst>
          </p:nvPr>
        </p:nvSpPr>
        <p:spPr>
          <a:xfrm>
            <a:off x="1047750" y="5829300"/>
            <a:ext cx="2190750" cy="742950"/>
          </a:xfrm>
          <a:prstGeom prst="roundRect">
            <a:avLst>
              <a:gd name="adj" fmla="val 17949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7" name="Text 14"/>
          <p:cNvSpPr/>
          <p:nvPr>
            <p:custDataLst>
              <p:tags r:id="rId12"/>
            </p:custDataLst>
          </p:nvPr>
        </p:nvSpPr>
        <p:spPr>
          <a:xfrm>
            <a:off x="938212" y="6000750"/>
            <a:ext cx="240982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写变化</a:t>
            </a:r>
            <a:endParaRPr lang="zh-CN" sz="2400" dirty="0"/>
          </a:p>
        </p:txBody>
      </p:sp>
      <p:sp>
        <p:nvSpPr>
          <p:cNvPr id="18" name="Text 15"/>
          <p:cNvSpPr/>
          <p:nvPr>
            <p:custDataLst>
              <p:tags r:id="rId13"/>
            </p:custDataLst>
          </p:nvPr>
        </p:nvSpPr>
        <p:spPr>
          <a:xfrm>
            <a:off x="3486150" y="5972919"/>
            <a:ext cx="14176058" cy="4938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4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如果这一处会变，就用</a:t>
            </a:r>
            <a:r>
              <a:rPr lang="zh-CN" altLang="en-US" sz="24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刚开始、过了一会儿、最后</a:t>
            </a:r>
            <a:r>
              <a:rPr lang="zh-CN" altLang="en-US" sz="24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各写一句。</a:t>
            </a:r>
            <a:r>
              <a:rPr lang="zh-CN" altLang="en-US" sz="24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没有变化的，这一步不必写。</a:t>
            </a:r>
            <a:endParaRPr lang="zh-CN" sz="2475" dirty="0"/>
          </a:p>
        </p:txBody>
      </p:sp>
      <p:sp>
        <p:nvSpPr>
          <p:cNvPr id="19" name="Shape 16"/>
          <p:cNvSpPr/>
          <p:nvPr/>
        </p:nvSpPr>
        <p:spPr>
          <a:xfrm>
            <a:off x="1047750" y="8053387"/>
            <a:ext cx="11247120" cy="900113"/>
          </a:xfrm>
          <a:prstGeom prst="roundRect">
            <a:avLst>
              <a:gd name="adj" fmla="val 16931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428750" y="8281987"/>
            <a:ext cx="10789920" cy="4810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325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上节课</a:t>
            </a:r>
            <a:r>
              <a:rPr lang="zh-CN" altLang="en-US" sz="2325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练习说过</a:t>
            </a:r>
            <a:r>
              <a:rPr lang="zh-CN" altLang="en-US" sz="2325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两句</a:t>
            </a:r>
            <a:r>
              <a:rPr lang="zh-CN" altLang="en-US" sz="2325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话</a:t>
            </a:r>
            <a:r>
              <a:rPr lang="zh-CN" altLang="en-US" sz="2325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，如果正好</a:t>
            </a:r>
            <a:r>
              <a:rPr lang="zh-CN" altLang="en-US" sz="2325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</a:t>
            </a:r>
            <a:r>
              <a:rPr lang="zh-CN" altLang="en-US" sz="2325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的是这一处，就</a:t>
            </a:r>
            <a:r>
              <a:rPr lang="zh-CN" alt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写到</a:t>
            </a:r>
            <a:r>
              <a:rPr lang="zh-CN" alt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稿纸上，接着往下写</a:t>
            </a:r>
            <a:r>
              <a:rPr lang="zh-CN" altLang="en-US" sz="2325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325" dirty="0"/>
          </a:p>
        </p:txBody>
      </p:sp>
      <p:sp>
        <p:nvSpPr>
          <p:cNvPr id="21" name="Text 18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这几句，就是这篇习作的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第一段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605" dirty="0"/>
          </a:p>
        </p:txBody>
      </p:sp>
      <p:pic>
        <p:nvPicPr>
          <p:cNvPr id="60" name="插图" descr="抠-P27-b0b8188518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984428" y="6492240"/>
            <a:ext cx="4846423" cy="3566160"/>
          </a:xfrm>
          <a:prstGeom prst="rect">
            <a:avLst/>
          </a:prstGeom>
        </p:spPr>
      </p:pic>
      <p:pic>
        <p:nvPicPr>
          <p:cNvPr id="61" name="提示图标" descr="手指点击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62" name="吉祥物" descr="抠-吉祥物-ad495431f4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938760" y="341947"/>
            <a:ext cx="1533448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自由写作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E6F2E1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4921314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把习作写完：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记住三件事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051560" y="2857500"/>
            <a:ext cx="3611880" cy="3840480"/>
          </a:xfrm>
          <a:prstGeom prst="roundRect">
            <a:avLst>
              <a:gd name="adj" fmla="val 4737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26463" y="3200400"/>
            <a:ext cx="2926080" cy="800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5000"/>
              </a:lnSpc>
              <a:buNone/>
            </a:pPr>
            <a:r>
              <a:rPr lang="zh-CN" altLang="en-US" sz="60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</a:t>
            </a:r>
            <a:endParaRPr lang="zh-CN" sz="6000" dirty="0"/>
          </a:p>
        </p:txBody>
      </p:sp>
      <p:sp>
        <p:nvSpPr>
          <p:cNvPr id="9" name="Text 6"/>
          <p:cNvSpPr/>
          <p:nvPr/>
        </p:nvSpPr>
        <p:spPr>
          <a:xfrm>
            <a:off x="1426463" y="4171950"/>
            <a:ext cx="3017520" cy="21945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4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重点写卡上</a:t>
            </a:r>
            <a:r>
              <a:rPr lang="zh-CN" altLang="en-US" sz="24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圈出的一两处</a:t>
            </a:r>
            <a:r>
              <a:rPr lang="zh-CN" altLang="en-US" sz="24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，其他看到的一句带过，也可以不写</a:t>
            </a:r>
            <a:endParaRPr lang="zh-CN" sz="2475" dirty="0"/>
          </a:p>
        </p:txBody>
      </p:sp>
      <p:sp>
        <p:nvSpPr>
          <p:cNvPr id="10" name="Shape 7"/>
          <p:cNvSpPr/>
          <p:nvPr/>
        </p:nvSpPr>
        <p:spPr>
          <a:xfrm>
            <a:off x="4892040" y="2857500"/>
            <a:ext cx="3611880" cy="3840480"/>
          </a:xfrm>
          <a:prstGeom prst="roundRect">
            <a:avLst>
              <a:gd name="adj" fmla="val 4737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266944" y="3200400"/>
            <a:ext cx="2926080" cy="800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5000"/>
              </a:lnSpc>
              <a:buNone/>
            </a:pPr>
            <a:r>
              <a:rPr lang="zh-CN" altLang="en-US" sz="60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</a:t>
            </a:r>
            <a:endParaRPr lang="zh-CN" sz="6000" dirty="0"/>
          </a:p>
        </p:txBody>
      </p:sp>
      <p:sp>
        <p:nvSpPr>
          <p:cNvPr id="12" name="Text 9"/>
          <p:cNvSpPr/>
          <p:nvPr/>
        </p:nvSpPr>
        <p:spPr>
          <a:xfrm>
            <a:off x="5266944" y="4171950"/>
            <a:ext cx="3017520" cy="21945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4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先写它的样子，再加上它</a:t>
            </a:r>
            <a:r>
              <a:rPr lang="zh-CN" altLang="en-US" sz="24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像什么</a:t>
            </a:r>
            <a:r>
              <a:rPr lang="zh-CN" altLang="en-US" sz="24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，或者听到、摸到、闻到、尝到的感觉</a:t>
            </a:r>
            <a:endParaRPr lang="zh-CN" sz="2475" dirty="0"/>
          </a:p>
        </p:txBody>
      </p:sp>
      <p:sp>
        <p:nvSpPr>
          <p:cNvPr id="13" name="Shape 10"/>
          <p:cNvSpPr/>
          <p:nvPr/>
        </p:nvSpPr>
        <p:spPr>
          <a:xfrm>
            <a:off x="8732520" y="2857500"/>
            <a:ext cx="3611880" cy="3840480"/>
          </a:xfrm>
          <a:prstGeom prst="roundRect">
            <a:avLst>
              <a:gd name="adj" fmla="val 4737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107424" y="3200400"/>
            <a:ext cx="2926080" cy="800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5000"/>
              </a:lnSpc>
              <a:buNone/>
            </a:pPr>
            <a:r>
              <a:rPr lang="zh-CN" altLang="en-US" sz="60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</a:t>
            </a:r>
            <a:endParaRPr lang="zh-CN" sz="6000" dirty="0"/>
          </a:p>
        </p:txBody>
      </p:sp>
      <p:sp>
        <p:nvSpPr>
          <p:cNvPr id="15" name="Text 12"/>
          <p:cNvSpPr/>
          <p:nvPr/>
        </p:nvSpPr>
        <p:spPr>
          <a:xfrm>
            <a:off x="9107424" y="4171950"/>
            <a:ext cx="3017520" cy="21945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4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短时间内能看完的变化，用</a:t>
            </a:r>
            <a:r>
              <a:rPr lang="zh-CN" altLang="en-US" sz="24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刚开始、过了一会儿、最后</a:t>
            </a:r>
            <a:endParaRPr lang="zh-CN" sz="2475" dirty="0"/>
          </a:p>
        </p:txBody>
      </p:sp>
      <p:sp>
        <p:nvSpPr>
          <p:cNvPr id="16" name="Text 13"/>
          <p:cNvSpPr/>
          <p:nvPr/>
        </p:nvSpPr>
        <p:spPr>
          <a:xfrm>
            <a:off x="1047750" y="8181975"/>
            <a:ext cx="12252960" cy="923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32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写错了不必擦，</a:t>
            </a:r>
            <a:r>
              <a:rPr lang="zh-CN" alt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接着往下写</a:t>
            </a:r>
            <a:r>
              <a:rPr lang="zh-CN" altLang="en-US" sz="232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，修改留到后面再做。写到结尾，用一句话写观察它之后的感受。</a:t>
            </a:r>
            <a:endParaRPr lang="zh-CN" sz="2325" dirty="0"/>
          </a:p>
        </p:txBody>
      </p:sp>
      <p:sp>
        <p:nvSpPr>
          <p:cNvPr id="17" name="Shape 14"/>
          <p:cNvSpPr/>
          <p:nvPr/>
        </p:nvSpPr>
        <p:spPr>
          <a:xfrm>
            <a:off x="13114734" y="8820150"/>
            <a:ext cx="4125516" cy="800100"/>
          </a:xfrm>
          <a:prstGeom prst="roundRect">
            <a:avLst>
              <a:gd name="adj" fmla="val 19048"/>
            </a:avLst>
          </a:prstGeom>
          <a:solidFill>
            <a:srgbClr val="C0392B"/>
          </a:solidFill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3457634" y="8991600"/>
            <a:ext cx="3783687" cy="495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⏱ 写作时间约 20 分钟</a:t>
            </a:r>
            <a:endParaRPr lang="zh-CN" sz="2700" dirty="0"/>
          </a:p>
        </p:txBody>
      </p:sp>
      <p:pic>
        <p:nvPicPr>
          <p:cNvPr id="47" name="插图" descr="抠-P28-5e2046f1d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75920" y="4959705"/>
            <a:ext cx="5120640" cy="3622852"/>
          </a:xfrm>
          <a:prstGeom prst="rect">
            <a:avLst/>
          </a:prstGeom>
        </p:spPr>
      </p:pic>
      <p:pic>
        <p:nvPicPr>
          <p:cNvPr id="48" name="吉祥物" descr="抠-吉祥物-ad495431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8760" y="341947"/>
            <a:ext cx="1533448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自由写作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13114734" y="8820150"/>
            <a:ext cx="4125516" cy="800100"/>
          </a:xfrm>
          <a:prstGeom prst="roundRect">
            <a:avLst>
              <a:gd name="adj" fmla="val 19048"/>
            </a:avLst>
          </a:prstGeom>
          <a:solidFill>
            <a:srgbClr val="C0392B"/>
          </a:solidFill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3457634" y="8991600"/>
            <a:ext cx="3783687" cy="495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⏱ 写作时间约 20 分钟</a:t>
            </a:r>
            <a:endParaRPr lang="zh-CN" sz="2700" dirty="0"/>
          </a:p>
        </p:txBody>
      </p:sp>
      <p:pic>
        <p:nvPicPr>
          <p:cNvPr id="19" name="稿纸" descr="稿纸-25b16743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6112" y="1399032"/>
            <a:ext cx="12155774" cy="71963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交流评议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E6F2E1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6263580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四人一组：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读重点写的那一两处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95275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217861" y="3028950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800225" y="3009900"/>
            <a:ext cx="6180773" cy="52149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轮流读自己重点写的那几句，</a:t>
            </a:r>
            <a:r>
              <a:rPr lang="zh-CN" alt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不必读全篇</a:t>
            </a:r>
            <a:endParaRPr lang="zh-CN" sz="2625" dirty="0"/>
          </a:p>
        </p:txBody>
      </p:sp>
      <p:sp>
        <p:nvSpPr>
          <p:cNvPr id="10" name="Shape 7"/>
          <p:cNvSpPr/>
          <p:nvPr/>
        </p:nvSpPr>
        <p:spPr>
          <a:xfrm>
            <a:off x="1047750" y="3836194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217861" y="3912394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800225" y="3893185"/>
            <a:ext cx="6132195" cy="5213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读完，其余三位同学</a:t>
            </a:r>
            <a:r>
              <a:rPr lang="zh-CN" alt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每人说出一处</a:t>
            </a:r>
            <a:endParaRPr lang="zh-CN" sz="2625" dirty="0"/>
          </a:p>
        </p:txBody>
      </p:sp>
      <p:sp>
        <p:nvSpPr>
          <p:cNvPr id="13" name="Shape 10"/>
          <p:cNvSpPr/>
          <p:nvPr/>
        </p:nvSpPr>
        <p:spPr>
          <a:xfrm>
            <a:off x="1047750" y="4719638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217861" y="4795838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800225" y="4777105"/>
            <a:ext cx="10393680" cy="10052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三位同学都说不出，也不必勉强：修改时，把这一处</a:t>
            </a:r>
            <a:r>
              <a:rPr lang="zh-CN" alt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再写详细一些</a:t>
            </a:r>
            <a:endParaRPr lang="zh-CN" sz="2625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09268" y="2651760"/>
            <a:ext cx="5225142" cy="41148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047750" y="6858000"/>
            <a:ext cx="16192500" cy="1343025"/>
          </a:xfrm>
          <a:prstGeom prst="roundRect">
            <a:avLst>
              <a:gd name="adj" fmla="val 11348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1428750" y="7086600"/>
            <a:ext cx="15893415" cy="923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32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听的同学说出一处：</a:t>
            </a:r>
            <a:r>
              <a:rPr lang="zh-CN" altLang="en-US" sz="2325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他写的哪一处，你在自己观察的小动物身上</a:t>
            </a:r>
            <a:r>
              <a:rPr lang="zh-CN" alt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也见过却没留意</a:t>
            </a:r>
            <a:r>
              <a:rPr lang="zh-CN" altLang="en-US" sz="2325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；或者哪一处，是你</a:t>
            </a:r>
            <a:r>
              <a:rPr lang="zh-CN" alt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没想到可以写下来的</a:t>
            </a:r>
            <a:r>
              <a:rPr lang="zh-CN" altLang="en-US" sz="2325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325" dirty="0"/>
          </a:p>
        </p:txBody>
      </p:sp>
      <p:sp>
        <p:nvSpPr>
          <p:cNvPr id="19" name="Text 15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能说出一处，就说明他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看得仔细，也写清楚了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605" dirty="0"/>
          </a:p>
        </p:txBody>
      </p:sp>
      <p:pic>
        <p:nvPicPr>
          <p:cNvPr id="49" name="提示图标" descr="手指点击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50" name="吉祥物" descr="抠-吉祥物-ad495431f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760" y="341947"/>
            <a:ext cx="1533448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交流评议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E6F2E1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7636154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各组推选一处：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组里同学最没想到的发现</a:t>
            </a:r>
            <a:endParaRPr lang="zh-CN" sz="3205" dirty="0"/>
          </a:p>
        </p:txBody>
      </p:sp>
      <p:sp>
        <p:nvSpPr>
          <p:cNvPr id="7" name="Text 4"/>
          <p:cNvSpPr/>
          <p:nvPr/>
        </p:nvSpPr>
        <p:spPr>
          <a:xfrm>
            <a:off x="1047750" y="2857500"/>
            <a:ext cx="17811750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32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由作者把那几句读给全班听。老师这样点评：</a:t>
            </a:r>
            <a:endParaRPr lang="zh-CN" sz="2325" dirty="0"/>
          </a:p>
        </p:txBody>
      </p:sp>
      <p:sp>
        <p:nvSpPr>
          <p:cNvPr id="8" name="Shape 5"/>
          <p:cNvSpPr/>
          <p:nvPr/>
        </p:nvSpPr>
        <p:spPr>
          <a:xfrm>
            <a:off x="1047750" y="3524250"/>
            <a:ext cx="7886700" cy="2194471"/>
          </a:xfrm>
          <a:prstGeom prst="roundRect">
            <a:avLst>
              <a:gd name="adj" fmla="val 12153"/>
            </a:avLst>
          </a:prstGeom>
          <a:solidFill>
            <a:srgbClr val="EAF1FB"/>
          </a:solidFill>
          <a:ln w="19050">
            <a:solidFill>
              <a:srgbClr val="C3D6F0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733550" y="5680621"/>
            <a:ext cx="457200" cy="285750"/>
          </a:xfrm>
          <a:prstGeom prst="rect">
            <a:avLst/>
          </a:prstGeom>
          <a:solidFill>
            <a:srgbClr val="EAF1FB"/>
          </a:solidFill>
        </p:spPr>
        <p:txBody>
          <a:bodyPr/>
          <a:p/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550" y="5680621"/>
            <a:ext cx="457200" cy="2857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6850" y="3867150"/>
            <a:ext cx="7259955" cy="10438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zh-CN" altLang="en-US" sz="24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“他写那只猫的耳朵缺了一个角，转过头来像被剪过一刀，</a:t>
            </a:r>
            <a:r>
              <a:rPr lang="zh-CN" altLang="en-US" sz="24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这一处只有他的猫才有</a:t>
            </a:r>
            <a:r>
              <a:rPr lang="zh-CN" altLang="en-US" sz="24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。”</a:t>
            </a:r>
            <a:endParaRPr lang="zh-CN" sz="2475" dirty="0"/>
          </a:p>
        </p:txBody>
      </p:sp>
      <p:sp>
        <p:nvSpPr>
          <p:cNvPr id="12" name="Shape 8"/>
          <p:cNvSpPr/>
          <p:nvPr/>
        </p:nvSpPr>
        <p:spPr>
          <a:xfrm>
            <a:off x="9353550" y="3524250"/>
            <a:ext cx="7886700" cy="2194471"/>
          </a:xfrm>
          <a:prstGeom prst="roundRect">
            <a:avLst>
              <a:gd name="adj" fmla="val 12153"/>
            </a:avLst>
          </a:prstGeom>
          <a:solidFill>
            <a:srgbClr val="EAF1FB"/>
          </a:solidFill>
          <a:ln w="19050">
            <a:solidFill>
              <a:srgbClr val="C3D6F0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10039350" y="5680621"/>
            <a:ext cx="457200" cy="285750"/>
          </a:xfrm>
          <a:prstGeom prst="rect">
            <a:avLst/>
          </a:prstGeom>
          <a:solidFill>
            <a:srgbClr val="EAF1FB"/>
          </a:solidFill>
        </p:spPr>
        <p:txBody>
          <a:bodyPr/>
          <a:p/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9350" y="5680621"/>
            <a:ext cx="457200" cy="2857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772650" y="3867150"/>
            <a:ext cx="7259955" cy="15467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zh-CN" altLang="en-US" sz="24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“她写家里两条金鱼抢食，抢到食的那一条贴着缸底不动，尾巴还一下一下地摆。</a:t>
            </a:r>
            <a:r>
              <a:rPr lang="zh-CN" altLang="en-US" sz="24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这一幕很多人见过，可是只有她写了下来</a:t>
            </a:r>
            <a:r>
              <a:rPr lang="zh-CN" altLang="en-US" sz="24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。”</a:t>
            </a:r>
            <a:endParaRPr lang="zh-CN" sz="2475" dirty="0"/>
          </a:p>
        </p:txBody>
      </p:sp>
      <p:sp>
        <p:nvSpPr>
          <p:cNvPr id="16" name="Shape 11"/>
          <p:cNvSpPr/>
          <p:nvPr/>
        </p:nvSpPr>
        <p:spPr>
          <a:xfrm>
            <a:off x="1047750" y="8092440"/>
            <a:ext cx="16192500" cy="1059061"/>
          </a:xfrm>
          <a:prstGeom prst="roundRect">
            <a:avLst>
              <a:gd name="adj" fmla="val 16189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/>
          <p:nvPr/>
        </p:nvSpPr>
        <p:spPr>
          <a:xfrm>
            <a:off x="1466850" y="8375904"/>
            <a:ext cx="16889730" cy="52566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写的都是身边的小动物，读出来的发现却各不相同：同样的事物，每个人看到的都不一样，</a:t>
            </a:r>
            <a:r>
              <a:rPr lang="zh-CN" alt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看得越仔细，发现就越多</a:t>
            </a: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400" dirty="0"/>
          </a:p>
        </p:txBody>
      </p:sp>
      <p:sp>
        <p:nvSpPr>
          <p:cNvPr id="18" name="Text 13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这就是题目所说的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“我们眼中的缤纷世界”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605" dirty="0"/>
          </a:p>
        </p:txBody>
      </p:sp>
      <p:pic>
        <p:nvPicPr>
          <p:cNvPr id="49" name="插图" descr="抠-P31a-7948d09eb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3550" y="5095875"/>
            <a:ext cx="2327910" cy="2754630"/>
          </a:xfrm>
          <a:prstGeom prst="rect">
            <a:avLst/>
          </a:prstGeom>
        </p:spPr>
      </p:pic>
      <p:pic>
        <p:nvPicPr>
          <p:cNvPr id="50" name="插图" descr="抠-P31b-8dd9d33c3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6550" y="5248910"/>
            <a:ext cx="2538095" cy="2697480"/>
          </a:xfrm>
          <a:prstGeom prst="rect">
            <a:avLst/>
          </a:prstGeom>
        </p:spPr>
      </p:pic>
      <p:pic>
        <p:nvPicPr>
          <p:cNvPr id="55" name="提示图标" descr="手指点击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56" name="吉祥物" descr="抠-吉祥物-ad495431f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38760" y="341947"/>
            <a:ext cx="1533448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修改收束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9188196" cy="833755"/>
          </a:xfrm>
          <a:prstGeom prst="roundRect">
            <a:avLst>
              <a:gd name="adj" fmla="val 22857"/>
            </a:avLst>
          </a:prstGeom>
          <a:solidFill>
            <a:srgbClr val="E6F2E1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8449056" cy="5670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对照三档自检：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达到哪一档，就按哪一档修改</a:t>
            </a:r>
            <a:endParaRPr lang="zh-CN" sz="3205" dirty="0"/>
          </a:p>
        </p:txBody>
      </p:sp>
      <p:sp>
        <p:nvSpPr>
          <p:cNvPr id="7" name="Text 4"/>
          <p:cNvSpPr/>
          <p:nvPr/>
        </p:nvSpPr>
        <p:spPr>
          <a:xfrm>
            <a:off x="1390650" y="2762250"/>
            <a:ext cx="1125855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25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自检要点</a:t>
            </a:r>
            <a:endParaRPr lang="zh-CN" sz="2250" dirty="0"/>
          </a:p>
        </p:txBody>
      </p:sp>
      <p:sp>
        <p:nvSpPr>
          <p:cNvPr id="8" name="Text 5"/>
          <p:cNvSpPr/>
          <p:nvPr/>
        </p:nvSpPr>
        <p:spPr>
          <a:xfrm>
            <a:off x="12172950" y="2762250"/>
            <a:ext cx="533400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25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按这一档修改</a:t>
            </a:r>
            <a:endParaRPr lang="zh-CN" sz="2250" dirty="0"/>
          </a:p>
        </p:txBody>
      </p:sp>
      <p:sp>
        <p:nvSpPr>
          <p:cNvPr id="9" name="Shape 6"/>
          <p:cNvSpPr/>
          <p:nvPr/>
        </p:nvSpPr>
        <p:spPr>
          <a:xfrm>
            <a:off x="1047750" y="3333750"/>
            <a:ext cx="16192500" cy="1126629"/>
          </a:xfrm>
          <a:prstGeom prst="roundRect">
            <a:avLst>
              <a:gd name="adj" fmla="val 8454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1047750" y="3333750"/>
            <a:ext cx="76200" cy="1126629"/>
          </a:xfrm>
          <a:prstGeom prst="rect">
            <a:avLst/>
          </a:prstGeom>
          <a:solidFill>
            <a:srgbClr val="9AA6B6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390650" y="3524250"/>
            <a:ext cx="11273790" cy="41091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0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基础</a:t>
            </a:r>
            <a:r>
              <a:rPr lang="zh-CN" altLang="en-US" sz="20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我写出了观察到的事物，写了它的颜色和样子。</a:t>
            </a:r>
            <a:endParaRPr lang="zh-CN" sz="2025" dirty="0"/>
          </a:p>
        </p:txBody>
      </p:sp>
      <p:sp>
        <p:nvSpPr>
          <p:cNvPr id="12" name="Shape 9"/>
          <p:cNvSpPr/>
          <p:nvPr/>
        </p:nvSpPr>
        <p:spPr>
          <a:xfrm>
            <a:off x="11906250" y="3333750"/>
            <a:ext cx="9525" cy="1126629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2182475" y="3524250"/>
            <a:ext cx="4934807" cy="783729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02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给这一处再加一句：听到、摸到、闻到的，或者</a:t>
            </a:r>
            <a:r>
              <a:rPr lang="zh-CN" altLang="en-US" sz="20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它像什么</a:t>
            </a:r>
            <a:r>
              <a:rPr lang="zh-CN" altLang="en-US" sz="202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，做到一种即可。</a:t>
            </a:r>
            <a:endParaRPr lang="zh-CN" sz="2025" dirty="0"/>
          </a:p>
        </p:txBody>
      </p:sp>
      <p:sp>
        <p:nvSpPr>
          <p:cNvPr id="14" name="Shape 11"/>
          <p:cNvSpPr/>
          <p:nvPr/>
        </p:nvSpPr>
        <p:spPr>
          <a:xfrm>
            <a:off x="1047750" y="4631829"/>
            <a:ext cx="16192500" cy="1126629"/>
          </a:xfrm>
          <a:prstGeom prst="roundRect">
            <a:avLst>
              <a:gd name="adj" fmla="val 8454"/>
            </a:avLst>
          </a:prstGeom>
          <a:solidFill>
            <a:srgbClr val="FBF3E6"/>
          </a:solidFill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1047750" y="4631829"/>
            <a:ext cx="76200" cy="1126629"/>
          </a:xfrm>
          <a:prstGeom prst="rect">
            <a:avLst/>
          </a:prstGeom>
          <a:solidFill>
            <a:srgbClr val="E0A43B"/>
          </a:solidFill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390650" y="4822329"/>
            <a:ext cx="10556367" cy="783729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0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良好 </a:t>
            </a:r>
            <a:r>
              <a:rPr lang="zh-CN" altLang="en-US" sz="20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我选了一两处印象最深的写清楚了：除了样子，还写了耳朵听到、手摸到、鼻子闻到中的一种，或者写了一句它像什么；句子读得通。</a:t>
            </a:r>
            <a:endParaRPr lang="zh-CN" sz="2025" dirty="0"/>
          </a:p>
        </p:txBody>
      </p:sp>
      <p:sp>
        <p:nvSpPr>
          <p:cNvPr id="17" name="Shape 14"/>
          <p:cNvSpPr/>
          <p:nvPr/>
        </p:nvSpPr>
        <p:spPr>
          <a:xfrm>
            <a:off x="11906250" y="4631829"/>
            <a:ext cx="9525" cy="1126629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2182475" y="4822329"/>
            <a:ext cx="4934807" cy="783729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02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把另一种也补上；这一处会变，就</a:t>
            </a:r>
            <a:r>
              <a:rPr lang="zh-CN" altLang="en-US" sz="20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写出它的变化</a:t>
            </a:r>
            <a:r>
              <a:rPr lang="zh-CN" altLang="en-US" sz="202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025" dirty="0"/>
          </a:p>
        </p:txBody>
      </p:sp>
      <p:sp>
        <p:nvSpPr>
          <p:cNvPr id="19" name="Shape 16"/>
          <p:cNvSpPr/>
          <p:nvPr/>
        </p:nvSpPr>
        <p:spPr>
          <a:xfrm>
            <a:off x="1047750" y="5929908"/>
            <a:ext cx="16192500" cy="1499443"/>
          </a:xfrm>
          <a:prstGeom prst="roundRect">
            <a:avLst>
              <a:gd name="adj" fmla="val 6352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47750" y="5929908"/>
            <a:ext cx="76200" cy="1499443"/>
          </a:xfrm>
          <a:prstGeom prst="rect">
            <a:avLst/>
          </a:prstGeom>
          <a:solidFill>
            <a:srgbClr val="C0392B"/>
          </a:solidFill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390650" y="6120408"/>
            <a:ext cx="10556367" cy="115654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0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优秀 </a:t>
            </a:r>
            <a:r>
              <a:rPr lang="zh-CN" altLang="en-US" sz="20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我写的那一两处，同组同学说得出一处：他在自己观察的小动物身上也见过却没留意的，或者他没想到还能写下来的；感官用上了两种以上，或者写出了它的变化，一步一步说清楚了。</a:t>
            </a:r>
            <a:endParaRPr lang="zh-CN" sz="2025" dirty="0"/>
          </a:p>
        </p:txBody>
      </p:sp>
      <p:sp>
        <p:nvSpPr>
          <p:cNvPr id="22" name="Shape 19"/>
          <p:cNvSpPr/>
          <p:nvPr/>
        </p:nvSpPr>
        <p:spPr>
          <a:xfrm>
            <a:off x="11906250" y="5929908"/>
            <a:ext cx="9525" cy="1499443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2182475" y="6120408"/>
            <a:ext cx="5270183" cy="41091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02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这几句</a:t>
            </a:r>
            <a:r>
              <a:rPr lang="zh-CN" altLang="en-US" sz="20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不必改动</a:t>
            </a:r>
            <a:r>
              <a:rPr lang="zh-CN" altLang="en-US" sz="202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025" dirty="0"/>
          </a:p>
        </p:txBody>
      </p:sp>
      <p:sp>
        <p:nvSpPr>
          <p:cNvPr id="24" name="Text 21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没有写完的同学，先用一两句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把没写的那一处补上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，再对照这三档。</a:t>
            </a:r>
            <a:endParaRPr lang="zh-CN" sz="2605" dirty="0"/>
          </a:p>
        </p:txBody>
      </p:sp>
      <p:pic>
        <p:nvPicPr>
          <p:cNvPr id="25" name="提示图标" descr="手指点击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修改收束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E6F2E1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5816158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自己改一遍，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再请同桌读一遍</a:t>
            </a:r>
            <a:endParaRPr lang="zh-CN" sz="3205" dirty="0"/>
          </a:p>
        </p:txBody>
      </p:sp>
      <p:sp>
        <p:nvSpPr>
          <p:cNvPr id="7" name="Text 4"/>
          <p:cNvSpPr/>
          <p:nvPr/>
        </p:nvSpPr>
        <p:spPr>
          <a:xfrm>
            <a:off x="1047750" y="2857500"/>
            <a:ext cx="8172450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75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用修改符号自改（3 分钟）</a:t>
            </a:r>
            <a:endParaRPr lang="zh-CN" sz="2475" dirty="0"/>
          </a:p>
        </p:txBody>
      </p:sp>
      <p:sp>
        <p:nvSpPr>
          <p:cNvPr id="8" name="Shape 5"/>
          <p:cNvSpPr/>
          <p:nvPr/>
        </p:nvSpPr>
        <p:spPr>
          <a:xfrm>
            <a:off x="1047750" y="3486150"/>
            <a:ext cx="7429500" cy="781050"/>
          </a:xfrm>
          <a:prstGeom prst="roundRect">
            <a:avLst>
              <a:gd name="adj" fmla="val 17073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33500" y="3676650"/>
            <a:ext cx="75438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zh-CN" alt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多的字</a:t>
            </a: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圈掉</a:t>
            </a:r>
            <a:endParaRPr lang="zh-CN" sz="2250" dirty="0"/>
          </a:p>
        </p:txBody>
      </p:sp>
      <p:sp>
        <p:nvSpPr>
          <p:cNvPr id="10" name="Shape 7"/>
          <p:cNvSpPr/>
          <p:nvPr/>
        </p:nvSpPr>
        <p:spPr>
          <a:xfrm>
            <a:off x="1047750" y="4438650"/>
            <a:ext cx="7429500" cy="781050"/>
          </a:xfrm>
          <a:prstGeom prst="roundRect">
            <a:avLst>
              <a:gd name="adj" fmla="val 17073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333500" y="4629150"/>
            <a:ext cx="75438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zh-CN" alt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漏的字</a:t>
            </a: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补上</a:t>
            </a:r>
            <a:endParaRPr lang="zh-CN" sz="2250" dirty="0"/>
          </a:p>
        </p:txBody>
      </p:sp>
      <p:sp>
        <p:nvSpPr>
          <p:cNvPr id="12" name="Shape 9"/>
          <p:cNvSpPr/>
          <p:nvPr/>
        </p:nvSpPr>
        <p:spPr>
          <a:xfrm>
            <a:off x="1047750" y="5391150"/>
            <a:ext cx="7429500" cy="781050"/>
          </a:xfrm>
          <a:prstGeom prst="roundRect">
            <a:avLst>
              <a:gd name="adj" fmla="val 17073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333500" y="5581650"/>
            <a:ext cx="75438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zh-CN" alt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错的字</a:t>
            </a: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改正</a:t>
            </a:r>
            <a:endParaRPr lang="zh-CN" sz="2250" dirty="0"/>
          </a:p>
        </p:txBody>
      </p:sp>
      <p:sp>
        <p:nvSpPr>
          <p:cNvPr id="14" name="Shape 11"/>
          <p:cNvSpPr/>
          <p:nvPr/>
        </p:nvSpPr>
        <p:spPr>
          <a:xfrm>
            <a:off x="1047750" y="6343650"/>
            <a:ext cx="7429500" cy="781050"/>
          </a:xfrm>
          <a:prstGeom prst="roundRect">
            <a:avLst>
              <a:gd name="adj" fmla="val 17073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333500" y="6534150"/>
            <a:ext cx="75438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zh-CN" alt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读不通的句子</a:t>
            </a: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改通</a:t>
            </a:r>
            <a:endParaRPr lang="zh-CN" sz="2250" dirty="0"/>
          </a:p>
        </p:txBody>
      </p:sp>
      <p:sp>
        <p:nvSpPr>
          <p:cNvPr id="16" name="Text 13"/>
          <p:cNvSpPr/>
          <p:nvPr/>
        </p:nvSpPr>
        <p:spPr>
          <a:xfrm>
            <a:off x="9144000" y="2857500"/>
            <a:ext cx="8905875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75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同桌互改（3 分钟）</a:t>
            </a:r>
            <a:endParaRPr lang="zh-CN" sz="2475" dirty="0"/>
          </a:p>
        </p:txBody>
      </p:sp>
      <p:sp>
        <p:nvSpPr>
          <p:cNvPr id="17" name="Shape 14"/>
          <p:cNvSpPr/>
          <p:nvPr/>
        </p:nvSpPr>
        <p:spPr>
          <a:xfrm>
            <a:off x="9144000" y="348615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314111" y="3562350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9896475" y="3543300"/>
            <a:ext cx="2825496" cy="4799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交换习作，</a:t>
            </a:r>
            <a:r>
              <a:rPr lang="zh-CN" alt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只读一遍</a:t>
            </a:r>
            <a:endParaRPr lang="zh-CN" sz="2400" dirty="0"/>
          </a:p>
        </p:txBody>
      </p:sp>
      <p:sp>
        <p:nvSpPr>
          <p:cNvPr id="20" name="Shape 17"/>
          <p:cNvSpPr/>
          <p:nvPr/>
        </p:nvSpPr>
        <p:spPr>
          <a:xfrm>
            <a:off x="9144000" y="4276725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9314111" y="4352925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9896475" y="4333875"/>
            <a:ext cx="6592824" cy="4799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读不通的地方或错字，用铅笔在旁边</a:t>
            </a:r>
            <a:r>
              <a:rPr lang="zh-CN" alt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画一个小圈</a:t>
            </a:r>
            <a:endParaRPr lang="zh-CN" sz="2400" dirty="0"/>
          </a:p>
        </p:txBody>
      </p:sp>
      <p:sp>
        <p:nvSpPr>
          <p:cNvPr id="23" name="Shape 20"/>
          <p:cNvSpPr/>
          <p:nvPr/>
        </p:nvSpPr>
        <p:spPr>
          <a:xfrm>
            <a:off x="9144000" y="506730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9314111" y="5143500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9896475" y="5124450"/>
            <a:ext cx="5337048" cy="4799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拿回自己的习作，把画圈的地方改一改</a:t>
            </a:r>
            <a:endParaRPr lang="zh-CN" sz="2400" dirty="0"/>
          </a:p>
        </p:txBody>
      </p:sp>
      <p:sp>
        <p:nvSpPr>
          <p:cNvPr id="26" name="Text 23"/>
          <p:cNvSpPr/>
          <p:nvPr/>
        </p:nvSpPr>
        <p:spPr>
          <a:xfrm>
            <a:off x="1047750" y="7823200"/>
            <a:ext cx="1781175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自己没看出来的问题，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同桌往往能看出来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605" dirty="0"/>
          </a:p>
        </p:txBody>
      </p:sp>
      <p:pic>
        <p:nvPicPr>
          <p:cNvPr id="27" name="插图" descr="抠-P33-25eb1db28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41347" y="5852160"/>
            <a:ext cx="4726744" cy="3840480"/>
          </a:xfrm>
          <a:prstGeom prst="rect">
            <a:avLst/>
          </a:prstGeom>
        </p:spPr>
      </p:pic>
      <p:pic>
        <p:nvPicPr>
          <p:cNvPr id="28" name="吉祥物" descr="抠-吉祥物-ad495431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8760" y="341947"/>
            <a:ext cx="1533448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修改收束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E6F2E1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8947949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说一说：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仔细回想过它以后，你有什么感受？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3295650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09700" y="3143250"/>
            <a:ext cx="4652010" cy="54902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</a:t>
            </a:r>
            <a:r>
              <a:rPr lang="zh-CN" altLang="en-US" sz="27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一句话</a:t>
            </a:r>
            <a:r>
              <a:rPr lang="zh-CN" alt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说一说今天的感受</a:t>
            </a:r>
            <a:endParaRPr lang="zh-CN" sz="2775" dirty="0"/>
          </a:p>
        </p:txBody>
      </p:sp>
      <p:sp>
        <p:nvSpPr>
          <p:cNvPr id="9" name="Shape 6"/>
          <p:cNvSpPr/>
          <p:nvPr/>
        </p:nvSpPr>
        <p:spPr>
          <a:xfrm>
            <a:off x="1047750" y="4187577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409700" y="4035177"/>
            <a:ext cx="5427345" cy="54902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回去再见到它的时候，</a:t>
            </a:r>
            <a:r>
              <a:rPr lang="zh-CN" altLang="en-US" sz="27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多看一眼</a:t>
            </a:r>
            <a:endParaRPr lang="zh-CN" sz="2775" dirty="0"/>
          </a:p>
        </p:txBody>
      </p:sp>
      <p:sp>
        <p:nvSpPr>
          <p:cNvPr id="11" name="Shape 8"/>
          <p:cNvSpPr/>
          <p:nvPr/>
        </p:nvSpPr>
        <p:spPr>
          <a:xfrm>
            <a:off x="1047750" y="5079504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409700" y="4927104"/>
            <a:ext cx="8528685" cy="54902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看一看写进习作里的那一处，</a:t>
            </a:r>
            <a:r>
              <a:rPr lang="zh-CN" altLang="en-US" sz="27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是不是还是那个样子</a:t>
            </a:r>
            <a:endParaRPr lang="zh-CN" sz="2775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743200"/>
            <a:ext cx="6858000" cy="63093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处处都留意，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只写印象最深的一两处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，把它写得让别人读了能记住。</a:t>
            </a:r>
            <a:endParaRPr lang="zh-CN" sz="2605" dirty="0"/>
          </a:p>
        </p:txBody>
      </p:sp>
      <p:pic>
        <p:nvPicPr>
          <p:cNvPr id="32" name="提示图标" descr="手指点击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33" name="吉祥物" descr="抠-吉祥物-ad495431f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760" y="341947"/>
            <a:ext cx="1533448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00100" y="800100"/>
            <a:ext cx="16687800" cy="8686800"/>
          </a:xfrm>
          <a:prstGeom prst="roundRect">
            <a:avLst>
              <a:gd name="adj" fmla="val 1754"/>
            </a:avLst>
          </a:prstGeom>
          <a:solidFill>
            <a:srgbClr val="6E9E7A"/>
          </a:solidFill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943100" y="3657600"/>
            <a:ext cx="12573000" cy="19002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2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THE END</a:t>
            </a:r>
            <a:endParaRPr lang="en-US" sz="12750" dirty="0"/>
          </a:p>
        </p:txBody>
      </p:sp>
      <p:sp>
        <p:nvSpPr>
          <p:cNvPr id="5" name="Text 3"/>
          <p:cNvSpPr/>
          <p:nvPr/>
        </p:nvSpPr>
        <p:spPr>
          <a:xfrm>
            <a:off x="2057400" y="5676900"/>
            <a:ext cx="14668500" cy="54471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zh-CN" altLang="en-US" sz="2850" dirty="0">
                <a:solidFill>
                  <a:srgbClr val="FFFFFF">
                    <a:alpha val="92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细看，选一两处，写清楚：把印象最深的地方写得让人记得住。</a:t>
            </a:r>
            <a:endParaRPr lang="zh-CN" sz="2850" dirty="0"/>
          </a:p>
        </p:txBody>
      </p:sp>
      <p:sp>
        <p:nvSpPr>
          <p:cNvPr id="6" name="Text 4"/>
          <p:cNvSpPr/>
          <p:nvPr/>
        </p:nvSpPr>
        <p:spPr>
          <a:xfrm>
            <a:off x="13792200" y="8058150"/>
            <a:ext cx="2095500" cy="5334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3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下一次再见</a:t>
            </a:r>
            <a:endParaRPr lang="zh-CN" sz="3000" dirty="0"/>
          </a:p>
        </p:txBody>
      </p:sp>
      <p:sp>
        <p:nvSpPr>
          <p:cNvPr id="7" name="Shape 5"/>
          <p:cNvSpPr/>
          <p:nvPr/>
        </p:nvSpPr>
        <p:spPr>
          <a:xfrm>
            <a:off x="15925800" y="8039100"/>
            <a:ext cx="419100" cy="5334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25800" y="8039100"/>
            <a:ext cx="419100" cy="533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</p:spTree>
  </p:cSld>
  <p:clrMapOvr>
    <a:masterClrMapping/>
  </p:clrMapOvr>
</p:sld>
</file>

<file path=ppt/tags/tag2.xml><?xml version="1.0" encoding="utf-8"?>
<p:tagLst xmlns:p="http://schemas.openxmlformats.org/presentationml/2006/main">
  <p:tag name="KSO_WM_DIAGRAM_VIRTUALLY_FRAME" val="{&quot;height&quot;:239.06251968503938,&quot;left&quot;:82.56,&quot;top&quot;:322.5,&quot;width&quot;:890.1}"/>
</p:tagLst>
</file>

<file path=ppt/tags/tag3.xml><?xml version="1.0" encoding="utf-8"?>
<p:tagLst xmlns:p="http://schemas.openxmlformats.org/presentationml/2006/main">
  <p:tag name="KSO_WM_DIAGRAM_VIRTUALLY_FRAME" val="{&quot;height&quot;:239.06251968503938,&quot;left&quot;:82.56,&quot;top&quot;:322.5,&quot;width&quot;:890.1}"/>
</p:tagLst>
</file>

<file path=ppt/tags/tag4.xml><?xml version="1.0" encoding="utf-8"?>
<p:tagLst xmlns:p="http://schemas.openxmlformats.org/presentationml/2006/main">
  <p:tag name="KSO_WM_DIAGRAM_VIRTUALLY_FRAME" val="{&quot;height&quot;:239.06251968503938,&quot;left&quot;:82.56,&quot;top&quot;:322.5,&quot;width&quot;:890.1}"/>
</p:tagLst>
</file>

<file path=ppt/tags/tag5.xml><?xml version="1.0" encoding="utf-8"?>
<p:tagLst xmlns:p="http://schemas.openxmlformats.org/presentationml/2006/main">
  <p:tag name="KSO_WM_DIAGRAM_VIRTUALLY_FRAME" val="{&quot;height&quot;:239.06251968503938,&quot;left&quot;:82.56,&quot;top&quot;:322.5,&quot;width&quot;:890.1}"/>
</p:tagLst>
</file>

<file path=ppt/tags/tag6.xml><?xml version="1.0" encoding="utf-8"?>
<p:tagLst xmlns:p="http://schemas.openxmlformats.org/presentationml/2006/main">
  <p:tag name="KSO_WM_DIAGRAM_VIRTUALLY_FRAME" val="{&quot;height&quot;:239.06251968503938,&quot;left&quot;:82.56,&quot;top&quot;:322.5,&quot;width&quot;:890.1}"/>
</p:tagLst>
</file>

<file path=ppt/tags/tag7.xml><?xml version="1.0" encoding="utf-8"?>
<p:tagLst xmlns:p="http://schemas.openxmlformats.org/presentationml/2006/main">
  <p:tag name="KSO_WM_DIAGRAM_VIRTUALLY_FRAME" val="{&quot;height&quot;:239.06251968503938,&quot;left&quot;:82.56,&quot;top&quot;:322.5,&quot;width&quot;:890.1}"/>
</p:tagLst>
</file>

<file path=ppt/tags/tag8.xml><?xml version="1.0" encoding="utf-8"?>
<p:tagLst xmlns:p="http://schemas.openxmlformats.org/presentationml/2006/main">
  <p:tag name="KSO_WM_DIAGRAM_VIRTUALLY_FRAME" val="{&quot;height&quot;:239.06251968503938,&quot;left&quot;:82.56,&quot;top&quot;:322.5,&quot;width&quot;:890.1}"/>
</p:tagLst>
</file>

<file path=ppt/tags/tag9.xml><?xml version="1.0" encoding="utf-8"?>
<p:tagLst xmlns:p="http://schemas.openxmlformats.org/presentationml/2006/main">
  <p:tag name="KSO_WM_DIAGRAM_VIRTUALLY_FRAME" val="{&quot;height&quot;:239.06251968503938,&quot;left&quot;:82.56,&quot;top&quot;:322.5,&quot;width&quot;:890.1}"/>
</p:tagLst>
</file>

<file path=ppt/tags/tag10.xml><?xml version="1.0" encoding="utf-8"?>
<p:tagLst xmlns:p="http://schemas.openxmlformats.org/presentationml/2006/main">
  <p:tag name="KSO_WM_DIAGRAM_VIRTUALLY_FRAME" val="{&quot;height&quot;:239.06251968503938,&quot;left&quot;:82.56,&quot;top&quot;:322.5,&quot;width&quot;:890.1}"/>
</p:tagLst>
</file>

<file path=ppt/tags/tag11.xml><?xml version="1.0" encoding="utf-8"?>
<p:tagLst xmlns:p="http://schemas.openxmlformats.org/presentationml/2006/main">
  <p:tag name="KSO_WM_DIAGRAM_VIRTUALLY_FRAME" val="{&quot;height&quot;:356.7656692913386,&quot;left&quot;:82.5,&quot;top&quot;:217.5,&quot;width&quot;:1307.55}"/>
</p:tagLst>
</file>

<file path=ppt/tags/tag12.xml><?xml version="1.0" encoding="utf-8"?>
<p:tagLst xmlns:p="http://schemas.openxmlformats.org/presentationml/2006/main">
  <p:tag name="KSO_WM_DIAGRAM_VIRTUALLY_FRAME" val="{&quot;height&quot;:356.7656692913386,&quot;left&quot;:82.5,&quot;top&quot;:217.5,&quot;width&quot;:1307.55}"/>
</p:tagLst>
</file>

<file path=ppt/tags/tag13.xml><?xml version="1.0" encoding="utf-8"?>
<p:tagLst xmlns:p="http://schemas.openxmlformats.org/presentationml/2006/main">
  <p:tag name="KSO_WM_DIAGRAM_VIRTUALLY_FRAME" val="{&quot;height&quot;:356.7656692913386,&quot;left&quot;:82.5,&quot;top&quot;:217.5,&quot;width&quot;:1307.55}"/>
</p:tagLst>
</file>

<file path=ppt/tags/tag14.xml><?xml version="1.0" encoding="utf-8"?>
<p:tagLst xmlns:p="http://schemas.openxmlformats.org/presentationml/2006/main">
  <p:tag name="KSO_WM_DIAGRAM_VIRTUALLY_FRAME" val="{&quot;height&quot;:356.7656692913386,&quot;left&quot;:82.5,&quot;top&quot;:217.5,&quot;width&quot;:1307.55}"/>
</p:tagLst>
</file>

<file path=ppt/tags/tag15.xml><?xml version="1.0" encoding="utf-8"?>
<p:tagLst xmlns:p="http://schemas.openxmlformats.org/presentationml/2006/main">
  <p:tag name="KSO_WM_DIAGRAM_VIRTUALLY_FRAME" val="{&quot;height&quot;:356.7656692913386,&quot;left&quot;:82.5,&quot;top&quot;:217.5,&quot;width&quot;:1307.55}"/>
</p:tagLst>
</file>

<file path=ppt/tags/tag16.xml><?xml version="1.0" encoding="utf-8"?>
<p:tagLst xmlns:p="http://schemas.openxmlformats.org/presentationml/2006/main">
  <p:tag name="KSO_WM_DIAGRAM_VIRTUALLY_FRAME" val="{&quot;height&quot;:356.7656692913386,&quot;left&quot;:82.5,&quot;top&quot;:217.5,&quot;width&quot;:1307.55}"/>
</p:tagLst>
</file>

<file path=ppt/tags/tag17.xml><?xml version="1.0" encoding="utf-8"?>
<p:tagLst xmlns:p="http://schemas.openxmlformats.org/presentationml/2006/main">
  <p:tag name="KSO_WM_DIAGRAM_VIRTUALLY_FRAME" val="{&quot;height&quot;:356.7656692913386,&quot;left&quot;:82.5,&quot;top&quot;:217.5,&quot;width&quot;:1307.55}"/>
</p:tagLst>
</file>

<file path=ppt/tags/tag18.xml><?xml version="1.0" encoding="utf-8"?>
<p:tagLst xmlns:p="http://schemas.openxmlformats.org/presentationml/2006/main">
  <p:tag name="KSO_WM_DIAGRAM_VIRTUALLY_FRAME" val="{&quot;height&quot;:356.7656692913386,&quot;left&quot;:82.5,&quot;top&quot;:217.5,&quot;width&quot;:1307.55}"/>
</p:tagLst>
</file>

<file path=ppt/tags/tag19.xml><?xml version="1.0" encoding="utf-8"?>
<p:tagLst xmlns:p="http://schemas.openxmlformats.org/presentationml/2006/main">
  <p:tag name="KSO_WM_DIAGRAM_VIRTUALLY_FRAME" val="{&quot;height&quot;:356.7656692913386,&quot;left&quot;:82.5,&quot;top&quot;:217.5,&quot;width&quot;:1307.55}"/>
</p:tagLst>
</file>

<file path=ppt/tags/tag20.xml><?xml version="1.0" encoding="utf-8"?>
<p:tagLst xmlns:p="http://schemas.openxmlformats.org/presentationml/2006/main">
  <p:tag name="KSO_WM_DIAGRAM_VIRTUALLY_FRAME" val="{&quot;height&quot;:356.7656692913386,&quot;left&quot;:82.5,&quot;top&quot;:217.5,&quot;width&quot;:1307.55}"/>
</p:tagLst>
</file>

<file path=ppt/tags/tag21.xml><?xml version="1.0" encoding="utf-8"?>
<p:tagLst xmlns:p="http://schemas.openxmlformats.org/presentationml/2006/main">
  <p:tag name="KSO_WM_DIAGRAM_VIRTUALLY_FRAME" val="{&quot;height&quot;:356.7656692913386,&quot;left&quot;:82.5,&quot;top&quot;:217.5,&quot;width&quot;:1307.55}"/>
</p:tagLst>
</file>

<file path=ppt/tags/tag22.xml><?xml version="1.0" encoding="utf-8"?>
<p:tagLst xmlns:p="http://schemas.openxmlformats.org/presentationml/2006/main">
  <p:tag name="KSO_WM_DIAGRAM_VIRTUALLY_FRAME" val="{&quot;height&quot;:356.7656692913386,&quot;left&quot;:82.5,&quot;top&quot;:217.5,&quot;width&quot;:1307.55}"/>
</p:tagLst>
</file>

<file path=ppt/tags/tag23.xml><?xml version="1.0" encoding="utf-8"?>
<p:tagLst xmlns:p="http://schemas.openxmlformats.org/presentationml/2006/main">
  <p:tag name="KSO_WM_DIAGRAM_VIRTUALLY_FRAME" val="{&quot;height&quot;:356.7656692913386,&quot;left&quot;:82.5,&quot;top&quot;:217.5,&quot;width&quot;:1307.55}"/>
</p:tagLst>
</file>

<file path=ppt/tags/tag24.xml><?xml version="1.0" encoding="utf-8"?>
<p:tagLst xmlns:p="http://schemas.openxmlformats.org/presentationml/2006/main">
  <p:tag name="KSO_WM_DIAGRAM_VIRTUALLY_FRAME" val="{&quot;height&quot;:356.7656692913386,&quot;left&quot;:82.5,&quot;top&quot;:217.5,&quot;width&quot;:1307.55}"/>
</p:tagLst>
</file>

<file path=ppt/tags/tag25.xml><?xml version="1.0" encoding="utf-8"?>
<p:tagLst xmlns:p="http://schemas.openxmlformats.org/presentationml/2006/main">
  <p:tag name="KSO_WM_DIAGRAM_VIRTUALLY_FRAME" val="{&quot;height&quot;:356.7656692913386,&quot;left&quot;:82.5,&quot;top&quot;:217.5,&quot;width&quot;:1307.55}"/>
</p:tagLst>
</file>

<file path=ppt/tags/tag26.xml><?xml version="1.0" encoding="utf-8"?>
<p:tagLst xmlns:p="http://schemas.openxmlformats.org/presentationml/2006/main">
  <p:tag name="KSO_WM_DIAGRAM_VIRTUALLY_FRAME" val="{&quot;height&quot;:356.7656692913386,&quot;left&quot;:82.5,&quot;top&quot;:217.5,&quot;width&quot;:1307.55}"/>
</p:tagLst>
</file>

<file path=ppt/tags/tag27.xml><?xml version="1.0" encoding="utf-8"?>
<p:tagLst xmlns:p="http://schemas.openxmlformats.org/presentationml/2006/main">
  <p:tag name="KSO_WM_DIAGRAM_VIRTUALLY_FRAME" val="{&quot;height&quot;:356.7656692913386,&quot;left&quot;:82.5,&quot;top&quot;:217.5,&quot;width&quot;:1307.55}"/>
</p:tagLst>
</file>

<file path=ppt/tags/tag28.xml><?xml version="1.0" encoding="utf-8"?>
<p:tagLst xmlns:p="http://schemas.openxmlformats.org/presentationml/2006/main">
  <p:tag name="KSO_WM_DIAGRAM_VIRTUALLY_FRAME" val="{&quot;height&quot;:356.7656692913386,&quot;left&quot;:82.5,&quot;top&quot;:217.5,&quot;width&quot;:1307.55}"/>
</p:tagLst>
</file>

<file path=ppt/tags/tag29.xml><?xml version="1.0" encoding="utf-8"?>
<p:tagLst xmlns:p="http://schemas.openxmlformats.org/presentationml/2006/main">
  <p:tag name="KSO_WM_DIAGRAM_VIRTUALLY_FRAME" val="{&quot;height&quot;:356.7656692913386,&quot;left&quot;:82.5,&quot;top&quot;:217.5,&quot;width&quot;:1307.55}"/>
</p:tagLst>
</file>

<file path=ppt/tags/tag30.xml><?xml version="1.0" encoding="utf-8"?>
<p:tagLst xmlns:p="http://schemas.openxmlformats.org/presentationml/2006/main">
  <p:tag name="KSO_WM_DIAGRAM_VIRTUALLY_FRAME" val="{&quot;height&quot;:356.7656692913386,&quot;left&quot;:82.5,&quot;top&quot;:217.5,&quot;width&quot;:1307.55}"/>
</p:tagLst>
</file>

<file path=ppt/tags/tag31.xml><?xml version="1.0" encoding="utf-8"?>
<p:tagLst xmlns:p="http://schemas.openxmlformats.org/presentationml/2006/main">
  <p:tag name="KSO_WM_DIAGRAM_VIRTUALLY_FRAME" val="{&quot;height&quot;:459,&quot;left&quot;:82.5,&quot;top&quot;:225,&quot;width&quot;:1307.4}"/>
</p:tagLst>
</file>

<file path=ppt/tags/tag32.xml><?xml version="1.0" encoding="utf-8"?>
<p:tagLst xmlns:p="http://schemas.openxmlformats.org/presentationml/2006/main">
  <p:tag name="KSO_WM_DIAGRAM_VIRTUALLY_FRAME" val="{&quot;height&quot;:459,&quot;left&quot;:82.5,&quot;top&quot;:225,&quot;width&quot;:1307.4}"/>
</p:tagLst>
</file>

<file path=ppt/tags/tag33.xml><?xml version="1.0" encoding="utf-8"?>
<p:tagLst xmlns:p="http://schemas.openxmlformats.org/presentationml/2006/main">
  <p:tag name="KSO_WM_DIAGRAM_VIRTUALLY_FRAME" val="{&quot;height&quot;:459,&quot;left&quot;:82.5,&quot;top&quot;:225,&quot;width&quot;:1307.4}"/>
</p:tagLst>
</file>

<file path=ppt/tags/tag34.xml><?xml version="1.0" encoding="utf-8"?>
<p:tagLst xmlns:p="http://schemas.openxmlformats.org/presentationml/2006/main">
  <p:tag name="KSO_WM_DIAGRAM_VIRTUALLY_FRAME" val="{&quot;height&quot;:459,&quot;left&quot;:82.5,&quot;top&quot;:225,&quot;width&quot;:1307.4}"/>
</p:tagLst>
</file>

<file path=ppt/tags/tag35.xml><?xml version="1.0" encoding="utf-8"?>
<p:tagLst xmlns:p="http://schemas.openxmlformats.org/presentationml/2006/main">
  <p:tag name="KSO_WM_DIAGRAM_VIRTUALLY_FRAME" val="{&quot;height&quot;:459,&quot;left&quot;:82.5,&quot;top&quot;:225,&quot;width&quot;:1307.4}"/>
</p:tagLst>
</file>

<file path=ppt/tags/tag36.xml><?xml version="1.0" encoding="utf-8"?>
<p:tagLst xmlns:p="http://schemas.openxmlformats.org/presentationml/2006/main">
  <p:tag name="KSO_WM_DIAGRAM_VIRTUALLY_FRAME" val="{&quot;height&quot;:459,&quot;left&quot;:82.5,&quot;top&quot;:225,&quot;width&quot;:1307.4}"/>
</p:tagLst>
</file>

<file path=ppt/tags/tag37.xml><?xml version="1.0" encoding="utf-8"?>
<p:tagLst xmlns:p="http://schemas.openxmlformats.org/presentationml/2006/main">
  <p:tag name="KSO_WM_DIAGRAM_VIRTUALLY_FRAME" val="{&quot;height&quot;:459,&quot;left&quot;:82.5,&quot;top&quot;:225,&quot;width&quot;:1307.4}"/>
</p:tagLst>
</file>

<file path=ppt/tags/tag38.xml><?xml version="1.0" encoding="utf-8"?>
<p:tagLst xmlns:p="http://schemas.openxmlformats.org/presentationml/2006/main">
  <p:tag name="KSO_WM_DIAGRAM_VIRTUALLY_FRAME" val="{&quot;height&quot;:459,&quot;left&quot;:82.5,&quot;top&quot;:225,&quot;width&quot;:1307.4}"/>
</p:tagLst>
</file>

<file path=ppt/tags/tag39.xml><?xml version="1.0" encoding="utf-8"?>
<p:tagLst xmlns:p="http://schemas.openxmlformats.org/presentationml/2006/main">
  <p:tag name="KSO_WM_DIAGRAM_VIRTUALLY_FRAME" val="{&quot;height&quot;:459,&quot;left&quot;:82.5,&quot;top&quot;:225,&quot;width&quot;:1307.4}"/>
</p:tagLst>
</file>

<file path=ppt/tags/tag40.xml><?xml version="1.0" encoding="utf-8"?>
<p:tagLst xmlns:p="http://schemas.openxmlformats.org/presentationml/2006/main">
  <p:tag name="KSO_WM_DIAGRAM_VIRTUALLY_FRAME" val="{&quot;height&quot;:459,&quot;left&quot;:82.5,&quot;top&quot;:225,&quot;width&quot;:1307.4}"/>
</p:tagLst>
</file>

<file path=ppt/tags/tag41.xml><?xml version="1.0" encoding="utf-8"?>
<p:tagLst xmlns:p="http://schemas.openxmlformats.org/presentationml/2006/main">
  <p:tag name="KSO_WM_DIAGRAM_VIRTUALLY_FRAME" val="{&quot;height&quot;:459,&quot;left&quot;:82.5,&quot;top&quot;:225,&quot;width&quot;:1307.4}"/>
</p:tagLst>
</file>

<file path=ppt/tags/tag42.xml><?xml version="1.0" encoding="utf-8"?>
<p:tagLst xmlns:p="http://schemas.openxmlformats.org/presentationml/2006/main">
  <p:tag name="KSO_WM_DIAGRAM_VIRTUALLY_FRAME" val="{&quot;height&quot;:459,&quot;left&quot;:82.5,&quot;top&quot;:225,&quot;width&quot;:1307.4}"/>
</p:tagLst>
</file>

<file path=ppt/tags/tag43.xml><?xml version="1.0" encoding="utf-8"?>
<p:tagLst xmlns:p="http://schemas.openxmlformats.org/presentationml/2006/main">
  <p:tag name="KSO_WM_DIAGRAM_VIRTUALLY_FRAME" val="{&quot;height&quot;:459,&quot;left&quot;:82.5,&quot;top&quot;:225,&quot;width&quot;:1307.4}"/>
</p:tagLst>
</file>

<file path=ppt/tags/tag44.xml><?xml version="1.0" encoding="utf-8"?>
<p:tagLst xmlns:p="http://schemas.openxmlformats.org/presentationml/2006/main">
  <p:tag name="KSO_WM_DIAGRAM_VIRTUALLY_FRAME" val="{&quot;height&quot;:459,&quot;left&quot;:82.5,&quot;top&quot;:225,&quot;width&quot;:1307.4}"/>
</p:tagLst>
</file>

<file path=ppt/tags/tag45.xml><?xml version="1.0" encoding="utf-8"?>
<p:tagLst xmlns:p="http://schemas.openxmlformats.org/presentationml/2006/main">
  <p:tag name="KSO_WM_DIAGRAM_VIRTUALLY_FRAME" val="{&quot;height&quot;:292.5,&quot;left&quot;:73.87496062992126,&quot;top&quot;:225,&quot;width&quot;:1316.8500787401576}"/>
</p:tagLst>
</file>

<file path=ppt/tags/tag46.xml><?xml version="1.0" encoding="utf-8"?>
<p:tagLst xmlns:p="http://schemas.openxmlformats.org/presentationml/2006/main">
  <p:tag name="KSO_WM_DIAGRAM_VIRTUALLY_FRAME" val="{&quot;height&quot;:292.5,&quot;left&quot;:73.87496062992126,&quot;top&quot;:225,&quot;width&quot;:1316.8500787401576}"/>
</p:tagLst>
</file>

<file path=ppt/tags/tag47.xml><?xml version="1.0" encoding="utf-8"?>
<p:tagLst xmlns:p="http://schemas.openxmlformats.org/presentationml/2006/main">
  <p:tag name="KSO_WM_DIAGRAM_VIRTUALLY_FRAME" val="{&quot;height&quot;:292.5,&quot;left&quot;:73.87496062992126,&quot;top&quot;:225,&quot;width&quot;:1316.8500787401576}"/>
</p:tagLst>
</file>

<file path=ppt/tags/tag48.xml><?xml version="1.0" encoding="utf-8"?>
<p:tagLst xmlns:p="http://schemas.openxmlformats.org/presentationml/2006/main">
  <p:tag name="KSO_WM_DIAGRAM_VIRTUALLY_FRAME" val="{&quot;height&quot;:292.5,&quot;left&quot;:73.87496062992126,&quot;top&quot;:225,&quot;width&quot;:1316.8500787401576}"/>
</p:tagLst>
</file>

<file path=ppt/tags/tag49.xml><?xml version="1.0" encoding="utf-8"?>
<p:tagLst xmlns:p="http://schemas.openxmlformats.org/presentationml/2006/main">
  <p:tag name="KSO_WM_DIAGRAM_VIRTUALLY_FRAME" val="{&quot;height&quot;:292.5,&quot;left&quot;:73.87496062992126,&quot;top&quot;:225,&quot;width&quot;:1316.8500787401576}"/>
</p:tagLst>
</file>

<file path=ppt/tags/tag50.xml><?xml version="1.0" encoding="utf-8"?>
<p:tagLst xmlns:p="http://schemas.openxmlformats.org/presentationml/2006/main">
  <p:tag name="KSO_WM_DIAGRAM_VIRTUALLY_FRAME" val="{&quot;height&quot;:292.5,&quot;left&quot;:73.87496062992126,&quot;top&quot;:225,&quot;width&quot;:1316.8500787401576}"/>
</p:tagLst>
</file>

<file path=ppt/tags/tag51.xml><?xml version="1.0" encoding="utf-8"?>
<p:tagLst xmlns:p="http://schemas.openxmlformats.org/presentationml/2006/main">
  <p:tag name="KSO_WM_DIAGRAM_VIRTUALLY_FRAME" val="{&quot;height&quot;:292.5,&quot;left&quot;:73.87496062992126,&quot;top&quot;:225,&quot;width&quot;:1316.8500787401576}"/>
</p:tagLst>
</file>

<file path=ppt/tags/tag52.xml><?xml version="1.0" encoding="utf-8"?>
<p:tagLst xmlns:p="http://schemas.openxmlformats.org/presentationml/2006/main">
  <p:tag name="KSO_WM_DIAGRAM_VIRTUALLY_FRAME" val="{&quot;height&quot;:292.5,&quot;left&quot;:73.87496062992126,&quot;top&quot;:225,&quot;width&quot;:1316.8500787401576}"/>
</p:tagLst>
</file>

<file path=ppt/tags/tag53.xml><?xml version="1.0" encoding="utf-8"?>
<p:tagLst xmlns:p="http://schemas.openxmlformats.org/presentationml/2006/main">
  <p:tag name="KSO_WM_DIAGRAM_VIRTUALLY_FRAME" val="{&quot;height&quot;:292.5,&quot;left&quot;:73.87496062992126,&quot;top&quot;:225,&quot;width&quot;:1316.8500787401576}"/>
</p:tagLst>
</file>

<file path=ppt/tags/tag54.xml><?xml version="1.0" encoding="utf-8"?>
<p:tagLst xmlns:p="http://schemas.openxmlformats.org/presentationml/2006/main">
  <p:tag name="KSO_WM_DIAGRAM_VIRTUALLY_FRAME" val="{&quot;height&quot;:292.5,&quot;left&quot;:73.87496062992126,&quot;top&quot;:225,&quot;width&quot;:1316.8500787401576}"/>
</p:tagLst>
</file>

<file path=ppt/tags/tag55.xml><?xml version="1.0" encoding="utf-8"?>
<p:tagLst xmlns:p="http://schemas.openxmlformats.org/presentationml/2006/main">
  <p:tag name="KSO_WM_DIAGRAM_VIRTUALLY_FRAME" val="{&quot;height&quot;:292.5,&quot;left&quot;:73.87496062992126,&quot;top&quot;:225,&quot;width&quot;:1316.8500787401576}"/>
</p:tagLst>
</file>

<file path=ppt/tags/tag56.xml><?xml version="1.0" encoding="utf-8"?>
<p:tagLst xmlns:p="http://schemas.openxmlformats.org/presentationml/2006/main">
  <p:tag name="KSO_WM_DIAGRAM_VIRTUALLY_FRAME" val="{&quot;height&quot;:292.5,&quot;left&quot;:73.87496062992126,&quot;top&quot;:225,&quot;width&quot;:1316.850078740157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5485</Words>
  <Application>WPS 演示</Application>
  <PresentationFormat>On-screen Show (16:9)</PresentationFormat>
  <Paragraphs>701</Paragraphs>
  <Slides>35</Slides>
  <Notes>34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35</vt:i4>
      </vt:variant>
    </vt:vector>
  </HeadingPairs>
  <TitlesOfParts>
    <vt:vector size="45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飞鱼</cp:lastModifiedBy>
  <cp:revision>12</cp:revision>
  <dcterms:created xsi:type="dcterms:W3CDTF">2026-09-23T13:48:00Z</dcterms:created>
  <dcterms:modified xsi:type="dcterms:W3CDTF">2026-09-26T12:21:25Z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77090C5D192C4B878EC6CA469DF7E5B3_12</vt:lpwstr>
  </property>
</Properties>
</file>