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589" y="323850"/>
            <a:ext cx="1668661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143000"/>
            <a:ext cx="16573500" cy="5715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EE7B2E">
                  <a:alpha val="100000"/>
                </a:srgbClr>
              </a:gs>
              <a:gs pos="42000">
                <a:srgbClr val="F0A63C">
                  <a:alpha val="100000"/>
                </a:srgbClr>
              </a:gs>
              <a:gs pos="100000">
                <a:srgbClr val="57B0A6">
                  <a:alpha val="100000"/>
                </a:srgbClr>
              </a:gs>
            </a:gsLst>
            <a:lin ang="9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2952750" y="1428750"/>
            <a:ext cx="3429000" cy="3429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810250" y="4191000"/>
            <a:ext cx="4095750" cy="409575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810000" y="2667000"/>
            <a:ext cx="11734800" cy="144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51"/>
              </a:lnSpc>
              <a:buNone/>
            </a:pPr>
            <a:r>
              <a:rPr lang="en-US" sz="885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我们眼中的缤纷世界</a:t>
            </a:r>
            <a:endParaRPr lang="en-US" sz="8850" dirty="0"/>
          </a:p>
        </p:txBody>
      </p:sp>
      <p:sp>
        <p:nvSpPr>
          <p:cNvPr id="7" name="Text 4"/>
          <p:cNvSpPr/>
          <p:nvPr/>
        </p:nvSpPr>
        <p:spPr>
          <a:xfrm>
            <a:off x="3848100" y="4476750"/>
            <a:ext cx="11734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三年级上册 · 第五单元 · 校内同步写作（观察作文）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0" y="2857500"/>
            <a:ext cx="1066800" cy="1333500"/>
          </a:xfrm>
          <a:prstGeom prst="rect">
            <a:avLst/>
          </a:prstGeom>
          <a:solidFill>
            <a:srgbClr val="3D4A6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0"/>
            <a:ext cx="1066800" cy="13335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6953250"/>
            <a:ext cx="4095750" cy="266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三年级上册 · 第五单元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6286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146685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57162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78"/>
              </a:lnSpc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 · 观察体验 · 学写法 · 观察发现卡 · 教师示范文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3236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先看一段短片：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它们在做什么？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143250"/>
            <a:ext cx="9144000" cy="5334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858500" y="3476625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11220450" y="3333750"/>
            <a:ext cx="603504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看完请告诉老师：这群蚂蚁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在做什么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10858500" y="4354711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1220450" y="4211836"/>
            <a:ext cx="6200394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楼下花坛边、墙根下，常常能看见这样的蚂蚁。</a:t>
            </a:r>
            <a:endParaRPr lang="en-US" sz="2700" dirty="0"/>
          </a:p>
        </p:txBody>
      </p:sp>
      <p:sp>
        <p:nvSpPr>
          <p:cNvPr id="13" name="Shape 9"/>
          <p:cNvSpPr/>
          <p:nvPr/>
        </p:nvSpPr>
        <p:spPr>
          <a:xfrm>
            <a:off x="10858500" y="5729883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1220450" y="5587008"/>
            <a:ext cx="6200394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真正蹲下来，把它们搬东西的过程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从头到尾看过一次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的，有几位同学？</a:t>
            </a:r>
            <a:endParaRPr lang="en-US" sz="2700" dirty="0"/>
          </a:p>
        </p:txBody>
      </p:sp>
      <p:sp>
        <p:nvSpPr>
          <p:cNvPr id="15" name="Text 11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请举手说一说：你见过它们搬运食物吗？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看到了什么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4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天天见得到的小动物，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你看清楚了吗？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942975" cy="695325"/>
          </a:xfrm>
          <a:prstGeom prst="roundRect">
            <a:avLst>
              <a:gd name="adj" fmla="val 19178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71600" y="2914650"/>
            <a:ext cx="3714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猫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2181225" y="2762250"/>
            <a:ext cx="942975" cy="695325"/>
          </a:xfrm>
          <a:prstGeom prst="roundRect">
            <a:avLst>
              <a:gd name="adj" fmla="val 19178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505075" y="2914650"/>
            <a:ext cx="3714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狗</a:t>
            </a:r>
            <a:endParaRPr lang="en-US" sz="2325" dirty="0"/>
          </a:p>
        </p:txBody>
      </p:sp>
      <p:sp>
        <p:nvSpPr>
          <p:cNvPr id="11" name="Shape 8"/>
          <p:cNvSpPr/>
          <p:nvPr/>
        </p:nvSpPr>
        <p:spPr>
          <a:xfrm>
            <a:off x="3314700" y="2762250"/>
            <a:ext cx="1238250" cy="695325"/>
          </a:xfrm>
          <a:prstGeom prst="roundRect">
            <a:avLst>
              <a:gd name="adj" fmla="val 19178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638550" y="2914650"/>
            <a:ext cx="6667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金鱼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4743450" y="2762250"/>
            <a:ext cx="1238250" cy="695325"/>
          </a:xfrm>
          <a:prstGeom prst="roundRect">
            <a:avLst>
              <a:gd name="adj" fmla="val 19178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067300" y="2914650"/>
            <a:ext cx="6667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小鸟</a:t>
            </a:r>
            <a:endParaRPr lang="en-US" sz="2325" dirty="0"/>
          </a:p>
        </p:txBody>
      </p:sp>
      <p:sp>
        <p:nvSpPr>
          <p:cNvPr id="15" name="Shape 12"/>
          <p:cNvSpPr/>
          <p:nvPr/>
        </p:nvSpPr>
        <p:spPr>
          <a:xfrm>
            <a:off x="6172200" y="2762250"/>
            <a:ext cx="1238250" cy="695325"/>
          </a:xfrm>
          <a:prstGeom prst="roundRect">
            <a:avLst>
              <a:gd name="adj" fmla="val 19178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96050" y="2914650"/>
            <a:ext cx="6667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蜗牛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1047750" y="41529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09700" y="4000500"/>
            <a:ext cx="3489008" cy="5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它身上是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什么颜色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75" dirty="0"/>
          </a:p>
        </p:txBody>
      </p:sp>
      <p:sp>
        <p:nvSpPr>
          <p:cNvPr id="19" name="Shape 16"/>
          <p:cNvSpPr/>
          <p:nvPr/>
        </p:nvSpPr>
        <p:spPr>
          <a:xfrm>
            <a:off x="1047750" y="4949577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409700" y="4797177"/>
            <a:ext cx="3876675" cy="5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走起路来是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什么样子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75" dirty="0"/>
          </a:p>
        </p:txBody>
      </p:sp>
      <p:sp>
        <p:nvSpPr>
          <p:cNvPr id="21" name="Shape 18"/>
          <p:cNvSpPr/>
          <p:nvPr/>
        </p:nvSpPr>
        <p:spPr>
          <a:xfrm>
            <a:off x="1047750" y="5746254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409700" y="5593854"/>
            <a:ext cx="3489008" cy="5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叫起来是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什么声音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75" dirty="0"/>
          </a:p>
        </p:txBody>
      </p:sp>
      <p:sp>
        <p:nvSpPr>
          <p:cNvPr id="23" name="Shape 20"/>
          <p:cNvSpPr/>
          <p:nvPr/>
        </p:nvSpPr>
        <p:spPr>
          <a:xfrm>
            <a:off x="1047750" y="6542931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409700" y="6390531"/>
            <a:ext cx="4264343" cy="5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凑近了闻，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有没有味道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75" dirty="0"/>
          </a:p>
        </p:txBody>
      </p:sp>
      <p:sp>
        <p:nvSpPr>
          <p:cNvPr id="25" name="Shape 22"/>
          <p:cNvSpPr/>
          <p:nvPr/>
        </p:nvSpPr>
        <p:spPr>
          <a:xfrm>
            <a:off x="1047750" y="7339608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409700" y="7187208"/>
            <a:ext cx="5815013" cy="5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有没有一个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只有它才有的小习惯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75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0" y="3143250"/>
            <a:ext cx="5334000" cy="53340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天天见得到，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并不等于看清楚了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。这节课，我们就来仔细观察一只小动物。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35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05326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今天的任务：写好后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读给同组三位同学听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667000"/>
            <a:ext cx="16192500" cy="942975"/>
          </a:xfrm>
          <a:prstGeom prst="roundRect">
            <a:avLst>
              <a:gd name="adj" fmla="val 16162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895600"/>
            <a:ext cx="169735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仔细观察一只小动物，再把看到的、听到的、摸到的、闻到的写下来。</a:t>
            </a:r>
            <a:endParaRPr lang="en-US" sz="2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4000500"/>
            <a:ext cx="3810000" cy="43815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96000" y="40957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266111" y="417195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6848475" y="4152900"/>
            <a:ext cx="10605421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听的同学说出一处：他写的这一处，你在自己观察的小动物身上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也见过，却从来没有留意</a:t>
            </a:r>
            <a:endParaRPr lang="en-US" sz="2700" dirty="0"/>
          </a:p>
        </p:txBody>
      </p:sp>
      <p:sp>
        <p:nvSpPr>
          <p:cNvPr id="13" name="Shape 9"/>
          <p:cNvSpPr/>
          <p:nvPr/>
        </p:nvSpPr>
        <p:spPr>
          <a:xfrm>
            <a:off x="6096000" y="5566172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6266111" y="5642372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848475" y="5623322"/>
            <a:ext cx="9536049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或者说出一处：他写的这一处，是你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从来没想到可以写下来的</a:t>
            </a:r>
            <a:endParaRPr lang="en-US" sz="2700" dirty="0"/>
          </a:p>
        </p:txBody>
      </p:sp>
      <p:sp>
        <p:nvSpPr>
          <p:cNvPr id="16" name="Shape 12"/>
          <p:cNvSpPr/>
          <p:nvPr/>
        </p:nvSpPr>
        <p:spPr>
          <a:xfrm>
            <a:off x="6096000" y="653950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266111" y="661570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6848475" y="6596658"/>
            <a:ext cx="8476488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同组同学能说出一处，就说明你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看得仔细，也写清楚了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71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15826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教材习作：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《我们眼中的缤纷世界》</a:t>
            </a:r>
            <a:endParaRPr lang="en-US" sz="320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762250"/>
            <a:ext cx="6858000" cy="59055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72500" y="3095625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8934450" y="2952750"/>
            <a:ext cx="603504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把最近观察时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印象最深的事物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写下来</a:t>
            </a:r>
            <a:endParaRPr lang="en-US" sz="2700" dirty="0"/>
          </a:p>
        </p:txBody>
      </p:sp>
      <p:sp>
        <p:nvSpPr>
          <p:cNvPr id="10" name="Shape 6"/>
          <p:cNvSpPr/>
          <p:nvPr/>
        </p:nvSpPr>
        <p:spPr>
          <a:xfrm>
            <a:off x="8572500" y="3916561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8934450" y="3773686"/>
            <a:ext cx="641223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最近仔细观察过别的事物，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也可以写它</a:t>
            </a:r>
            <a:endParaRPr lang="en-US" sz="2700" dirty="0"/>
          </a:p>
        </p:txBody>
      </p:sp>
      <p:sp>
        <p:nvSpPr>
          <p:cNvPr id="12" name="Shape 8"/>
          <p:cNvSpPr/>
          <p:nvPr/>
        </p:nvSpPr>
        <p:spPr>
          <a:xfrm>
            <a:off x="8572500" y="4737497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934450" y="4594622"/>
            <a:ext cx="716661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如果没有，就写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身边那只天天见得到的小动物</a:t>
            </a:r>
            <a:endParaRPr lang="en-US" sz="2700" dirty="0"/>
          </a:p>
        </p:txBody>
      </p:sp>
      <p:sp>
        <p:nvSpPr>
          <p:cNvPr id="14" name="Shape 10"/>
          <p:cNvSpPr/>
          <p:nvPr/>
        </p:nvSpPr>
        <p:spPr>
          <a:xfrm>
            <a:off x="8572500" y="6096000"/>
            <a:ext cx="8667750" cy="1552575"/>
          </a:xfrm>
          <a:prstGeom prst="roundRect">
            <a:avLst>
              <a:gd name="adj" fmla="val 11043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8953500" y="6381750"/>
            <a:ext cx="86963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单元导语页：法国雕塑家罗丹说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8953500" y="6848475"/>
            <a:ext cx="869632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“生活中不缺少美，只是缺少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发现美的眼睛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。”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一只天天见到的小动物，仔细看过以后，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能不能有新的发现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观察体验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3236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再看一遍：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选定一只蚂蚁仔细看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143250"/>
            <a:ext cx="7239000" cy="409575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953500" y="3238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9123611" y="33147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9705975" y="3295650"/>
            <a:ext cx="6004179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你选定的那只蚂蚁，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驮着的食物有多大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00" dirty="0"/>
          </a:p>
        </p:txBody>
      </p:sp>
      <p:sp>
        <p:nvSpPr>
          <p:cNvPr id="12" name="Shape 8"/>
          <p:cNvSpPr/>
          <p:nvPr/>
        </p:nvSpPr>
        <p:spPr>
          <a:xfrm>
            <a:off x="8953500" y="4173736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9123611" y="4249936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9705975" y="4230886"/>
            <a:ext cx="6710553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往洞口去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，还是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从洞口出来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00" dirty="0"/>
          </a:p>
        </p:txBody>
      </p:sp>
      <p:sp>
        <p:nvSpPr>
          <p:cNvPr id="15" name="Shape 11"/>
          <p:cNvSpPr/>
          <p:nvPr/>
        </p:nvSpPr>
        <p:spPr>
          <a:xfrm>
            <a:off x="8953500" y="5108972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9123611" y="5185172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9705975" y="5166122"/>
            <a:ext cx="5650992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再看一看洞口，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你看见了什么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00" dirty="0"/>
          </a:p>
        </p:txBody>
      </p:sp>
      <p:sp>
        <p:nvSpPr>
          <p:cNvPr id="18" name="Shape 14"/>
          <p:cNvSpPr/>
          <p:nvPr/>
        </p:nvSpPr>
        <p:spPr>
          <a:xfrm>
            <a:off x="1047750" y="7524750"/>
            <a:ext cx="16192500" cy="1043880"/>
          </a:xfrm>
          <a:prstGeom prst="roundRect">
            <a:avLst>
              <a:gd name="adj" fmla="val 1642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1466850" y="7810500"/>
            <a:ext cx="168897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驮着食物的往洞口去，从洞口出来的什么也没驮；有一只</a:t>
            </a:r>
            <a:pPr algn="l" indent="0" marL="0">
              <a:lnSpc>
                <a:spcPct val="120976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驮的食物比它自己还大</a:t>
            </a:r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；洞口</a:t>
            </a:r>
            <a:pPr algn="l" indent="0" marL="0">
              <a:lnSpc>
                <a:spcPct val="120976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挤成了一小团</a:t>
            </a:r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观察体验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595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一件事怎么变：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刚开始、过了一会儿、最后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178117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那只驮着食物的蚂蚁，刚开始在哪里，过了一会儿走到了哪里，最后怎么样了？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47750" y="3810000"/>
            <a:ext cx="4953000" cy="3028950"/>
          </a:xfrm>
          <a:prstGeom prst="roundRect">
            <a:avLst>
              <a:gd name="adj" fmla="val 566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3819525"/>
            <a:ext cx="4933950" cy="9144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81125" y="4029075"/>
            <a:ext cx="471487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刚开始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381125" y="5076825"/>
            <a:ext cx="4714875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11"/>
              </a:lnSpc>
              <a:buNone/>
            </a:pPr>
            <a:r>
              <a:rPr lang="en-US" sz="25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它在草根那边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5962650" y="5014913"/>
            <a:ext cx="7429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6667500" y="3810000"/>
            <a:ext cx="4953000" cy="3028950"/>
          </a:xfrm>
          <a:prstGeom prst="roundRect">
            <a:avLst>
              <a:gd name="adj" fmla="val 566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677025" y="3819525"/>
            <a:ext cx="4933950" cy="9144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000875" y="4029075"/>
            <a:ext cx="471487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过了一会儿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000875" y="5076825"/>
            <a:ext cx="4714875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11"/>
              </a:lnSpc>
              <a:buNone/>
            </a:pPr>
            <a:r>
              <a:rPr lang="en-US" sz="25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驮着东西，一路往洞口挪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11582400" y="5014913"/>
            <a:ext cx="7429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3600" dirty="0"/>
          </a:p>
        </p:txBody>
      </p:sp>
      <p:sp>
        <p:nvSpPr>
          <p:cNvPr id="18" name="Shape 15"/>
          <p:cNvSpPr/>
          <p:nvPr/>
        </p:nvSpPr>
        <p:spPr>
          <a:xfrm>
            <a:off x="12287250" y="3810000"/>
            <a:ext cx="4953000" cy="3028950"/>
          </a:xfrm>
          <a:prstGeom prst="roundRect">
            <a:avLst>
              <a:gd name="adj" fmla="val 566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2296775" y="3819525"/>
            <a:ext cx="4933950" cy="9144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2620625" y="4029075"/>
            <a:ext cx="471487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12620625" y="5076825"/>
            <a:ext cx="4714875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11"/>
              </a:lnSpc>
              <a:buNone/>
            </a:pPr>
            <a:r>
              <a:rPr lang="en-US" sz="25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钻进洞口，不见了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短时间内能看完的变化，可以用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这三个词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一步一步看出来。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观察体验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4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回想自己那只小动物：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老师问四个问题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7905750" cy="2122587"/>
          </a:xfrm>
          <a:prstGeom prst="roundRect">
            <a:avLst>
              <a:gd name="adj" fmla="val 8077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7886700" cy="695325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924175"/>
            <a:ext cx="800481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第一问：手摸</a:t>
            </a:r>
            <a:endParaRPr lang="en-US" sz="2325" dirty="0"/>
          </a:p>
        </p:txBody>
      </p:sp>
      <p:sp>
        <p:nvSpPr>
          <p:cNvPr id="10" name="Text 7"/>
          <p:cNvSpPr/>
          <p:nvPr/>
        </p:nvSpPr>
        <p:spPr>
          <a:xfrm>
            <a:off x="1362075" y="3676650"/>
            <a:ext cx="800481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你摸过它吗？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摸上去是什么感觉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475" dirty="0"/>
          </a:p>
        </p:txBody>
      </p:sp>
      <p:sp>
        <p:nvSpPr>
          <p:cNvPr id="11" name="Text 8"/>
          <p:cNvSpPr/>
          <p:nvPr/>
        </p:nvSpPr>
        <p:spPr>
          <a:xfrm>
            <a:off x="1362075" y="4265712"/>
            <a:ext cx="80048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毛软软的，暖暖的；壳硬硬的，滑溜溜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9334500" y="2762250"/>
            <a:ext cx="7905750" cy="2122587"/>
          </a:xfrm>
          <a:prstGeom prst="roundRect">
            <a:avLst>
              <a:gd name="adj" fmla="val 8077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344025" y="2771775"/>
            <a:ext cx="7886700" cy="695325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648825" y="2924175"/>
            <a:ext cx="800481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第二问：耳听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9648825" y="3676650"/>
            <a:ext cx="800481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它叫起来是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什么声音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？走动、吃东西时有声音吗？</a:t>
            </a:r>
            <a:endParaRPr lang="en-US" sz="2475" dirty="0"/>
          </a:p>
        </p:txBody>
      </p:sp>
      <p:sp>
        <p:nvSpPr>
          <p:cNvPr id="16" name="Text 13"/>
          <p:cNvSpPr/>
          <p:nvPr/>
        </p:nvSpPr>
        <p:spPr>
          <a:xfrm>
            <a:off x="9648825" y="4265712"/>
            <a:ext cx="80048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喵喵叫，饿的时候声音拖得很长；爪子在地板上嗒嗒嗒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047750" y="5170587"/>
            <a:ext cx="7905750" cy="2122587"/>
          </a:xfrm>
          <a:prstGeom prst="roundRect">
            <a:avLst>
              <a:gd name="adj" fmla="val 8077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57275" y="5180112"/>
            <a:ext cx="7886700" cy="695325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62075" y="5332512"/>
            <a:ext cx="800481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第三问：鼻闻</a:t>
            </a:r>
            <a:endParaRPr lang="en-US" sz="2325" dirty="0"/>
          </a:p>
        </p:txBody>
      </p:sp>
      <p:sp>
        <p:nvSpPr>
          <p:cNvPr id="20" name="Text 17"/>
          <p:cNvSpPr/>
          <p:nvPr/>
        </p:nvSpPr>
        <p:spPr>
          <a:xfrm>
            <a:off x="1362075" y="6084987"/>
            <a:ext cx="800481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凑近它，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闻到过什么味道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吗？</a:t>
            </a:r>
            <a:endParaRPr lang="en-US" sz="2475" dirty="0"/>
          </a:p>
        </p:txBody>
      </p:sp>
      <p:sp>
        <p:nvSpPr>
          <p:cNvPr id="21" name="Text 18"/>
          <p:cNvSpPr/>
          <p:nvPr/>
        </p:nvSpPr>
        <p:spPr>
          <a:xfrm>
            <a:off x="1362075" y="6674048"/>
            <a:ext cx="80048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晒过太阳以后有一股暖烘烘的味；鱼缸边上有点腥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9334500" y="5170587"/>
            <a:ext cx="7905750" cy="2122587"/>
          </a:xfrm>
          <a:prstGeom prst="roundRect">
            <a:avLst>
              <a:gd name="adj" fmla="val 8077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344025" y="5180112"/>
            <a:ext cx="7886700" cy="695325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648825" y="5332512"/>
            <a:ext cx="800481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第四问：小习惯</a:t>
            </a:r>
            <a:endParaRPr lang="en-US" sz="2325" dirty="0"/>
          </a:p>
        </p:txBody>
      </p:sp>
      <p:sp>
        <p:nvSpPr>
          <p:cNvPr id="25" name="Text 22"/>
          <p:cNvSpPr/>
          <p:nvPr/>
        </p:nvSpPr>
        <p:spPr>
          <a:xfrm>
            <a:off x="9648825" y="6084987"/>
            <a:ext cx="800481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它有没有一个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只有它才有的小习惯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475" dirty="0"/>
          </a:p>
        </p:txBody>
      </p:sp>
      <p:sp>
        <p:nvSpPr>
          <p:cNvPr id="26" name="Text 23"/>
          <p:cNvSpPr/>
          <p:nvPr/>
        </p:nvSpPr>
        <p:spPr>
          <a:xfrm>
            <a:off x="9648825" y="6674048"/>
            <a:ext cx="80048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吸尘器一响就钻到沙发底下；它认得我的脚步声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想到了就请举手；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摸不着、闻不到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，也是试过以后才有的发现。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观察体验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12561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581615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观察的时候：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能用上的都用上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143250"/>
            <a:ext cx="3040261" cy="2790825"/>
          </a:xfrm>
          <a:prstGeom prst="roundRect">
            <a:avLst>
              <a:gd name="adj" fmla="val 6143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3152775"/>
            <a:ext cx="3021211" cy="866775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23975" y="3362325"/>
            <a:ext cx="2736592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眼睛看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323975" y="4286250"/>
            <a:ext cx="2564011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颜色、样子、动作，还有它的变化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4335661" y="3143250"/>
            <a:ext cx="3040410" cy="2790825"/>
          </a:xfrm>
          <a:prstGeom prst="roundRect">
            <a:avLst>
              <a:gd name="adj" fmla="val 6143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345186" y="3152775"/>
            <a:ext cx="3021360" cy="866775"/>
          </a:xfrm>
          <a:prstGeom prst="rect">
            <a:avLst/>
          </a:prstGeom>
          <a:solidFill>
            <a:srgbClr val="2F72B8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611886" y="3362325"/>
            <a:ext cx="2736756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耳朵听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4611886" y="4286250"/>
            <a:ext cx="25641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叫声、啃食物的声音、脚步声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7623721" y="3143250"/>
            <a:ext cx="3040410" cy="2790825"/>
          </a:xfrm>
          <a:prstGeom prst="roundRect">
            <a:avLst>
              <a:gd name="adj" fmla="val 6143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633246" y="3152775"/>
            <a:ext cx="3021360" cy="866775"/>
          </a:xfrm>
          <a:prstGeom prst="rect">
            <a:avLst/>
          </a:prstGeom>
          <a:solidFill>
            <a:srgbClr val="D982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899946" y="3362325"/>
            <a:ext cx="2736756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手摸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7899946" y="4286250"/>
            <a:ext cx="25641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毛是软的、暖的；壳是硬的、滑的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10911780" y="3143250"/>
            <a:ext cx="3040410" cy="2790825"/>
          </a:xfrm>
          <a:prstGeom prst="roundRect">
            <a:avLst>
              <a:gd name="adj" fmla="val 6143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921305" y="3152775"/>
            <a:ext cx="3021360" cy="866775"/>
          </a:xfrm>
          <a:prstGeom prst="rect">
            <a:avLst/>
          </a:prstGeom>
          <a:solidFill>
            <a:srgbClr val="8E5AA8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1188005" y="3362325"/>
            <a:ext cx="2736756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鼻子闻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11188005" y="4286250"/>
            <a:ext cx="25641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暖烘烘的味道，或者有点腥</a:t>
            </a:r>
            <a:endParaRPr lang="en-US" sz="2250" dirty="0"/>
          </a:p>
        </p:txBody>
      </p:sp>
      <p:sp>
        <p:nvSpPr>
          <p:cNvPr id="24" name="Shape 21"/>
          <p:cNvSpPr/>
          <p:nvPr/>
        </p:nvSpPr>
        <p:spPr>
          <a:xfrm>
            <a:off x="14199840" y="3143250"/>
            <a:ext cx="3040410" cy="2790825"/>
          </a:xfrm>
          <a:prstGeom prst="roundRect">
            <a:avLst>
              <a:gd name="adj" fmla="val 6143"/>
            </a:avLst>
          </a:prstGeom>
          <a:solidFill>
            <a:srgbClr val="F7F8FA">
              <a:alpha val="55000"/>
            </a:srgbClr>
          </a:solidFill>
          <a:ln w="9525">
            <a:solidFill>
              <a:srgbClr val="E4E7EC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4209365" y="3152775"/>
            <a:ext cx="3021360" cy="866775"/>
          </a:xfrm>
          <a:prstGeom prst="rect">
            <a:avLst/>
          </a:prstGeom>
          <a:solidFill>
            <a:srgbClr val="8A929E">
              <a:alpha val="55000"/>
            </a:srgbClr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4476065" y="3362325"/>
            <a:ext cx="2736756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嘴巴尝</a:t>
            </a:r>
            <a:endParaRPr lang="en-US" sz="2700" dirty="0"/>
          </a:p>
        </p:txBody>
      </p:sp>
      <p:sp>
        <p:nvSpPr>
          <p:cNvPr id="27" name="Text 24"/>
          <p:cNvSpPr/>
          <p:nvPr/>
        </p:nvSpPr>
        <p:spPr>
          <a:xfrm>
            <a:off x="14476065" y="4286250"/>
            <a:ext cx="25641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小动物不能尝，这一格今天空着</a:t>
            </a:r>
            <a:endParaRPr lang="en-US" sz="2250" dirty="0"/>
          </a:p>
        </p:txBody>
      </p:sp>
      <p:sp>
        <p:nvSpPr>
          <p:cNvPr id="28" name="Shape 25"/>
          <p:cNvSpPr/>
          <p:nvPr/>
        </p:nvSpPr>
        <p:spPr>
          <a:xfrm>
            <a:off x="1047750" y="6191250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428750" y="6419850"/>
            <a:ext cx="169735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碰不到、闻不到的，那一格空着即可。写蚂蚁的同学，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看到的样子、像什么、它的变化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这三项最容易写出内容。</a:t>
            </a:r>
            <a:endParaRPr lang="en-US" sz="2325" dirty="0"/>
          </a:p>
        </p:txBody>
      </p:sp>
      <p:sp>
        <p:nvSpPr>
          <p:cNvPr id="30" name="Text 27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教材上说：用眼睛看，用耳朵听，还可以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用手摸，用鼻子闻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，有时还可以尝一尝。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019279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029005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同写一群蚂蚁：哪一段把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印象最深的地方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写清楚了？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7886700" cy="4953000"/>
          </a:xfrm>
          <a:prstGeom prst="roundRect">
            <a:avLst>
              <a:gd name="adj" fmla="val 3462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81125" y="2943225"/>
            <a:ext cx="794194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57275" y="3514725"/>
            <a:ext cx="7867650" cy="4191000"/>
          </a:xfrm>
          <a:prstGeom prst="rect">
            <a:avLst/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1125" y="3781425"/>
            <a:ext cx="7436549" cy="2677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33400" marL="0">
              <a:lnSpc>
                <a:spcPct val="124865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家楼下有一群蚂蚁。它们是黑色的，背上油亮油亮的，最大的一只也不过一颗小米粒那么大。头上两根触角细得像头发丝，一刻不停地摆来摆去。六条腿跑起来飞快，一眨眼就从这块砖跑到了那块砖。它们力气大得出奇，能拖动比自己大好几倍的东西。墙根底下有一个小洞口，那就是它们的家。太阳一落山，它们就都回去了。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9353550" y="2762250"/>
            <a:ext cx="7886700" cy="4953000"/>
          </a:xfrm>
          <a:prstGeom prst="roundRect">
            <a:avLst>
              <a:gd name="adj" fmla="val 3462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363075" y="277177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686925" y="2943225"/>
            <a:ext cx="794194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363075" y="3514725"/>
            <a:ext cx="7867650" cy="4191000"/>
          </a:xfrm>
          <a:prstGeom prst="rect">
            <a:avLst/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86925" y="3781425"/>
            <a:ext cx="7436549" cy="3117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33400" marL="0">
              <a:lnSpc>
                <a:spcPct val="124865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家楼下那群蚂蚁里，有一只搬着一小块饼干渣，那块饼干渣比它的脑袋还大。它把饼干渣举过头顶，走三步停一下，像是要歇一歇。它就这样一路往洞口那边挪，挪到半路，前面横着一道水痕。它在水痕跟前停住了，后面跟上来的几只蚂蚁也堵在那里：刚开始它们挤在水边打转，谁也不肯走上去；过了一会儿，有一只贴着水边试着绕了半圈；最后，来来往往的蚂蚁都顺着它绕出来的那条路走，水痕上一只蚂蚁也没有。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先举手表态，再说一说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你的理由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85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15842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读完，你记住了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哪一只、哪一件事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4191000"/>
          </a:xfrm>
          <a:prstGeom prst="roundRect">
            <a:avLst>
              <a:gd name="adj" fmla="val 409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38475"/>
            <a:ext cx="79838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第一段：写了七项，每项一句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362075" y="3876675"/>
            <a:ext cx="952500" cy="581025"/>
          </a:xfrm>
          <a:prstGeom prst="roundRect">
            <a:avLst>
              <a:gd name="adj" fmla="val 19672"/>
            </a:avLst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571625" y="3990975"/>
            <a:ext cx="609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447925" y="3876675"/>
            <a:ext cx="952500" cy="581025"/>
          </a:xfrm>
          <a:prstGeom prst="roundRect">
            <a:avLst>
              <a:gd name="adj" fmla="val 19672"/>
            </a:avLst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657475" y="3990975"/>
            <a:ext cx="609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3533775" y="3876675"/>
            <a:ext cx="952500" cy="581025"/>
          </a:xfrm>
          <a:prstGeom prst="roundRect">
            <a:avLst>
              <a:gd name="adj" fmla="val 19672"/>
            </a:avLst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743325" y="3990975"/>
            <a:ext cx="609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触角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4619625" y="3876675"/>
            <a:ext cx="952500" cy="581025"/>
          </a:xfrm>
          <a:prstGeom prst="roundRect">
            <a:avLst>
              <a:gd name="adj" fmla="val 19672"/>
            </a:avLst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829175" y="3990975"/>
            <a:ext cx="609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腿脚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5705475" y="3876675"/>
            <a:ext cx="952500" cy="581025"/>
          </a:xfrm>
          <a:prstGeom prst="roundRect">
            <a:avLst>
              <a:gd name="adj" fmla="val 19672"/>
            </a:avLst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15025" y="3990975"/>
            <a:ext cx="609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力气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6791325" y="3876675"/>
            <a:ext cx="952500" cy="581025"/>
          </a:xfrm>
          <a:prstGeom prst="roundRect">
            <a:avLst>
              <a:gd name="adj" fmla="val 19672"/>
            </a:avLst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7000875" y="3990975"/>
            <a:ext cx="609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洞口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1362075" y="4591050"/>
            <a:ext cx="952500" cy="581025"/>
          </a:xfrm>
          <a:prstGeom prst="roundRect">
            <a:avLst>
              <a:gd name="adj" fmla="val 19672"/>
            </a:avLst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571625" y="4705350"/>
            <a:ext cx="609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回家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1362075" y="5438775"/>
            <a:ext cx="7475792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作者处处都留意到了，每一句都写了具体的内容；可是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没有一处写详细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，读完记不住。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9353550" y="2857500"/>
            <a:ext cx="7886700" cy="4191000"/>
          </a:xfrm>
          <a:prstGeom prst="roundRect">
            <a:avLst>
              <a:gd name="adj" fmla="val 409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9363075" y="286702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9667875" y="3038475"/>
            <a:ext cx="79838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第二段：写了两处，每处都写清楚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9667875" y="3876675"/>
            <a:ext cx="2819400" cy="581025"/>
          </a:xfrm>
          <a:prstGeom prst="roundRect">
            <a:avLst>
              <a:gd name="adj" fmla="val 19672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9877425" y="3990975"/>
            <a:ext cx="26403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举着饼干渣的那一只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12620625" y="3876675"/>
            <a:ext cx="2286000" cy="581025"/>
          </a:xfrm>
          <a:prstGeom prst="roundRect">
            <a:avLst>
              <a:gd name="adj" fmla="val 19672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2830175" y="3990975"/>
            <a:ext cx="20535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绕开水痕的过程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9667875" y="4724400"/>
            <a:ext cx="7475792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只写了两处，可是每一处都写清楚了，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读完就能记住这两处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印象最深的一两处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写清楚，读的人才记得住。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4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今天的写法：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细看、选一两处、写清楚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143250"/>
            <a:ext cx="5168801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390650" y="350802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560761" y="358422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2105025" y="3486150"/>
            <a:ext cx="99060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细看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390650" y="4282380"/>
            <a:ext cx="4617491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眼睛看、耳朵听、手摸、鼻子闻，能用上的感官都用上，处处都留意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559451" y="3143250"/>
            <a:ext cx="516895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902351" y="350802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072461" y="358422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7616726" y="3486150"/>
            <a:ext cx="201168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选一两处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6902351" y="4282380"/>
            <a:ext cx="4617644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从观察到的内容里选出印象最深的一两处，其余的一句带过，也可以不写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12071300" y="3143250"/>
            <a:ext cx="516895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2414200" y="350802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2584311" y="358422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3128575" y="3486150"/>
            <a:ext cx="150876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写清楚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12414200" y="4282380"/>
            <a:ext cx="4931465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把选出来的这一两处写清楚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047750" y="6762750"/>
            <a:ext cx="16192500" cy="1005780"/>
          </a:xfrm>
          <a:prstGeom prst="roundRect">
            <a:avLst>
              <a:gd name="adj" fmla="val 17046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447800" y="7029450"/>
            <a:ext cx="1693164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课文《搭船的鸟》：作者仔细观察了一只翠鸟，写清楚的正是两处：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色彩艳丽的羽毛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敏捷的动作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看得仔细，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才有内容可选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35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05326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看老师示范：把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“洞口有蚂蚁进进出出”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写清楚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743200"/>
            <a:ext cx="178117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只写一句：</a:t>
            </a:r>
            <a:pPr algn="l" indent="0" marL="0">
              <a:buNone/>
            </a:pPr>
            <a:r>
              <a:rPr lang="en-US" sz="23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洞口有蚂蚁进进出出。</a:t>
            </a:r>
            <a:endParaRPr lang="en-US" sz="2325" dirty="0"/>
          </a:p>
        </p:txBody>
      </p:sp>
      <p:sp>
        <p:nvSpPr>
          <p:cNvPr id="8" name="Shape 5"/>
          <p:cNvSpPr/>
          <p:nvPr/>
        </p:nvSpPr>
        <p:spPr>
          <a:xfrm>
            <a:off x="1047750" y="3390900"/>
            <a:ext cx="16192500" cy="2247900"/>
          </a:xfrm>
          <a:prstGeom prst="roundRect">
            <a:avLst>
              <a:gd name="adj" fmla="val 7627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524000" y="3714750"/>
            <a:ext cx="1569720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609600" marL="0">
              <a:lnSpc>
                <a:spcPct val="133333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洞口</a:t>
            </a:r>
            <a:pPr algn="l" indent="609600" marL="0">
              <a:lnSpc>
                <a:spcPct val="133333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只有铅笔尖那么大，四周堆着一圈新翻上来的碎泥土</a:t>
            </a:r>
            <a:pPr algn="l" indent="609600" marL="0">
              <a:lnSpc>
                <a:spcPct val="133333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algn="l" indent="609600" marL="0">
              <a:lnSpc>
                <a:spcPct val="133333"/>
              </a:lnSpc>
              <a:buNone/>
            </a:pPr>
            <a:r>
              <a:rPr lang="en-US" sz="240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像一座小小的火山口</a:t>
            </a:r>
            <a:pPr algn="l" indent="609600" marL="0">
              <a:lnSpc>
                <a:spcPct val="133333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pPr algn="l" indent="609600" marL="0">
              <a:lnSpc>
                <a:spcPct val="133333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进去的那些蚂蚁多半驮着东西，出来的却什么也没驮</a:t>
            </a:r>
            <a:pPr algn="l" indent="609600" marL="0">
              <a:lnSpc>
                <a:spcPct val="133333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，进进出出的蚂蚁在洞口挤成一小团，谁也不让谁。我伸手碰了碰洞口那圈碎泥土，</a:t>
            </a:r>
            <a:pPr algn="l" indent="609600" marL="0">
              <a:lnSpc>
                <a:spcPct val="133333"/>
              </a:lnSpc>
              <a:buNone/>
            </a:pPr>
            <a:r>
              <a:rPr lang="en-US" sz="24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又松又软，指尖一按就陷下去一点</a:t>
            </a:r>
            <a:pPr algn="l" indent="609600" marL="0">
              <a:lnSpc>
                <a:spcPct val="133333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47750" y="6286500"/>
            <a:ext cx="5219700" cy="1752600"/>
          </a:xfrm>
          <a:prstGeom prst="roundRect">
            <a:avLst>
              <a:gd name="adj" fmla="val 869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23975" y="6524625"/>
            <a:ext cx="51339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洞口什么样，像什么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323975" y="7000875"/>
            <a:ext cx="480726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铅笔尖那么大，一圈碎泥土，</a:t>
            </a:r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像小小的火山口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534150" y="6286500"/>
            <a:ext cx="5219700" cy="1752600"/>
          </a:xfrm>
          <a:prstGeom prst="roundRect">
            <a:avLst>
              <a:gd name="adj" fmla="val 869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810375" y="6524625"/>
            <a:ext cx="51339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进去的和出来的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6810375" y="7000875"/>
            <a:ext cx="51339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进去的驮着东西，出来的什么也没驮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2020550" y="6286500"/>
            <a:ext cx="5219700" cy="1752600"/>
          </a:xfrm>
          <a:prstGeom prst="roundRect">
            <a:avLst>
              <a:gd name="adj" fmla="val 869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2296775" y="6524625"/>
            <a:ext cx="51339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手摸到的感觉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2296775" y="7000875"/>
            <a:ext cx="51339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又松又软，一按就陷下去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看到的和手摸到的放在一起，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这一处就写清楚了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12576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581632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写清楚：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先写样子，再加一项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648075"/>
            <a:ext cx="2590800" cy="1323975"/>
          </a:xfrm>
          <a:prstGeom prst="roundRect">
            <a:avLst>
              <a:gd name="adj" fmla="val 12950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504950" y="4029075"/>
            <a:ext cx="184404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它的样子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3981450" y="3857625"/>
            <a:ext cx="762000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</a:t>
            </a:r>
            <a:endParaRPr lang="en-US" sz="5400" dirty="0"/>
          </a:p>
        </p:txBody>
      </p:sp>
      <p:sp>
        <p:nvSpPr>
          <p:cNvPr id="11" name="Shape 8"/>
          <p:cNvSpPr/>
          <p:nvPr/>
        </p:nvSpPr>
        <p:spPr>
          <a:xfrm>
            <a:off x="5010150" y="3238500"/>
            <a:ext cx="14668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4E9A5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286375" y="3400425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像什么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010150" y="4133850"/>
            <a:ext cx="93668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或者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5010150" y="4657725"/>
            <a:ext cx="20764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2F72B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286375" y="481965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耳朵听到的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7258050" y="4657725"/>
            <a:ext cx="17716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D9822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34275" y="481965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手摸到的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9201150" y="4657725"/>
            <a:ext cx="20764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8E5AA8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477375" y="481965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鼻子闻到的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11449050" y="4657725"/>
            <a:ext cx="20764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2E8B86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725275" y="481965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嘴巴尝到的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1047750" y="6667500"/>
            <a:ext cx="16192500" cy="1478161"/>
          </a:xfrm>
          <a:prstGeom prst="roundRect">
            <a:avLst>
              <a:gd name="adj" fmla="val 11599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447800" y="6934200"/>
            <a:ext cx="15854172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例文《我家的小狗》：那只叫“王子”的狗，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认“狗”字时叫得最欢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。这是别的狗身上没有的，作者把它写了下来，读的人就记住了。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找一找：你的小动物身上，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别的小动物没有的那一处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71887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536873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会变的过程：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按先后顺序写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4000500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38475"/>
            <a:ext cx="79838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短时间内能看完的变化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362075" y="3876675"/>
            <a:ext cx="7475792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蚂蚁搬运食物、小狗见到你、金鱼抢食，从头到尾都看得见。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362075" y="5099447"/>
            <a:ext cx="381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800225" y="5104209"/>
            <a:ext cx="70408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</a:t>
            </a:r>
            <a:pPr algn="l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刚开始、过了一会儿、最后</a:t>
            </a:r>
            <a:pPr algn="l" indent="0" marL="0"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，一步一步写下来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9353550" y="2857500"/>
            <a:ext cx="7886700" cy="4000500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9363075" y="286702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667875" y="3038475"/>
            <a:ext cx="79838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隔好些天才看得出的变化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667875" y="3876675"/>
            <a:ext cx="7475792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例文《我爱故乡的杨梅》：杨梅从淡红变到深红，再变得几乎发黑。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667875" y="5099447"/>
            <a:ext cx="381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0106025" y="5104209"/>
            <a:ext cx="63703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不用这三个词，</a:t>
            </a:r>
            <a:pPr algn="l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写清楚哪一天看到的是什么样子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无论快慢，变化都要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按先后顺序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20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三人接龙：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把蚂蚁搬运食物的过程说一遍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38212" y="3219450"/>
            <a:ext cx="24098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刚开始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486150" y="3191619"/>
            <a:ext cx="656939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第一位同学说 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如：洞口边上只有几只在爬</a:t>
            </a:r>
            <a:endParaRPr lang="en-US" sz="2475" dirty="0"/>
          </a:p>
        </p:txBody>
      </p:sp>
      <p:sp>
        <p:nvSpPr>
          <p:cNvPr id="10" name="Shape 7"/>
          <p:cNvSpPr/>
          <p:nvPr/>
        </p:nvSpPr>
        <p:spPr>
          <a:xfrm>
            <a:off x="1047750" y="4133850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38212" y="4305300"/>
            <a:ext cx="24098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过了一会儿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486150" y="4277469"/>
            <a:ext cx="795242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第二位同学说 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如：驮着东西的一只接一只往洞口去</a:t>
            </a:r>
            <a:endParaRPr lang="en-US" sz="2475" dirty="0"/>
          </a:p>
        </p:txBody>
      </p:sp>
      <p:sp>
        <p:nvSpPr>
          <p:cNvPr id="13" name="Shape 10"/>
          <p:cNvSpPr/>
          <p:nvPr/>
        </p:nvSpPr>
        <p:spPr>
          <a:xfrm>
            <a:off x="1047750" y="5303937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38212" y="5475387"/>
            <a:ext cx="24098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486150" y="5219700"/>
            <a:ext cx="7887843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第三位同学说 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如：洞口挤成一团，东西一件一件都搬进去了</a:t>
            </a:r>
            <a:endParaRPr lang="en-US" sz="247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048000"/>
            <a:ext cx="4953000" cy="43815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三句话连起来，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搬运食物的过程就说清楚了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092178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357937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试一试：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写两句话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048000"/>
            <a:ext cx="16192500" cy="928688"/>
          </a:xfrm>
          <a:prstGeom prst="roundRect">
            <a:avLst>
              <a:gd name="adj" fmla="val 1641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28750" y="3276600"/>
            <a:ext cx="1697355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从你观察的小动物身上，选一处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印象最深的地方</a:t>
            </a:r>
            <a:pPr algn="l" indent="0" marL="0">
              <a:lnSpc>
                <a:spcPct val="112500"/>
              </a:lnSpc>
              <a:buNone/>
            </a:pPr>
            <a:r>
              <a:rPr lang="en-US" sz="247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，写在学习单中间的空白处。</a:t>
            </a:r>
            <a:endParaRPr lang="en-US" sz="2475" dirty="0"/>
          </a:p>
        </p:txBody>
      </p:sp>
      <p:sp>
        <p:nvSpPr>
          <p:cNvPr id="10" name="Shape 7"/>
          <p:cNvSpPr/>
          <p:nvPr/>
        </p:nvSpPr>
        <p:spPr>
          <a:xfrm>
            <a:off x="1047750" y="4476750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38212" y="4648200"/>
            <a:ext cx="24098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第一句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486150" y="4620369"/>
            <a:ext cx="242030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写它是什么样。</a:t>
            </a:r>
            <a:endParaRPr lang="en-US" sz="2475" dirty="0"/>
          </a:p>
        </p:txBody>
      </p:sp>
      <p:sp>
        <p:nvSpPr>
          <p:cNvPr id="13" name="Shape 10"/>
          <p:cNvSpPr/>
          <p:nvPr/>
        </p:nvSpPr>
        <p:spPr>
          <a:xfrm>
            <a:off x="1047750" y="5562600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38212" y="5734050"/>
            <a:ext cx="24098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第二句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486150" y="5706219"/>
            <a:ext cx="1071848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加上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它像什么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，或者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耳朵听到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手摸到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鼻子闻到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2E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嘴巴尝到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的感觉。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13326070" y="8058150"/>
            <a:ext cx="3914180" cy="800100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68970" y="8229600"/>
            <a:ext cx="355121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写作时间约 3 分钟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听同学读的时候想一想：他加上的是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哪一种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观察发现卡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3236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观察发现卡：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每格只填两三个词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667000"/>
            <a:ext cx="16192500" cy="5810250"/>
          </a:xfrm>
          <a:prstGeom prst="roundRect">
            <a:avLst>
              <a:gd name="adj" fmla="val 2295"/>
            </a:avLst>
          </a:prstGeom>
          <a:ln w="9525">
            <a:solidFill>
              <a:srgbClr val="DFE3E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7275" y="2676525"/>
            <a:ext cx="16173450" cy="685800"/>
          </a:xfrm>
          <a:prstGeom prst="rect">
            <a:avLst/>
          </a:prstGeom>
          <a:solidFill>
            <a:srgbClr val="3D4A63"/>
          </a:solidFill>
          <a:ln/>
        </p:spPr>
      </p:sp>
      <p:sp>
        <p:nvSpPr>
          <p:cNvPr id="9" name="Text 6"/>
          <p:cNvSpPr/>
          <p:nvPr/>
        </p:nvSpPr>
        <p:spPr>
          <a:xfrm>
            <a:off x="1362075" y="2828925"/>
            <a:ext cx="582549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6962775" y="2676525"/>
            <a:ext cx="9525" cy="6858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277100" y="2828925"/>
            <a:ext cx="1061370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362325"/>
            <a:ext cx="16173450" cy="63817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3" name="Text 10"/>
          <p:cNvSpPr/>
          <p:nvPr/>
        </p:nvSpPr>
        <p:spPr>
          <a:xfrm>
            <a:off x="1362075" y="3495675"/>
            <a:ext cx="5473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我观察的是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6962775" y="3362325"/>
            <a:ext cx="9525" cy="63817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15" name="Shape 12"/>
          <p:cNvSpPr/>
          <p:nvPr/>
        </p:nvSpPr>
        <p:spPr>
          <a:xfrm>
            <a:off x="1057275" y="4000500"/>
            <a:ext cx="16173450" cy="638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362075" y="4133850"/>
            <a:ext cx="5473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眼睛看到</a:t>
            </a:r>
            <a:endParaRPr lang="en-US" sz="2175" dirty="0"/>
          </a:p>
        </p:txBody>
      </p:sp>
      <p:sp>
        <p:nvSpPr>
          <p:cNvPr id="17" name="Shape 14"/>
          <p:cNvSpPr/>
          <p:nvPr/>
        </p:nvSpPr>
        <p:spPr>
          <a:xfrm>
            <a:off x="6962775" y="4000500"/>
            <a:ext cx="9525" cy="63817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18" name="Shape 15"/>
          <p:cNvSpPr/>
          <p:nvPr/>
        </p:nvSpPr>
        <p:spPr>
          <a:xfrm>
            <a:off x="1057275" y="4638675"/>
            <a:ext cx="16173450" cy="63817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9" name="Text 16"/>
          <p:cNvSpPr/>
          <p:nvPr/>
        </p:nvSpPr>
        <p:spPr>
          <a:xfrm>
            <a:off x="1362075" y="4772025"/>
            <a:ext cx="5473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耳朵听到</a:t>
            </a:r>
            <a:endParaRPr lang="en-US" sz="2175" dirty="0"/>
          </a:p>
        </p:txBody>
      </p:sp>
      <p:sp>
        <p:nvSpPr>
          <p:cNvPr id="20" name="Shape 17"/>
          <p:cNvSpPr/>
          <p:nvPr/>
        </p:nvSpPr>
        <p:spPr>
          <a:xfrm>
            <a:off x="6962775" y="4638675"/>
            <a:ext cx="9525" cy="63817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21" name="Shape 18"/>
          <p:cNvSpPr/>
          <p:nvPr/>
        </p:nvSpPr>
        <p:spPr>
          <a:xfrm>
            <a:off x="1057275" y="5276850"/>
            <a:ext cx="16173450" cy="638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1362075" y="5410200"/>
            <a:ext cx="5473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手摸到</a:t>
            </a:r>
            <a:endParaRPr lang="en-US" sz="2175" dirty="0"/>
          </a:p>
        </p:txBody>
      </p:sp>
      <p:sp>
        <p:nvSpPr>
          <p:cNvPr id="23" name="Shape 20"/>
          <p:cNvSpPr/>
          <p:nvPr/>
        </p:nvSpPr>
        <p:spPr>
          <a:xfrm>
            <a:off x="6962775" y="5276850"/>
            <a:ext cx="9525" cy="63817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24" name="Shape 21"/>
          <p:cNvSpPr/>
          <p:nvPr/>
        </p:nvSpPr>
        <p:spPr>
          <a:xfrm>
            <a:off x="1057275" y="5915025"/>
            <a:ext cx="16173450" cy="63817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5" name="Text 22"/>
          <p:cNvSpPr/>
          <p:nvPr/>
        </p:nvSpPr>
        <p:spPr>
          <a:xfrm>
            <a:off x="1362075" y="6048375"/>
            <a:ext cx="5473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鼻子闻到</a:t>
            </a:r>
            <a:endParaRPr lang="en-US" sz="2175" dirty="0"/>
          </a:p>
        </p:txBody>
      </p:sp>
      <p:sp>
        <p:nvSpPr>
          <p:cNvPr id="26" name="Shape 23"/>
          <p:cNvSpPr/>
          <p:nvPr/>
        </p:nvSpPr>
        <p:spPr>
          <a:xfrm>
            <a:off x="6962775" y="5915025"/>
            <a:ext cx="9525" cy="63817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27" name="Shape 24"/>
          <p:cNvSpPr/>
          <p:nvPr/>
        </p:nvSpPr>
        <p:spPr>
          <a:xfrm>
            <a:off x="1057275" y="6553200"/>
            <a:ext cx="16173450" cy="638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1362075" y="6686550"/>
            <a:ext cx="5473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嘴巴尝到</a:t>
            </a:r>
            <a:endParaRPr lang="en-US" sz="2175" dirty="0"/>
          </a:p>
        </p:txBody>
      </p:sp>
      <p:sp>
        <p:nvSpPr>
          <p:cNvPr id="29" name="Shape 26"/>
          <p:cNvSpPr/>
          <p:nvPr/>
        </p:nvSpPr>
        <p:spPr>
          <a:xfrm>
            <a:off x="6962775" y="6553200"/>
            <a:ext cx="9525" cy="63817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30" name="Shape 27"/>
          <p:cNvSpPr/>
          <p:nvPr/>
        </p:nvSpPr>
        <p:spPr>
          <a:xfrm>
            <a:off x="1057275" y="7191375"/>
            <a:ext cx="16173450" cy="63817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1" name="Text 28"/>
          <p:cNvSpPr/>
          <p:nvPr/>
        </p:nvSpPr>
        <p:spPr>
          <a:xfrm>
            <a:off x="1362075" y="7324725"/>
            <a:ext cx="5473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它的变化（刚开始→过了一会儿→最后）</a:t>
            </a:r>
            <a:endParaRPr lang="en-US" sz="2175" dirty="0"/>
          </a:p>
        </p:txBody>
      </p:sp>
      <p:sp>
        <p:nvSpPr>
          <p:cNvPr id="32" name="Shape 29"/>
          <p:cNvSpPr/>
          <p:nvPr/>
        </p:nvSpPr>
        <p:spPr>
          <a:xfrm>
            <a:off x="6962775" y="7191375"/>
            <a:ext cx="9525" cy="63817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33" name="Shape 30"/>
          <p:cNvSpPr/>
          <p:nvPr/>
        </p:nvSpPr>
        <p:spPr>
          <a:xfrm>
            <a:off x="1057275" y="7829550"/>
            <a:ext cx="16173450" cy="638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1362075" y="7962900"/>
            <a:ext cx="5473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印象最深的一两处（圈出来）</a:t>
            </a:r>
            <a:endParaRPr lang="en-US" sz="2175" dirty="0"/>
          </a:p>
        </p:txBody>
      </p:sp>
      <p:sp>
        <p:nvSpPr>
          <p:cNvPr id="35" name="Shape 32"/>
          <p:cNvSpPr/>
          <p:nvPr/>
        </p:nvSpPr>
        <p:spPr>
          <a:xfrm>
            <a:off x="6962775" y="7829550"/>
            <a:ext cx="9525" cy="63817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36" name="Text 3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只填词，不写句子；没有的那一格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空着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，不必硬填。</a:t>
            </a:r>
            <a:endParaRPr lang="en-US" sz="260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观察发现卡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71887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536873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老师先填一张：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一杯菊花茶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667000"/>
            <a:ext cx="16192500" cy="5838825"/>
          </a:xfrm>
          <a:prstGeom prst="roundRect">
            <a:avLst>
              <a:gd name="adj" fmla="val 2284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676525"/>
            <a:ext cx="16173450" cy="6858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828925"/>
            <a:ext cx="582549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6962775" y="2676525"/>
            <a:ext cx="9525" cy="6858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277100" y="2828925"/>
            <a:ext cx="1061370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362325"/>
            <a:ext cx="16173450" cy="6381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495675"/>
            <a:ext cx="5473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我观察的是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6962775" y="3362325"/>
            <a:ext cx="9525" cy="638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277100" y="3495675"/>
            <a:ext cx="995686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一杯菊花茶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1057275" y="4000500"/>
            <a:ext cx="16173450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133850"/>
            <a:ext cx="5473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眼睛看到</a:t>
            </a:r>
            <a:endParaRPr lang="en-US" sz="2175" dirty="0"/>
          </a:p>
        </p:txBody>
      </p:sp>
      <p:sp>
        <p:nvSpPr>
          <p:cNvPr id="18" name="Shape 15"/>
          <p:cNvSpPr/>
          <p:nvPr/>
        </p:nvSpPr>
        <p:spPr>
          <a:xfrm>
            <a:off x="6962775" y="4000500"/>
            <a:ext cx="9525" cy="638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277100" y="4133850"/>
            <a:ext cx="995686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干花小、黄里透灰；泡开后白花瓣黄花心，水变浅黄</a:t>
            </a:r>
            <a:endParaRPr lang="en-US" sz="2175" dirty="0"/>
          </a:p>
        </p:txBody>
      </p:sp>
      <p:sp>
        <p:nvSpPr>
          <p:cNvPr id="20" name="Shape 17"/>
          <p:cNvSpPr/>
          <p:nvPr/>
        </p:nvSpPr>
        <p:spPr>
          <a:xfrm>
            <a:off x="1057275" y="4638675"/>
            <a:ext cx="16173450" cy="6381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4772025"/>
            <a:ext cx="5473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耳朵听到</a:t>
            </a:r>
            <a:endParaRPr lang="en-US" sz="2175" dirty="0"/>
          </a:p>
        </p:txBody>
      </p:sp>
      <p:sp>
        <p:nvSpPr>
          <p:cNvPr id="22" name="Shape 19"/>
          <p:cNvSpPr/>
          <p:nvPr/>
        </p:nvSpPr>
        <p:spPr>
          <a:xfrm>
            <a:off x="6962775" y="4638675"/>
            <a:ext cx="9525" cy="638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277100" y="4772025"/>
            <a:ext cx="995686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（空着）</a:t>
            </a:r>
            <a:endParaRPr lang="en-US" sz="2175" dirty="0"/>
          </a:p>
        </p:txBody>
      </p:sp>
      <p:sp>
        <p:nvSpPr>
          <p:cNvPr id="24" name="Shape 21"/>
          <p:cNvSpPr/>
          <p:nvPr/>
        </p:nvSpPr>
        <p:spPr>
          <a:xfrm>
            <a:off x="1057275" y="5276850"/>
            <a:ext cx="16173450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5410200"/>
            <a:ext cx="5473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手摸到</a:t>
            </a:r>
            <a:endParaRPr lang="en-US" sz="2175" dirty="0"/>
          </a:p>
        </p:txBody>
      </p:sp>
      <p:sp>
        <p:nvSpPr>
          <p:cNvPr id="26" name="Shape 23"/>
          <p:cNvSpPr/>
          <p:nvPr/>
        </p:nvSpPr>
        <p:spPr>
          <a:xfrm>
            <a:off x="6962775" y="5276850"/>
            <a:ext cx="9525" cy="638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7277100" y="5410200"/>
            <a:ext cx="995686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杯壁烫</a:t>
            </a:r>
            <a:endParaRPr lang="en-US" sz="2175" dirty="0"/>
          </a:p>
        </p:txBody>
      </p:sp>
      <p:sp>
        <p:nvSpPr>
          <p:cNvPr id="28" name="Shape 25"/>
          <p:cNvSpPr/>
          <p:nvPr/>
        </p:nvSpPr>
        <p:spPr>
          <a:xfrm>
            <a:off x="1057275" y="5915025"/>
            <a:ext cx="16173450" cy="6381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6048375"/>
            <a:ext cx="5473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鼻子闻到</a:t>
            </a:r>
            <a:endParaRPr lang="en-US" sz="2175" dirty="0"/>
          </a:p>
        </p:txBody>
      </p:sp>
      <p:sp>
        <p:nvSpPr>
          <p:cNvPr id="30" name="Shape 27"/>
          <p:cNvSpPr/>
          <p:nvPr/>
        </p:nvSpPr>
        <p:spPr>
          <a:xfrm>
            <a:off x="6962775" y="5915025"/>
            <a:ext cx="9525" cy="638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7277100" y="6048375"/>
            <a:ext cx="995686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淡香，有青草味，有药香</a:t>
            </a:r>
            <a:endParaRPr lang="en-US" sz="2175" dirty="0"/>
          </a:p>
        </p:txBody>
      </p:sp>
      <p:sp>
        <p:nvSpPr>
          <p:cNvPr id="32" name="Shape 29"/>
          <p:cNvSpPr/>
          <p:nvPr/>
        </p:nvSpPr>
        <p:spPr>
          <a:xfrm>
            <a:off x="1057275" y="6553200"/>
            <a:ext cx="16173450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6686550"/>
            <a:ext cx="5473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嘴巴尝到</a:t>
            </a:r>
            <a:endParaRPr lang="en-US" sz="2175" dirty="0"/>
          </a:p>
        </p:txBody>
      </p:sp>
      <p:sp>
        <p:nvSpPr>
          <p:cNvPr id="34" name="Shape 31"/>
          <p:cNvSpPr/>
          <p:nvPr/>
        </p:nvSpPr>
        <p:spPr>
          <a:xfrm>
            <a:off x="6962775" y="6553200"/>
            <a:ext cx="9525" cy="638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7277100" y="6686550"/>
            <a:ext cx="995686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E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先苦，咽下去有点甜</a:t>
            </a:r>
            <a:endParaRPr lang="en-US" sz="2175" dirty="0"/>
          </a:p>
        </p:txBody>
      </p:sp>
      <p:sp>
        <p:nvSpPr>
          <p:cNvPr id="36" name="Shape 33"/>
          <p:cNvSpPr/>
          <p:nvPr/>
        </p:nvSpPr>
        <p:spPr>
          <a:xfrm>
            <a:off x="1057275" y="7191375"/>
            <a:ext cx="16173450" cy="6381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362075" y="7324725"/>
            <a:ext cx="5473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它的变化（刚开始→过了一会儿→最后）</a:t>
            </a:r>
            <a:endParaRPr lang="en-US" sz="2175" dirty="0"/>
          </a:p>
        </p:txBody>
      </p:sp>
      <p:sp>
        <p:nvSpPr>
          <p:cNvPr id="38" name="Shape 35"/>
          <p:cNvSpPr/>
          <p:nvPr/>
        </p:nvSpPr>
        <p:spPr>
          <a:xfrm>
            <a:off x="6962775" y="7191375"/>
            <a:ext cx="9525" cy="638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7277100" y="7324725"/>
            <a:ext cx="995686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打转浮在水面→花瓣慢慢舒展开→全部绽开，水变浅黄</a:t>
            </a:r>
            <a:endParaRPr lang="en-US" sz="2175" dirty="0"/>
          </a:p>
        </p:txBody>
      </p:sp>
      <p:sp>
        <p:nvSpPr>
          <p:cNvPr id="40" name="Shape 37"/>
          <p:cNvSpPr/>
          <p:nvPr/>
        </p:nvSpPr>
        <p:spPr>
          <a:xfrm>
            <a:off x="1057275" y="7829550"/>
            <a:ext cx="16173450" cy="666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1362075" y="7962900"/>
            <a:ext cx="54730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印象最深的一两处（圈出来）</a:t>
            </a:r>
            <a:endParaRPr lang="en-US" sz="2175" dirty="0"/>
          </a:p>
        </p:txBody>
      </p:sp>
      <p:sp>
        <p:nvSpPr>
          <p:cNvPr id="42" name="Shape 39"/>
          <p:cNvSpPr/>
          <p:nvPr/>
        </p:nvSpPr>
        <p:spPr>
          <a:xfrm>
            <a:off x="6962775" y="7829550"/>
            <a:ext cx="9525" cy="6667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7277100" y="7962900"/>
            <a:ext cx="995686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◯ 张开的过程 ◯ 味道</a:t>
            </a:r>
            <a:endParaRPr lang="en-US" sz="2175" dirty="0"/>
          </a:p>
        </p:txBody>
      </p:sp>
      <p:sp>
        <p:nvSpPr>
          <p:cNvPr id="44" name="Text 41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泡茶时没有听到特别的声音，“耳朵听到”这一格就空着；最后一格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圈出两处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，动笔时重点写。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观察发现卡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12561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581615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轮到你了：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填卡，再圈一两处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02895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009900"/>
            <a:ext cx="9624346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回想自己观察的小动物，每格填两三个词；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“嘴巴尝到”这一格空着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30053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37673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357688"/>
            <a:ext cx="9624346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“它的变化”这一格不要漏填：它见到你、抢食的时候，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常常是一步一步变化的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64832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72452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705475"/>
            <a:ext cx="6524149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在最后一格写上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印象最深的一两处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，圈出来</a:t>
            </a:r>
            <a:endParaRPr lang="en-US" sz="26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048000"/>
            <a:ext cx="4953000" cy="38100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6858000"/>
            <a:ext cx="10096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7086600"/>
            <a:ext cx="102679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同桌互说：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一句话即可，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“我圈的是哪一处”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19" name="Shape 15"/>
          <p:cNvSpPr/>
          <p:nvPr/>
        </p:nvSpPr>
        <p:spPr>
          <a:xfrm>
            <a:off x="13230820" y="7143750"/>
            <a:ext cx="3914180" cy="800100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13573720" y="7315200"/>
            <a:ext cx="355121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填卡时间约 3 分钟</a:t>
            </a:r>
            <a:endParaRPr lang="en-US" sz="2700" dirty="0"/>
          </a:p>
        </p:txBody>
      </p:sp>
      <p:sp>
        <p:nvSpPr>
          <p:cNvPr id="21" name="Text 17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圈的时候想一想：这一处是不是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你观察的那只小动物身上才有的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808300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805310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卡上圈的两处，到了短文里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各是哪几句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495550"/>
            <a:ext cx="16192500" cy="6667500"/>
          </a:xfrm>
          <a:prstGeom prst="roundRect">
            <a:avLst>
              <a:gd name="adj" fmla="val 2571"/>
            </a:avLst>
          </a:prstGeom>
          <a:solidFill>
            <a:srgbClr val="F7F5F2"/>
          </a:solidFill>
          <a:ln/>
        </p:spPr>
      </p:sp>
      <p:sp>
        <p:nvSpPr>
          <p:cNvPr id="8" name="Text 5"/>
          <p:cNvSpPr/>
          <p:nvPr/>
        </p:nvSpPr>
        <p:spPr>
          <a:xfrm>
            <a:off x="845820" y="2743200"/>
            <a:ext cx="1659636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一杯菊花茶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600200" y="3310830"/>
            <a:ext cx="1659636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昨天下午，奶奶在泡菊花茶，我赶紧凑过去瞧。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600200" y="3800326"/>
            <a:ext cx="1659636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干菊花装在小罐子里，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一朵朵缩成小小的花团，黄里透着点灰，比我的指甲盖大不了多少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，看上去一点儿都不像花。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600200" y="4289822"/>
            <a:ext cx="15540228" cy="1277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奶奶先是捏了几朵干菊花放进玻璃杯，又拎起水壶，往杯里冲入热水。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b="1" u="sng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一开始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，菊花被水流冲得在杯子里直打转，一朵朵挨在一起，浮在水面上。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b="1" u="sng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过了一会儿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这些紧紧卷着的花瓣慢慢舒展开，就像一个刚刚睡醒的孩子在伸懒腰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b="1" u="sng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，每一朵菊花都完全绽开了，白白的花瓣中间托着黄黄的花心，杯子里的水也变成了浅浅的黄色。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600200" y="5605909"/>
            <a:ext cx="15540228" cy="1277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我伸手想去拿杯子，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杯壁烫得我立刻收回了手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，只能把脸凑近杯口闻一闻。淡淡的香气飘过来，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闻着有点青草味，又带着一丝药香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。等水稍微凉了些，我轻轻吹了吹，小口抿了一口。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b="1" dirty="0">
                <a:solidFill>
                  <a:srgbClr val="2E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刚喝到嘴里，感觉有点苦，我的舌头不由得往回一缩，但咽下去后，我嘴里却又慢慢透出一丝淡淡的甜味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600200" y="6921996"/>
            <a:ext cx="1659636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原来这么小小的干菊花，泡进热水里，竟会发生这么奇妙的变化。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047750" y="9410700"/>
            <a:ext cx="1386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眼睛看到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2632323" y="9410700"/>
            <a:ext cx="22354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写变化的三个词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4988421" y="9410700"/>
            <a:ext cx="10797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打比方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6315819" y="9410700"/>
            <a:ext cx="10797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手摸到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7643217" y="9410700"/>
            <a:ext cx="1386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鼻子闻到</a:t>
            </a:r>
            <a:endParaRPr lang="en-US" sz="2025" dirty="0"/>
          </a:p>
        </p:txBody>
      </p:sp>
      <p:sp>
        <p:nvSpPr>
          <p:cNvPr id="19" name="Text 16"/>
          <p:cNvSpPr/>
          <p:nvPr/>
        </p:nvSpPr>
        <p:spPr>
          <a:xfrm>
            <a:off x="9227790" y="9410700"/>
            <a:ext cx="1386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E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嘴巴尝到</a:t>
            </a:r>
            <a:endParaRPr lang="en-US" sz="20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90552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447405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读完短文，想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两个问题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4953000"/>
          </a:xfrm>
          <a:prstGeom prst="roundRect">
            <a:avLst>
              <a:gd name="adj" fmla="val 346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219450"/>
            <a:ext cx="775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78"/>
              </a:lnSpc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问题① 卡上圈的两处，在短文里是哪几句？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466850" y="3920430"/>
            <a:ext cx="36195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885950" y="3920430"/>
            <a:ext cx="6828282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张开的过程：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第三段，从“往杯里冲入热水”到“水也变成了浅浅的黄色”，用了一开始、过了一会儿、最后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466850" y="5415855"/>
            <a:ext cx="3619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885950" y="5415855"/>
            <a:ext cx="682828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味道：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第四段后半，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E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先苦，咽下去有点甜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，也是一个变化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9353550" y="2857500"/>
            <a:ext cx="7886700" cy="4953000"/>
          </a:xfrm>
          <a:prstGeom prst="roundRect">
            <a:avLst>
              <a:gd name="adj" fmla="val 346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772650" y="3219450"/>
            <a:ext cx="775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78"/>
              </a:lnSpc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问题② 卡上其余几格，各写了几句？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9772650" y="3920430"/>
            <a:ext cx="361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0191750" y="3920430"/>
            <a:ext cx="53435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干花的样子：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第二段，一段就交代完了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9772650" y="4558605"/>
            <a:ext cx="361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0191750" y="4558605"/>
            <a:ext cx="25146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杯壁烫：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只有一句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9772650" y="5196780"/>
            <a:ext cx="361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0191750" y="5196780"/>
            <a:ext cx="37719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闻到的香味：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也只有一两句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卡上填了好几格，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重点写两处，其余一句带过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，这就是选一两处写清楚。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旁批表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37944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39537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读到哪一句，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好像自己也看到、闻到、尝到了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4984254"/>
          </a:xfrm>
          <a:prstGeom prst="roundRect">
            <a:avLst>
              <a:gd name="adj" fmla="val 2675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16173450" cy="733425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943225"/>
            <a:ext cx="1125283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示范文里的句子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11896725" y="2771775"/>
            <a:ext cx="9525" cy="7334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211050" y="2943225"/>
            <a:ext cx="518636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这一句写的是哪一方面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1057275" y="3505200"/>
            <a:ext cx="16173450" cy="705296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657600"/>
            <a:ext cx="10555034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一朵朵缩成小小的花团，黄里透着点灰，比我的指甲盖大不了多少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11896725" y="3505200"/>
            <a:ext cx="9525" cy="705296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211050" y="3657600"/>
            <a:ext cx="4874895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眼睛看到的：形状、颜色、大小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1057275" y="4210496"/>
            <a:ext cx="16173450" cy="7052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362896"/>
            <a:ext cx="10555034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一开始……过了一会儿……最后……</a:t>
            </a:r>
            <a:endParaRPr lang="en-US" sz="2175" dirty="0"/>
          </a:p>
        </p:txBody>
      </p:sp>
      <p:sp>
        <p:nvSpPr>
          <p:cNvPr id="18" name="Shape 15"/>
          <p:cNvSpPr/>
          <p:nvPr/>
        </p:nvSpPr>
        <p:spPr>
          <a:xfrm>
            <a:off x="11896725" y="4210496"/>
            <a:ext cx="9525" cy="705296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2211050" y="4362896"/>
            <a:ext cx="4874895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写变化的三个词</a:t>
            </a:r>
            <a:endParaRPr lang="en-US" sz="2175" dirty="0"/>
          </a:p>
        </p:txBody>
      </p:sp>
      <p:sp>
        <p:nvSpPr>
          <p:cNvPr id="20" name="Shape 17"/>
          <p:cNvSpPr/>
          <p:nvPr/>
        </p:nvSpPr>
        <p:spPr>
          <a:xfrm>
            <a:off x="1057275" y="4915793"/>
            <a:ext cx="16173450" cy="705296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5068193"/>
            <a:ext cx="10555034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这些紧紧卷着的花瓣慢慢舒展开，就像一个刚刚睡醒的孩子在伸懒腰</a:t>
            </a:r>
            <a:endParaRPr lang="en-US" sz="2175" dirty="0"/>
          </a:p>
        </p:txBody>
      </p:sp>
      <p:sp>
        <p:nvSpPr>
          <p:cNvPr id="22" name="Shape 19"/>
          <p:cNvSpPr/>
          <p:nvPr/>
        </p:nvSpPr>
        <p:spPr>
          <a:xfrm>
            <a:off x="11896725" y="4915793"/>
            <a:ext cx="9525" cy="705296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2211050" y="5068193"/>
            <a:ext cx="4874895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打比方</a:t>
            </a:r>
            <a:endParaRPr lang="en-US" sz="2175" dirty="0"/>
          </a:p>
        </p:txBody>
      </p:sp>
      <p:sp>
        <p:nvSpPr>
          <p:cNvPr id="24" name="Shape 21"/>
          <p:cNvSpPr/>
          <p:nvPr/>
        </p:nvSpPr>
        <p:spPr>
          <a:xfrm>
            <a:off x="1057275" y="5621089"/>
            <a:ext cx="16173450" cy="7052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5773489"/>
            <a:ext cx="10555034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杯壁烫得我立刻收回了手</a:t>
            </a:r>
            <a:endParaRPr lang="en-US" sz="2175" dirty="0"/>
          </a:p>
        </p:txBody>
      </p:sp>
      <p:sp>
        <p:nvSpPr>
          <p:cNvPr id="26" name="Shape 23"/>
          <p:cNvSpPr/>
          <p:nvPr/>
        </p:nvSpPr>
        <p:spPr>
          <a:xfrm>
            <a:off x="11896725" y="5621089"/>
            <a:ext cx="9525" cy="705296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2211050" y="5773489"/>
            <a:ext cx="4874895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手摸到的</a:t>
            </a:r>
            <a:endParaRPr lang="en-US" sz="2175" dirty="0"/>
          </a:p>
        </p:txBody>
      </p:sp>
      <p:sp>
        <p:nvSpPr>
          <p:cNvPr id="28" name="Shape 25"/>
          <p:cNvSpPr/>
          <p:nvPr/>
        </p:nvSpPr>
        <p:spPr>
          <a:xfrm>
            <a:off x="1057275" y="6326386"/>
            <a:ext cx="16173450" cy="705296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6478786"/>
            <a:ext cx="10555034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闻着有点青草味，又带着一丝药香</a:t>
            </a:r>
            <a:endParaRPr lang="en-US" sz="2175" dirty="0"/>
          </a:p>
        </p:txBody>
      </p:sp>
      <p:sp>
        <p:nvSpPr>
          <p:cNvPr id="30" name="Shape 27"/>
          <p:cNvSpPr/>
          <p:nvPr/>
        </p:nvSpPr>
        <p:spPr>
          <a:xfrm>
            <a:off x="11896725" y="6326386"/>
            <a:ext cx="9525" cy="705296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2211050" y="6478786"/>
            <a:ext cx="4874895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鼻子闻到的，说清是什么味道</a:t>
            </a:r>
            <a:endParaRPr lang="en-US" sz="2175" dirty="0"/>
          </a:p>
        </p:txBody>
      </p:sp>
      <p:sp>
        <p:nvSpPr>
          <p:cNvPr id="32" name="Shape 29"/>
          <p:cNvSpPr/>
          <p:nvPr/>
        </p:nvSpPr>
        <p:spPr>
          <a:xfrm>
            <a:off x="1057275" y="7031682"/>
            <a:ext cx="16173450" cy="7052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7184082"/>
            <a:ext cx="10555034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刚喝到嘴里，感觉有点苦……咽下去后……透出一丝淡淡的甜味</a:t>
            </a:r>
            <a:endParaRPr lang="en-US" sz="2175" dirty="0"/>
          </a:p>
        </p:txBody>
      </p:sp>
      <p:sp>
        <p:nvSpPr>
          <p:cNvPr id="34" name="Shape 31"/>
          <p:cNvSpPr/>
          <p:nvPr/>
        </p:nvSpPr>
        <p:spPr>
          <a:xfrm>
            <a:off x="11896725" y="7031682"/>
            <a:ext cx="9525" cy="705296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12211050" y="7184082"/>
            <a:ext cx="4874895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2E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嘴巴尝到的，也写出了变化</a:t>
            </a:r>
            <a:endParaRPr lang="en-US" sz="2175" dirty="0"/>
          </a:p>
        </p:txBody>
      </p:sp>
      <p:sp>
        <p:nvSpPr>
          <p:cNvPr id="36" name="Text 3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写小动物的同学，重点看前三行：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它是什么样、有什么变化、像什么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6286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146685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57162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78"/>
              </a:lnSpc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写第一组句子 · 自由写作 · 小组轮读 · 对照自改 · 同桌互改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写作热身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911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借助观察发现卡：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写下第一组句子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38212" y="3028950"/>
            <a:ext cx="24098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交代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486150" y="3001119"/>
            <a:ext cx="1383030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开头空两格，用一句话交代观察的是什么。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如“楼下那只花猫，我天天上学都能碰见。”</a:t>
            </a:r>
            <a:endParaRPr lang="en-US" sz="2475" dirty="0"/>
          </a:p>
        </p:txBody>
      </p:sp>
      <p:sp>
        <p:nvSpPr>
          <p:cNvPr id="10" name="Shape 7"/>
          <p:cNvSpPr/>
          <p:nvPr/>
        </p:nvSpPr>
        <p:spPr>
          <a:xfrm>
            <a:off x="1047750" y="3848100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38212" y="4019550"/>
            <a:ext cx="24098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写样子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486150" y="3991719"/>
            <a:ext cx="1002696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写圈出的第一处：在它身上的什么部位，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是什么颜色、什么形状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75" dirty="0"/>
          </a:p>
        </p:txBody>
      </p:sp>
      <p:sp>
        <p:nvSpPr>
          <p:cNvPr id="13" name="Shape 10"/>
          <p:cNvSpPr/>
          <p:nvPr/>
        </p:nvSpPr>
        <p:spPr>
          <a:xfrm>
            <a:off x="1047750" y="4838700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38212" y="5010150"/>
            <a:ext cx="24098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加一句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486150" y="4982319"/>
            <a:ext cx="968121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像什么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，或者耳朵听到、手摸到、鼻子闻到、嘴巴尝到什么。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1047750" y="5829300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38212" y="6000750"/>
            <a:ext cx="24098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写变化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486150" y="5972919"/>
            <a:ext cx="1417605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如果这一处会变，就用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刚开始、过了一会儿、最后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各写一句。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没有变化的，这一步不必写。</a:t>
            </a:r>
            <a:endParaRPr lang="en-US" sz="2475" dirty="0"/>
          </a:p>
        </p:txBody>
      </p:sp>
      <p:sp>
        <p:nvSpPr>
          <p:cNvPr id="19" name="Shape 16"/>
          <p:cNvSpPr/>
          <p:nvPr/>
        </p:nvSpPr>
        <p:spPr>
          <a:xfrm>
            <a:off x="1047750" y="8053387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428750" y="8281987"/>
            <a:ext cx="169735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上节课在学习单上写的两句，如果正好写的是这一处，就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誊到稿纸上，接着往下写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21" name="Text 18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这几句，就是这篇习作的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31212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492131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把习作写完：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记住三件事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5168801" cy="361950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3200400"/>
            <a:ext cx="484748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1428750" y="4171950"/>
            <a:ext cx="453900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重点写卡上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圈出的一两处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，其他看到的一句带过，也可以不写</a:t>
            </a:r>
            <a:endParaRPr lang="en-US" sz="2475" dirty="0"/>
          </a:p>
        </p:txBody>
      </p:sp>
      <p:sp>
        <p:nvSpPr>
          <p:cNvPr id="10" name="Shape 7"/>
          <p:cNvSpPr/>
          <p:nvPr/>
        </p:nvSpPr>
        <p:spPr>
          <a:xfrm>
            <a:off x="6559451" y="2857500"/>
            <a:ext cx="5168950" cy="361950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940451" y="3200400"/>
            <a:ext cx="484764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6940451" y="4171950"/>
            <a:ext cx="4539158" cy="1452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先写它的样子，再加上它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像什么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，或者听到、摸到、闻到、尝到的感觉</a:t>
            </a:r>
            <a:endParaRPr lang="en-US" sz="2475" dirty="0"/>
          </a:p>
        </p:txBody>
      </p:sp>
      <p:sp>
        <p:nvSpPr>
          <p:cNvPr id="13" name="Shape 10"/>
          <p:cNvSpPr/>
          <p:nvPr/>
        </p:nvSpPr>
        <p:spPr>
          <a:xfrm>
            <a:off x="12071300" y="2857500"/>
            <a:ext cx="5168950" cy="361950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452300" y="3200400"/>
            <a:ext cx="484764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12452300" y="4171950"/>
            <a:ext cx="4539158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短时间内能看完的变化，用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刚开始、过了一会儿、最后</a:t>
            </a:r>
            <a:endParaRPr lang="en-US" sz="2475" dirty="0"/>
          </a:p>
        </p:txBody>
      </p:sp>
      <p:sp>
        <p:nvSpPr>
          <p:cNvPr id="16" name="Text 13"/>
          <p:cNvSpPr/>
          <p:nvPr/>
        </p:nvSpPr>
        <p:spPr>
          <a:xfrm>
            <a:off x="1047750" y="8181975"/>
            <a:ext cx="1187100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写错了不必擦，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接着往下写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，修改留到后面再做。写到结尾，用一句话写观察它之后的感受。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13114734" y="8820150"/>
            <a:ext cx="4125516" cy="800100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457634" y="8991600"/>
            <a:ext cx="378368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写作时间约 20 分钟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3236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四人一组：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读重点写的那一两处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02895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009900"/>
            <a:ext cx="6180773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轮流读自己重点写的那几句，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不必读全篇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3836194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3912394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3893344"/>
            <a:ext cx="4807268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读完，其余三位同学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每人说出一处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471963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479583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4776788"/>
            <a:ext cx="9624346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三位同学都说不出，也不必勉强：修改时，把这一处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再写详细一些</a:t>
            </a:r>
            <a:endParaRPr lang="en-US" sz="26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048000"/>
            <a:ext cx="4953000" cy="352425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6858000"/>
            <a:ext cx="16192500" cy="1343025"/>
          </a:xfrm>
          <a:prstGeom prst="roundRect">
            <a:avLst>
              <a:gd name="adj" fmla="val 1134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7086600"/>
            <a:ext cx="1589341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听的同学说出一处：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他写的哪一处，你在自己观察的小动物身上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也见过却没留意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；或者哪一处，是你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没想到可以写下来的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能说出一处，就说明他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看得仔细，也写清楚了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4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各组推选一处：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组里同学最没想到的发现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178117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由作者把那几句读给全班听。老师这样点评：</a:t>
            </a:r>
            <a:endParaRPr lang="en-US" sz="2325" dirty="0"/>
          </a:p>
        </p:txBody>
      </p:sp>
      <p:sp>
        <p:nvSpPr>
          <p:cNvPr id="8" name="Shape 5"/>
          <p:cNvSpPr/>
          <p:nvPr/>
        </p:nvSpPr>
        <p:spPr>
          <a:xfrm>
            <a:off x="1047750" y="3524250"/>
            <a:ext cx="7886700" cy="2194471"/>
          </a:xfrm>
          <a:prstGeom prst="roundRect">
            <a:avLst>
              <a:gd name="adj" fmla="val 12153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733550" y="5680621"/>
            <a:ext cx="457200" cy="28575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5680621"/>
            <a:ext cx="457200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6850" y="3867150"/>
            <a:ext cx="7259955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“他写那只猫的耳朵缺了一个角，转过头来像被剪过一刀，</a:t>
            </a:r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这一处只有他的猫才有</a:t>
            </a:r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。”</a:t>
            </a:r>
            <a:endParaRPr lang="en-US" sz="2475" dirty="0"/>
          </a:p>
        </p:txBody>
      </p:sp>
      <p:sp>
        <p:nvSpPr>
          <p:cNvPr id="12" name="Shape 8"/>
          <p:cNvSpPr/>
          <p:nvPr/>
        </p:nvSpPr>
        <p:spPr>
          <a:xfrm>
            <a:off x="9353550" y="3524250"/>
            <a:ext cx="7886700" cy="2194471"/>
          </a:xfrm>
          <a:prstGeom prst="roundRect">
            <a:avLst>
              <a:gd name="adj" fmla="val 12153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10039350" y="5680621"/>
            <a:ext cx="457200" cy="28575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9350" y="5680621"/>
            <a:ext cx="457200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72650" y="3867150"/>
            <a:ext cx="7259955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“她写家里两条金鱼抢食，抢到食的那一条贴着缸底不动，尾巴还一下一下地摆。</a:t>
            </a:r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这一幕很多人见过，可是只有她写了下来</a:t>
            </a:r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。”</a:t>
            </a:r>
            <a:endParaRPr lang="en-US" sz="2475" dirty="0"/>
          </a:p>
        </p:txBody>
      </p:sp>
      <p:sp>
        <p:nvSpPr>
          <p:cNvPr id="16" name="Shape 11"/>
          <p:cNvSpPr/>
          <p:nvPr/>
        </p:nvSpPr>
        <p:spPr>
          <a:xfrm>
            <a:off x="1047750" y="6858000"/>
            <a:ext cx="16192500" cy="1059061"/>
          </a:xfrm>
          <a:prstGeom prst="roundRect">
            <a:avLst>
              <a:gd name="adj" fmla="val 16189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1466850" y="7143750"/>
            <a:ext cx="16889730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写的都是身边的小动物，读出来的发现却各不相同：同样的事物，每个人看到的都不一样，</a:t>
            </a:r>
            <a:pPr algn="l" indent="0" marL="0">
              <a:lnSpc>
                <a:spcPct val="12190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看得越仔细，发现就越多</a:t>
            </a:r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这就是题目所说的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“我们眼中的缤纷世界”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20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对照三档自检：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达到哪一档，就按哪一档修改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390650" y="2762250"/>
            <a:ext cx="112585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自检要点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2172950" y="2762250"/>
            <a:ext cx="5334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按这一档修改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47750" y="3333750"/>
            <a:ext cx="16192500" cy="1126629"/>
          </a:xfrm>
          <a:prstGeom prst="roundRect">
            <a:avLst>
              <a:gd name="adj" fmla="val 8454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047750" y="3333750"/>
            <a:ext cx="76200" cy="1126629"/>
          </a:xfrm>
          <a:prstGeom prst="rect">
            <a:avLst/>
          </a:prstGeom>
          <a:solidFill>
            <a:srgbClr val="9AA6B6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90650" y="3524250"/>
            <a:ext cx="1127379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</a:t>
            </a:r>
            <a:pPr algn="l" indent="0" marL="0">
              <a:lnSpc>
                <a:spcPct val="10875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我写出了观察到的事物，写了它的颜色和样子。</a:t>
            </a:r>
            <a:endParaRPr lang="en-US" sz="2025" dirty="0"/>
          </a:p>
        </p:txBody>
      </p:sp>
      <p:sp>
        <p:nvSpPr>
          <p:cNvPr id="12" name="Shape 9"/>
          <p:cNvSpPr/>
          <p:nvPr/>
        </p:nvSpPr>
        <p:spPr>
          <a:xfrm>
            <a:off x="11906250" y="3333750"/>
            <a:ext cx="9525" cy="1126629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2182475" y="3524250"/>
            <a:ext cx="4934807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02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给这一处再加一句：听到、摸到、闻到的，或者</a:t>
            </a:r>
            <a:pPr algn="l" indent="0" marL="0">
              <a:lnSpc>
                <a:spcPct val="108750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它像什么</a:t>
            </a:r>
            <a:pPr algn="l" indent="0" marL="0">
              <a:lnSpc>
                <a:spcPct val="108750"/>
              </a:lnSpc>
              <a:buNone/>
            </a:pPr>
            <a:r>
              <a:rPr lang="en-US" sz="202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，做到一种即可。</a:t>
            </a:r>
            <a:endParaRPr lang="en-US" sz="2025" dirty="0"/>
          </a:p>
        </p:txBody>
      </p:sp>
      <p:sp>
        <p:nvSpPr>
          <p:cNvPr id="14" name="Shape 11"/>
          <p:cNvSpPr/>
          <p:nvPr/>
        </p:nvSpPr>
        <p:spPr>
          <a:xfrm>
            <a:off x="1047750" y="4631829"/>
            <a:ext cx="16192500" cy="1126629"/>
          </a:xfrm>
          <a:prstGeom prst="roundRect">
            <a:avLst>
              <a:gd name="adj" fmla="val 8454"/>
            </a:avLst>
          </a:prstGeom>
          <a:solidFill>
            <a:srgbClr val="FBF3E6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1047750" y="4631829"/>
            <a:ext cx="76200" cy="1126629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390650" y="4822329"/>
            <a:ext cx="10556367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 </a:t>
            </a:r>
            <a:pPr algn="l" indent="0" marL="0">
              <a:lnSpc>
                <a:spcPct val="10875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我选了一两处印象最深的写清楚了：除了样子，还写了耳朵听到、手摸到、鼻子闻到中的一种，或者写了一句它像什么；句子读得通。</a:t>
            </a:r>
            <a:endParaRPr lang="en-US" sz="2025" dirty="0"/>
          </a:p>
        </p:txBody>
      </p:sp>
      <p:sp>
        <p:nvSpPr>
          <p:cNvPr id="17" name="Shape 14"/>
          <p:cNvSpPr/>
          <p:nvPr/>
        </p:nvSpPr>
        <p:spPr>
          <a:xfrm>
            <a:off x="11906250" y="4631829"/>
            <a:ext cx="9525" cy="1126629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2182475" y="4822329"/>
            <a:ext cx="4934807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02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把另一种也补上；这一处会变，就</a:t>
            </a:r>
            <a:pPr algn="l" indent="0" marL="0">
              <a:lnSpc>
                <a:spcPct val="108750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写出它的变化</a:t>
            </a:r>
            <a:pPr algn="l" indent="0" marL="0">
              <a:lnSpc>
                <a:spcPct val="108750"/>
              </a:lnSpc>
              <a:buNone/>
            </a:pPr>
            <a:r>
              <a:rPr lang="en-US" sz="202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025" dirty="0"/>
          </a:p>
        </p:txBody>
      </p:sp>
      <p:sp>
        <p:nvSpPr>
          <p:cNvPr id="19" name="Shape 16"/>
          <p:cNvSpPr/>
          <p:nvPr/>
        </p:nvSpPr>
        <p:spPr>
          <a:xfrm>
            <a:off x="1047750" y="5929908"/>
            <a:ext cx="16192500" cy="1499443"/>
          </a:xfrm>
          <a:prstGeom prst="roundRect">
            <a:avLst>
              <a:gd name="adj" fmla="val 6352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47750" y="5929908"/>
            <a:ext cx="76200" cy="1499443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90650" y="6120408"/>
            <a:ext cx="10556367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 </a:t>
            </a:r>
            <a:pPr algn="l" indent="0" marL="0">
              <a:lnSpc>
                <a:spcPct val="10875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我写的那一两处，同组同学说得出一处：他在自己观察的小动物身上也见过却没留意的，或者他没想到还能写下来的；感官用上了两种以上，或者写出了它的变化，一步一步说清楚了。</a:t>
            </a:r>
            <a:endParaRPr lang="en-US" sz="2025" dirty="0"/>
          </a:p>
        </p:txBody>
      </p:sp>
      <p:sp>
        <p:nvSpPr>
          <p:cNvPr id="22" name="Shape 19"/>
          <p:cNvSpPr/>
          <p:nvPr/>
        </p:nvSpPr>
        <p:spPr>
          <a:xfrm>
            <a:off x="11906250" y="5929908"/>
            <a:ext cx="9525" cy="1499443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2182475" y="6120408"/>
            <a:ext cx="5270183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02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这几句</a:t>
            </a:r>
            <a:pPr algn="l" indent="0" marL="0">
              <a:lnSpc>
                <a:spcPct val="108750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不必改动</a:t>
            </a:r>
            <a:pPr algn="l" indent="0" marL="0">
              <a:lnSpc>
                <a:spcPct val="108750"/>
              </a:lnSpc>
              <a:buNone/>
            </a:pPr>
            <a:r>
              <a:rPr lang="en-US" sz="202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025" dirty="0"/>
          </a:p>
        </p:txBody>
      </p:sp>
      <p:sp>
        <p:nvSpPr>
          <p:cNvPr id="24" name="Text 21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没有写完的同学，先用一两句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把没写的那一处补上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，再对照这三档。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12561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581615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自己改一遍，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再请同桌读一遍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81724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用修改符号自改（3 分钟）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1047750" y="3486150"/>
            <a:ext cx="7429500" cy="781050"/>
          </a:xfrm>
          <a:prstGeom prst="roundRect">
            <a:avLst>
              <a:gd name="adj" fmla="val 17073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33500" y="3676650"/>
            <a:ext cx="75438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多的字</a:t>
            </a:r>
            <a:pPr algn="l" indent="0" marL="0">
              <a:lnSpc>
                <a:spcPct val="105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圈掉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047750" y="4438650"/>
            <a:ext cx="7429500" cy="781050"/>
          </a:xfrm>
          <a:prstGeom prst="roundRect">
            <a:avLst>
              <a:gd name="adj" fmla="val 17073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33500" y="4629150"/>
            <a:ext cx="75438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漏的字</a:t>
            </a:r>
            <a:pPr algn="l" indent="0" marL="0">
              <a:lnSpc>
                <a:spcPct val="105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补上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47750" y="5391150"/>
            <a:ext cx="7429500" cy="781050"/>
          </a:xfrm>
          <a:prstGeom prst="roundRect">
            <a:avLst>
              <a:gd name="adj" fmla="val 17073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33500" y="5581650"/>
            <a:ext cx="75438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错的字</a:t>
            </a:r>
            <a:pPr algn="l" indent="0" marL="0">
              <a:lnSpc>
                <a:spcPct val="105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改正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1047750" y="6343650"/>
            <a:ext cx="7429500" cy="781050"/>
          </a:xfrm>
          <a:prstGeom prst="roundRect">
            <a:avLst>
              <a:gd name="adj" fmla="val 17073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33500" y="6534150"/>
            <a:ext cx="75438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读不通的句子</a:t>
            </a:r>
            <a:pPr algn="l" indent="0" marL="0">
              <a:lnSpc>
                <a:spcPct val="105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改通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9144000" y="2857500"/>
            <a:ext cx="89058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同桌互改（3 分钟）</a:t>
            </a:r>
            <a:endParaRPr lang="en-US" sz="2475" dirty="0"/>
          </a:p>
        </p:txBody>
      </p:sp>
      <p:sp>
        <p:nvSpPr>
          <p:cNvPr id="17" name="Shape 14"/>
          <p:cNvSpPr/>
          <p:nvPr/>
        </p:nvSpPr>
        <p:spPr>
          <a:xfrm>
            <a:off x="9144000" y="34861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314111" y="356235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9896475" y="3543300"/>
            <a:ext cx="2825496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交换习作，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只读一遍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9144000" y="427672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9314111" y="435292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9896475" y="4333875"/>
            <a:ext cx="6592824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读不通的地方或错字，用铅笔在旁边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画一个小圈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9144000" y="50673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314111" y="51435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9896475" y="5124450"/>
            <a:ext cx="5337048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拿回自己的习作，把画圈的地方改一改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自己没看出来的问题，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同桌往往能看出来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97269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94794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说一说：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仔细回想过它以后，你有什么感受？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2956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143250"/>
            <a:ext cx="4652010" cy="5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说一说今天的感受</a:t>
            </a:r>
            <a:endParaRPr lang="en-US" sz="2775" dirty="0"/>
          </a:p>
        </p:txBody>
      </p:sp>
      <p:sp>
        <p:nvSpPr>
          <p:cNvPr id="9" name="Shape 6"/>
          <p:cNvSpPr/>
          <p:nvPr/>
        </p:nvSpPr>
        <p:spPr>
          <a:xfrm>
            <a:off x="1047750" y="4187577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035177"/>
            <a:ext cx="5427345" cy="5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回去再见到它的时候，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多看一眼</a:t>
            </a:r>
            <a:endParaRPr lang="en-US" sz="2775" dirty="0"/>
          </a:p>
        </p:txBody>
      </p:sp>
      <p:sp>
        <p:nvSpPr>
          <p:cNvPr id="11" name="Shape 8"/>
          <p:cNvSpPr/>
          <p:nvPr/>
        </p:nvSpPr>
        <p:spPr>
          <a:xfrm>
            <a:off x="1047750" y="5079504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4927104"/>
            <a:ext cx="8528685" cy="5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看一看写进习作里的那一处，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是不是还是那个样子</a:t>
            </a:r>
            <a:endParaRPr lang="en-US" sz="27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0" y="3048000"/>
            <a:ext cx="5334000" cy="4953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处处都留意，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只写印象最深的一两处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，把它写得让别人读了能记住。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20234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 · 习作讲评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850403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851624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习作讲评环节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（可选 · 课后或下次课开场）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552700"/>
            <a:ext cx="1781175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投屏三篇，不读作者姓名，每篇约 3 至 5 分钟，只看有没有选一两处、有没有写清楚；＿＿＿处替换为本班学生的真实句子。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1047750" y="3333750"/>
            <a:ext cx="5181600" cy="457200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3343275"/>
            <a:ext cx="5162550" cy="762000"/>
          </a:xfrm>
          <a:prstGeom prst="rect">
            <a:avLst/>
          </a:prstGeom>
          <a:solidFill>
            <a:srgbClr val="4E9A57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23975" y="353377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较好的一篇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343025" y="4371975"/>
            <a:ext cx="4745926" cy="3295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选了一两处，每一处都写了颜色、形状，还加上了它像什么，或者听到、摸到、闻到的内容。读他写得最清楚的几句：</a:t>
            </a:r>
            <a:pPr algn="l" indent="0" marL="0">
              <a:lnSpc>
                <a:spcPct val="115256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先写样子，再加上＿＿＿</a:t>
            </a:r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6553200" y="3333750"/>
            <a:ext cx="5181600" cy="457200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562725" y="3343275"/>
            <a:ext cx="5162550" cy="762000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829425" y="353377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中等的一篇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6848475" y="4371975"/>
            <a:ext cx="4745926" cy="3295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这一处选得好，可是只有一句“是什么样”。全班帮他加一句：</a:t>
            </a:r>
            <a:pPr algn="l" indent="0" marL="0">
              <a:lnSpc>
                <a:spcPct val="115256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它像什么？摸上去、闻起来是什么感觉？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12058650" y="3333750"/>
            <a:ext cx="5181600" cy="457200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2068175" y="3343275"/>
            <a:ext cx="5162550" cy="762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2334875" y="353377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有典型问题的一篇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2353925" y="4371975"/>
            <a:ext cx="4745926" cy="3295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每一项都写了一句，没有一处写详细；或者写的是自己做了什么，没有写它是什么样子。讨论：</a:t>
            </a:r>
            <a:pPr algn="l" indent="0" marL="0">
              <a:lnSpc>
                <a:spcPct val="115256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第一步从哪里入手？</a:t>
            </a:r>
            <a:endParaRPr lang="en-US" sz="2175" dirty="0"/>
          </a:p>
        </p:txBody>
      </p:sp>
      <p:sp>
        <p:nvSpPr>
          <p:cNvPr id="20" name="Text 17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收尾点回：处处都留意，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只写印象最深的一两处，把它写清楚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943100" y="3657600"/>
            <a:ext cx="12573000" cy="1900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7"/>
              </a:lnSpc>
              <a:buNone/>
            </a:pPr>
            <a:r>
              <a:rPr lang="en-US" sz="12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END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2057400" y="5676900"/>
            <a:ext cx="14668500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细看，选一两处，写清楚：把印象最深的地方写得让人记得住。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792200" y="8058150"/>
            <a:ext cx="2095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5925800" y="8039100"/>
            <a:ext cx="419100" cy="533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0" y="8039100"/>
            <a:ext cx="419100" cy="53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2026-09-23T13:48:08Z</dcterms:created>
  <dcterms:modified xsi:type="dcterms:W3CDTF">2026-09-23T13:48:08Z</dcterms:modified>
</cp:coreProperties>
</file>