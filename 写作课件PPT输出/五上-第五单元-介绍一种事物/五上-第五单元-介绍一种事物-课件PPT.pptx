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71589" y="323850"/>
            <a:ext cx="1668661" cy="62865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57250" y="1143000"/>
            <a:ext cx="16573500" cy="5715000"/>
          </a:xfrm>
          <a:prstGeom prst="roundRect">
            <a:avLst>
              <a:gd name="adj" fmla="val 2667"/>
            </a:avLst>
          </a:prstGeom>
          <a:gradFill rotWithShape="1">
            <a:gsLst>
              <a:gs pos="0">
                <a:srgbClr val="EE7B2E">
                  <a:alpha val="100000"/>
                </a:srgbClr>
              </a:gs>
              <a:gs pos="42000">
                <a:srgbClr val="F0A63C">
                  <a:alpha val="100000"/>
                </a:srgbClr>
              </a:gs>
              <a:gs pos="100000">
                <a:srgbClr val="57B0A6">
                  <a:alpha val="100000"/>
                </a:srgbClr>
              </a:gs>
            </a:gsLst>
            <a:lin ang="900000" scaled="0"/>
          </a:gradFill>
          <a:ln/>
        </p:spPr>
        <p:txBody>
          <a:bodyPr/>
          <a:p/>
        </p:txBody>
      </p:sp>
      <p:sp>
        <p:nvSpPr>
          <p:cNvPr id="4" name="Shape 1"/>
          <p:cNvSpPr/>
          <p:nvPr/>
        </p:nvSpPr>
        <p:spPr>
          <a:xfrm>
            <a:off x="2952750" y="1428750"/>
            <a:ext cx="3429000" cy="3429000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p/>
        </p:txBody>
      </p:sp>
      <p:sp>
        <p:nvSpPr>
          <p:cNvPr id="5" name="Shape 2"/>
          <p:cNvSpPr/>
          <p:nvPr/>
        </p:nvSpPr>
        <p:spPr>
          <a:xfrm>
            <a:off x="5810250" y="4191000"/>
            <a:ext cx="4095750" cy="409575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3810000" y="2667000"/>
            <a:ext cx="11734800" cy="1443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551"/>
              </a:lnSpc>
              <a:buNone/>
            </a:pPr>
            <a:r>
              <a:rPr lang="en-US" sz="8850" b="1" i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介绍一种事物</a:t>
            </a:r>
            <a:endParaRPr lang="en-US" sz="8850" dirty="0"/>
          </a:p>
        </p:txBody>
      </p:sp>
      <p:sp>
        <p:nvSpPr>
          <p:cNvPr id="7" name="Text 4"/>
          <p:cNvSpPr/>
          <p:nvPr/>
        </p:nvSpPr>
        <p:spPr>
          <a:xfrm>
            <a:off x="3848100" y="4476750"/>
            <a:ext cx="117348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692"/>
              </a:lnSpc>
              <a:buNone/>
            </a:pPr>
            <a:r>
              <a:rPr lang="en-US" sz="3000" i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五年级上册 · 第五单元 · 校内同步写作（说明文）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0" y="2857500"/>
            <a:ext cx="1066800" cy="1333500"/>
          </a:xfrm>
          <a:prstGeom prst="rect">
            <a:avLst/>
          </a:prstGeom>
          <a:solidFill>
            <a:srgbClr val="3D4A63"/>
          </a:solidFill>
          <a:ln/>
        </p:spPr>
        <p:txBody>
          <a:bodyPr/>
          <a:p/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00"/>
            <a:ext cx="1066800" cy="1333500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4000" y="6953250"/>
            <a:ext cx="4095750" cy="26670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47750" y="8943975"/>
            <a:ext cx="3574956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五年级上册 · 第五单元</a:t>
            </a:r>
            <a:endParaRPr lang="en-US" sz="2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Shape 1"/>
          <p:cNvSpPr/>
          <p:nvPr/>
        </p:nvSpPr>
        <p:spPr>
          <a:xfrm>
            <a:off x="800100" y="800100"/>
            <a:ext cx="16687800" cy="8686800"/>
          </a:xfrm>
          <a:prstGeom prst="roundRect">
            <a:avLst>
              <a:gd name="adj" fmla="val 1754"/>
            </a:avLst>
          </a:prstGeom>
          <a:gradFill rotWithShape="1">
            <a:gsLst>
              <a:gs pos="0">
                <a:srgbClr val="6FB8AD">
                  <a:alpha val="100000"/>
                </a:srgbClr>
              </a:gs>
              <a:gs pos="60000">
                <a:srgbClr val="4E93A0">
                  <a:alpha val="100000"/>
                </a:srgbClr>
              </a:gs>
              <a:gs pos="100000">
                <a:srgbClr val="3D6E82">
                  <a:alpha val="100000"/>
                </a:srgbClr>
              </a:gs>
            </a:gsLst>
            <a:lin ang="1800000" scaled="0"/>
          </a:gradFill>
          <a:ln/>
        </p:spPr>
      </p:sp>
      <p:sp>
        <p:nvSpPr>
          <p:cNvPr id="4" name="Text 2"/>
          <p:cNvSpPr/>
          <p:nvPr/>
        </p:nvSpPr>
        <p:spPr>
          <a:xfrm>
            <a:off x="2038350" y="3181350"/>
            <a:ext cx="6286500" cy="21193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052"/>
              </a:lnSpc>
              <a:buNone/>
            </a:pPr>
            <a:r>
              <a:rPr lang="en-US" sz="14250" b="1" dirty="0">
                <a:solidFill>
                  <a:srgbClr val="FFFFFF">
                    <a:alpha val="9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250" dirty="0"/>
          </a:p>
        </p:txBody>
      </p:sp>
      <p:sp>
        <p:nvSpPr>
          <p:cNvPr id="5" name="Text 3"/>
          <p:cNvSpPr/>
          <p:nvPr/>
        </p:nvSpPr>
        <p:spPr>
          <a:xfrm>
            <a:off x="2228850" y="5676900"/>
            <a:ext cx="14668500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734"/>
              </a:lnSpc>
              <a:buNone/>
            </a:pPr>
            <a:r>
              <a:rPr lang="en-US" sz="4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写作指导课</a:t>
            </a:r>
            <a:endParaRPr lang="en-US" sz="4500" dirty="0"/>
          </a:p>
        </p:txBody>
      </p:sp>
      <p:sp>
        <p:nvSpPr>
          <p:cNvPr id="6" name="Text 4"/>
          <p:cNvSpPr/>
          <p:nvPr/>
        </p:nvSpPr>
        <p:spPr>
          <a:xfrm>
            <a:off x="2247900" y="6572250"/>
            <a:ext cx="14668500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333"/>
              </a:lnSpc>
              <a:buNone/>
            </a:pPr>
            <a:r>
              <a:rPr lang="en-US" sz="2550" dirty="0">
                <a:solidFill>
                  <a:srgbClr val="FFFFFF">
                    <a:alpha val="9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听介绍猜事物 · 选定事物试讲 · 学写法 · 写作构思表 · 教师示范文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2038350" y="7924800"/>
            <a:ext cx="1796802" cy="762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28850" y="8039100"/>
            <a:ext cx="1415802" cy="533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219200" y="609600"/>
            <a:ext cx="134112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创设情境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7752457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466850" y="1581150"/>
            <a:ext cx="7605683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听老师介绍一种事物，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猜一猜它是什么</a:t>
            </a:r>
            <a:endParaRPr lang="en-US" sz="3203" dirty="0"/>
          </a:p>
        </p:txBody>
      </p:sp>
      <p:sp>
        <p:nvSpPr>
          <p:cNvPr id="7" name="Shape 4"/>
          <p:cNvSpPr/>
          <p:nvPr/>
        </p:nvSpPr>
        <p:spPr>
          <a:xfrm>
            <a:off x="1162050" y="2433638"/>
            <a:ext cx="742950" cy="66675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1047750" y="3143250"/>
            <a:ext cx="9906000" cy="2630686"/>
          </a:xfrm>
          <a:prstGeom prst="roundRect">
            <a:avLst>
              <a:gd name="adj" fmla="val 10138"/>
            </a:avLst>
          </a:prstGeom>
          <a:solidFill>
            <a:srgbClr val="EAF1FB"/>
          </a:solidFill>
          <a:ln w="19050">
            <a:solidFill>
              <a:srgbClr val="C3D6F0"/>
            </a:solidFill>
            <a:prstDash val="solid"/>
          </a:ln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781050" y="3829050"/>
            <a:ext cx="304800" cy="457200"/>
          </a:xfrm>
          <a:prstGeom prst="rect">
            <a:avLst/>
          </a:prstGeom>
          <a:solidFill>
            <a:srgbClr val="EAF1FB"/>
          </a:solidFill>
          <a:ln/>
        </p:spPr>
        <p:txBody>
          <a:bodyPr/>
          <a:p/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050" y="3829050"/>
            <a:ext cx="3048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43050" y="3562350"/>
            <a:ext cx="9806940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8A92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老师先说三句</a:t>
            </a:r>
            <a:endParaRPr lang="en-US" sz="2325" dirty="0"/>
          </a:p>
        </p:txBody>
      </p:sp>
      <p:sp>
        <p:nvSpPr>
          <p:cNvPr id="12" name="Text 8"/>
          <p:cNvSpPr/>
          <p:nvPr/>
        </p:nvSpPr>
        <p:spPr>
          <a:xfrm>
            <a:off x="1543050" y="4124325"/>
            <a:ext cx="9182862" cy="12686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200"/>
              </a:lnSpc>
              <a:buNone/>
            </a:pPr>
            <a:r>
              <a:rPr lang="en-US" sz="285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</a:t>
            </a:r>
            <a:pPr algn="l" indent="0" marL="0">
              <a:lnSpc>
                <a:spcPct val="129200"/>
              </a:lnSpc>
              <a:buNone/>
            </a:pPr>
            <a:r>
              <a:rPr lang="en-US" sz="28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个头不小</a:t>
            </a:r>
            <a:pPr algn="l" indent="0" marL="0">
              <a:lnSpc>
                <a:spcPct val="129200"/>
              </a:lnSpc>
              <a:buNone/>
            </a:pPr>
            <a:r>
              <a:rPr lang="en-US" sz="285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，很轻。样子</a:t>
            </a:r>
            <a:pPr algn="l" indent="0" marL="0">
              <a:lnSpc>
                <a:spcPct val="129200"/>
              </a:lnSpc>
              <a:buNone/>
            </a:pPr>
            <a:r>
              <a:rPr lang="en-US" sz="28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挺好看的 </a:t>
            </a:r>
            <a:pPr algn="l" indent="0" marL="0">
              <a:lnSpc>
                <a:spcPct val="129200"/>
              </a:lnSpc>
              <a:buNone/>
            </a:pPr>
            <a:r>
              <a:rPr lang="en-US" sz="285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，平时玩的时候用得着。很多同学都玩过它。</a:t>
            </a:r>
            <a:endParaRPr lang="en-US" sz="2850" dirty="0"/>
          </a:p>
        </p:txBody>
      </p:sp>
      <p:sp>
        <p:nvSpPr>
          <p:cNvPr id="13" name="Shape 9"/>
          <p:cNvSpPr/>
          <p:nvPr/>
        </p:nvSpPr>
        <p:spPr>
          <a:xfrm>
            <a:off x="1047750" y="6307336"/>
            <a:ext cx="152400" cy="152400"/>
          </a:xfrm>
          <a:prstGeom prst="ellipse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4" name="Text 10"/>
          <p:cNvSpPr/>
          <p:nvPr/>
        </p:nvSpPr>
        <p:spPr>
          <a:xfrm>
            <a:off x="1409700" y="6154936"/>
            <a:ext cx="6789420" cy="5351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064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听完三句，请举手说一说：</a:t>
            </a:r>
            <a:pPr algn="l" indent="0" marL="0">
              <a:lnSpc>
                <a:spcPct val="111064"/>
              </a:lnSpc>
              <a:buNone/>
            </a:pPr>
            <a:r>
              <a:rPr lang="en-US" sz="27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你猜它是什么</a:t>
            </a:r>
            <a:endParaRPr lang="en-US" sz="2700" dirty="0"/>
          </a:p>
        </p:txBody>
      </p:sp>
      <p:sp>
        <p:nvSpPr>
          <p:cNvPr id="15" name="Shape 11"/>
          <p:cNvSpPr/>
          <p:nvPr/>
        </p:nvSpPr>
        <p:spPr>
          <a:xfrm>
            <a:off x="1047750" y="7071122"/>
            <a:ext cx="152400" cy="152400"/>
          </a:xfrm>
          <a:prstGeom prst="ellipse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6" name="Text 12"/>
          <p:cNvSpPr/>
          <p:nvPr/>
        </p:nvSpPr>
        <p:spPr>
          <a:xfrm>
            <a:off x="1409700" y="6918722"/>
            <a:ext cx="10184130" cy="5351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064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同一种事物，全班猜出了五六种，说明这三句</a:t>
            </a:r>
            <a:pPr algn="l" indent="0" marL="0">
              <a:lnSpc>
                <a:spcPct val="111064"/>
              </a:lnSpc>
              <a:buNone/>
            </a:pPr>
            <a:r>
              <a:rPr lang="en-US" sz="27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没有把它说清楚</a:t>
            </a:r>
            <a:endParaRPr lang="en-US" sz="27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96750" y="3333750"/>
            <a:ext cx="4953000" cy="49530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47750" y="9334500"/>
            <a:ext cx="17811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“个头不小”“样子挺好看”，说的人心里清楚，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听的人却什么也想不出来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134112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创设情境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7345710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66850" y="1581150"/>
            <a:ext cx="7158261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老师再补三句，这一次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一读就猜中了</a:t>
            </a:r>
            <a:endParaRPr lang="en-US" sz="3203" dirty="0"/>
          </a:p>
        </p:txBody>
      </p:sp>
      <p:sp>
        <p:nvSpPr>
          <p:cNvPr id="7" name="Shape 4"/>
          <p:cNvSpPr/>
          <p:nvPr/>
        </p:nvSpPr>
        <p:spPr>
          <a:xfrm>
            <a:off x="1047750" y="2857500"/>
            <a:ext cx="7886700" cy="3619500"/>
          </a:xfrm>
          <a:prstGeom prst="roundRect">
            <a:avLst>
              <a:gd name="adj" fmla="val 4737"/>
            </a:avLst>
          </a:prstGeom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1057275" y="2867025"/>
            <a:ext cx="7867650" cy="742950"/>
          </a:xfrm>
          <a:prstGeom prst="rect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852488" y="3038475"/>
            <a:ext cx="827722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前三句 · 猜不出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1057275" y="3609975"/>
            <a:ext cx="7867650" cy="2857500"/>
          </a:xfrm>
          <a:prstGeom prst="rect">
            <a:avLst/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1381125" y="3914775"/>
            <a:ext cx="7436549" cy="10417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590550" marL="0">
              <a:lnSpc>
                <a:spcPct val="128537"/>
              </a:lnSpc>
              <a:buNone/>
            </a:pPr>
            <a:r>
              <a:rPr lang="en-US" sz="232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它个头不小，很轻。样子挺好看的，平时玩的时候用得着。很多同学都玩过它。</a:t>
            </a:r>
            <a:endParaRPr lang="en-US" sz="2325" dirty="0"/>
          </a:p>
        </p:txBody>
      </p:sp>
      <p:sp>
        <p:nvSpPr>
          <p:cNvPr id="12" name="Shape 9"/>
          <p:cNvSpPr/>
          <p:nvPr/>
        </p:nvSpPr>
        <p:spPr>
          <a:xfrm>
            <a:off x="9353550" y="2857500"/>
            <a:ext cx="7886700" cy="3619500"/>
          </a:xfrm>
          <a:prstGeom prst="roundRect">
            <a:avLst>
              <a:gd name="adj" fmla="val 4737"/>
            </a:avLst>
          </a:prstGeom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9363075" y="2867025"/>
            <a:ext cx="7867650" cy="742950"/>
          </a:xfrm>
          <a:prstGeom prst="rect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9158288" y="3038475"/>
            <a:ext cx="827722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后三句 · 一读就猜中</a:t>
            </a:r>
            <a:endParaRPr lang="en-US" sz="2400" dirty="0"/>
          </a:p>
        </p:txBody>
      </p:sp>
      <p:sp>
        <p:nvSpPr>
          <p:cNvPr id="15" name="Shape 12"/>
          <p:cNvSpPr/>
          <p:nvPr/>
        </p:nvSpPr>
        <p:spPr>
          <a:xfrm>
            <a:off x="9363075" y="3609975"/>
            <a:ext cx="7867650" cy="2857500"/>
          </a:xfrm>
          <a:prstGeom prst="rect">
            <a:avLst/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9686925" y="3914775"/>
            <a:ext cx="7436549" cy="20454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590550" marL="0">
              <a:lnSpc>
                <a:spcPct val="128537"/>
              </a:lnSpc>
              <a:buNone/>
            </a:pPr>
            <a:r>
              <a:rPr lang="en-US" sz="232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它从头到尾</a:t>
            </a:r>
            <a:pPr algn="l" indent="590550" marL="0">
              <a:lnSpc>
                <a:spcPct val="128537"/>
              </a:lnSpc>
              <a:buNone/>
            </a:pPr>
            <a:r>
              <a:rPr lang="en-US" sz="23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大约八厘米长</a:t>
            </a:r>
            <a:pPr algn="l" indent="590550" marL="0">
              <a:lnSpc>
                <a:spcPct val="128537"/>
              </a:lnSpc>
              <a:buNone/>
            </a:pPr>
            <a:r>
              <a:rPr lang="en-US" sz="232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 </a:t>
            </a:r>
            <a:pPr algn="l" indent="590550" marL="0">
              <a:lnSpc>
                <a:spcPct val="128537"/>
              </a:lnSpc>
              <a:buNone/>
            </a:pPr>
            <a:r>
              <a:rPr lang="en-US" sz="2325" b="1" dirty="0">
                <a:solidFill>
                  <a:srgbClr val="2F72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跟一支削过的铅笔差不多 </a:t>
            </a:r>
            <a:pPr algn="l" indent="590550" marL="0">
              <a:lnSpc>
                <a:spcPct val="128537"/>
              </a:lnSpc>
              <a:buNone/>
            </a:pPr>
            <a:r>
              <a:rPr lang="en-US" sz="232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。下面是一个半圆的软木球，上面插着 </a:t>
            </a:r>
            <a:pPr algn="l" indent="590550" marL="0">
              <a:lnSpc>
                <a:spcPct val="128537"/>
              </a:lnSpc>
              <a:buNone/>
            </a:pPr>
            <a:r>
              <a:rPr lang="en-US" sz="23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十六根白色的羽毛 </a:t>
            </a:r>
            <a:pPr algn="l" indent="590550" marL="0">
              <a:lnSpc>
                <a:spcPct val="128537"/>
              </a:lnSpc>
              <a:buNone/>
            </a:pPr>
            <a:r>
              <a:rPr lang="en-US" sz="232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，排成一圈，</a:t>
            </a:r>
            <a:pPr algn="l" indent="590550" marL="0">
              <a:lnSpc>
                <a:spcPct val="128537"/>
              </a:lnSpc>
              <a:buNone/>
            </a:pPr>
            <a:r>
              <a:rPr lang="en-US" sz="2325" b="1" dirty="0">
                <a:solidFill>
                  <a:srgbClr val="4E9A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像一朵倒扣着的小喇叭花 </a:t>
            </a:r>
            <a:pPr algn="l" indent="590550" marL="0">
              <a:lnSpc>
                <a:spcPct val="128537"/>
              </a:lnSpc>
              <a:buNone/>
            </a:pPr>
            <a:r>
              <a:rPr lang="en-US" sz="232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。用球拍一打，它就翻着跟头飞过网去。</a:t>
            </a:r>
            <a:endParaRPr lang="en-US" sz="2325" dirty="0"/>
          </a:p>
        </p:txBody>
      </p:sp>
      <p:sp>
        <p:nvSpPr>
          <p:cNvPr id="17" name="Shape 14"/>
          <p:cNvSpPr/>
          <p:nvPr/>
        </p:nvSpPr>
        <p:spPr>
          <a:xfrm>
            <a:off x="1047750" y="6858000"/>
            <a:ext cx="16192500" cy="876300"/>
          </a:xfrm>
          <a:prstGeom prst="roundRect">
            <a:avLst>
              <a:gd name="adj" fmla="val 17391"/>
            </a:avLst>
          </a:prstGeom>
          <a:solidFill>
            <a:srgbClr val="DCE6F5"/>
          </a:solidFill>
          <a:ln/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1428750" y="7086600"/>
            <a:ext cx="1697355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75" b="1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请大家想一想：后面补的这三句里，</a:t>
            </a:r>
            <a:pPr algn="l" indent="0" marL="0">
              <a:buNone/>
            </a:pPr>
            <a:r>
              <a:rPr lang="en-US" sz="247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多说了什么</a:t>
            </a:r>
            <a:pPr algn="l" indent="0" marL="0">
              <a:buNone/>
            </a:pPr>
            <a:r>
              <a:rPr lang="en-US" sz="2475" b="1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？</a:t>
            </a:r>
            <a:endParaRPr lang="en-US" sz="2475" dirty="0"/>
          </a:p>
        </p:txBody>
      </p:sp>
      <p:sp>
        <p:nvSpPr>
          <p:cNvPr id="19" name="Text 16"/>
          <p:cNvSpPr/>
          <p:nvPr/>
        </p:nvSpPr>
        <p:spPr>
          <a:xfrm>
            <a:off x="1047750" y="9293423"/>
            <a:ext cx="17811750" cy="517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380"/>
              </a:lnSpc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写得清楚的介绍，读的人不用猜，</a:t>
            </a:r>
            <a:pPr algn="l" indent="0" marL="0">
              <a:lnSpc>
                <a:spcPct val="109380"/>
              </a:lnSpc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读完就知道它有多大、长什么样、有什么用</a:t>
            </a:r>
            <a:pPr algn="l" indent="0" marL="0">
              <a:lnSpc>
                <a:spcPct val="109380"/>
              </a:lnSpc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134112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创设情境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7752606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66850" y="1581150"/>
            <a:ext cx="7605846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今天的任务：写一篇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《介绍一种事物》</a:t>
            </a:r>
            <a:endParaRPr lang="en-US" sz="3203" dirty="0"/>
          </a:p>
        </p:txBody>
      </p:sp>
      <p:sp>
        <p:nvSpPr>
          <p:cNvPr id="7" name="Shape 4"/>
          <p:cNvSpPr/>
          <p:nvPr/>
        </p:nvSpPr>
        <p:spPr>
          <a:xfrm>
            <a:off x="1047750" y="2667000"/>
            <a:ext cx="16192500" cy="904875"/>
          </a:xfrm>
          <a:prstGeom prst="roundRect">
            <a:avLst>
              <a:gd name="adj" fmla="val 16842"/>
            </a:avLst>
          </a:prstGeom>
          <a:solidFill>
            <a:srgbClr val="DCE6F5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428750" y="2876550"/>
            <a:ext cx="16973550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333"/>
              </a:lnSpc>
              <a:buNone/>
            </a:pPr>
            <a:r>
              <a:rPr lang="en-US" sz="2550" b="1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介绍一样你了解、别人未必了解的事物，读者就是你的同桌。让不了解它的人，</a:t>
            </a:r>
            <a:pPr algn="l" indent="0" marL="0">
              <a:lnSpc>
                <a:spcPct val="113333"/>
              </a:lnSpc>
              <a:buNone/>
            </a:pPr>
            <a:r>
              <a:rPr lang="en-US" sz="25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读完就能懂</a:t>
            </a:r>
            <a:pPr algn="l" indent="0" marL="0">
              <a:lnSpc>
                <a:spcPct val="113333"/>
              </a:lnSpc>
              <a:buNone/>
            </a:pPr>
            <a:r>
              <a:rPr lang="en-US" sz="2550" b="1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550" dirty="0"/>
          </a:p>
        </p:txBody>
      </p:sp>
      <p:sp>
        <p:nvSpPr>
          <p:cNvPr id="9" name="Text 6"/>
          <p:cNvSpPr/>
          <p:nvPr/>
        </p:nvSpPr>
        <p:spPr>
          <a:xfrm>
            <a:off x="1047750" y="4191000"/>
            <a:ext cx="94297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课本定下的成功标准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1047750" y="4762500"/>
            <a:ext cx="8572500" cy="1615380"/>
          </a:xfrm>
          <a:prstGeom prst="roundRect">
            <a:avLst>
              <a:gd name="adj" fmla="val 10614"/>
            </a:avLst>
          </a:prstGeom>
          <a:solidFill>
            <a:srgbClr val="FCF3EE"/>
          </a:solidFill>
          <a:ln w="19050">
            <a:solidFill>
              <a:srgbClr val="F0CBB4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1447800" y="5067300"/>
            <a:ext cx="8005572" cy="1043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47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“如果别人对你介绍的事物</a:t>
            </a:r>
            <a:pPr algn="l" indent="0" marL="0">
              <a:lnSpc>
                <a:spcPct val="120000"/>
              </a:lnSpc>
              <a:buNone/>
            </a:pPr>
            <a:r>
              <a:rPr lang="en-US" sz="247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产生了兴趣</a:t>
            </a:r>
            <a:pPr algn="l" indent="0" marL="0">
              <a:lnSpc>
                <a:spcPct val="120000"/>
              </a:lnSpc>
              <a:buNone/>
            </a:pPr>
            <a:r>
              <a:rPr lang="en-US" sz="247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 </a:t>
            </a:r>
            <a:pPr algn="l" indent="0" marL="0">
              <a:lnSpc>
                <a:spcPct val="120000"/>
              </a:lnSpc>
              <a:buNone/>
            </a:pPr>
            <a:r>
              <a:rPr lang="en-US" sz="247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获得了相关知识 </a:t>
            </a:r>
            <a:pPr algn="l" indent="0" marL="0">
              <a:lnSpc>
                <a:spcPct val="120000"/>
              </a:lnSpc>
              <a:buNone/>
            </a:pPr>
            <a:r>
              <a:rPr lang="en-US" sz="247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，你就完成了一次成功的习作。”</a:t>
            </a:r>
            <a:endParaRPr lang="en-US" sz="2475" dirty="0"/>
          </a:p>
        </p:txBody>
      </p:sp>
      <p:sp>
        <p:nvSpPr>
          <p:cNvPr id="12" name="Text 9"/>
          <p:cNvSpPr/>
          <p:nvPr/>
        </p:nvSpPr>
        <p:spPr>
          <a:xfrm>
            <a:off x="10001250" y="4191000"/>
            <a:ext cx="79629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第二节课写完后，同桌给你写一张纸条</a:t>
            </a:r>
            <a:endParaRPr lang="en-US" sz="2400" dirty="0"/>
          </a:p>
        </p:txBody>
      </p:sp>
      <p:sp>
        <p:nvSpPr>
          <p:cNvPr id="13" name="Shape 10"/>
          <p:cNvSpPr/>
          <p:nvPr/>
        </p:nvSpPr>
        <p:spPr>
          <a:xfrm>
            <a:off x="10001250" y="4762500"/>
            <a:ext cx="504825" cy="504825"/>
          </a:xfrm>
          <a:prstGeom prst="roundRect">
            <a:avLst>
              <a:gd name="adj" fmla="val 26415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10171361" y="4838700"/>
            <a:ext cx="24080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10753725" y="4793903"/>
            <a:ext cx="6010156" cy="4799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476"/>
              </a:lnSpc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我从你这篇介绍里</a:t>
            </a:r>
            <a:pPr algn="l" indent="0" marL="0">
              <a:lnSpc>
                <a:spcPct val="110476"/>
              </a:lnSpc>
              <a:buNone/>
            </a:pPr>
            <a:r>
              <a:rPr lang="en-US" sz="24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学到的一条知识</a:t>
            </a:r>
            <a:pPr algn="l" indent="0" marL="0">
              <a:lnSpc>
                <a:spcPct val="110476"/>
              </a:lnSpc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是……</a:t>
            </a:r>
            <a:endParaRPr lang="en-US" sz="2400" dirty="0"/>
          </a:p>
        </p:txBody>
      </p:sp>
      <p:sp>
        <p:nvSpPr>
          <p:cNvPr id="16" name="Shape 13"/>
          <p:cNvSpPr/>
          <p:nvPr/>
        </p:nvSpPr>
        <p:spPr>
          <a:xfrm>
            <a:off x="10001250" y="5438775"/>
            <a:ext cx="504825" cy="504825"/>
          </a:xfrm>
          <a:prstGeom prst="roundRect">
            <a:avLst>
              <a:gd name="adj" fmla="val 26415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10171361" y="5514975"/>
            <a:ext cx="24080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100" dirty="0"/>
          </a:p>
        </p:txBody>
      </p:sp>
      <p:sp>
        <p:nvSpPr>
          <p:cNvPr id="18" name="Text 15"/>
          <p:cNvSpPr/>
          <p:nvPr/>
        </p:nvSpPr>
        <p:spPr>
          <a:xfrm>
            <a:off x="10753725" y="5470178"/>
            <a:ext cx="2322076" cy="4799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476"/>
              </a:lnSpc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</a:t>
            </a:r>
            <a:pPr algn="l" indent="0" marL="0">
              <a:lnSpc>
                <a:spcPct val="110476"/>
              </a:lnSpc>
              <a:buNone/>
            </a:pPr>
            <a:r>
              <a:rPr lang="en-US" sz="24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还想知道</a:t>
            </a:r>
            <a:pPr algn="l" indent="0" marL="0">
              <a:lnSpc>
                <a:spcPct val="110476"/>
              </a:lnSpc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……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1047750" y="9334500"/>
            <a:ext cx="17811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纸条上只有两行，它就是检验这篇介绍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写清楚了没有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的标准。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134112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选定事物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4905524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66850" y="1581150"/>
            <a:ext cx="4474056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先定下：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你要介绍什么</a:t>
            </a:r>
            <a:endParaRPr lang="en-US" sz="3203" dirty="0"/>
          </a:p>
        </p:txBody>
      </p:sp>
      <p:sp>
        <p:nvSpPr>
          <p:cNvPr id="7" name="Shape 4"/>
          <p:cNvSpPr/>
          <p:nvPr/>
        </p:nvSpPr>
        <p:spPr>
          <a:xfrm>
            <a:off x="1047750" y="2762250"/>
            <a:ext cx="16192500" cy="3895725"/>
          </a:xfrm>
          <a:prstGeom prst="roundRect">
            <a:avLst>
              <a:gd name="adj" fmla="val 3423"/>
            </a:avLst>
          </a:prstGeom>
          <a:ln w="9525">
            <a:solidFill>
              <a:srgbClr val="DFE3E9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1057275" y="2771775"/>
            <a:ext cx="16173450" cy="685800"/>
          </a:xfrm>
          <a:prstGeom prst="rect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362075" y="2924175"/>
            <a:ext cx="247269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课本参考题目</a:t>
            </a:r>
            <a:endParaRPr lang="en-US" sz="2250" dirty="0"/>
          </a:p>
        </p:txBody>
      </p:sp>
      <p:sp>
        <p:nvSpPr>
          <p:cNvPr id="10" name="Shape 7"/>
          <p:cNvSpPr/>
          <p:nvPr/>
        </p:nvSpPr>
        <p:spPr>
          <a:xfrm>
            <a:off x="3914775" y="2771775"/>
            <a:ext cx="9525" cy="685800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229100" y="2924175"/>
            <a:ext cx="13966508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可以从表里选，也可以自己定</a:t>
            </a:r>
            <a:endParaRPr lang="en-US" sz="2250" dirty="0"/>
          </a:p>
        </p:txBody>
      </p:sp>
      <p:sp>
        <p:nvSpPr>
          <p:cNvPr id="12" name="Shape 9"/>
          <p:cNvSpPr/>
          <p:nvPr/>
        </p:nvSpPr>
        <p:spPr>
          <a:xfrm>
            <a:off x="1057275" y="3457575"/>
            <a:ext cx="16173450" cy="638175"/>
          </a:xfrm>
          <a:prstGeom prst="rect">
            <a:avLst/>
          </a:prstGeom>
          <a:solidFill>
            <a:srgbClr val="EEF1F5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1362075" y="3590925"/>
            <a:ext cx="233362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与动物有关</a:t>
            </a:r>
            <a:endParaRPr lang="en-US" sz="2175" dirty="0"/>
          </a:p>
        </p:txBody>
      </p:sp>
      <p:sp>
        <p:nvSpPr>
          <p:cNvPr id="14" name="Shape 11"/>
          <p:cNvSpPr/>
          <p:nvPr/>
        </p:nvSpPr>
        <p:spPr>
          <a:xfrm>
            <a:off x="3914775" y="3457575"/>
            <a:ext cx="9525" cy="638175"/>
          </a:xfrm>
          <a:prstGeom prst="rect">
            <a:avLst/>
          </a:prstGeom>
          <a:solidFill>
            <a:srgbClr val="DFE3E9"/>
          </a:solidFill>
          <a:ln/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4229100" y="3590925"/>
            <a:ext cx="13096304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dirty="0">
                <a:solidFill>
                  <a:srgbClr val="5B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恐龙 · 袋鼠的自述 · 动物的尾巴</a:t>
            </a:r>
            <a:endParaRPr lang="en-US" sz="2175" dirty="0"/>
          </a:p>
        </p:txBody>
      </p:sp>
      <p:sp>
        <p:nvSpPr>
          <p:cNvPr id="16" name="Shape 13"/>
          <p:cNvSpPr/>
          <p:nvPr/>
        </p:nvSpPr>
        <p:spPr>
          <a:xfrm>
            <a:off x="1057275" y="4095750"/>
            <a:ext cx="16173450" cy="6381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1362075" y="4229100"/>
            <a:ext cx="233362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与植物有关</a:t>
            </a:r>
            <a:endParaRPr lang="en-US" sz="2175" dirty="0"/>
          </a:p>
        </p:txBody>
      </p:sp>
      <p:sp>
        <p:nvSpPr>
          <p:cNvPr id="18" name="Shape 15"/>
          <p:cNvSpPr/>
          <p:nvPr/>
        </p:nvSpPr>
        <p:spPr>
          <a:xfrm>
            <a:off x="3914775" y="4095750"/>
            <a:ext cx="9525" cy="638175"/>
          </a:xfrm>
          <a:prstGeom prst="rect">
            <a:avLst/>
          </a:prstGeom>
          <a:solidFill>
            <a:srgbClr val="DFE3E9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4229100" y="4229100"/>
            <a:ext cx="13096304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dirty="0">
                <a:solidFill>
                  <a:srgbClr val="5B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银杏 · 热带植物大观园 · 种子的旅行</a:t>
            </a:r>
            <a:endParaRPr lang="en-US" sz="2175" dirty="0"/>
          </a:p>
        </p:txBody>
      </p:sp>
      <p:sp>
        <p:nvSpPr>
          <p:cNvPr id="20" name="Shape 17"/>
          <p:cNvSpPr/>
          <p:nvPr/>
        </p:nvSpPr>
        <p:spPr>
          <a:xfrm>
            <a:off x="1057275" y="4733925"/>
            <a:ext cx="16173450" cy="638175"/>
          </a:xfrm>
          <a:prstGeom prst="rect">
            <a:avLst/>
          </a:prstGeom>
          <a:solidFill>
            <a:srgbClr val="EEF1F5"/>
          </a:solidFill>
          <a:ln/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1362075" y="4867275"/>
            <a:ext cx="233362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与物品有关</a:t>
            </a:r>
            <a:endParaRPr lang="en-US" sz="2175" dirty="0"/>
          </a:p>
        </p:txBody>
      </p:sp>
      <p:sp>
        <p:nvSpPr>
          <p:cNvPr id="22" name="Shape 19"/>
          <p:cNvSpPr/>
          <p:nvPr/>
        </p:nvSpPr>
        <p:spPr>
          <a:xfrm>
            <a:off x="3914775" y="4733925"/>
            <a:ext cx="9525" cy="638175"/>
          </a:xfrm>
          <a:prstGeom prst="rect">
            <a:avLst/>
          </a:prstGeom>
          <a:solidFill>
            <a:srgbClr val="DFE3E9"/>
          </a:solidFill>
          <a:ln/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4229100" y="4867275"/>
            <a:ext cx="13096304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dirty="0">
                <a:solidFill>
                  <a:srgbClr val="5B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钟表 · 无人机 · 溜溜球的玩法</a:t>
            </a:r>
            <a:endParaRPr lang="en-US" sz="2175" dirty="0"/>
          </a:p>
        </p:txBody>
      </p:sp>
      <p:sp>
        <p:nvSpPr>
          <p:cNvPr id="24" name="Shape 21"/>
          <p:cNvSpPr/>
          <p:nvPr/>
        </p:nvSpPr>
        <p:spPr>
          <a:xfrm>
            <a:off x="1057275" y="5372100"/>
            <a:ext cx="16173450" cy="6381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1362075" y="5505450"/>
            <a:ext cx="233362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与美食有关</a:t>
            </a:r>
            <a:endParaRPr lang="en-US" sz="2175" dirty="0"/>
          </a:p>
        </p:txBody>
      </p:sp>
      <p:sp>
        <p:nvSpPr>
          <p:cNvPr id="26" name="Shape 23"/>
          <p:cNvSpPr/>
          <p:nvPr/>
        </p:nvSpPr>
        <p:spPr>
          <a:xfrm>
            <a:off x="3914775" y="5372100"/>
            <a:ext cx="9525" cy="638175"/>
          </a:xfrm>
          <a:prstGeom prst="rect">
            <a:avLst/>
          </a:prstGeom>
          <a:solidFill>
            <a:srgbClr val="DFE3E9"/>
          </a:solidFill>
          <a:ln/>
        </p:spPr>
        <p:txBody>
          <a:bodyPr/>
          <a:p/>
        </p:txBody>
      </p:sp>
      <p:sp>
        <p:nvSpPr>
          <p:cNvPr id="27" name="Text 24"/>
          <p:cNvSpPr/>
          <p:nvPr/>
        </p:nvSpPr>
        <p:spPr>
          <a:xfrm>
            <a:off x="4229100" y="5505450"/>
            <a:ext cx="13096304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dirty="0">
                <a:solidFill>
                  <a:srgbClr val="5B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涮羊肉 · 怎样泡酸菜 · 我的美食地图</a:t>
            </a:r>
            <a:endParaRPr lang="en-US" sz="2175" dirty="0"/>
          </a:p>
        </p:txBody>
      </p:sp>
      <p:sp>
        <p:nvSpPr>
          <p:cNvPr id="28" name="Shape 25"/>
          <p:cNvSpPr/>
          <p:nvPr/>
        </p:nvSpPr>
        <p:spPr>
          <a:xfrm>
            <a:off x="1057275" y="6010275"/>
            <a:ext cx="16173450" cy="638175"/>
          </a:xfrm>
          <a:prstGeom prst="rect">
            <a:avLst/>
          </a:prstGeom>
          <a:solidFill>
            <a:srgbClr val="EEF1F5"/>
          </a:solidFill>
          <a:ln/>
        </p:spPr>
        <p:txBody>
          <a:bodyPr/>
          <a:p/>
        </p:txBody>
      </p:sp>
      <p:sp>
        <p:nvSpPr>
          <p:cNvPr id="29" name="Text 26"/>
          <p:cNvSpPr/>
          <p:nvPr/>
        </p:nvSpPr>
        <p:spPr>
          <a:xfrm>
            <a:off x="1362075" y="6143625"/>
            <a:ext cx="233362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其他感兴趣的</a:t>
            </a:r>
            <a:endParaRPr lang="en-US" sz="2175" dirty="0"/>
          </a:p>
        </p:txBody>
      </p:sp>
      <p:sp>
        <p:nvSpPr>
          <p:cNvPr id="30" name="Shape 27"/>
          <p:cNvSpPr/>
          <p:nvPr/>
        </p:nvSpPr>
        <p:spPr>
          <a:xfrm>
            <a:off x="3914775" y="6010275"/>
            <a:ext cx="9525" cy="638175"/>
          </a:xfrm>
          <a:prstGeom prst="rect">
            <a:avLst/>
          </a:prstGeom>
          <a:solidFill>
            <a:srgbClr val="DFE3E9"/>
          </a:solidFill>
          <a:ln/>
        </p:spPr>
        <p:txBody>
          <a:bodyPr/>
          <a:p/>
        </p:txBody>
      </p:sp>
      <p:sp>
        <p:nvSpPr>
          <p:cNvPr id="31" name="Text 28"/>
          <p:cNvSpPr/>
          <p:nvPr/>
        </p:nvSpPr>
        <p:spPr>
          <a:xfrm>
            <a:off x="4229100" y="6143625"/>
            <a:ext cx="13096304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dirty="0">
                <a:solidFill>
                  <a:srgbClr val="5B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火星的秘密 · 草原旅游指南 · 中国传统吉祥物</a:t>
            </a:r>
            <a:endParaRPr lang="en-US" sz="2175" dirty="0"/>
          </a:p>
        </p:txBody>
      </p:sp>
      <p:sp>
        <p:nvSpPr>
          <p:cNvPr id="32" name="Shape 29"/>
          <p:cNvSpPr/>
          <p:nvPr/>
        </p:nvSpPr>
        <p:spPr>
          <a:xfrm>
            <a:off x="1047750" y="7048500"/>
            <a:ext cx="16192500" cy="1448693"/>
          </a:xfrm>
          <a:prstGeom prst="roundRect">
            <a:avLst>
              <a:gd name="adj" fmla="val 11835"/>
            </a:avLst>
          </a:prstGeom>
          <a:solidFill>
            <a:srgbClr val="FCF3EE"/>
          </a:solidFill>
          <a:ln w="19050">
            <a:solidFill>
              <a:srgbClr val="F0CBB4"/>
            </a:solidFill>
            <a:prstDash val="solid"/>
          </a:ln>
        </p:spPr>
        <p:txBody>
          <a:bodyPr/>
          <a:p/>
        </p:txBody>
      </p:sp>
      <p:sp>
        <p:nvSpPr>
          <p:cNvPr id="33" name="Text 30"/>
          <p:cNvSpPr/>
          <p:nvPr/>
        </p:nvSpPr>
        <p:spPr>
          <a:xfrm>
            <a:off x="1466850" y="7315200"/>
            <a:ext cx="15814929" cy="953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195"/>
              </a:lnSpc>
              <a:buNone/>
            </a:pPr>
            <a:r>
              <a:rPr lang="en-US" sz="232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今天教室里没有资料可查，请选一种你</a:t>
            </a:r>
            <a:pPr algn="l" indent="0" marL="0">
              <a:lnSpc>
                <a:spcPct val="117195"/>
              </a:lnSpc>
              <a:buNone/>
            </a:pPr>
            <a:r>
              <a:rPr lang="en-US" sz="23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现在就能说出三个特点、还能说出一个数字 </a:t>
            </a:r>
            <a:pPr algn="l" indent="0" marL="0">
              <a:lnSpc>
                <a:spcPct val="117195"/>
              </a:lnSpc>
              <a:buNone/>
            </a:pPr>
            <a:r>
              <a:rPr lang="en-US" sz="232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的事物：你养的、你玩的、你常吃的、家里天天用的都可以。恐龙、火星这一类要查资料的，今天先不选。</a:t>
            </a:r>
            <a:endParaRPr lang="en-US" sz="2325" dirty="0"/>
          </a:p>
        </p:txBody>
      </p:sp>
      <p:sp>
        <p:nvSpPr>
          <p:cNvPr id="34" name="Text 31"/>
          <p:cNvSpPr/>
          <p:nvPr/>
        </p:nvSpPr>
        <p:spPr>
          <a:xfrm>
            <a:off x="1047750" y="9334500"/>
            <a:ext cx="17811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定下来了，就把它的名字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写在草稿纸最上面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134112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试讲一遍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9786045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66850" y="1581150"/>
            <a:ext cx="9842629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前后桌两人一组：一人讲一分钟，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一人问两个问题</a:t>
            </a:r>
            <a:endParaRPr lang="en-US" sz="3203" dirty="0"/>
          </a:p>
        </p:txBody>
      </p:sp>
      <p:sp>
        <p:nvSpPr>
          <p:cNvPr id="7" name="Shape 4"/>
          <p:cNvSpPr/>
          <p:nvPr/>
        </p:nvSpPr>
        <p:spPr>
          <a:xfrm>
            <a:off x="1047750" y="2857500"/>
            <a:ext cx="7886700" cy="3619500"/>
          </a:xfrm>
          <a:prstGeom prst="roundRect">
            <a:avLst>
              <a:gd name="adj" fmla="val 4737"/>
            </a:avLst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466850" y="3200400"/>
            <a:ext cx="775335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讲的人</a:t>
            </a:r>
            <a:endParaRPr lang="en-US" sz="2550" dirty="0"/>
          </a:p>
        </p:txBody>
      </p:sp>
      <p:sp>
        <p:nvSpPr>
          <p:cNvPr id="9" name="Text 6"/>
          <p:cNvSpPr/>
          <p:nvPr/>
        </p:nvSpPr>
        <p:spPr>
          <a:xfrm>
            <a:off x="1466850" y="3838575"/>
            <a:ext cx="371475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415"/>
              </a:lnSpc>
              <a:buNone/>
            </a:pPr>
            <a:r>
              <a:rPr lang="en-US" sz="2325" b="1" dirty="0">
                <a:solidFill>
                  <a:srgbClr val="7FA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➤</a:t>
            </a:r>
            <a:endParaRPr lang="en-US" sz="2325" dirty="0"/>
          </a:p>
        </p:txBody>
      </p:sp>
      <p:sp>
        <p:nvSpPr>
          <p:cNvPr id="10" name="Text 7"/>
          <p:cNvSpPr/>
          <p:nvPr/>
        </p:nvSpPr>
        <p:spPr>
          <a:xfrm>
            <a:off x="1895475" y="3838575"/>
            <a:ext cx="5846445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415"/>
              </a:lnSpc>
              <a:buNone/>
            </a:pPr>
            <a:r>
              <a:rPr lang="en-US" sz="232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用一分钟把它介绍给对方，讲什么都可以</a:t>
            </a:r>
            <a:endParaRPr lang="en-US" sz="2325" dirty="0"/>
          </a:p>
        </p:txBody>
      </p:sp>
      <p:sp>
        <p:nvSpPr>
          <p:cNvPr id="11" name="Text 8"/>
          <p:cNvSpPr/>
          <p:nvPr/>
        </p:nvSpPr>
        <p:spPr>
          <a:xfrm>
            <a:off x="1466850" y="4452938"/>
            <a:ext cx="371475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415"/>
              </a:lnSpc>
              <a:buNone/>
            </a:pPr>
            <a:r>
              <a:rPr lang="en-US" sz="2325" b="1" dirty="0">
                <a:solidFill>
                  <a:srgbClr val="7FA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➤</a:t>
            </a:r>
            <a:endParaRPr lang="en-US" sz="2325" dirty="0"/>
          </a:p>
        </p:txBody>
      </p:sp>
      <p:sp>
        <p:nvSpPr>
          <p:cNvPr id="12" name="Text 9"/>
          <p:cNvSpPr/>
          <p:nvPr/>
        </p:nvSpPr>
        <p:spPr>
          <a:xfrm>
            <a:off x="1895475" y="4452938"/>
            <a:ext cx="6496050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415"/>
              </a:lnSpc>
              <a:buNone/>
            </a:pPr>
            <a:r>
              <a:rPr lang="en-US" sz="232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说到它有多大、多长的时候，</a:t>
            </a:r>
            <a:pPr algn="l" indent="0" marL="0">
              <a:lnSpc>
                <a:spcPct val="113415"/>
              </a:lnSpc>
              <a:buNone/>
            </a:pPr>
            <a:r>
              <a:rPr lang="en-US" sz="23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可以用手比一比</a:t>
            </a:r>
            <a:endParaRPr lang="en-US" sz="2325" dirty="0"/>
          </a:p>
        </p:txBody>
      </p:sp>
      <p:sp>
        <p:nvSpPr>
          <p:cNvPr id="13" name="Text 10"/>
          <p:cNvSpPr/>
          <p:nvPr/>
        </p:nvSpPr>
        <p:spPr>
          <a:xfrm>
            <a:off x="1466850" y="5067300"/>
            <a:ext cx="371475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415"/>
              </a:lnSpc>
              <a:buNone/>
            </a:pPr>
            <a:r>
              <a:rPr lang="en-US" sz="2325" b="1" dirty="0">
                <a:solidFill>
                  <a:srgbClr val="7FA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➤</a:t>
            </a:r>
            <a:endParaRPr lang="en-US" sz="2325" dirty="0"/>
          </a:p>
        </p:txBody>
      </p:sp>
      <p:sp>
        <p:nvSpPr>
          <p:cNvPr id="14" name="Text 11"/>
          <p:cNvSpPr/>
          <p:nvPr/>
        </p:nvSpPr>
        <p:spPr>
          <a:xfrm>
            <a:off x="1895475" y="5067300"/>
            <a:ext cx="6818471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415"/>
              </a:lnSpc>
              <a:buNone/>
            </a:pPr>
            <a:r>
              <a:rPr lang="en-US" sz="232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把对方问的两个问题</a:t>
            </a:r>
            <a:pPr algn="l" indent="0" marL="0">
              <a:lnSpc>
                <a:spcPct val="113415"/>
              </a:lnSpc>
              <a:buNone/>
            </a:pPr>
            <a:r>
              <a:rPr lang="en-US" sz="23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一个字一个字记在草稿纸上 </a:t>
            </a:r>
            <a:pPr algn="l" indent="0" marL="0">
              <a:lnSpc>
                <a:spcPct val="113415"/>
              </a:lnSpc>
              <a:buNone/>
            </a:pPr>
            <a:r>
              <a:rPr lang="en-US" sz="232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，填构思表时要用</a:t>
            </a:r>
            <a:endParaRPr lang="en-US" sz="2325" dirty="0"/>
          </a:p>
        </p:txBody>
      </p:sp>
      <p:sp>
        <p:nvSpPr>
          <p:cNvPr id="15" name="Shape 12"/>
          <p:cNvSpPr/>
          <p:nvPr/>
        </p:nvSpPr>
        <p:spPr>
          <a:xfrm>
            <a:off x="9353550" y="2857500"/>
            <a:ext cx="7886700" cy="3619500"/>
          </a:xfrm>
          <a:prstGeom prst="roundRect">
            <a:avLst>
              <a:gd name="adj" fmla="val 4737"/>
            </a:avLst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9772650" y="3200400"/>
            <a:ext cx="775335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听的人：听完必须问出两个问题</a:t>
            </a:r>
            <a:endParaRPr lang="en-US" sz="2550" dirty="0"/>
          </a:p>
        </p:txBody>
      </p:sp>
      <p:sp>
        <p:nvSpPr>
          <p:cNvPr id="17" name="Text 14"/>
          <p:cNvSpPr/>
          <p:nvPr/>
        </p:nvSpPr>
        <p:spPr>
          <a:xfrm>
            <a:off x="9772650" y="3838575"/>
            <a:ext cx="1257300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415"/>
              </a:lnSpc>
              <a:buNone/>
            </a:pPr>
            <a:r>
              <a:rPr lang="en-US" sz="23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一个问数</a:t>
            </a:r>
            <a:endParaRPr lang="en-US" sz="2325" dirty="0"/>
          </a:p>
        </p:txBody>
      </p:sp>
      <p:sp>
        <p:nvSpPr>
          <p:cNvPr id="18" name="Text 15"/>
          <p:cNvSpPr/>
          <p:nvPr/>
        </p:nvSpPr>
        <p:spPr>
          <a:xfrm>
            <a:off x="11087100" y="3838575"/>
            <a:ext cx="6171248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415"/>
              </a:lnSpc>
              <a:buNone/>
            </a:pPr>
            <a:r>
              <a:rPr lang="en-US" sz="232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它多大、多重、多长、多快，或者能用多久</a:t>
            </a:r>
            <a:endParaRPr lang="en-US" sz="2325" dirty="0"/>
          </a:p>
        </p:txBody>
      </p:sp>
      <p:sp>
        <p:nvSpPr>
          <p:cNvPr id="19" name="Text 16"/>
          <p:cNvSpPr/>
          <p:nvPr/>
        </p:nvSpPr>
        <p:spPr>
          <a:xfrm>
            <a:off x="9772650" y="4452938"/>
            <a:ext cx="2438400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415"/>
              </a:lnSpc>
              <a:buNone/>
            </a:pPr>
            <a:r>
              <a:rPr lang="en-US" sz="23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一个问样子或用法</a:t>
            </a:r>
            <a:endParaRPr lang="en-US" sz="2325" dirty="0"/>
          </a:p>
        </p:txBody>
      </p:sp>
      <p:sp>
        <p:nvSpPr>
          <p:cNvPr id="20" name="Text 17"/>
          <p:cNvSpPr/>
          <p:nvPr/>
        </p:nvSpPr>
        <p:spPr>
          <a:xfrm>
            <a:off x="12268200" y="4452938"/>
            <a:ext cx="4689539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415"/>
              </a:lnSpc>
              <a:buNone/>
            </a:pPr>
            <a:r>
              <a:rPr lang="en-US" sz="232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它像什么、怎么用，或者是怎么做出来的</a:t>
            </a:r>
            <a:endParaRPr lang="en-US" sz="2325" dirty="0"/>
          </a:p>
        </p:txBody>
      </p:sp>
      <p:sp>
        <p:nvSpPr>
          <p:cNvPr id="21" name="Shape 18"/>
          <p:cNvSpPr/>
          <p:nvPr/>
        </p:nvSpPr>
        <p:spPr>
          <a:xfrm>
            <a:off x="1047750" y="7048500"/>
            <a:ext cx="16192500" cy="900113"/>
          </a:xfrm>
          <a:prstGeom prst="roundRect">
            <a:avLst>
              <a:gd name="adj" fmla="val 16931"/>
            </a:avLst>
          </a:prstGeom>
          <a:solidFill>
            <a:srgbClr val="DCE6F5"/>
          </a:solidFill>
          <a:ln/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1428750" y="7277100"/>
            <a:ext cx="16973550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415"/>
              </a:lnSpc>
              <a:buNone/>
            </a:pPr>
            <a:r>
              <a:rPr lang="en-US" sz="2325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讲完两人换过来。随后请几位同学说一说：</a:t>
            </a:r>
            <a:pPr algn="l" indent="0" marL="0">
              <a:lnSpc>
                <a:spcPct val="113415"/>
              </a:lnSpc>
              <a:buNone/>
            </a:pPr>
            <a:r>
              <a:rPr lang="en-US" sz="2325" b="1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对方问了你哪两个问题</a:t>
            </a:r>
            <a:pPr algn="l" indent="0" marL="0">
              <a:lnSpc>
                <a:spcPct val="113415"/>
              </a:lnSpc>
              <a:buNone/>
            </a:pPr>
            <a:r>
              <a:rPr lang="en-US" sz="2325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325" dirty="0"/>
          </a:p>
        </p:txBody>
      </p:sp>
      <p:sp>
        <p:nvSpPr>
          <p:cNvPr id="23" name="Text 20"/>
          <p:cNvSpPr/>
          <p:nvPr/>
        </p:nvSpPr>
        <p:spPr>
          <a:xfrm>
            <a:off x="1047750" y="9334500"/>
            <a:ext cx="17811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对方问的问题，正是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读的人最想知道的地方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，先留在草稿纸上，稍后要给它们找位置。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134112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判断对比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11006286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66850" y="1581150"/>
            <a:ext cx="11184895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同一盆仙人掌，哪一段能让没见过的人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说出它长什么样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？</a:t>
            </a:r>
            <a:endParaRPr lang="en-US" sz="3203" dirty="0"/>
          </a:p>
        </p:txBody>
      </p:sp>
      <p:sp>
        <p:nvSpPr>
          <p:cNvPr id="7" name="Shape 4"/>
          <p:cNvSpPr/>
          <p:nvPr/>
        </p:nvSpPr>
        <p:spPr>
          <a:xfrm>
            <a:off x="1047750" y="2762250"/>
            <a:ext cx="7886700" cy="3905250"/>
          </a:xfrm>
          <a:prstGeom prst="roundRect">
            <a:avLst>
              <a:gd name="adj" fmla="val 4390"/>
            </a:avLst>
          </a:prstGeom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1057275" y="2771775"/>
            <a:ext cx="7867650" cy="742950"/>
          </a:xfrm>
          <a:prstGeom prst="rect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852488" y="2943225"/>
            <a:ext cx="827722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第一段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1057275" y="3514725"/>
            <a:ext cx="7867650" cy="3143250"/>
          </a:xfrm>
          <a:prstGeom prst="rect">
            <a:avLst/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1381125" y="3800475"/>
            <a:ext cx="7436549" cy="23955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571500" marL="0">
              <a:lnSpc>
                <a:spcPct val="12375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去年生日，妈妈把这盆仙人掌放在我的书桌上。我每天写作业，它就在台灯旁边陪着我。有一段时间我一直没浇水，一个多月过去了，它还是绿绿的，我又惊又喜。现在我一看见它，就想起妈妈说的那句话：做人要像仙人掌一样能吃苦。</a:t>
            </a:r>
            <a:endParaRPr lang="en-US" sz="2250" dirty="0"/>
          </a:p>
        </p:txBody>
      </p:sp>
      <p:sp>
        <p:nvSpPr>
          <p:cNvPr id="12" name="Shape 9"/>
          <p:cNvSpPr/>
          <p:nvPr/>
        </p:nvSpPr>
        <p:spPr>
          <a:xfrm>
            <a:off x="9353550" y="2762250"/>
            <a:ext cx="7886700" cy="3905250"/>
          </a:xfrm>
          <a:prstGeom prst="roundRect">
            <a:avLst>
              <a:gd name="adj" fmla="val 4390"/>
            </a:avLst>
          </a:prstGeom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9363075" y="2771775"/>
            <a:ext cx="7867650" cy="742950"/>
          </a:xfrm>
          <a:prstGeom prst="rect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9158288" y="2943225"/>
            <a:ext cx="827722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第二段</a:t>
            </a:r>
            <a:endParaRPr lang="en-US" sz="2400" dirty="0"/>
          </a:p>
        </p:txBody>
      </p:sp>
      <p:sp>
        <p:nvSpPr>
          <p:cNvPr id="15" name="Shape 12"/>
          <p:cNvSpPr/>
          <p:nvPr/>
        </p:nvSpPr>
        <p:spPr>
          <a:xfrm>
            <a:off x="9363075" y="3514725"/>
            <a:ext cx="7867650" cy="3143250"/>
          </a:xfrm>
          <a:prstGeom prst="rect">
            <a:avLst/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9686925" y="3800475"/>
            <a:ext cx="7436549" cy="23955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571500" marL="0">
              <a:lnSpc>
                <a:spcPct val="12375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这是一盆圆球形的仙人掌。它</a:t>
            </a:r>
            <a:pPr algn="l" indent="571500" marL="0">
              <a:lnSpc>
                <a:spcPct val="123750"/>
              </a:lnSpc>
              <a:buNone/>
            </a:pPr>
            <a:r>
              <a:rPr lang="en-US" sz="22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高约十厘米</a:t>
            </a:r>
            <a:pPr algn="l" indent="571500" marL="0">
              <a:lnSpc>
                <a:spcPct val="12375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 </a:t>
            </a:r>
            <a:pPr algn="l" indent="571500" marL="0">
              <a:lnSpc>
                <a:spcPct val="123750"/>
              </a:lnSpc>
              <a:buNone/>
            </a:pPr>
            <a:r>
              <a:rPr lang="en-US" sz="2250" b="1" dirty="0">
                <a:solidFill>
                  <a:srgbClr val="2F72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比一个拳头略大 </a:t>
            </a:r>
            <a:pPr algn="l" indent="571500" marL="0">
              <a:lnSpc>
                <a:spcPct val="12375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，通身深绿色，表面布满一簇一簇的刺，每根刺 </a:t>
            </a:r>
            <a:pPr algn="l" indent="571500" marL="0">
              <a:lnSpc>
                <a:spcPct val="123750"/>
              </a:lnSpc>
              <a:buNone/>
            </a:pPr>
            <a:r>
              <a:rPr lang="en-US" sz="2250" b="1" dirty="0">
                <a:solidFill>
                  <a:srgbClr val="2F72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有缝衣针那么长 </a:t>
            </a:r>
            <a:pPr algn="l" indent="571500" marL="0">
              <a:lnSpc>
                <a:spcPct val="12375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。它不用天天浇水，</a:t>
            </a:r>
            <a:pPr algn="l" indent="571500" marL="0">
              <a:lnSpc>
                <a:spcPct val="123750"/>
              </a:lnSpc>
              <a:buNone/>
            </a:pPr>
            <a:r>
              <a:rPr lang="en-US" sz="22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一个月浇一次 </a:t>
            </a:r>
            <a:pPr algn="l" indent="571500" marL="0">
              <a:lnSpc>
                <a:spcPct val="12375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就够；水浇多了，反而会烂根。到了夏天，球顶会开出一朵黄花，两三天就谢了。</a:t>
            </a:r>
            <a:endParaRPr lang="en-US" sz="2250" dirty="0"/>
          </a:p>
        </p:txBody>
      </p:sp>
      <p:sp>
        <p:nvSpPr>
          <p:cNvPr id="17" name="Text 14"/>
          <p:cNvSpPr/>
          <p:nvPr/>
        </p:nvSpPr>
        <p:spPr>
          <a:xfrm>
            <a:off x="1047750" y="7829550"/>
            <a:ext cx="17811750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75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第一段是一段好记叙文，写的是</a:t>
            </a:r>
            <a:pPr algn="l" indent="0" marL="0">
              <a:lnSpc>
                <a:spcPct val="108750"/>
              </a:lnSpc>
              <a:buNone/>
            </a:pPr>
            <a:r>
              <a:rPr lang="en-US" sz="22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“我和仙人掌”的故事</a:t>
            </a:r>
            <a:pPr algn="l" indent="0" marL="0">
              <a:lnSpc>
                <a:spcPct val="10875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，写心爱之物正好用得上；可读完还是不知道它长什么样。</a:t>
            </a:r>
            <a:endParaRPr lang="en-US" sz="2250" dirty="0"/>
          </a:p>
        </p:txBody>
      </p:sp>
      <p:sp>
        <p:nvSpPr>
          <p:cNvPr id="18" name="Text 15"/>
          <p:cNvSpPr/>
          <p:nvPr/>
        </p:nvSpPr>
        <p:spPr>
          <a:xfrm>
            <a:off x="1047750" y="8377238"/>
            <a:ext cx="17811750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75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第二段写的是</a:t>
            </a:r>
            <a:pPr algn="l" indent="0" marL="0">
              <a:lnSpc>
                <a:spcPct val="108750"/>
              </a:lnSpc>
              <a:buNone/>
            </a:pPr>
            <a:r>
              <a:rPr lang="en-US" sz="22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仙人掌本身</a:t>
            </a:r>
            <a:pPr algn="l" indent="0" marL="0">
              <a:lnSpc>
                <a:spcPct val="10875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：多高、什么颜色、刺多长、多久浇一次水，读完脑海里就有了它的样子。</a:t>
            </a:r>
            <a:endParaRPr lang="en-US" sz="2250" dirty="0"/>
          </a:p>
        </p:txBody>
      </p:sp>
      <p:sp>
        <p:nvSpPr>
          <p:cNvPr id="19" name="Text 16"/>
          <p:cNvSpPr/>
          <p:nvPr/>
        </p:nvSpPr>
        <p:spPr>
          <a:xfrm>
            <a:off x="1047750" y="8924925"/>
            <a:ext cx="16678275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75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今天这篇习作要写的是</a:t>
            </a:r>
            <a:pPr algn="l" indent="0" marL="0">
              <a:lnSpc>
                <a:spcPct val="108750"/>
              </a:lnSpc>
              <a:buNone/>
            </a:pPr>
            <a:r>
              <a:rPr lang="en-US" sz="22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事物本身 </a:t>
            </a:r>
            <a:pPr algn="l" indent="0" marL="0">
              <a:lnSpc>
                <a:spcPct val="10875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：长什么样，有什么用，怎么用，有什么值得知道的。写成“我和它的故事”，读的人还是不认识它。</a:t>
            </a:r>
            <a:endParaRPr lang="en-US" sz="2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219200" y="609600"/>
            <a:ext cx="9906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学写法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7345710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1466850" y="1581150"/>
            <a:ext cx="7158261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课本里的两句话，用了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哪几个办法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？</a:t>
            </a:r>
            <a:endParaRPr lang="en-US" sz="3203" dirty="0"/>
          </a:p>
        </p:txBody>
      </p:sp>
      <p:sp>
        <p:nvSpPr>
          <p:cNvPr id="7" name="Shape 4"/>
          <p:cNvSpPr/>
          <p:nvPr/>
        </p:nvSpPr>
        <p:spPr>
          <a:xfrm>
            <a:off x="1162050" y="2433638"/>
            <a:ext cx="742950" cy="66675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1047750" y="3048000"/>
            <a:ext cx="16192500" cy="1825823"/>
          </a:xfrm>
          <a:prstGeom prst="roundRect">
            <a:avLst>
              <a:gd name="adj" fmla="val 14607"/>
            </a:avLst>
          </a:prstGeom>
          <a:solidFill>
            <a:srgbClr val="EAF1FB"/>
          </a:solidFill>
          <a:ln w="19050">
            <a:solidFill>
              <a:srgbClr val="C3D6F0"/>
            </a:solidFill>
            <a:prstDash val="solid"/>
          </a:ln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1733550" y="4835723"/>
            <a:ext cx="457200" cy="285750"/>
          </a:xfrm>
          <a:prstGeom prst="rect">
            <a:avLst/>
          </a:prstGeom>
          <a:solidFill>
            <a:srgbClr val="EAF1FB"/>
          </a:solidFill>
          <a:ln/>
        </p:spPr>
        <p:txBody>
          <a:bodyPr/>
          <a:p/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3550" y="4835723"/>
            <a:ext cx="457200" cy="28575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43050" y="3409950"/>
            <a:ext cx="1672209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8A92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课本「初试身手」</a:t>
            </a:r>
            <a:endParaRPr lang="en-US" sz="2175" dirty="0"/>
          </a:p>
        </p:txBody>
      </p:sp>
      <p:sp>
        <p:nvSpPr>
          <p:cNvPr id="12" name="Text 8"/>
          <p:cNvSpPr/>
          <p:nvPr/>
        </p:nvSpPr>
        <p:spPr>
          <a:xfrm>
            <a:off x="1543050" y="3914775"/>
            <a:ext cx="15657957" cy="6351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400"/>
              </a:lnSpc>
              <a:buNone/>
            </a:pPr>
            <a:r>
              <a:rPr lang="en-US" sz="285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“这座电视塔</a:t>
            </a:r>
            <a:pPr algn="l" indent="0" marL="0">
              <a:lnSpc>
                <a:spcPct val="125400"/>
              </a:lnSpc>
              <a:buNone/>
            </a:pPr>
            <a:r>
              <a:rPr lang="en-US" sz="28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 368 米</a:t>
            </a:r>
            <a:pPr algn="l" indent="0" marL="0">
              <a:lnSpc>
                <a:spcPct val="125400"/>
              </a:lnSpc>
              <a:buNone/>
            </a:pPr>
            <a:r>
              <a:rPr lang="en-US" sz="285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</a:t>
            </a:r>
            <a:pPr algn="l" indent="0" marL="0">
              <a:lnSpc>
                <a:spcPct val="125400"/>
              </a:lnSpc>
              <a:buNone/>
            </a:pPr>
            <a:r>
              <a:rPr lang="en-US" sz="2850" b="1" dirty="0">
                <a:solidFill>
                  <a:srgbClr val="2F72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大约有 120 层楼那么高</a:t>
            </a:r>
            <a:pPr algn="l" indent="0" marL="0">
              <a:lnSpc>
                <a:spcPct val="125400"/>
              </a:lnSpc>
              <a:buNone/>
            </a:pPr>
            <a:r>
              <a:rPr lang="en-US" sz="285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。它的外形</a:t>
            </a:r>
            <a:pPr algn="l" indent="0" marL="0">
              <a:lnSpc>
                <a:spcPct val="125400"/>
              </a:lnSpc>
              <a:buNone/>
            </a:pPr>
            <a:r>
              <a:rPr lang="en-US" sz="2850" b="1" dirty="0">
                <a:solidFill>
                  <a:srgbClr val="4E9A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像一个待发射的火箭</a:t>
            </a:r>
            <a:pPr algn="l" indent="0" marL="0">
              <a:lnSpc>
                <a:spcPct val="125400"/>
              </a:lnSpc>
              <a:buNone/>
            </a:pPr>
            <a:r>
              <a:rPr lang="en-US" sz="285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。”</a:t>
            </a:r>
            <a:endParaRPr lang="en-US" sz="2850" dirty="0"/>
          </a:p>
        </p:txBody>
      </p:sp>
      <p:sp>
        <p:nvSpPr>
          <p:cNvPr id="13" name="Shape 9"/>
          <p:cNvSpPr/>
          <p:nvPr/>
        </p:nvSpPr>
        <p:spPr>
          <a:xfrm>
            <a:off x="1047750" y="5715000"/>
            <a:ext cx="3848100" cy="1790700"/>
          </a:xfrm>
          <a:prstGeom prst="roundRect">
            <a:avLst>
              <a:gd name="adj" fmla="val 8511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14" name="Text 10"/>
          <p:cNvSpPr/>
          <p:nvPr/>
        </p:nvSpPr>
        <p:spPr>
          <a:xfrm>
            <a:off x="1323975" y="5972175"/>
            <a:ext cx="3625215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列数字</a:t>
            </a:r>
            <a:endParaRPr lang="en-US" sz="2325" dirty="0"/>
          </a:p>
        </p:txBody>
      </p:sp>
      <p:sp>
        <p:nvSpPr>
          <p:cNvPr id="15" name="Text 11"/>
          <p:cNvSpPr/>
          <p:nvPr/>
        </p:nvSpPr>
        <p:spPr>
          <a:xfrm>
            <a:off x="1323975" y="6477000"/>
            <a:ext cx="3394519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500"/>
              </a:lnSpc>
              <a:buNone/>
            </a:pPr>
            <a:r>
              <a:rPr lang="en-US" sz="2025" dirty="0">
                <a:solidFill>
                  <a:srgbClr val="5B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句子里用上具体的数字：高 368 米</a:t>
            </a:r>
            <a:endParaRPr lang="en-US" sz="2025" dirty="0"/>
          </a:p>
        </p:txBody>
      </p:sp>
      <p:sp>
        <p:nvSpPr>
          <p:cNvPr id="16" name="Shape 12"/>
          <p:cNvSpPr/>
          <p:nvPr/>
        </p:nvSpPr>
        <p:spPr>
          <a:xfrm>
            <a:off x="5162550" y="5715000"/>
            <a:ext cx="3848100" cy="1790700"/>
          </a:xfrm>
          <a:prstGeom prst="roundRect">
            <a:avLst>
              <a:gd name="adj" fmla="val 8511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17" name="Text 13"/>
          <p:cNvSpPr/>
          <p:nvPr/>
        </p:nvSpPr>
        <p:spPr>
          <a:xfrm>
            <a:off x="5438775" y="5972175"/>
            <a:ext cx="3625215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2F72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作比较</a:t>
            </a:r>
            <a:endParaRPr lang="en-US" sz="2325" dirty="0"/>
          </a:p>
        </p:txBody>
      </p:sp>
      <p:sp>
        <p:nvSpPr>
          <p:cNvPr id="18" name="Text 14"/>
          <p:cNvSpPr/>
          <p:nvPr/>
        </p:nvSpPr>
        <p:spPr>
          <a:xfrm>
            <a:off x="5438775" y="6477000"/>
            <a:ext cx="3394519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500"/>
              </a:lnSpc>
              <a:buNone/>
            </a:pPr>
            <a:r>
              <a:rPr lang="en-US" sz="2025" dirty="0">
                <a:solidFill>
                  <a:srgbClr val="5B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拿熟悉的事物比：大约有 120 层楼那么高</a:t>
            </a:r>
            <a:endParaRPr lang="en-US" sz="2025" dirty="0"/>
          </a:p>
        </p:txBody>
      </p:sp>
      <p:sp>
        <p:nvSpPr>
          <p:cNvPr id="19" name="Shape 15"/>
          <p:cNvSpPr/>
          <p:nvPr/>
        </p:nvSpPr>
        <p:spPr>
          <a:xfrm>
            <a:off x="9277350" y="5715000"/>
            <a:ext cx="3848100" cy="1790700"/>
          </a:xfrm>
          <a:prstGeom prst="roundRect">
            <a:avLst>
              <a:gd name="adj" fmla="val 8511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20" name="Text 16"/>
          <p:cNvSpPr/>
          <p:nvPr/>
        </p:nvSpPr>
        <p:spPr>
          <a:xfrm>
            <a:off x="9553575" y="5972175"/>
            <a:ext cx="3625215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4E9A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打比方</a:t>
            </a:r>
            <a:endParaRPr lang="en-US" sz="2325" dirty="0"/>
          </a:p>
        </p:txBody>
      </p:sp>
      <p:sp>
        <p:nvSpPr>
          <p:cNvPr id="21" name="Text 17"/>
          <p:cNvSpPr/>
          <p:nvPr/>
        </p:nvSpPr>
        <p:spPr>
          <a:xfrm>
            <a:off x="9553575" y="6477000"/>
            <a:ext cx="3394519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500"/>
              </a:lnSpc>
              <a:buNone/>
            </a:pPr>
            <a:r>
              <a:rPr lang="en-US" sz="2025" dirty="0">
                <a:solidFill>
                  <a:srgbClr val="5B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说它像什么：像一个待发射的火箭</a:t>
            </a:r>
            <a:endParaRPr lang="en-US" sz="2025" dirty="0"/>
          </a:p>
        </p:txBody>
      </p:sp>
      <p:sp>
        <p:nvSpPr>
          <p:cNvPr id="22" name="Shape 18"/>
          <p:cNvSpPr/>
          <p:nvPr/>
        </p:nvSpPr>
        <p:spPr>
          <a:xfrm>
            <a:off x="13392150" y="5715000"/>
            <a:ext cx="3848100" cy="1790700"/>
          </a:xfrm>
          <a:prstGeom prst="roundRect">
            <a:avLst>
              <a:gd name="adj" fmla="val 8511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23" name="Text 19"/>
          <p:cNvSpPr/>
          <p:nvPr/>
        </p:nvSpPr>
        <p:spPr>
          <a:xfrm>
            <a:off x="13668375" y="5972175"/>
            <a:ext cx="3625215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8E5A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举例子</a:t>
            </a:r>
            <a:endParaRPr lang="en-US" sz="2325" dirty="0"/>
          </a:p>
        </p:txBody>
      </p:sp>
      <p:sp>
        <p:nvSpPr>
          <p:cNvPr id="24" name="Text 20"/>
          <p:cNvSpPr/>
          <p:nvPr/>
        </p:nvSpPr>
        <p:spPr>
          <a:xfrm>
            <a:off x="13668375" y="6477000"/>
            <a:ext cx="3394519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500"/>
              </a:lnSpc>
              <a:buNone/>
            </a:pPr>
            <a:r>
              <a:rPr lang="en-US" sz="2025" dirty="0">
                <a:solidFill>
                  <a:srgbClr val="5B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用一件事说明：一个多月没浇水，它还是绿的</a:t>
            </a:r>
            <a:endParaRPr lang="en-US" sz="2025" dirty="0"/>
          </a:p>
        </p:txBody>
      </p:sp>
      <p:sp>
        <p:nvSpPr>
          <p:cNvPr id="25" name="Text 21"/>
          <p:cNvSpPr/>
          <p:nvPr/>
        </p:nvSpPr>
        <p:spPr>
          <a:xfrm>
            <a:off x="1047750" y="9293423"/>
            <a:ext cx="17811750" cy="517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380"/>
              </a:lnSpc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这四样，课本上叫</a:t>
            </a:r>
            <a:pPr algn="l" indent="0" marL="0">
              <a:lnSpc>
                <a:spcPct val="109380"/>
              </a:lnSpc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说明方法</a:t>
            </a:r>
            <a:pPr algn="l" indent="0" marL="0">
              <a:lnSpc>
                <a:spcPct val="109380"/>
              </a:lnSpc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。课文《太阳》写温度高，先列数字说出表面温度，再拿钢铁作比较。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9906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学写法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11412885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66850" y="1581150"/>
            <a:ext cx="11632153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轮到你选的那种事物：口头说一句，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至少用上两种说明方法</a:t>
            </a:r>
            <a:endParaRPr lang="en-US" sz="3203" dirty="0"/>
          </a:p>
        </p:txBody>
      </p:sp>
      <p:sp>
        <p:nvSpPr>
          <p:cNvPr id="7" name="Shape 4"/>
          <p:cNvSpPr/>
          <p:nvPr/>
        </p:nvSpPr>
        <p:spPr>
          <a:xfrm>
            <a:off x="1047750" y="3048000"/>
            <a:ext cx="504825" cy="504825"/>
          </a:xfrm>
          <a:prstGeom prst="roundRect">
            <a:avLst>
              <a:gd name="adj" fmla="val 26415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217861" y="3124200"/>
            <a:ext cx="24080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1800225" y="3124200"/>
            <a:ext cx="9133808" cy="1004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326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先用</a:t>
            </a:r>
            <a:pPr algn="l" indent="0" marL="0">
              <a:lnSpc>
                <a:spcPct val="110326"/>
              </a:lnSpc>
              <a:buNone/>
            </a:pPr>
            <a:r>
              <a:rPr lang="en-US" sz="26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列数字 </a:t>
            </a:r>
            <a:pPr algn="l" indent="0" marL="0">
              <a:lnSpc>
                <a:spcPct val="110326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说出它到底有多大、多长或者多重；记不准的，说“大约”“左右”</a:t>
            </a:r>
            <a:endParaRPr lang="en-US" sz="2625" dirty="0"/>
          </a:p>
        </p:txBody>
      </p:sp>
      <p:sp>
        <p:nvSpPr>
          <p:cNvPr id="10" name="Shape 7"/>
          <p:cNvSpPr/>
          <p:nvPr/>
        </p:nvSpPr>
        <p:spPr>
          <a:xfrm>
            <a:off x="1047750" y="4395788"/>
            <a:ext cx="504825" cy="504825"/>
          </a:xfrm>
          <a:prstGeom prst="roundRect">
            <a:avLst>
              <a:gd name="adj" fmla="val 26415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1217861" y="4471988"/>
            <a:ext cx="24080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1800225" y="4471988"/>
            <a:ext cx="8241030" cy="5214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326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再用</a:t>
            </a:r>
            <a:pPr algn="l" indent="0" marL="0">
              <a:lnSpc>
                <a:spcPct val="110326"/>
              </a:lnSpc>
              <a:buNone/>
            </a:pPr>
            <a:r>
              <a:rPr lang="en-US" sz="2625" b="1" dirty="0">
                <a:solidFill>
                  <a:srgbClr val="2F72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作比较</a:t>
            </a:r>
            <a:pPr algn="l" indent="0" marL="0">
              <a:lnSpc>
                <a:spcPct val="110326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或者</a:t>
            </a:r>
            <a:pPr algn="l" indent="0" marL="0">
              <a:lnSpc>
                <a:spcPct val="110326"/>
              </a:lnSpc>
              <a:buNone/>
            </a:pPr>
            <a:r>
              <a:rPr lang="en-US" sz="2625" b="1" dirty="0">
                <a:solidFill>
                  <a:srgbClr val="4E9A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打比方</a:t>
            </a:r>
            <a:pPr algn="l" indent="0" marL="0">
              <a:lnSpc>
                <a:spcPct val="110326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：它跟什么差不多，或者像什么</a:t>
            </a:r>
            <a:endParaRPr lang="en-US" sz="2625" dirty="0"/>
          </a:p>
        </p:txBody>
      </p:sp>
      <p:sp>
        <p:nvSpPr>
          <p:cNvPr id="13" name="Shape 10"/>
          <p:cNvSpPr/>
          <p:nvPr/>
        </p:nvSpPr>
        <p:spPr>
          <a:xfrm>
            <a:off x="1047750" y="5260181"/>
            <a:ext cx="504825" cy="504825"/>
          </a:xfrm>
          <a:prstGeom prst="roundRect">
            <a:avLst>
              <a:gd name="adj" fmla="val 26415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1217861" y="5336381"/>
            <a:ext cx="24080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1800225" y="5336381"/>
            <a:ext cx="9133808" cy="1004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326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说给前后桌听，对方只回一句： </a:t>
            </a:r>
            <a:pPr algn="l" indent="0" marL="0">
              <a:lnSpc>
                <a:spcPct val="110326"/>
              </a:lnSpc>
              <a:buNone/>
            </a:pPr>
            <a:r>
              <a:rPr lang="en-US" sz="26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听了这一句，我能不能想出它有多大 </a:t>
            </a:r>
            <a:pPr algn="l" indent="0" marL="0">
              <a:lnSpc>
                <a:spcPct val="110326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。想不出，就再改一遍说</a:t>
            </a:r>
            <a:endParaRPr lang="en-US" sz="2625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0" y="3143250"/>
            <a:ext cx="4953000" cy="381000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1047750" y="7504807"/>
            <a:ext cx="16192500" cy="1448693"/>
          </a:xfrm>
          <a:prstGeom prst="roundRect">
            <a:avLst>
              <a:gd name="adj" fmla="val 11835"/>
            </a:avLst>
          </a:prstGeom>
          <a:solidFill>
            <a:srgbClr val="FCF3EE"/>
          </a:solidFill>
          <a:ln w="19050">
            <a:solidFill>
              <a:srgbClr val="F0CBB4"/>
            </a:solidFill>
            <a:prstDash val="solid"/>
          </a:ln>
        </p:spPr>
        <p:txBody>
          <a:bodyPr/>
          <a:p/>
        </p:txBody>
      </p:sp>
      <p:sp>
        <p:nvSpPr>
          <p:cNvPr id="18" name="Text 14"/>
          <p:cNvSpPr/>
          <p:nvPr/>
        </p:nvSpPr>
        <p:spPr>
          <a:xfrm>
            <a:off x="1466850" y="7771507"/>
            <a:ext cx="15814929" cy="953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195"/>
              </a:lnSpc>
              <a:buNone/>
            </a:pPr>
            <a:r>
              <a:rPr lang="en-US" sz="232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例如：我的溜溜球直径大约五厘米，跟一个乒乓球差不多大；我家乌龟的壳有我手掌那么大，像一个小锅盖；一屉小笼包有八个，每个像一枚鸡蛋那么大。</a:t>
            </a:r>
            <a:endParaRPr lang="en-US" sz="2325" dirty="0"/>
          </a:p>
        </p:txBody>
      </p:sp>
      <p:sp>
        <p:nvSpPr>
          <p:cNvPr id="19" name="Text 15"/>
          <p:cNvSpPr/>
          <p:nvPr/>
        </p:nvSpPr>
        <p:spPr>
          <a:xfrm>
            <a:off x="1047750" y="9334500"/>
            <a:ext cx="17811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只有数字没有比较的，问一问自己：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它跟什么差不多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？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9906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学写法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8972699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66850" y="1581150"/>
            <a:ext cx="8947949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整篇怎么安排？看例文《鲸》：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一段讲一件事</a:t>
            </a:r>
            <a:endParaRPr lang="en-US" sz="3203" dirty="0"/>
          </a:p>
        </p:txBody>
      </p:sp>
      <p:sp>
        <p:nvSpPr>
          <p:cNvPr id="7" name="Shape 4"/>
          <p:cNvSpPr/>
          <p:nvPr/>
        </p:nvSpPr>
        <p:spPr>
          <a:xfrm>
            <a:off x="1047750" y="2857500"/>
            <a:ext cx="9525000" cy="1304925"/>
          </a:xfrm>
          <a:prstGeom prst="roundRect">
            <a:avLst>
              <a:gd name="adj" fmla="val 11679"/>
            </a:avLst>
          </a:prstGeom>
          <a:solidFill>
            <a:srgbClr val="DCE6F5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390650" y="3067050"/>
            <a:ext cx="9104376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415"/>
              </a:lnSpc>
              <a:buNone/>
            </a:pPr>
            <a:r>
              <a:rPr lang="en-US" sz="2325" b="1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只看每一段开头的一两句，数一数它分了几段，每一段讲的是鲸的 </a:t>
            </a:r>
            <a:pPr algn="l" indent="0" marL="0">
              <a:lnSpc>
                <a:spcPct val="113415"/>
              </a:lnSpc>
              <a:buNone/>
            </a:pPr>
            <a:r>
              <a:rPr lang="en-US" sz="23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哪一件事</a:t>
            </a:r>
            <a:pPr algn="l" indent="0" marL="0">
              <a:lnSpc>
                <a:spcPct val="113415"/>
              </a:lnSpc>
              <a:buNone/>
            </a:pPr>
            <a:r>
              <a:rPr lang="en-US" sz="2325" b="1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。前后桌对一对答案。</a:t>
            </a:r>
            <a:endParaRPr lang="en-US" sz="2325" dirty="0"/>
          </a:p>
        </p:txBody>
      </p:sp>
      <p:sp>
        <p:nvSpPr>
          <p:cNvPr id="9" name="Shape 6"/>
          <p:cNvSpPr/>
          <p:nvPr/>
        </p:nvSpPr>
        <p:spPr>
          <a:xfrm>
            <a:off x="1047750" y="4629150"/>
            <a:ext cx="152400" cy="152400"/>
          </a:xfrm>
          <a:prstGeom prst="ellipse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1409700" y="4486275"/>
            <a:ext cx="9437942" cy="9772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556"/>
              </a:lnSpc>
              <a:buNone/>
            </a:pPr>
            <a:r>
              <a:rPr lang="en-US" sz="255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“一件事”就是</a:t>
            </a:r>
            <a:pPr algn="l" indent="0" marL="0">
              <a:lnSpc>
                <a:spcPct val="109556"/>
              </a:lnSpc>
              <a:buNone/>
            </a:pPr>
            <a:r>
              <a:rPr lang="en-US" sz="25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一个方面 </a:t>
            </a:r>
            <a:pPr algn="l" indent="0" marL="0">
              <a:lnSpc>
                <a:spcPct val="109556"/>
              </a:lnSpc>
              <a:buNone/>
            </a:pPr>
            <a:r>
              <a:rPr lang="en-US" sz="255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：样子、构造、怎么用、怎么做出来的、有趣的知识</a:t>
            </a:r>
            <a:endParaRPr lang="en-US" sz="2550" dirty="0"/>
          </a:p>
        </p:txBody>
      </p:sp>
      <p:sp>
        <p:nvSpPr>
          <p:cNvPr id="11" name="Shape 8"/>
          <p:cNvSpPr/>
          <p:nvPr/>
        </p:nvSpPr>
        <p:spPr>
          <a:xfrm>
            <a:off x="1047750" y="5796855"/>
            <a:ext cx="152400" cy="152400"/>
          </a:xfrm>
          <a:prstGeom prst="ellipse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1409700" y="5653980"/>
            <a:ext cx="9437942" cy="9772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556"/>
              </a:lnSpc>
              <a:buNone/>
            </a:pPr>
            <a:r>
              <a:rPr lang="en-US" sz="255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一个方面写一段，</a:t>
            </a:r>
            <a:pPr algn="l" indent="0" marL="0">
              <a:lnSpc>
                <a:spcPct val="109556"/>
              </a:lnSpc>
              <a:buNone/>
            </a:pPr>
            <a:r>
              <a:rPr lang="en-US" sz="25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每段开头一两句先说出这一段讲哪个方面 </a:t>
            </a:r>
            <a:pPr algn="l" indent="0" marL="0">
              <a:lnSpc>
                <a:spcPct val="109556"/>
              </a:lnSpc>
              <a:buNone/>
            </a:pPr>
            <a:r>
              <a:rPr lang="en-US" sz="255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，读的人才看得清楚</a:t>
            </a:r>
            <a:endParaRPr lang="en-US" sz="2550" dirty="0"/>
          </a:p>
        </p:txBody>
      </p:sp>
      <p:sp>
        <p:nvSpPr>
          <p:cNvPr id="13" name="Shape 10"/>
          <p:cNvSpPr/>
          <p:nvPr/>
        </p:nvSpPr>
        <p:spPr>
          <a:xfrm>
            <a:off x="1047750" y="6964561"/>
            <a:ext cx="152400" cy="152400"/>
          </a:xfrm>
          <a:prstGeom prst="ellipse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1409700" y="6821686"/>
            <a:ext cx="9437942" cy="9772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556"/>
              </a:lnSpc>
              <a:buNone/>
            </a:pPr>
            <a:r>
              <a:rPr lang="en-US" sz="255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每一段里再用一两种说明方法。课本批注：“通过作比较、列数字，鲸的庞大就具体可感了。”</a:t>
            </a:r>
            <a:endParaRPr lang="en-US" sz="2550" dirty="0"/>
          </a:p>
        </p:txBody>
      </p:sp>
      <p:sp>
        <p:nvSpPr>
          <p:cNvPr id="15" name="Shape 12"/>
          <p:cNvSpPr/>
          <p:nvPr/>
        </p:nvSpPr>
        <p:spPr>
          <a:xfrm>
            <a:off x="1047750" y="8132266"/>
            <a:ext cx="152400" cy="152400"/>
          </a:xfrm>
          <a:prstGeom prst="ellipse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1409700" y="7989391"/>
            <a:ext cx="9437942" cy="9772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556"/>
              </a:lnSpc>
              <a:buNone/>
            </a:pPr>
            <a:r>
              <a:rPr lang="en-US" sz="255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介绍一种做法（怎样泡酸菜、溜溜球怎么玩），方面就 </a:t>
            </a:r>
            <a:pPr algn="l" indent="0" marL="0">
              <a:lnSpc>
                <a:spcPct val="109556"/>
              </a:lnSpc>
              <a:buNone/>
            </a:pPr>
            <a:r>
              <a:rPr lang="en-US" sz="25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按步骤来分 </a:t>
            </a:r>
            <a:pPr algn="l" indent="0" marL="0">
              <a:lnSpc>
                <a:spcPct val="109556"/>
              </a:lnSpc>
              <a:buNone/>
            </a:pPr>
            <a:r>
              <a:rPr lang="en-US" sz="255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，像例文《风向袋的制作》那样，一步一段</a:t>
            </a:r>
            <a:endParaRPr lang="en-US" sz="255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11000" y="2952750"/>
            <a:ext cx="5334000" cy="53340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047750" y="9334500"/>
            <a:ext cx="17811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多大、有几种、吃什么、怎么呼吸、怎么睡觉，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一段一个方面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，读的人一看开头就知道这一段说什么。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9906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学写法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7752457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66850" y="1581150"/>
            <a:ext cx="7605683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今天这篇习作的写法，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归纳起来是两条</a:t>
            </a:r>
            <a:endParaRPr lang="en-US" sz="3203" dirty="0"/>
          </a:p>
        </p:txBody>
      </p:sp>
      <p:sp>
        <p:nvSpPr>
          <p:cNvPr id="7" name="Shape 4"/>
          <p:cNvSpPr/>
          <p:nvPr/>
        </p:nvSpPr>
        <p:spPr>
          <a:xfrm>
            <a:off x="1162050" y="2433638"/>
            <a:ext cx="742950" cy="66675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8" name="Shape 5"/>
          <p:cNvSpPr/>
          <p:nvPr/>
        </p:nvSpPr>
        <p:spPr>
          <a:xfrm>
            <a:off x="1047750" y="3143250"/>
            <a:ext cx="6096000" cy="5334000"/>
          </a:xfrm>
          <a:prstGeom prst="roundRect">
            <a:avLst>
              <a:gd name="adj" fmla="val 3929"/>
            </a:avLst>
          </a:prstGeom>
          <a:gradFill rotWithShape="1">
            <a:gsLst>
              <a:gs pos="0">
                <a:srgbClr val="3D4A63">
                  <a:alpha val="100000"/>
                </a:srgbClr>
              </a:gs>
              <a:gs pos="100000">
                <a:srgbClr val="2C3650">
                  <a:alpha val="100000"/>
                </a:srgbClr>
              </a:gs>
            </a:gsLst>
            <a:lin ang="2700000" scaled="0"/>
          </a:gra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348740" y="4530179"/>
            <a:ext cx="5494020" cy="25982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5827"/>
              </a:lnSpc>
              <a:buNone/>
            </a:pPr>
            <a:r>
              <a:rPr lang="en-US" sz="7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分方面 说清楚</a:t>
            </a:r>
            <a:endParaRPr lang="en-US" sz="7200" dirty="0"/>
          </a:p>
        </p:txBody>
      </p:sp>
      <p:sp>
        <p:nvSpPr>
          <p:cNvPr id="10" name="Shape 7"/>
          <p:cNvSpPr/>
          <p:nvPr/>
        </p:nvSpPr>
        <p:spPr>
          <a:xfrm>
            <a:off x="8001000" y="3238500"/>
            <a:ext cx="504825" cy="504825"/>
          </a:xfrm>
          <a:prstGeom prst="roundRect">
            <a:avLst>
              <a:gd name="adj" fmla="val 26415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8171111" y="3314700"/>
            <a:ext cx="24080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8753475" y="3295650"/>
            <a:ext cx="8741378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130"/>
              </a:lnSpc>
              <a:buNone/>
            </a:pPr>
            <a:r>
              <a:rPr lang="en-US" sz="26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分方面介绍 </a:t>
            </a:r>
            <a:pPr algn="l" indent="0" marL="0">
              <a:lnSpc>
                <a:spcPct val="114130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，一个方面一段，开头一两句先告诉读的人这一段介绍的是哪个方面</a:t>
            </a:r>
            <a:endParaRPr lang="en-US" sz="2625" dirty="0"/>
          </a:p>
        </p:txBody>
      </p:sp>
      <p:sp>
        <p:nvSpPr>
          <p:cNvPr id="13" name="Shape 10"/>
          <p:cNvSpPr/>
          <p:nvPr/>
        </p:nvSpPr>
        <p:spPr>
          <a:xfrm>
            <a:off x="8001000" y="4619625"/>
            <a:ext cx="504825" cy="504825"/>
          </a:xfrm>
          <a:prstGeom prst="roundRect">
            <a:avLst>
              <a:gd name="adj" fmla="val 26415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8171111" y="4695825"/>
            <a:ext cx="24080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8753475" y="4676775"/>
            <a:ext cx="8741378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130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每个方面用</a:t>
            </a:r>
            <a:pPr algn="l" indent="0" marL="0">
              <a:lnSpc>
                <a:spcPct val="114130"/>
              </a:lnSpc>
              <a:buNone/>
            </a:pPr>
            <a:r>
              <a:rPr lang="en-US" sz="26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一两种说明方法 </a:t>
            </a:r>
            <a:pPr algn="l" indent="0" marL="0">
              <a:lnSpc>
                <a:spcPct val="114130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把特点说清楚：列数字、作比较、打比方、举例子</a:t>
            </a:r>
            <a:endParaRPr lang="en-US" sz="2625" dirty="0"/>
          </a:p>
        </p:txBody>
      </p:sp>
      <p:sp>
        <p:nvSpPr>
          <p:cNvPr id="16" name="Shape 13"/>
          <p:cNvSpPr/>
          <p:nvPr/>
        </p:nvSpPr>
        <p:spPr>
          <a:xfrm>
            <a:off x="8001000" y="6000750"/>
            <a:ext cx="9239250" cy="1448693"/>
          </a:xfrm>
          <a:prstGeom prst="roundRect">
            <a:avLst>
              <a:gd name="adj" fmla="val 11835"/>
            </a:avLst>
          </a:prstGeom>
          <a:solidFill>
            <a:srgbClr val="FCF3EE"/>
          </a:solidFill>
          <a:ln w="19050">
            <a:solidFill>
              <a:srgbClr val="F0CBB4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8362950" y="6267450"/>
            <a:ext cx="8770811" cy="953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195"/>
              </a:lnSpc>
              <a:buNone/>
            </a:pPr>
            <a:r>
              <a:rPr lang="en-US" sz="232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另外，用到具体数字的时候， </a:t>
            </a:r>
            <a:pPr algn="l" indent="0" marL="0">
              <a:lnSpc>
                <a:spcPct val="117195"/>
              </a:lnSpc>
              <a:buNone/>
            </a:pPr>
            <a:r>
              <a:rPr lang="en-US" sz="23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有把握的写准，不太确定的写“大约”“左右” </a:t>
            </a:r>
            <a:pPr algn="l" indent="0" marL="0">
              <a:lnSpc>
                <a:spcPct val="117195"/>
              </a:lnSpc>
              <a:buNone/>
            </a:pPr>
            <a:r>
              <a:rPr lang="en-US" sz="232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325" dirty="0"/>
          </a:p>
        </p:txBody>
      </p:sp>
      <p:sp>
        <p:nvSpPr>
          <p:cNvPr id="18" name="Text 15"/>
          <p:cNvSpPr/>
          <p:nvPr/>
        </p:nvSpPr>
        <p:spPr>
          <a:xfrm>
            <a:off x="1047750" y="9334500"/>
            <a:ext cx="17811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介绍一种事物，写的是这种事物本身，要让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不了解它的人读完就认识它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16764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写作构思表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47750" y="1428750"/>
            <a:ext cx="2724150" cy="681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971"/>
              </a:lnSpc>
              <a:buNone/>
            </a:pPr>
            <a:r>
              <a:rPr lang="en-US" sz="39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写作构思表</a:t>
            </a:r>
            <a:endParaRPr lang="en-US" sz="3900" dirty="0"/>
          </a:p>
        </p:txBody>
      </p:sp>
      <p:sp>
        <p:nvSpPr>
          <p:cNvPr id="6" name="Text 3"/>
          <p:cNvSpPr/>
          <p:nvPr/>
        </p:nvSpPr>
        <p:spPr>
          <a:xfrm>
            <a:off x="1047750" y="2133600"/>
            <a:ext cx="817245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8A92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一行一个方面，格子里记关键词就够了，成句留到写的时候</a:t>
            </a:r>
            <a:endParaRPr lang="en-US" sz="2250" dirty="0"/>
          </a:p>
        </p:txBody>
      </p:sp>
      <p:sp>
        <p:nvSpPr>
          <p:cNvPr id="7" name="Shape 4"/>
          <p:cNvSpPr/>
          <p:nvPr/>
        </p:nvSpPr>
        <p:spPr>
          <a:xfrm>
            <a:off x="1047750" y="2819400"/>
            <a:ext cx="16192500" cy="5638800"/>
          </a:xfrm>
          <a:prstGeom prst="roundRect">
            <a:avLst>
              <a:gd name="adj" fmla="val 2365"/>
            </a:avLst>
          </a:prstGeom>
          <a:ln w="9525">
            <a:solidFill>
              <a:srgbClr val="DFE3E9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1057275" y="2828925"/>
            <a:ext cx="16173450" cy="1104900"/>
          </a:xfrm>
          <a:prstGeom prst="rect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362075" y="3000375"/>
            <a:ext cx="435864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介绍的方面</a:t>
            </a:r>
            <a:endParaRPr lang="en-US" sz="2250" dirty="0"/>
          </a:p>
        </p:txBody>
      </p:sp>
      <p:sp>
        <p:nvSpPr>
          <p:cNvPr id="10" name="Shape 7"/>
          <p:cNvSpPr/>
          <p:nvPr/>
        </p:nvSpPr>
        <p:spPr>
          <a:xfrm>
            <a:off x="5629275" y="2828925"/>
            <a:ext cx="9525" cy="1104900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5943600" y="3000375"/>
            <a:ext cx="4557713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特点（关键词）</a:t>
            </a:r>
            <a:endParaRPr lang="en-US" sz="2250" dirty="0"/>
          </a:p>
        </p:txBody>
      </p:sp>
      <p:sp>
        <p:nvSpPr>
          <p:cNvPr id="12" name="Shape 9"/>
          <p:cNvSpPr/>
          <p:nvPr/>
        </p:nvSpPr>
        <p:spPr>
          <a:xfrm>
            <a:off x="10391775" y="2828925"/>
            <a:ext cx="9525" cy="1104900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10706100" y="3000375"/>
            <a:ext cx="640642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打算怎么说清（数字、比的对象、像什么，或要举的例子）</a:t>
            </a:r>
            <a:endParaRPr lang="en-US" sz="2250" dirty="0"/>
          </a:p>
        </p:txBody>
      </p:sp>
      <p:sp>
        <p:nvSpPr>
          <p:cNvPr id="14" name="Shape 11"/>
          <p:cNvSpPr/>
          <p:nvPr/>
        </p:nvSpPr>
        <p:spPr>
          <a:xfrm>
            <a:off x="1057275" y="3933825"/>
            <a:ext cx="16173450" cy="752475"/>
          </a:xfrm>
          <a:prstGeom prst="rect">
            <a:avLst/>
          </a:prstGeom>
          <a:solidFill>
            <a:srgbClr val="EEF1F5"/>
          </a:solidFill>
          <a:ln/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1362075" y="4124325"/>
            <a:ext cx="409956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开头：它是什么</a:t>
            </a:r>
            <a:endParaRPr lang="en-US" sz="2175" dirty="0"/>
          </a:p>
        </p:txBody>
      </p:sp>
      <p:sp>
        <p:nvSpPr>
          <p:cNvPr id="16" name="Shape 13"/>
          <p:cNvSpPr/>
          <p:nvPr/>
        </p:nvSpPr>
        <p:spPr>
          <a:xfrm>
            <a:off x="5629275" y="3933825"/>
            <a:ext cx="9525" cy="752475"/>
          </a:xfrm>
          <a:prstGeom prst="rect">
            <a:avLst/>
          </a:prstGeom>
          <a:solidFill>
            <a:srgbClr val="DFE3E9"/>
          </a:solidFill>
          <a:ln/>
        </p:spPr>
        <p:txBody>
          <a:bodyPr/>
          <a:p/>
        </p:txBody>
      </p:sp>
      <p:sp>
        <p:nvSpPr>
          <p:cNvPr id="17" name="Shape 14"/>
          <p:cNvSpPr/>
          <p:nvPr/>
        </p:nvSpPr>
        <p:spPr>
          <a:xfrm>
            <a:off x="10391775" y="3933825"/>
            <a:ext cx="9525" cy="752475"/>
          </a:xfrm>
          <a:prstGeom prst="rect">
            <a:avLst/>
          </a:prstGeom>
          <a:solidFill>
            <a:srgbClr val="DFE3E9"/>
          </a:solidFill>
          <a:ln/>
        </p:spPr>
        <p:txBody>
          <a:bodyPr/>
          <a:p/>
        </p:txBody>
      </p:sp>
      <p:sp>
        <p:nvSpPr>
          <p:cNvPr id="18" name="Shape 15"/>
          <p:cNvSpPr/>
          <p:nvPr/>
        </p:nvSpPr>
        <p:spPr>
          <a:xfrm>
            <a:off x="1057275" y="4686300"/>
            <a:ext cx="16173450" cy="7524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1362075" y="4876800"/>
            <a:ext cx="409956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方面一：</a:t>
            </a:r>
            <a:pPr algn="l" indent="0" marL="0">
              <a:buNone/>
            </a:pPr>
            <a:r>
              <a:rPr lang="en-US" sz="217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＿＿＿</a:t>
            </a:r>
            <a:endParaRPr lang="en-US" sz="2175" dirty="0"/>
          </a:p>
        </p:txBody>
      </p:sp>
      <p:sp>
        <p:nvSpPr>
          <p:cNvPr id="20" name="Shape 17"/>
          <p:cNvSpPr/>
          <p:nvPr/>
        </p:nvSpPr>
        <p:spPr>
          <a:xfrm>
            <a:off x="5629275" y="4686300"/>
            <a:ext cx="9525" cy="752475"/>
          </a:xfrm>
          <a:prstGeom prst="rect">
            <a:avLst/>
          </a:prstGeom>
          <a:solidFill>
            <a:srgbClr val="DFE3E9"/>
          </a:solidFill>
          <a:ln/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10391775" y="4686300"/>
            <a:ext cx="9525" cy="752475"/>
          </a:xfrm>
          <a:prstGeom prst="rect">
            <a:avLst/>
          </a:prstGeom>
          <a:solidFill>
            <a:srgbClr val="DFE3E9"/>
          </a:solidFill>
          <a:ln/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>
            <a:off x="1057275" y="5438775"/>
            <a:ext cx="16173450" cy="752475"/>
          </a:xfrm>
          <a:prstGeom prst="rect">
            <a:avLst/>
          </a:prstGeom>
          <a:solidFill>
            <a:srgbClr val="EEF1F5"/>
          </a:solidFill>
          <a:ln/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1362075" y="5629275"/>
            <a:ext cx="409956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方面二：</a:t>
            </a:r>
            <a:pPr algn="l" indent="0" marL="0">
              <a:buNone/>
            </a:pPr>
            <a:r>
              <a:rPr lang="en-US" sz="217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＿＿＿</a:t>
            </a:r>
            <a:endParaRPr lang="en-US" sz="2175" dirty="0"/>
          </a:p>
        </p:txBody>
      </p:sp>
      <p:sp>
        <p:nvSpPr>
          <p:cNvPr id="24" name="Shape 21"/>
          <p:cNvSpPr/>
          <p:nvPr/>
        </p:nvSpPr>
        <p:spPr>
          <a:xfrm>
            <a:off x="5629275" y="5438775"/>
            <a:ext cx="9525" cy="752475"/>
          </a:xfrm>
          <a:prstGeom prst="rect">
            <a:avLst/>
          </a:prstGeom>
          <a:solidFill>
            <a:srgbClr val="DFE3E9"/>
          </a:solidFill>
          <a:ln/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10391775" y="5438775"/>
            <a:ext cx="9525" cy="752475"/>
          </a:xfrm>
          <a:prstGeom prst="rect">
            <a:avLst/>
          </a:prstGeom>
          <a:solidFill>
            <a:srgbClr val="DFE3E9"/>
          </a:solidFill>
          <a:ln/>
        </p:spPr>
        <p:txBody>
          <a:bodyPr/>
          <a:p/>
        </p:txBody>
      </p:sp>
      <p:sp>
        <p:nvSpPr>
          <p:cNvPr id="26" name="Shape 23"/>
          <p:cNvSpPr/>
          <p:nvPr/>
        </p:nvSpPr>
        <p:spPr>
          <a:xfrm>
            <a:off x="1057275" y="6191250"/>
            <a:ext cx="16173450" cy="7524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7" name="Text 24"/>
          <p:cNvSpPr/>
          <p:nvPr/>
        </p:nvSpPr>
        <p:spPr>
          <a:xfrm>
            <a:off x="1362075" y="6381750"/>
            <a:ext cx="409956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方面三：</a:t>
            </a:r>
            <a:pPr algn="l" indent="0" marL="0">
              <a:buNone/>
            </a:pPr>
            <a:r>
              <a:rPr lang="en-US" sz="217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＿＿＿</a:t>
            </a:r>
            <a:endParaRPr lang="en-US" sz="2175" dirty="0"/>
          </a:p>
        </p:txBody>
      </p:sp>
      <p:sp>
        <p:nvSpPr>
          <p:cNvPr id="28" name="Shape 25"/>
          <p:cNvSpPr/>
          <p:nvPr/>
        </p:nvSpPr>
        <p:spPr>
          <a:xfrm>
            <a:off x="5629275" y="6191250"/>
            <a:ext cx="9525" cy="752475"/>
          </a:xfrm>
          <a:prstGeom prst="rect">
            <a:avLst/>
          </a:prstGeom>
          <a:solidFill>
            <a:srgbClr val="DFE3E9"/>
          </a:solidFill>
          <a:ln/>
        </p:spPr>
        <p:txBody>
          <a:bodyPr/>
          <a:p/>
        </p:txBody>
      </p:sp>
      <p:sp>
        <p:nvSpPr>
          <p:cNvPr id="29" name="Shape 26"/>
          <p:cNvSpPr/>
          <p:nvPr/>
        </p:nvSpPr>
        <p:spPr>
          <a:xfrm>
            <a:off x="10391775" y="6191250"/>
            <a:ext cx="9525" cy="752475"/>
          </a:xfrm>
          <a:prstGeom prst="rect">
            <a:avLst/>
          </a:prstGeom>
          <a:solidFill>
            <a:srgbClr val="DFE3E9"/>
          </a:solidFill>
          <a:ln/>
        </p:spPr>
        <p:txBody>
          <a:bodyPr/>
          <a:p/>
        </p:txBody>
      </p:sp>
      <p:sp>
        <p:nvSpPr>
          <p:cNvPr id="30" name="Shape 27"/>
          <p:cNvSpPr/>
          <p:nvPr/>
        </p:nvSpPr>
        <p:spPr>
          <a:xfrm>
            <a:off x="1057275" y="6943725"/>
            <a:ext cx="16173450" cy="752475"/>
          </a:xfrm>
          <a:prstGeom prst="rect">
            <a:avLst/>
          </a:prstGeom>
          <a:solidFill>
            <a:srgbClr val="EEF1F5"/>
          </a:solidFill>
          <a:ln/>
        </p:spPr>
        <p:txBody>
          <a:bodyPr/>
          <a:p/>
        </p:txBody>
      </p:sp>
      <p:sp>
        <p:nvSpPr>
          <p:cNvPr id="31" name="Text 28"/>
          <p:cNvSpPr/>
          <p:nvPr/>
        </p:nvSpPr>
        <p:spPr>
          <a:xfrm>
            <a:off x="1362075" y="7134225"/>
            <a:ext cx="409956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结尾：我对它的看法（一句）</a:t>
            </a:r>
            <a:endParaRPr lang="en-US" sz="2175" dirty="0"/>
          </a:p>
        </p:txBody>
      </p:sp>
      <p:sp>
        <p:nvSpPr>
          <p:cNvPr id="32" name="Shape 29"/>
          <p:cNvSpPr/>
          <p:nvPr/>
        </p:nvSpPr>
        <p:spPr>
          <a:xfrm>
            <a:off x="5629275" y="6943725"/>
            <a:ext cx="9525" cy="752475"/>
          </a:xfrm>
          <a:prstGeom prst="rect">
            <a:avLst/>
          </a:prstGeom>
          <a:solidFill>
            <a:srgbClr val="DFE3E9"/>
          </a:solidFill>
          <a:ln/>
        </p:spPr>
        <p:txBody>
          <a:bodyPr/>
          <a:p/>
        </p:txBody>
      </p:sp>
      <p:sp>
        <p:nvSpPr>
          <p:cNvPr id="33" name="Shape 30"/>
          <p:cNvSpPr/>
          <p:nvPr/>
        </p:nvSpPr>
        <p:spPr>
          <a:xfrm>
            <a:off x="10391775" y="6943725"/>
            <a:ext cx="9525" cy="752475"/>
          </a:xfrm>
          <a:prstGeom prst="rect">
            <a:avLst/>
          </a:prstGeom>
          <a:solidFill>
            <a:srgbClr val="DFE3E9"/>
          </a:solidFill>
          <a:ln/>
        </p:spPr>
        <p:txBody>
          <a:bodyPr/>
          <a:p/>
        </p:txBody>
      </p:sp>
      <p:sp>
        <p:nvSpPr>
          <p:cNvPr id="34" name="Shape 31"/>
          <p:cNvSpPr/>
          <p:nvPr/>
        </p:nvSpPr>
        <p:spPr>
          <a:xfrm>
            <a:off x="1057275" y="7696200"/>
            <a:ext cx="16173450" cy="75247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5" name="Text 32"/>
          <p:cNvSpPr/>
          <p:nvPr/>
        </p:nvSpPr>
        <p:spPr>
          <a:xfrm>
            <a:off x="1362075" y="7886700"/>
            <a:ext cx="409956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对方问过我的两个问题</a:t>
            </a:r>
            <a:endParaRPr lang="en-US" sz="2175" dirty="0"/>
          </a:p>
        </p:txBody>
      </p:sp>
      <p:sp>
        <p:nvSpPr>
          <p:cNvPr id="36" name="Shape 33"/>
          <p:cNvSpPr/>
          <p:nvPr/>
        </p:nvSpPr>
        <p:spPr>
          <a:xfrm>
            <a:off x="5629275" y="7696200"/>
            <a:ext cx="9525" cy="752475"/>
          </a:xfrm>
          <a:prstGeom prst="rect">
            <a:avLst/>
          </a:prstGeom>
          <a:solidFill>
            <a:srgbClr val="DFE3E9"/>
          </a:solidFill>
          <a:ln/>
        </p:spPr>
        <p:txBody>
          <a:bodyPr/>
          <a:p/>
        </p:txBody>
      </p:sp>
      <p:sp>
        <p:nvSpPr>
          <p:cNvPr id="37" name="Shape 34"/>
          <p:cNvSpPr/>
          <p:nvPr/>
        </p:nvSpPr>
        <p:spPr>
          <a:xfrm>
            <a:off x="10391775" y="7696200"/>
            <a:ext cx="9525" cy="752475"/>
          </a:xfrm>
          <a:prstGeom prst="rect">
            <a:avLst/>
          </a:prstGeom>
          <a:solidFill>
            <a:srgbClr val="DFE3E9"/>
          </a:solidFill>
          <a:ln/>
        </p:spPr>
        <p:txBody>
          <a:bodyPr/>
          <a:p/>
        </p:txBody>
      </p:sp>
      <p:sp>
        <p:nvSpPr>
          <p:cNvPr id="38" name="Text 35"/>
          <p:cNvSpPr/>
          <p:nvPr/>
        </p:nvSpPr>
        <p:spPr>
          <a:xfrm>
            <a:off x="10706100" y="7886700"/>
            <a:ext cx="6424994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dirty="0">
                <a:solidFill>
                  <a:srgbClr val="5B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打算放在哪一个方面回答</a:t>
            </a:r>
            <a:endParaRPr lang="en-US" sz="2175" dirty="0"/>
          </a:p>
        </p:txBody>
      </p:sp>
      <p:sp>
        <p:nvSpPr>
          <p:cNvPr id="39" name="Text 36"/>
          <p:cNvSpPr/>
          <p:nvPr/>
        </p:nvSpPr>
        <p:spPr>
          <a:xfrm>
            <a:off x="1047750" y="9353550"/>
            <a:ext cx="17811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对方问的两个问题先照抄，再想一想它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属于哪一个方面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；不属于已有方面的，就另加一行。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16764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写作构思表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6532364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66850" y="1581150"/>
            <a:ext cx="6263580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看老师先填一张：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介绍一个魔方</a:t>
            </a:r>
            <a:endParaRPr lang="en-US" sz="3203" dirty="0"/>
          </a:p>
        </p:txBody>
      </p:sp>
      <p:sp>
        <p:nvSpPr>
          <p:cNvPr id="7" name="Shape 4"/>
          <p:cNvSpPr/>
          <p:nvPr/>
        </p:nvSpPr>
        <p:spPr>
          <a:xfrm>
            <a:off x="1047750" y="2667000"/>
            <a:ext cx="16192500" cy="5724227"/>
          </a:xfrm>
          <a:prstGeom prst="roundRect">
            <a:avLst>
              <a:gd name="adj" fmla="val 2330"/>
            </a:avLst>
          </a:prstGeom>
          <a:ln w="9525">
            <a:solidFill>
              <a:srgbClr val="DFE3E9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1057275" y="2676525"/>
            <a:ext cx="16173450" cy="619125"/>
          </a:xfrm>
          <a:prstGeom prst="rect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323975" y="2809875"/>
            <a:ext cx="360426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介绍的方面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4867275" y="2676525"/>
            <a:ext cx="9525" cy="619125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5143500" y="2809875"/>
            <a:ext cx="5270183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特点（关键词）</a:t>
            </a:r>
            <a:endParaRPr lang="en-US" sz="2100" dirty="0"/>
          </a:p>
        </p:txBody>
      </p:sp>
      <p:sp>
        <p:nvSpPr>
          <p:cNvPr id="12" name="Shape 9"/>
          <p:cNvSpPr/>
          <p:nvPr/>
        </p:nvSpPr>
        <p:spPr>
          <a:xfrm>
            <a:off x="10201275" y="2676525"/>
            <a:ext cx="9525" cy="619125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10477500" y="2809875"/>
            <a:ext cx="7135178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打算怎么说清</a:t>
            </a:r>
            <a:endParaRPr lang="en-US" sz="2100" dirty="0"/>
          </a:p>
        </p:txBody>
      </p:sp>
      <p:sp>
        <p:nvSpPr>
          <p:cNvPr id="14" name="Shape 11"/>
          <p:cNvSpPr/>
          <p:nvPr/>
        </p:nvSpPr>
        <p:spPr>
          <a:xfrm>
            <a:off x="1057275" y="3295650"/>
            <a:ext cx="16173450" cy="607665"/>
          </a:xfrm>
          <a:prstGeom prst="rect">
            <a:avLst/>
          </a:prstGeom>
          <a:solidFill>
            <a:srgbClr val="EEF1F5"/>
          </a:solidFill>
          <a:ln/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1323975" y="3419475"/>
            <a:ext cx="3390900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0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开头：它是什么</a:t>
            </a:r>
            <a:endParaRPr lang="en-US" sz="2025" dirty="0"/>
          </a:p>
        </p:txBody>
      </p:sp>
      <p:sp>
        <p:nvSpPr>
          <p:cNvPr id="16" name="Shape 13"/>
          <p:cNvSpPr/>
          <p:nvPr/>
        </p:nvSpPr>
        <p:spPr>
          <a:xfrm>
            <a:off x="4867275" y="3295650"/>
            <a:ext cx="9525" cy="607665"/>
          </a:xfrm>
          <a:prstGeom prst="rect">
            <a:avLst/>
          </a:prstGeom>
          <a:solidFill>
            <a:srgbClr val="DFE3E9"/>
          </a:solidFill>
          <a:ln/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5143500" y="3419475"/>
            <a:ext cx="4951095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025" dirty="0">
                <a:solidFill>
                  <a:srgbClr val="5B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正方体、能转、打乱再复原、玩了两年</a:t>
            </a:r>
            <a:endParaRPr lang="en-US" sz="2025" dirty="0"/>
          </a:p>
        </p:txBody>
      </p:sp>
      <p:sp>
        <p:nvSpPr>
          <p:cNvPr id="18" name="Shape 15"/>
          <p:cNvSpPr/>
          <p:nvPr/>
        </p:nvSpPr>
        <p:spPr>
          <a:xfrm>
            <a:off x="10201275" y="3295650"/>
            <a:ext cx="9525" cy="607665"/>
          </a:xfrm>
          <a:prstGeom prst="rect">
            <a:avLst/>
          </a:prstGeom>
          <a:solidFill>
            <a:srgbClr val="DFE3E9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10477500" y="3419475"/>
            <a:ext cx="6697409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025" dirty="0">
                <a:solidFill>
                  <a:srgbClr val="5B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</a:t>
            </a:r>
            <a:endParaRPr lang="en-US" sz="2025" dirty="0"/>
          </a:p>
        </p:txBody>
      </p:sp>
      <p:sp>
        <p:nvSpPr>
          <p:cNvPr id="20" name="Shape 17"/>
          <p:cNvSpPr/>
          <p:nvPr/>
        </p:nvSpPr>
        <p:spPr>
          <a:xfrm>
            <a:off x="1057275" y="3903315"/>
            <a:ext cx="16173450" cy="60766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1323975" y="4027140"/>
            <a:ext cx="3390900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0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方面一：样子</a:t>
            </a:r>
            <a:endParaRPr lang="en-US" sz="2025" dirty="0"/>
          </a:p>
        </p:txBody>
      </p:sp>
      <p:sp>
        <p:nvSpPr>
          <p:cNvPr id="22" name="Shape 19"/>
          <p:cNvSpPr/>
          <p:nvPr/>
        </p:nvSpPr>
        <p:spPr>
          <a:xfrm>
            <a:off x="4867275" y="3903315"/>
            <a:ext cx="9525" cy="607665"/>
          </a:xfrm>
          <a:prstGeom prst="rect">
            <a:avLst/>
          </a:prstGeom>
          <a:solidFill>
            <a:srgbClr val="DFE3E9"/>
          </a:solidFill>
          <a:ln/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5143500" y="4027140"/>
            <a:ext cx="4951095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025" dirty="0">
                <a:solidFill>
                  <a:srgbClr val="5B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六种颜色、一面九格</a:t>
            </a:r>
            <a:endParaRPr lang="en-US" sz="2025" dirty="0"/>
          </a:p>
        </p:txBody>
      </p:sp>
      <p:sp>
        <p:nvSpPr>
          <p:cNvPr id="24" name="Shape 21"/>
          <p:cNvSpPr/>
          <p:nvPr/>
        </p:nvSpPr>
        <p:spPr>
          <a:xfrm>
            <a:off x="10201275" y="3903315"/>
            <a:ext cx="9525" cy="607665"/>
          </a:xfrm>
          <a:prstGeom prst="rect">
            <a:avLst/>
          </a:prstGeom>
          <a:solidFill>
            <a:srgbClr val="DFE3E9"/>
          </a:solidFill>
          <a:ln/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10477500" y="4027140"/>
            <a:ext cx="6697409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0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边长约 5.6 厘米（量的）</a:t>
            </a:r>
            <a:pPr algn="l" indent="0" marL="0">
              <a:lnSpc>
                <a:spcPct val="105000"/>
              </a:lnSpc>
              <a:buNone/>
            </a:pPr>
            <a:r>
              <a:rPr lang="en-US" sz="202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</a:t>
            </a:r>
            <a:pPr algn="l" indent="0" marL="0">
              <a:lnSpc>
                <a:spcPct val="105000"/>
              </a:lnSpc>
              <a:buNone/>
            </a:pPr>
            <a:r>
              <a:rPr lang="en-US" sz="2025" b="1" dirty="0">
                <a:solidFill>
                  <a:srgbClr val="2F72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一只手握住</a:t>
            </a:r>
            <a:pPr algn="l" indent="0" marL="0">
              <a:lnSpc>
                <a:spcPct val="105000"/>
              </a:lnSpc>
              <a:buNone/>
            </a:pPr>
            <a:r>
              <a:rPr lang="en-US" sz="202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、一共 54 格</a:t>
            </a:r>
            <a:endParaRPr lang="en-US" sz="2025" dirty="0"/>
          </a:p>
        </p:txBody>
      </p:sp>
      <p:sp>
        <p:nvSpPr>
          <p:cNvPr id="26" name="Shape 23"/>
          <p:cNvSpPr/>
          <p:nvPr/>
        </p:nvSpPr>
        <p:spPr>
          <a:xfrm>
            <a:off x="1057275" y="4510980"/>
            <a:ext cx="16173450" cy="967680"/>
          </a:xfrm>
          <a:prstGeom prst="rect">
            <a:avLst/>
          </a:prstGeom>
          <a:solidFill>
            <a:srgbClr val="EEF1F5"/>
          </a:solidFill>
          <a:ln/>
        </p:spPr>
        <p:txBody>
          <a:bodyPr/>
          <a:p/>
        </p:txBody>
      </p:sp>
      <p:sp>
        <p:nvSpPr>
          <p:cNvPr id="27" name="Text 24"/>
          <p:cNvSpPr/>
          <p:nvPr/>
        </p:nvSpPr>
        <p:spPr>
          <a:xfrm>
            <a:off x="1323975" y="4634805"/>
            <a:ext cx="3390900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0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方面二：构造</a:t>
            </a:r>
            <a:endParaRPr lang="en-US" sz="2025" dirty="0"/>
          </a:p>
        </p:txBody>
      </p:sp>
      <p:sp>
        <p:nvSpPr>
          <p:cNvPr id="28" name="Shape 25"/>
          <p:cNvSpPr/>
          <p:nvPr/>
        </p:nvSpPr>
        <p:spPr>
          <a:xfrm>
            <a:off x="4867275" y="4510980"/>
            <a:ext cx="9525" cy="967680"/>
          </a:xfrm>
          <a:prstGeom prst="rect">
            <a:avLst/>
          </a:prstGeom>
          <a:solidFill>
            <a:srgbClr val="DFE3E9"/>
          </a:solidFill>
          <a:ln/>
        </p:spPr>
        <p:txBody>
          <a:bodyPr/>
          <a:p/>
        </p:txBody>
      </p:sp>
      <p:sp>
        <p:nvSpPr>
          <p:cNvPr id="29" name="Text 26"/>
          <p:cNvSpPr/>
          <p:nvPr/>
        </p:nvSpPr>
        <p:spPr>
          <a:xfrm>
            <a:off x="5143500" y="4634805"/>
            <a:ext cx="4951095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025" dirty="0">
                <a:solidFill>
                  <a:srgbClr val="5B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看着是一整块、其实是拼起来的、正当中那六块不动</a:t>
            </a:r>
            <a:endParaRPr lang="en-US" sz="2025" dirty="0"/>
          </a:p>
        </p:txBody>
      </p:sp>
      <p:sp>
        <p:nvSpPr>
          <p:cNvPr id="30" name="Shape 27"/>
          <p:cNvSpPr/>
          <p:nvPr/>
        </p:nvSpPr>
        <p:spPr>
          <a:xfrm>
            <a:off x="10201275" y="4510980"/>
            <a:ext cx="9525" cy="967680"/>
          </a:xfrm>
          <a:prstGeom prst="rect">
            <a:avLst/>
          </a:prstGeom>
          <a:solidFill>
            <a:srgbClr val="DFE3E9"/>
          </a:solidFill>
          <a:ln/>
        </p:spPr>
        <p:txBody>
          <a:bodyPr/>
          <a:p/>
        </p:txBody>
      </p:sp>
      <p:sp>
        <p:nvSpPr>
          <p:cNvPr id="31" name="Text 28"/>
          <p:cNvSpPr/>
          <p:nvPr/>
        </p:nvSpPr>
        <p:spPr>
          <a:xfrm>
            <a:off x="10477500" y="4634805"/>
            <a:ext cx="6697409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0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26 个小方块：角上 8 个、棱中间 12 个、每面正当中 6 个 </a:t>
            </a:r>
            <a:pPr algn="l" indent="0" marL="0">
              <a:lnSpc>
                <a:spcPct val="105000"/>
              </a:lnSpc>
              <a:buNone/>
            </a:pPr>
            <a:r>
              <a:rPr lang="en-US" sz="202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</a:t>
            </a:r>
            <a:pPr algn="l" indent="0" marL="0">
              <a:lnSpc>
                <a:spcPct val="105000"/>
              </a:lnSpc>
              <a:buNone/>
            </a:pPr>
            <a:r>
              <a:rPr lang="en-US" sz="2025" b="1" dirty="0">
                <a:solidFill>
                  <a:srgbClr val="4E9A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转起来像门绕着门轴</a:t>
            </a:r>
            <a:endParaRPr lang="en-US" sz="2025" dirty="0"/>
          </a:p>
        </p:txBody>
      </p:sp>
      <p:sp>
        <p:nvSpPr>
          <p:cNvPr id="32" name="Shape 29"/>
          <p:cNvSpPr/>
          <p:nvPr/>
        </p:nvSpPr>
        <p:spPr>
          <a:xfrm>
            <a:off x="1057275" y="5478661"/>
            <a:ext cx="16173450" cy="9676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3" name="Text 30"/>
          <p:cNvSpPr/>
          <p:nvPr/>
        </p:nvSpPr>
        <p:spPr>
          <a:xfrm>
            <a:off x="1323975" y="5602486"/>
            <a:ext cx="3390900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0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方面三：怎么复原</a:t>
            </a:r>
            <a:endParaRPr lang="en-US" sz="2025" dirty="0"/>
          </a:p>
        </p:txBody>
      </p:sp>
      <p:sp>
        <p:nvSpPr>
          <p:cNvPr id="34" name="Shape 31"/>
          <p:cNvSpPr/>
          <p:nvPr/>
        </p:nvSpPr>
        <p:spPr>
          <a:xfrm>
            <a:off x="4867275" y="5478661"/>
            <a:ext cx="9525" cy="967680"/>
          </a:xfrm>
          <a:prstGeom prst="rect">
            <a:avLst/>
          </a:prstGeom>
          <a:solidFill>
            <a:srgbClr val="DFE3E9"/>
          </a:solidFill>
          <a:ln/>
        </p:spPr>
        <p:txBody>
          <a:bodyPr/>
          <a:p/>
        </p:txBody>
      </p:sp>
      <p:sp>
        <p:nvSpPr>
          <p:cNvPr id="35" name="Text 32"/>
          <p:cNvSpPr/>
          <p:nvPr/>
        </p:nvSpPr>
        <p:spPr>
          <a:xfrm>
            <a:off x="5143500" y="5602486"/>
            <a:ext cx="4951095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025" dirty="0">
                <a:solidFill>
                  <a:srgbClr val="5B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层先法、四步</a:t>
            </a:r>
            <a:endParaRPr lang="en-US" sz="2025" dirty="0"/>
          </a:p>
        </p:txBody>
      </p:sp>
      <p:sp>
        <p:nvSpPr>
          <p:cNvPr id="36" name="Shape 33"/>
          <p:cNvSpPr/>
          <p:nvPr/>
        </p:nvSpPr>
        <p:spPr>
          <a:xfrm>
            <a:off x="10201275" y="5478661"/>
            <a:ext cx="9525" cy="967680"/>
          </a:xfrm>
          <a:prstGeom prst="rect">
            <a:avLst/>
          </a:prstGeom>
          <a:solidFill>
            <a:srgbClr val="DFE3E9"/>
          </a:solidFill>
          <a:ln/>
        </p:spPr>
        <p:txBody>
          <a:bodyPr/>
          <a:p/>
        </p:txBody>
      </p:sp>
      <p:sp>
        <p:nvSpPr>
          <p:cNvPr id="37" name="Text 34"/>
          <p:cNvSpPr/>
          <p:nvPr/>
        </p:nvSpPr>
        <p:spPr>
          <a:xfrm>
            <a:off x="10477500" y="5602486"/>
            <a:ext cx="6697409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025" b="1" dirty="0">
                <a:solidFill>
                  <a:srgbClr val="8E5A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举例：十字→第一层角→第二层→顶层</a:t>
            </a:r>
            <a:pPr algn="l" indent="0" marL="0">
              <a:lnSpc>
                <a:spcPct val="105000"/>
              </a:lnSpc>
              <a:buNone/>
            </a:pPr>
            <a:r>
              <a:rPr lang="en-US" sz="202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 </a:t>
            </a:r>
            <a:pPr algn="l" indent="0" marL="0">
              <a:lnSpc>
                <a:spcPct val="105000"/>
              </a:lnSpc>
              <a:buNone/>
            </a:pPr>
            <a:r>
              <a:rPr lang="en-US" sz="20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 多分钟→2 分钟</a:t>
            </a:r>
            <a:endParaRPr lang="en-US" sz="2025" dirty="0"/>
          </a:p>
        </p:txBody>
      </p:sp>
      <p:sp>
        <p:nvSpPr>
          <p:cNvPr id="38" name="Shape 35"/>
          <p:cNvSpPr/>
          <p:nvPr/>
        </p:nvSpPr>
        <p:spPr>
          <a:xfrm>
            <a:off x="1057275" y="6446341"/>
            <a:ext cx="16173450" cy="967680"/>
          </a:xfrm>
          <a:prstGeom prst="rect">
            <a:avLst/>
          </a:prstGeom>
          <a:solidFill>
            <a:srgbClr val="EEF1F5"/>
          </a:solidFill>
          <a:ln/>
        </p:spPr>
        <p:txBody>
          <a:bodyPr/>
          <a:p/>
        </p:txBody>
      </p:sp>
      <p:sp>
        <p:nvSpPr>
          <p:cNvPr id="39" name="Text 36"/>
          <p:cNvSpPr/>
          <p:nvPr/>
        </p:nvSpPr>
        <p:spPr>
          <a:xfrm>
            <a:off x="1323975" y="6570166"/>
            <a:ext cx="3390900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0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结尾：我对它的看法</a:t>
            </a:r>
            <a:endParaRPr lang="en-US" sz="2025" dirty="0"/>
          </a:p>
        </p:txBody>
      </p:sp>
      <p:sp>
        <p:nvSpPr>
          <p:cNvPr id="40" name="Shape 37"/>
          <p:cNvSpPr/>
          <p:nvPr/>
        </p:nvSpPr>
        <p:spPr>
          <a:xfrm>
            <a:off x="4867275" y="6446341"/>
            <a:ext cx="9525" cy="967680"/>
          </a:xfrm>
          <a:prstGeom prst="rect">
            <a:avLst/>
          </a:prstGeom>
          <a:solidFill>
            <a:srgbClr val="DFE3E9"/>
          </a:solidFill>
          <a:ln/>
        </p:spPr>
        <p:txBody>
          <a:bodyPr/>
          <a:p/>
        </p:txBody>
      </p:sp>
      <p:sp>
        <p:nvSpPr>
          <p:cNvPr id="41" name="Text 38"/>
          <p:cNvSpPr/>
          <p:nvPr/>
        </p:nvSpPr>
        <p:spPr>
          <a:xfrm>
            <a:off x="5143500" y="6570166"/>
            <a:ext cx="4951095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025" dirty="0">
                <a:solidFill>
                  <a:srgbClr val="5B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带在身边，有空就能转一阵；手和脑子都要动</a:t>
            </a:r>
            <a:endParaRPr lang="en-US" sz="2025" dirty="0"/>
          </a:p>
        </p:txBody>
      </p:sp>
      <p:sp>
        <p:nvSpPr>
          <p:cNvPr id="42" name="Shape 39"/>
          <p:cNvSpPr/>
          <p:nvPr/>
        </p:nvSpPr>
        <p:spPr>
          <a:xfrm>
            <a:off x="10201275" y="6446341"/>
            <a:ext cx="9525" cy="967680"/>
          </a:xfrm>
          <a:prstGeom prst="rect">
            <a:avLst/>
          </a:prstGeom>
          <a:solidFill>
            <a:srgbClr val="DFE3E9"/>
          </a:solidFill>
          <a:ln/>
        </p:spPr>
        <p:txBody>
          <a:bodyPr/>
          <a:p/>
        </p:txBody>
      </p:sp>
      <p:sp>
        <p:nvSpPr>
          <p:cNvPr id="43" name="Text 40"/>
          <p:cNvSpPr/>
          <p:nvPr/>
        </p:nvSpPr>
        <p:spPr>
          <a:xfrm>
            <a:off x="10477500" y="6570166"/>
            <a:ext cx="6697409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025" dirty="0">
                <a:solidFill>
                  <a:srgbClr val="5B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一两句</a:t>
            </a:r>
            <a:endParaRPr lang="en-US" sz="2025" dirty="0"/>
          </a:p>
        </p:txBody>
      </p:sp>
      <p:sp>
        <p:nvSpPr>
          <p:cNvPr id="44" name="Shape 41"/>
          <p:cNvSpPr/>
          <p:nvPr/>
        </p:nvSpPr>
        <p:spPr>
          <a:xfrm>
            <a:off x="1057275" y="7414022"/>
            <a:ext cx="16173450" cy="96768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5" name="Text 42"/>
          <p:cNvSpPr/>
          <p:nvPr/>
        </p:nvSpPr>
        <p:spPr>
          <a:xfrm>
            <a:off x="1323975" y="7537847"/>
            <a:ext cx="3390900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0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对方问过我的两个问题</a:t>
            </a:r>
            <a:endParaRPr lang="en-US" sz="2025" dirty="0"/>
          </a:p>
        </p:txBody>
      </p:sp>
      <p:sp>
        <p:nvSpPr>
          <p:cNvPr id="46" name="Shape 43"/>
          <p:cNvSpPr/>
          <p:nvPr/>
        </p:nvSpPr>
        <p:spPr>
          <a:xfrm>
            <a:off x="4867275" y="7414022"/>
            <a:ext cx="9525" cy="967680"/>
          </a:xfrm>
          <a:prstGeom prst="rect">
            <a:avLst/>
          </a:prstGeom>
          <a:solidFill>
            <a:srgbClr val="DFE3E9"/>
          </a:solidFill>
          <a:ln/>
        </p:spPr>
        <p:txBody>
          <a:bodyPr/>
          <a:p/>
        </p:txBody>
      </p:sp>
      <p:sp>
        <p:nvSpPr>
          <p:cNvPr id="47" name="Text 44"/>
          <p:cNvSpPr/>
          <p:nvPr/>
        </p:nvSpPr>
        <p:spPr>
          <a:xfrm>
            <a:off x="5143500" y="7537847"/>
            <a:ext cx="4951095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025" dirty="0">
                <a:solidFill>
                  <a:srgbClr val="5B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多久能拼好？掉地上会不会坏？</a:t>
            </a:r>
            <a:endParaRPr lang="en-US" sz="2025" dirty="0"/>
          </a:p>
        </p:txBody>
      </p:sp>
      <p:sp>
        <p:nvSpPr>
          <p:cNvPr id="48" name="Shape 45"/>
          <p:cNvSpPr/>
          <p:nvPr/>
        </p:nvSpPr>
        <p:spPr>
          <a:xfrm>
            <a:off x="10201275" y="7414022"/>
            <a:ext cx="9525" cy="967680"/>
          </a:xfrm>
          <a:prstGeom prst="rect">
            <a:avLst/>
          </a:prstGeom>
          <a:solidFill>
            <a:srgbClr val="DFE3E9"/>
          </a:solidFill>
          <a:ln/>
        </p:spPr>
        <p:txBody>
          <a:bodyPr/>
          <a:p/>
        </p:txBody>
      </p:sp>
      <p:sp>
        <p:nvSpPr>
          <p:cNvPr id="49" name="Text 46"/>
          <p:cNvSpPr/>
          <p:nvPr/>
        </p:nvSpPr>
        <p:spPr>
          <a:xfrm>
            <a:off x="10477500" y="7537847"/>
            <a:ext cx="6697409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02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第一个放“怎么复原”；第二个不属于上面三个方面， </a:t>
            </a:r>
            <a:pPr algn="l" indent="0" marL="0">
              <a:lnSpc>
                <a:spcPct val="105000"/>
              </a:lnSpc>
              <a:buNone/>
            </a:pPr>
            <a:r>
              <a:rPr lang="en-US" sz="20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另加一个方面：怕摔</a:t>
            </a:r>
            <a:endParaRPr lang="en-US" sz="2025" dirty="0"/>
          </a:p>
        </p:txBody>
      </p:sp>
      <p:sp>
        <p:nvSpPr>
          <p:cNvPr id="50" name="Text 47"/>
          <p:cNvSpPr/>
          <p:nvPr/>
        </p:nvSpPr>
        <p:spPr>
          <a:xfrm>
            <a:off x="1047750" y="9353550"/>
            <a:ext cx="17811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三个方面，加一个开头、一个结尾；对方问的两个问题，一个放进已有的方面，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一个另加一行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16764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写作构思表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8159204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66850" y="1581150"/>
            <a:ext cx="8053105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轮到你了：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三分钟填表，再圈出一个方面</a:t>
            </a:r>
            <a:endParaRPr lang="en-US" sz="3203" dirty="0"/>
          </a:p>
        </p:txBody>
      </p:sp>
      <p:sp>
        <p:nvSpPr>
          <p:cNvPr id="7" name="Shape 4"/>
          <p:cNvSpPr/>
          <p:nvPr/>
        </p:nvSpPr>
        <p:spPr>
          <a:xfrm>
            <a:off x="1047750" y="3048000"/>
            <a:ext cx="504825" cy="504825"/>
          </a:xfrm>
          <a:prstGeom prst="roundRect">
            <a:avLst>
              <a:gd name="adj" fmla="val 26415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217861" y="3124200"/>
            <a:ext cx="24080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1800225" y="3124200"/>
            <a:ext cx="9133808" cy="9772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556"/>
              </a:lnSpc>
              <a:buNone/>
            </a:pPr>
            <a:r>
              <a:rPr lang="en-US" sz="255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填三个方面，每一格写</a:t>
            </a:r>
            <a:pPr algn="l" indent="0" marL="0">
              <a:lnSpc>
                <a:spcPct val="109556"/>
              </a:lnSpc>
              <a:buNone/>
            </a:pPr>
            <a:r>
              <a:rPr lang="en-US" sz="25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关键词 </a:t>
            </a:r>
            <a:pPr algn="l" indent="0" marL="0">
              <a:lnSpc>
                <a:spcPct val="109556"/>
              </a:lnSpc>
              <a:buNone/>
            </a:pPr>
            <a:r>
              <a:rPr lang="en-US" sz="255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；写不满的，从“样子、构造、用法、有趣的地方”里选</a:t>
            </a:r>
            <a:endParaRPr lang="en-US" sz="2550" dirty="0"/>
          </a:p>
        </p:txBody>
      </p:sp>
      <p:sp>
        <p:nvSpPr>
          <p:cNvPr id="10" name="Shape 7"/>
          <p:cNvSpPr/>
          <p:nvPr/>
        </p:nvSpPr>
        <p:spPr>
          <a:xfrm>
            <a:off x="1047750" y="4349055"/>
            <a:ext cx="504825" cy="504825"/>
          </a:xfrm>
          <a:prstGeom prst="roundRect">
            <a:avLst>
              <a:gd name="adj" fmla="val 26415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1217861" y="4425255"/>
            <a:ext cx="24080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1800225" y="4425255"/>
            <a:ext cx="9133808" cy="9772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556"/>
              </a:lnSpc>
              <a:buNone/>
            </a:pPr>
            <a:r>
              <a:rPr lang="en-US" sz="255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刚才口头说的那一句里用上的数字、比较、比方， </a:t>
            </a:r>
            <a:pPr algn="l" indent="0" marL="0">
              <a:lnSpc>
                <a:spcPct val="109556"/>
              </a:lnSpc>
              <a:buNone/>
            </a:pPr>
            <a:r>
              <a:rPr lang="en-US" sz="25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直接写进第三格 </a:t>
            </a:r>
            <a:pPr algn="l" indent="0" marL="0">
              <a:lnSpc>
                <a:spcPct val="109556"/>
              </a:lnSpc>
              <a:buNone/>
            </a:pPr>
            <a:r>
              <a:rPr lang="en-US" sz="255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；数字没把握的写“大约”</a:t>
            </a:r>
            <a:endParaRPr lang="en-US" sz="2550" dirty="0"/>
          </a:p>
        </p:txBody>
      </p:sp>
      <p:sp>
        <p:nvSpPr>
          <p:cNvPr id="13" name="Shape 10"/>
          <p:cNvSpPr/>
          <p:nvPr/>
        </p:nvSpPr>
        <p:spPr>
          <a:xfrm>
            <a:off x="1047750" y="5650111"/>
            <a:ext cx="504825" cy="504825"/>
          </a:xfrm>
          <a:prstGeom prst="roundRect">
            <a:avLst>
              <a:gd name="adj" fmla="val 26415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1217861" y="5726311"/>
            <a:ext cx="24080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1800225" y="5726311"/>
            <a:ext cx="9133808" cy="9772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556"/>
              </a:lnSpc>
              <a:buNone/>
            </a:pPr>
            <a:r>
              <a:rPr lang="en-US" sz="255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填好后，在三个方面里</a:t>
            </a:r>
            <a:pPr algn="l" indent="0" marL="0">
              <a:lnSpc>
                <a:spcPct val="109556"/>
              </a:lnSpc>
              <a:buNone/>
            </a:pPr>
            <a:r>
              <a:rPr lang="en-US" sz="25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圈出一个 </a:t>
            </a:r>
            <a:pPr algn="l" indent="0" marL="0">
              <a:lnSpc>
                <a:spcPct val="109556"/>
              </a:lnSpc>
              <a:buNone/>
            </a:pPr>
            <a:r>
              <a:rPr lang="en-US" sz="255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：你最有把握、最能说清楚的那一个，接下来写得最详细</a:t>
            </a:r>
            <a:endParaRPr lang="en-US" sz="255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0" y="3143250"/>
            <a:ext cx="4953000" cy="381000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1047750" y="7610475"/>
            <a:ext cx="16192500" cy="1343025"/>
          </a:xfrm>
          <a:prstGeom prst="roundRect">
            <a:avLst>
              <a:gd name="adj" fmla="val 11348"/>
            </a:avLst>
          </a:prstGeom>
          <a:solidFill>
            <a:srgbClr val="DCE6F5"/>
          </a:solidFill>
          <a:ln/>
        </p:spPr>
        <p:txBody>
          <a:bodyPr/>
          <a:p/>
        </p:txBody>
      </p:sp>
      <p:sp>
        <p:nvSpPr>
          <p:cNvPr id="18" name="Text 14"/>
          <p:cNvSpPr/>
          <p:nvPr/>
        </p:nvSpPr>
        <p:spPr>
          <a:xfrm>
            <a:off x="1428750" y="7839075"/>
            <a:ext cx="15893415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415"/>
              </a:lnSpc>
              <a:buNone/>
            </a:pPr>
            <a:r>
              <a:rPr lang="en-US" sz="2325" b="1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圈好了，小声说给自己听一遍： </a:t>
            </a:r>
            <a:pPr algn="l" indent="0" marL="0">
              <a:lnSpc>
                <a:spcPct val="113415"/>
              </a:lnSpc>
              <a:buNone/>
            </a:pPr>
            <a:r>
              <a:rPr lang="en-US" sz="2325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我要介绍的是什么，先说哪个方面、再说哪个方面，圈出来的那个方面打算用哪几种说明方法。哪一处说不下去，就回头把那一格再补一两个词。</a:t>
            </a:r>
            <a:endParaRPr lang="en-US" sz="2325" dirty="0"/>
          </a:p>
        </p:txBody>
      </p:sp>
      <p:sp>
        <p:nvSpPr>
          <p:cNvPr id="19" name="Text 15"/>
          <p:cNvSpPr/>
          <p:nvPr/>
        </p:nvSpPr>
        <p:spPr>
          <a:xfrm>
            <a:off x="1047750" y="9334500"/>
            <a:ext cx="17811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例如：我介绍我家的乌龟，先说样子，再说吃什么，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圈的是它怎么晒太阳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，用举例子和列数字。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16764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教师示范文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11819632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66850" y="1581150"/>
            <a:ext cx="12079575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先只看写“样子”的一段：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表里的关键词是怎样写进这一段的</a:t>
            </a:r>
            <a:endParaRPr lang="en-US" sz="3203" dirty="0"/>
          </a:p>
        </p:txBody>
      </p:sp>
      <p:sp>
        <p:nvSpPr>
          <p:cNvPr id="7" name="Shape 4"/>
          <p:cNvSpPr/>
          <p:nvPr/>
        </p:nvSpPr>
        <p:spPr>
          <a:xfrm>
            <a:off x="1047750" y="2857500"/>
            <a:ext cx="7886700" cy="3609975"/>
          </a:xfrm>
          <a:prstGeom prst="roundRect">
            <a:avLst>
              <a:gd name="adj" fmla="val 4749"/>
            </a:avLst>
          </a:prstGeom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1057275" y="2867025"/>
            <a:ext cx="7867650" cy="733425"/>
          </a:xfrm>
          <a:prstGeom prst="rect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362075" y="3038475"/>
            <a:ext cx="7983855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表上“方面一”那一行</a:t>
            </a:r>
            <a:endParaRPr lang="en-US" sz="2325" dirty="0"/>
          </a:p>
        </p:txBody>
      </p:sp>
      <p:sp>
        <p:nvSpPr>
          <p:cNvPr id="10" name="Shape 7"/>
          <p:cNvSpPr/>
          <p:nvPr/>
        </p:nvSpPr>
        <p:spPr>
          <a:xfrm>
            <a:off x="1057275" y="3600450"/>
            <a:ext cx="7867650" cy="2857500"/>
          </a:xfrm>
          <a:prstGeom prst="rect">
            <a:avLst/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1381125" y="3905250"/>
            <a:ext cx="7436549" cy="20454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37"/>
              </a:lnSpc>
              <a:buNone/>
            </a:pPr>
            <a:r>
              <a:rPr lang="en-US" sz="23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方面一：样子 </a:t>
            </a:r>
            <a:pPr algn="l" indent="0" marL="0">
              <a:lnSpc>
                <a:spcPct val="128537"/>
              </a:lnSpc>
              <a:buNone/>
            </a:pPr>
            <a:r>
              <a:rPr lang="en-US" sz="232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特点：六种颜色、一面九格 怎么说清：</a:t>
            </a:r>
            <a:pPr algn="l" indent="0" marL="0">
              <a:lnSpc>
                <a:spcPct val="128537"/>
              </a:lnSpc>
              <a:buNone/>
            </a:pPr>
            <a:r>
              <a:rPr lang="en-US" sz="23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边长约 5.6 厘米（量的）</a:t>
            </a:r>
            <a:pPr algn="l" indent="0" marL="0">
              <a:lnSpc>
                <a:spcPct val="128537"/>
              </a:lnSpc>
              <a:buNone/>
            </a:pPr>
            <a:r>
              <a:rPr lang="en-US" sz="232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</a:t>
            </a:r>
            <a:pPr algn="l" indent="0" marL="0">
              <a:lnSpc>
                <a:spcPct val="128537"/>
              </a:lnSpc>
              <a:buNone/>
            </a:pPr>
            <a:r>
              <a:rPr lang="en-US" sz="2325" b="1" dirty="0">
                <a:solidFill>
                  <a:srgbClr val="2F72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一只手握住</a:t>
            </a:r>
            <a:pPr algn="l" indent="0" marL="0">
              <a:lnSpc>
                <a:spcPct val="128537"/>
              </a:lnSpc>
              <a:buNone/>
            </a:pPr>
            <a:r>
              <a:rPr lang="en-US" sz="232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 </a:t>
            </a:r>
            <a:pPr algn="l" indent="0" marL="0">
              <a:lnSpc>
                <a:spcPct val="128537"/>
              </a:lnSpc>
              <a:buNone/>
            </a:pPr>
            <a:r>
              <a:rPr lang="en-US" sz="23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一共 54 格</a:t>
            </a:r>
            <a:endParaRPr lang="en-US" sz="2325" dirty="0"/>
          </a:p>
        </p:txBody>
      </p:sp>
      <p:sp>
        <p:nvSpPr>
          <p:cNvPr id="12" name="Shape 9"/>
          <p:cNvSpPr/>
          <p:nvPr/>
        </p:nvSpPr>
        <p:spPr>
          <a:xfrm>
            <a:off x="9353550" y="2857500"/>
            <a:ext cx="7886700" cy="3609975"/>
          </a:xfrm>
          <a:prstGeom prst="roundRect">
            <a:avLst>
              <a:gd name="adj" fmla="val 4749"/>
            </a:avLst>
          </a:prstGeom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9363075" y="2867025"/>
            <a:ext cx="7867650" cy="733425"/>
          </a:xfrm>
          <a:prstGeom prst="rect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9667875" y="3038475"/>
            <a:ext cx="7983855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文里写“样子”的一段</a:t>
            </a:r>
            <a:endParaRPr lang="en-US" sz="2325" dirty="0"/>
          </a:p>
        </p:txBody>
      </p:sp>
      <p:sp>
        <p:nvSpPr>
          <p:cNvPr id="15" name="Shape 12"/>
          <p:cNvSpPr/>
          <p:nvPr/>
        </p:nvSpPr>
        <p:spPr>
          <a:xfrm>
            <a:off x="9363075" y="3600450"/>
            <a:ext cx="7867650" cy="2857500"/>
          </a:xfrm>
          <a:prstGeom prst="rect">
            <a:avLst/>
          </a:prstGeom>
          <a:solidFill>
            <a:srgbClr val="F7F5F2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9686925" y="3905250"/>
            <a:ext cx="7436549" cy="15436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590550" marL="0">
              <a:lnSpc>
                <a:spcPct val="128537"/>
              </a:lnSpc>
              <a:buNone/>
            </a:pPr>
            <a:r>
              <a:rPr lang="en-US" sz="2325" b="1" u="sng" dirty="0">
                <a:solidFill>
                  <a:srgbClr val="2A2E37"/>
                </a:solidFill>
                <a:uFill>
                  <a:solidFill>
                    <a:srgbClr val="3D4A63"/>
                  </a:solidFill>
                </a:u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先说它的样子。</a:t>
            </a:r>
            <a:pPr algn="l" indent="590550" marL="0">
              <a:lnSpc>
                <a:spcPct val="128537"/>
              </a:lnSpc>
              <a:buNone/>
            </a:pPr>
            <a:r>
              <a:rPr lang="en-US" sz="232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我用尺子量过， </a:t>
            </a:r>
            <a:pPr algn="l" indent="590550" marL="0">
              <a:lnSpc>
                <a:spcPct val="128537"/>
              </a:lnSpc>
              <a:buNone/>
            </a:pPr>
            <a:r>
              <a:rPr lang="en-US" sz="23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边长大约 5.6 厘米 </a:t>
            </a:r>
            <a:pPr algn="l" indent="590550" marL="0">
              <a:lnSpc>
                <a:spcPct val="128537"/>
              </a:lnSpc>
              <a:buNone/>
            </a:pPr>
            <a:r>
              <a:rPr lang="en-US" sz="232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</a:t>
            </a:r>
            <a:pPr algn="l" indent="590550" marL="0">
              <a:lnSpc>
                <a:spcPct val="128537"/>
              </a:lnSpc>
              <a:buNone/>
            </a:pPr>
            <a:r>
              <a:rPr lang="en-US" sz="2325" b="1" dirty="0">
                <a:solidFill>
                  <a:srgbClr val="2F72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正好能被我一只手握住 </a:t>
            </a:r>
            <a:pPr algn="l" indent="590550" marL="0">
              <a:lnSpc>
                <a:spcPct val="128537"/>
              </a:lnSpc>
              <a:buNone/>
            </a:pPr>
            <a:r>
              <a:rPr lang="en-US" sz="232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。六个面各是一种颜色，每个面分成 </a:t>
            </a:r>
            <a:pPr algn="l" indent="590550" marL="0">
              <a:lnSpc>
                <a:spcPct val="128537"/>
              </a:lnSpc>
              <a:buNone/>
            </a:pPr>
            <a:r>
              <a:rPr lang="en-US" sz="23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九个小方格</a:t>
            </a:r>
            <a:pPr algn="l" indent="590550" marL="0">
              <a:lnSpc>
                <a:spcPct val="128537"/>
              </a:lnSpc>
              <a:buNone/>
            </a:pPr>
            <a:r>
              <a:rPr lang="en-US" sz="232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，六个面一共</a:t>
            </a:r>
            <a:pPr algn="l" indent="590550" marL="0">
              <a:lnSpc>
                <a:spcPct val="128537"/>
              </a:lnSpc>
              <a:buNone/>
            </a:pPr>
            <a:r>
              <a:rPr lang="en-US" sz="23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五十四格</a:t>
            </a:r>
            <a:pPr algn="l" indent="590550" marL="0">
              <a:lnSpc>
                <a:spcPct val="128537"/>
              </a:lnSpc>
              <a:buNone/>
            </a:pPr>
            <a:r>
              <a:rPr lang="en-US" sz="232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325" dirty="0"/>
          </a:p>
        </p:txBody>
      </p:sp>
      <p:sp>
        <p:nvSpPr>
          <p:cNvPr id="17" name="Shape 14"/>
          <p:cNvSpPr/>
          <p:nvPr/>
        </p:nvSpPr>
        <p:spPr>
          <a:xfrm>
            <a:off x="1047750" y="6858000"/>
            <a:ext cx="16192500" cy="900113"/>
          </a:xfrm>
          <a:prstGeom prst="roundRect">
            <a:avLst>
              <a:gd name="adj" fmla="val 16931"/>
            </a:avLst>
          </a:prstGeom>
          <a:solidFill>
            <a:srgbClr val="DCE6F5"/>
          </a:solidFill>
          <a:ln/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1428750" y="7086600"/>
            <a:ext cx="16973550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415"/>
              </a:lnSpc>
              <a:buNone/>
            </a:pPr>
            <a:r>
              <a:rPr lang="en-US" sz="2325" b="1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同桌对照表说一说：表里</a:t>
            </a:r>
            <a:pPr algn="l" indent="0" marL="0">
              <a:lnSpc>
                <a:spcPct val="113415"/>
              </a:lnSpc>
              <a:buNone/>
            </a:pPr>
            <a:r>
              <a:rPr lang="en-US" sz="23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哪几个关键词进了这一段</a:t>
            </a:r>
            <a:pPr algn="l" indent="0" marL="0">
              <a:lnSpc>
                <a:spcPct val="113415"/>
              </a:lnSpc>
              <a:buNone/>
            </a:pPr>
            <a:r>
              <a:rPr lang="en-US" sz="2325" b="1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，各用了哪种说明方法。</a:t>
            </a:r>
            <a:endParaRPr lang="en-US" sz="2325" dirty="0"/>
          </a:p>
        </p:txBody>
      </p:sp>
      <p:sp>
        <p:nvSpPr>
          <p:cNvPr id="19" name="Text 16"/>
          <p:cNvSpPr/>
          <p:nvPr/>
        </p:nvSpPr>
        <p:spPr>
          <a:xfrm>
            <a:off x="1047750" y="9334500"/>
            <a:ext cx="17811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表上记的是几个词，到了文里就写成了一段话，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列数字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</a:t>
            </a:r>
            <a:pPr algn="l" indent="0" marL="0">
              <a:buNone/>
            </a:pPr>
            <a:r>
              <a:rPr lang="en-US" sz="2603" b="1" dirty="0">
                <a:solidFill>
                  <a:srgbClr val="2F72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作比较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两种说明方法都用上了。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16764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教师示范文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09700"/>
            <a:ext cx="7676406" cy="838200"/>
          </a:xfrm>
          <a:prstGeom prst="roundRect">
            <a:avLst>
              <a:gd name="adj" fmla="val 2272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28750" y="1562100"/>
            <a:ext cx="7605846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老师按那张表，把魔方写成了</a:t>
            </a:r>
            <a:pPr algn="l" indent="0" marL="0"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一篇文章</a:t>
            </a:r>
            <a:endParaRPr lang="en-US" sz="3203" dirty="0"/>
          </a:p>
        </p:txBody>
      </p:sp>
      <p:sp>
        <p:nvSpPr>
          <p:cNvPr id="7" name="Shape 4"/>
          <p:cNvSpPr/>
          <p:nvPr/>
        </p:nvSpPr>
        <p:spPr>
          <a:xfrm>
            <a:off x="1047750" y="2266950"/>
            <a:ext cx="16192500" cy="6877050"/>
          </a:xfrm>
          <a:prstGeom prst="roundRect">
            <a:avLst>
              <a:gd name="adj" fmla="val 2493"/>
            </a:avLst>
          </a:prstGeom>
          <a:solidFill>
            <a:srgbClr val="F7F5F2"/>
          </a:solidFill>
          <a:ln/>
        </p:spPr>
      </p:sp>
      <p:sp>
        <p:nvSpPr>
          <p:cNvPr id="8" name="Text 5"/>
          <p:cNvSpPr/>
          <p:nvPr/>
        </p:nvSpPr>
        <p:spPr>
          <a:xfrm>
            <a:off x="845820" y="2514600"/>
            <a:ext cx="16596360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1538"/>
              </a:lnSpc>
              <a:buNone/>
            </a:pPr>
            <a:r>
              <a:rPr lang="en-US" sz="217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我的三阶魔方</a:t>
            </a:r>
            <a:endParaRPr lang="en-US" sz="2175" dirty="0"/>
          </a:p>
        </p:txBody>
      </p:sp>
      <p:sp>
        <p:nvSpPr>
          <p:cNvPr id="9" name="Text 6"/>
          <p:cNvSpPr/>
          <p:nvPr/>
        </p:nvSpPr>
        <p:spPr>
          <a:xfrm>
            <a:off x="1600200" y="3005138"/>
            <a:ext cx="1659636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just" indent="495300" marL="0">
              <a:lnSpc>
                <a:spcPct val="111429"/>
              </a:lnSpc>
              <a:buNone/>
            </a:pPr>
            <a:r>
              <a:rPr lang="en-US" sz="19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我要介绍的是我书包里的三阶魔方，一个能打乱再复原的正方体玩具，我玩了两年。</a:t>
            </a:r>
            <a:endParaRPr lang="en-US" sz="1950" dirty="0"/>
          </a:p>
        </p:txBody>
      </p:sp>
      <p:sp>
        <p:nvSpPr>
          <p:cNvPr id="10" name="Text 7"/>
          <p:cNvSpPr/>
          <p:nvPr/>
        </p:nvSpPr>
        <p:spPr>
          <a:xfrm>
            <a:off x="1600200" y="3452813"/>
            <a:ext cx="15540228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just" indent="495300" marL="0">
              <a:lnSpc>
                <a:spcPct val="111429"/>
              </a:lnSpc>
              <a:buNone/>
            </a:pPr>
            <a:r>
              <a:rPr lang="en-US" sz="1950" b="1" u="sng" dirty="0">
                <a:solidFill>
                  <a:srgbClr val="2A2E37"/>
                </a:solidFill>
                <a:uFill>
                  <a:solidFill>
                    <a:srgbClr val="3D4A63"/>
                  </a:solidFill>
                </a:u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先说它的样子。</a:t>
            </a:r>
            <a:pPr algn="just" indent="495300" marL="0">
              <a:lnSpc>
                <a:spcPct val="111429"/>
              </a:lnSpc>
              <a:buNone/>
            </a:pPr>
            <a:r>
              <a:rPr lang="en-US" sz="19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我用尺子量过，</a:t>
            </a:r>
            <a:pPr algn="just" indent="495300" marL="0">
              <a:lnSpc>
                <a:spcPct val="111429"/>
              </a:lnSpc>
              <a:buNone/>
            </a:pPr>
            <a:r>
              <a:rPr lang="en-US" sz="19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边长大约 5.6 厘米</a:t>
            </a:r>
            <a:pPr algn="just" indent="495300" marL="0">
              <a:lnSpc>
                <a:spcPct val="111429"/>
              </a:lnSpc>
              <a:buNone/>
            </a:pPr>
            <a:r>
              <a:rPr lang="en-US" sz="19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</a:t>
            </a:r>
            <a:pPr algn="just" indent="495300" marL="0">
              <a:lnSpc>
                <a:spcPct val="111429"/>
              </a:lnSpc>
              <a:buNone/>
            </a:pPr>
            <a:r>
              <a:rPr lang="en-US" sz="1950" b="1" dirty="0">
                <a:solidFill>
                  <a:srgbClr val="2F72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正好能被我一只手握住</a:t>
            </a:r>
            <a:pPr algn="just" indent="495300" marL="0">
              <a:lnSpc>
                <a:spcPct val="111429"/>
              </a:lnSpc>
              <a:buNone/>
            </a:pPr>
            <a:r>
              <a:rPr lang="en-US" sz="19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。六个面各是一种颜色，每个面分成 </a:t>
            </a:r>
            <a:pPr algn="just" indent="495300" marL="0">
              <a:lnSpc>
                <a:spcPct val="111429"/>
              </a:lnSpc>
              <a:buNone/>
            </a:pPr>
            <a:r>
              <a:rPr lang="en-US" sz="19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九个小方格，六个面一共五十四格 </a:t>
            </a:r>
            <a:pPr algn="just" indent="495300" marL="0">
              <a:lnSpc>
                <a:spcPct val="111429"/>
              </a:lnSpc>
              <a:buNone/>
            </a:pPr>
            <a:r>
              <a:rPr lang="en-US" sz="19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950" dirty="0"/>
          </a:p>
        </p:txBody>
      </p:sp>
      <p:sp>
        <p:nvSpPr>
          <p:cNvPr id="11" name="Text 8"/>
          <p:cNvSpPr/>
          <p:nvPr/>
        </p:nvSpPr>
        <p:spPr>
          <a:xfrm>
            <a:off x="1600200" y="4271963"/>
            <a:ext cx="15540228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just" indent="495300" marL="0">
              <a:lnSpc>
                <a:spcPct val="111429"/>
              </a:lnSpc>
              <a:buNone/>
            </a:pPr>
            <a:r>
              <a:rPr lang="en-US" sz="1950" b="1" u="sng" dirty="0">
                <a:solidFill>
                  <a:srgbClr val="2A2E37"/>
                </a:solidFill>
                <a:uFill>
                  <a:solidFill>
                    <a:srgbClr val="3D4A63"/>
                  </a:solidFill>
                </a:u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再说它的构造。</a:t>
            </a:r>
            <a:pPr algn="just" indent="495300" marL="0">
              <a:lnSpc>
                <a:spcPct val="111429"/>
              </a:lnSpc>
              <a:buNone/>
            </a:pPr>
            <a:r>
              <a:rPr lang="en-US" sz="19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它看上去是一整块，其实 </a:t>
            </a:r>
            <a:pPr algn="just" indent="495300" marL="0">
              <a:lnSpc>
                <a:spcPct val="111429"/>
              </a:lnSpc>
              <a:buNone/>
            </a:pPr>
            <a:r>
              <a:rPr lang="en-US" sz="19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由二十六个小方块拼成：八个角上各一个，十二条棱的中间各一个，六个面的正当中各一个 </a:t>
            </a:r>
            <a:pPr algn="just" indent="495300" marL="0">
              <a:lnSpc>
                <a:spcPct val="111429"/>
              </a:lnSpc>
              <a:buNone/>
            </a:pPr>
            <a:r>
              <a:rPr lang="en-US" sz="19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。前面说的五十四个小方格，就是它们露在外面的面。正当中那六个小方块怎么转都不动，其余的绕着它们转，</a:t>
            </a:r>
            <a:pPr algn="just" indent="495300" marL="0">
              <a:lnSpc>
                <a:spcPct val="111429"/>
              </a:lnSpc>
              <a:buNone/>
            </a:pPr>
            <a:r>
              <a:rPr lang="en-US" sz="1950" b="1" dirty="0">
                <a:solidFill>
                  <a:srgbClr val="4E9A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像一扇门绕着门轴转</a:t>
            </a:r>
            <a:pPr algn="just" indent="495300" marL="0">
              <a:lnSpc>
                <a:spcPct val="111429"/>
              </a:lnSpc>
              <a:buNone/>
            </a:pPr>
            <a:r>
              <a:rPr lang="en-US" sz="19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950" dirty="0"/>
          </a:p>
        </p:txBody>
      </p:sp>
      <p:sp>
        <p:nvSpPr>
          <p:cNvPr id="12" name="Text 9"/>
          <p:cNvSpPr/>
          <p:nvPr/>
        </p:nvSpPr>
        <p:spPr>
          <a:xfrm>
            <a:off x="1600200" y="5091113"/>
            <a:ext cx="15540228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just" indent="495300" marL="0">
              <a:lnSpc>
                <a:spcPct val="111429"/>
              </a:lnSpc>
              <a:buNone/>
            </a:pPr>
            <a:r>
              <a:rPr lang="en-US" sz="1950" b="1" u="sng" dirty="0">
                <a:solidFill>
                  <a:srgbClr val="2A2E37"/>
                </a:solidFill>
                <a:uFill>
                  <a:solidFill>
                    <a:srgbClr val="3D4A63"/>
                  </a:solidFill>
                </a:u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复原它有固定的步骤。</a:t>
            </a:r>
            <a:pPr algn="just" indent="495300" marL="0">
              <a:lnSpc>
                <a:spcPct val="111429"/>
              </a:lnSpc>
              <a:buNone/>
            </a:pPr>
            <a:r>
              <a:rPr lang="en-US" sz="19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我学的是层先法：先在一个面上拼出十字，再把这一层的四个角归位，最后拼中间一层和顶层。 </a:t>
            </a:r>
            <a:pPr algn="just" indent="495300" marL="0">
              <a:lnSpc>
                <a:spcPct val="111429"/>
              </a:lnSpc>
              <a:buNone/>
            </a:pPr>
            <a:r>
              <a:rPr lang="en-US" sz="1950" b="1" dirty="0">
                <a:solidFill>
                  <a:srgbClr val="2F72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刚学的时候，复原一次要二十多分钟；现在最快两分钟零几秒 </a:t>
            </a:r>
            <a:pPr algn="just" indent="495300" marL="0">
              <a:lnSpc>
                <a:spcPct val="111429"/>
              </a:lnSpc>
              <a:buNone/>
            </a:pPr>
            <a:r>
              <a:rPr lang="en-US" sz="19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1950" dirty="0"/>
          </a:p>
        </p:txBody>
      </p:sp>
      <p:sp>
        <p:nvSpPr>
          <p:cNvPr id="13" name="Text 10"/>
          <p:cNvSpPr/>
          <p:nvPr/>
        </p:nvSpPr>
        <p:spPr>
          <a:xfrm>
            <a:off x="1600200" y="5910263"/>
            <a:ext cx="1659636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just" indent="495300" marL="0">
              <a:lnSpc>
                <a:spcPct val="111429"/>
              </a:lnSpc>
              <a:buNone/>
            </a:pPr>
            <a:r>
              <a:rPr lang="en-US" sz="1950" b="1" u="sng" dirty="0">
                <a:solidFill>
                  <a:srgbClr val="2A2E37"/>
                </a:solidFill>
                <a:uFill>
                  <a:solidFill>
                    <a:srgbClr val="3D4A63"/>
                  </a:solidFill>
                </a:u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它也有弱点：怕摔。</a:t>
            </a:r>
            <a:pPr algn="just" indent="495300" marL="0">
              <a:lnSpc>
                <a:spcPct val="111429"/>
              </a:lnSpc>
              <a:buNone/>
            </a:pPr>
            <a:r>
              <a:rPr lang="en-US" sz="1950" b="1" dirty="0">
                <a:solidFill>
                  <a:srgbClr val="8E5A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有一次它从课桌上掉下去，边上的一个小方块弹了出来</a:t>
            </a:r>
            <a:pPr algn="just" indent="495300" marL="0">
              <a:lnSpc>
                <a:spcPct val="111429"/>
              </a:lnSpc>
              <a:buNone/>
            </a:pPr>
            <a:r>
              <a:rPr lang="en-US" sz="19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。从那以后，它就放在书包最里面的小袋里。</a:t>
            </a:r>
            <a:endParaRPr lang="en-US" sz="1950" dirty="0"/>
          </a:p>
        </p:txBody>
      </p:sp>
      <p:sp>
        <p:nvSpPr>
          <p:cNvPr id="14" name="Text 11"/>
          <p:cNvSpPr/>
          <p:nvPr/>
        </p:nvSpPr>
        <p:spPr>
          <a:xfrm>
            <a:off x="1600200" y="6357938"/>
            <a:ext cx="15540228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just" indent="495300" marL="0">
              <a:lnSpc>
                <a:spcPct val="111429"/>
              </a:lnSpc>
              <a:buNone/>
            </a:pPr>
            <a:r>
              <a:rPr lang="en-US" sz="19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在我看来，它是书包里最值得带来带去的一样东西：只要有几分钟空闲，我就能拿出来转上一阵。我转动它的时候，手指要快，脑子也得跟着想，越玩越觉得有意思。</a:t>
            </a:r>
            <a:endParaRPr lang="en-US" sz="1950" dirty="0"/>
          </a:p>
        </p:txBody>
      </p:sp>
      <p:sp>
        <p:nvSpPr>
          <p:cNvPr id="15" name="Text 12"/>
          <p:cNvSpPr/>
          <p:nvPr/>
        </p:nvSpPr>
        <p:spPr>
          <a:xfrm>
            <a:off x="1047750" y="9410700"/>
            <a:ext cx="1951434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▁ 开头点明方面</a:t>
            </a:r>
            <a:endParaRPr lang="en-US" sz="2025" dirty="0"/>
          </a:p>
        </p:txBody>
      </p:sp>
      <p:sp>
        <p:nvSpPr>
          <p:cNvPr id="16" name="Text 13"/>
          <p:cNvSpPr/>
          <p:nvPr/>
        </p:nvSpPr>
        <p:spPr>
          <a:xfrm>
            <a:off x="3107531" y="9410700"/>
            <a:ext cx="107974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■ 列数字</a:t>
            </a:r>
            <a:endParaRPr lang="en-US" sz="2025" dirty="0"/>
          </a:p>
        </p:txBody>
      </p:sp>
      <p:sp>
        <p:nvSpPr>
          <p:cNvPr id="17" name="Text 14"/>
          <p:cNvSpPr/>
          <p:nvPr/>
        </p:nvSpPr>
        <p:spPr>
          <a:xfrm>
            <a:off x="4396829" y="9410700"/>
            <a:ext cx="107974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2F72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■ 作比较</a:t>
            </a:r>
            <a:endParaRPr lang="en-US" sz="2025" dirty="0"/>
          </a:p>
        </p:txBody>
      </p:sp>
      <p:sp>
        <p:nvSpPr>
          <p:cNvPr id="18" name="Text 15"/>
          <p:cNvSpPr/>
          <p:nvPr/>
        </p:nvSpPr>
        <p:spPr>
          <a:xfrm>
            <a:off x="5686127" y="9410700"/>
            <a:ext cx="107974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4E9A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■ 打比方</a:t>
            </a:r>
            <a:endParaRPr lang="en-US" sz="2025" dirty="0"/>
          </a:p>
        </p:txBody>
      </p:sp>
      <p:sp>
        <p:nvSpPr>
          <p:cNvPr id="19" name="Text 16"/>
          <p:cNvSpPr/>
          <p:nvPr/>
        </p:nvSpPr>
        <p:spPr>
          <a:xfrm>
            <a:off x="6975425" y="9410700"/>
            <a:ext cx="107974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8E5A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■ 举例子</a:t>
            </a:r>
            <a:endParaRPr lang="en-US" sz="202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134112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读示范文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4498777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66850" y="1581150"/>
            <a:ext cx="4026634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默读一遍，做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两件事</a:t>
            </a:r>
            <a:endParaRPr lang="en-US" sz="3203" dirty="0"/>
          </a:p>
        </p:txBody>
      </p:sp>
      <p:sp>
        <p:nvSpPr>
          <p:cNvPr id="7" name="Shape 4"/>
          <p:cNvSpPr/>
          <p:nvPr/>
        </p:nvSpPr>
        <p:spPr>
          <a:xfrm>
            <a:off x="1047750" y="2857500"/>
            <a:ext cx="7886700" cy="3962400"/>
          </a:xfrm>
          <a:prstGeom prst="roundRect">
            <a:avLst>
              <a:gd name="adj" fmla="val 4327"/>
            </a:avLst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466850" y="3200400"/>
            <a:ext cx="775335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第一件：数一数正文写了几段</a:t>
            </a:r>
            <a:endParaRPr lang="en-US" sz="2550" dirty="0"/>
          </a:p>
        </p:txBody>
      </p:sp>
      <p:sp>
        <p:nvSpPr>
          <p:cNvPr id="9" name="Text 6"/>
          <p:cNvSpPr/>
          <p:nvPr/>
        </p:nvSpPr>
        <p:spPr>
          <a:xfrm>
            <a:off x="1466850" y="3838575"/>
            <a:ext cx="361950" cy="12811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750"/>
              </a:lnSpc>
              <a:buNone/>
            </a:pPr>
            <a:r>
              <a:rPr lang="en-US" sz="2250" b="1" dirty="0">
                <a:solidFill>
                  <a:srgbClr val="7FA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➤</a:t>
            </a:r>
            <a:endParaRPr lang="en-US" sz="2250" dirty="0"/>
          </a:p>
        </p:txBody>
      </p:sp>
      <p:sp>
        <p:nvSpPr>
          <p:cNvPr id="10" name="Text 7"/>
          <p:cNvSpPr/>
          <p:nvPr/>
        </p:nvSpPr>
        <p:spPr>
          <a:xfrm>
            <a:off x="1885950" y="3838575"/>
            <a:ext cx="6828282" cy="12811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75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正文六段，每段开头一句一出来，读的人就知道这一段讲什么： </a:t>
            </a:r>
            <a:pPr algn="l" indent="0" marL="0">
              <a:lnSpc>
                <a:spcPct val="108750"/>
              </a:lnSpc>
              <a:buNone/>
            </a:pPr>
            <a:r>
              <a:rPr lang="en-US" sz="22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“先说它的样子”“再说它的构造”“复原它有固定的步骤”“它也有弱点”</a:t>
            </a:r>
            <a:endParaRPr lang="en-US" sz="2250" dirty="0"/>
          </a:p>
        </p:txBody>
      </p:sp>
      <p:sp>
        <p:nvSpPr>
          <p:cNvPr id="11" name="Text 8"/>
          <p:cNvSpPr/>
          <p:nvPr/>
        </p:nvSpPr>
        <p:spPr>
          <a:xfrm>
            <a:off x="1466850" y="5233988"/>
            <a:ext cx="361950" cy="12811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750"/>
              </a:lnSpc>
              <a:buNone/>
            </a:pPr>
            <a:r>
              <a:rPr lang="en-US" sz="2250" b="1" dirty="0">
                <a:solidFill>
                  <a:srgbClr val="7FA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➤</a:t>
            </a:r>
            <a:endParaRPr lang="en-US" sz="2250" dirty="0"/>
          </a:p>
        </p:txBody>
      </p:sp>
      <p:sp>
        <p:nvSpPr>
          <p:cNvPr id="12" name="Text 9"/>
          <p:cNvSpPr/>
          <p:nvPr/>
        </p:nvSpPr>
        <p:spPr>
          <a:xfrm>
            <a:off x="1885950" y="5233988"/>
            <a:ext cx="6828282" cy="12811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75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表上最后一行只记了</a:t>
            </a:r>
            <a:pPr algn="l" indent="0" marL="0">
              <a:lnSpc>
                <a:spcPct val="108750"/>
              </a:lnSpc>
              <a:buNone/>
            </a:pPr>
            <a:r>
              <a:rPr lang="en-US" sz="22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“怕摔” </a:t>
            </a:r>
            <a:pPr algn="l" indent="0" marL="0">
              <a:lnSpc>
                <a:spcPct val="10875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两个字，到了文里扩充成三句：先点明怕摔，再用一件掉地上的事说明，最后说现在怎么放</a:t>
            </a:r>
            <a:endParaRPr lang="en-US" sz="2250" dirty="0"/>
          </a:p>
        </p:txBody>
      </p:sp>
      <p:sp>
        <p:nvSpPr>
          <p:cNvPr id="13" name="Shape 10"/>
          <p:cNvSpPr/>
          <p:nvPr/>
        </p:nvSpPr>
        <p:spPr>
          <a:xfrm>
            <a:off x="9353550" y="2857500"/>
            <a:ext cx="7886700" cy="3962400"/>
          </a:xfrm>
          <a:prstGeom prst="roundRect">
            <a:avLst>
              <a:gd name="adj" fmla="val 4327"/>
            </a:avLst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9772650" y="3200400"/>
            <a:ext cx="7259955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第二件：找出一句，没见过这个魔方也能知道它有多大</a:t>
            </a:r>
            <a:endParaRPr lang="en-US" sz="2550" dirty="0"/>
          </a:p>
        </p:txBody>
      </p:sp>
      <p:sp>
        <p:nvSpPr>
          <p:cNvPr id="15" name="Text 12"/>
          <p:cNvSpPr/>
          <p:nvPr/>
        </p:nvSpPr>
        <p:spPr>
          <a:xfrm>
            <a:off x="9772650" y="4815840"/>
            <a:ext cx="361950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750"/>
              </a:lnSpc>
              <a:buNone/>
            </a:pPr>
            <a:r>
              <a:rPr lang="en-US" sz="2250" b="1" dirty="0">
                <a:solidFill>
                  <a:srgbClr val="7FA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➤</a:t>
            </a:r>
            <a:endParaRPr lang="en-US" sz="2250" dirty="0"/>
          </a:p>
        </p:txBody>
      </p:sp>
      <p:sp>
        <p:nvSpPr>
          <p:cNvPr id="16" name="Text 13"/>
          <p:cNvSpPr/>
          <p:nvPr/>
        </p:nvSpPr>
        <p:spPr>
          <a:xfrm>
            <a:off x="10191750" y="4815840"/>
            <a:ext cx="6602626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75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“边长大约 5.6 厘米，正好能被我一只手握住”</a:t>
            </a:r>
            <a:endParaRPr lang="en-US" sz="2250" dirty="0"/>
          </a:p>
        </p:txBody>
      </p:sp>
      <p:sp>
        <p:nvSpPr>
          <p:cNvPr id="17" name="Text 14"/>
          <p:cNvSpPr/>
          <p:nvPr/>
        </p:nvSpPr>
        <p:spPr>
          <a:xfrm>
            <a:off x="9772650" y="5382578"/>
            <a:ext cx="361950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750"/>
              </a:lnSpc>
              <a:buNone/>
            </a:pPr>
            <a:r>
              <a:rPr lang="en-US" sz="2250" b="1" dirty="0">
                <a:solidFill>
                  <a:srgbClr val="7FA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➤</a:t>
            </a:r>
            <a:endParaRPr lang="en-US" sz="2250" dirty="0"/>
          </a:p>
        </p:txBody>
      </p:sp>
      <p:sp>
        <p:nvSpPr>
          <p:cNvPr id="18" name="Text 15"/>
          <p:cNvSpPr/>
          <p:nvPr/>
        </p:nvSpPr>
        <p:spPr>
          <a:xfrm>
            <a:off x="10191750" y="5382578"/>
            <a:ext cx="3457575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75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“像一扇门绕着门轴转”</a:t>
            </a:r>
            <a:endParaRPr lang="en-US" sz="2250" dirty="0"/>
          </a:p>
        </p:txBody>
      </p:sp>
      <p:sp>
        <p:nvSpPr>
          <p:cNvPr id="19" name="Text 16"/>
          <p:cNvSpPr/>
          <p:nvPr/>
        </p:nvSpPr>
        <p:spPr>
          <a:xfrm>
            <a:off x="9772650" y="5949315"/>
            <a:ext cx="361950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750"/>
              </a:lnSpc>
              <a:buNone/>
            </a:pPr>
            <a:r>
              <a:rPr lang="en-US" sz="2250" b="1" dirty="0">
                <a:solidFill>
                  <a:srgbClr val="7FA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➤</a:t>
            </a:r>
            <a:endParaRPr lang="en-US" sz="2250" dirty="0"/>
          </a:p>
        </p:txBody>
      </p:sp>
      <p:sp>
        <p:nvSpPr>
          <p:cNvPr id="20" name="Text 17"/>
          <p:cNvSpPr/>
          <p:nvPr/>
        </p:nvSpPr>
        <p:spPr>
          <a:xfrm>
            <a:off x="10191750" y="5949315"/>
            <a:ext cx="7229475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75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“复原一次要二十多分钟，现在最快两分钟零几秒”</a:t>
            </a:r>
            <a:endParaRPr lang="en-US" sz="2250" dirty="0"/>
          </a:p>
        </p:txBody>
      </p:sp>
      <p:sp>
        <p:nvSpPr>
          <p:cNvPr id="21" name="Text 18"/>
          <p:cNvSpPr/>
          <p:nvPr/>
        </p:nvSpPr>
        <p:spPr>
          <a:xfrm>
            <a:off x="9772650" y="4297680"/>
            <a:ext cx="361950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750"/>
              </a:lnSpc>
              <a:buNone/>
            </a:pPr>
            <a:r>
              <a:rPr lang="en-US" sz="2250" b="1" dirty="0">
                <a:solidFill>
                  <a:srgbClr val="7FA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➤</a:t>
            </a:r>
            <a:endParaRPr lang="en-US" sz="2250" dirty="0"/>
          </a:p>
        </p:txBody>
      </p:sp>
      <p:sp>
        <p:nvSpPr>
          <p:cNvPr id="22" name="Text 19"/>
          <p:cNvSpPr/>
          <p:nvPr/>
        </p:nvSpPr>
        <p:spPr>
          <a:xfrm>
            <a:off x="10191750" y="4297680"/>
            <a:ext cx="3457575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75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在找到的那一句下面</a:t>
            </a:r>
            <a:pPr algn="l" indent="0" marL="0">
              <a:lnSpc>
                <a:spcPct val="108750"/>
              </a:lnSpc>
              <a:buNone/>
            </a:pPr>
            <a:r>
              <a:rPr lang="en-US" sz="22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画线</a:t>
            </a:r>
            <a:endParaRPr lang="en-US" sz="2250" dirty="0"/>
          </a:p>
        </p:txBody>
      </p:sp>
      <p:sp>
        <p:nvSpPr>
          <p:cNvPr id="23" name="Text 20"/>
          <p:cNvSpPr/>
          <p:nvPr/>
        </p:nvSpPr>
        <p:spPr>
          <a:xfrm>
            <a:off x="1047750" y="8795147"/>
            <a:ext cx="16678275" cy="9965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380"/>
              </a:lnSpc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这几句都不只说一个“大”字、一个“快”字，而是把大小、快慢 </a:t>
            </a:r>
            <a:pPr algn="l" indent="0" marL="0">
              <a:lnSpc>
                <a:spcPct val="109380"/>
              </a:lnSpc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写成具体的数字，拿熟悉的事物比，或者说出它像什么 </a:t>
            </a:r>
            <a:pPr algn="l" indent="0" marL="0">
              <a:lnSpc>
                <a:spcPct val="109380"/>
              </a:lnSpc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9906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旁批表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6532364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66850" y="1581150"/>
            <a:ext cx="6263580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这些句子，各用了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哪种说明方法</a:t>
            </a:r>
            <a:endParaRPr lang="en-US" sz="3203" dirty="0"/>
          </a:p>
        </p:txBody>
      </p:sp>
      <p:sp>
        <p:nvSpPr>
          <p:cNvPr id="7" name="Shape 4"/>
          <p:cNvSpPr/>
          <p:nvPr/>
        </p:nvSpPr>
        <p:spPr>
          <a:xfrm>
            <a:off x="1047750" y="2762250"/>
            <a:ext cx="16192500" cy="5405438"/>
          </a:xfrm>
          <a:prstGeom prst="roundRect">
            <a:avLst>
              <a:gd name="adj" fmla="val 2467"/>
            </a:avLst>
          </a:prstGeom>
          <a:ln w="9525">
            <a:solidFill>
              <a:srgbClr val="DFE3E9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1057275" y="2771775"/>
            <a:ext cx="16173450" cy="685800"/>
          </a:xfrm>
          <a:prstGeom prst="rect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362075" y="2924175"/>
            <a:ext cx="915733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示范文里的句子</a:t>
            </a:r>
            <a:endParaRPr lang="en-US" sz="2250" dirty="0"/>
          </a:p>
        </p:txBody>
      </p:sp>
      <p:sp>
        <p:nvSpPr>
          <p:cNvPr id="10" name="Shape 7"/>
          <p:cNvSpPr/>
          <p:nvPr/>
        </p:nvSpPr>
        <p:spPr>
          <a:xfrm>
            <a:off x="9991725" y="2771775"/>
            <a:ext cx="9525" cy="685800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10306050" y="2924175"/>
            <a:ext cx="7281862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这一句用了什么</a:t>
            </a:r>
            <a:endParaRPr lang="en-US" sz="2250" dirty="0"/>
          </a:p>
        </p:txBody>
      </p:sp>
      <p:sp>
        <p:nvSpPr>
          <p:cNvPr id="12" name="Shape 9"/>
          <p:cNvSpPr/>
          <p:nvPr/>
        </p:nvSpPr>
        <p:spPr>
          <a:xfrm>
            <a:off x="1057275" y="3457575"/>
            <a:ext cx="16173450" cy="1032272"/>
          </a:xfrm>
          <a:prstGeom prst="rect">
            <a:avLst/>
          </a:prstGeom>
          <a:solidFill>
            <a:srgbClr val="EEF1F5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1362075" y="3600450"/>
            <a:ext cx="8592884" cy="7846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946"/>
              </a:lnSpc>
              <a:buNone/>
            </a:pPr>
            <a:r>
              <a:rPr lang="en-US" sz="210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边长大约 5.6 厘米，正好能被我一只手握住</a:t>
            </a:r>
            <a:endParaRPr lang="en-US" sz="2100" dirty="0"/>
          </a:p>
        </p:txBody>
      </p:sp>
      <p:sp>
        <p:nvSpPr>
          <p:cNvPr id="14" name="Shape 11"/>
          <p:cNvSpPr/>
          <p:nvPr/>
        </p:nvSpPr>
        <p:spPr>
          <a:xfrm>
            <a:off x="9991725" y="3457575"/>
            <a:ext cx="9525" cy="1032272"/>
          </a:xfrm>
          <a:prstGeom prst="rect">
            <a:avLst/>
          </a:prstGeom>
          <a:solidFill>
            <a:srgbClr val="DFE3E9"/>
          </a:solidFill>
          <a:ln/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10306050" y="3600450"/>
            <a:ext cx="6837045" cy="7846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946"/>
              </a:lnSpc>
              <a:buNone/>
            </a:pPr>
            <a:r>
              <a:rPr lang="en-US" sz="21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列数字</a:t>
            </a:r>
            <a:pPr algn="l" indent="0" marL="0">
              <a:lnSpc>
                <a:spcPct val="105946"/>
              </a:lnSpc>
              <a:buNone/>
            </a:pPr>
            <a:r>
              <a:rPr lang="en-US" sz="210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＋</a:t>
            </a:r>
            <a:pPr algn="l" indent="0" marL="0">
              <a:lnSpc>
                <a:spcPct val="105946"/>
              </a:lnSpc>
              <a:buNone/>
            </a:pPr>
            <a:r>
              <a:rPr lang="en-US" sz="2100" b="1" dirty="0">
                <a:solidFill>
                  <a:srgbClr val="2F72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作比较 </a:t>
            </a:r>
            <a:pPr algn="l" indent="0" marL="0">
              <a:lnSpc>
                <a:spcPct val="105946"/>
              </a:lnSpc>
              <a:buNone/>
            </a:pPr>
            <a:r>
              <a:rPr lang="en-US" sz="210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：数字是量出来的，拿不准就写“大约”；再拿手来比</a:t>
            </a:r>
            <a:endParaRPr lang="en-US" sz="2100" dirty="0"/>
          </a:p>
        </p:txBody>
      </p:sp>
      <p:sp>
        <p:nvSpPr>
          <p:cNvPr id="16" name="Shape 13"/>
          <p:cNvSpPr/>
          <p:nvPr/>
        </p:nvSpPr>
        <p:spPr>
          <a:xfrm>
            <a:off x="1057275" y="4489847"/>
            <a:ext cx="16173450" cy="659011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1362075" y="4632722"/>
            <a:ext cx="8592884" cy="411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946"/>
              </a:lnSpc>
              <a:buNone/>
            </a:pPr>
            <a:r>
              <a:rPr lang="en-US" sz="210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每个面分成九个小方格，六个面一共五十四格</a:t>
            </a:r>
            <a:endParaRPr lang="en-US" sz="2100" dirty="0"/>
          </a:p>
        </p:txBody>
      </p:sp>
      <p:sp>
        <p:nvSpPr>
          <p:cNvPr id="18" name="Shape 15"/>
          <p:cNvSpPr/>
          <p:nvPr/>
        </p:nvSpPr>
        <p:spPr>
          <a:xfrm>
            <a:off x="9991725" y="4489847"/>
            <a:ext cx="9525" cy="659011"/>
          </a:xfrm>
          <a:prstGeom prst="rect">
            <a:avLst/>
          </a:prstGeom>
          <a:solidFill>
            <a:srgbClr val="DFE3E9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10306050" y="4632722"/>
            <a:ext cx="6837045" cy="411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946"/>
              </a:lnSpc>
              <a:buNone/>
            </a:pPr>
            <a:r>
              <a:rPr lang="en-US" sz="21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列数字</a:t>
            </a:r>
            <a:endParaRPr lang="en-US" sz="2100" dirty="0"/>
          </a:p>
        </p:txBody>
      </p:sp>
      <p:sp>
        <p:nvSpPr>
          <p:cNvPr id="20" name="Shape 17"/>
          <p:cNvSpPr/>
          <p:nvPr/>
        </p:nvSpPr>
        <p:spPr>
          <a:xfrm>
            <a:off x="1057275" y="5148858"/>
            <a:ext cx="16173450" cy="1032272"/>
          </a:xfrm>
          <a:prstGeom prst="rect">
            <a:avLst/>
          </a:prstGeom>
          <a:solidFill>
            <a:srgbClr val="EEF1F5"/>
          </a:solidFill>
          <a:ln/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1362075" y="5291733"/>
            <a:ext cx="8592884" cy="7846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946"/>
              </a:lnSpc>
              <a:buNone/>
            </a:pPr>
            <a:r>
              <a:rPr lang="en-US" sz="210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由二十六个小方块拼成：八个角上各一个，十二条棱的中间各一个，六个面的正当中各一个</a:t>
            </a:r>
            <a:endParaRPr lang="en-US" sz="2100" dirty="0"/>
          </a:p>
        </p:txBody>
      </p:sp>
      <p:sp>
        <p:nvSpPr>
          <p:cNvPr id="22" name="Shape 19"/>
          <p:cNvSpPr/>
          <p:nvPr/>
        </p:nvSpPr>
        <p:spPr>
          <a:xfrm>
            <a:off x="9991725" y="5148858"/>
            <a:ext cx="9525" cy="1032272"/>
          </a:xfrm>
          <a:prstGeom prst="rect">
            <a:avLst/>
          </a:prstGeom>
          <a:solidFill>
            <a:srgbClr val="DFE3E9"/>
          </a:solidFill>
          <a:ln/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10306050" y="5291733"/>
            <a:ext cx="6837045" cy="7846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946"/>
              </a:lnSpc>
              <a:buNone/>
            </a:pPr>
            <a:r>
              <a:rPr lang="en-US" sz="21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列数字</a:t>
            </a:r>
            <a:pPr algn="l" indent="0" marL="0">
              <a:lnSpc>
                <a:spcPct val="105946"/>
              </a:lnSpc>
              <a:buNone/>
            </a:pPr>
            <a:r>
              <a:rPr lang="en-US" sz="210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：把总数拆开说</a:t>
            </a:r>
            <a:endParaRPr lang="en-US" sz="2100" dirty="0"/>
          </a:p>
        </p:txBody>
      </p:sp>
      <p:sp>
        <p:nvSpPr>
          <p:cNvPr id="24" name="Shape 21"/>
          <p:cNvSpPr/>
          <p:nvPr/>
        </p:nvSpPr>
        <p:spPr>
          <a:xfrm>
            <a:off x="1057275" y="6181130"/>
            <a:ext cx="16173450" cy="659011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1362075" y="6324005"/>
            <a:ext cx="8592884" cy="411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946"/>
              </a:lnSpc>
              <a:buNone/>
            </a:pPr>
            <a:r>
              <a:rPr lang="en-US" sz="210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像一扇门绕着门轴转</a:t>
            </a:r>
            <a:endParaRPr lang="en-US" sz="2100" dirty="0"/>
          </a:p>
        </p:txBody>
      </p:sp>
      <p:sp>
        <p:nvSpPr>
          <p:cNvPr id="26" name="Shape 23"/>
          <p:cNvSpPr/>
          <p:nvPr/>
        </p:nvSpPr>
        <p:spPr>
          <a:xfrm>
            <a:off x="9991725" y="6181130"/>
            <a:ext cx="9525" cy="659011"/>
          </a:xfrm>
          <a:prstGeom prst="rect">
            <a:avLst/>
          </a:prstGeom>
          <a:solidFill>
            <a:srgbClr val="DFE3E9"/>
          </a:solidFill>
          <a:ln/>
        </p:spPr>
        <p:txBody>
          <a:bodyPr/>
          <a:p/>
        </p:txBody>
      </p:sp>
      <p:sp>
        <p:nvSpPr>
          <p:cNvPr id="27" name="Text 24"/>
          <p:cNvSpPr/>
          <p:nvPr/>
        </p:nvSpPr>
        <p:spPr>
          <a:xfrm>
            <a:off x="10306050" y="6324005"/>
            <a:ext cx="6837045" cy="411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946"/>
              </a:lnSpc>
              <a:buNone/>
            </a:pPr>
            <a:r>
              <a:rPr lang="en-US" sz="2100" b="1" dirty="0">
                <a:solidFill>
                  <a:srgbClr val="4E9A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打比方</a:t>
            </a:r>
            <a:pPr algn="l" indent="0" marL="0">
              <a:lnSpc>
                <a:spcPct val="105946"/>
              </a:lnSpc>
              <a:buNone/>
            </a:pPr>
            <a:r>
              <a:rPr lang="en-US" sz="210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：拿熟悉的事物说清转动的样子</a:t>
            </a:r>
            <a:endParaRPr lang="en-US" sz="2100" dirty="0"/>
          </a:p>
        </p:txBody>
      </p:sp>
      <p:sp>
        <p:nvSpPr>
          <p:cNvPr id="28" name="Shape 25"/>
          <p:cNvSpPr/>
          <p:nvPr/>
        </p:nvSpPr>
        <p:spPr>
          <a:xfrm>
            <a:off x="1057275" y="6840141"/>
            <a:ext cx="16173450" cy="659011"/>
          </a:xfrm>
          <a:prstGeom prst="rect">
            <a:avLst/>
          </a:prstGeom>
          <a:solidFill>
            <a:srgbClr val="EEF1F5"/>
          </a:solidFill>
          <a:ln/>
        </p:spPr>
        <p:txBody>
          <a:bodyPr/>
          <a:p/>
        </p:txBody>
      </p:sp>
      <p:sp>
        <p:nvSpPr>
          <p:cNvPr id="29" name="Text 26"/>
          <p:cNvSpPr/>
          <p:nvPr/>
        </p:nvSpPr>
        <p:spPr>
          <a:xfrm>
            <a:off x="1362075" y="6983016"/>
            <a:ext cx="8592884" cy="411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946"/>
              </a:lnSpc>
              <a:buNone/>
            </a:pPr>
            <a:r>
              <a:rPr lang="en-US" sz="210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复原一次要二十多分钟；现在最快两分钟零几秒</a:t>
            </a:r>
            <a:endParaRPr lang="en-US" sz="2100" dirty="0"/>
          </a:p>
        </p:txBody>
      </p:sp>
      <p:sp>
        <p:nvSpPr>
          <p:cNvPr id="30" name="Shape 27"/>
          <p:cNvSpPr/>
          <p:nvPr/>
        </p:nvSpPr>
        <p:spPr>
          <a:xfrm>
            <a:off x="9991725" y="6840141"/>
            <a:ext cx="9525" cy="659011"/>
          </a:xfrm>
          <a:prstGeom prst="rect">
            <a:avLst/>
          </a:prstGeom>
          <a:solidFill>
            <a:srgbClr val="DFE3E9"/>
          </a:solidFill>
          <a:ln/>
        </p:spPr>
        <p:txBody>
          <a:bodyPr/>
          <a:p/>
        </p:txBody>
      </p:sp>
      <p:sp>
        <p:nvSpPr>
          <p:cNvPr id="31" name="Text 28"/>
          <p:cNvSpPr/>
          <p:nvPr/>
        </p:nvSpPr>
        <p:spPr>
          <a:xfrm>
            <a:off x="10306050" y="6983016"/>
            <a:ext cx="6837045" cy="411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946"/>
              </a:lnSpc>
              <a:buNone/>
            </a:pPr>
            <a:r>
              <a:rPr lang="en-US" sz="2100" b="1" dirty="0">
                <a:solidFill>
                  <a:srgbClr val="2F72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作比较</a:t>
            </a:r>
            <a:pPr algn="l" indent="0" marL="0">
              <a:lnSpc>
                <a:spcPct val="105946"/>
              </a:lnSpc>
              <a:buNone/>
            </a:pPr>
            <a:r>
              <a:rPr lang="en-US" sz="210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＋</a:t>
            </a:r>
            <a:pPr algn="l" indent="0" marL="0">
              <a:lnSpc>
                <a:spcPct val="105946"/>
              </a:lnSpc>
              <a:buNone/>
            </a:pPr>
            <a:r>
              <a:rPr lang="en-US" sz="21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列数字</a:t>
            </a:r>
            <a:pPr algn="l" indent="0" marL="0">
              <a:lnSpc>
                <a:spcPct val="105946"/>
              </a:lnSpc>
              <a:buNone/>
            </a:pPr>
            <a:r>
              <a:rPr lang="en-US" sz="210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：自己和自己比，变化看得见</a:t>
            </a:r>
            <a:endParaRPr lang="en-US" sz="2100" dirty="0"/>
          </a:p>
        </p:txBody>
      </p:sp>
      <p:sp>
        <p:nvSpPr>
          <p:cNvPr id="32" name="Shape 29"/>
          <p:cNvSpPr/>
          <p:nvPr/>
        </p:nvSpPr>
        <p:spPr>
          <a:xfrm>
            <a:off x="1057275" y="7499152"/>
            <a:ext cx="16173450" cy="659011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3" name="Text 30"/>
          <p:cNvSpPr/>
          <p:nvPr/>
        </p:nvSpPr>
        <p:spPr>
          <a:xfrm>
            <a:off x="1362075" y="7642027"/>
            <a:ext cx="8592884" cy="411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946"/>
              </a:lnSpc>
              <a:buNone/>
            </a:pPr>
            <a:r>
              <a:rPr lang="en-US" sz="210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有一次它从课桌上掉下去，边上的一个小方块弹了出来</a:t>
            </a:r>
            <a:endParaRPr lang="en-US" sz="2100" dirty="0"/>
          </a:p>
        </p:txBody>
      </p:sp>
      <p:sp>
        <p:nvSpPr>
          <p:cNvPr id="34" name="Shape 31"/>
          <p:cNvSpPr/>
          <p:nvPr/>
        </p:nvSpPr>
        <p:spPr>
          <a:xfrm>
            <a:off x="9991725" y="7499152"/>
            <a:ext cx="9525" cy="659011"/>
          </a:xfrm>
          <a:prstGeom prst="rect">
            <a:avLst/>
          </a:prstGeom>
          <a:solidFill>
            <a:srgbClr val="DFE3E9"/>
          </a:solidFill>
          <a:ln/>
        </p:spPr>
        <p:txBody>
          <a:bodyPr/>
          <a:p/>
        </p:txBody>
      </p:sp>
      <p:sp>
        <p:nvSpPr>
          <p:cNvPr id="35" name="Text 32"/>
          <p:cNvSpPr/>
          <p:nvPr/>
        </p:nvSpPr>
        <p:spPr>
          <a:xfrm>
            <a:off x="10306050" y="7642027"/>
            <a:ext cx="6837045" cy="4113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946"/>
              </a:lnSpc>
              <a:buNone/>
            </a:pPr>
            <a:r>
              <a:rPr lang="en-US" sz="2100" b="1" dirty="0">
                <a:solidFill>
                  <a:srgbClr val="8E5A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举例子</a:t>
            </a:r>
            <a:pPr algn="l" indent="0" marL="0">
              <a:lnSpc>
                <a:spcPct val="105946"/>
              </a:lnSpc>
              <a:buNone/>
            </a:pPr>
            <a:r>
              <a:rPr lang="en-US" sz="210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：用一件事说明“怕摔”</a:t>
            </a:r>
            <a:endParaRPr lang="en-US" sz="2100" dirty="0"/>
          </a:p>
        </p:txBody>
      </p:sp>
      <p:sp>
        <p:nvSpPr>
          <p:cNvPr id="36" name="Text 33"/>
          <p:cNvSpPr/>
          <p:nvPr/>
        </p:nvSpPr>
        <p:spPr>
          <a:xfrm>
            <a:off x="1047750" y="9353550"/>
            <a:ext cx="17811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每一段用一两种说明方法，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数字是自己量出来、数出来的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，没见过魔方的人也能想出它有多大。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9906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旁批表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8159204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66850" y="1581150"/>
            <a:ext cx="8053105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再看段首和结尾：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感受放在哪里、放多少</a:t>
            </a:r>
            <a:endParaRPr lang="en-US" sz="3203" dirty="0"/>
          </a:p>
        </p:txBody>
      </p:sp>
      <p:sp>
        <p:nvSpPr>
          <p:cNvPr id="7" name="Shape 4"/>
          <p:cNvSpPr/>
          <p:nvPr/>
        </p:nvSpPr>
        <p:spPr>
          <a:xfrm>
            <a:off x="1047750" y="2762250"/>
            <a:ext cx="16192500" cy="2861072"/>
          </a:xfrm>
          <a:prstGeom prst="roundRect">
            <a:avLst>
              <a:gd name="adj" fmla="val 4661"/>
            </a:avLst>
          </a:prstGeom>
          <a:ln w="9525">
            <a:solidFill>
              <a:srgbClr val="DFE3E9"/>
            </a:solidFill>
            <a:prstDash val="solid"/>
          </a:ln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1057275" y="2771775"/>
            <a:ext cx="16173450" cy="685800"/>
          </a:xfrm>
          <a:prstGeom prst="rect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362075" y="2924175"/>
            <a:ext cx="561594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示范文里的句子</a:t>
            </a:r>
            <a:endParaRPr lang="en-US" sz="2250" dirty="0"/>
          </a:p>
        </p:txBody>
      </p:sp>
      <p:sp>
        <p:nvSpPr>
          <p:cNvPr id="10" name="Shape 7"/>
          <p:cNvSpPr/>
          <p:nvPr/>
        </p:nvSpPr>
        <p:spPr>
          <a:xfrm>
            <a:off x="6772275" y="2771775"/>
            <a:ext cx="9525" cy="685800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7086600" y="2924175"/>
            <a:ext cx="10823258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这一句用了什么</a:t>
            </a:r>
            <a:endParaRPr lang="en-US" sz="2250" dirty="0"/>
          </a:p>
        </p:txBody>
      </p:sp>
      <p:sp>
        <p:nvSpPr>
          <p:cNvPr id="12" name="Shape 9"/>
          <p:cNvSpPr/>
          <p:nvPr/>
        </p:nvSpPr>
        <p:spPr>
          <a:xfrm>
            <a:off x="1057275" y="3457575"/>
            <a:ext cx="16173450" cy="1078111"/>
          </a:xfrm>
          <a:prstGeom prst="rect">
            <a:avLst/>
          </a:prstGeom>
          <a:solidFill>
            <a:srgbClr val="EEF1F5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1362075" y="3609975"/>
            <a:ext cx="5276850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730"/>
              </a:lnSpc>
              <a:buNone/>
            </a:pPr>
            <a:r>
              <a:rPr lang="en-US" sz="210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先说它的样子</a:t>
            </a:r>
            <a:endParaRPr lang="en-US" sz="2100" dirty="0"/>
          </a:p>
        </p:txBody>
      </p:sp>
      <p:sp>
        <p:nvSpPr>
          <p:cNvPr id="14" name="Shape 11"/>
          <p:cNvSpPr/>
          <p:nvPr/>
        </p:nvSpPr>
        <p:spPr>
          <a:xfrm>
            <a:off x="6772275" y="3457575"/>
            <a:ext cx="9525" cy="1078111"/>
          </a:xfrm>
          <a:prstGeom prst="rect">
            <a:avLst/>
          </a:prstGeom>
          <a:solidFill>
            <a:srgbClr val="DFE3E9"/>
          </a:solidFill>
          <a:ln/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7086600" y="3609975"/>
            <a:ext cx="10153079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730"/>
              </a:lnSpc>
              <a:buNone/>
            </a:pPr>
            <a:r>
              <a:rPr lang="en-US" sz="2100" b="1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开头点明方面 </a:t>
            </a:r>
            <a:pPr algn="l" indent="0" marL="0">
              <a:lnSpc>
                <a:spcPct val="109730"/>
              </a:lnSpc>
              <a:buNone/>
            </a:pPr>
            <a:r>
              <a:rPr lang="en-US" sz="210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：一段只介绍一个方面，开头先说出这一段要讲哪个方面，后面每一段的开头都是这样</a:t>
            </a:r>
            <a:endParaRPr lang="en-US" sz="2100" dirty="0"/>
          </a:p>
        </p:txBody>
      </p:sp>
      <p:sp>
        <p:nvSpPr>
          <p:cNvPr id="16" name="Shape 13"/>
          <p:cNvSpPr/>
          <p:nvPr/>
        </p:nvSpPr>
        <p:spPr>
          <a:xfrm>
            <a:off x="1057275" y="4535686"/>
            <a:ext cx="16173450" cy="1078111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1362075" y="4688086"/>
            <a:ext cx="5276850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730"/>
              </a:lnSpc>
              <a:buNone/>
            </a:pPr>
            <a:r>
              <a:rPr lang="en-US" sz="210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在我看来，它是书包里最值得带来带去的一样东西</a:t>
            </a:r>
            <a:endParaRPr lang="en-US" sz="2100" dirty="0"/>
          </a:p>
        </p:txBody>
      </p:sp>
      <p:sp>
        <p:nvSpPr>
          <p:cNvPr id="18" name="Shape 15"/>
          <p:cNvSpPr/>
          <p:nvPr/>
        </p:nvSpPr>
        <p:spPr>
          <a:xfrm>
            <a:off x="6772275" y="4535686"/>
            <a:ext cx="9525" cy="1078111"/>
          </a:xfrm>
          <a:prstGeom prst="rect">
            <a:avLst/>
          </a:prstGeom>
          <a:solidFill>
            <a:srgbClr val="DFE3E9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7086600" y="4688086"/>
            <a:ext cx="10153079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730"/>
              </a:lnSpc>
              <a:buNone/>
            </a:pPr>
            <a:r>
              <a:rPr lang="en-US" sz="2100" b="1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结尾说看法 </a:t>
            </a:r>
            <a:pPr algn="l" indent="0" marL="0">
              <a:lnSpc>
                <a:spcPct val="109730"/>
              </a:lnSpc>
              <a:buNone/>
            </a:pPr>
            <a:r>
              <a:rPr lang="en-US" sz="210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：整篇只在这里写感受，一共两句，先说它对我算什么，再说玩起来的感觉</a:t>
            </a:r>
            <a:endParaRPr lang="en-US" sz="2100" dirty="0"/>
          </a:p>
        </p:txBody>
      </p:sp>
      <p:sp>
        <p:nvSpPr>
          <p:cNvPr id="20" name="Text 17"/>
          <p:cNvSpPr/>
          <p:nvPr/>
        </p:nvSpPr>
        <p:spPr>
          <a:xfrm>
            <a:off x="1047750" y="6000750"/>
            <a:ext cx="178117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写介绍，感受有三种写法</a:t>
            </a:r>
            <a:endParaRPr lang="en-US" sz="2400" dirty="0"/>
          </a:p>
        </p:txBody>
      </p:sp>
      <p:sp>
        <p:nvSpPr>
          <p:cNvPr id="21" name="Shape 18"/>
          <p:cNvSpPr/>
          <p:nvPr/>
        </p:nvSpPr>
        <p:spPr>
          <a:xfrm>
            <a:off x="1047750" y="6572250"/>
            <a:ext cx="5219700" cy="1579066"/>
          </a:xfrm>
          <a:prstGeom prst="roundRect">
            <a:avLst>
              <a:gd name="adj" fmla="val 6032"/>
            </a:avLst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>
            <a:off x="1047750" y="6572250"/>
            <a:ext cx="76200" cy="1579066"/>
          </a:xfrm>
          <a:prstGeom prst="rect">
            <a:avLst/>
          </a:prstGeom>
          <a:solidFill>
            <a:srgbClr val="9AA6B6"/>
          </a:solidFill>
          <a:ln/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1390650" y="6781800"/>
            <a:ext cx="4748403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730"/>
              </a:lnSpc>
              <a:buNone/>
            </a:pPr>
            <a:r>
              <a:rPr lang="en-US" sz="21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一句感受都不写 </a:t>
            </a:r>
            <a:pPr algn="l" indent="0" marL="0">
              <a:lnSpc>
                <a:spcPct val="109730"/>
              </a:lnSpc>
              <a:buNone/>
            </a:pPr>
            <a:r>
              <a:rPr lang="en-US" sz="210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从头到尾只介绍，也是一篇合格的介绍</a:t>
            </a:r>
            <a:endParaRPr lang="en-US" sz="2100" dirty="0"/>
          </a:p>
        </p:txBody>
      </p:sp>
      <p:sp>
        <p:nvSpPr>
          <p:cNvPr id="24" name="Shape 21"/>
          <p:cNvSpPr/>
          <p:nvPr/>
        </p:nvSpPr>
        <p:spPr>
          <a:xfrm>
            <a:off x="6534150" y="6572250"/>
            <a:ext cx="5219700" cy="1579066"/>
          </a:xfrm>
          <a:prstGeom prst="roundRect">
            <a:avLst>
              <a:gd name="adj" fmla="val 6032"/>
            </a:avLst>
          </a:prstGeom>
          <a:solidFill>
            <a:srgbClr val="FBF3E6"/>
          </a:solidFill>
          <a:ln/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6534150" y="6572250"/>
            <a:ext cx="76200" cy="1579066"/>
          </a:xfrm>
          <a:prstGeom prst="rect">
            <a:avLst/>
          </a:prstGeom>
          <a:solidFill>
            <a:srgbClr val="E0A43B"/>
          </a:solidFill>
          <a:ln/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6877050" y="6781800"/>
            <a:ext cx="4748403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730"/>
              </a:lnSpc>
              <a:buNone/>
            </a:pPr>
            <a:r>
              <a:rPr lang="en-US" sz="21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结尾一两句 </a:t>
            </a:r>
            <a:pPr algn="l" indent="0" marL="0">
              <a:lnSpc>
                <a:spcPct val="109730"/>
              </a:lnSpc>
              <a:buNone/>
            </a:pPr>
            <a:r>
              <a:rPr lang="en-US" sz="210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像这一篇，读的人知道你为什么介绍它</a:t>
            </a:r>
            <a:endParaRPr lang="en-US" sz="2100" dirty="0"/>
          </a:p>
        </p:txBody>
      </p:sp>
      <p:sp>
        <p:nvSpPr>
          <p:cNvPr id="27" name="Shape 24"/>
          <p:cNvSpPr/>
          <p:nvPr/>
        </p:nvSpPr>
        <p:spPr>
          <a:xfrm>
            <a:off x="12020550" y="6572250"/>
            <a:ext cx="5219700" cy="1579066"/>
          </a:xfrm>
          <a:prstGeom prst="roundRect">
            <a:avLst>
              <a:gd name="adj" fmla="val 6032"/>
            </a:avLst>
          </a:prstGeom>
          <a:solidFill>
            <a:srgbClr val="FCE7EA"/>
          </a:solidFill>
          <a:ln/>
        </p:spPr>
        <p:txBody>
          <a:bodyPr/>
          <a:p/>
        </p:txBody>
      </p:sp>
      <p:sp>
        <p:nvSpPr>
          <p:cNvPr id="28" name="Shape 25"/>
          <p:cNvSpPr/>
          <p:nvPr/>
        </p:nvSpPr>
        <p:spPr>
          <a:xfrm>
            <a:off x="12020550" y="6572250"/>
            <a:ext cx="76200" cy="1579066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29" name="Text 26"/>
          <p:cNvSpPr/>
          <p:nvPr/>
        </p:nvSpPr>
        <p:spPr>
          <a:xfrm>
            <a:off x="12363450" y="6781800"/>
            <a:ext cx="4748403" cy="119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730"/>
              </a:lnSpc>
              <a:buNone/>
            </a:pPr>
            <a:r>
              <a:rPr lang="en-US" sz="21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每段都说“我特别喜欢它” </a:t>
            </a:r>
            <a:pPr algn="l" indent="0" marL="0">
              <a:lnSpc>
                <a:spcPct val="109730"/>
              </a:lnSpc>
              <a:buNone/>
            </a:pPr>
            <a:r>
              <a:rPr lang="en-US" sz="210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感受把介绍挤掉了，读的人还是不了解它。这一种要收一收</a:t>
            </a:r>
            <a:endParaRPr lang="en-US" sz="2100" dirty="0"/>
          </a:p>
        </p:txBody>
      </p:sp>
      <p:sp>
        <p:nvSpPr>
          <p:cNvPr id="30" name="Text 27"/>
          <p:cNvSpPr/>
          <p:nvPr/>
        </p:nvSpPr>
        <p:spPr>
          <a:xfrm>
            <a:off x="1047750" y="9353550"/>
            <a:ext cx="17811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前两种都可以，大家自己选；感受写在哪一段都可以，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但不能多到把介绍挤掉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。休息回来，照着构思表动笔。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Shape 1"/>
          <p:cNvSpPr/>
          <p:nvPr/>
        </p:nvSpPr>
        <p:spPr>
          <a:xfrm>
            <a:off x="800100" y="800100"/>
            <a:ext cx="16687800" cy="8686800"/>
          </a:xfrm>
          <a:prstGeom prst="roundRect">
            <a:avLst>
              <a:gd name="adj" fmla="val 1754"/>
            </a:avLst>
          </a:prstGeom>
          <a:gradFill rotWithShape="1">
            <a:gsLst>
              <a:gs pos="0">
                <a:srgbClr val="6FB8AD">
                  <a:alpha val="100000"/>
                </a:srgbClr>
              </a:gs>
              <a:gs pos="60000">
                <a:srgbClr val="4E93A0">
                  <a:alpha val="100000"/>
                </a:srgbClr>
              </a:gs>
              <a:gs pos="100000">
                <a:srgbClr val="3D6E82">
                  <a:alpha val="100000"/>
                </a:srgbClr>
              </a:gs>
            </a:gsLst>
            <a:lin ang="1800000" scaled="0"/>
          </a:gradFill>
          <a:ln/>
        </p:spPr>
      </p:sp>
      <p:sp>
        <p:nvSpPr>
          <p:cNvPr id="4" name="Text 2"/>
          <p:cNvSpPr/>
          <p:nvPr/>
        </p:nvSpPr>
        <p:spPr>
          <a:xfrm>
            <a:off x="2038350" y="3181350"/>
            <a:ext cx="6286500" cy="21193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052"/>
              </a:lnSpc>
              <a:buNone/>
            </a:pPr>
            <a:r>
              <a:rPr lang="en-US" sz="14250" b="1" dirty="0">
                <a:solidFill>
                  <a:srgbClr val="FFFFFF">
                    <a:alpha val="9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250" dirty="0"/>
          </a:p>
        </p:txBody>
      </p:sp>
      <p:sp>
        <p:nvSpPr>
          <p:cNvPr id="5" name="Text 3"/>
          <p:cNvSpPr/>
          <p:nvPr/>
        </p:nvSpPr>
        <p:spPr>
          <a:xfrm>
            <a:off x="2228850" y="5676900"/>
            <a:ext cx="14668500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734"/>
              </a:lnSpc>
              <a:buNone/>
            </a:pPr>
            <a:r>
              <a:rPr lang="en-US" sz="4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当堂写作与评改课</a:t>
            </a:r>
            <a:endParaRPr lang="en-US" sz="4500" dirty="0"/>
          </a:p>
        </p:txBody>
      </p:sp>
      <p:sp>
        <p:nvSpPr>
          <p:cNvPr id="6" name="Text 4"/>
          <p:cNvSpPr/>
          <p:nvPr/>
        </p:nvSpPr>
        <p:spPr>
          <a:xfrm>
            <a:off x="2247900" y="6572250"/>
            <a:ext cx="14668500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333"/>
              </a:lnSpc>
              <a:buNone/>
            </a:pPr>
            <a:r>
              <a:rPr lang="en-US" sz="2550" dirty="0">
                <a:solidFill>
                  <a:srgbClr val="FFFFFF">
                    <a:alpha val="9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排好顺序定起笔 · 自由写作 · 同桌互读写纸条 · 先判断再改 · 修改收束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2038350" y="7924800"/>
            <a:ext cx="1796802" cy="762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28850" y="8039100"/>
            <a:ext cx="1415802" cy="5334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134112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写作热身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9786045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66850" y="1581150"/>
            <a:ext cx="9842629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构思表放在稿纸旁边，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给三个方面标上一、二、三</a:t>
            </a:r>
            <a:endParaRPr lang="en-US" sz="3203" dirty="0"/>
          </a:p>
        </p:txBody>
      </p:sp>
      <p:sp>
        <p:nvSpPr>
          <p:cNvPr id="7" name="Shape 4"/>
          <p:cNvSpPr/>
          <p:nvPr/>
        </p:nvSpPr>
        <p:spPr>
          <a:xfrm>
            <a:off x="1047750" y="3028950"/>
            <a:ext cx="1809750" cy="685800"/>
          </a:xfrm>
          <a:prstGeom prst="roundRect">
            <a:avLst>
              <a:gd name="adj" fmla="val 19444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957263" y="3181350"/>
            <a:ext cx="199072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先写样子</a:t>
            </a:r>
            <a:endParaRPr lang="en-US" sz="2250" dirty="0"/>
          </a:p>
        </p:txBody>
      </p:sp>
      <p:sp>
        <p:nvSpPr>
          <p:cNvPr id="9" name="Text 6"/>
          <p:cNvSpPr/>
          <p:nvPr/>
        </p:nvSpPr>
        <p:spPr>
          <a:xfrm>
            <a:off x="3105150" y="3157835"/>
            <a:ext cx="2598420" cy="466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634"/>
              </a:lnSpc>
              <a:buNone/>
            </a:pPr>
            <a:r>
              <a:rPr lang="en-US" sz="232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读的人先有个印象</a:t>
            </a:r>
            <a:endParaRPr lang="en-US" sz="2325" dirty="0"/>
          </a:p>
        </p:txBody>
      </p:sp>
      <p:sp>
        <p:nvSpPr>
          <p:cNvPr id="10" name="Shape 7"/>
          <p:cNvSpPr/>
          <p:nvPr/>
        </p:nvSpPr>
        <p:spPr>
          <a:xfrm>
            <a:off x="1047750" y="3924300"/>
            <a:ext cx="1809750" cy="685800"/>
          </a:xfrm>
          <a:prstGeom prst="roundRect">
            <a:avLst>
              <a:gd name="adj" fmla="val 19444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957263" y="4076700"/>
            <a:ext cx="199072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先写有趣的</a:t>
            </a:r>
            <a:endParaRPr lang="en-US" sz="2250" dirty="0"/>
          </a:p>
        </p:txBody>
      </p:sp>
      <p:sp>
        <p:nvSpPr>
          <p:cNvPr id="12" name="Text 9"/>
          <p:cNvSpPr/>
          <p:nvPr/>
        </p:nvSpPr>
        <p:spPr>
          <a:xfrm>
            <a:off x="3105150" y="4053185"/>
            <a:ext cx="2598420" cy="466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634"/>
              </a:lnSpc>
              <a:buNone/>
            </a:pPr>
            <a:r>
              <a:rPr lang="en-US" sz="232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先把读的人吸引住</a:t>
            </a:r>
            <a:endParaRPr lang="en-US" sz="2325" dirty="0"/>
          </a:p>
        </p:txBody>
      </p:sp>
      <p:sp>
        <p:nvSpPr>
          <p:cNvPr id="13" name="Shape 10"/>
          <p:cNvSpPr/>
          <p:nvPr/>
        </p:nvSpPr>
        <p:spPr>
          <a:xfrm>
            <a:off x="1047750" y="4819650"/>
            <a:ext cx="1809750" cy="685800"/>
          </a:xfrm>
          <a:prstGeom prst="roundRect">
            <a:avLst>
              <a:gd name="adj" fmla="val 19444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957263" y="4972050"/>
            <a:ext cx="199072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圈出的那个</a:t>
            </a:r>
            <a:endParaRPr lang="en-US" sz="2250" dirty="0"/>
          </a:p>
        </p:txBody>
      </p:sp>
      <p:sp>
        <p:nvSpPr>
          <p:cNvPr id="15" name="Text 12"/>
          <p:cNvSpPr/>
          <p:nvPr/>
        </p:nvSpPr>
        <p:spPr>
          <a:xfrm>
            <a:off x="3105150" y="4948535"/>
            <a:ext cx="5521643" cy="466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634"/>
              </a:lnSpc>
              <a:buNone/>
            </a:pPr>
            <a:r>
              <a:rPr lang="en-US" sz="232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写得最详细，放在中间或者最后都可以</a:t>
            </a:r>
            <a:endParaRPr lang="en-US" sz="2325" dirty="0"/>
          </a:p>
        </p:txBody>
      </p:sp>
      <p:sp>
        <p:nvSpPr>
          <p:cNvPr id="16" name="Shape 13"/>
          <p:cNvSpPr/>
          <p:nvPr/>
        </p:nvSpPr>
        <p:spPr>
          <a:xfrm>
            <a:off x="1047750" y="5715000"/>
            <a:ext cx="16192500" cy="1314450"/>
          </a:xfrm>
          <a:prstGeom prst="roundRect">
            <a:avLst>
              <a:gd name="adj" fmla="val 11594"/>
            </a:avLst>
          </a:prstGeom>
          <a:solidFill>
            <a:srgbClr val="DCE6F5"/>
          </a:solidFill>
          <a:ln/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1409700" y="5943600"/>
            <a:ext cx="15932658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500"/>
              </a:lnSpc>
              <a:buNone/>
            </a:pPr>
            <a:r>
              <a:rPr lang="en-US" sz="2250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标好的同学，和同桌说一句：</a:t>
            </a:r>
            <a:pPr algn="l" indent="0" marL="0">
              <a:lnSpc>
                <a:spcPct val="112500"/>
              </a:lnSpc>
              <a:buNone/>
            </a:pPr>
            <a:r>
              <a:rPr lang="en-US" sz="2250" b="1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我先写哪个方面，为什么。 </a:t>
            </a:r>
            <a:pPr algn="l" indent="0" marL="0">
              <a:lnSpc>
                <a:spcPct val="112500"/>
              </a:lnSpc>
              <a:buNone/>
            </a:pPr>
            <a:r>
              <a:rPr lang="en-US" sz="2250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例如：我先写样子，别人先知道它长什么样；我把怕摔放最后，前面先介绍完。</a:t>
            </a:r>
            <a:endParaRPr lang="en-US" sz="2250" dirty="0"/>
          </a:p>
        </p:txBody>
      </p:sp>
      <p:sp>
        <p:nvSpPr>
          <p:cNvPr id="18" name="Shape 15"/>
          <p:cNvSpPr/>
          <p:nvPr/>
        </p:nvSpPr>
        <p:spPr>
          <a:xfrm>
            <a:off x="1047750" y="7048500"/>
            <a:ext cx="16192500" cy="1448693"/>
          </a:xfrm>
          <a:prstGeom prst="roundRect">
            <a:avLst>
              <a:gd name="adj" fmla="val 11835"/>
            </a:avLst>
          </a:prstGeom>
          <a:solidFill>
            <a:srgbClr val="FCF3EE"/>
          </a:solidFill>
          <a:ln w="19050">
            <a:solidFill>
              <a:srgbClr val="F0CBB4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1466850" y="7315200"/>
            <a:ext cx="15814929" cy="9533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195"/>
              </a:lnSpc>
              <a:buNone/>
            </a:pPr>
            <a:r>
              <a:rPr lang="en-US" sz="23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定好了就落笔：</a:t>
            </a:r>
            <a:pPr algn="l" indent="0" marL="0">
              <a:lnSpc>
                <a:spcPct val="117195"/>
              </a:lnSpc>
              <a:buNone/>
            </a:pPr>
            <a:r>
              <a:rPr lang="en-US" sz="232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先写开头一句，说清它是什么；接着直接写标了“一”的那个方面， </a:t>
            </a:r>
            <a:pPr algn="l" indent="0" marL="0">
              <a:lnSpc>
                <a:spcPct val="117195"/>
              </a:lnSpc>
              <a:buNone/>
            </a:pPr>
            <a:r>
              <a:rPr lang="en-US" sz="23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开头一句先点明这一段讲哪个方面 </a:t>
            </a:r>
            <a:pPr algn="l" indent="0" marL="0">
              <a:lnSpc>
                <a:spcPct val="117195"/>
              </a:lnSpc>
              <a:buNone/>
            </a:pPr>
            <a:r>
              <a:rPr lang="en-US" sz="232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，再照着表上第三格，用说明方法把特点说清楚。</a:t>
            </a:r>
            <a:endParaRPr lang="en-US" sz="2325" dirty="0"/>
          </a:p>
        </p:txBody>
      </p:sp>
      <p:sp>
        <p:nvSpPr>
          <p:cNvPr id="20" name="Text 17"/>
          <p:cNvSpPr/>
          <p:nvPr/>
        </p:nvSpPr>
        <p:spPr>
          <a:xfrm>
            <a:off x="1047750" y="9334500"/>
            <a:ext cx="17811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这一段写完，第一个方面就写好了；接下来照表上的顺序往下写，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一个方面写一段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134112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自由写作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11006286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66850" y="1581150"/>
            <a:ext cx="11184895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接下来的时间都交给大家：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整篇写完，写到结尾一句看法</a:t>
            </a:r>
            <a:endParaRPr lang="en-US" sz="3203" dirty="0"/>
          </a:p>
        </p:txBody>
      </p:sp>
      <p:sp>
        <p:nvSpPr>
          <p:cNvPr id="7" name="Shape 4"/>
          <p:cNvSpPr/>
          <p:nvPr/>
        </p:nvSpPr>
        <p:spPr>
          <a:xfrm>
            <a:off x="1047750" y="3048000"/>
            <a:ext cx="7886700" cy="3205758"/>
          </a:xfrm>
          <a:prstGeom prst="roundRect">
            <a:avLst>
              <a:gd name="adj" fmla="val 5348"/>
            </a:avLst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466850" y="3429000"/>
            <a:ext cx="775335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5472"/>
              </a:lnSpc>
              <a:buNone/>
            </a:pPr>
            <a:r>
              <a:rPr lang="en-US" sz="6000" b="1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</a:t>
            </a:r>
            <a:endParaRPr lang="en-US" sz="6000" dirty="0"/>
          </a:p>
        </p:txBody>
      </p:sp>
      <p:sp>
        <p:nvSpPr>
          <p:cNvPr id="9" name="Text 6"/>
          <p:cNvSpPr/>
          <p:nvPr/>
        </p:nvSpPr>
        <p:spPr>
          <a:xfrm>
            <a:off x="1466850" y="4381500"/>
            <a:ext cx="7259955" cy="15293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064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一个方面写一段，</a:t>
            </a:r>
            <a:pPr algn="l" indent="0" marL="0">
              <a:lnSpc>
                <a:spcPct val="111064"/>
              </a:lnSpc>
              <a:buNone/>
            </a:pPr>
            <a:r>
              <a:rPr lang="en-US" sz="27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每段开头一句先点明方面 </a:t>
            </a:r>
            <a:pPr algn="l" indent="0" marL="0">
              <a:lnSpc>
                <a:spcPct val="111064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；圈出的那个方面多用几种说明方法，写得最详细</a:t>
            </a:r>
            <a:endParaRPr lang="en-US" sz="2700" dirty="0"/>
          </a:p>
        </p:txBody>
      </p:sp>
      <p:sp>
        <p:nvSpPr>
          <p:cNvPr id="10" name="Shape 7"/>
          <p:cNvSpPr/>
          <p:nvPr/>
        </p:nvSpPr>
        <p:spPr>
          <a:xfrm>
            <a:off x="9353550" y="3048000"/>
            <a:ext cx="7886700" cy="3205758"/>
          </a:xfrm>
          <a:prstGeom prst="roundRect">
            <a:avLst>
              <a:gd name="adj" fmla="val 5348"/>
            </a:avLst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9772650" y="3429000"/>
            <a:ext cx="775335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5472"/>
              </a:lnSpc>
              <a:buNone/>
            </a:pPr>
            <a:r>
              <a:rPr lang="en-US" sz="6000" b="1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</a:t>
            </a:r>
            <a:endParaRPr lang="en-US" sz="6000" dirty="0"/>
          </a:p>
        </p:txBody>
      </p:sp>
      <p:sp>
        <p:nvSpPr>
          <p:cNvPr id="12" name="Text 9"/>
          <p:cNvSpPr/>
          <p:nvPr/>
        </p:nvSpPr>
        <p:spPr>
          <a:xfrm>
            <a:off x="9772650" y="4381500"/>
            <a:ext cx="7259955" cy="10322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064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只管往下写，</a:t>
            </a:r>
            <a:pPr algn="l" indent="0" marL="0">
              <a:lnSpc>
                <a:spcPct val="111064"/>
              </a:lnSpc>
              <a:buNone/>
            </a:pPr>
            <a:r>
              <a:rPr lang="en-US" sz="27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错字、标点先不回头改 </a:t>
            </a:r>
            <a:pPr algn="l" indent="0" marL="0">
              <a:lnSpc>
                <a:spcPct val="111064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，写完以后一起改</a:t>
            </a:r>
            <a:endParaRPr lang="en-US" sz="2700" dirty="0"/>
          </a:p>
        </p:txBody>
      </p:sp>
      <p:sp>
        <p:nvSpPr>
          <p:cNvPr id="13" name="Text 10"/>
          <p:cNvSpPr/>
          <p:nvPr/>
        </p:nvSpPr>
        <p:spPr>
          <a:xfrm>
            <a:off x="1047750" y="8239125"/>
            <a:ext cx="12655868" cy="8667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750"/>
              </a:lnSpc>
              <a:buNone/>
            </a:pPr>
            <a:r>
              <a:rPr lang="en-US" sz="2250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写到“很大”“很好玩”的时候，接着问自己一句：到底多大，跟什么差不多大？在后面补上数字或者比较。对方问过你的那两个问题， </a:t>
            </a:r>
            <a:pPr algn="l" indent="0" marL="0">
              <a:lnSpc>
                <a:spcPct val="108750"/>
              </a:lnSpc>
              <a:buNone/>
            </a:pPr>
            <a:r>
              <a:rPr lang="en-US" sz="22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在对应的方面里回答</a:t>
            </a:r>
            <a:pPr algn="l" indent="0" marL="0">
              <a:lnSpc>
                <a:spcPct val="108750"/>
              </a:lnSpc>
              <a:buNone/>
            </a:pPr>
            <a:r>
              <a:rPr lang="en-US" sz="2250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250" dirty="0"/>
          </a:p>
        </p:txBody>
      </p:sp>
      <p:sp>
        <p:nvSpPr>
          <p:cNvPr id="14" name="Shape 11"/>
          <p:cNvSpPr/>
          <p:nvPr/>
        </p:nvSpPr>
        <p:spPr>
          <a:xfrm>
            <a:off x="12847439" y="8791575"/>
            <a:ext cx="4392811" cy="866775"/>
          </a:xfrm>
          <a:prstGeom prst="roundRect">
            <a:avLst>
              <a:gd name="adj" fmla="val 17582"/>
            </a:avLst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13228439" y="8982075"/>
            <a:ext cx="3993892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⏱ 写作时间约 26 分钟</a:t>
            </a:r>
            <a:endParaRPr lang="en-US" sz="28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134112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交流评议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7752457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66850" y="1581150"/>
            <a:ext cx="7605683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同桌交换默读，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写一张两行的读者纸条</a:t>
            </a:r>
            <a:endParaRPr lang="en-US" sz="3203" dirty="0"/>
          </a:p>
        </p:txBody>
      </p:sp>
      <p:sp>
        <p:nvSpPr>
          <p:cNvPr id="7" name="Shape 4"/>
          <p:cNvSpPr/>
          <p:nvPr/>
        </p:nvSpPr>
        <p:spPr>
          <a:xfrm>
            <a:off x="1047750" y="3048000"/>
            <a:ext cx="504825" cy="504825"/>
          </a:xfrm>
          <a:prstGeom prst="roundRect">
            <a:avLst>
              <a:gd name="adj" fmla="val 26415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217861" y="3124200"/>
            <a:ext cx="24080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1800225" y="3124200"/>
            <a:ext cx="9133808" cy="9772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556"/>
              </a:lnSpc>
              <a:buNone/>
            </a:pPr>
            <a:r>
              <a:rPr lang="en-US" sz="255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第一行：“我从你这篇介绍里学到的一条知识是……” </a:t>
            </a:r>
            <a:pPr algn="l" indent="0" marL="0">
              <a:lnSpc>
                <a:spcPct val="109556"/>
              </a:lnSpc>
              <a:buNone/>
            </a:pPr>
            <a:r>
              <a:rPr lang="en-US" sz="25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要写具体 </a:t>
            </a:r>
            <a:pPr algn="l" indent="0" marL="0">
              <a:lnSpc>
                <a:spcPct val="109556"/>
              </a:lnSpc>
              <a:buNone/>
            </a:pPr>
            <a:r>
              <a:rPr lang="en-US" sz="255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，写出读之前不知道、读完知道了的那一条</a:t>
            </a:r>
            <a:endParaRPr lang="en-US" sz="2550" dirty="0"/>
          </a:p>
        </p:txBody>
      </p:sp>
      <p:sp>
        <p:nvSpPr>
          <p:cNvPr id="10" name="Shape 7"/>
          <p:cNvSpPr/>
          <p:nvPr/>
        </p:nvSpPr>
        <p:spPr>
          <a:xfrm>
            <a:off x="1047750" y="4349055"/>
            <a:ext cx="504825" cy="504825"/>
          </a:xfrm>
          <a:prstGeom prst="roundRect">
            <a:avLst>
              <a:gd name="adj" fmla="val 26415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1217861" y="4425255"/>
            <a:ext cx="24080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1800225" y="4425255"/>
            <a:ext cx="9133808" cy="9772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556"/>
              </a:lnSpc>
              <a:buNone/>
            </a:pPr>
            <a:r>
              <a:rPr lang="en-US" sz="255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第二行：“我还想知道……”写一个</a:t>
            </a:r>
            <a:pPr algn="l" indent="0" marL="0">
              <a:lnSpc>
                <a:spcPct val="109556"/>
              </a:lnSpc>
              <a:buNone/>
            </a:pPr>
            <a:r>
              <a:rPr lang="en-US" sz="25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读完还没弄明白的问题 </a:t>
            </a:r>
            <a:pPr algn="l" indent="0" marL="0">
              <a:lnSpc>
                <a:spcPct val="109556"/>
              </a:lnSpc>
              <a:buNone/>
            </a:pPr>
            <a:r>
              <a:rPr lang="en-US" sz="255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：多大、像什么、怎么用，都可以</a:t>
            </a:r>
            <a:endParaRPr lang="en-US" sz="2550" dirty="0"/>
          </a:p>
        </p:txBody>
      </p:sp>
      <p:sp>
        <p:nvSpPr>
          <p:cNvPr id="13" name="Shape 10"/>
          <p:cNvSpPr/>
          <p:nvPr/>
        </p:nvSpPr>
        <p:spPr>
          <a:xfrm>
            <a:off x="1047750" y="5650111"/>
            <a:ext cx="504825" cy="504825"/>
          </a:xfrm>
          <a:prstGeom prst="roundRect">
            <a:avLst>
              <a:gd name="adj" fmla="val 26415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1217861" y="5726311"/>
            <a:ext cx="24080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1800225" y="5726311"/>
            <a:ext cx="5003483" cy="507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556"/>
              </a:lnSpc>
              <a:buNone/>
            </a:pPr>
            <a:r>
              <a:rPr lang="en-US" sz="255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纸条写好，</a:t>
            </a:r>
            <a:pPr algn="l" indent="0" marL="0">
              <a:lnSpc>
                <a:spcPct val="109556"/>
              </a:lnSpc>
              <a:buNone/>
            </a:pPr>
            <a:r>
              <a:rPr lang="en-US" sz="25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夹在稿子里交回给作者</a:t>
            </a:r>
            <a:endParaRPr lang="en-US" sz="255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0" y="3143250"/>
            <a:ext cx="4953000" cy="381000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1047750" y="7610475"/>
            <a:ext cx="16192500" cy="1343025"/>
          </a:xfrm>
          <a:prstGeom prst="roundRect">
            <a:avLst>
              <a:gd name="adj" fmla="val 11348"/>
            </a:avLst>
          </a:prstGeom>
          <a:solidFill>
            <a:srgbClr val="DCE6F5"/>
          </a:solidFill>
          <a:ln/>
        </p:spPr>
        <p:txBody>
          <a:bodyPr/>
          <a:p/>
        </p:txBody>
      </p:sp>
      <p:sp>
        <p:nvSpPr>
          <p:cNvPr id="18" name="Text 14"/>
          <p:cNvSpPr/>
          <p:nvPr/>
        </p:nvSpPr>
        <p:spPr>
          <a:xfrm>
            <a:off x="1428750" y="7839075"/>
            <a:ext cx="15893415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415"/>
              </a:lnSpc>
              <a:buNone/>
            </a:pPr>
            <a:r>
              <a:rPr lang="en-US" sz="2325" b="1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全班交流，这一次请读者说： </a:t>
            </a:r>
            <a:pPr algn="l" indent="0" marL="0">
              <a:lnSpc>
                <a:spcPct val="113415"/>
              </a:lnSpc>
              <a:buNone/>
            </a:pPr>
            <a:r>
              <a:rPr lang="en-US" sz="2325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你读了同桌的介绍，学到了什么，是哪一句让你学到的。读者说完，请作者把那一句读给全班听。</a:t>
            </a:r>
            <a:endParaRPr lang="en-US" sz="2325" dirty="0"/>
          </a:p>
        </p:txBody>
      </p:sp>
      <p:sp>
        <p:nvSpPr>
          <p:cNvPr id="19" name="Text 15"/>
          <p:cNvSpPr/>
          <p:nvPr/>
        </p:nvSpPr>
        <p:spPr>
          <a:xfrm>
            <a:off x="1047750" y="8896350"/>
            <a:ext cx="16678275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读者说“我知道了”，说明作者那一句写清楚了。纸条第一行对应的那一句，就是你这篇里 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写得最清楚的地方 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16764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先判断再改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11006138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66850" y="1581150"/>
            <a:ext cx="11184731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找一句带“很大”“很快”“很多”的句子，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读给作者听</a:t>
            </a:r>
            <a:endParaRPr lang="en-US" sz="3203" dirty="0"/>
          </a:p>
        </p:txBody>
      </p:sp>
      <p:sp>
        <p:nvSpPr>
          <p:cNvPr id="7" name="Shape 4"/>
          <p:cNvSpPr/>
          <p:nvPr/>
        </p:nvSpPr>
        <p:spPr>
          <a:xfrm>
            <a:off x="1047750" y="2857500"/>
            <a:ext cx="16192500" cy="1546622"/>
          </a:xfrm>
          <a:prstGeom prst="roundRect">
            <a:avLst>
              <a:gd name="adj" fmla="val 11085"/>
            </a:avLst>
          </a:prstGeom>
          <a:solidFill>
            <a:srgbClr val="FCF3EE"/>
          </a:solidFill>
          <a:ln w="19050">
            <a:solidFill>
              <a:srgbClr val="F0CBB4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466850" y="3143250"/>
            <a:ext cx="15814929" cy="10132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905"/>
              </a:lnSpc>
              <a:buNone/>
            </a:pPr>
            <a:r>
              <a:rPr lang="en-US" sz="240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这样的句子不算写错，它一句话就把特点说了出来；要看的是</a:t>
            </a:r>
            <a:pPr algn="l" indent="0" marL="0">
              <a:lnSpc>
                <a:spcPct val="121905"/>
              </a:lnSpc>
              <a:buNone/>
            </a:pPr>
            <a:r>
              <a:rPr lang="en-US" sz="24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后面有没有接着把这个特点说清楚 </a:t>
            </a:r>
            <a:pPr algn="l" indent="0" marL="0">
              <a:lnSpc>
                <a:spcPct val="121905"/>
              </a:lnSpc>
              <a:buNone/>
            </a:pPr>
            <a:r>
              <a:rPr lang="en-US" sz="240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。作者听完自己看一看这一段：除了这一句，我有没有再用说明方法说出它到底多大、多快。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1047750" y="4953000"/>
            <a:ext cx="7886700" cy="2657475"/>
          </a:xfrm>
          <a:prstGeom prst="roundRect">
            <a:avLst>
              <a:gd name="adj" fmla="val 6452"/>
            </a:avLst>
          </a:prstGeom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1057275" y="4962525"/>
            <a:ext cx="7867650" cy="733425"/>
          </a:xfrm>
          <a:prstGeom prst="rect">
            <a:avLst/>
          </a:prstGeom>
          <a:solidFill>
            <a:srgbClr val="4E9A57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1362075" y="5133975"/>
            <a:ext cx="7983855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有，这一句就留着</a:t>
            </a:r>
            <a:endParaRPr lang="en-US" sz="2325" dirty="0"/>
          </a:p>
        </p:txBody>
      </p:sp>
      <p:sp>
        <p:nvSpPr>
          <p:cNvPr id="12" name="Shape 9"/>
          <p:cNvSpPr/>
          <p:nvPr/>
        </p:nvSpPr>
        <p:spPr>
          <a:xfrm>
            <a:off x="1057275" y="5695950"/>
            <a:ext cx="7867650" cy="1905000"/>
          </a:xfrm>
          <a:prstGeom prst="rect">
            <a:avLst/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1381125" y="5962650"/>
            <a:ext cx="7436549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它是一句总说。例如：“有，我后面写了 </a:t>
            </a:r>
            <a:pPr algn="l" indent="0" marL="0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2F72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跟乒乓球差不多大 </a:t>
            </a:r>
            <a:pPr algn="l" indent="0" marL="0">
              <a:lnSpc>
                <a:spcPct val="12000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。”</a:t>
            </a:r>
            <a:endParaRPr lang="en-US" sz="2250" dirty="0"/>
          </a:p>
        </p:txBody>
      </p:sp>
      <p:sp>
        <p:nvSpPr>
          <p:cNvPr id="14" name="Shape 11"/>
          <p:cNvSpPr/>
          <p:nvPr/>
        </p:nvSpPr>
        <p:spPr>
          <a:xfrm>
            <a:off x="9353550" y="4953000"/>
            <a:ext cx="7886700" cy="2657475"/>
          </a:xfrm>
          <a:prstGeom prst="roundRect">
            <a:avLst>
              <a:gd name="adj" fmla="val 6452"/>
            </a:avLst>
          </a:prstGeom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>
            <a:off x="9363075" y="4962525"/>
            <a:ext cx="7867650" cy="733425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9667875" y="5133975"/>
            <a:ext cx="7983855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没有，稍后在它后面补上</a:t>
            </a:r>
            <a:endParaRPr lang="en-US" sz="2325" dirty="0"/>
          </a:p>
        </p:txBody>
      </p:sp>
      <p:sp>
        <p:nvSpPr>
          <p:cNvPr id="17" name="Shape 14"/>
          <p:cNvSpPr/>
          <p:nvPr/>
        </p:nvSpPr>
        <p:spPr>
          <a:xfrm>
            <a:off x="9363075" y="5695950"/>
            <a:ext cx="7867650" cy="1905000"/>
          </a:xfrm>
          <a:prstGeom prst="rect">
            <a:avLst/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9686925" y="5962650"/>
            <a:ext cx="7436549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例如：“没有，这一段我只写了‘很大’，我打算补上 </a:t>
            </a:r>
            <a:pPr algn="l" indent="0" marL="0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它有多少厘米 </a:t>
            </a:r>
            <a:pPr algn="l" indent="0" marL="0">
              <a:lnSpc>
                <a:spcPct val="12000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。”</a:t>
            </a:r>
            <a:endParaRPr lang="en-US" sz="2250" dirty="0"/>
          </a:p>
        </p:txBody>
      </p:sp>
      <p:sp>
        <p:nvSpPr>
          <p:cNvPr id="19" name="Text 16"/>
          <p:cNvSpPr/>
          <p:nvPr/>
        </p:nvSpPr>
        <p:spPr>
          <a:xfrm>
            <a:off x="1047750" y="9293423"/>
            <a:ext cx="17811750" cy="517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380"/>
              </a:lnSpc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一句“很大”先给读的人一个印象，后面再用</a:t>
            </a:r>
            <a:pPr algn="l" indent="0" marL="0">
              <a:lnSpc>
                <a:spcPct val="109380"/>
              </a:lnSpc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列数字</a:t>
            </a:r>
            <a:pPr algn="l" indent="0" marL="0">
              <a:lnSpc>
                <a:spcPct val="109380"/>
              </a:lnSpc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或</a:t>
            </a:r>
            <a:pPr algn="l" indent="0" marL="0">
              <a:lnSpc>
                <a:spcPct val="109380"/>
              </a:lnSpc>
              <a:buNone/>
            </a:pPr>
            <a:r>
              <a:rPr lang="en-US" sz="2603" b="1" dirty="0">
                <a:solidFill>
                  <a:srgbClr val="2F72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作比较</a:t>
            </a:r>
            <a:pPr algn="l" indent="0" marL="0">
              <a:lnSpc>
                <a:spcPct val="109380"/>
              </a:lnSpc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把它说清楚，读的人就知道它到底有多大了。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134112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修改收束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6939111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66850" y="1581150"/>
            <a:ext cx="6711002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拿回自己的稿子，对着纸条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改两处</a:t>
            </a:r>
            <a:endParaRPr lang="en-US" sz="3203" dirty="0"/>
          </a:p>
        </p:txBody>
      </p:sp>
      <p:sp>
        <p:nvSpPr>
          <p:cNvPr id="7" name="Text 4"/>
          <p:cNvSpPr/>
          <p:nvPr/>
        </p:nvSpPr>
        <p:spPr>
          <a:xfrm>
            <a:off x="1047750" y="2857500"/>
            <a:ext cx="73342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改两处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1047750" y="3467100"/>
            <a:ext cx="6667500" cy="1579066"/>
          </a:xfrm>
          <a:prstGeom prst="roundRect">
            <a:avLst>
              <a:gd name="adj" fmla="val 8445"/>
            </a:avLst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333500" y="3676650"/>
            <a:ext cx="6278880" cy="119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730"/>
              </a:lnSpc>
              <a:buNone/>
            </a:pPr>
            <a:r>
              <a:rPr lang="en-US" sz="21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第一处 </a:t>
            </a:r>
            <a:pPr algn="l" indent="0" marL="0">
              <a:lnSpc>
                <a:spcPct val="109730"/>
              </a:lnSpc>
              <a:buNone/>
            </a:pPr>
            <a:r>
              <a:rPr lang="en-US" sz="210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看纸条第二行，同桌还想知道的问题属于哪个方面，就在那一段里补一两句答上；不属于已有方面的，另起一段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1047750" y="5236666"/>
            <a:ext cx="6667500" cy="1579066"/>
          </a:xfrm>
          <a:prstGeom prst="roundRect">
            <a:avLst>
              <a:gd name="adj" fmla="val 8445"/>
            </a:avLst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1333500" y="5446216"/>
            <a:ext cx="6278880" cy="11980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730"/>
              </a:lnSpc>
              <a:buNone/>
            </a:pPr>
            <a:r>
              <a:rPr lang="en-US" sz="21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第二处 </a:t>
            </a:r>
            <a:pPr algn="l" indent="0" marL="0">
              <a:lnSpc>
                <a:spcPct val="109730"/>
              </a:lnSpc>
              <a:buNone/>
            </a:pPr>
            <a:r>
              <a:rPr lang="en-US" sz="210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刚才同桌读给你听的那一句“很大”“很快”，在它后面用上一种说明方法：列数字，或者作比较；原来那句留着</a:t>
            </a:r>
            <a:endParaRPr lang="en-US" sz="2100" dirty="0"/>
          </a:p>
        </p:txBody>
      </p:sp>
      <p:sp>
        <p:nvSpPr>
          <p:cNvPr id="12" name="Shape 9"/>
          <p:cNvSpPr/>
          <p:nvPr/>
        </p:nvSpPr>
        <p:spPr>
          <a:xfrm>
            <a:off x="1047750" y="7006233"/>
            <a:ext cx="6667500" cy="805755"/>
          </a:xfrm>
          <a:prstGeom prst="roundRect">
            <a:avLst>
              <a:gd name="adj" fmla="val 16550"/>
            </a:avLst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1333500" y="7215783"/>
            <a:ext cx="6705600" cy="4247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730"/>
              </a:lnSpc>
              <a:buNone/>
            </a:pPr>
            <a:r>
              <a:rPr lang="en-US" sz="21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修改符号</a:t>
            </a:r>
            <a:pPr algn="l" indent="0" marL="0">
              <a:lnSpc>
                <a:spcPct val="109730"/>
              </a:lnSpc>
              <a:buNone/>
            </a:pPr>
            <a:r>
              <a:rPr lang="en-US" sz="210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多的字圈掉，漏的字补上，错的字改正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8667750" y="2857500"/>
            <a:ext cx="94297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对照三档标准，从下往上看</a:t>
            </a:r>
            <a:endParaRPr lang="en-US" sz="2400" dirty="0"/>
          </a:p>
        </p:txBody>
      </p:sp>
      <p:sp>
        <p:nvSpPr>
          <p:cNvPr id="15" name="Shape 12"/>
          <p:cNvSpPr/>
          <p:nvPr/>
        </p:nvSpPr>
        <p:spPr>
          <a:xfrm>
            <a:off x="8667750" y="3467100"/>
            <a:ext cx="8572500" cy="702915"/>
          </a:xfrm>
          <a:prstGeom prst="roundRect">
            <a:avLst>
              <a:gd name="adj" fmla="val 13551"/>
            </a:avLst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8667750" y="3467100"/>
            <a:ext cx="76200" cy="702915"/>
          </a:xfrm>
          <a:prstGeom prst="rect">
            <a:avLst/>
          </a:prstGeom>
          <a:solidFill>
            <a:srgbClr val="9AA6B6"/>
          </a:solidFill>
          <a:ln/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9010650" y="3638550"/>
            <a:ext cx="8759190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0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基础过关</a:t>
            </a:r>
            <a:pPr algn="l" indent="0" marL="0">
              <a:lnSpc>
                <a:spcPct val="105000"/>
              </a:lnSpc>
              <a:buNone/>
            </a:pPr>
            <a:r>
              <a:rPr lang="en-US" sz="202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能介绍这种事物的基本特点，分了段，语句通顺</a:t>
            </a:r>
            <a:endParaRPr lang="en-US" sz="2025" dirty="0"/>
          </a:p>
        </p:txBody>
      </p:sp>
      <p:sp>
        <p:nvSpPr>
          <p:cNvPr id="18" name="Shape 15"/>
          <p:cNvSpPr/>
          <p:nvPr/>
        </p:nvSpPr>
        <p:spPr>
          <a:xfrm>
            <a:off x="8667750" y="4341465"/>
            <a:ext cx="8572500" cy="1062930"/>
          </a:xfrm>
          <a:prstGeom prst="roundRect">
            <a:avLst>
              <a:gd name="adj" fmla="val 8961"/>
            </a:avLst>
          </a:prstGeom>
          <a:solidFill>
            <a:srgbClr val="FBF3E6"/>
          </a:solidFill>
          <a:ln/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8667750" y="4341465"/>
            <a:ext cx="76200" cy="1062930"/>
          </a:xfrm>
          <a:prstGeom prst="rect">
            <a:avLst/>
          </a:prstGeom>
          <a:solidFill>
            <a:srgbClr val="E0A43B"/>
          </a:solidFill>
          <a:ln/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9010650" y="4512915"/>
            <a:ext cx="8201787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0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良好达标 </a:t>
            </a:r>
            <a:pPr algn="l" indent="0" marL="0">
              <a:lnSpc>
                <a:spcPct val="105000"/>
              </a:lnSpc>
              <a:buNone/>
            </a:pPr>
            <a:r>
              <a:rPr lang="en-US" sz="202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从两三个方面分段介绍，每段开头大体点明了方面；用了一两种说明方法；数字和比较大体准确</a:t>
            </a:r>
            <a:endParaRPr lang="en-US" sz="2025" dirty="0"/>
          </a:p>
        </p:txBody>
      </p:sp>
      <p:sp>
        <p:nvSpPr>
          <p:cNvPr id="21" name="Shape 18"/>
          <p:cNvSpPr/>
          <p:nvPr/>
        </p:nvSpPr>
        <p:spPr>
          <a:xfrm>
            <a:off x="8667750" y="5575846"/>
            <a:ext cx="8572500" cy="1422946"/>
          </a:xfrm>
          <a:prstGeom prst="roundRect">
            <a:avLst>
              <a:gd name="adj" fmla="val 6694"/>
            </a:avLst>
          </a:prstGeom>
          <a:solidFill>
            <a:srgbClr val="FCE7EA"/>
          </a:solidFill>
          <a:ln/>
        </p:spPr>
        <p:txBody>
          <a:bodyPr/>
          <a:p/>
        </p:txBody>
      </p:sp>
      <p:sp>
        <p:nvSpPr>
          <p:cNvPr id="22" name="Shape 19"/>
          <p:cNvSpPr/>
          <p:nvPr/>
        </p:nvSpPr>
        <p:spPr>
          <a:xfrm>
            <a:off x="8667750" y="5575846"/>
            <a:ext cx="76200" cy="1422946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9010650" y="5747296"/>
            <a:ext cx="8201787" cy="11181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0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优秀进阶 </a:t>
            </a:r>
            <a:pPr algn="l" indent="0" marL="0">
              <a:lnSpc>
                <a:spcPct val="105000"/>
              </a:lnSpc>
              <a:buNone/>
            </a:pPr>
            <a:r>
              <a:rPr lang="en-US" sz="202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三个方面以上分段有条理，每段开头点明了方面；说明方法用得恰当，不止一种；数字准确，拿不准的标了“大约”；同桌问的问题在文中得到了回答；感受适当写了几句，没有把介绍挤掉</a:t>
            </a:r>
            <a:endParaRPr lang="en-US" sz="2025" dirty="0"/>
          </a:p>
        </p:txBody>
      </p:sp>
      <p:sp>
        <p:nvSpPr>
          <p:cNvPr id="24" name="Text 21"/>
          <p:cNvSpPr/>
          <p:nvPr/>
        </p:nvSpPr>
        <p:spPr>
          <a:xfrm>
            <a:off x="8667750" y="7170241"/>
            <a:ext cx="8829675" cy="7837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750"/>
              </a:lnSpc>
              <a:buNone/>
            </a:pPr>
            <a:r>
              <a:rPr lang="en-US" sz="2025" dirty="0">
                <a:solidFill>
                  <a:srgbClr val="5B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写做法的（怎样泡酸菜、溜溜球怎么玩）：把“方面”换成“步骤”来看，一步一段，先后顺序正确，需要说清楚的地方用了说明方法。</a:t>
            </a:r>
            <a:endParaRPr lang="en-US" sz="2025" dirty="0"/>
          </a:p>
        </p:txBody>
      </p:sp>
      <p:sp>
        <p:nvSpPr>
          <p:cNvPr id="25" name="Text 22"/>
          <p:cNvSpPr/>
          <p:nvPr/>
        </p:nvSpPr>
        <p:spPr>
          <a:xfrm>
            <a:off x="1047750" y="8915400"/>
            <a:ext cx="16678275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同桌问的问题自己回答不出来？可以写“大约”，或者写明“这一点我还没有弄清楚”。 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如实说自己还不知道，比凭空编一个数字好 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6858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收束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28750"/>
            <a:ext cx="6939111" cy="833438"/>
          </a:xfrm>
          <a:prstGeom prst="roundRect">
            <a:avLst>
              <a:gd name="adj" fmla="val 2285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66850" y="1581150"/>
            <a:ext cx="6711002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把同桌写的纸条</a:t>
            </a:r>
            <a:pPr algn="l" indent="0" marL="0">
              <a:lnSpc>
                <a:spcPct val="99125"/>
              </a:lnSpc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夹回自己的稿子里</a:t>
            </a:r>
            <a:endParaRPr lang="en-US" sz="3203" dirty="0"/>
          </a:p>
        </p:txBody>
      </p:sp>
      <p:sp>
        <p:nvSpPr>
          <p:cNvPr id="7" name="Shape 4"/>
          <p:cNvSpPr/>
          <p:nvPr/>
        </p:nvSpPr>
        <p:spPr>
          <a:xfrm>
            <a:off x="1047750" y="3448050"/>
            <a:ext cx="152400" cy="152400"/>
          </a:xfrm>
          <a:prstGeom prst="ellipse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1409700" y="3295650"/>
            <a:ext cx="8916353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265"/>
              </a:lnSpc>
              <a:buNone/>
            </a:pPr>
            <a:r>
              <a:rPr lang="en-US" sz="277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纸条第一行，是别人从你这篇介绍里</a:t>
            </a:r>
            <a:pPr algn="l" indent="0" marL="0">
              <a:lnSpc>
                <a:spcPct val="113265"/>
              </a:lnSpc>
              <a:buNone/>
            </a:pPr>
            <a:r>
              <a:rPr lang="en-US" sz="277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真正学到的知识</a:t>
            </a:r>
            <a:endParaRPr lang="en-US" sz="2775" dirty="0"/>
          </a:p>
        </p:txBody>
      </p:sp>
      <p:sp>
        <p:nvSpPr>
          <p:cNvPr id="9" name="Shape 6"/>
          <p:cNvSpPr/>
          <p:nvPr/>
        </p:nvSpPr>
        <p:spPr>
          <a:xfrm>
            <a:off x="1047750" y="4357688"/>
            <a:ext cx="152400" cy="152400"/>
          </a:xfrm>
          <a:prstGeom prst="ellipse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1409700" y="4205288"/>
            <a:ext cx="10079355" cy="566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265"/>
              </a:lnSpc>
              <a:buNone/>
            </a:pPr>
            <a:r>
              <a:rPr lang="en-US" sz="277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纸条第二行，是你刚才已经补上、或者</a:t>
            </a:r>
            <a:pPr algn="l" indent="0" marL="0">
              <a:lnSpc>
                <a:spcPct val="113265"/>
              </a:lnSpc>
              <a:buNone/>
            </a:pPr>
            <a:r>
              <a:rPr lang="en-US" sz="277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下次再写清楚的地方</a:t>
            </a:r>
            <a:endParaRPr lang="en-US" sz="2775" dirty="0"/>
          </a:p>
        </p:txBody>
      </p:sp>
      <p:sp>
        <p:nvSpPr>
          <p:cNvPr id="11" name="Shape 8"/>
          <p:cNvSpPr/>
          <p:nvPr/>
        </p:nvSpPr>
        <p:spPr>
          <a:xfrm>
            <a:off x="1047750" y="5267325"/>
            <a:ext cx="152400" cy="152400"/>
          </a:xfrm>
          <a:prstGeom prst="ellipse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1409700" y="5114925"/>
            <a:ext cx="9437942" cy="1095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265"/>
              </a:lnSpc>
              <a:buNone/>
            </a:pPr>
            <a:r>
              <a:rPr lang="en-US" sz="277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第一节课老师说过，写完以后同桌会给你写一张纸条。 </a:t>
            </a:r>
            <a:pPr algn="l" indent="0" marL="0">
              <a:lnSpc>
                <a:spcPct val="113265"/>
              </a:lnSpc>
              <a:buNone/>
            </a:pPr>
            <a:r>
              <a:rPr lang="en-US" sz="277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现在它在你手里了</a:t>
            </a:r>
            <a:endParaRPr lang="en-US" sz="2775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96750" y="3429000"/>
            <a:ext cx="4953000" cy="47625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047750" y="9334500"/>
            <a:ext cx="178117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介绍一种事物：</a:t>
            </a:r>
            <a:pPr algn="l" indent="0" marL="0"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分方面写，一段一个方面；用说明方法把特点说清楚</a:t>
            </a:r>
            <a:pPr algn="l" indent="0" marL="0"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，让不了解它的人读完就认识它。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</p:sp>
      <p:sp>
        <p:nvSpPr>
          <p:cNvPr id="3" name="Text 1"/>
          <p:cNvSpPr/>
          <p:nvPr/>
        </p:nvSpPr>
        <p:spPr>
          <a:xfrm>
            <a:off x="1219200" y="609600"/>
            <a:ext cx="2023467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 · 习作讲评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7750" y="1409700"/>
            <a:ext cx="8504039" cy="838200"/>
          </a:xfrm>
          <a:prstGeom prst="roundRect">
            <a:avLst>
              <a:gd name="adj" fmla="val 22727"/>
            </a:avLst>
          </a:prstGeom>
          <a:solidFill>
            <a:srgbClr val="FCE7EA"/>
          </a:solidFill>
          <a:ln/>
        </p:spPr>
      </p:sp>
      <p:sp>
        <p:nvSpPr>
          <p:cNvPr id="6" name="Text 3"/>
          <p:cNvSpPr/>
          <p:nvPr/>
        </p:nvSpPr>
        <p:spPr>
          <a:xfrm>
            <a:off x="1428750" y="1562100"/>
            <a:ext cx="8516243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203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习作讲评环节</a:t>
            </a:r>
            <a:pPr algn="l" indent="0" marL="0">
              <a:buNone/>
            </a:pPr>
            <a:r>
              <a:rPr lang="en-US" sz="32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（可选 · 课后或下次课开场）</a:t>
            </a:r>
            <a:endParaRPr lang="en-US" sz="3203" dirty="0"/>
          </a:p>
        </p:txBody>
      </p:sp>
      <p:sp>
        <p:nvSpPr>
          <p:cNvPr id="7" name="Text 4"/>
          <p:cNvSpPr/>
          <p:nvPr/>
        </p:nvSpPr>
        <p:spPr>
          <a:xfrm>
            <a:off x="1047750" y="2571750"/>
            <a:ext cx="16678275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250" dirty="0">
                <a:solidFill>
                  <a:srgbClr val="8A92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选三篇投屏（不显示姓名），每篇约 3–5 分钟，只看一件事：能不能让不了解这种事物的人读完就认识它。＿＿＿处换成本班学生的真实句子。</a:t>
            </a:r>
            <a:endParaRPr lang="en-US" sz="2250" dirty="0"/>
          </a:p>
        </p:txBody>
      </p:sp>
      <p:sp>
        <p:nvSpPr>
          <p:cNvPr id="8" name="Shape 5"/>
          <p:cNvSpPr/>
          <p:nvPr/>
        </p:nvSpPr>
        <p:spPr>
          <a:xfrm>
            <a:off x="1047750" y="3429000"/>
            <a:ext cx="5181600" cy="4348758"/>
          </a:xfrm>
          <a:prstGeom prst="roundRect">
            <a:avLst>
              <a:gd name="adj" fmla="val 3943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1057275" y="3438525"/>
            <a:ext cx="5162550" cy="762000"/>
          </a:xfrm>
          <a:prstGeom prst="rect">
            <a:avLst/>
          </a:prstGeom>
          <a:solidFill>
            <a:srgbClr val="4E9A57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1323975" y="3629025"/>
            <a:ext cx="509206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好的一篇</a:t>
            </a:r>
            <a:endParaRPr lang="en-US" sz="2250" dirty="0"/>
          </a:p>
        </p:txBody>
      </p:sp>
      <p:sp>
        <p:nvSpPr>
          <p:cNvPr id="11" name="Text 8"/>
          <p:cNvSpPr/>
          <p:nvPr/>
        </p:nvSpPr>
        <p:spPr>
          <a:xfrm>
            <a:off x="1343025" y="4486275"/>
            <a:ext cx="4745926" cy="30343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256"/>
              </a:lnSpc>
              <a:buNone/>
            </a:pPr>
            <a:r>
              <a:rPr lang="en-US" sz="217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三个以上方面分段有条理，每段开头点明方面，数字准确或标了“大约”。 读最清楚的一段，问：这一段读完，你知道了什么？ </a:t>
            </a:r>
            <a:pPr algn="l" indent="0" marL="0">
              <a:lnSpc>
                <a:spcPct val="115256"/>
              </a:lnSpc>
              <a:buNone/>
            </a:pPr>
            <a:r>
              <a:rPr lang="en-US" sz="217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既写出了数字，又拿熟悉的事物比 </a:t>
            </a:r>
            <a:pPr algn="l" indent="0" marL="0">
              <a:lnSpc>
                <a:spcPct val="115256"/>
              </a:lnSpc>
              <a:buNone/>
            </a:pPr>
            <a:r>
              <a:rPr lang="en-US" sz="217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175" dirty="0"/>
          </a:p>
        </p:txBody>
      </p:sp>
      <p:sp>
        <p:nvSpPr>
          <p:cNvPr id="12" name="Shape 9"/>
          <p:cNvSpPr/>
          <p:nvPr/>
        </p:nvSpPr>
        <p:spPr>
          <a:xfrm>
            <a:off x="6553200" y="3429000"/>
            <a:ext cx="5181600" cy="4348758"/>
          </a:xfrm>
          <a:prstGeom prst="roundRect">
            <a:avLst>
              <a:gd name="adj" fmla="val 3943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6562725" y="3438525"/>
            <a:ext cx="5162550" cy="762000"/>
          </a:xfrm>
          <a:prstGeom prst="rect">
            <a:avLst/>
          </a:prstGeom>
          <a:solidFill>
            <a:srgbClr val="E0A43B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6829425" y="3629025"/>
            <a:ext cx="509206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中等的一篇</a:t>
            </a:r>
            <a:endParaRPr lang="en-US" sz="2250" dirty="0"/>
          </a:p>
        </p:txBody>
      </p:sp>
      <p:sp>
        <p:nvSpPr>
          <p:cNvPr id="15" name="Text 12"/>
          <p:cNvSpPr/>
          <p:nvPr/>
        </p:nvSpPr>
        <p:spPr>
          <a:xfrm>
            <a:off x="6848475" y="4486275"/>
            <a:ext cx="4745926" cy="30343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256"/>
              </a:lnSpc>
              <a:buNone/>
            </a:pPr>
            <a:r>
              <a:rPr lang="en-US" sz="217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方面分清了，但有一两个方面只写了“很大”“很好用”，后面没有再说清楚。 全班帮他补一句： </a:t>
            </a:r>
            <a:pPr algn="l" indent="0" marL="0">
              <a:lnSpc>
                <a:spcPct val="115256"/>
              </a:lnSpc>
              <a:buNone/>
            </a:pPr>
            <a:r>
              <a:rPr lang="en-US" sz="217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列数字写出它到底多大，或者作比较拿熟悉的事物比一比 </a:t>
            </a:r>
            <a:pPr algn="l" indent="0" marL="0">
              <a:lnSpc>
                <a:spcPct val="115256"/>
              </a:lnSpc>
              <a:buNone/>
            </a:pPr>
            <a:r>
              <a:rPr lang="en-US" sz="217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175" dirty="0"/>
          </a:p>
        </p:txBody>
      </p:sp>
      <p:sp>
        <p:nvSpPr>
          <p:cNvPr id="16" name="Shape 13"/>
          <p:cNvSpPr/>
          <p:nvPr/>
        </p:nvSpPr>
        <p:spPr>
          <a:xfrm>
            <a:off x="12058650" y="3429000"/>
            <a:ext cx="5181600" cy="4348758"/>
          </a:xfrm>
          <a:prstGeom prst="roundRect">
            <a:avLst>
              <a:gd name="adj" fmla="val 3943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17" name="Shape 14"/>
          <p:cNvSpPr/>
          <p:nvPr/>
        </p:nvSpPr>
        <p:spPr>
          <a:xfrm>
            <a:off x="12068175" y="3438525"/>
            <a:ext cx="5162550" cy="76200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12334875" y="3629025"/>
            <a:ext cx="509206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待改进的一篇</a:t>
            </a:r>
            <a:endParaRPr lang="en-US" sz="2250" dirty="0"/>
          </a:p>
        </p:txBody>
      </p:sp>
      <p:sp>
        <p:nvSpPr>
          <p:cNvPr id="19" name="Text 16"/>
          <p:cNvSpPr/>
          <p:nvPr/>
        </p:nvSpPr>
        <p:spPr>
          <a:xfrm>
            <a:off x="12353925" y="4486275"/>
            <a:ext cx="4745926" cy="30343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256"/>
              </a:lnSpc>
              <a:buNone/>
            </a:pPr>
            <a:r>
              <a:rPr lang="en-US" sz="217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写成了“我和它的故事”，或者每一段都是感受，读完还是不认识这种事物。 讨论： </a:t>
            </a:r>
            <a:pPr algn="l" indent="0" marL="0">
              <a:lnSpc>
                <a:spcPct val="115256"/>
              </a:lnSpc>
              <a:buNone/>
            </a:pPr>
            <a:r>
              <a:rPr lang="en-US" sz="217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哪一件事可以留下来当例子？前面还需要补上样子和用法 </a:t>
            </a:r>
            <a:pPr algn="l" indent="0" marL="0">
              <a:lnSpc>
                <a:spcPct val="115256"/>
              </a:lnSpc>
              <a:buNone/>
            </a:pPr>
            <a:r>
              <a:rPr lang="en-US" sz="217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175" dirty="0"/>
          </a:p>
        </p:txBody>
      </p:sp>
      <p:sp>
        <p:nvSpPr>
          <p:cNvPr id="20" name="Text 17"/>
          <p:cNvSpPr/>
          <p:nvPr/>
        </p:nvSpPr>
        <p:spPr>
          <a:xfrm>
            <a:off x="1047750" y="9312473"/>
            <a:ext cx="17811750" cy="5173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380"/>
              </a:lnSpc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收尾点回：以后介绍一种植物、一样家电或一种做法，</a:t>
            </a:r>
            <a:pPr algn="l" indent="0" marL="0">
              <a:lnSpc>
                <a:spcPct val="109380"/>
              </a:lnSpc>
              <a:buNone/>
            </a:pPr>
            <a:r>
              <a:rPr lang="en-US" sz="2603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先想读的人会问什么，再用说明方法把它答清楚</a:t>
            </a:r>
            <a:pPr algn="l" indent="0" marL="0">
              <a:lnSpc>
                <a:spcPct val="109380"/>
              </a:lnSpc>
              <a:buNone/>
            </a:pPr>
            <a:r>
              <a:rPr lang="en-US" sz="2603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603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800100" y="800100"/>
            <a:ext cx="16687800" cy="8686800"/>
          </a:xfrm>
          <a:prstGeom prst="roundRect">
            <a:avLst>
              <a:gd name="adj" fmla="val 1754"/>
            </a:avLst>
          </a:prstGeom>
          <a:gradFill rotWithShape="1">
            <a:gsLst>
              <a:gs pos="0">
                <a:srgbClr val="6FB8AD">
                  <a:alpha val="100000"/>
                </a:srgbClr>
              </a:gs>
              <a:gs pos="60000">
                <a:srgbClr val="4E93A0">
                  <a:alpha val="100000"/>
                </a:srgbClr>
              </a:gs>
              <a:gs pos="100000">
                <a:srgbClr val="3D6E82">
                  <a:alpha val="100000"/>
                </a:srgbClr>
              </a:gs>
            </a:gsLst>
            <a:lin ang="1800000" scaled="0"/>
          </a:gra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943100" y="3657600"/>
            <a:ext cx="12573000" cy="1900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277"/>
              </a:lnSpc>
              <a:buNone/>
            </a:pPr>
            <a:r>
              <a:rPr lang="en-US" sz="12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 END</a:t>
            </a:r>
            <a:endParaRPr lang="en-US" sz="12750" dirty="0"/>
          </a:p>
        </p:txBody>
      </p:sp>
      <p:sp>
        <p:nvSpPr>
          <p:cNvPr id="5" name="Text 3"/>
          <p:cNvSpPr/>
          <p:nvPr/>
        </p:nvSpPr>
        <p:spPr>
          <a:xfrm>
            <a:off x="2057400" y="5676900"/>
            <a:ext cx="15716250" cy="581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2850" dirty="0">
                <a:solidFill>
                  <a:srgbClr val="FFFFFF">
                    <a:alpha val="9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介绍一种事物：分方面写，一段一个方面；用说明方法把特点说清楚。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13792200" y="8058150"/>
            <a:ext cx="20955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下一次再见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15925800" y="8039100"/>
            <a:ext cx="419100" cy="5334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25800" y="8039100"/>
            <a:ext cx="419100" cy="5334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2038350" y="7924800"/>
            <a:ext cx="1796802" cy="762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8850" y="8039100"/>
            <a:ext cx="1415802" cy="533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2026-09-22T07:35:39Z</dcterms:created>
  <dcterms:modified xsi:type="dcterms:W3CDTF">2026-09-22T07:35:39Z</dcterms:modified>
</cp:coreProperties>
</file>