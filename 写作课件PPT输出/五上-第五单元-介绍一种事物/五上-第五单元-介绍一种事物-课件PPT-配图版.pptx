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85" r:id="rId28"/>
    <p:sldId id="279" r:id="rId29"/>
    <p:sldId id="280" r:id="rId30"/>
    <p:sldId id="281" r:id="rId31"/>
    <p:sldId id="282" r:id="rId32"/>
    <p:sldId id="284" r:id="rId33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0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2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4.png"/><Relationship Id="rId8" Type="http://schemas.openxmlformats.org/officeDocument/2006/relationships/image" Target="../media/image5.png"/><Relationship Id="rId9" Type="http://schemas.openxmlformats.org/officeDocument/2006/relationships/image" Target="../media/image6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2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3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5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6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7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8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9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0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2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3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71589" y="323850"/>
            <a:ext cx="1668661" cy="6286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57250" y="1143000"/>
            <a:ext cx="16573500" cy="5715000"/>
          </a:xfrm>
          <a:prstGeom prst="roundRect">
            <a:avLst>
              <a:gd name="adj" fmla="val 2667"/>
            </a:avLst>
          </a:prstGeom>
          <a:gradFill rotWithShape="1">
            <a:gsLst>
              <a:gs pos="0">
                <a:srgbClr val="EE7B2E">
                  <a:alpha val="100000"/>
                </a:srgbClr>
              </a:gs>
              <a:gs pos="42000">
                <a:srgbClr val="F0A63C">
                  <a:alpha val="100000"/>
                </a:srgbClr>
              </a:gs>
              <a:gs pos="100000">
                <a:srgbClr val="57B0A6">
                  <a:alpha val="100000"/>
                </a:srgbClr>
              </a:gs>
            </a:gsLst>
            <a:lin ang="900000" scaled="0"/>
          </a:gradFill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2952750" y="1428750"/>
            <a:ext cx="3429000" cy="3429000"/>
          </a:xfrm>
          <a:prstGeom prst="ellipse">
            <a:avLst/>
          </a:prstGeom>
          <a:solidFill>
            <a:srgbClr val="FFFFFF">
              <a:alpha val="10000"/>
            </a:srgbClr>
          </a:solidFill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5810250" y="4191000"/>
            <a:ext cx="4095750" cy="4095750"/>
          </a:xfrm>
          <a:prstGeom prst="ellipse">
            <a:avLst/>
          </a:prstGeom>
          <a:solidFill>
            <a:srgbClr val="FFFFFF">
              <a:alpha val="8000"/>
            </a:srgbClr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3810000" y="2667000"/>
            <a:ext cx="11734800" cy="14430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850" b="1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介绍一种事物</a:t>
            </a:r>
            <a:endParaRPr lang="en-US" sz="8850" dirty="0"/>
          </a:p>
        </p:txBody>
      </p:sp>
      <p:sp>
        <p:nvSpPr>
          <p:cNvPr id="7" name="Text 4"/>
          <p:cNvSpPr/>
          <p:nvPr/>
        </p:nvSpPr>
        <p:spPr>
          <a:xfrm>
            <a:off x="3848100" y="4476750"/>
            <a:ext cx="11734800" cy="5715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000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五年级上册 · 第五单元 · 校内同步写作（说明文）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0" y="2857500"/>
            <a:ext cx="1066800" cy="1333500"/>
          </a:xfrm>
          <a:prstGeom prst="rect">
            <a:avLst/>
          </a:prstGeom>
          <a:solidFill>
            <a:srgbClr val="3D4A63"/>
          </a:solidFill>
        </p:spPr>
        <p:txBody>
          <a:bodyPr/>
          <a:p/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00"/>
            <a:ext cx="1066800" cy="1333500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5498" y="4206240"/>
            <a:ext cx="5082501" cy="6080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47750" y="8943975"/>
            <a:ext cx="3574956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五年级上册 · 第五单元</a:t>
            </a:r>
            <a:endParaRPr lang="en-US" sz="2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</p:sp>
      <p:sp>
        <p:nvSpPr>
          <p:cNvPr id="3" name="Shape 1"/>
          <p:cNvSpPr/>
          <p:nvPr/>
        </p:nvSpPr>
        <p:spPr>
          <a:xfrm>
            <a:off x="800100" y="800100"/>
            <a:ext cx="16687800" cy="8686800"/>
          </a:xfrm>
          <a:prstGeom prst="roundRect">
            <a:avLst>
              <a:gd name="adj" fmla="val 1754"/>
            </a:avLst>
          </a:prstGeom>
          <a:solidFill>
            <a:srgbClr val="B8893A"/>
          </a:solidFill>
        </p:spPr>
      </p:sp>
      <p:sp>
        <p:nvSpPr>
          <p:cNvPr id="4" name="Text 2"/>
          <p:cNvSpPr/>
          <p:nvPr/>
        </p:nvSpPr>
        <p:spPr>
          <a:xfrm>
            <a:off x="2038350" y="3181350"/>
            <a:ext cx="6286500" cy="21193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14250" b="1" dirty="0">
                <a:solidFill>
                  <a:srgbClr val="FFFFFF">
                    <a:alpha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4250" dirty="0"/>
          </a:p>
        </p:txBody>
      </p:sp>
      <p:sp>
        <p:nvSpPr>
          <p:cNvPr id="5" name="Text 3"/>
          <p:cNvSpPr/>
          <p:nvPr/>
        </p:nvSpPr>
        <p:spPr>
          <a:xfrm>
            <a:off x="2228850" y="5676900"/>
            <a:ext cx="14668500" cy="781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写作指导课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2247900" y="6572250"/>
            <a:ext cx="14668500" cy="5238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550" dirty="0">
                <a:solidFill>
                  <a:srgbClr val="FFFFFF">
                    <a:alpha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听介绍猜事物 · 选定事物试讲 · 学写法 · 写作构思表 · 教师示范文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2038350" y="7924800"/>
            <a:ext cx="1796802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8850" y="8039100"/>
            <a:ext cx="141580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底带"/>
          <p:cNvSpPr/>
          <p:nvPr/>
        </p:nvSpPr>
        <p:spPr>
          <a:xfrm>
            <a:off x="0" y="5897880"/>
            <a:ext cx="18288000" cy="3246120"/>
          </a:xfrm>
          <a:prstGeom prst="rect">
            <a:avLst/>
          </a:prstGeom>
          <a:solidFill>
            <a:srgbClr val="FFF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创设情境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FFF3D6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7605683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听老师介绍一种事物，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猜一猜它是什么</a:t>
            </a:r>
            <a:endParaRPr lang="en-US" sz="3205" dirty="0"/>
          </a:p>
        </p:txBody>
      </p:sp>
      <p:sp>
        <p:nvSpPr>
          <p:cNvPr id="7" name="Shape 4"/>
          <p:cNvSpPr/>
          <p:nvPr/>
        </p:nvSpPr>
        <p:spPr>
          <a:xfrm>
            <a:off x="1162050" y="2433638"/>
            <a:ext cx="742950" cy="66675"/>
          </a:xfrm>
          <a:prstGeom prst="roundRect">
            <a:avLst>
              <a:gd name="adj" fmla="val 50000"/>
            </a:avLst>
          </a:prstGeom>
          <a:solidFill>
            <a:srgbClr val="C0392B"/>
          </a:solidFill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7498079" y="3143250"/>
            <a:ext cx="9906000" cy="2630686"/>
          </a:xfrm>
          <a:prstGeom prst="roundRect">
            <a:avLst>
              <a:gd name="adj" fmla="val 10138"/>
            </a:avLst>
          </a:prstGeom>
          <a:solidFill>
            <a:srgbClr val="EAF1FB"/>
          </a:solidFill>
          <a:ln w="19050">
            <a:solidFill>
              <a:srgbClr val="C3D6F0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7227570" y="3829050"/>
            <a:ext cx="304800" cy="457200"/>
          </a:xfrm>
          <a:prstGeom prst="rect">
            <a:avLst/>
          </a:prstGeom>
          <a:solidFill>
            <a:srgbClr val="EAF1FB"/>
          </a:solidFill>
        </p:spPr>
        <p:txBody>
          <a:bodyPr/>
          <a:p/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570" y="3829050"/>
            <a:ext cx="3048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989570" y="3562350"/>
            <a:ext cx="9806940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8A92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老师先说三句</a:t>
            </a:r>
            <a:endParaRPr lang="en-US" sz="2325" dirty="0"/>
          </a:p>
        </p:txBody>
      </p:sp>
      <p:sp>
        <p:nvSpPr>
          <p:cNvPr id="12" name="Text 8"/>
          <p:cNvSpPr/>
          <p:nvPr/>
        </p:nvSpPr>
        <p:spPr>
          <a:xfrm>
            <a:off x="7989570" y="4124325"/>
            <a:ext cx="9182862" cy="126861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28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</a:t>
            </a:r>
            <a:r>
              <a:rPr lang="en-US" sz="28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个头不小</a:t>
            </a:r>
            <a:r>
              <a:rPr lang="en-US" sz="28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，很轻。样子</a:t>
            </a:r>
            <a:r>
              <a:rPr lang="en-US" sz="28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挺好看的</a:t>
            </a:r>
            <a:r>
              <a:rPr lang="en-US" sz="28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，平时玩的时候用得着。很多同学都玩过它。</a:t>
            </a:r>
            <a:endParaRPr lang="en-US" sz="2850" dirty="0"/>
          </a:p>
        </p:txBody>
      </p:sp>
      <p:sp>
        <p:nvSpPr>
          <p:cNvPr id="13" name="Shape 9"/>
          <p:cNvSpPr/>
          <p:nvPr/>
        </p:nvSpPr>
        <p:spPr>
          <a:xfrm>
            <a:off x="7494270" y="6307336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7856220" y="6154936"/>
            <a:ext cx="6789420" cy="53518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听完三句，请举手说一说：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你猜它是什么</a:t>
            </a:r>
            <a:endParaRPr lang="en-US" sz="2700" dirty="0"/>
          </a:p>
        </p:txBody>
      </p:sp>
      <p:sp>
        <p:nvSpPr>
          <p:cNvPr id="15" name="Shape 11"/>
          <p:cNvSpPr/>
          <p:nvPr/>
        </p:nvSpPr>
        <p:spPr>
          <a:xfrm>
            <a:off x="7494270" y="7071122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6" name="Text 12"/>
          <p:cNvSpPr/>
          <p:nvPr/>
        </p:nvSpPr>
        <p:spPr>
          <a:xfrm>
            <a:off x="7856220" y="6918722"/>
            <a:ext cx="9966960" cy="53518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同一种事物，全班猜出了五六种，说明这三句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没有把它说清楚</a:t>
            </a:r>
            <a:endParaRPr lang="en-US" sz="2700" dirty="0"/>
          </a:p>
        </p:txBody>
      </p:sp>
      <p:sp>
        <p:nvSpPr>
          <p:cNvPr id="18" name="Text 13"/>
          <p:cNvSpPr/>
          <p:nvPr/>
        </p:nvSpPr>
        <p:spPr>
          <a:xfrm>
            <a:off x="1687830" y="9334500"/>
            <a:ext cx="1717167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“个头不小”“样子挺好看”，说的人心里清楚，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听的人却什么也想不出来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605" dirty="0"/>
          </a:p>
        </p:txBody>
      </p:sp>
      <p:pic>
        <p:nvPicPr>
          <p:cNvPr id="42" name="提示图标" descr="手指点击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297924"/>
            <a:ext cx="502920" cy="502920"/>
          </a:xfrm>
          <a:prstGeom prst="rect">
            <a:avLst/>
          </a:prstGeom>
        </p:spPr>
      </p:pic>
      <p:pic>
        <p:nvPicPr>
          <p:cNvPr id="43" name="吉祥物" descr="抠-吉祥物-8254cfc28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8760" y="341947"/>
            <a:ext cx="1481328" cy="1920240"/>
          </a:xfrm>
          <a:prstGeom prst="rect">
            <a:avLst/>
          </a:prstGeom>
        </p:spPr>
      </p:pic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693" y="2514600"/>
            <a:ext cx="5369814" cy="6629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创设情境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FFF3D6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7158261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老师再补三句，这一次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一读就猜中了</a:t>
            </a:r>
            <a:endParaRPr lang="en-US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7886700" cy="4416552"/>
          </a:xfrm>
          <a:prstGeom prst="roundRect">
            <a:avLst>
              <a:gd name="adj" fmla="val 4737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867025"/>
            <a:ext cx="7867650" cy="742950"/>
          </a:xfrm>
          <a:prstGeom prst="rect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52488" y="3038475"/>
            <a:ext cx="8277225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前三句 · 猜不出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1057275" y="3609975"/>
            <a:ext cx="7867650" cy="3657600"/>
          </a:xfrm>
          <a:prstGeom prst="rect">
            <a:avLst/>
          </a:prstGeom>
          <a:solidFill>
            <a:srgbClr val="F7F8FA"/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381125" y="3914775"/>
            <a:ext cx="7436549" cy="104179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590550" algn="l">
              <a:lnSpc>
                <a:spcPct val="129000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它个头不小，很轻。样子挺好看的，平时玩的时候用得着。很多同学都玩过它。</a:t>
            </a:r>
            <a:endParaRPr lang="en-US" sz="2325" dirty="0"/>
          </a:p>
        </p:txBody>
      </p:sp>
      <p:sp>
        <p:nvSpPr>
          <p:cNvPr id="12" name="Shape 9"/>
          <p:cNvSpPr/>
          <p:nvPr/>
        </p:nvSpPr>
        <p:spPr>
          <a:xfrm>
            <a:off x="9353550" y="2857500"/>
            <a:ext cx="7886700" cy="4416552"/>
          </a:xfrm>
          <a:prstGeom prst="roundRect">
            <a:avLst>
              <a:gd name="adj" fmla="val 4737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9363075" y="2867025"/>
            <a:ext cx="7867650" cy="742950"/>
          </a:xfrm>
          <a:prstGeom prst="rect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9158288" y="3038475"/>
            <a:ext cx="8277225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后三句 · 一读就猜中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9363075" y="3609975"/>
            <a:ext cx="7867650" cy="3657600"/>
          </a:xfrm>
          <a:prstGeom prst="rect">
            <a:avLst/>
          </a:prstGeom>
          <a:solidFill>
            <a:srgbClr val="F7F8FA"/>
          </a:solidFill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9686925" y="3914775"/>
            <a:ext cx="5303520" cy="204549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590550" algn="l">
              <a:lnSpc>
                <a:spcPct val="129000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它从头到尾</a:t>
            </a: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大约八厘米长</a:t>
            </a:r>
            <a:r>
              <a:rPr 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sz="2325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跟一支削过的铅笔差不多</a:t>
            </a:r>
            <a:r>
              <a:rPr 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。下面是一个半圆的软木球，上面插着</a:t>
            </a: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十六根白色的羽毛</a:t>
            </a:r>
            <a:r>
              <a:rPr 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，排成一圈，</a:t>
            </a:r>
            <a:r>
              <a:rPr lang="en-US" sz="2325" b="1" dirty="0">
                <a:solidFill>
                  <a:srgbClr val="4E9A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像一朵倒扣着的小喇叭花</a:t>
            </a:r>
            <a:r>
              <a:rPr 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。用球拍一打，它就翻着跟头飞过网去。</a:t>
            </a:r>
            <a:endParaRPr lang="en-US" sz="2325" dirty="0"/>
          </a:p>
        </p:txBody>
      </p:sp>
      <p:sp>
        <p:nvSpPr>
          <p:cNvPr id="17" name="Shape 14"/>
          <p:cNvSpPr/>
          <p:nvPr/>
        </p:nvSpPr>
        <p:spPr>
          <a:xfrm>
            <a:off x="1047750" y="7680960"/>
            <a:ext cx="16192500" cy="876300"/>
          </a:xfrm>
          <a:prstGeom prst="roundRect">
            <a:avLst>
              <a:gd name="adj" fmla="val 17391"/>
            </a:avLst>
          </a:prstGeom>
          <a:solidFill>
            <a:srgbClr val="DCE6F5"/>
          </a:solidFill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428750" y="7909560"/>
            <a:ext cx="16973550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请大家想一想：后面补的这三句里，</a:t>
            </a:r>
            <a:r>
              <a:rPr lang="en-US" sz="24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多说了什么</a:t>
            </a:r>
            <a:r>
              <a:rPr lang="en-US" sz="2475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en-US" sz="2475" dirty="0"/>
          </a:p>
        </p:txBody>
      </p:sp>
      <p:sp>
        <p:nvSpPr>
          <p:cNvPr id="19" name="Text 16"/>
          <p:cNvSpPr/>
          <p:nvPr/>
        </p:nvSpPr>
        <p:spPr>
          <a:xfrm>
            <a:off x="1687830" y="9293423"/>
            <a:ext cx="17171670" cy="51732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写得清楚的介绍，读的人不用猜，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读完就知道它有多大、长什么样、有什么用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605" dirty="0"/>
          </a:p>
        </p:txBody>
      </p:sp>
      <p:pic>
        <p:nvPicPr>
          <p:cNvPr id="50" name="插图" descr="抠-P03-e36ae633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0267" y="4846320"/>
            <a:ext cx="3097972" cy="2377440"/>
          </a:xfrm>
          <a:prstGeom prst="rect">
            <a:avLst/>
          </a:prstGeom>
        </p:spPr>
      </p:pic>
      <p:pic>
        <p:nvPicPr>
          <p:cNvPr id="51" name="插图" descr="抠-P04-9ea752cbc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26868" y="4480560"/>
            <a:ext cx="2803931" cy="2834640"/>
          </a:xfrm>
          <a:prstGeom prst="rect">
            <a:avLst/>
          </a:prstGeom>
        </p:spPr>
      </p:pic>
      <p:pic>
        <p:nvPicPr>
          <p:cNvPr id="56" name="提示图标" descr="手指点击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" y="9256847"/>
            <a:ext cx="502920" cy="502920"/>
          </a:xfrm>
          <a:prstGeom prst="rect">
            <a:avLst/>
          </a:prstGeom>
        </p:spPr>
      </p:pic>
      <p:pic>
        <p:nvPicPr>
          <p:cNvPr id="57" name="吉祥物" descr="抠-吉祥物-8254cfc28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38760" y="341947"/>
            <a:ext cx="1481328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底带"/>
          <p:cNvSpPr/>
          <p:nvPr/>
        </p:nvSpPr>
        <p:spPr>
          <a:xfrm>
            <a:off x="8869680" y="5760720"/>
            <a:ext cx="9418320" cy="3429000"/>
          </a:xfrm>
          <a:prstGeom prst="rect">
            <a:avLst/>
          </a:prstGeom>
          <a:solidFill>
            <a:srgbClr val="EE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底带"/>
          <p:cNvSpPr/>
          <p:nvPr/>
        </p:nvSpPr>
        <p:spPr>
          <a:xfrm>
            <a:off x="914400" y="7223760"/>
            <a:ext cx="8138160" cy="1600200"/>
          </a:xfrm>
          <a:prstGeom prst="roundRect">
            <a:avLst>
              <a:gd name="adj" fmla="val 8571"/>
            </a:avLst>
          </a:prstGeom>
          <a:solidFill>
            <a:srgbClr val="FFF8D6"/>
          </a:solidFill>
          <a:ln w="18288">
            <a:solidFill>
              <a:srgbClr val="E8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创设情境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FFF3D6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7605846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今天的任务：写一篇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《介绍一种事物》</a:t>
            </a:r>
            <a:endParaRPr lang="en-US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667000"/>
            <a:ext cx="16192500" cy="904875"/>
          </a:xfrm>
          <a:prstGeom prst="roundRect">
            <a:avLst>
              <a:gd name="adj" fmla="val 16842"/>
            </a:avLst>
          </a:prstGeom>
          <a:solidFill>
            <a:srgbClr val="DCE6F5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28750" y="2876550"/>
            <a:ext cx="16973550" cy="5238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55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介绍一样你了解、别人未必了解的事物，读者就是你的同桌。要让不了解它的人</a:t>
            </a:r>
            <a:r>
              <a:rPr lang="en-US" sz="25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读完就能懂</a:t>
            </a:r>
            <a:r>
              <a:rPr lang="en-US" sz="255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1047750" y="4191000"/>
            <a:ext cx="786384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课本定下的成功标准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1047750" y="4762500"/>
            <a:ext cx="7863840" cy="1615380"/>
          </a:xfrm>
          <a:prstGeom prst="roundRect">
            <a:avLst>
              <a:gd name="adj" fmla="val 10614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447800" y="5067300"/>
            <a:ext cx="7223760" cy="10438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“如果别人对你介绍的事物</a:t>
            </a:r>
            <a:r>
              <a:rPr lang="en-US" sz="24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产生了兴趣</a:t>
            </a:r>
            <a:r>
              <a:rPr lang="en-US" sz="24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sz="24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获得了相关知识</a:t>
            </a:r>
            <a:r>
              <a:rPr lang="en-US" sz="24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，你就完成了一次成功的习作。”</a:t>
            </a:r>
            <a:endParaRPr lang="en-US" sz="2475" dirty="0"/>
          </a:p>
        </p:txBody>
      </p:sp>
      <p:sp>
        <p:nvSpPr>
          <p:cNvPr id="12" name="Text 9"/>
          <p:cNvSpPr/>
          <p:nvPr/>
        </p:nvSpPr>
        <p:spPr>
          <a:xfrm>
            <a:off x="1051560" y="6720840"/>
            <a:ext cx="786384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第二节课写完后，同桌会给你写一张纸条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1232154" y="7405116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402265" y="7481316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984629" y="7436519"/>
            <a:ext cx="6949440" cy="47997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我从你这篇介绍里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学到的一条知识</a:t>
            </a: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是……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1232154" y="8081391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402265" y="8157591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1984629" y="8112794"/>
            <a:ext cx="2322076" cy="47997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还想知道</a:t>
            </a: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……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1687830" y="9334500"/>
            <a:ext cx="1717167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纸条上只有两行，这两行就是检验这篇介绍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有没有写清楚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的标准。</a:t>
            </a:r>
            <a:endParaRPr lang="en-US" sz="2605" dirty="0"/>
          </a:p>
        </p:txBody>
      </p:sp>
      <p:pic>
        <p:nvPicPr>
          <p:cNvPr id="56" name="插图" descr="抠-P05-34727e93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2969" y="4251960"/>
            <a:ext cx="7868940" cy="4937760"/>
          </a:xfrm>
          <a:prstGeom prst="rect">
            <a:avLst/>
          </a:prstGeom>
        </p:spPr>
      </p:pic>
      <p:pic>
        <p:nvPicPr>
          <p:cNvPr id="57" name="提示图标" descr="手指点击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297924"/>
            <a:ext cx="502920" cy="502920"/>
          </a:xfrm>
          <a:prstGeom prst="rect">
            <a:avLst/>
          </a:prstGeom>
        </p:spPr>
      </p:pic>
      <p:pic>
        <p:nvPicPr>
          <p:cNvPr id="58" name="吉祥物" descr="抠-吉祥物-8254cfc28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8760" y="341947"/>
            <a:ext cx="1481328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选定事物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FFF3D6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4474056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先确定：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你要介绍什么</a:t>
            </a:r>
            <a:endParaRPr lang="en-US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762250"/>
            <a:ext cx="16192500" cy="3895725"/>
          </a:xfrm>
          <a:prstGeom prst="roundRect">
            <a:avLst>
              <a:gd name="adj" fmla="val 3423"/>
            </a:avLst>
          </a:prstGeom>
          <a:ln w="9525">
            <a:solidFill>
              <a:srgbClr val="DFE3E9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771775"/>
            <a:ext cx="16173450" cy="685800"/>
          </a:xfrm>
          <a:prstGeom prst="rect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62075" y="2924175"/>
            <a:ext cx="247269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课本参考题目</a:t>
            </a:r>
            <a:endParaRPr lang="en-US" sz="2250" dirty="0"/>
          </a:p>
        </p:txBody>
      </p:sp>
      <p:sp>
        <p:nvSpPr>
          <p:cNvPr id="10" name="Shape 7"/>
          <p:cNvSpPr/>
          <p:nvPr/>
        </p:nvSpPr>
        <p:spPr>
          <a:xfrm>
            <a:off x="3914775" y="2771775"/>
            <a:ext cx="9525" cy="685800"/>
          </a:xfrm>
          <a:prstGeom prst="rect">
            <a:avLst/>
          </a:prstGeom>
          <a:solidFill>
            <a:srgbClr val="FFFFFF">
              <a:alpha val="25000"/>
            </a:srgbClr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229100" y="2924175"/>
            <a:ext cx="13966508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可以从表里选，也可以自己定</a:t>
            </a:r>
            <a:endParaRPr lang="en-US" sz="2250" dirty="0"/>
          </a:p>
        </p:txBody>
      </p:sp>
      <p:sp>
        <p:nvSpPr>
          <p:cNvPr id="12" name="Shape 9"/>
          <p:cNvSpPr/>
          <p:nvPr/>
        </p:nvSpPr>
        <p:spPr>
          <a:xfrm>
            <a:off x="1057275" y="3457575"/>
            <a:ext cx="16173450" cy="638175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362075" y="3590925"/>
            <a:ext cx="233362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与动物有关</a:t>
            </a:r>
            <a:endParaRPr lang="en-US" sz="2175" dirty="0"/>
          </a:p>
        </p:txBody>
      </p:sp>
      <p:sp>
        <p:nvSpPr>
          <p:cNvPr id="14" name="Shape 11"/>
          <p:cNvSpPr/>
          <p:nvPr/>
        </p:nvSpPr>
        <p:spPr>
          <a:xfrm>
            <a:off x="3914775" y="3457575"/>
            <a:ext cx="9525" cy="6381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4229100" y="3590925"/>
            <a:ext cx="13096304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恐龙 · 袋鼠的自述 · 动物的尾巴</a:t>
            </a:r>
            <a:endParaRPr lang="en-US" sz="2175" dirty="0"/>
          </a:p>
        </p:txBody>
      </p:sp>
      <p:sp>
        <p:nvSpPr>
          <p:cNvPr id="16" name="Shape 13"/>
          <p:cNvSpPr/>
          <p:nvPr/>
        </p:nvSpPr>
        <p:spPr>
          <a:xfrm>
            <a:off x="1057275" y="4095750"/>
            <a:ext cx="16173450" cy="63817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362075" y="4229100"/>
            <a:ext cx="233362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与植物有关</a:t>
            </a:r>
            <a:endParaRPr lang="en-US" sz="2175" dirty="0"/>
          </a:p>
        </p:txBody>
      </p:sp>
      <p:sp>
        <p:nvSpPr>
          <p:cNvPr id="18" name="Shape 15"/>
          <p:cNvSpPr/>
          <p:nvPr/>
        </p:nvSpPr>
        <p:spPr>
          <a:xfrm>
            <a:off x="3914775" y="4095750"/>
            <a:ext cx="9525" cy="6381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229100" y="4229100"/>
            <a:ext cx="13096304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银杏 · 热带植物大观园 · 种子的旅行</a:t>
            </a:r>
            <a:endParaRPr lang="en-US" sz="2175" dirty="0"/>
          </a:p>
        </p:txBody>
      </p:sp>
      <p:sp>
        <p:nvSpPr>
          <p:cNvPr id="20" name="Shape 17"/>
          <p:cNvSpPr/>
          <p:nvPr/>
        </p:nvSpPr>
        <p:spPr>
          <a:xfrm>
            <a:off x="1057275" y="4733925"/>
            <a:ext cx="16173450" cy="638175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362075" y="4867275"/>
            <a:ext cx="233362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与物品有关</a:t>
            </a:r>
            <a:endParaRPr lang="en-US" sz="2175" dirty="0"/>
          </a:p>
        </p:txBody>
      </p:sp>
      <p:sp>
        <p:nvSpPr>
          <p:cNvPr id="22" name="Shape 19"/>
          <p:cNvSpPr/>
          <p:nvPr/>
        </p:nvSpPr>
        <p:spPr>
          <a:xfrm>
            <a:off x="3914775" y="4733925"/>
            <a:ext cx="9525" cy="6381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4229100" y="4867275"/>
            <a:ext cx="13096304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钟表 · 无人机 · 溜溜球的玩法</a:t>
            </a:r>
            <a:endParaRPr lang="en-US" sz="2175" dirty="0"/>
          </a:p>
        </p:txBody>
      </p:sp>
      <p:sp>
        <p:nvSpPr>
          <p:cNvPr id="24" name="Shape 21"/>
          <p:cNvSpPr/>
          <p:nvPr/>
        </p:nvSpPr>
        <p:spPr>
          <a:xfrm>
            <a:off x="1057275" y="5372100"/>
            <a:ext cx="16173450" cy="63817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362075" y="5505450"/>
            <a:ext cx="233362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与美食有关</a:t>
            </a:r>
            <a:endParaRPr lang="en-US" sz="2175" dirty="0"/>
          </a:p>
        </p:txBody>
      </p:sp>
      <p:sp>
        <p:nvSpPr>
          <p:cNvPr id="26" name="Shape 23"/>
          <p:cNvSpPr/>
          <p:nvPr/>
        </p:nvSpPr>
        <p:spPr>
          <a:xfrm>
            <a:off x="3914775" y="5372100"/>
            <a:ext cx="9525" cy="6381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4229100" y="5505450"/>
            <a:ext cx="13096304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涮羊肉 · 怎样泡酸菜 · 我的美食地图</a:t>
            </a:r>
            <a:endParaRPr lang="en-US" sz="2175" dirty="0"/>
          </a:p>
        </p:txBody>
      </p:sp>
      <p:sp>
        <p:nvSpPr>
          <p:cNvPr id="28" name="Shape 25"/>
          <p:cNvSpPr/>
          <p:nvPr/>
        </p:nvSpPr>
        <p:spPr>
          <a:xfrm>
            <a:off x="1057275" y="6010275"/>
            <a:ext cx="16173450" cy="638175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1362075" y="6143625"/>
            <a:ext cx="233362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其他感兴趣的</a:t>
            </a:r>
            <a:endParaRPr lang="en-US" sz="2175" dirty="0"/>
          </a:p>
        </p:txBody>
      </p:sp>
      <p:sp>
        <p:nvSpPr>
          <p:cNvPr id="30" name="Shape 27"/>
          <p:cNvSpPr/>
          <p:nvPr/>
        </p:nvSpPr>
        <p:spPr>
          <a:xfrm>
            <a:off x="3914775" y="6010275"/>
            <a:ext cx="9525" cy="6381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4229100" y="6143625"/>
            <a:ext cx="13096304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火星的秘密 · 草原旅游指南 · 中国传统吉祥物</a:t>
            </a:r>
            <a:endParaRPr lang="en-US" sz="2175" dirty="0"/>
          </a:p>
        </p:txBody>
      </p:sp>
      <p:sp>
        <p:nvSpPr>
          <p:cNvPr id="32" name="Shape 29"/>
          <p:cNvSpPr/>
          <p:nvPr/>
        </p:nvSpPr>
        <p:spPr>
          <a:xfrm>
            <a:off x="1047750" y="7048500"/>
            <a:ext cx="16192500" cy="1448693"/>
          </a:xfrm>
          <a:prstGeom prst="roundRect">
            <a:avLst>
              <a:gd name="adj" fmla="val 11835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1466850" y="7315200"/>
            <a:ext cx="15814929" cy="95339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今天教室里没有资料可查，请选一种你</a:t>
            </a: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现在就能说出三个特点、还能说出一个数字</a:t>
            </a:r>
            <a:r>
              <a:rPr 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的事物：你养的、你玩的、你常吃的、家里天天用的都可以。恐龙、火星这一类需要查资料的，今天先不选。</a:t>
            </a:r>
            <a:endParaRPr lang="en-US" sz="2325" dirty="0"/>
          </a:p>
        </p:txBody>
      </p:sp>
      <p:sp>
        <p:nvSpPr>
          <p:cNvPr id="34" name="Text 31"/>
          <p:cNvSpPr/>
          <p:nvPr/>
        </p:nvSpPr>
        <p:spPr>
          <a:xfrm>
            <a:off x="1687830" y="9334500"/>
            <a:ext cx="1717167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选定以后，把它的名字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写在草稿纸最上面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605" dirty="0"/>
          </a:p>
        </p:txBody>
      </p:sp>
      <p:pic>
        <p:nvPicPr>
          <p:cNvPr id="93" name="提示图标" descr="手指点击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9297924"/>
            <a:ext cx="502920" cy="502920"/>
          </a:xfrm>
          <a:prstGeom prst="rect">
            <a:avLst/>
          </a:prstGeom>
        </p:spPr>
      </p:pic>
      <p:pic>
        <p:nvPicPr>
          <p:cNvPr id="94" name="吉祥物" descr="抠-吉祥物-8254cfc28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8760" y="341947"/>
            <a:ext cx="1481328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试讲一遍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FFF3D6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9842629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前后桌两人一组：一人讲一分钟，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一人问两个问题</a:t>
            </a:r>
            <a:endParaRPr lang="en-US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7886700" cy="4480560"/>
          </a:xfrm>
          <a:prstGeom prst="roundRect">
            <a:avLst>
              <a:gd name="adj" fmla="val 4737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66850" y="3200400"/>
            <a:ext cx="775335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讲的人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1466850" y="3838575"/>
            <a:ext cx="371475" cy="4810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325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</a:t>
            </a:r>
            <a:endParaRPr lang="en-US" sz="2325" dirty="0"/>
          </a:p>
        </p:txBody>
      </p:sp>
      <p:sp>
        <p:nvSpPr>
          <p:cNvPr id="10" name="Text 7"/>
          <p:cNvSpPr/>
          <p:nvPr/>
        </p:nvSpPr>
        <p:spPr>
          <a:xfrm>
            <a:off x="1895475" y="3838575"/>
            <a:ext cx="6784340" cy="4806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用一分钟把它介绍给对方，讲哪些内容都可以</a:t>
            </a:r>
            <a:endParaRPr lang="en-US" sz="2325" dirty="0"/>
          </a:p>
        </p:txBody>
      </p:sp>
      <p:sp>
        <p:nvSpPr>
          <p:cNvPr id="11" name="Text 8"/>
          <p:cNvSpPr/>
          <p:nvPr/>
        </p:nvSpPr>
        <p:spPr>
          <a:xfrm>
            <a:off x="1466850" y="4452938"/>
            <a:ext cx="371475" cy="4810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325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</a:t>
            </a:r>
            <a:endParaRPr lang="en-US" sz="2325" dirty="0"/>
          </a:p>
        </p:txBody>
      </p:sp>
      <p:sp>
        <p:nvSpPr>
          <p:cNvPr id="12" name="Text 9"/>
          <p:cNvSpPr/>
          <p:nvPr/>
        </p:nvSpPr>
        <p:spPr>
          <a:xfrm>
            <a:off x="1895475" y="4452938"/>
            <a:ext cx="6496050" cy="4810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说到它有多大、多长的时候，</a:t>
            </a: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可以用手比一比</a:t>
            </a:r>
            <a:endParaRPr lang="en-US" sz="2325" dirty="0"/>
          </a:p>
        </p:txBody>
      </p:sp>
      <p:sp>
        <p:nvSpPr>
          <p:cNvPr id="13" name="Text 10"/>
          <p:cNvSpPr/>
          <p:nvPr/>
        </p:nvSpPr>
        <p:spPr>
          <a:xfrm>
            <a:off x="1466850" y="5067300"/>
            <a:ext cx="371475" cy="9239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325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</a:t>
            </a:r>
            <a:endParaRPr lang="en-US" sz="2325" dirty="0"/>
          </a:p>
        </p:txBody>
      </p:sp>
      <p:sp>
        <p:nvSpPr>
          <p:cNvPr id="14" name="Text 11"/>
          <p:cNvSpPr/>
          <p:nvPr/>
        </p:nvSpPr>
        <p:spPr>
          <a:xfrm>
            <a:off x="1895475" y="5067300"/>
            <a:ext cx="6818471" cy="9239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把对方问的两个问题</a:t>
            </a: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一个字一个字记在草稿纸上</a:t>
            </a:r>
            <a:r>
              <a:rPr 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，填构思表时要用</a:t>
            </a:r>
            <a:endParaRPr lang="en-US" sz="2325" dirty="0"/>
          </a:p>
        </p:txBody>
      </p:sp>
      <p:sp>
        <p:nvSpPr>
          <p:cNvPr id="15" name="Shape 12"/>
          <p:cNvSpPr/>
          <p:nvPr/>
        </p:nvSpPr>
        <p:spPr>
          <a:xfrm>
            <a:off x="9353550" y="2857500"/>
            <a:ext cx="7886700" cy="4480560"/>
          </a:xfrm>
          <a:prstGeom prst="roundRect">
            <a:avLst>
              <a:gd name="adj" fmla="val 4737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9772650" y="3200400"/>
            <a:ext cx="775335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听的人：听完必须问出两个问题</a:t>
            </a:r>
            <a:endParaRPr lang="en-US" sz="2550" dirty="0"/>
          </a:p>
        </p:txBody>
      </p:sp>
      <p:sp>
        <p:nvSpPr>
          <p:cNvPr id="17" name="Text 14"/>
          <p:cNvSpPr/>
          <p:nvPr/>
        </p:nvSpPr>
        <p:spPr>
          <a:xfrm>
            <a:off x="9772650" y="3838575"/>
            <a:ext cx="2400935" cy="4806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一个问数量</a:t>
            </a:r>
            <a:endParaRPr lang="en-US" sz="2325" dirty="0"/>
          </a:p>
        </p:txBody>
      </p:sp>
      <p:sp>
        <p:nvSpPr>
          <p:cNvPr id="18" name="Text 15"/>
          <p:cNvSpPr/>
          <p:nvPr/>
        </p:nvSpPr>
        <p:spPr>
          <a:xfrm>
            <a:off x="11493500" y="3838575"/>
            <a:ext cx="6171248" cy="4810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它多大、多重、多长、多快，或者能用多久</a:t>
            </a:r>
            <a:endParaRPr lang="en-US" sz="2325" dirty="0"/>
          </a:p>
        </p:txBody>
      </p:sp>
      <p:sp>
        <p:nvSpPr>
          <p:cNvPr id="19" name="Text 16"/>
          <p:cNvSpPr/>
          <p:nvPr/>
        </p:nvSpPr>
        <p:spPr>
          <a:xfrm>
            <a:off x="9772650" y="4452938"/>
            <a:ext cx="2438400" cy="9239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一个问样子或用法</a:t>
            </a:r>
            <a:endParaRPr lang="en-US" sz="2325" dirty="0"/>
          </a:p>
        </p:txBody>
      </p:sp>
      <p:sp>
        <p:nvSpPr>
          <p:cNvPr id="20" name="Text 17"/>
          <p:cNvSpPr/>
          <p:nvPr/>
        </p:nvSpPr>
        <p:spPr>
          <a:xfrm>
            <a:off x="12268200" y="4452938"/>
            <a:ext cx="4689539" cy="9239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它像什么、怎么用，或者怎么做出来的</a:t>
            </a:r>
            <a:endParaRPr lang="en-US" sz="2325" dirty="0"/>
          </a:p>
        </p:txBody>
      </p:sp>
      <p:sp>
        <p:nvSpPr>
          <p:cNvPr id="21" name="Shape 18"/>
          <p:cNvSpPr/>
          <p:nvPr/>
        </p:nvSpPr>
        <p:spPr>
          <a:xfrm>
            <a:off x="1047750" y="7597140"/>
            <a:ext cx="16192500" cy="900113"/>
          </a:xfrm>
          <a:prstGeom prst="roundRect">
            <a:avLst>
              <a:gd name="adj" fmla="val 16931"/>
            </a:avLst>
          </a:prstGeom>
          <a:solidFill>
            <a:srgbClr val="DCE6F5"/>
          </a:solidFill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1428750" y="7825740"/>
            <a:ext cx="16973550" cy="4810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讲完后两人交换。随后请几位同学说一说：</a:t>
            </a:r>
            <a:r>
              <a:rPr lang="en-US" sz="2325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对方问了你哪两个问题</a:t>
            </a:r>
            <a:r>
              <a:rPr lang="en-US" sz="2325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325" dirty="0"/>
          </a:p>
        </p:txBody>
      </p:sp>
      <p:sp>
        <p:nvSpPr>
          <p:cNvPr id="23" name="Text 20"/>
          <p:cNvSpPr/>
          <p:nvPr/>
        </p:nvSpPr>
        <p:spPr>
          <a:xfrm>
            <a:off x="1687830" y="9334500"/>
            <a:ext cx="1717167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对方问的问题，正是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读的人最想知道的地方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，先记在草稿纸上，稍后要给它们安排位置。</a:t>
            </a:r>
            <a:endParaRPr lang="en-US" sz="2605" dirty="0"/>
          </a:p>
        </p:txBody>
      </p:sp>
      <p:pic>
        <p:nvPicPr>
          <p:cNvPr id="62" name="插图" descr="抠-手比-477af49b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5741" y="5669280"/>
            <a:ext cx="2766916" cy="1600200"/>
          </a:xfrm>
          <a:prstGeom prst="rect">
            <a:avLst/>
          </a:prstGeom>
        </p:spPr>
      </p:pic>
      <p:pic>
        <p:nvPicPr>
          <p:cNvPr id="63" name="插图" descr="抠-卷尺-40b3197e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3980" y="5669280"/>
            <a:ext cx="2594918" cy="1600200"/>
          </a:xfrm>
          <a:prstGeom prst="rect">
            <a:avLst/>
          </a:prstGeom>
        </p:spPr>
      </p:pic>
      <p:pic>
        <p:nvPicPr>
          <p:cNvPr id="64" name="插图" descr="抠-放大镜-4526d19a3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42281" y="5669280"/>
            <a:ext cx="1473517" cy="1600200"/>
          </a:xfrm>
          <a:prstGeom prst="rect">
            <a:avLst/>
          </a:prstGeom>
        </p:spPr>
      </p:pic>
      <p:pic>
        <p:nvPicPr>
          <p:cNvPr id="71" name="提示图标" descr="手指点击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750" y="9297924"/>
            <a:ext cx="502920" cy="502920"/>
          </a:xfrm>
          <a:prstGeom prst="rect">
            <a:avLst/>
          </a:prstGeom>
        </p:spPr>
      </p:pic>
      <p:pic>
        <p:nvPicPr>
          <p:cNvPr id="72" name="吉祥物" descr="抠-吉祥物-8254cfc28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38760" y="341947"/>
            <a:ext cx="1481328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底带"/>
          <p:cNvSpPr/>
          <p:nvPr/>
        </p:nvSpPr>
        <p:spPr>
          <a:xfrm>
            <a:off x="0" y="7726679"/>
            <a:ext cx="18288000" cy="1691640"/>
          </a:xfrm>
          <a:prstGeom prst="rect">
            <a:avLst/>
          </a:prstGeom>
          <a:solidFill>
            <a:srgbClr val="FFF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判断对比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FFF3D6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11184895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同一盆仙人掌，哪一段能让没见过的人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说出它长什么样</a:t>
            </a: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en-US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762250"/>
            <a:ext cx="7886700" cy="4206240"/>
          </a:xfrm>
          <a:prstGeom prst="roundRect">
            <a:avLst>
              <a:gd name="adj" fmla="val 4390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771775"/>
            <a:ext cx="7867650" cy="742950"/>
          </a:xfrm>
          <a:prstGeom prst="rect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52488" y="2943225"/>
            <a:ext cx="8277225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第一段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1057275" y="3514725"/>
            <a:ext cx="7867650" cy="3447288"/>
          </a:xfrm>
          <a:prstGeom prst="rect">
            <a:avLst/>
          </a:prstGeom>
          <a:solidFill>
            <a:srgbClr val="F7F8FA"/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381125" y="3800475"/>
            <a:ext cx="6400800" cy="23955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571500" algn="l">
              <a:lnSpc>
                <a:spcPct val="124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去年生日，妈妈把这盆仙人掌放在我的书桌上。我每天写作业，它就在台灯旁边陪着我。有一段时间我一直没浇水，一个多月过去了，它还是绿绿的，我又惊又喜。现在我一看见它，就想起妈妈说的那句话：做人要像仙人掌一样能吃苦。</a:t>
            </a:r>
            <a:endParaRPr lang="en-US" sz="2250" dirty="0"/>
          </a:p>
        </p:txBody>
      </p:sp>
      <p:sp>
        <p:nvSpPr>
          <p:cNvPr id="12" name="Shape 9"/>
          <p:cNvSpPr/>
          <p:nvPr/>
        </p:nvSpPr>
        <p:spPr>
          <a:xfrm>
            <a:off x="9353550" y="2762250"/>
            <a:ext cx="7886700" cy="4206240"/>
          </a:xfrm>
          <a:prstGeom prst="roundRect">
            <a:avLst>
              <a:gd name="adj" fmla="val 4390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9363075" y="2771775"/>
            <a:ext cx="7867650" cy="742950"/>
          </a:xfrm>
          <a:prstGeom prst="rect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9158288" y="2943225"/>
            <a:ext cx="8277225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第二段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9363075" y="3514725"/>
            <a:ext cx="7867650" cy="3447288"/>
          </a:xfrm>
          <a:prstGeom prst="rect">
            <a:avLst/>
          </a:prstGeom>
          <a:solidFill>
            <a:srgbClr val="F7F8FA"/>
          </a:solidFill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0515600" y="3800475"/>
            <a:ext cx="6492240" cy="23955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571500" algn="l">
              <a:lnSpc>
                <a:spcPct val="124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这是一盆圆球形的仙人掌。它</a:t>
            </a:r>
            <a:r>
              <a:rPr 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高约十厘米</a:t>
            </a: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sz="2250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比一个拳头略大</a:t>
            </a: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，通身深绿色，表面布满一簇一簇的刺，每根刺</a:t>
            </a:r>
            <a:r>
              <a:rPr lang="en-US" sz="2250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有缝衣针那么长</a:t>
            </a: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。它不用天天浇水，</a:t>
            </a:r>
            <a:r>
              <a:rPr 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一个月浇一次</a:t>
            </a: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就够；水浇多了，反而会烂根。到了夏天，球顶会开出一朵黄花，两三天就谢了。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1047750" y="7829550"/>
            <a:ext cx="17811750" cy="4524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第一段是一段很好的记叙文，写的是</a:t>
            </a:r>
            <a:r>
              <a:rPr 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“我和仙人掌”的故事</a:t>
            </a: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，写《我的心爱之物》时正好用得上；但读完还是不知道它长什么样。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1047750" y="8377238"/>
            <a:ext cx="17811750" cy="4524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 第二段写的是</a:t>
            </a:r>
            <a:r>
              <a:rPr 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仙人掌本身</a:t>
            </a: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：多高、什么颜色、刺多长、多久浇一次水，读完脑海里就有了它的样子。</a:t>
            </a:r>
            <a:endParaRPr lang="en-US" sz="2250" dirty="0"/>
          </a:p>
        </p:txBody>
      </p:sp>
      <p:sp>
        <p:nvSpPr>
          <p:cNvPr id="19" name="Text 16"/>
          <p:cNvSpPr/>
          <p:nvPr/>
        </p:nvSpPr>
        <p:spPr>
          <a:xfrm>
            <a:off x="1687830" y="8924925"/>
            <a:ext cx="16038195" cy="8667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 今天这篇习作要写的是</a:t>
            </a:r>
            <a:r>
              <a:rPr 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事物本身</a:t>
            </a: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：长什么样、有什么用、怎么用、有哪些值得了解的知识。如果写成“我和它的故事”，读的人还是不认识它。</a:t>
            </a:r>
            <a:endParaRPr lang="en-US" sz="2250" dirty="0"/>
          </a:p>
        </p:txBody>
      </p:sp>
      <p:pic>
        <p:nvPicPr>
          <p:cNvPr id="51" name="插图" descr="抠-P08-f0309048b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7702" y="5349240"/>
            <a:ext cx="1412595" cy="2377440"/>
          </a:xfrm>
          <a:prstGeom prst="rect">
            <a:avLst/>
          </a:prstGeom>
        </p:spPr>
      </p:pic>
      <p:pic>
        <p:nvPicPr>
          <p:cNvPr id="53" name="提示图标" descr="手指点击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8888349"/>
            <a:ext cx="502920" cy="502920"/>
          </a:xfrm>
          <a:prstGeom prst="rect">
            <a:avLst/>
          </a:prstGeom>
        </p:spPr>
      </p:pic>
      <p:pic>
        <p:nvPicPr>
          <p:cNvPr id="54" name="吉祥物" descr="抠-吉祥物-8254cfc28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8760" y="341947"/>
            <a:ext cx="1481328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FFF3D6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7158261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课本里的两句话，用了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哪几种方法</a:t>
            </a: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en-US" sz="3205" dirty="0"/>
          </a:p>
        </p:txBody>
      </p:sp>
      <p:sp>
        <p:nvSpPr>
          <p:cNvPr id="7" name="Shape 4"/>
          <p:cNvSpPr/>
          <p:nvPr/>
        </p:nvSpPr>
        <p:spPr>
          <a:xfrm>
            <a:off x="1162050" y="2433638"/>
            <a:ext cx="742950" cy="66675"/>
          </a:xfrm>
          <a:prstGeom prst="roundRect">
            <a:avLst>
              <a:gd name="adj" fmla="val 50000"/>
            </a:avLst>
          </a:prstGeom>
          <a:solidFill>
            <a:srgbClr val="C0392B"/>
          </a:solidFill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47750" y="3048000"/>
            <a:ext cx="11795760" cy="2377440"/>
          </a:xfrm>
          <a:prstGeom prst="roundRect">
            <a:avLst>
              <a:gd name="adj" fmla="val 14607"/>
            </a:avLst>
          </a:prstGeom>
          <a:solidFill>
            <a:srgbClr val="EAF1FB"/>
          </a:solidFill>
          <a:ln w="19050">
            <a:solidFill>
              <a:srgbClr val="C3D6F0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733550" y="5384363"/>
            <a:ext cx="457200" cy="285750"/>
          </a:xfrm>
          <a:prstGeom prst="rect">
            <a:avLst/>
          </a:prstGeom>
          <a:solidFill>
            <a:srgbClr val="EAF1FB"/>
          </a:solidFill>
        </p:spPr>
        <p:txBody>
          <a:bodyPr/>
          <a:p/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550" y="5384363"/>
            <a:ext cx="457200" cy="2857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43050" y="3409950"/>
            <a:ext cx="1672209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8A92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课本「初试身手」</a:t>
            </a:r>
            <a:endParaRPr lang="en-US" sz="2175" dirty="0"/>
          </a:p>
        </p:txBody>
      </p:sp>
      <p:sp>
        <p:nvSpPr>
          <p:cNvPr id="12" name="Text 8"/>
          <p:cNvSpPr/>
          <p:nvPr/>
        </p:nvSpPr>
        <p:spPr>
          <a:xfrm>
            <a:off x="1543050" y="3914775"/>
            <a:ext cx="11247120" cy="12801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8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“这座电视塔</a:t>
            </a:r>
            <a:r>
              <a:rPr lang="en-US" sz="28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 368 米</a:t>
            </a:r>
            <a:r>
              <a:rPr lang="en-US" sz="28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sz="2850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大约有 120 层楼那么高</a:t>
            </a:r>
            <a:r>
              <a:rPr lang="en-US" sz="28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。它的外形</a:t>
            </a:r>
            <a:r>
              <a:rPr lang="en-US" sz="2850" b="1" dirty="0">
                <a:solidFill>
                  <a:srgbClr val="4E9A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像一个待发射的火箭</a:t>
            </a:r>
            <a:r>
              <a:rPr lang="en-US" sz="28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。”</a:t>
            </a:r>
            <a:endParaRPr lang="en-US" sz="2850" dirty="0"/>
          </a:p>
        </p:txBody>
      </p:sp>
      <p:sp>
        <p:nvSpPr>
          <p:cNvPr id="13" name="Shape 9"/>
          <p:cNvSpPr/>
          <p:nvPr/>
        </p:nvSpPr>
        <p:spPr>
          <a:xfrm>
            <a:off x="1047750" y="5715000"/>
            <a:ext cx="3848100" cy="3063240"/>
          </a:xfrm>
          <a:prstGeom prst="roundRect">
            <a:avLst>
              <a:gd name="adj" fmla="val 8511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1323975" y="5972175"/>
            <a:ext cx="3625215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列数字</a:t>
            </a:r>
            <a:endParaRPr lang="en-US" sz="2325" dirty="0"/>
          </a:p>
        </p:txBody>
      </p:sp>
      <p:sp>
        <p:nvSpPr>
          <p:cNvPr id="15" name="Text 11"/>
          <p:cNvSpPr/>
          <p:nvPr/>
        </p:nvSpPr>
        <p:spPr>
          <a:xfrm>
            <a:off x="1323975" y="6477000"/>
            <a:ext cx="3394519" cy="809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02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句子里用上具体的数字：高 368 米</a:t>
            </a:r>
            <a:endParaRPr lang="en-US" sz="2025" dirty="0"/>
          </a:p>
        </p:txBody>
      </p:sp>
      <p:sp>
        <p:nvSpPr>
          <p:cNvPr id="16" name="Shape 12"/>
          <p:cNvSpPr/>
          <p:nvPr/>
        </p:nvSpPr>
        <p:spPr>
          <a:xfrm>
            <a:off x="5162550" y="5715000"/>
            <a:ext cx="3848100" cy="3063240"/>
          </a:xfrm>
          <a:prstGeom prst="roundRect">
            <a:avLst>
              <a:gd name="adj" fmla="val 8511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5438775" y="5972175"/>
            <a:ext cx="3625215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作比较</a:t>
            </a:r>
            <a:endParaRPr lang="en-US" sz="2325" dirty="0"/>
          </a:p>
        </p:txBody>
      </p:sp>
      <p:sp>
        <p:nvSpPr>
          <p:cNvPr id="18" name="Text 14"/>
          <p:cNvSpPr/>
          <p:nvPr/>
        </p:nvSpPr>
        <p:spPr>
          <a:xfrm>
            <a:off x="5438775" y="6477000"/>
            <a:ext cx="3394519" cy="809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02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拿熟悉的事物比：大约有 120 层楼那么高</a:t>
            </a:r>
            <a:endParaRPr lang="en-US" sz="2025" dirty="0"/>
          </a:p>
        </p:txBody>
      </p:sp>
      <p:sp>
        <p:nvSpPr>
          <p:cNvPr id="19" name="Shape 15"/>
          <p:cNvSpPr/>
          <p:nvPr/>
        </p:nvSpPr>
        <p:spPr>
          <a:xfrm>
            <a:off x="9277350" y="5715000"/>
            <a:ext cx="3848100" cy="3063240"/>
          </a:xfrm>
          <a:prstGeom prst="roundRect">
            <a:avLst>
              <a:gd name="adj" fmla="val 8511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9553575" y="5972175"/>
            <a:ext cx="3625215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4E9A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打比方</a:t>
            </a:r>
            <a:endParaRPr lang="en-US" sz="2325" dirty="0"/>
          </a:p>
        </p:txBody>
      </p:sp>
      <p:sp>
        <p:nvSpPr>
          <p:cNvPr id="21" name="Text 17"/>
          <p:cNvSpPr/>
          <p:nvPr/>
        </p:nvSpPr>
        <p:spPr>
          <a:xfrm>
            <a:off x="9553575" y="6477000"/>
            <a:ext cx="3394519" cy="809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02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说它像什么：像一个待发射的火箭</a:t>
            </a:r>
            <a:endParaRPr lang="en-US" sz="2025" dirty="0"/>
          </a:p>
        </p:txBody>
      </p:sp>
      <p:sp>
        <p:nvSpPr>
          <p:cNvPr id="22" name="Shape 18"/>
          <p:cNvSpPr/>
          <p:nvPr/>
        </p:nvSpPr>
        <p:spPr>
          <a:xfrm>
            <a:off x="13392150" y="5715000"/>
            <a:ext cx="3848100" cy="3063240"/>
          </a:xfrm>
          <a:prstGeom prst="roundRect">
            <a:avLst>
              <a:gd name="adj" fmla="val 8511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23" name="Text 19"/>
          <p:cNvSpPr/>
          <p:nvPr/>
        </p:nvSpPr>
        <p:spPr>
          <a:xfrm>
            <a:off x="13668375" y="5972175"/>
            <a:ext cx="3625215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8E5A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举例子</a:t>
            </a:r>
            <a:endParaRPr lang="en-US" sz="2325" dirty="0"/>
          </a:p>
        </p:txBody>
      </p:sp>
      <p:sp>
        <p:nvSpPr>
          <p:cNvPr id="24" name="Text 20"/>
          <p:cNvSpPr/>
          <p:nvPr/>
        </p:nvSpPr>
        <p:spPr>
          <a:xfrm>
            <a:off x="13668375" y="6477000"/>
            <a:ext cx="3394519" cy="809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02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用一件事说明：一个多月没浇水，它还是绿的</a:t>
            </a:r>
            <a:endParaRPr lang="en-US" sz="2025" dirty="0"/>
          </a:p>
        </p:txBody>
      </p:sp>
      <p:sp>
        <p:nvSpPr>
          <p:cNvPr id="25" name="Text 21"/>
          <p:cNvSpPr/>
          <p:nvPr/>
        </p:nvSpPr>
        <p:spPr>
          <a:xfrm>
            <a:off x="1687830" y="9293423"/>
            <a:ext cx="17171670" cy="51732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这四种方法，课本上称为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说明方法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。课文《太阳》写太阳温度高，先列数字说出表面温度，再拿钢铁作比较。</a:t>
            </a:r>
            <a:endParaRPr lang="en-US" sz="2605" dirty="0"/>
          </a:p>
        </p:txBody>
      </p:sp>
      <p:pic>
        <p:nvPicPr>
          <p:cNvPr id="69" name="插图" descr="电视塔-1b9435c4f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20458" y="2331720"/>
            <a:ext cx="3008603" cy="3291840"/>
          </a:xfrm>
          <a:prstGeom prst="rect">
            <a:avLst/>
          </a:prstGeom>
        </p:spPr>
      </p:pic>
      <p:pic>
        <p:nvPicPr>
          <p:cNvPr id="70" name="插图" descr="抠-卷尺-40b3197e6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2621" y="7269480"/>
            <a:ext cx="2298356" cy="1417319"/>
          </a:xfrm>
          <a:prstGeom prst="rect">
            <a:avLst/>
          </a:prstGeom>
        </p:spPr>
      </p:pic>
      <p:pic>
        <p:nvPicPr>
          <p:cNvPr id="71" name="插图" descr="抠-高楼-53d8c9f7a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6285" y="7269480"/>
            <a:ext cx="760628" cy="1417320"/>
          </a:xfrm>
          <a:prstGeom prst="rect">
            <a:avLst/>
          </a:prstGeom>
        </p:spPr>
      </p:pic>
      <p:pic>
        <p:nvPicPr>
          <p:cNvPr id="72" name="插图" descr="抠-火箭-4ba0c50b3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48841" y="7269480"/>
            <a:ext cx="705116" cy="1417320"/>
          </a:xfrm>
          <a:prstGeom prst="rect">
            <a:avLst/>
          </a:prstGeom>
        </p:spPr>
      </p:pic>
      <p:pic>
        <p:nvPicPr>
          <p:cNvPr id="73" name="插图" descr="抠-P08-f0309048b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95137" y="7269480"/>
            <a:ext cx="842124" cy="1417320"/>
          </a:xfrm>
          <a:prstGeom prst="rect">
            <a:avLst/>
          </a:prstGeom>
        </p:spPr>
      </p:pic>
      <p:pic>
        <p:nvPicPr>
          <p:cNvPr id="84" name="提示图标" descr="手指点击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7750" y="9256847"/>
            <a:ext cx="502920" cy="502920"/>
          </a:xfrm>
          <a:prstGeom prst="rect">
            <a:avLst/>
          </a:prstGeom>
        </p:spPr>
      </p:pic>
      <p:pic>
        <p:nvPicPr>
          <p:cNvPr id="85" name="吉祥物" descr="抠-吉祥物-8254cfc28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938760" y="341947"/>
            <a:ext cx="1481328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FFF3D6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11632153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说说你选的事物：口头说一句，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至少用上两种说明方法</a:t>
            </a:r>
            <a:endParaRPr lang="en-US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92608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217861" y="3008376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800225" y="2971800"/>
            <a:ext cx="15361920" cy="5486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先用</a:t>
            </a:r>
            <a:r>
              <a:rPr 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列数字</a:t>
            </a: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说出它到底有多大、多长或者多重；记不准的，就说“大约”“左右”</a:t>
            </a:r>
            <a:endParaRPr lang="en-US" sz="2625" dirty="0"/>
          </a:p>
        </p:txBody>
      </p:sp>
      <p:sp>
        <p:nvSpPr>
          <p:cNvPr id="10" name="Shape 7"/>
          <p:cNvSpPr/>
          <p:nvPr/>
        </p:nvSpPr>
        <p:spPr>
          <a:xfrm>
            <a:off x="1047750" y="365760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217861" y="3730752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800225" y="3694176"/>
            <a:ext cx="15361920" cy="5486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再用</a:t>
            </a:r>
            <a:r>
              <a:rPr lang="en-US" sz="2625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作比较</a:t>
            </a: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或者</a:t>
            </a:r>
            <a:r>
              <a:rPr lang="en-US" sz="2625" b="1" dirty="0">
                <a:solidFill>
                  <a:srgbClr val="4E9A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打比方</a:t>
            </a: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：它跟什么差不多，或者像什么</a:t>
            </a:r>
            <a:endParaRPr lang="en-US" sz="2625" dirty="0"/>
          </a:p>
        </p:txBody>
      </p:sp>
      <p:sp>
        <p:nvSpPr>
          <p:cNvPr id="13" name="Shape 10"/>
          <p:cNvSpPr/>
          <p:nvPr/>
        </p:nvSpPr>
        <p:spPr>
          <a:xfrm>
            <a:off x="1047750" y="438912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217861" y="4462272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800225" y="4425696"/>
            <a:ext cx="15361920" cy="5486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说给前后桌听，对方只回答一个问题：</a:t>
            </a:r>
            <a:r>
              <a:rPr 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听了这一句，我能不能想出它有多大</a:t>
            </a: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。如果想不出，就修改后再说一遍</a:t>
            </a:r>
            <a:endParaRPr lang="en-US" sz="2625" dirty="0"/>
          </a:p>
        </p:txBody>
      </p:sp>
      <p:sp>
        <p:nvSpPr>
          <p:cNvPr id="17" name="Shape 13"/>
          <p:cNvSpPr/>
          <p:nvPr/>
        </p:nvSpPr>
        <p:spPr>
          <a:xfrm>
            <a:off x="1047750" y="5486400"/>
            <a:ext cx="16192500" cy="3657600"/>
          </a:xfrm>
          <a:prstGeom prst="roundRect">
            <a:avLst>
              <a:gd name="adj" fmla="val 11835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1466850" y="8001000"/>
            <a:ext cx="15819120" cy="10058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例如：我的溜溜球直径大约五厘米，跟一个乒乓球差不多大；我家乌龟的壳有我手掌那么大，像一个小锅盖；一屉小笼包有八个，每个像一枚鸡蛋那么大。</a:t>
            </a:r>
            <a:endParaRPr lang="en-US" sz="2325" dirty="0"/>
          </a:p>
        </p:txBody>
      </p:sp>
      <p:sp>
        <p:nvSpPr>
          <p:cNvPr id="19" name="Text 15"/>
          <p:cNvSpPr/>
          <p:nvPr/>
        </p:nvSpPr>
        <p:spPr>
          <a:xfrm>
            <a:off x="1687830" y="9334500"/>
            <a:ext cx="1717167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只有数字没有比较的，问一问自己：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它跟什么差不多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en-US" sz="2605" dirty="0"/>
          </a:p>
        </p:txBody>
      </p:sp>
      <p:pic>
        <p:nvPicPr>
          <p:cNvPr id="49" name="插图" descr="抠-P10a-7e754ccb1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5596128"/>
            <a:ext cx="4663440" cy="2331720"/>
          </a:xfrm>
          <a:prstGeom prst="rect">
            <a:avLst/>
          </a:prstGeom>
        </p:spPr>
      </p:pic>
      <p:pic>
        <p:nvPicPr>
          <p:cNvPr id="50" name="插图" descr="抠-P10b-c531f843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3595" y="5596128"/>
            <a:ext cx="3880809" cy="2331720"/>
          </a:xfrm>
          <a:prstGeom prst="rect">
            <a:avLst/>
          </a:prstGeom>
        </p:spPr>
      </p:pic>
      <p:pic>
        <p:nvPicPr>
          <p:cNvPr id="51" name="插图" descr="抠-P10c-3500e3f4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27400" y="5596128"/>
            <a:ext cx="4640238" cy="2331720"/>
          </a:xfrm>
          <a:prstGeom prst="rect">
            <a:avLst/>
          </a:prstGeom>
        </p:spPr>
      </p:pic>
      <p:pic>
        <p:nvPicPr>
          <p:cNvPr id="58" name="提示图标" descr="手指点击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750" y="9297924"/>
            <a:ext cx="502920" cy="502920"/>
          </a:xfrm>
          <a:prstGeom prst="rect">
            <a:avLst/>
          </a:prstGeom>
        </p:spPr>
      </p:pic>
      <p:pic>
        <p:nvPicPr>
          <p:cNvPr id="59" name="吉祥物" descr="抠-吉祥物-8254cfc28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38760" y="341947"/>
            <a:ext cx="1481328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FFF3D6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8947949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整篇怎么安排？看例文《鲸》：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一段讲一件事</a:t>
            </a:r>
            <a:endParaRPr lang="en-US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9525000" cy="1304925"/>
          </a:xfrm>
          <a:prstGeom prst="roundRect">
            <a:avLst>
              <a:gd name="adj" fmla="val 11679"/>
            </a:avLst>
          </a:prstGeom>
          <a:solidFill>
            <a:srgbClr val="DCE6F5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390650" y="3067050"/>
            <a:ext cx="9104376" cy="9239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325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只看每一段开头的一两句，数一数它分了几段，每一段讲的是鲸的</a:t>
            </a: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哪一件事</a:t>
            </a:r>
            <a:r>
              <a:rPr lang="en-US" sz="2325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。前后桌对一对答案。</a:t>
            </a:r>
            <a:endParaRPr lang="en-US" sz="2325" dirty="0"/>
          </a:p>
        </p:txBody>
      </p:sp>
      <p:sp>
        <p:nvSpPr>
          <p:cNvPr id="9" name="Shape 6"/>
          <p:cNvSpPr/>
          <p:nvPr/>
        </p:nvSpPr>
        <p:spPr>
          <a:xfrm>
            <a:off x="1047750" y="4629150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409700" y="4486275"/>
            <a:ext cx="9437942" cy="9772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“一件事”就是</a:t>
            </a:r>
            <a:r>
              <a:rPr lang="en-US" sz="25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一个方面</a:t>
            </a: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：样子、构造、怎么用、怎么做出来的、有趣的知识</a:t>
            </a:r>
            <a:endParaRPr lang="en-US" sz="2550" dirty="0"/>
          </a:p>
        </p:txBody>
      </p:sp>
      <p:sp>
        <p:nvSpPr>
          <p:cNvPr id="11" name="Shape 8"/>
          <p:cNvSpPr/>
          <p:nvPr/>
        </p:nvSpPr>
        <p:spPr>
          <a:xfrm>
            <a:off x="1047750" y="5796855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409700" y="5653980"/>
            <a:ext cx="9437942" cy="9772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一个方面写一段，</a:t>
            </a:r>
            <a:r>
              <a:rPr lang="en-US" sz="25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每段开头一两句先说出这一段讲哪个方面</a:t>
            </a: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，读的人才看得清楚</a:t>
            </a:r>
            <a:endParaRPr lang="en-US" sz="2550" dirty="0"/>
          </a:p>
        </p:txBody>
      </p:sp>
      <p:sp>
        <p:nvSpPr>
          <p:cNvPr id="13" name="Shape 10"/>
          <p:cNvSpPr/>
          <p:nvPr/>
        </p:nvSpPr>
        <p:spPr>
          <a:xfrm>
            <a:off x="1047750" y="6964561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409700" y="6821686"/>
            <a:ext cx="9437942" cy="9772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每一段里再用一两种说明方法。课本批注：“通过作比较、列数字，鲸的庞大就具体可感了。”</a:t>
            </a:r>
            <a:endParaRPr lang="en-US" sz="2550" dirty="0"/>
          </a:p>
        </p:txBody>
      </p:sp>
      <p:sp>
        <p:nvSpPr>
          <p:cNvPr id="15" name="Shape 12"/>
          <p:cNvSpPr/>
          <p:nvPr/>
        </p:nvSpPr>
        <p:spPr>
          <a:xfrm>
            <a:off x="1047750" y="8132266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409700" y="7989391"/>
            <a:ext cx="9437942" cy="9772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介绍一种做法（怎样泡酸菜、溜溜球怎么玩），方面就</a:t>
            </a:r>
            <a:r>
              <a:rPr lang="en-US" sz="25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按步骤来分</a:t>
            </a: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，像例文《风向袋的制作》那样，一步一段</a:t>
            </a:r>
            <a:endParaRPr lang="en-US" sz="25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956636"/>
            <a:ext cx="7223760" cy="5791047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687830" y="9334500"/>
            <a:ext cx="1717167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多大、有几种、吃什么、怎么呼吸、怎么睡觉，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一段一个方面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，读的人一看开头就知道这一段说什么。</a:t>
            </a:r>
            <a:endParaRPr lang="en-US" sz="2605" dirty="0"/>
          </a:p>
        </p:txBody>
      </p:sp>
      <p:pic>
        <p:nvPicPr>
          <p:cNvPr id="48" name="提示图标" descr="手指点击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297924"/>
            <a:ext cx="502920" cy="502920"/>
          </a:xfrm>
          <a:prstGeom prst="rect">
            <a:avLst/>
          </a:prstGeom>
        </p:spPr>
      </p:pic>
      <p:pic>
        <p:nvPicPr>
          <p:cNvPr id="49" name="吉祥物" descr="抠-吉祥物-8254cfc28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8760" y="341947"/>
            <a:ext cx="1481328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底带"/>
          <p:cNvSpPr/>
          <p:nvPr/>
        </p:nvSpPr>
        <p:spPr>
          <a:xfrm>
            <a:off x="1051560" y="4526280"/>
            <a:ext cx="6099048" cy="4617720"/>
          </a:xfrm>
          <a:prstGeom prst="roundRect">
            <a:avLst>
              <a:gd name="adj" fmla="val 4950"/>
            </a:avLst>
          </a:prstGeom>
          <a:solidFill>
            <a:srgbClr val="FFF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FFF3D6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7605683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今天这篇习作的写法，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归纳起来有两条</a:t>
            </a:r>
            <a:endParaRPr lang="en-US" sz="3205" dirty="0"/>
          </a:p>
        </p:txBody>
      </p:sp>
      <p:sp>
        <p:nvSpPr>
          <p:cNvPr id="7" name="Shape 4"/>
          <p:cNvSpPr/>
          <p:nvPr/>
        </p:nvSpPr>
        <p:spPr>
          <a:xfrm>
            <a:off x="1162050" y="2433638"/>
            <a:ext cx="742950" cy="66675"/>
          </a:xfrm>
          <a:prstGeom prst="roundRect">
            <a:avLst>
              <a:gd name="adj" fmla="val 50000"/>
            </a:avLst>
          </a:prstGeom>
          <a:solidFill>
            <a:srgbClr val="C0392B"/>
          </a:solidFill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47750" y="3143250"/>
            <a:ext cx="6096000" cy="1143000"/>
          </a:xfrm>
          <a:prstGeom prst="roundRect">
            <a:avLst>
              <a:gd name="adj" fmla="val 3929"/>
            </a:avLst>
          </a:prstGeom>
          <a:gradFill rotWithShape="1">
            <a:gsLst>
              <a:gs pos="0">
                <a:srgbClr val="3D4A63">
                  <a:alpha val="100000"/>
                </a:srgbClr>
              </a:gs>
              <a:gs pos="100000">
                <a:srgbClr val="2C3650">
                  <a:alpha val="100000"/>
                </a:srgbClr>
              </a:gs>
            </a:gsLst>
            <a:lin ang="2700000" scaled="0"/>
          </a:gradFill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48740" y="3456432"/>
            <a:ext cx="5494020" cy="6400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分方面 说清楚</a:t>
            </a:r>
            <a:endParaRPr lang="en-US" sz="7200" dirty="0"/>
          </a:p>
        </p:txBody>
      </p:sp>
      <p:sp>
        <p:nvSpPr>
          <p:cNvPr id="10" name="Shape 7"/>
          <p:cNvSpPr/>
          <p:nvPr/>
        </p:nvSpPr>
        <p:spPr>
          <a:xfrm>
            <a:off x="8001000" y="323850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171111" y="3314700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8753475" y="3295650"/>
            <a:ext cx="8741378" cy="10382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分方面介绍</a:t>
            </a: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，一个方面一段，开头一两句先告诉读的人这一段介绍的是哪个方面</a:t>
            </a:r>
            <a:endParaRPr lang="en-US" sz="2625" dirty="0"/>
          </a:p>
        </p:txBody>
      </p:sp>
      <p:sp>
        <p:nvSpPr>
          <p:cNvPr id="13" name="Shape 10"/>
          <p:cNvSpPr/>
          <p:nvPr/>
        </p:nvSpPr>
        <p:spPr>
          <a:xfrm>
            <a:off x="8001000" y="4619625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8171111" y="4695825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8753475" y="4676775"/>
            <a:ext cx="8741378" cy="10382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每个方面用</a:t>
            </a:r>
            <a:r>
              <a:rPr 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一两种说明方法</a:t>
            </a: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把特点说清楚：列数字、作比较、打比方、举例子</a:t>
            </a:r>
            <a:endParaRPr lang="en-US" sz="2625" dirty="0"/>
          </a:p>
        </p:txBody>
      </p:sp>
      <p:sp>
        <p:nvSpPr>
          <p:cNvPr id="16" name="Shape 13"/>
          <p:cNvSpPr/>
          <p:nvPr/>
        </p:nvSpPr>
        <p:spPr>
          <a:xfrm>
            <a:off x="8001000" y="6000750"/>
            <a:ext cx="9239250" cy="1448693"/>
          </a:xfrm>
          <a:prstGeom prst="roundRect">
            <a:avLst>
              <a:gd name="adj" fmla="val 11835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8362950" y="6267450"/>
            <a:ext cx="8770811" cy="95339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另外，用到具体数字的时候，</a:t>
            </a: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有把握的写准，不太确定的写“大约”“左右”</a:t>
            </a:r>
            <a:r>
              <a:rPr 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325" dirty="0"/>
          </a:p>
        </p:txBody>
      </p:sp>
      <p:sp>
        <p:nvSpPr>
          <p:cNvPr id="18" name="Text 15"/>
          <p:cNvSpPr/>
          <p:nvPr/>
        </p:nvSpPr>
        <p:spPr>
          <a:xfrm>
            <a:off x="1687830" y="9334500"/>
            <a:ext cx="1717167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介绍一种事物，写的是这种事物本身，要让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不了解它的人读完就认识它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605" dirty="0"/>
          </a:p>
        </p:txBody>
      </p:sp>
      <p:pic>
        <p:nvPicPr>
          <p:cNvPr id="47" name="插图" descr="抠-P12c-5ba8252bb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969" y="4617720"/>
            <a:ext cx="4599661" cy="4434840"/>
          </a:xfrm>
          <a:prstGeom prst="rect">
            <a:avLst/>
          </a:prstGeom>
        </p:spPr>
      </p:pic>
      <p:pic>
        <p:nvPicPr>
          <p:cNvPr id="49" name="提示图标" descr="手指点击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297924"/>
            <a:ext cx="502920" cy="502920"/>
          </a:xfrm>
          <a:prstGeom prst="rect">
            <a:avLst/>
          </a:prstGeom>
        </p:spPr>
      </p:pic>
      <p:pic>
        <p:nvPicPr>
          <p:cNvPr id="50" name="吉祥物" descr="抠-吉祥物-8254cfc28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8760" y="341947"/>
            <a:ext cx="1481328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写作构思表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7750" y="1428750"/>
            <a:ext cx="2724150" cy="6819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9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写作构思表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1047750" y="2133600"/>
            <a:ext cx="9454515" cy="5048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8A92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一行写一个方面，格子里记关键词即可，完整的句子留到动笔时再写</a:t>
            </a:r>
            <a:endParaRPr lang="en-US" sz="2250" dirty="0"/>
          </a:p>
        </p:txBody>
      </p:sp>
      <p:sp>
        <p:nvSpPr>
          <p:cNvPr id="7" name="Shape 4"/>
          <p:cNvSpPr/>
          <p:nvPr/>
        </p:nvSpPr>
        <p:spPr>
          <a:xfrm>
            <a:off x="1047750" y="2819400"/>
            <a:ext cx="16192500" cy="5638800"/>
          </a:xfrm>
          <a:prstGeom prst="roundRect">
            <a:avLst>
              <a:gd name="adj" fmla="val 2365"/>
            </a:avLst>
          </a:prstGeom>
          <a:ln w="9525">
            <a:solidFill>
              <a:srgbClr val="DFE3E9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828925"/>
            <a:ext cx="16173450" cy="1104900"/>
          </a:xfrm>
          <a:prstGeom prst="rect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62075" y="3000375"/>
            <a:ext cx="435864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介绍的方面</a:t>
            </a:r>
            <a:endParaRPr lang="en-US" sz="2250" dirty="0"/>
          </a:p>
        </p:txBody>
      </p:sp>
      <p:sp>
        <p:nvSpPr>
          <p:cNvPr id="10" name="Shape 7"/>
          <p:cNvSpPr/>
          <p:nvPr/>
        </p:nvSpPr>
        <p:spPr>
          <a:xfrm>
            <a:off x="5629275" y="2828925"/>
            <a:ext cx="9525" cy="1104900"/>
          </a:xfrm>
          <a:prstGeom prst="rect">
            <a:avLst/>
          </a:prstGeom>
          <a:solidFill>
            <a:srgbClr val="FFFFFF">
              <a:alpha val="25000"/>
            </a:srgbClr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5943600" y="3000375"/>
            <a:ext cx="4557713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特点（关键词）</a:t>
            </a:r>
            <a:endParaRPr lang="en-US" sz="2250" dirty="0"/>
          </a:p>
        </p:txBody>
      </p:sp>
      <p:sp>
        <p:nvSpPr>
          <p:cNvPr id="12" name="Shape 9"/>
          <p:cNvSpPr/>
          <p:nvPr/>
        </p:nvSpPr>
        <p:spPr>
          <a:xfrm>
            <a:off x="10391775" y="2828925"/>
            <a:ext cx="9525" cy="1104900"/>
          </a:xfrm>
          <a:prstGeom prst="rect">
            <a:avLst/>
          </a:prstGeom>
          <a:solidFill>
            <a:srgbClr val="FFFFFF">
              <a:alpha val="25000"/>
            </a:srgbClr>
          </a:solidFill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0706100" y="3000375"/>
            <a:ext cx="6406420" cy="800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打算怎么说清（数字、比的对象、像什么，或要举的例子）</a:t>
            </a:r>
            <a:endParaRPr lang="en-US" sz="2250" dirty="0"/>
          </a:p>
        </p:txBody>
      </p:sp>
      <p:sp>
        <p:nvSpPr>
          <p:cNvPr id="14" name="Shape 11"/>
          <p:cNvSpPr/>
          <p:nvPr/>
        </p:nvSpPr>
        <p:spPr>
          <a:xfrm>
            <a:off x="1057275" y="3933825"/>
            <a:ext cx="16173450" cy="752475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362075" y="4124325"/>
            <a:ext cx="409956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开头：它是什么</a:t>
            </a:r>
            <a:endParaRPr lang="en-US" sz="2175" dirty="0"/>
          </a:p>
        </p:txBody>
      </p:sp>
      <p:sp>
        <p:nvSpPr>
          <p:cNvPr id="16" name="Shape 13"/>
          <p:cNvSpPr/>
          <p:nvPr/>
        </p:nvSpPr>
        <p:spPr>
          <a:xfrm>
            <a:off x="5629275" y="3933825"/>
            <a:ext cx="9525" cy="7524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10391775" y="3933825"/>
            <a:ext cx="9525" cy="7524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57275" y="4686300"/>
            <a:ext cx="16173450" cy="75247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362075" y="4876800"/>
            <a:ext cx="409956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方面一：</a:t>
            </a:r>
            <a:r>
              <a:rPr 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＿＿＿</a:t>
            </a:r>
            <a:endParaRPr lang="en-US" sz="2175" dirty="0"/>
          </a:p>
        </p:txBody>
      </p:sp>
      <p:sp>
        <p:nvSpPr>
          <p:cNvPr id="20" name="Shape 17"/>
          <p:cNvSpPr/>
          <p:nvPr/>
        </p:nvSpPr>
        <p:spPr>
          <a:xfrm>
            <a:off x="5629275" y="4686300"/>
            <a:ext cx="9525" cy="7524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391775" y="4686300"/>
            <a:ext cx="9525" cy="7524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57275" y="5438775"/>
            <a:ext cx="16173450" cy="752475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362075" y="5629275"/>
            <a:ext cx="409956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方面二：</a:t>
            </a:r>
            <a:r>
              <a:rPr 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＿＿＿</a:t>
            </a:r>
            <a:endParaRPr lang="en-US" sz="2175" dirty="0"/>
          </a:p>
        </p:txBody>
      </p:sp>
      <p:sp>
        <p:nvSpPr>
          <p:cNvPr id="24" name="Shape 21"/>
          <p:cNvSpPr/>
          <p:nvPr/>
        </p:nvSpPr>
        <p:spPr>
          <a:xfrm>
            <a:off x="5629275" y="5438775"/>
            <a:ext cx="9525" cy="7524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391775" y="5438775"/>
            <a:ext cx="9525" cy="7524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57275" y="6191250"/>
            <a:ext cx="16173450" cy="75247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1362075" y="6381750"/>
            <a:ext cx="409956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方面三：</a:t>
            </a:r>
            <a:r>
              <a:rPr 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＿＿＿</a:t>
            </a:r>
            <a:endParaRPr lang="en-US" sz="2175" dirty="0"/>
          </a:p>
        </p:txBody>
      </p:sp>
      <p:sp>
        <p:nvSpPr>
          <p:cNvPr id="28" name="Shape 25"/>
          <p:cNvSpPr/>
          <p:nvPr/>
        </p:nvSpPr>
        <p:spPr>
          <a:xfrm>
            <a:off x="5629275" y="6191250"/>
            <a:ext cx="9525" cy="7524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10391775" y="6191250"/>
            <a:ext cx="9525" cy="7524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>
            <a:off x="1057275" y="6943725"/>
            <a:ext cx="16173450" cy="752475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1362075" y="7134225"/>
            <a:ext cx="409956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结尾：我对它的看法（一两句）</a:t>
            </a:r>
            <a:endParaRPr lang="en-US" sz="2175" dirty="0"/>
          </a:p>
        </p:txBody>
      </p:sp>
      <p:sp>
        <p:nvSpPr>
          <p:cNvPr id="32" name="Shape 29"/>
          <p:cNvSpPr/>
          <p:nvPr/>
        </p:nvSpPr>
        <p:spPr>
          <a:xfrm>
            <a:off x="5629275" y="6943725"/>
            <a:ext cx="9525" cy="7524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10391775" y="6943725"/>
            <a:ext cx="9525" cy="7524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1057275" y="7696200"/>
            <a:ext cx="16173450" cy="75247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1362075" y="7719695"/>
            <a:ext cx="4375785" cy="8286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对方问过我的两个问题</a:t>
            </a:r>
            <a:r>
              <a:rPr lang="zh-CN" alt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endParaRPr lang="zh-CN" altLang="en-US" sz="2175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r>
              <a:rPr lang="zh-CN" alt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打算放在哪一个方面回答</a:t>
            </a:r>
            <a:endParaRPr lang="zh-CN" altLang="en-US" sz="2175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5629275" y="7696200"/>
            <a:ext cx="9525" cy="7524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10391775" y="7696200"/>
            <a:ext cx="9525" cy="7524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1047750" y="9353550"/>
            <a:ext cx="1781175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对方问的两个问题先照抄，再想一想它们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属于哪一个方面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；不属于已有方面的，就另加一行。</a:t>
            </a:r>
            <a:endParaRPr lang="en-US" sz="260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写作构思表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FFF3D6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6263580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看老师先填一张：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介绍一个魔方</a:t>
            </a:r>
            <a:endParaRPr lang="en-US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667000"/>
            <a:ext cx="16192500" cy="5724227"/>
          </a:xfrm>
          <a:prstGeom prst="roundRect">
            <a:avLst>
              <a:gd name="adj" fmla="val 2330"/>
            </a:avLst>
          </a:prstGeom>
          <a:ln w="9525">
            <a:solidFill>
              <a:srgbClr val="DFE3E9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676525"/>
            <a:ext cx="16173450" cy="619125"/>
          </a:xfrm>
          <a:prstGeom prst="rect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23975" y="2809875"/>
            <a:ext cx="3604260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介绍的方面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4867275" y="2676525"/>
            <a:ext cx="9525" cy="619125"/>
          </a:xfrm>
          <a:prstGeom prst="rect">
            <a:avLst/>
          </a:prstGeom>
          <a:solidFill>
            <a:srgbClr val="FFFFFF">
              <a:alpha val="25000"/>
            </a:srgbClr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5143500" y="2809875"/>
            <a:ext cx="5270183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特点（关键词）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10201275" y="2676525"/>
            <a:ext cx="9525" cy="619125"/>
          </a:xfrm>
          <a:prstGeom prst="rect">
            <a:avLst/>
          </a:prstGeom>
          <a:solidFill>
            <a:srgbClr val="FFFFFF">
              <a:alpha val="25000"/>
            </a:srgbClr>
          </a:solidFill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0477500" y="2809875"/>
            <a:ext cx="7135178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打算怎么说清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1057275" y="3295650"/>
            <a:ext cx="16173450" cy="607665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323975" y="3419475"/>
            <a:ext cx="3390900" cy="39811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开头：它是什么</a:t>
            </a:r>
            <a:endParaRPr lang="en-US" sz="2025" dirty="0"/>
          </a:p>
        </p:txBody>
      </p:sp>
      <p:sp>
        <p:nvSpPr>
          <p:cNvPr id="16" name="Shape 13"/>
          <p:cNvSpPr/>
          <p:nvPr/>
        </p:nvSpPr>
        <p:spPr>
          <a:xfrm>
            <a:off x="4867275" y="3295650"/>
            <a:ext cx="9525" cy="60766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5143500" y="3419475"/>
            <a:ext cx="4951095" cy="39811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2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正方体、能转、打乱再复原、玩了两年</a:t>
            </a:r>
            <a:endParaRPr lang="en-US" sz="2025" dirty="0"/>
          </a:p>
        </p:txBody>
      </p:sp>
      <p:sp>
        <p:nvSpPr>
          <p:cNvPr id="18" name="Shape 15"/>
          <p:cNvSpPr/>
          <p:nvPr/>
        </p:nvSpPr>
        <p:spPr>
          <a:xfrm>
            <a:off x="10201275" y="3295650"/>
            <a:ext cx="9525" cy="60766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0477500" y="3419475"/>
            <a:ext cx="6697409" cy="39811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2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一句话</a:t>
            </a:r>
            <a:endParaRPr lang="en-US" sz="2025" dirty="0"/>
          </a:p>
        </p:txBody>
      </p:sp>
      <p:sp>
        <p:nvSpPr>
          <p:cNvPr id="20" name="Shape 17"/>
          <p:cNvSpPr/>
          <p:nvPr/>
        </p:nvSpPr>
        <p:spPr>
          <a:xfrm>
            <a:off x="1057275" y="3903315"/>
            <a:ext cx="16173450" cy="60766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323975" y="4027140"/>
            <a:ext cx="3390900" cy="39811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方面一：样子</a:t>
            </a:r>
            <a:endParaRPr lang="en-US" sz="2025" dirty="0"/>
          </a:p>
        </p:txBody>
      </p:sp>
      <p:sp>
        <p:nvSpPr>
          <p:cNvPr id="22" name="Shape 19"/>
          <p:cNvSpPr/>
          <p:nvPr/>
        </p:nvSpPr>
        <p:spPr>
          <a:xfrm>
            <a:off x="4867275" y="3903315"/>
            <a:ext cx="9525" cy="60766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5143500" y="4027140"/>
            <a:ext cx="4951095" cy="39811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2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六种颜色、一面九格</a:t>
            </a:r>
            <a:endParaRPr lang="en-US" sz="2025" dirty="0"/>
          </a:p>
        </p:txBody>
      </p:sp>
      <p:sp>
        <p:nvSpPr>
          <p:cNvPr id="24" name="Shape 21"/>
          <p:cNvSpPr/>
          <p:nvPr/>
        </p:nvSpPr>
        <p:spPr>
          <a:xfrm>
            <a:off x="10201275" y="3903315"/>
            <a:ext cx="9525" cy="60766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0477500" y="4027140"/>
            <a:ext cx="6697409" cy="39811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边长约 5.6 厘米（量的）</a:t>
            </a:r>
            <a:r>
              <a:rPr lang="en-US" sz="20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</a:t>
            </a:r>
            <a:r>
              <a:rPr lang="en-US" sz="2025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一只手握住</a:t>
            </a:r>
            <a:r>
              <a:rPr lang="en-US" sz="20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、一共 54 格</a:t>
            </a:r>
            <a:endParaRPr lang="en-US" sz="2025" dirty="0"/>
          </a:p>
        </p:txBody>
      </p:sp>
      <p:sp>
        <p:nvSpPr>
          <p:cNvPr id="26" name="Shape 23"/>
          <p:cNvSpPr/>
          <p:nvPr/>
        </p:nvSpPr>
        <p:spPr>
          <a:xfrm>
            <a:off x="1057275" y="4510980"/>
            <a:ext cx="16173450" cy="967680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1323975" y="4634805"/>
            <a:ext cx="3390900" cy="7581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方面二：构造</a:t>
            </a:r>
            <a:endParaRPr lang="en-US" sz="2025" dirty="0"/>
          </a:p>
        </p:txBody>
      </p:sp>
      <p:sp>
        <p:nvSpPr>
          <p:cNvPr id="28" name="Shape 25"/>
          <p:cNvSpPr/>
          <p:nvPr/>
        </p:nvSpPr>
        <p:spPr>
          <a:xfrm>
            <a:off x="4867275" y="4510980"/>
            <a:ext cx="9525" cy="967680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5143500" y="4634805"/>
            <a:ext cx="4951095" cy="7581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2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看着是一整块、其实是拼起来的、正当中那六块不动</a:t>
            </a:r>
            <a:endParaRPr lang="en-US" sz="2025" dirty="0"/>
          </a:p>
        </p:txBody>
      </p:sp>
      <p:sp>
        <p:nvSpPr>
          <p:cNvPr id="30" name="Shape 27"/>
          <p:cNvSpPr/>
          <p:nvPr/>
        </p:nvSpPr>
        <p:spPr>
          <a:xfrm>
            <a:off x="10201275" y="4510980"/>
            <a:ext cx="9525" cy="967680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10477500" y="4634805"/>
            <a:ext cx="6697409" cy="7581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26 个小方块：角上 8 个、棱中间 12 个、每面正当中 6 个</a:t>
            </a:r>
            <a:r>
              <a:rPr lang="en-US" sz="20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；</a:t>
            </a:r>
            <a:r>
              <a:rPr lang="en-US" sz="2025" b="1" dirty="0">
                <a:solidFill>
                  <a:srgbClr val="4E9A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转起来像门绕着门轴</a:t>
            </a:r>
            <a:endParaRPr lang="en-US" sz="2025" dirty="0"/>
          </a:p>
        </p:txBody>
      </p:sp>
      <p:sp>
        <p:nvSpPr>
          <p:cNvPr id="32" name="Shape 29"/>
          <p:cNvSpPr/>
          <p:nvPr/>
        </p:nvSpPr>
        <p:spPr>
          <a:xfrm>
            <a:off x="1057275" y="5478661"/>
            <a:ext cx="16173450" cy="96768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1323975" y="5602486"/>
            <a:ext cx="3390900" cy="7581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方面三：怎么复原</a:t>
            </a:r>
            <a:endParaRPr lang="en-US" sz="2025" dirty="0"/>
          </a:p>
        </p:txBody>
      </p:sp>
      <p:sp>
        <p:nvSpPr>
          <p:cNvPr id="34" name="Shape 31"/>
          <p:cNvSpPr/>
          <p:nvPr/>
        </p:nvSpPr>
        <p:spPr>
          <a:xfrm>
            <a:off x="4867275" y="5478661"/>
            <a:ext cx="9525" cy="967680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5143500" y="5602486"/>
            <a:ext cx="4951095" cy="7581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2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层先法、四步</a:t>
            </a:r>
            <a:endParaRPr lang="en-US" sz="2025" dirty="0"/>
          </a:p>
        </p:txBody>
      </p:sp>
      <p:sp>
        <p:nvSpPr>
          <p:cNvPr id="36" name="Shape 33"/>
          <p:cNvSpPr/>
          <p:nvPr/>
        </p:nvSpPr>
        <p:spPr>
          <a:xfrm>
            <a:off x="10201275" y="5478661"/>
            <a:ext cx="9525" cy="967680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10477500" y="5602486"/>
            <a:ext cx="6697409" cy="7581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25" b="1" dirty="0">
                <a:solidFill>
                  <a:srgbClr val="8E5A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举例：十字→第一层角→第二层→顶层</a:t>
            </a:r>
            <a:r>
              <a:rPr lang="en-US" sz="20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；</a:t>
            </a:r>
            <a:r>
              <a:rPr lang="en-US" sz="20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 多分钟→2 分钟</a:t>
            </a:r>
            <a:endParaRPr lang="en-US" sz="2025" dirty="0"/>
          </a:p>
        </p:txBody>
      </p:sp>
      <p:sp>
        <p:nvSpPr>
          <p:cNvPr id="38" name="Shape 35"/>
          <p:cNvSpPr/>
          <p:nvPr/>
        </p:nvSpPr>
        <p:spPr>
          <a:xfrm>
            <a:off x="1057275" y="6446341"/>
            <a:ext cx="16173450" cy="967680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1323975" y="6570166"/>
            <a:ext cx="3390900" cy="7581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结尾：我对它的看法</a:t>
            </a:r>
            <a:endParaRPr lang="en-US" sz="2025" dirty="0"/>
          </a:p>
        </p:txBody>
      </p:sp>
      <p:sp>
        <p:nvSpPr>
          <p:cNvPr id="40" name="Shape 37"/>
          <p:cNvSpPr/>
          <p:nvPr/>
        </p:nvSpPr>
        <p:spPr>
          <a:xfrm>
            <a:off x="4867275" y="6446341"/>
            <a:ext cx="9525" cy="967680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5143500" y="6570166"/>
            <a:ext cx="4951095" cy="7581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2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带在身边，有空就能转一阵；手和脑子都要动</a:t>
            </a:r>
            <a:endParaRPr lang="en-US" sz="2025" dirty="0"/>
          </a:p>
        </p:txBody>
      </p:sp>
      <p:sp>
        <p:nvSpPr>
          <p:cNvPr id="42" name="Shape 39"/>
          <p:cNvSpPr/>
          <p:nvPr/>
        </p:nvSpPr>
        <p:spPr>
          <a:xfrm>
            <a:off x="10201275" y="6446341"/>
            <a:ext cx="9525" cy="967680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10477500" y="6570166"/>
            <a:ext cx="6697409" cy="7581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2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一两句</a:t>
            </a:r>
            <a:endParaRPr lang="en-US" sz="2025" dirty="0"/>
          </a:p>
        </p:txBody>
      </p:sp>
      <p:sp>
        <p:nvSpPr>
          <p:cNvPr id="44" name="Shape 41"/>
          <p:cNvSpPr/>
          <p:nvPr/>
        </p:nvSpPr>
        <p:spPr>
          <a:xfrm>
            <a:off x="1057275" y="7414022"/>
            <a:ext cx="16173450" cy="96768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45" name="Text 42"/>
          <p:cNvSpPr/>
          <p:nvPr/>
        </p:nvSpPr>
        <p:spPr>
          <a:xfrm>
            <a:off x="1323975" y="7538085"/>
            <a:ext cx="3018790" cy="7581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对方问过我的两个问题</a:t>
            </a:r>
            <a:r>
              <a:rPr lang="zh-CN" altLang="en-US" sz="20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，打算放到哪一个方面回答</a:t>
            </a:r>
            <a:endParaRPr lang="zh-CN" altLang="en-US" sz="2025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6" name="Shape 43"/>
          <p:cNvSpPr/>
          <p:nvPr/>
        </p:nvSpPr>
        <p:spPr>
          <a:xfrm>
            <a:off x="4867275" y="7414022"/>
            <a:ext cx="9525" cy="967680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47" name="Text 44"/>
          <p:cNvSpPr/>
          <p:nvPr/>
        </p:nvSpPr>
        <p:spPr>
          <a:xfrm>
            <a:off x="5143500" y="7537847"/>
            <a:ext cx="4951095" cy="7581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2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多久能拼好？掉地上会不会坏？</a:t>
            </a:r>
            <a:endParaRPr lang="en-US" sz="2025" dirty="0"/>
          </a:p>
        </p:txBody>
      </p:sp>
      <p:sp>
        <p:nvSpPr>
          <p:cNvPr id="48" name="Shape 45"/>
          <p:cNvSpPr/>
          <p:nvPr/>
        </p:nvSpPr>
        <p:spPr>
          <a:xfrm>
            <a:off x="10201275" y="7414022"/>
            <a:ext cx="9525" cy="967680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49" name="Text 46"/>
          <p:cNvSpPr/>
          <p:nvPr/>
        </p:nvSpPr>
        <p:spPr>
          <a:xfrm>
            <a:off x="10477500" y="7537847"/>
            <a:ext cx="6697409" cy="7581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第一个放“怎么复原”；第二个不属于上面三个方面，就</a:t>
            </a:r>
            <a:r>
              <a:rPr lang="en-US" sz="20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另加一个方面：怕摔</a:t>
            </a:r>
            <a:endParaRPr lang="en-US" sz="2025" dirty="0"/>
          </a:p>
        </p:txBody>
      </p:sp>
      <p:sp>
        <p:nvSpPr>
          <p:cNvPr id="50" name="Text 47"/>
          <p:cNvSpPr/>
          <p:nvPr/>
        </p:nvSpPr>
        <p:spPr>
          <a:xfrm>
            <a:off x="1687830" y="9353550"/>
            <a:ext cx="1717167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三个方面，加一个开头、一个结尾；对方问的两个问题，一个放进已有的方面，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一个另加一行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605" dirty="0"/>
          </a:p>
        </p:txBody>
      </p:sp>
      <p:pic>
        <p:nvPicPr>
          <p:cNvPr id="151" name="提示图标" descr="手指点击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9316974"/>
            <a:ext cx="502920" cy="502920"/>
          </a:xfrm>
          <a:prstGeom prst="rect">
            <a:avLst/>
          </a:prstGeom>
        </p:spPr>
      </p:pic>
      <p:pic>
        <p:nvPicPr>
          <p:cNvPr id="152" name="吉祥物" descr="抠-吉祥物-8254cfc28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8760" y="341947"/>
            <a:ext cx="1481328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写作构思表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FFF3D6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8053105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轮到你了：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三分钟填表，再圈出一个方面</a:t>
            </a:r>
            <a:endParaRPr lang="en-US" sz="3205" dirty="0"/>
          </a:p>
        </p:txBody>
      </p:sp>
      <p:sp>
        <p:nvSpPr>
          <p:cNvPr id="7" name="Shape 4"/>
          <p:cNvSpPr/>
          <p:nvPr/>
        </p:nvSpPr>
        <p:spPr>
          <a:xfrm>
            <a:off x="7539990" y="304800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7710101" y="3124200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8292465" y="3124200"/>
            <a:ext cx="9133808" cy="9772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填出三个方面，每一格写</a:t>
            </a:r>
            <a:r>
              <a:rPr lang="en-US" sz="25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关键词</a:t>
            </a: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；想不出三个方面的，从“样子、构造、用法、有趣的知识”里选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7539990" y="4349055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710101" y="4425255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8292465" y="4425255"/>
            <a:ext cx="9133808" cy="9772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刚才口头说的那一句里用到的数字、比较和比方，</a:t>
            </a:r>
            <a:r>
              <a:rPr lang="en-US" sz="25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直接写进第三格</a:t>
            </a: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；没有把握的数字写“大约”</a:t>
            </a:r>
            <a:endParaRPr lang="en-US" sz="2550" dirty="0"/>
          </a:p>
        </p:txBody>
      </p:sp>
      <p:sp>
        <p:nvSpPr>
          <p:cNvPr id="13" name="Shape 10"/>
          <p:cNvSpPr/>
          <p:nvPr/>
        </p:nvSpPr>
        <p:spPr>
          <a:xfrm>
            <a:off x="7539990" y="5650111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710101" y="5726311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8292465" y="5726311"/>
            <a:ext cx="9133808" cy="9772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填好后，在三个方面中</a:t>
            </a:r>
            <a:r>
              <a:rPr lang="en-US" sz="25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圈出一个</a:t>
            </a: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：选你最有把握、最能说清楚的那一个，动笔时把它写得最详细</a:t>
            </a:r>
            <a:endParaRPr lang="en-US" sz="255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064" y="2651760"/>
            <a:ext cx="6663391" cy="489204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1047750" y="7610475"/>
            <a:ext cx="16192500" cy="1343025"/>
          </a:xfrm>
          <a:prstGeom prst="roundRect">
            <a:avLst>
              <a:gd name="adj" fmla="val 11348"/>
            </a:avLst>
          </a:prstGeom>
          <a:solidFill>
            <a:srgbClr val="DCE6F5"/>
          </a:solidFill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1428750" y="7839075"/>
            <a:ext cx="15893415" cy="9239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325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圈好后，小声对自己说一遍：</a:t>
            </a:r>
            <a:r>
              <a:rPr lang="en-US" sz="2325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我要介绍的是什么，先说哪个方面、再说哪个方面，圈出的那个方面打算用哪几种说明方法。哪一处说不下去，就回到那一格再补一两个关键词。</a:t>
            </a:r>
            <a:endParaRPr lang="en-US" sz="2325" dirty="0"/>
          </a:p>
        </p:txBody>
      </p:sp>
      <p:sp>
        <p:nvSpPr>
          <p:cNvPr id="19" name="Text 15"/>
          <p:cNvSpPr/>
          <p:nvPr/>
        </p:nvSpPr>
        <p:spPr>
          <a:xfrm>
            <a:off x="1687830" y="9334500"/>
            <a:ext cx="1717167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例如：我介绍我家的乌龟，先说样子，再说吃什么，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圈的是它怎么晒太阳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，用举例子和列数字。</a:t>
            </a:r>
            <a:endParaRPr lang="en-US" sz="2605" dirty="0"/>
          </a:p>
        </p:txBody>
      </p:sp>
      <p:pic>
        <p:nvPicPr>
          <p:cNvPr id="49" name="提示图标" descr="手指点击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297924"/>
            <a:ext cx="502920" cy="502920"/>
          </a:xfrm>
          <a:prstGeom prst="rect">
            <a:avLst/>
          </a:prstGeom>
        </p:spPr>
      </p:pic>
      <p:pic>
        <p:nvPicPr>
          <p:cNvPr id="50" name="吉祥物" descr="抠-吉祥物-8254cfc28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8760" y="341947"/>
            <a:ext cx="1481328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教师示范文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FFF3D6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12079575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先只看写“样子”的一段：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表里的关键词是怎样写进这一段的</a:t>
            </a:r>
            <a:endParaRPr lang="en-US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7886700" cy="4069080"/>
          </a:xfrm>
          <a:prstGeom prst="roundRect">
            <a:avLst>
              <a:gd name="adj" fmla="val 4749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867025"/>
            <a:ext cx="7867650" cy="733425"/>
          </a:xfrm>
          <a:prstGeom prst="rect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62075" y="3038475"/>
            <a:ext cx="7983855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表中“方面一”那一行</a:t>
            </a:r>
            <a:endParaRPr lang="en-US" sz="2325" dirty="0"/>
          </a:p>
        </p:txBody>
      </p:sp>
      <p:sp>
        <p:nvSpPr>
          <p:cNvPr id="10" name="Shape 7"/>
          <p:cNvSpPr/>
          <p:nvPr/>
        </p:nvSpPr>
        <p:spPr>
          <a:xfrm>
            <a:off x="1057275" y="3600450"/>
            <a:ext cx="7867650" cy="3310128"/>
          </a:xfrm>
          <a:prstGeom prst="rect">
            <a:avLst/>
          </a:prstGeom>
          <a:solidFill>
            <a:srgbClr val="F7F8FA"/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381125" y="3905250"/>
            <a:ext cx="7436549" cy="204549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23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方面一：样子 </a:t>
            </a:r>
            <a:r>
              <a:rPr 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特点：六种颜色、一面九格 怎么说清：</a:t>
            </a: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边长约 5.6 厘米（量的）</a:t>
            </a:r>
            <a:r>
              <a:rPr 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</a:t>
            </a:r>
            <a:r>
              <a:rPr lang="en-US" sz="2325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一只手握住</a:t>
            </a:r>
            <a:r>
              <a:rPr 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</a:t>
            </a: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一共 54 格</a:t>
            </a:r>
            <a:endParaRPr lang="en-US" sz="2325" dirty="0"/>
          </a:p>
        </p:txBody>
      </p:sp>
      <p:sp>
        <p:nvSpPr>
          <p:cNvPr id="12" name="Shape 9"/>
          <p:cNvSpPr/>
          <p:nvPr/>
        </p:nvSpPr>
        <p:spPr>
          <a:xfrm>
            <a:off x="9353550" y="2857500"/>
            <a:ext cx="7886700" cy="4069080"/>
          </a:xfrm>
          <a:prstGeom prst="roundRect">
            <a:avLst>
              <a:gd name="adj" fmla="val 4749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9363075" y="2867025"/>
            <a:ext cx="7867650" cy="733425"/>
          </a:xfrm>
          <a:prstGeom prst="rect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9667875" y="3038475"/>
            <a:ext cx="7983855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文中写“样子”的一段</a:t>
            </a:r>
            <a:endParaRPr lang="en-US" sz="2325" dirty="0"/>
          </a:p>
        </p:txBody>
      </p:sp>
      <p:sp>
        <p:nvSpPr>
          <p:cNvPr id="15" name="Shape 12"/>
          <p:cNvSpPr/>
          <p:nvPr/>
        </p:nvSpPr>
        <p:spPr>
          <a:xfrm>
            <a:off x="9363075" y="3600450"/>
            <a:ext cx="7867650" cy="3310128"/>
          </a:xfrm>
          <a:prstGeom prst="rect">
            <a:avLst/>
          </a:prstGeom>
          <a:solidFill>
            <a:srgbClr val="F7F5F2"/>
          </a:solidFill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9686925" y="3905250"/>
            <a:ext cx="7436549" cy="154364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590550" algn="l">
              <a:lnSpc>
                <a:spcPct val="129000"/>
              </a:lnSpc>
              <a:buNone/>
            </a:pPr>
            <a:r>
              <a:rPr lang="en-US" sz="2325" b="1" u="sng" dirty="0">
                <a:solidFill>
                  <a:srgbClr val="2A2E37"/>
                </a:solidFill>
                <a:uFill>
                  <a:solidFill>
                    <a:srgbClr val="3D4A63"/>
                  </a:solidFill>
                </a:u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先说它的样子。</a:t>
            </a:r>
            <a:r>
              <a:rPr 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我用尺子量过，</a:t>
            </a: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边长大约 5.6 厘米</a:t>
            </a:r>
            <a:r>
              <a:rPr 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sz="2325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正好能被我一只手握住</a:t>
            </a:r>
            <a:r>
              <a:rPr 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。六个面各是一种颜色，每个面分成</a:t>
            </a: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九个小方格</a:t>
            </a:r>
            <a:r>
              <a:rPr 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，六个面一共</a:t>
            </a: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五十四格</a:t>
            </a:r>
            <a:r>
              <a:rPr 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325" dirty="0"/>
          </a:p>
        </p:txBody>
      </p:sp>
      <p:sp>
        <p:nvSpPr>
          <p:cNvPr id="17" name="Shape 14"/>
          <p:cNvSpPr/>
          <p:nvPr/>
        </p:nvSpPr>
        <p:spPr>
          <a:xfrm>
            <a:off x="1047750" y="7315200"/>
            <a:ext cx="16192500" cy="900113"/>
          </a:xfrm>
          <a:prstGeom prst="roundRect">
            <a:avLst>
              <a:gd name="adj" fmla="val 16931"/>
            </a:avLst>
          </a:prstGeom>
          <a:solidFill>
            <a:srgbClr val="DCE6F5"/>
          </a:solidFill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428750" y="7543800"/>
            <a:ext cx="16973550" cy="4810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325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同桌对照表说一说：表里</a:t>
            </a: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哪几个关键词进了这一段</a:t>
            </a:r>
            <a:r>
              <a:rPr lang="en-US" sz="2325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，各用了哪种说明方法。</a:t>
            </a:r>
            <a:endParaRPr lang="en-US" sz="2325" dirty="0"/>
          </a:p>
        </p:txBody>
      </p:sp>
      <p:sp>
        <p:nvSpPr>
          <p:cNvPr id="19" name="Text 16"/>
          <p:cNvSpPr/>
          <p:nvPr/>
        </p:nvSpPr>
        <p:spPr>
          <a:xfrm>
            <a:off x="1687830" y="9334500"/>
            <a:ext cx="1717167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表中记的是几个关键词，写进文中就成了一段话，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列数字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和</a:t>
            </a:r>
            <a:r>
              <a:rPr lang="en-US" sz="2605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作比较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两种说明方法都用上了。</a:t>
            </a:r>
            <a:endParaRPr lang="en-US" sz="2605" dirty="0"/>
          </a:p>
        </p:txBody>
      </p:sp>
      <p:pic>
        <p:nvPicPr>
          <p:cNvPr id="50" name="插图" descr="抠-P16-49dcfebe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3280" y="4610404"/>
            <a:ext cx="3108960" cy="2704795"/>
          </a:xfrm>
          <a:prstGeom prst="rect">
            <a:avLst/>
          </a:prstGeom>
        </p:spPr>
      </p:pic>
      <p:pic>
        <p:nvPicPr>
          <p:cNvPr id="53" name="提示图标" descr="手指点击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297924"/>
            <a:ext cx="502920" cy="502920"/>
          </a:xfrm>
          <a:prstGeom prst="rect">
            <a:avLst/>
          </a:prstGeom>
        </p:spPr>
      </p:pic>
      <p:pic>
        <p:nvPicPr>
          <p:cNvPr id="54" name="吉祥物" descr="抠-吉祥物-8254cfc28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8760" y="341947"/>
            <a:ext cx="1481328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教师示范文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09700"/>
            <a:ext cx="12942570" cy="838200"/>
          </a:xfrm>
          <a:prstGeom prst="roundRect">
            <a:avLst>
              <a:gd name="adj" fmla="val 22727"/>
            </a:avLst>
          </a:prstGeom>
          <a:solidFill>
            <a:srgbClr val="FFF3D6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28750" y="1562100"/>
            <a:ext cx="8192770" cy="5715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老师按照这张构思表，把魔方写成了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一篇文章</a:t>
            </a:r>
            <a:endParaRPr lang="en-US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266950"/>
            <a:ext cx="16192500" cy="6877050"/>
          </a:xfrm>
          <a:prstGeom prst="roundRect">
            <a:avLst>
              <a:gd name="adj" fmla="val 2493"/>
            </a:avLst>
          </a:prstGeom>
          <a:solidFill>
            <a:srgbClr val="F7F5F2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45820" y="2514600"/>
            <a:ext cx="16596360" cy="4524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我的三阶魔方</a:t>
            </a:r>
            <a:endParaRPr lang="en-US" sz="2175" dirty="0"/>
          </a:p>
        </p:txBody>
      </p:sp>
      <p:sp>
        <p:nvSpPr>
          <p:cNvPr id="9" name="Text 6"/>
          <p:cNvSpPr/>
          <p:nvPr/>
        </p:nvSpPr>
        <p:spPr>
          <a:xfrm>
            <a:off x="1600200" y="3005138"/>
            <a:ext cx="1659636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495300" algn="just">
              <a:lnSpc>
                <a:spcPct val="111000"/>
              </a:lnSpc>
              <a:buNone/>
            </a:pPr>
            <a:r>
              <a:rPr lang="en-US" sz="19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我要介绍的是我书包里的三阶魔方，一个能打乱再复原的正方体玩具，我玩了两年。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1600200" y="3452813"/>
            <a:ext cx="15540228" cy="781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495300" algn="just">
              <a:lnSpc>
                <a:spcPct val="111000"/>
              </a:lnSpc>
              <a:buNone/>
            </a:pPr>
            <a:r>
              <a:rPr lang="en-US" sz="1950" b="1" u="sng" dirty="0">
                <a:solidFill>
                  <a:srgbClr val="2A2E37"/>
                </a:solidFill>
                <a:uFill>
                  <a:solidFill>
                    <a:srgbClr val="3D4A63"/>
                  </a:solidFill>
                </a:u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先说它的样子。</a:t>
            </a:r>
            <a:r>
              <a:rPr lang="en-US" sz="19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我用尺子量过，</a:t>
            </a:r>
            <a:r>
              <a:rPr lang="en-US" sz="19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边长大约 5.6 厘米</a:t>
            </a:r>
            <a:r>
              <a:rPr lang="en-US" sz="19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sz="1950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正好能被我一只手握住</a:t>
            </a:r>
            <a:r>
              <a:rPr lang="en-US" sz="19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。六个面各是一种颜色，每个面分成</a:t>
            </a:r>
            <a:r>
              <a:rPr lang="en-US" sz="19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九个小方格，六个面一共五十四格</a:t>
            </a:r>
            <a:r>
              <a:rPr lang="en-US" sz="19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1600200" y="4271963"/>
            <a:ext cx="15540228" cy="781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495300" algn="just">
              <a:lnSpc>
                <a:spcPct val="111000"/>
              </a:lnSpc>
              <a:buNone/>
            </a:pPr>
            <a:r>
              <a:rPr lang="en-US" sz="1950" b="1" u="sng" dirty="0">
                <a:solidFill>
                  <a:srgbClr val="2A2E37"/>
                </a:solidFill>
                <a:uFill>
                  <a:solidFill>
                    <a:srgbClr val="3D4A63"/>
                  </a:solidFill>
                </a:u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再说它的构造。</a:t>
            </a:r>
            <a:r>
              <a:rPr lang="en-US" sz="19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它看上去是一整块，其实</a:t>
            </a:r>
            <a:r>
              <a:rPr lang="en-US" sz="19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由二十六个小方块拼成：八个角上各一个，十二条棱的中间各一个，六个面的正当中各一个</a:t>
            </a:r>
            <a:r>
              <a:rPr lang="en-US" sz="19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。前面说的五十四个小方格，就是它们露在外面的面。正当中那六个小方块怎么转都不动，其余的绕着它们转，</a:t>
            </a:r>
            <a:r>
              <a:rPr lang="en-US" sz="1950" b="1" dirty="0">
                <a:solidFill>
                  <a:srgbClr val="4E9A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像一扇门绕着门轴转</a:t>
            </a:r>
            <a:r>
              <a:rPr lang="en-US" sz="19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1600200" y="5091113"/>
            <a:ext cx="15540228" cy="781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495300" algn="just">
              <a:lnSpc>
                <a:spcPct val="111000"/>
              </a:lnSpc>
              <a:buNone/>
            </a:pPr>
            <a:r>
              <a:rPr lang="en-US" sz="1950" b="1" u="sng" dirty="0">
                <a:solidFill>
                  <a:srgbClr val="2A2E37"/>
                </a:solidFill>
                <a:uFill>
                  <a:solidFill>
                    <a:srgbClr val="3D4A63"/>
                  </a:solidFill>
                </a:u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复原它有固定的步骤。</a:t>
            </a:r>
            <a:r>
              <a:rPr lang="en-US" sz="19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我学的是层先法：先在一个面上拼出十字，再把这一层的四个角归位，最后拼中间一层和顶层。</a:t>
            </a:r>
            <a:r>
              <a:rPr lang="en-US" sz="1950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刚学的时候，复原一次要二十多分钟；现在最快两分钟零几秒</a:t>
            </a:r>
            <a:r>
              <a:rPr lang="en-US" sz="19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1600200" y="5910263"/>
            <a:ext cx="1659636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495300" algn="just">
              <a:lnSpc>
                <a:spcPct val="111000"/>
              </a:lnSpc>
              <a:buNone/>
            </a:pPr>
            <a:r>
              <a:rPr lang="en-US" sz="1950" b="1" u="sng" dirty="0">
                <a:solidFill>
                  <a:srgbClr val="2A2E37"/>
                </a:solidFill>
                <a:uFill>
                  <a:solidFill>
                    <a:srgbClr val="3D4A63"/>
                  </a:solidFill>
                </a:u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它也有弱点：怕摔。</a:t>
            </a:r>
            <a:r>
              <a:rPr lang="en-US" sz="1950" b="1" dirty="0">
                <a:solidFill>
                  <a:srgbClr val="8E5A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有一次它从课桌上掉下去，边上的一个小方块弹了出来</a:t>
            </a:r>
            <a:r>
              <a:rPr lang="en-US" sz="19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。从那以后，它就放在书包最里面的小袋里。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1600200" y="6357938"/>
            <a:ext cx="11338560" cy="781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495300" algn="just">
              <a:lnSpc>
                <a:spcPct val="111000"/>
              </a:lnSpc>
              <a:buNone/>
            </a:pPr>
            <a:r>
              <a:rPr lang="en-US" sz="19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在我看来，它是书包里最值得带来带去的一样东西：只要有几分钟空闲，我就能拿出来转上一阵。我转动它的时候，手指要快，脑子也得跟着想，越玩越觉得有意思。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1047750" y="9410700"/>
            <a:ext cx="1951434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▁ 开头点明方面</a:t>
            </a:r>
            <a:endParaRPr lang="en-US" sz="2025" dirty="0"/>
          </a:p>
        </p:txBody>
      </p:sp>
      <p:sp>
        <p:nvSpPr>
          <p:cNvPr id="16" name="Text 13"/>
          <p:cNvSpPr/>
          <p:nvPr/>
        </p:nvSpPr>
        <p:spPr>
          <a:xfrm>
            <a:off x="3107531" y="9410700"/>
            <a:ext cx="1079748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■ 列数字</a:t>
            </a:r>
            <a:endParaRPr lang="en-US" sz="2025" dirty="0"/>
          </a:p>
        </p:txBody>
      </p:sp>
      <p:sp>
        <p:nvSpPr>
          <p:cNvPr id="17" name="Text 14"/>
          <p:cNvSpPr/>
          <p:nvPr/>
        </p:nvSpPr>
        <p:spPr>
          <a:xfrm>
            <a:off x="4396829" y="9410700"/>
            <a:ext cx="1079748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■ 作比较</a:t>
            </a:r>
            <a:endParaRPr lang="en-US" sz="2025" dirty="0"/>
          </a:p>
        </p:txBody>
      </p:sp>
      <p:sp>
        <p:nvSpPr>
          <p:cNvPr id="18" name="Text 15"/>
          <p:cNvSpPr/>
          <p:nvPr/>
        </p:nvSpPr>
        <p:spPr>
          <a:xfrm>
            <a:off x="5686127" y="9410700"/>
            <a:ext cx="1079748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4E9A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■ 打比方</a:t>
            </a:r>
            <a:endParaRPr lang="en-US" sz="2025" dirty="0"/>
          </a:p>
        </p:txBody>
      </p:sp>
      <p:sp>
        <p:nvSpPr>
          <p:cNvPr id="19" name="Text 16"/>
          <p:cNvSpPr/>
          <p:nvPr/>
        </p:nvSpPr>
        <p:spPr>
          <a:xfrm>
            <a:off x="6975425" y="9410700"/>
            <a:ext cx="1079748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8E5A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■ 举例子</a:t>
            </a:r>
            <a:endParaRPr lang="en-US" sz="2025" dirty="0"/>
          </a:p>
        </p:txBody>
      </p:sp>
      <p:pic>
        <p:nvPicPr>
          <p:cNvPr id="20" name="插图" descr="抠-P17b-0af7793d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5796" y="6263640"/>
            <a:ext cx="4522123" cy="3108960"/>
          </a:xfrm>
          <a:prstGeom prst="rect">
            <a:avLst/>
          </a:prstGeom>
        </p:spPr>
      </p:pic>
      <p:pic>
        <p:nvPicPr>
          <p:cNvPr id="21" name="吉祥物" descr="抠-吉祥物-8254cfc28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8760" y="327660"/>
            <a:ext cx="1481328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读示范文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FFF3D6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4026634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默读一遍，做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两件事</a:t>
            </a:r>
            <a:endParaRPr lang="en-US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7886700" cy="4343400"/>
          </a:xfrm>
          <a:prstGeom prst="roundRect">
            <a:avLst>
              <a:gd name="adj" fmla="val 4327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66850" y="3200400"/>
            <a:ext cx="775335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第一件：数一数正文写了几段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1466850" y="3838575"/>
            <a:ext cx="361950" cy="12811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250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1885950" y="3838575"/>
            <a:ext cx="6828282" cy="12811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正文共六段，中间四段读完开头一句，就知道这一段讲什么：</a:t>
            </a:r>
            <a:r>
              <a:rPr 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“先说它的样子”“再说它的构造”“复原它有固定的步骤”“它也有弱点”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1466850" y="5233988"/>
            <a:ext cx="361950" cy="12811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250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1885950" y="5233988"/>
            <a:ext cx="6828282" cy="12811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表中最后一行只记了</a:t>
            </a:r>
            <a:r>
              <a:rPr 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“怕摔”</a:t>
            </a: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两个字，写进文中扩展成了三句：先点明怕摔，再用一次掉在地上的经历说明，最后说现在怎样存放</a:t>
            </a:r>
            <a:endParaRPr lang="en-US" sz="2250" dirty="0"/>
          </a:p>
        </p:txBody>
      </p:sp>
      <p:sp>
        <p:nvSpPr>
          <p:cNvPr id="13" name="Shape 10"/>
          <p:cNvSpPr/>
          <p:nvPr/>
        </p:nvSpPr>
        <p:spPr>
          <a:xfrm>
            <a:off x="9353550" y="2857500"/>
            <a:ext cx="7886700" cy="4343400"/>
          </a:xfrm>
          <a:prstGeom prst="roundRect">
            <a:avLst>
              <a:gd name="adj" fmla="val 4327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9772650" y="3200400"/>
            <a:ext cx="7259955" cy="8953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第二件：找出一句，没见过这个魔方也能知道它有多大</a:t>
            </a:r>
            <a:endParaRPr lang="en-US" sz="2550" dirty="0"/>
          </a:p>
        </p:txBody>
      </p:sp>
      <p:sp>
        <p:nvSpPr>
          <p:cNvPr id="15" name="Text 12"/>
          <p:cNvSpPr/>
          <p:nvPr/>
        </p:nvSpPr>
        <p:spPr>
          <a:xfrm>
            <a:off x="9772650" y="5273040"/>
            <a:ext cx="361950" cy="4524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250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</a:t>
            </a:r>
            <a:endParaRPr lang="en-US" sz="2250" dirty="0"/>
          </a:p>
        </p:txBody>
      </p:sp>
      <p:sp>
        <p:nvSpPr>
          <p:cNvPr id="16" name="Text 13"/>
          <p:cNvSpPr/>
          <p:nvPr/>
        </p:nvSpPr>
        <p:spPr>
          <a:xfrm>
            <a:off x="10191750" y="5273040"/>
            <a:ext cx="6602626" cy="4524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“边长大约 5.6 厘米，正好能被我一只手握住”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9772650" y="5839778"/>
            <a:ext cx="361950" cy="4524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250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10191750" y="5839778"/>
            <a:ext cx="3457575" cy="4524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“像一扇门绕着门轴转”</a:t>
            </a:r>
            <a:endParaRPr lang="en-US" sz="2250" dirty="0"/>
          </a:p>
        </p:txBody>
      </p:sp>
      <p:sp>
        <p:nvSpPr>
          <p:cNvPr id="19" name="Text 16"/>
          <p:cNvSpPr/>
          <p:nvPr/>
        </p:nvSpPr>
        <p:spPr>
          <a:xfrm>
            <a:off x="9772650" y="6406515"/>
            <a:ext cx="361950" cy="4524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250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</a:t>
            </a:r>
            <a:endParaRPr lang="en-US" sz="2250" dirty="0"/>
          </a:p>
        </p:txBody>
      </p:sp>
      <p:sp>
        <p:nvSpPr>
          <p:cNvPr id="20" name="Text 17"/>
          <p:cNvSpPr/>
          <p:nvPr/>
        </p:nvSpPr>
        <p:spPr>
          <a:xfrm>
            <a:off x="10191750" y="6406515"/>
            <a:ext cx="7229475" cy="4524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“复原一次要二十多分钟，现在最快两分钟零几秒”</a:t>
            </a:r>
            <a:endParaRPr lang="en-US" sz="2250" dirty="0"/>
          </a:p>
        </p:txBody>
      </p:sp>
      <p:sp>
        <p:nvSpPr>
          <p:cNvPr id="21" name="Text 18"/>
          <p:cNvSpPr/>
          <p:nvPr/>
        </p:nvSpPr>
        <p:spPr>
          <a:xfrm>
            <a:off x="9772650" y="4297680"/>
            <a:ext cx="361950" cy="4524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250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</a:t>
            </a:r>
            <a:endParaRPr lang="en-US" sz="2250" dirty="0"/>
          </a:p>
        </p:txBody>
      </p:sp>
      <p:sp>
        <p:nvSpPr>
          <p:cNvPr id="22" name="Text 19"/>
          <p:cNvSpPr/>
          <p:nvPr/>
        </p:nvSpPr>
        <p:spPr>
          <a:xfrm>
            <a:off x="10191750" y="4297680"/>
            <a:ext cx="3457575" cy="4524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在找到的那一句下面</a:t>
            </a:r>
            <a:r>
              <a:rPr 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画线</a:t>
            </a:r>
            <a:endParaRPr lang="en-US" sz="2250" dirty="0"/>
          </a:p>
        </p:txBody>
      </p:sp>
      <p:sp>
        <p:nvSpPr>
          <p:cNvPr id="23" name="Text 20"/>
          <p:cNvSpPr/>
          <p:nvPr/>
        </p:nvSpPr>
        <p:spPr>
          <a:xfrm>
            <a:off x="1687830" y="8795147"/>
            <a:ext cx="11064240" cy="99655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这几句都不只说一个“大”字、一个“快”字，而是把大小、快慢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写成具体的数字，拿熟悉的事物比，或者说出它像什么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605" dirty="0"/>
          </a:p>
        </p:txBody>
      </p:sp>
      <p:pic>
        <p:nvPicPr>
          <p:cNvPr id="72" name="插图" descr="抠-画线-4820297d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9074" y="6949440"/>
            <a:ext cx="3871451" cy="3200400"/>
          </a:xfrm>
          <a:prstGeom prst="rect">
            <a:avLst/>
          </a:prstGeom>
        </p:spPr>
      </p:pic>
      <p:pic>
        <p:nvPicPr>
          <p:cNvPr id="73" name="提示图标" descr="手指点击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8758571"/>
            <a:ext cx="502920" cy="502920"/>
          </a:xfrm>
          <a:prstGeom prst="rect">
            <a:avLst/>
          </a:prstGeom>
        </p:spPr>
      </p:pic>
      <p:pic>
        <p:nvPicPr>
          <p:cNvPr id="74" name="吉祥物" descr="抠-吉祥物-8254cfc28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8760" y="341947"/>
            <a:ext cx="1481328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旁批表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FFF3D6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6263580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这些句子，各用了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哪种说明方法</a:t>
            </a:r>
            <a:endParaRPr lang="en-US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762250"/>
            <a:ext cx="16192500" cy="5405438"/>
          </a:xfrm>
          <a:prstGeom prst="roundRect">
            <a:avLst>
              <a:gd name="adj" fmla="val 2467"/>
            </a:avLst>
          </a:prstGeom>
          <a:ln w="9525">
            <a:solidFill>
              <a:srgbClr val="DFE3E9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771775"/>
            <a:ext cx="16173450" cy="685800"/>
          </a:xfrm>
          <a:prstGeom prst="rect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62075" y="2924175"/>
            <a:ext cx="915733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示范文里的句子</a:t>
            </a:r>
            <a:endParaRPr lang="en-US" sz="2250" dirty="0"/>
          </a:p>
        </p:txBody>
      </p:sp>
      <p:sp>
        <p:nvSpPr>
          <p:cNvPr id="10" name="Shape 7"/>
          <p:cNvSpPr/>
          <p:nvPr/>
        </p:nvSpPr>
        <p:spPr>
          <a:xfrm>
            <a:off x="9991725" y="2771775"/>
            <a:ext cx="9525" cy="685800"/>
          </a:xfrm>
          <a:prstGeom prst="rect">
            <a:avLst/>
          </a:prstGeom>
          <a:solidFill>
            <a:srgbClr val="FFFFFF">
              <a:alpha val="25000"/>
            </a:srgbClr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0306050" y="2924175"/>
            <a:ext cx="7281862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这一句用了什么</a:t>
            </a:r>
            <a:endParaRPr lang="en-US" sz="2250" dirty="0"/>
          </a:p>
        </p:txBody>
      </p:sp>
      <p:sp>
        <p:nvSpPr>
          <p:cNvPr id="12" name="Shape 9"/>
          <p:cNvSpPr/>
          <p:nvPr/>
        </p:nvSpPr>
        <p:spPr>
          <a:xfrm>
            <a:off x="1057275" y="3457575"/>
            <a:ext cx="16173450" cy="1032272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362075" y="3600450"/>
            <a:ext cx="8592884" cy="78462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边长大约 5.6 厘米，正好能被我一只手握住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9991725" y="3457575"/>
            <a:ext cx="9525" cy="1032272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0306050" y="3600450"/>
            <a:ext cx="6837045" cy="78462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1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列数字</a:t>
            </a:r>
            <a:r>
              <a:rPr 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＋</a:t>
            </a:r>
            <a:r>
              <a:rPr lang="en-US" sz="2100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作比较</a:t>
            </a:r>
            <a:r>
              <a:rPr 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：数字是量出来的，拿不准的就写“大约”；再用手来比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1057275" y="4489847"/>
            <a:ext cx="16173450" cy="659011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362075" y="4632722"/>
            <a:ext cx="8592884" cy="41136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每个面分成九个小方格，六个面一共五十四格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9991725" y="4489847"/>
            <a:ext cx="9525" cy="659011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0306050" y="4632722"/>
            <a:ext cx="6837045" cy="41136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1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列数字</a:t>
            </a:r>
            <a:endParaRPr lang="en-US" sz="2100" dirty="0"/>
          </a:p>
        </p:txBody>
      </p:sp>
      <p:sp>
        <p:nvSpPr>
          <p:cNvPr id="20" name="Shape 17"/>
          <p:cNvSpPr/>
          <p:nvPr/>
        </p:nvSpPr>
        <p:spPr>
          <a:xfrm>
            <a:off x="1057275" y="5148858"/>
            <a:ext cx="16173450" cy="1032272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362075" y="5291733"/>
            <a:ext cx="8592884" cy="78462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由二十六个小方块拼成：八个角上各一个，十二条棱的中间各一个，六个面的正当中各一个</a:t>
            </a:r>
            <a:endParaRPr lang="en-US" sz="2100" dirty="0"/>
          </a:p>
        </p:txBody>
      </p:sp>
      <p:sp>
        <p:nvSpPr>
          <p:cNvPr id="22" name="Shape 19"/>
          <p:cNvSpPr/>
          <p:nvPr/>
        </p:nvSpPr>
        <p:spPr>
          <a:xfrm>
            <a:off x="9991725" y="5148858"/>
            <a:ext cx="9525" cy="1032272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0306050" y="5291733"/>
            <a:ext cx="6837045" cy="78462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1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列数字</a:t>
            </a:r>
            <a:r>
              <a:rPr 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：把总数拆开说</a:t>
            </a:r>
            <a:endParaRPr lang="en-US" sz="2100" dirty="0"/>
          </a:p>
        </p:txBody>
      </p:sp>
      <p:sp>
        <p:nvSpPr>
          <p:cNvPr id="24" name="Shape 21"/>
          <p:cNvSpPr/>
          <p:nvPr/>
        </p:nvSpPr>
        <p:spPr>
          <a:xfrm>
            <a:off x="1057275" y="6181130"/>
            <a:ext cx="16173450" cy="659011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362075" y="6324005"/>
            <a:ext cx="8592884" cy="41136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像一扇门绕着门轴转</a:t>
            </a:r>
            <a:endParaRPr lang="en-US" sz="2100" dirty="0"/>
          </a:p>
        </p:txBody>
      </p:sp>
      <p:sp>
        <p:nvSpPr>
          <p:cNvPr id="26" name="Shape 23"/>
          <p:cNvSpPr/>
          <p:nvPr/>
        </p:nvSpPr>
        <p:spPr>
          <a:xfrm>
            <a:off x="9991725" y="6181130"/>
            <a:ext cx="9525" cy="659011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10306050" y="6324005"/>
            <a:ext cx="6837045" cy="41136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100" b="1" dirty="0">
                <a:solidFill>
                  <a:srgbClr val="4E9A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打比方</a:t>
            </a:r>
            <a:r>
              <a:rPr 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：拿熟悉的事物说清转动的样子</a:t>
            </a:r>
            <a:endParaRPr lang="en-US" sz="2100" dirty="0"/>
          </a:p>
        </p:txBody>
      </p:sp>
      <p:sp>
        <p:nvSpPr>
          <p:cNvPr id="28" name="Shape 25"/>
          <p:cNvSpPr/>
          <p:nvPr/>
        </p:nvSpPr>
        <p:spPr>
          <a:xfrm>
            <a:off x="1057275" y="6840141"/>
            <a:ext cx="16173450" cy="659011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1362075" y="6983016"/>
            <a:ext cx="8592884" cy="41136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复原一次要二十多分钟；现在最快两分钟零几秒</a:t>
            </a:r>
            <a:endParaRPr lang="en-US" sz="2100" dirty="0"/>
          </a:p>
        </p:txBody>
      </p:sp>
      <p:sp>
        <p:nvSpPr>
          <p:cNvPr id="30" name="Shape 27"/>
          <p:cNvSpPr/>
          <p:nvPr/>
        </p:nvSpPr>
        <p:spPr>
          <a:xfrm>
            <a:off x="9991725" y="6840141"/>
            <a:ext cx="9525" cy="659011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10306050" y="6983016"/>
            <a:ext cx="6837045" cy="41136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100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作比较</a:t>
            </a:r>
            <a:r>
              <a:rPr 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＋</a:t>
            </a:r>
            <a:r>
              <a:rPr lang="en-US" sz="21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列数字</a:t>
            </a:r>
            <a:r>
              <a:rPr 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：拿现在和刚学时比，变化很清楚</a:t>
            </a:r>
            <a:endParaRPr lang="en-US" sz="2100" dirty="0"/>
          </a:p>
        </p:txBody>
      </p:sp>
      <p:sp>
        <p:nvSpPr>
          <p:cNvPr id="32" name="Shape 29"/>
          <p:cNvSpPr/>
          <p:nvPr/>
        </p:nvSpPr>
        <p:spPr>
          <a:xfrm>
            <a:off x="1057275" y="7499152"/>
            <a:ext cx="16173450" cy="659011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1362075" y="7642027"/>
            <a:ext cx="8592884" cy="41136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有一次它从课桌上掉下去，边上的一个小方块弹了出来</a:t>
            </a:r>
            <a:endParaRPr lang="en-US" sz="2100" dirty="0"/>
          </a:p>
        </p:txBody>
      </p:sp>
      <p:sp>
        <p:nvSpPr>
          <p:cNvPr id="34" name="Shape 31"/>
          <p:cNvSpPr/>
          <p:nvPr/>
        </p:nvSpPr>
        <p:spPr>
          <a:xfrm>
            <a:off x="9991725" y="7499152"/>
            <a:ext cx="9525" cy="659011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10306050" y="7642027"/>
            <a:ext cx="6837045" cy="41136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100" b="1" dirty="0">
                <a:solidFill>
                  <a:srgbClr val="8E5A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举例子</a:t>
            </a:r>
            <a:r>
              <a:rPr 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：用一件事说明“怕摔”</a:t>
            </a:r>
            <a:endParaRPr lang="en-US" sz="2100" dirty="0"/>
          </a:p>
        </p:txBody>
      </p:sp>
      <p:sp>
        <p:nvSpPr>
          <p:cNvPr id="36" name="Text 33"/>
          <p:cNvSpPr/>
          <p:nvPr/>
        </p:nvSpPr>
        <p:spPr>
          <a:xfrm>
            <a:off x="1687830" y="9353550"/>
            <a:ext cx="1717167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每一段用一两种说明方法，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数字是自己量出来、数出来的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，没见过魔方的人也能想出它有多大。</a:t>
            </a:r>
            <a:endParaRPr lang="en-US" sz="2605" dirty="0"/>
          </a:p>
        </p:txBody>
      </p:sp>
      <p:pic>
        <p:nvPicPr>
          <p:cNvPr id="109" name="提示图标" descr="手指点击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9316974"/>
            <a:ext cx="502920" cy="502920"/>
          </a:xfrm>
          <a:prstGeom prst="rect">
            <a:avLst/>
          </a:prstGeom>
        </p:spPr>
      </p:pic>
      <p:pic>
        <p:nvPicPr>
          <p:cNvPr id="110" name="吉祥物" descr="抠-吉祥物-8254cfc28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8760" y="341947"/>
            <a:ext cx="1481328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旁批表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FFF3D6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8053105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再看段首和结尾：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感受放在哪里、放多少</a:t>
            </a:r>
            <a:endParaRPr lang="en-US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762250"/>
            <a:ext cx="16192500" cy="2861072"/>
          </a:xfrm>
          <a:prstGeom prst="roundRect">
            <a:avLst>
              <a:gd name="adj" fmla="val 4661"/>
            </a:avLst>
          </a:prstGeom>
          <a:ln w="9525">
            <a:solidFill>
              <a:srgbClr val="DFE3E9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771775"/>
            <a:ext cx="16173450" cy="685800"/>
          </a:xfrm>
          <a:prstGeom prst="rect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62075" y="2924175"/>
            <a:ext cx="561594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示范文里的句子</a:t>
            </a:r>
            <a:endParaRPr lang="en-US" sz="2250" dirty="0"/>
          </a:p>
        </p:txBody>
      </p:sp>
      <p:sp>
        <p:nvSpPr>
          <p:cNvPr id="10" name="Shape 7"/>
          <p:cNvSpPr/>
          <p:nvPr/>
        </p:nvSpPr>
        <p:spPr>
          <a:xfrm>
            <a:off x="6772275" y="2771775"/>
            <a:ext cx="9525" cy="685800"/>
          </a:xfrm>
          <a:prstGeom prst="rect">
            <a:avLst/>
          </a:prstGeom>
          <a:solidFill>
            <a:srgbClr val="FFFFFF">
              <a:alpha val="25000"/>
            </a:srgbClr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086600" y="2924175"/>
            <a:ext cx="10823258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这一句用了什么</a:t>
            </a:r>
            <a:endParaRPr lang="en-US" sz="2250" dirty="0"/>
          </a:p>
        </p:txBody>
      </p:sp>
      <p:sp>
        <p:nvSpPr>
          <p:cNvPr id="12" name="Shape 9"/>
          <p:cNvSpPr/>
          <p:nvPr/>
        </p:nvSpPr>
        <p:spPr>
          <a:xfrm>
            <a:off x="1057275" y="3457575"/>
            <a:ext cx="16173450" cy="1078111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362075" y="3609975"/>
            <a:ext cx="5276850" cy="81141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先说它的样子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6772275" y="3457575"/>
            <a:ext cx="9525" cy="1078111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7086600" y="3609975"/>
            <a:ext cx="10153079" cy="81141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开头点明方面</a:t>
            </a:r>
            <a:r>
              <a:rPr 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：一段只介绍一个方面，开头先说出这一段要讲哪个方面，后面几段的开头也是这样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1057275" y="4535686"/>
            <a:ext cx="16173450" cy="1078111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362075" y="4688086"/>
            <a:ext cx="5276850" cy="81141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在我看来，它是书包里最值得带来带去的一样东西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6772275" y="4535686"/>
            <a:ext cx="9525" cy="1078111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7086600" y="4688086"/>
            <a:ext cx="10153079" cy="81141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结尾说看法</a:t>
            </a:r>
            <a:r>
              <a:rPr 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：整篇只在这里写感受，一共两句，先说它对我意味着什么，再说玩起来的感觉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1047750" y="6000750"/>
            <a:ext cx="1781175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写介绍时，感受有三种写法</a:t>
            </a:r>
            <a:endParaRPr lang="en-US" sz="2400" dirty="0"/>
          </a:p>
        </p:txBody>
      </p:sp>
      <p:sp>
        <p:nvSpPr>
          <p:cNvPr id="21" name="Shape 18"/>
          <p:cNvSpPr/>
          <p:nvPr/>
        </p:nvSpPr>
        <p:spPr>
          <a:xfrm>
            <a:off x="1047750" y="6572250"/>
            <a:ext cx="5219700" cy="1579066"/>
          </a:xfrm>
          <a:prstGeom prst="roundRect">
            <a:avLst>
              <a:gd name="adj" fmla="val 6032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47750" y="6572250"/>
            <a:ext cx="76200" cy="1579066"/>
          </a:xfrm>
          <a:prstGeom prst="rect">
            <a:avLst/>
          </a:prstGeom>
          <a:solidFill>
            <a:srgbClr val="9AA6B6"/>
          </a:solidFill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390650" y="6781800"/>
            <a:ext cx="4748403" cy="81141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一句感受都不写 </a:t>
            </a:r>
            <a:r>
              <a:rPr 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从头到尾只介绍，也是一篇合格的介绍</a:t>
            </a:r>
            <a:endParaRPr lang="en-US" sz="2100" dirty="0"/>
          </a:p>
        </p:txBody>
      </p:sp>
      <p:sp>
        <p:nvSpPr>
          <p:cNvPr id="24" name="Shape 21"/>
          <p:cNvSpPr/>
          <p:nvPr/>
        </p:nvSpPr>
        <p:spPr>
          <a:xfrm>
            <a:off x="6534150" y="6572250"/>
            <a:ext cx="5219700" cy="1579066"/>
          </a:xfrm>
          <a:prstGeom prst="roundRect">
            <a:avLst>
              <a:gd name="adj" fmla="val 6032"/>
            </a:avLst>
          </a:prstGeom>
          <a:solidFill>
            <a:srgbClr val="FBF3E6"/>
          </a:solidFill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6534150" y="6572250"/>
            <a:ext cx="76200" cy="1579066"/>
          </a:xfrm>
          <a:prstGeom prst="rect">
            <a:avLst/>
          </a:prstGeom>
          <a:solidFill>
            <a:srgbClr val="E0A43B"/>
          </a:solidFill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6877050" y="6781800"/>
            <a:ext cx="4748403" cy="81141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结尾一两句 </a:t>
            </a:r>
            <a:r>
              <a:rPr 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像这一篇，读的人知道你为什么介绍它</a:t>
            </a:r>
            <a:endParaRPr lang="en-US" sz="2100" dirty="0"/>
          </a:p>
        </p:txBody>
      </p:sp>
      <p:sp>
        <p:nvSpPr>
          <p:cNvPr id="27" name="Shape 24"/>
          <p:cNvSpPr/>
          <p:nvPr/>
        </p:nvSpPr>
        <p:spPr>
          <a:xfrm>
            <a:off x="12020550" y="6572250"/>
            <a:ext cx="5219700" cy="1579066"/>
          </a:xfrm>
          <a:prstGeom prst="roundRect">
            <a:avLst>
              <a:gd name="adj" fmla="val 6032"/>
            </a:avLst>
          </a:prstGeom>
          <a:solidFill>
            <a:srgbClr val="FCE7EA"/>
          </a:solidFill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12020550" y="6572250"/>
            <a:ext cx="76200" cy="1579066"/>
          </a:xfrm>
          <a:prstGeom prst="rect">
            <a:avLst/>
          </a:prstGeom>
          <a:solidFill>
            <a:srgbClr val="C0392B"/>
          </a:solidFill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12363450" y="6781800"/>
            <a:ext cx="4748403" cy="119806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每段都说“我特别喜欢它” </a:t>
            </a:r>
            <a:r>
              <a:rPr 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感受把介绍挤掉了，读的人还是不了解它。这一种应当避免</a:t>
            </a:r>
            <a:endParaRPr lang="en-US" sz="2100" dirty="0"/>
          </a:p>
        </p:txBody>
      </p:sp>
      <p:sp>
        <p:nvSpPr>
          <p:cNvPr id="30" name="Text 27"/>
          <p:cNvSpPr/>
          <p:nvPr/>
        </p:nvSpPr>
        <p:spPr>
          <a:xfrm>
            <a:off x="1687830" y="9353550"/>
            <a:ext cx="1717167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前两种都可以，大家自行选择；感受写在哪一段都可以，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但不能多到把介绍挤掉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。课间休息后，按照构思表动笔。</a:t>
            </a:r>
            <a:endParaRPr lang="en-US" sz="2605" dirty="0"/>
          </a:p>
        </p:txBody>
      </p:sp>
      <p:pic>
        <p:nvPicPr>
          <p:cNvPr id="91" name="提示图标" descr="手指点击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9316974"/>
            <a:ext cx="502920" cy="502920"/>
          </a:xfrm>
          <a:prstGeom prst="rect">
            <a:avLst/>
          </a:prstGeom>
        </p:spPr>
      </p:pic>
      <p:pic>
        <p:nvPicPr>
          <p:cNvPr id="92" name="吉祥物" descr="抠-吉祥物-8254cfc28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8760" y="341947"/>
            <a:ext cx="1481328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</p:sp>
      <p:sp>
        <p:nvSpPr>
          <p:cNvPr id="3" name="Shape 1"/>
          <p:cNvSpPr/>
          <p:nvPr/>
        </p:nvSpPr>
        <p:spPr>
          <a:xfrm>
            <a:off x="800100" y="800100"/>
            <a:ext cx="16687800" cy="8686800"/>
          </a:xfrm>
          <a:prstGeom prst="roundRect">
            <a:avLst>
              <a:gd name="adj" fmla="val 1754"/>
            </a:avLst>
          </a:prstGeom>
          <a:solidFill>
            <a:srgbClr val="B8893A"/>
          </a:solidFill>
        </p:spPr>
      </p:sp>
      <p:sp>
        <p:nvSpPr>
          <p:cNvPr id="4" name="Text 2"/>
          <p:cNvSpPr/>
          <p:nvPr/>
        </p:nvSpPr>
        <p:spPr>
          <a:xfrm>
            <a:off x="2038350" y="3181350"/>
            <a:ext cx="6286500" cy="21193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14250" b="1" dirty="0">
                <a:solidFill>
                  <a:srgbClr val="FFFFFF">
                    <a:alpha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4250" dirty="0"/>
          </a:p>
        </p:txBody>
      </p:sp>
      <p:sp>
        <p:nvSpPr>
          <p:cNvPr id="5" name="Text 3"/>
          <p:cNvSpPr/>
          <p:nvPr/>
        </p:nvSpPr>
        <p:spPr>
          <a:xfrm>
            <a:off x="2228850" y="5676900"/>
            <a:ext cx="14668500" cy="781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当堂写作与评改课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2247900" y="6572250"/>
            <a:ext cx="14668500" cy="5238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550" dirty="0">
                <a:solidFill>
                  <a:srgbClr val="FFFFFF">
                    <a:alpha val="92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排好顺序定起笔 · 自由写作 · 同桌互读写纸条 · 先判断再改 · 修改收束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2038350" y="7924800"/>
            <a:ext cx="1796802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8850" y="8039100"/>
            <a:ext cx="141580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底带"/>
          <p:cNvSpPr/>
          <p:nvPr/>
        </p:nvSpPr>
        <p:spPr>
          <a:xfrm>
            <a:off x="0" y="7223760"/>
            <a:ext cx="18288000" cy="1920240"/>
          </a:xfrm>
          <a:prstGeom prst="rect">
            <a:avLst/>
          </a:prstGeom>
          <a:solidFill>
            <a:srgbClr val="EE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写作热身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FFF3D6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9842629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把构思表放在稿纸旁边，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给三个方面标上一、二、三</a:t>
            </a:r>
            <a:endParaRPr lang="en-US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3028950"/>
            <a:ext cx="1809750" cy="685800"/>
          </a:xfrm>
          <a:prstGeom prst="roundRect">
            <a:avLst>
              <a:gd name="adj" fmla="val 1944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957263" y="3181350"/>
            <a:ext cx="199072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先写样子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3105150" y="3186430"/>
            <a:ext cx="3513455" cy="43751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让读的人先有整体印象</a:t>
            </a:r>
            <a:endParaRPr lang="en-US" sz="2325" dirty="0"/>
          </a:p>
        </p:txBody>
      </p:sp>
      <p:sp>
        <p:nvSpPr>
          <p:cNvPr id="10" name="Shape 7"/>
          <p:cNvSpPr/>
          <p:nvPr/>
        </p:nvSpPr>
        <p:spPr>
          <a:xfrm>
            <a:off x="1047750" y="3924300"/>
            <a:ext cx="1809750" cy="685800"/>
          </a:xfrm>
          <a:prstGeom prst="roundRect">
            <a:avLst>
              <a:gd name="adj" fmla="val 1944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957263" y="4076700"/>
            <a:ext cx="199072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先写有趣的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3105150" y="4053185"/>
            <a:ext cx="2598420" cy="4661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先把读的人吸引住</a:t>
            </a:r>
            <a:endParaRPr lang="en-US" sz="2325" dirty="0"/>
          </a:p>
        </p:txBody>
      </p:sp>
      <p:sp>
        <p:nvSpPr>
          <p:cNvPr id="13" name="Shape 10"/>
          <p:cNvSpPr/>
          <p:nvPr/>
        </p:nvSpPr>
        <p:spPr>
          <a:xfrm>
            <a:off x="1047750" y="4819650"/>
            <a:ext cx="1809750" cy="685800"/>
          </a:xfrm>
          <a:prstGeom prst="roundRect">
            <a:avLst>
              <a:gd name="adj" fmla="val 1944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957263" y="4972050"/>
            <a:ext cx="199072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圈出的那个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3105150" y="4948535"/>
            <a:ext cx="5521643" cy="4661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写得最详细，放在中间或者最后都可以</a:t>
            </a:r>
            <a:endParaRPr lang="en-US" sz="2325" dirty="0"/>
          </a:p>
        </p:txBody>
      </p:sp>
      <p:sp>
        <p:nvSpPr>
          <p:cNvPr id="16" name="Shape 13"/>
          <p:cNvSpPr/>
          <p:nvPr/>
        </p:nvSpPr>
        <p:spPr>
          <a:xfrm>
            <a:off x="1047750" y="5669280"/>
            <a:ext cx="10424160" cy="1737360"/>
          </a:xfrm>
          <a:prstGeom prst="roundRect">
            <a:avLst>
              <a:gd name="adj" fmla="val 11594"/>
            </a:avLst>
          </a:prstGeom>
          <a:solidFill>
            <a:srgbClr val="DCE6F5"/>
          </a:solidFill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409700" y="5852160"/>
            <a:ext cx="9966960" cy="1371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25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标好序号的同学，和同桌说一句：</a:t>
            </a:r>
            <a:r>
              <a:rPr lang="en-US" sz="225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我先写哪个方面，为什么。</a:t>
            </a:r>
            <a:r>
              <a:rPr lang="en-US" sz="225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例如：我先写样子，别人先知道它长什么样；我把怕摔放最后，前面先介绍完。</a:t>
            </a:r>
            <a:endParaRPr lang="en-US" sz="2250" dirty="0"/>
          </a:p>
        </p:txBody>
      </p:sp>
      <p:sp>
        <p:nvSpPr>
          <p:cNvPr id="18" name="Shape 15"/>
          <p:cNvSpPr/>
          <p:nvPr/>
        </p:nvSpPr>
        <p:spPr>
          <a:xfrm>
            <a:off x="1047750" y="7498079"/>
            <a:ext cx="10424160" cy="1737360"/>
          </a:xfrm>
          <a:prstGeom prst="roundRect">
            <a:avLst>
              <a:gd name="adj" fmla="val 11835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466850" y="7680960"/>
            <a:ext cx="9966960" cy="1371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3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顺序定好后开始动笔：</a:t>
            </a:r>
            <a:r>
              <a:rPr 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先写开头一句，说清它是什么；接着直接写标了“一”的那个方面，</a:t>
            </a: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开头一句先点明这一段讲哪个方面</a:t>
            </a:r>
            <a:r>
              <a:rPr 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，再按照表中第三格，用说明方法把特点说清楚。</a:t>
            </a:r>
            <a:endParaRPr lang="en-US" sz="2325" dirty="0"/>
          </a:p>
        </p:txBody>
      </p:sp>
      <p:sp>
        <p:nvSpPr>
          <p:cNvPr id="20" name="Text 17"/>
          <p:cNvSpPr/>
          <p:nvPr/>
        </p:nvSpPr>
        <p:spPr>
          <a:xfrm>
            <a:off x="1687830" y="9467850"/>
            <a:ext cx="13075285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这一段写完，第一个方面就完成了；接下来按表中的顺序往下写，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一个方面写一段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605" dirty="0"/>
          </a:p>
        </p:txBody>
      </p:sp>
      <p:pic>
        <p:nvPicPr>
          <p:cNvPr id="58" name="插图" descr="抠-一二三-c275ea4b5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0" y="4866132"/>
            <a:ext cx="6400800" cy="4277868"/>
          </a:xfrm>
          <a:prstGeom prst="rect">
            <a:avLst/>
          </a:prstGeom>
        </p:spPr>
      </p:pic>
      <p:pic>
        <p:nvPicPr>
          <p:cNvPr id="59" name="提示图标" descr="手指点击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431274"/>
            <a:ext cx="502920" cy="502920"/>
          </a:xfrm>
          <a:prstGeom prst="rect">
            <a:avLst/>
          </a:prstGeom>
        </p:spPr>
      </p:pic>
      <p:pic>
        <p:nvPicPr>
          <p:cNvPr id="60" name="吉祥物" descr="抠-吉祥物-8254cfc28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8760" y="341947"/>
            <a:ext cx="1481328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底带"/>
          <p:cNvSpPr/>
          <p:nvPr/>
        </p:nvSpPr>
        <p:spPr>
          <a:xfrm>
            <a:off x="0" y="6675120"/>
            <a:ext cx="18288000" cy="2057400"/>
          </a:xfrm>
          <a:prstGeom prst="rect">
            <a:avLst/>
          </a:prstGeom>
          <a:solidFill>
            <a:srgbClr val="FFF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自由写作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FFF3D6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11184895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接下来的时间留给大家：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写完整篇，一直写到结尾的看法</a:t>
            </a:r>
            <a:endParaRPr lang="en-US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3048000"/>
            <a:ext cx="8961120" cy="2103120"/>
          </a:xfrm>
          <a:prstGeom prst="roundRect">
            <a:avLst>
              <a:gd name="adj" fmla="val 5348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66850" y="3200400"/>
            <a:ext cx="7753350" cy="800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5000"/>
              </a:lnSpc>
              <a:buNone/>
            </a:pPr>
            <a:r>
              <a:rPr lang="en-US" sz="60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1466850" y="3977639"/>
            <a:ext cx="8229600" cy="10972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一个方面写一段，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每段开头一句先点明方面</a:t>
            </a: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；圈出的那个方面多用几种说明方法，写得最详细</a:t>
            </a:r>
            <a:endParaRPr lang="en-US" sz="2700" dirty="0"/>
          </a:p>
        </p:txBody>
      </p:sp>
      <p:sp>
        <p:nvSpPr>
          <p:cNvPr id="10" name="Shape 7"/>
          <p:cNvSpPr/>
          <p:nvPr/>
        </p:nvSpPr>
        <p:spPr>
          <a:xfrm>
            <a:off x="1051560" y="5303520"/>
            <a:ext cx="8961120" cy="1737360"/>
          </a:xfrm>
          <a:prstGeom prst="roundRect">
            <a:avLst>
              <a:gd name="adj" fmla="val 5348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463040" y="5440680"/>
            <a:ext cx="7753350" cy="800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5000"/>
              </a:lnSpc>
              <a:buNone/>
            </a:pPr>
            <a:r>
              <a:rPr lang="en-US" sz="60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</a:t>
            </a:r>
            <a:endParaRPr lang="en-US" sz="6000" dirty="0"/>
          </a:p>
        </p:txBody>
      </p:sp>
      <p:sp>
        <p:nvSpPr>
          <p:cNvPr id="12" name="Text 9"/>
          <p:cNvSpPr/>
          <p:nvPr/>
        </p:nvSpPr>
        <p:spPr>
          <a:xfrm>
            <a:off x="1463040" y="6217920"/>
            <a:ext cx="8229600" cy="103227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一直往下写，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错字、标点先不回头改</a:t>
            </a: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，写完以后统一修改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1047750" y="8239125"/>
            <a:ext cx="8961120" cy="8667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25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写到“很大”“很好玩”的时候，接着问自己：到底有多大，和什么差不多大？然后在后面补上数字或比较。对方问过你的两个问题，要</a:t>
            </a:r>
            <a:r>
              <a:rPr 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在对应的方面里回答</a:t>
            </a:r>
            <a:r>
              <a:rPr lang="en-US" sz="225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250" dirty="0"/>
          </a:p>
        </p:txBody>
      </p:sp>
      <p:sp>
        <p:nvSpPr>
          <p:cNvPr id="14" name="Shape 11"/>
          <p:cNvSpPr/>
          <p:nvPr/>
        </p:nvSpPr>
        <p:spPr>
          <a:xfrm>
            <a:off x="12847439" y="8791575"/>
            <a:ext cx="4392811" cy="866775"/>
          </a:xfrm>
          <a:prstGeom prst="roundRect">
            <a:avLst>
              <a:gd name="adj" fmla="val 17582"/>
            </a:avLst>
          </a:prstGeom>
          <a:solidFill>
            <a:srgbClr val="C0392B"/>
          </a:solidFill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3228439" y="8982075"/>
            <a:ext cx="3993892" cy="5238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⏱ 写作时间约 26 分钟</a:t>
            </a:r>
            <a:endParaRPr lang="en-US" sz="2850" dirty="0"/>
          </a:p>
        </p:txBody>
      </p:sp>
      <p:pic>
        <p:nvPicPr>
          <p:cNvPr id="31" name="插图" descr="抠-稿纸开头-2967c011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506876"/>
            <a:ext cx="7498079" cy="5179923"/>
          </a:xfrm>
          <a:prstGeom prst="rect">
            <a:avLst/>
          </a:prstGeom>
        </p:spPr>
      </p:pic>
      <p:pic>
        <p:nvPicPr>
          <p:cNvPr id="32" name="吉祥物" descr="抠-吉祥物-8254cfc28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8760" y="341947"/>
            <a:ext cx="1481328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自由写作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12847439" y="8791575"/>
            <a:ext cx="4392811" cy="866775"/>
          </a:xfrm>
          <a:prstGeom prst="roundRect">
            <a:avLst>
              <a:gd name="adj" fmla="val 17582"/>
            </a:avLst>
          </a:prstGeom>
          <a:solidFill>
            <a:srgbClr val="C0392B"/>
          </a:solidFill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3228439" y="8982075"/>
            <a:ext cx="3993892" cy="5238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⏱ 写作时间约 26 分钟</a:t>
            </a:r>
            <a:endParaRPr lang="en-US" sz="2850" dirty="0"/>
          </a:p>
        </p:txBody>
      </p:sp>
      <p:pic>
        <p:nvPicPr>
          <p:cNvPr id="16" name="稿纸" descr="稿纸-779d37c7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6112" y="1399032"/>
            <a:ext cx="12155774" cy="71963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底带"/>
          <p:cNvSpPr/>
          <p:nvPr/>
        </p:nvSpPr>
        <p:spPr>
          <a:xfrm>
            <a:off x="0" y="6309360"/>
            <a:ext cx="18288000" cy="2560320"/>
          </a:xfrm>
          <a:prstGeom prst="rect">
            <a:avLst/>
          </a:prstGeom>
          <a:solidFill>
            <a:srgbClr val="FFF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交流评议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FFF3D6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7605683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同桌交换默读，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写一张两行的读者纸条</a:t>
            </a:r>
            <a:endParaRPr lang="en-US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304800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217861" y="3124200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800225" y="3124200"/>
            <a:ext cx="9133808" cy="9772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第一行：“我从你这篇介绍里学到的一条知识是……”</a:t>
            </a:r>
            <a:r>
              <a:rPr lang="en-US" sz="25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要写具体</a:t>
            </a: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，写出读之前不知道、读完知道了的那一条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1047750" y="4349055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217861" y="4425255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800225" y="4425255"/>
            <a:ext cx="9133808" cy="9772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第二行：“我还想知道……”写一个</a:t>
            </a:r>
            <a:r>
              <a:rPr lang="en-US" sz="25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读完还没弄明白的问题</a:t>
            </a: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：多大、像什么、怎么用，都可以</a:t>
            </a:r>
            <a:endParaRPr lang="en-US" sz="2550" dirty="0"/>
          </a:p>
        </p:txBody>
      </p:sp>
      <p:sp>
        <p:nvSpPr>
          <p:cNvPr id="13" name="Shape 10"/>
          <p:cNvSpPr/>
          <p:nvPr/>
        </p:nvSpPr>
        <p:spPr>
          <a:xfrm>
            <a:off x="1047750" y="5650111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217861" y="5726311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800225" y="5726311"/>
            <a:ext cx="5003483" cy="50765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纸条写好后，</a:t>
            </a:r>
            <a:r>
              <a:rPr lang="en-US" sz="25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夹在稿子里交还作者</a:t>
            </a:r>
            <a:endParaRPr lang="en-US" sz="255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4503420"/>
            <a:ext cx="6858000" cy="41833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1047750" y="6583680"/>
            <a:ext cx="9326880" cy="1783080"/>
          </a:xfrm>
          <a:prstGeom prst="roundRect">
            <a:avLst>
              <a:gd name="adj" fmla="val 11348"/>
            </a:avLst>
          </a:prstGeom>
          <a:solidFill>
            <a:srgbClr val="DCE6F5"/>
          </a:solidFill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1428750" y="6766560"/>
            <a:ext cx="8961120" cy="1371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325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全班交流。这一次请读者来说：</a:t>
            </a:r>
            <a:r>
              <a:rPr lang="en-US" sz="2325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你读了同桌的介绍，学到了什么，是哪一句让你学到的。读者说完，请作者把那一句读给全班听。</a:t>
            </a:r>
            <a:endParaRPr lang="en-US" sz="2325" dirty="0"/>
          </a:p>
        </p:txBody>
      </p:sp>
      <p:sp>
        <p:nvSpPr>
          <p:cNvPr id="19" name="Text 15"/>
          <p:cNvSpPr/>
          <p:nvPr/>
        </p:nvSpPr>
        <p:spPr>
          <a:xfrm>
            <a:off x="1687830" y="8896350"/>
            <a:ext cx="8686800" cy="9144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读者说“我知道了”，说明作者那一句写清楚了。纸条第一行对应的那一句，就是你这篇习作中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写得最清楚的地方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605" dirty="0"/>
          </a:p>
        </p:txBody>
      </p:sp>
      <p:pic>
        <p:nvPicPr>
          <p:cNvPr id="52" name="提示图标" descr="手指点击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8859774"/>
            <a:ext cx="502920" cy="502920"/>
          </a:xfrm>
          <a:prstGeom prst="rect">
            <a:avLst/>
          </a:prstGeom>
        </p:spPr>
      </p:pic>
      <p:pic>
        <p:nvPicPr>
          <p:cNvPr id="53" name="吉祥物" descr="抠-吉祥物-8254cfc28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8760" y="341947"/>
            <a:ext cx="1481328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底带"/>
          <p:cNvSpPr/>
          <p:nvPr/>
        </p:nvSpPr>
        <p:spPr>
          <a:xfrm>
            <a:off x="0" y="7772400"/>
            <a:ext cx="18288000" cy="1463040"/>
          </a:xfrm>
          <a:prstGeom prst="rect">
            <a:avLst/>
          </a:prstGeom>
          <a:solidFill>
            <a:srgbClr val="EE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先判断再改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FFF3D6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11184731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找一句带“很大”“很快”“很多”的句子，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读给作者听</a:t>
            </a:r>
            <a:endParaRPr lang="en-US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16192500" cy="1546622"/>
          </a:xfrm>
          <a:prstGeom prst="roundRect">
            <a:avLst>
              <a:gd name="adj" fmla="val 11085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66850" y="3143250"/>
            <a:ext cx="15814929" cy="101322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这样的句子不算写错，它一句话就把特点说了出来；要看的是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后面有没有接着把这个特点说清楚</a:t>
            </a: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。作者听完后，自己检查这一段：除了这一句，我有没有再用说明方法说出它到底多大、多快。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047750" y="4953000"/>
            <a:ext cx="5394960" cy="2657475"/>
          </a:xfrm>
          <a:prstGeom prst="roundRect">
            <a:avLst>
              <a:gd name="adj" fmla="val 6452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1057275" y="4962525"/>
            <a:ext cx="5376672" cy="733425"/>
          </a:xfrm>
          <a:prstGeom prst="rect">
            <a:avLst/>
          </a:prstGeom>
          <a:solidFill>
            <a:srgbClr val="4E9A57"/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362075" y="5133975"/>
            <a:ext cx="5394960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有，这一句保留</a:t>
            </a:r>
            <a:endParaRPr lang="en-US" sz="2325" dirty="0"/>
          </a:p>
        </p:txBody>
      </p:sp>
      <p:sp>
        <p:nvSpPr>
          <p:cNvPr id="12" name="Shape 9"/>
          <p:cNvSpPr/>
          <p:nvPr/>
        </p:nvSpPr>
        <p:spPr>
          <a:xfrm>
            <a:off x="1057275" y="5695950"/>
            <a:ext cx="5376672" cy="1905000"/>
          </a:xfrm>
          <a:prstGeom prst="rect">
            <a:avLst/>
          </a:prstGeom>
          <a:solidFill>
            <a:srgbClr val="F7F8FA"/>
          </a:solidFill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381125" y="5962650"/>
            <a:ext cx="4846320" cy="14630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它是一句总说。例如：“有，我后面写了</a:t>
            </a:r>
            <a:r>
              <a:rPr lang="en-US" sz="2250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跟乒乓球差不多大</a:t>
            </a: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。”</a:t>
            </a:r>
            <a:endParaRPr lang="en-US" sz="2250" dirty="0"/>
          </a:p>
        </p:txBody>
      </p:sp>
      <p:sp>
        <p:nvSpPr>
          <p:cNvPr id="14" name="Shape 11"/>
          <p:cNvSpPr/>
          <p:nvPr/>
        </p:nvSpPr>
        <p:spPr>
          <a:xfrm>
            <a:off x="6720840" y="4953000"/>
            <a:ext cx="5394960" cy="2657475"/>
          </a:xfrm>
          <a:prstGeom prst="roundRect">
            <a:avLst>
              <a:gd name="adj" fmla="val 6452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6729984" y="4962525"/>
            <a:ext cx="5376672" cy="733425"/>
          </a:xfrm>
          <a:prstGeom prst="rect">
            <a:avLst/>
          </a:prstGeom>
          <a:solidFill>
            <a:srgbClr val="C0392B"/>
          </a:solidFill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7022592" y="5133975"/>
            <a:ext cx="5120640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没有，稍后在它后面补上</a:t>
            </a:r>
            <a:endParaRPr lang="en-US" sz="2325" dirty="0"/>
          </a:p>
        </p:txBody>
      </p:sp>
      <p:sp>
        <p:nvSpPr>
          <p:cNvPr id="17" name="Shape 14"/>
          <p:cNvSpPr/>
          <p:nvPr/>
        </p:nvSpPr>
        <p:spPr>
          <a:xfrm>
            <a:off x="6729984" y="5695950"/>
            <a:ext cx="5376672" cy="1905000"/>
          </a:xfrm>
          <a:prstGeom prst="rect">
            <a:avLst/>
          </a:prstGeom>
          <a:solidFill>
            <a:srgbClr val="F7F8FA"/>
          </a:solidFill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7040880" y="5962650"/>
            <a:ext cx="4846320" cy="14630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例如：“没有，这一段我只写了‘很大’，我打算补上</a:t>
            </a:r>
            <a:r>
              <a:rPr 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它有多少厘米</a:t>
            </a: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。”</a:t>
            </a:r>
            <a:endParaRPr lang="en-US" sz="2250" dirty="0"/>
          </a:p>
        </p:txBody>
      </p:sp>
      <p:sp>
        <p:nvSpPr>
          <p:cNvPr id="19" name="Text 16"/>
          <p:cNvSpPr/>
          <p:nvPr/>
        </p:nvSpPr>
        <p:spPr>
          <a:xfrm>
            <a:off x="1687830" y="9293423"/>
            <a:ext cx="10515600" cy="51732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一句“很大”先给读的人一个印象，后面再用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列数字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或</a:t>
            </a:r>
            <a:r>
              <a:rPr lang="en-US" sz="2605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作比较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把它说清楚，读的人就知道它到底有多大了。</a:t>
            </a:r>
            <a:endParaRPr lang="en-US" sz="2605" dirty="0"/>
          </a:p>
        </p:txBody>
      </p:sp>
      <p:pic>
        <p:nvPicPr>
          <p:cNvPr id="51" name="插图" descr="抠-插入号-ff0a83ab0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1202" y="4983480"/>
            <a:ext cx="5238554" cy="4251960"/>
          </a:xfrm>
          <a:prstGeom prst="rect">
            <a:avLst/>
          </a:prstGeom>
        </p:spPr>
      </p:pic>
      <p:pic>
        <p:nvPicPr>
          <p:cNvPr id="53" name="提示图标" descr="手指点击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256847"/>
            <a:ext cx="502920" cy="502920"/>
          </a:xfrm>
          <a:prstGeom prst="rect">
            <a:avLst/>
          </a:prstGeom>
        </p:spPr>
      </p:pic>
      <p:pic>
        <p:nvPicPr>
          <p:cNvPr id="54" name="吉祥物" descr="抠-吉祥物-8254cfc28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8760" y="341947"/>
            <a:ext cx="1481328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修改收束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FFF3D6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6711002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拿回自己的稿子，对照纸条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改两处</a:t>
            </a:r>
            <a:endParaRPr lang="en-US" sz="3205" dirty="0"/>
          </a:p>
        </p:txBody>
      </p:sp>
      <p:sp>
        <p:nvSpPr>
          <p:cNvPr id="7" name="Text 4"/>
          <p:cNvSpPr/>
          <p:nvPr/>
        </p:nvSpPr>
        <p:spPr>
          <a:xfrm>
            <a:off x="1047750" y="2857500"/>
            <a:ext cx="733425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改两处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047750" y="3467100"/>
            <a:ext cx="6667500" cy="1579066"/>
          </a:xfrm>
          <a:prstGeom prst="roundRect">
            <a:avLst>
              <a:gd name="adj" fmla="val 8445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33500" y="3676650"/>
            <a:ext cx="6278880" cy="119806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第一处 </a:t>
            </a:r>
            <a:r>
              <a:rPr 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看纸条第二行，同桌还想知道的问题属于哪个方面，就在那一段里补一两句作答；不属于已有方面的，另起一段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1047750" y="5236666"/>
            <a:ext cx="6667500" cy="1579066"/>
          </a:xfrm>
          <a:prstGeom prst="roundRect">
            <a:avLst>
              <a:gd name="adj" fmla="val 8445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333500" y="5446216"/>
            <a:ext cx="6278880" cy="119806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第二处 </a:t>
            </a:r>
            <a:r>
              <a:rPr 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刚才同桌读给你听的那一句“很大”“很快”，在它后面用上一种说明方法：列数字，或者作比较；原来那句保留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1047750" y="7006233"/>
            <a:ext cx="6667500" cy="805755"/>
          </a:xfrm>
          <a:prstGeom prst="roundRect">
            <a:avLst>
              <a:gd name="adj" fmla="val 16550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333500" y="7215783"/>
            <a:ext cx="6705600" cy="4247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修改符号</a:t>
            </a:r>
            <a:r>
              <a:rPr 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多余的字圈掉，漏的字补上，错的字改正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8667750" y="2857500"/>
            <a:ext cx="942975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对照三档标准，从下往上看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8667750" y="3467100"/>
            <a:ext cx="8572500" cy="702915"/>
          </a:xfrm>
          <a:prstGeom prst="roundRect">
            <a:avLst>
              <a:gd name="adj" fmla="val 13551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8667750" y="3467100"/>
            <a:ext cx="76200" cy="702915"/>
          </a:xfrm>
          <a:prstGeom prst="rect">
            <a:avLst/>
          </a:prstGeom>
          <a:solidFill>
            <a:srgbClr val="9AA6B6"/>
          </a:solidFill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9010650" y="3638550"/>
            <a:ext cx="8759190" cy="39811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基础过关</a:t>
            </a:r>
            <a:r>
              <a:rPr lang="en-US" sz="20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能介绍这种事物的基本特点，分了段，语句通顺</a:t>
            </a:r>
            <a:endParaRPr lang="en-US" sz="2025" dirty="0"/>
          </a:p>
        </p:txBody>
      </p:sp>
      <p:sp>
        <p:nvSpPr>
          <p:cNvPr id="18" name="Shape 15"/>
          <p:cNvSpPr/>
          <p:nvPr/>
        </p:nvSpPr>
        <p:spPr>
          <a:xfrm>
            <a:off x="8667750" y="4341465"/>
            <a:ext cx="8572500" cy="1062930"/>
          </a:xfrm>
          <a:prstGeom prst="roundRect">
            <a:avLst>
              <a:gd name="adj" fmla="val 8961"/>
            </a:avLst>
          </a:prstGeom>
          <a:solidFill>
            <a:srgbClr val="FBF3E6"/>
          </a:solidFill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8667750" y="4341465"/>
            <a:ext cx="76200" cy="1062930"/>
          </a:xfrm>
          <a:prstGeom prst="rect">
            <a:avLst/>
          </a:prstGeom>
          <a:solidFill>
            <a:srgbClr val="E0A43B"/>
          </a:solidFill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9010650" y="4512915"/>
            <a:ext cx="8201787" cy="7581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良好达标 </a:t>
            </a:r>
            <a:r>
              <a:rPr lang="en-US" sz="20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从两三个方面分段介绍，每段开头大体点明了方面；用了一两种说明方法；数字和比较大体准确</a:t>
            </a:r>
            <a:endParaRPr lang="en-US" sz="2025" dirty="0"/>
          </a:p>
        </p:txBody>
      </p:sp>
      <p:sp>
        <p:nvSpPr>
          <p:cNvPr id="21" name="Shape 18"/>
          <p:cNvSpPr/>
          <p:nvPr/>
        </p:nvSpPr>
        <p:spPr>
          <a:xfrm>
            <a:off x="8667750" y="5575846"/>
            <a:ext cx="8572500" cy="1422946"/>
          </a:xfrm>
          <a:prstGeom prst="roundRect">
            <a:avLst>
              <a:gd name="adj" fmla="val 6694"/>
            </a:avLst>
          </a:prstGeom>
          <a:solidFill>
            <a:srgbClr val="FCE7EA"/>
          </a:solidFill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8667750" y="5575846"/>
            <a:ext cx="76200" cy="1422946"/>
          </a:xfrm>
          <a:prstGeom prst="rect">
            <a:avLst/>
          </a:prstGeom>
          <a:solidFill>
            <a:srgbClr val="C0392B"/>
          </a:solidFill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9010650" y="5747296"/>
            <a:ext cx="8201787" cy="111814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优秀进阶 </a:t>
            </a:r>
            <a:r>
              <a:rPr lang="en-US" sz="20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三个方面以上分段有条理，每段开头点明了方面；说明方法用得恰当，不止一种；数字准确，拿不准的标了“大约”；同桌问的问题在文中得到了回答；适当写了感受，没有把介绍挤掉</a:t>
            </a:r>
            <a:endParaRPr lang="en-US" sz="2025" dirty="0"/>
          </a:p>
        </p:txBody>
      </p:sp>
      <p:sp>
        <p:nvSpPr>
          <p:cNvPr id="24" name="Text 21"/>
          <p:cNvSpPr/>
          <p:nvPr/>
        </p:nvSpPr>
        <p:spPr>
          <a:xfrm>
            <a:off x="8667750" y="7170241"/>
            <a:ext cx="8829675" cy="783729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02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写做法的（怎样泡酸菜、溜溜球怎么玩）：把“方面”换成“步骤”来看，一步一段，先后顺序正确，需要说清楚的地方用了说明方法。</a:t>
            </a:r>
            <a:endParaRPr lang="en-US" sz="2025" dirty="0"/>
          </a:p>
        </p:txBody>
      </p:sp>
      <p:sp>
        <p:nvSpPr>
          <p:cNvPr id="25" name="Text 22"/>
          <p:cNvSpPr/>
          <p:nvPr/>
        </p:nvSpPr>
        <p:spPr>
          <a:xfrm>
            <a:off x="1687830" y="8915400"/>
            <a:ext cx="16038195" cy="9144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如果自己回答不出同桌的问题，可以写“大约”，或者写明“这一点我还没有弄清楚”。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如实写出自己还不知道，比凭空编一个数字好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605" dirty="0"/>
          </a:p>
        </p:txBody>
      </p:sp>
      <p:pic>
        <p:nvPicPr>
          <p:cNvPr id="26" name="提示图标" descr="手指点击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8878824"/>
            <a:ext cx="502920" cy="502920"/>
          </a:xfrm>
          <a:prstGeom prst="rect">
            <a:avLst/>
          </a:prstGeom>
        </p:spPr>
      </p:pic>
      <p:pic>
        <p:nvPicPr>
          <p:cNvPr id="27" name="吉祥物" descr="抠-吉祥物-8254cfc28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8760" y="341947"/>
            <a:ext cx="1481328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底带"/>
          <p:cNvSpPr/>
          <p:nvPr/>
        </p:nvSpPr>
        <p:spPr>
          <a:xfrm>
            <a:off x="0" y="6309360"/>
            <a:ext cx="18288000" cy="2834640"/>
          </a:xfrm>
          <a:prstGeom prst="rect">
            <a:avLst/>
          </a:prstGeom>
          <a:solidFill>
            <a:srgbClr val="FFF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6858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收束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FFF3D6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6711002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把同桌写的纸条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夹回自己的稿子里</a:t>
            </a:r>
            <a:endParaRPr lang="en-US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3448050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09700" y="3295650"/>
            <a:ext cx="8916353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纸条第一行，是别人从你这篇介绍里</a:t>
            </a:r>
            <a:r>
              <a:rPr lang="en-US" sz="27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真正学到的知识</a:t>
            </a:r>
            <a:endParaRPr lang="en-US" sz="2775" dirty="0"/>
          </a:p>
        </p:txBody>
      </p:sp>
      <p:sp>
        <p:nvSpPr>
          <p:cNvPr id="9" name="Shape 6"/>
          <p:cNvSpPr/>
          <p:nvPr/>
        </p:nvSpPr>
        <p:spPr>
          <a:xfrm>
            <a:off x="1047750" y="4357688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409700" y="4205288"/>
            <a:ext cx="10079355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纸条第二行，是你刚才已经补上、或者</a:t>
            </a:r>
            <a:r>
              <a:rPr lang="en-US" sz="27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下次再写清楚的地方</a:t>
            </a:r>
            <a:endParaRPr lang="en-US" sz="2775" dirty="0"/>
          </a:p>
        </p:txBody>
      </p:sp>
      <p:sp>
        <p:nvSpPr>
          <p:cNvPr id="11" name="Shape 8"/>
          <p:cNvSpPr/>
          <p:nvPr/>
        </p:nvSpPr>
        <p:spPr>
          <a:xfrm>
            <a:off x="1047750" y="5267325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409700" y="5114925"/>
            <a:ext cx="9437942" cy="10953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第一节课老师说过，写完以后同桌会给你写一张纸条。</a:t>
            </a:r>
            <a:r>
              <a:rPr lang="en-US" sz="27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现在它就在你手里</a:t>
            </a:r>
            <a:endParaRPr lang="en-US" sz="2775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0" y="4048658"/>
            <a:ext cx="6675120" cy="509534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87830" y="9334500"/>
            <a:ext cx="1717167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介绍一种事物：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分方面写，一段一个方面；用说明方法把特点说清楚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，让不了解它的人读完就认识它。</a:t>
            </a:r>
            <a:endParaRPr lang="en-US" sz="2605" dirty="0"/>
          </a:p>
        </p:txBody>
      </p:sp>
      <p:pic>
        <p:nvPicPr>
          <p:cNvPr id="33" name="提示图标" descr="手指点击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297924"/>
            <a:ext cx="502920" cy="502920"/>
          </a:xfrm>
          <a:prstGeom prst="rect">
            <a:avLst/>
          </a:prstGeom>
        </p:spPr>
      </p:pic>
      <p:pic>
        <p:nvPicPr>
          <p:cNvPr id="34" name="吉祥物" descr="抠-吉祥物-8254cfc28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8760" y="341947"/>
            <a:ext cx="1481328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00100" y="800100"/>
            <a:ext cx="16687800" cy="8686800"/>
          </a:xfrm>
          <a:prstGeom prst="roundRect">
            <a:avLst>
              <a:gd name="adj" fmla="val 1754"/>
            </a:avLst>
          </a:prstGeom>
          <a:solidFill>
            <a:srgbClr val="B8893A"/>
          </a:solidFill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943100" y="3657600"/>
            <a:ext cx="12573000" cy="19002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127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THE END</a:t>
            </a:r>
            <a:endParaRPr lang="en-US" sz="12750" dirty="0"/>
          </a:p>
        </p:txBody>
      </p:sp>
      <p:sp>
        <p:nvSpPr>
          <p:cNvPr id="5" name="Text 3"/>
          <p:cNvSpPr/>
          <p:nvPr/>
        </p:nvSpPr>
        <p:spPr>
          <a:xfrm>
            <a:off x="2057400" y="5676900"/>
            <a:ext cx="15716250" cy="5810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2850" dirty="0">
                <a:solidFill>
                  <a:srgbClr val="FFFFFF">
                    <a:alpha val="92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介绍一种事物：分方面写，一段一个方面；用说明方法把特点说清楚。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3792200" y="8058150"/>
            <a:ext cx="2095500" cy="5334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下一次再见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5925800" y="8039100"/>
            <a:ext cx="419100" cy="5334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25800" y="8039100"/>
            <a:ext cx="419100" cy="533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038350" y="7924800"/>
            <a:ext cx="1796802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850" y="8039100"/>
            <a:ext cx="1415802" cy="533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6458</Words>
  <Application>WPS 演示</Application>
  <PresentationFormat>On-screen Show (16:9)</PresentationFormat>
  <Paragraphs>585</Paragraphs>
  <Slides>29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29</vt:i4>
      </vt:variant>
    </vt:vector>
  </HeadingPairs>
  <TitlesOfParts>
    <vt:vector size="39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飞鱼</cp:lastModifiedBy>
  <cp:revision>11</cp:revision>
  <dcterms:created xsi:type="dcterms:W3CDTF">2026-09-22T07:35:00Z</dcterms:created>
  <dcterms:modified xsi:type="dcterms:W3CDTF">2026-09-27T02:48:13Z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ABAFFF25AACF4A8881D1DF541C9D643C_12</vt:lpwstr>
  </property>
  <property fmtid="{D5CDD505-2E9C-101B-9397-08002B2CF9AE}" pid="3" name="KSOProductBuildVer">
    <vt:lpwstr>2052-12.1.0.20305</vt:lpwstr>
  </property>
</Properties>
</file>