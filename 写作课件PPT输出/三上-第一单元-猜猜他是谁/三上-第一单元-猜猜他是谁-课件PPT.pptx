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6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0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76" r:id="rId23"/>
    <p:sldId id="277" r:id="rId24"/>
    <p:sldId id="278" r:id="rId25"/>
    <p:sldId id="280" r:id="rId26"/>
  </p:sldIdLst>
  <p:sldSz cx="18288000" cy="10287000"/>
  <p:notesSz cx="10287000" cy="18288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楷体" panose="02010609060101010101" pitchFamily="49" charset="-122"/>
      <p:regular r:id="rId32"/>
    </p:embeddedFont>
    <p:embeddedFont>
      <p:font typeface="等线" panose="02010600030101010101" pitchFamily="2" charset="-122"/>
      <p:regular r:id="rId33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5"/>
    <a:srgbClr val="FEFFEF"/>
    <a:srgbClr val="FDF2D0"/>
    <a:srgbClr val="FCD254"/>
    <a:srgbClr val="FFEFC4"/>
    <a:srgbClr val="FEF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4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第1课时·写作指导课。线索：猜人游戏导入《人物图鉴》任务，回忆观察唤醒人物，学'抓住一两个最特别的地方写具体'，填人物特点卡圈重点，读教师示范文与旁批。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21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游戏：老师描述、学生猜。①蓝紧身衣、红披风、会飞、爱救人、胸前大字母——超人。追问：真正让你一下猜出的是红披风和大字母。②从石头缝里蹦出来、一个跟头十万八千里——孙悟空，一句就猜中，因为这一样全天下只有他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22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谜语换成身边人：每次提问前总把眼镜往上推一推，一笑眼睛就眯成一条缝。各人猜的不一样没关系——每个人脑子里都有了一个清清楚楚的人。特点抓准了：认得的一口喊出名字，不认得的也像真见着了这么个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62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贯穿任务：全班做一本《人物图鉴》，每人写一个同学（班里的或身边最熟的人）。规矩：从头到尾不写名字，只用'他'或'她'。写完读给同学听——认识的一读喊出'这不是某某吗'算写成；不认识的觉得'这个人好特别、像真见过'也算写成。最怕写的话套在谁身上都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让人猜中，先得让那个同学'活'在脑子里。留半分钟安静选定对象：同桌、好朋友，或天天都会注意到的人。再留一分钟想他最近的样子：走进教室什么样、高兴着急时脸上手上什么样、课间最爱干什么、帮过别人的小事——专属于他、一眼能认出的那个瞬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3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找'只有他才有'的地方：一个一看就认出的小动作，或一句老挂嘴边的话。同桌两两互说——先不说是谁，只说这一样最特别的地方，听听同桌脑子里能不能冒出人影。请三四位同学各说一个（覆盖面广些）。总结：不用提名字、单凭动作说话就能认出他的细节，就是最与众不同的特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96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先弄清这篇到底写什么。出示两段对照：A从早到晚一串日常事——一起上学吃饭做值日，人人都这样，猜不出也记不住；B只写一件事——课间趴在桌上几笔把树画活了，这个人立刻有了模样。规矩：不能写流水账，要抓最特别、换了别人就不像的地方；从头到尾不写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57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问：特别的地方不止一处——长相、性格、爱好、做过的事，是不是都写进去？不是。只笼统说'头发短短的、皮肤白白的、不高不矮'，班里这样的可不止一个，等于谁都没说清。核心写法：不要面面俱到，挑一两个最与众不同、一说大家就知道是谁的地方，围绕这一个写清楚、写具体。挑得准、写得细，别人就猜得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11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特点'写具体'：光说'他很急'不行——到底急成什么样？谁都能往自己认识的人身上安。教师当场把'他很急'扩成一小段（见屏）。揭秘四样法宝：看得见的样子（举得高高的手）、听得见的声音（'嗖'、'我知道我知道'）、做过的一件小事（下课铃没响完就冲出教室）、一个小比喻（像枚小火箭）。然后请学生就自己那个人试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88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'人物特点卡'，每栏只填两三个关键词、不写句子。当众示范填急性子同学那张（见表）。最关键一步：在卡上圈出最与众不同的一两处——老师圈的是'急'和'风风火火的劲儿'。这一圈决定这一篇围绕什么写，圈得越准别人越好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52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自己的卡：先填关键词（填不出的角度空着），再圈一两处；提醒把跟同桌说过的招牌动作、口头禅填进第二行。填好后前后桌四人围一圈轮流说：只说圈出的一两处、不说是谁；听的同学反馈——凭这一两样想不想得起一个人。大家都摇头，说明圈得不够特别，回卡上换一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35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出示教师示范文：老师把自己那张卡变成一段完整的话。完整读一遍，注意标色：看得见的样子（红）、听得见的声音（蓝）、打比方（绿）——与后面旁批表同色呼应。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1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完想两问：①主要写他哪一个特点、写了几回急——就写'急'一样：下课冲出教室、走路连蹦带跳、上课抢答、放学塞书包，一件接一件；②倒数第二段带了一笔'仗义'——只有短短两句，一笔收住。规矩：围绕一个意思写，把最特别的写透，别的至多末了轻轻带一笔，不跟它抢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25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问：哪一句让你一下'看见'他急的样子？（像一枚小火箭、嗖地冲出教室、我知道我知道、急得直抓头发）把每句用了什么摆成旁批表——从头到尾没写一句'他很急'，全靠看得见的样子、听得见的声音把'急'画了出来。颜色与示范文标色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15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范文写的是脾气；要是圈的是长相，也照样能写具体——出示'卷头发'例段：只写'卷'这一样，把它变成看得清的样子（一卷一卷、跑起来一颠一颠、像顶着一团小火苗），再配一件小事（体育课扎不住、边跑边往耳后塞）。最后提醒：写自己心里那一个，开头空两格、标点占一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40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课间休息回来进入第2课时。先拿出上节课填好圈好的特点卡，跟着老师快问快答写下第一组句子，再正式写作、交流评改。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03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特点卡找到圈出的那处。老师连问四个小问题，学生不说话、直接把答案快写到稿纸上，三五个字就行，错字不停笔、不会写的用拼音、拼不出画圈跳过。①开头空两格，一句话点出他最特别的地方；②动作：他做这事时手和身体在干什么；③表情：脸上哪一处变了样；④声音：嘴里最可能蹦出哪句话。圈长相的换问：什么颜色、什么形状、比别人特别在哪、像什么。写完连起来读——开头就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5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18分钟，刚才那几句就是开头，接着往下加。盯住两件事：①全篇不出现名字，用'他'或'她'；②盯住圈出的那一处多写几笔——他在哪几件事上、什么时候露出这个特点，像范文写'急'挑了下课、上课、放学好几件事。圈两处的先写透第一处；圈长相的挑一件能看出这一点的事。不会写的字用拼音，拼不出画圈别停。巡视分类提示：接不下去的引回快问快答那几句；空泛的落到具体一件事；顺畅的不打断；草草收尾的补一件小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6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18分钟，刚才那几句就是开头，接着往下加。盯住两件事：①全篇不出现名字，用'他'或'她'；②盯住圈出的那一处多写几笔——他在哪几件事上、什么时候露出这个特点，像范文写'急'挑了下课、上课、放学好几件事。圈两处的先写透第一处；圈长相的挑一件能看出这一点的事。不会写的字用拼音，拼不出画圈别停。巡视分类提示：接不下去的引回快问快答那几句；空泛的落到具体一件事；顺畅的不打断；草草收尾的补一件小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90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热闹的环节：真正玩'猜猜他是谁'。请两位左右同学朗读自己那一页，只读内容不读名字（覆盖面广些）。听的同学：认识的猜是谁、猜中举手；不认识的说说——眼前有没有出现一个清清楚楚的人、他大概是个怎样的人。每读完一篇老师做一句具体轻点评（'一着急耳朵就红，这一句太像了'）；特点不鲜明的不批评，顺势引导：这些话是不是套在很多人身上都行？哪里能再写得只有他才有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97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人都有事做：和同桌交换稿子读对方那一页。读完告诉对方：①你眼前是个怎样的人；②哪一句最让你觉得'这个人真特别、真像见过'——把那一句指给他；③正好认识就顺便猜猜是谁。被指出的那一句记下来，是这一页的亮点；同桌读完眼前没有清楚的人，说明特点不够突出，正是接下来要改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0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认识三个修改符号：删除号、增补号、改正号（画法见屏）。改之前先看三条：①特点抓着没有；②有没有围绕这一处写具体；③别人读了能不能认出他是个怎样的人。对照三档标准自己改：开头空两格、标点占格，把'他很高''他很好'的空话换成具体的样子或一件小事，再改通顺、改错字。今天不求十全十美，只把'特点准不准、写得具不具体'改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67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回扣任务：改好的同学把这一页认认真真写工整——每个人都为《人物图鉴》写了一页，以后再翻开，那个同学的样子就又回来了。点回本事：多留心看，记住他身上一两处最特别的地方，再用具体的话写下来。图鉴收进班级成长档案，算大家第一次写人的纪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39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收束：写人，先看见、再写下——抓住最特别的一两处，围绕它，用看得见听得见的细节写具体。《人物图鉴》收进班级成长档案。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4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notesSlide" Target="../notesSlides/notesSlide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8.png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image" Target="../media/image9.png"/><Relationship Id="rId2" Type="http://schemas.openxmlformats.org/officeDocument/2006/relationships/tags" Target="../tags/tag25.xml"/><Relationship Id="rId16" Type="http://schemas.openxmlformats.org/officeDocument/2006/relationships/image" Target="../media/image3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notesSlide" Target="../notesSlides/notesSlide7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3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10.png"/><Relationship Id="rId5" Type="http://schemas.openxmlformats.org/officeDocument/2006/relationships/tags" Target="../tags/tag41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notesSlide" Target="../notesSlides/notesSlide1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image" Target="../media/image11.png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image" Target="../media/image3.png"/><Relationship Id="rId4" Type="http://schemas.openxmlformats.org/officeDocument/2006/relationships/tags" Target="../tags/tag59.xml"/><Relationship Id="rId9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" Type="http://schemas.openxmlformats.org/officeDocument/2006/relationships/tags" Target="../tags/tag66.xml"/><Relationship Id="rId21" Type="http://schemas.openxmlformats.org/officeDocument/2006/relationships/notesSlide" Target="../notesSlides/notesSlide17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3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8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14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image" Target="../media/image3.png"/><Relationship Id="rId5" Type="http://schemas.openxmlformats.org/officeDocument/2006/relationships/tags" Target="../tags/tag96.xml"/><Relationship Id="rId10" Type="http://schemas.openxmlformats.org/officeDocument/2006/relationships/notesSlide" Target="../notesSlides/notesSlide20.xml"/><Relationship Id="rId4" Type="http://schemas.openxmlformats.org/officeDocument/2006/relationships/tags" Target="../tags/tag95.xml"/><Relationship Id="rId9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image" Target="../media/image3.png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image" Target="../media/image15.png"/><Relationship Id="rId2" Type="http://schemas.openxmlformats.org/officeDocument/2006/relationships/tags" Target="../tags/tag101.xml"/><Relationship Id="rId16" Type="http://schemas.openxmlformats.org/officeDocument/2006/relationships/notesSlide" Target="../notesSlides/notesSlide2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../media/image7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3.png"/><Relationship Id="rId5" Type="http://schemas.openxmlformats.org/officeDocument/2006/relationships/tags" Target="../tags/tag118.xml"/><Relationship Id="rId10" Type="http://schemas.openxmlformats.org/officeDocument/2006/relationships/notesSlide" Target="../notesSlides/notesSlide23.xml"/><Relationship Id="rId4" Type="http://schemas.openxmlformats.org/officeDocument/2006/relationships/tags" Target="../tags/tag117.xml"/><Relationship Id="rId9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2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>
              <a:endParaRPr/>
            </a:p>
          </p:txBody>
        </p:sp>
        <p:sp>
          <p:nvSpPr>
            <p:cNvPr id="3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>
              <a:endParaRPr/>
            </a:p>
          </p:txBody>
        </p:sp>
        <p:pic>
          <p:nvPicPr>
            <p:cNvPr id="9" name="Picture 3" descr="logo-r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0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 4"/>
          <p:cNvSpPr/>
          <p:nvPr/>
        </p:nvSpPr>
        <p:spPr>
          <a:xfrm>
            <a:off x="4419600" y="2103120"/>
            <a:ext cx="6705600" cy="1524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850" b="1" i="1" kern="0" spc="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猜猜他是谁</a:t>
            </a:r>
            <a:endParaRPr lang="en-US" sz="8850" dirty="0"/>
          </a:p>
        </p:txBody>
      </p:sp>
      <p:sp>
        <p:nvSpPr>
          <p:cNvPr id="8" name="Text 5"/>
          <p:cNvSpPr/>
          <p:nvPr/>
        </p:nvSpPr>
        <p:spPr>
          <a:xfrm>
            <a:off x="4530090" y="3790950"/>
            <a:ext cx="9446612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i="1" kern="0" spc="22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第一单元 · 校内同步写作（写人）</a:t>
            </a:r>
            <a:endParaRPr lang="en-US" sz="3000" i="1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82641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第一单元</a:t>
            </a:r>
            <a:endParaRPr lang="en-US" sz="2550" dirty="0"/>
          </a:p>
        </p:txBody>
      </p:sp>
      <p:pic>
        <p:nvPicPr>
          <p:cNvPr id="20" name="图片 19" descr="猜猜他是谁-封面用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715" y="4675505"/>
            <a:ext cx="5468620" cy="5611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txBody>
          <a:bodyPr/>
          <a:lstStyle/>
          <a:p>
            <a:endParaRPr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38350" y="3181350"/>
            <a:ext cx="2581230" cy="2428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0" b="1" kern="0" spc="4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8" name="Text 5"/>
          <p:cNvSpPr/>
          <p:nvPr/>
        </p:nvSpPr>
        <p:spPr>
          <a:xfrm>
            <a:off x="2228850" y="5676900"/>
            <a:ext cx="3352800" cy="790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2247900" y="6572250"/>
            <a:ext cx="9358863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1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回忆观察 · 学写法 · 人物特点卡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7" name="Shape 8"/>
          <p:cNvSpPr/>
          <p:nvPr/>
        </p:nvSpPr>
        <p:spPr>
          <a:xfrm>
            <a:off x="1057275" y="2665095"/>
            <a:ext cx="12609830" cy="3239770"/>
          </a:xfrm>
          <a:prstGeom prst="rect">
            <a:avLst/>
          </a:prstGeom>
          <a:solidFill>
            <a:srgbClr val="FEFDE0"/>
          </a:solidFill>
        </p:spPr>
        <p:txBody>
          <a:bodyPr/>
          <a:lstStyle/>
          <a:p>
            <a:endParaRPr/>
          </a:p>
        </p:txBody>
      </p:sp>
      <p:sp>
        <p:nvSpPr>
          <p:cNvPr id="32" name="Shape 8"/>
          <p:cNvSpPr/>
          <p:nvPr/>
        </p:nvSpPr>
        <p:spPr>
          <a:xfrm>
            <a:off x="1057275" y="5063490"/>
            <a:ext cx="12609830" cy="841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20072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598995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课堂小游戏：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猜猜他是谁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3465" y="2664865"/>
            <a:ext cx="3252634" cy="3240000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1358900" y="277431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358900" y="3515995"/>
            <a:ext cx="1240726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他穿着一身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蓝色的紧身衣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，披着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红色的披风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；会飞，力气特别大，一有人遇到危险</a:t>
            </a:r>
          </a:p>
          <a:p>
            <a:pPr>
              <a:lnSpc>
                <a:spcPct val="150000"/>
              </a:lnSpc>
            </a:pP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就飞过去救人；胸前还印着一个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大大的红色英文字母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6" name="Text 7"/>
          <p:cNvSpPr/>
          <p:nvPr/>
        </p:nvSpPr>
        <p:spPr>
          <a:xfrm>
            <a:off x="2251710" y="2794635"/>
            <a:ext cx="13887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超人</a:t>
            </a:r>
          </a:p>
        </p:txBody>
      </p:sp>
      <p:sp>
        <p:nvSpPr>
          <p:cNvPr id="28" name="Shape 6"/>
          <p:cNvSpPr/>
          <p:nvPr/>
        </p:nvSpPr>
        <p:spPr>
          <a:xfrm flipH="1">
            <a:off x="1974215" y="2665095"/>
            <a:ext cx="76200" cy="7429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466850" y="5218430"/>
            <a:ext cx="122008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会飞的英雄有很多，真正让你一下子猜中的，是</a:t>
            </a:r>
            <a:r>
              <a:rPr 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红披风和胸前的大字母</a:t>
            </a:r>
            <a:r>
              <a:rPr 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33" name="Shape 8"/>
          <p:cNvSpPr/>
          <p:nvPr/>
        </p:nvSpPr>
        <p:spPr>
          <a:xfrm>
            <a:off x="1057275" y="6214110"/>
            <a:ext cx="12609830" cy="3239770"/>
          </a:xfrm>
          <a:prstGeom prst="rect">
            <a:avLst/>
          </a:prstGeom>
          <a:solidFill>
            <a:srgbClr val="FEFDE0"/>
          </a:solidFill>
        </p:spPr>
        <p:txBody>
          <a:bodyPr/>
          <a:lstStyle/>
          <a:p>
            <a:endParaRPr/>
          </a:p>
        </p:txBody>
      </p:sp>
      <p:sp>
        <p:nvSpPr>
          <p:cNvPr id="34" name="Shape 8"/>
          <p:cNvSpPr/>
          <p:nvPr/>
        </p:nvSpPr>
        <p:spPr>
          <a:xfrm>
            <a:off x="1057275" y="8612505"/>
            <a:ext cx="12609830" cy="841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endParaRPr/>
          </a:p>
        </p:txBody>
      </p:sp>
      <p:pic>
        <p:nvPicPr>
          <p:cNvPr id="35" name="图片 34" descr="E:/22222小学配图/同步写作/三上1-猜猜他是谁/猜猜他是谁-孙悟空.jpg猜猜他是谁-孙悟空"/>
          <p:cNvPicPr>
            <a:picLocks noChangeAspect="1"/>
          </p:cNvPicPr>
          <p:nvPr/>
        </p:nvPicPr>
        <p:blipFill>
          <a:blip r:embed="rId5"/>
          <a:srcRect t="198" b="198"/>
          <a:stretch>
            <a:fillRect/>
          </a:stretch>
        </p:blipFill>
        <p:spPr>
          <a:xfrm>
            <a:off x="13753465" y="6213880"/>
            <a:ext cx="3252634" cy="3240000"/>
          </a:xfrm>
          <a:prstGeom prst="rect">
            <a:avLst/>
          </a:prstGeom>
        </p:spPr>
      </p:pic>
      <p:sp>
        <p:nvSpPr>
          <p:cNvPr id="36" name="Text 7"/>
          <p:cNvSpPr/>
          <p:nvPr/>
        </p:nvSpPr>
        <p:spPr>
          <a:xfrm>
            <a:off x="1358900" y="6323330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358900" y="7065010"/>
            <a:ext cx="13122910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他从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石头缝里蹦出来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，一个跟头能翻</a:t>
            </a:r>
            <a:r>
              <a:rPr lang="zh-CN" altLang="en-US"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十万八千里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。这一次，你是不是猜得更快了？</a:t>
            </a:r>
          </a:p>
        </p:txBody>
      </p:sp>
      <p:sp>
        <p:nvSpPr>
          <p:cNvPr id="38" name="Text 7"/>
          <p:cNvSpPr/>
          <p:nvPr/>
        </p:nvSpPr>
        <p:spPr>
          <a:xfrm>
            <a:off x="2251710" y="6343650"/>
            <a:ext cx="13887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孙悟空</a:t>
            </a:r>
          </a:p>
        </p:txBody>
      </p:sp>
      <p:sp>
        <p:nvSpPr>
          <p:cNvPr id="39" name="Shape 6"/>
          <p:cNvSpPr/>
          <p:nvPr/>
        </p:nvSpPr>
        <p:spPr>
          <a:xfrm flipH="1">
            <a:off x="1974215" y="6214110"/>
            <a:ext cx="76200" cy="7429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16"/>
          <p:cNvSpPr/>
          <p:nvPr/>
        </p:nvSpPr>
        <p:spPr>
          <a:xfrm>
            <a:off x="1466850" y="8767445"/>
            <a:ext cx="12218035" cy="6330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老师没说名字，只讲了一两处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“只有他才有”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的地方，大家就认出了他。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32" grpId="0" bldLvl="0" animBg="1"/>
      <p:bldP spid="29" grpId="0"/>
      <p:bldP spid="30" grpId="0"/>
      <p:bldP spid="26" grpId="0"/>
      <p:bldP spid="28" grpId="0" bldLvl="0" animBg="1"/>
      <p:bldP spid="21" grpId="0"/>
      <p:bldP spid="33" grpId="0" bldLvl="0" animBg="1"/>
      <p:bldP spid="34" grpId="0" bldLvl="0" animBg="1"/>
      <p:bldP spid="36" grpId="0"/>
      <p:bldP spid="37" grpId="0"/>
      <p:bldP spid="38" grpId="0"/>
      <p:bldP spid="39" grpId="0" bldLvl="0" animBg="1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7" name="Shape 8"/>
          <p:cNvSpPr/>
          <p:nvPr/>
        </p:nvSpPr>
        <p:spPr>
          <a:xfrm>
            <a:off x="0" y="2753995"/>
            <a:ext cx="12511405" cy="5788660"/>
          </a:xfrm>
          <a:prstGeom prst="rect">
            <a:avLst/>
          </a:prstGeom>
          <a:solidFill>
            <a:srgbClr val="FFFFE5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9018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63347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再猜一个：这次是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身边的人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3143250"/>
            <a:ext cx="10814050" cy="213360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43050" y="3562350"/>
            <a:ext cx="10318750" cy="1333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“他每次提问前，总要先把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眼镜往上推一推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，一笑起来，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眼睛就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眯成一条缝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1047750" y="6031230"/>
            <a:ext cx="152400" cy="152400"/>
          </a:xfrm>
          <a:prstGeom prst="ellipse">
            <a:avLst/>
          </a:prstGeom>
          <a:solidFill>
            <a:srgbClr val="3D4A63"/>
          </a:solidFill>
        </p:spPr>
      </p:sp>
      <p:sp>
        <p:nvSpPr>
          <p:cNvPr id="13" name="Text 9"/>
          <p:cNvSpPr/>
          <p:nvPr/>
        </p:nvSpPr>
        <p:spPr>
          <a:xfrm>
            <a:off x="1409700" y="5878830"/>
            <a:ext cx="10686415" cy="783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大家猜的不一样，可每个人的脑海里，都有了一个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清清楚楚的人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1047750" y="7147322"/>
            <a:ext cx="152400" cy="152400"/>
          </a:xfrm>
          <a:prstGeom prst="ellipse">
            <a:avLst/>
          </a:prstGeom>
          <a:solidFill>
            <a:srgbClr val="3D4A63"/>
          </a:solidFill>
        </p:spPr>
      </p:sp>
      <p:sp>
        <p:nvSpPr>
          <p:cNvPr id="15" name="Text 11"/>
          <p:cNvSpPr/>
          <p:nvPr/>
        </p:nvSpPr>
        <p:spPr>
          <a:xfrm>
            <a:off x="1409700" y="6995160"/>
            <a:ext cx="10684510" cy="751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认识的，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一下子就能叫出名字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；不认识的，也像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真的见到了这个人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1047750" y="8903970"/>
            <a:ext cx="1352931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特点抓准了，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不用写名字也能让人“认出”一个人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，这就是今天要学的方法。</a:t>
            </a:r>
          </a:p>
        </p:txBody>
      </p:sp>
      <p:pic>
        <p:nvPicPr>
          <p:cNvPr id="18" name="图片 17" descr="E:/22222小学配图/同步写作/三上1-猜猜他是谁/猜猜他是谁-16.png猜猜他是谁-16"/>
          <p:cNvPicPr>
            <a:picLocks noChangeAspect="1"/>
          </p:cNvPicPr>
          <p:nvPr/>
        </p:nvPicPr>
        <p:blipFill>
          <a:blip r:embed="rId5"/>
          <a:srcRect l="1146" r="1166"/>
          <a:stretch>
            <a:fillRect/>
          </a:stretch>
        </p:blipFill>
        <p:spPr>
          <a:xfrm>
            <a:off x="12404725" y="2753995"/>
            <a:ext cx="5895975" cy="5789295"/>
          </a:xfrm>
          <a:prstGeom prst="rect">
            <a:avLst/>
          </a:prstGeom>
        </p:spPr>
      </p:pic>
      <p:sp>
        <p:nvSpPr>
          <p:cNvPr id="31" name="Freeform 2"/>
          <p:cNvSpPr/>
          <p:nvPr>
            <p:custDataLst>
              <p:tags r:id="rId1"/>
            </p:custDataLst>
          </p:nvPr>
        </p:nvSpPr>
        <p:spPr>
          <a:xfrm flipH="1">
            <a:off x="12135485" y="3669030"/>
            <a:ext cx="523875" cy="96837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66850" y="1575435"/>
            <a:ext cx="762952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今天的任务：编一本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《人物图鉴》</a:t>
            </a:r>
          </a:p>
        </p:txBody>
      </p:sp>
      <p:sp>
        <p:nvSpPr>
          <p:cNvPr id="8" name="Shape 5"/>
          <p:cNvSpPr/>
          <p:nvPr/>
        </p:nvSpPr>
        <p:spPr>
          <a:xfrm>
            <a:off x="-635" y="2667000"/>
            <a:ext cx="18289270" cy="6840000"/>
          </a:xfrm>
          <a:prstGeom prst="roundRect">
            <a:avLst>
              <a:gd name="adj" fmla="val 0"/>
            </a:avLst>
          </a:prstGeom>
          <a:solidFill>
            <a:srgbClr val="FCD254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301740" y="3068955"/>
            <a:ext cx="1122172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每人写一个同学</a:t>
            </a: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，全文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不出现他的名字</a:t>
            </a: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，只用“他”或“她”称呼。</a:t>
            </a:r>
            <a:endParaRPr lang="en-US" sz="2700" dirty="0"/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写完后装订成一本《人物图鉴》，全班传阅。</a:t>
            </a:r>
          </a:p>
        </p:txBody>
      </p:sp>
      <p:sp>
        <p:nvSpPr>
          <p:cNvPr id="13" name="Text 9"/>
          <p:cNvSpPr/>
          <p:nvPr>
            <p:custDataLst>
              <p:tags r:id="rId1"/>
            </p:custDataLst>
          </p:nvPr>
        </p:nvSpPr>
        <p:spPr>
          <a:xfrm>
            <a:off x="6968490" y="4497705"/>
            <a:ext cx="1010539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认识他的同学一读就说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“这不是某某吗”</a:t>
            </a: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，这一页就写成功了</a:t>
            </a:r>
            <a:endParaRPr lang="en-US" sz="2700" dirty="0"/>
          </a:p>
        </p:txBody>
      </p:sp>
      <p:sp>
        <p:nvSpPr>
          <p:cNvPr id="16" name="Text 12"/>
          <p:cNvSpPr/>
          <p:nvPr>
            <p:custDataLst>
              <p:tags r:id="rId2"/>
            </p:custDataLst>
          </p:nvPr>
        </p:nvSpPr>
        <p:spPr>
          <a:xfrm>
            <a:off x="6968490" y="5488305"/>
            <a:ext cx="10497503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不认识也不要紧，听完觉得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“这个人真特别，像真的见过”</a:t>
            </a: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也算写成功</a:t>
            </a:r>
            <a:endParaRPr lang="zh-CN" altLang="en-US" sz="27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3"/>
            </p:custDataLst>
          </p:nvPr>
        </p:nvSpPr>
        <p:spPr>
          <a:xfrm>
            <a:off x="6968490" y="6920865"/>
            <a:ext cx="10512425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如果写的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放在谁身上都合适</a:t>
            </a: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，让人猜不出这个人，就不算成功</a:t>
            </a:r>
            <a:endParaRPr lang="zh-CN" altLang="en-US" sz="27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71260" y="7928610"/>
            <a:ext cx="11417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想一想：怎样写，才能让认识他的同学当场猜出来，不认识的也像眼前真的</a:t>
            </a: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有这样一个人？</a:t>
            </a:r>
          </a:p>
        </p:txBody>
      </p:sp>
      <p:pic>
        <p:nvPicPr>
          <p:cNvPr id="21" name="图片 20" descr="猜猜他是谁-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180000">
            <a:off x="661035" y="3105150"/>
            <a:ext cx="4761865" cy="6348730"/>
          </a:xfrm>
          <a:prstGeom prst="rect">
            <a:avLst/>
          </a:prstGeom>
          <a:effectLst>
            <a:outerShdw blurRad="50800" dist="101600" dir="189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75" name="椭圆 174"/>
          <p:cNvSpPr/>
          <p:nvPr>
            <p:custDataLst>
              <p:tags r:id="rId4"/>
            </p:custDataLst>
          </p:nvPr>
        </p:nvSpPr>
        <p:spPr>
          <a:xfrm>
            <a:off x="6332220" y="6922135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5"/>
            </p:custDataLst>
          </p:nvPr>
        </p:nvSpPr>
        <p:spPr>
          <a:xfrm>
            <a:off x="6329045" y="698881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6"/>
            </p:custDataLst>
          </p:nvPr>
        </p:nvSpPr>
        <p:spPr>
          <a:xfrm>
            <a:off x="6332220" y="451294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7"/>
            </p:custDataLst>
          </p:nvPr>
        </p:nvSpPr>
        <p:spPr>
          <a:xfrm>
            <a:off x="6332220" y="569944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8"/>
            </p:custDataLst>
          </p:nvPr>
        </p:nvCxnSpPr>
        <p:spPr>
          <a:xfrm>
            <a:off x="6570345" y="4991100"/>
            <a:ext cx="0" cy="71374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9"/>
            </p:custDataLst>
          </p:nvPr>
        </p:nvCxnSpPr>
        <p:spPr>
          <a:xfrm>
            <a:off x="6570345" y="6185535"/>
            <a:ext cx="0" cy="73533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0"/>
            </p:custDataLst>
          </p:nvPr>
        </p:nvSpPr>
        <p:spPr>
          <a:xfrm>
            <a:off x="6332220" y="458882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1"/>
            </p:custDataLst>
          </p:nvPr>
        </p:nvSpPr>
        <p:spPr>
          <a:xfrm>
            <a:off x="6329045" y="577723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9" grpId="0"/>
      <p:bldP spid="20" grpId="0"/>
      <p:bldP spid="175" grpId="0" animBg="1"/>
      <p:bldP spid="180" grpId="0"/>
      <p:bldP spid="173" grpId="0" animBg="1"/>
      <p:bldP spid="174" grpId="0" animBg="1"/>
      <p:bldP spid="178" grpId="0"/>
      <p:bldP spid="1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/>
          <p:cNvSpPr/>
          <p:nvPr/>
        </p:nvSpPr>
        <p:spPr>
          <a:xfrm>
            <a:off x="-635" y="2667000"/>
            <a:ext cx="18289270" cy="6840000"/>
          </a:xfrm>
          <a:prstGeom prst="roundRect">
            <a:avLst>
              <a:gd name="adj" fmla="val 0"/>
            </a:avLst>
          </a:prstGeom>
          <a:solidFill>
            <a:srgbClr val="FCD254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回忆观察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3490" y="1436370"/>
            <a:ext cx="15868650" cy="1038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先在心里选定一个人：</a:t>
            </a:r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你的同桌、好朋友，或者你每天都会注意到的人，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让他“活”在你的脑海里</a:t>
            </a:r>
          </a:p>
        </p:txBody>
      </p:sp>
      <p:sp>
        <p:nvSpPr>
          <p:cNvPr id="10" name="Text 7"/>
          <p:cNvSpPr/>
          <p:nvPr/>
        </p:nvSpPr>
        <p:spPr>
          <a:xfrm>
            <a:off x="7839710" y="3538855"/>
            <a:ext cx="5634990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走进教室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时是什么样子？</a:t>
            </a:r>
          </a:p>
        </p:txBody>
      </p:sp>
      <p:sp>
        <p:nvSpPr>
          <p:cNvPr id="12" name="Text 9"/>
          <p:cNvSpPr/>
          <p:nvPr/>
        </p:nvSpPr>
        <p:spPr>
          <a:xfrm>
            <a:off x="7839710" y="4870450"/>
            <a:ext cx="983551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高兴、着急的时候，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表情、动作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又是什么样子？</a:t>
            </a:r>
          </a:p>
        </p:txBody>
      </p:sp>
      <p:sp>
        <p:nvSpPr>
          <p:cNvPr id="14" name="Text 11"/>
          <p:cNvSpPr/>
          <p:nvPr/>
        </p:nvSpPr>
        <p:spPr>
          <a:xfrm>
            <a:off x="7839710" y="6202045"/>
            <a:ext cx="10168890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3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课间他</a:t>
            </a:r>
            <a:r>
              <a:rPr lang="en-US" sz="3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最喜欢做什么</a:t>
            </a:r>
            <a:r>
              <a:rPr lang="en-US" sz="3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r>
              <a:rPr lang="zh-CN" altLang="en-US" sz="3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平时有没有帮助别人的小举动</a:t>
            </a:r>
            <a:r>
              <a:rPr lang="en-US" sz="3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16" name="Text 13"/>
          <p:cNvSpPr/>
          <p:nvPr/>
        </p:nvSpPr>
        <p:spPr>
          <a:xfrm>
            <a:off x="7839710" y="7533640"/>
            <a:ext cx="925639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想一想专属于他、一眼就能认出的那个瞬间。</a:t>
            </a:r>
          </a:p>
        </p:txBody>
      </p:sp>
      <p:pic>
        <p:nvPicPr>
          <p:cNvPr id="18" name="图片 17" descr="猜猜他是谁-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2667000"/>
            <a:ext cx="6840000" cy="6840000"/>
          </a:xfrm>
          <a:prstGeom prst="rect">
            <a:avLst/>
          </a:prstGeom>
        </p:spPr>
      </p:pic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7280275" y="626491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7277100" y="633158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7280275" y="356616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7280275" y="492029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518400" y="409956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7518400" y="545211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7280275" y="364204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7277100" y="499808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sp>
        <p:nvSpPr>
          <p:cNvPr id="20" name="椭圆 19"/>
          <p:cNvSpPr/>
          <p:nvPr>
            <p:custDataLst>
              <p:tags r:id="rId9"/>
            </p:custDataLst>
          </p:nvPr>
        </p:nvSpPr>
        <p:spPr>
          <a:xfrm>
            <a:off x="7277100" y="7581900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0"/>
            </p:custDataLst>
          </p:nvPr>
        </p:nvCxnSpPr>
        <p:spPr>
          <a:xfrm>
            <a:off x="7515225" y="676910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7273925" y="764857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  <p:bldP spid="20" grpId="0" bldLvl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1047750" y="2713355"/>
            <a:ext cx="16192500" cy="6216650"/>
          </a:xfrm>
          <a:prstGeom prst="roundRect">
            <a:avLst>
              <a:gd name="adj" fmla="val 423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</p:sp>
      <p:sp>
        <p:nvSpPr>
          <p:cNvPr id="21" name="圆角矩形标注 20"/>
          <p:cNvSpPr/>
          <p:nvPr/>
        </p:nvSpPr>
        <p:spPr>
          <a:xfrm rot="5400000" flipV="1">
            <a:off x="1898650" y="2792730"/>
            <a:ext cx="2110105" cy="2897505"/>
          </a:xfrm>
          <a:prstGeom prst="wedgeRoundRectCallout">
            <a:avLst>
              <a:gd name="adj1" fmla="val -23023"/>
              <a:gd name="adj2" fmla="val 66643"/>
              <a:gd name="adj3" fmla="val 16667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标注 21"/>
          <p:cNvSpPr/>
          <p:nvPr/>
        </p:nvSpPr>
        <p:spPr>
          <a:xfrm rot="5400000" flipV="1">
            <a:off x="5594350" y="2792730"/>
            <a:ext cx="2110105" cy="2897505"/>
          </a:xfrm>
          <a:prstGeom prst="wedgeRoundRectCallout">
            <a:avLst>
              <a:gd name="adj1" fmla="val -23023"/>
              <a:gd name="adj2" fmla="val 66643"/>
              <a:gd name="adj3" fmla="val 16667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标注 22"/>
          <p:cNvSpPr/>
          <p:nvPr/>
        </p:nvSpPr>
        <p:spPr>
          <a:xfrm rot="5400000" flipV="1">
            <a:off x="9290050" y="2792730"/>
            <a:ext cx="2110105" cy="2897505"/>
          </a:xfrm>
          <a:prstGeom prst="wedgeRoundRectCallout">
            <a:avLst>
              <a:gd name="adj1" fmla="val -23023"/>
              <a:gd name="adj2" fmla="val 66643"/>
              <a:gd name="adj3" fmla="val 16667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标注 23"/>
          <p:cNvSpPr/>
          <p:nvPr/>
        </p:nvSpPr>
        <p:spPr>
          <a:xfrm rot="5400000" flipV="1">
            <a:off x="12985750" y="2792730"/>
            <a:ext cx="2110105" cy="2897505"/>
          </a:xfrm>
          <a:prstGeom prst="wedgeRoundRectCallout">
            <a:avLst>
              <a:gd name="adj1" fmla="val -20328"/>
              <a:gd name="adj2" fmla="val 42307"/>
              <a:gd name="adj3" fmla="val 16667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回忆观察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3035" y="1619250"/>
            <a:ext cx="877570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找一处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只有他才有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的地方，说给同桌听</a:t>
            </a:r>
          </a:p>
        </p:txBody>
      </p:sp>
      <p:sp>
        <p:nvSpPr>
          <p:cNvPr id="9" name="Text 6"/>
          <p:cNvSpPr/>
          <p:nvPr/>
        </p:nvSpPr>
        <p:spPr>
          <a:xfrm>
            <a:off x="1899285" y="3660775"/>
            <a:ext cx="2423160" cy="11029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招牌小动作</a:t>
            </a:r>
          </a:p>
        </p:txBody>
      </p:sp>
      <p:sp>
        <p:nvSpPr>
          <p:cNvPr id="11" name="Text 8"/>
          <p:cNvSpPr/>
          <p:nvPr/>
        </p:nvSpPr>
        <p:spPr>
          <a:xfrm>
            <a:off x="6010275" y="3660775"/>
            <a:ext cx="1847850" cy="11029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口头禅</a:t>
            </a:r>
          </a:p>
        </p:txBody>
      </p:sp>
      <p:sp>
        <p:nvSpPr>
          <p:cNvPr id="13" name="Text 10"/>
          <p:cNvSpPr/>
          <p:nvPr/>
        </p:nvSpPr>
        <p:spPr>
          <a:xfrm>
            <a:off x="9260205" y="3660775"/>
            <a:ext cx="2409825" cy="1126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一激动就会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露出的表情</a:t>
            </a:r>
          </a:p>
        </p:txBody>
      </p:sp>
      <p:sp>
        <p:nvSpPr>
          <p:cNvPr id="15" name="Text 12"/>
          <p:cNvSpPr/>
          <p:nvPr/>
        </p:nvSpPr>
        <p:spPr>
          <a:xfrm>
            <a:off x="12993370" y="3660775"/>
            <a:ext cx="2469515" cy="11347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课间最常做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的那件事</a:t>
            </a:r>
          </a:p>
        </p:txBody>
      </p:sp>
      <p:sp>
        <p:nvSpPr>
          <p:cNvPr id="17" name="Text 14"/>
          <p:cNvSpPr/>
          <p:nvPr/>
        </p:nvSpPr>
        <p:spPr>
          <a:xfrm>
            <a:off x="1428750" y="5892800"/>
            <a:ext cx="148691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同桌互相说一说：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先不说他是谁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，只说这一处最特别的地方，看看同桌的脑海里能不能浮现出一个人。</a:t>
            </a:r>
          </a:p>
        </p:txBody>
      </p:sp>
      <p:sp>
        <p:nvSpPr>
          <p:cNvPr id="19" name="Text 16"/>
          <p:cNvSpPr/>
          <p:nvPr/>
        </p:nvSpPr>
        <p:spPr>
          <a:xfrm>
            <a:off x="1428750" y="7166610"/>
            <a:ext cx="11916410" cy="16071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不用提名字，单凭动作、语言、表情就能认出他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的细节，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就是这个人最与众不同的特点。把它记在心里，接下来写作时就用得上。</a:t>
            </a:r>
          </a:p>
        </p:txBody>
      </p:sp>
      <p:sp>
        <p:nvSpPr>
          <p:cNvPr id="20" name="Text 17"/>
          <p:cNvSpPr/>
          <p:nvPr/>
        </p:nvSpPr>
        <p:spPr>
          <a:xfrm>
            <a:off x="1352550" y="9118600"/>
            <a:ext cx="9432290" cy="654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心里先有他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具体的样子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，动笔时才写得出来。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75069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4645"/>
            <a:ext cx="79984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这两段话，哪一段能让人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猜出他是谁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1038225" y="2706370"/>
            <a:ext cx="7886700" cy="3619500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1047750" y="271589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4029075" y="2826385"/>
            <a:ext cx="19107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猜不出</a:t>
            </a:r>
          </a:p>
        </p:txBody>
      </p:sp>
      <p:sp>
        <p:nvSpPr>
          <p:cNvPr id="12" name="Shape 8"/>
          <p:cNvSpPr/>
          <p:nvPr>
            <p:custDataLst>
              <p:tags r:id="rId4"/>
            </p:custDataLst>
          </p:nvPr>
        </p:nvSpPr>
        <p:spPr>
          <a:xfrm>
            <a:off x="1047750" y="3458845"/>
            <a:ext cx="7867650" cy="2857500"/>
          </a:xfrm>
          <a:custGeom>
            <a:avLst/>
            <a:gdLst/>
            <a:ahLst/>
            <a:cxnLst/>
            <a:rect l="l" t="t" r="r" b="b"/>
            <a:pathLst>
              <a:path w="7867650" h="2857500">
                <a:moveTo>
                  <a:pt x="0" y="0"/>
                </a:moveTo>
                <a:lnTo>
                  <a:pt x="7867650" y="0"/>
                </a:lnTo>
                <a:lnTo>
                  <a:pt x="7867650" y="2686050"/>
                </a:lnTo>
                <a:arcTo wR="171450" hR="171450" stAng="0" swAng="5400000"/>
                <a:lnTo>
                  <a:pt x="171450" y="2857500"/>
                </a:lnTo>
                <a:arcTo wR="171450" hR="1714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F8FA"/>
          </a:solidFill>
        </p:spPr>
      </p:sp>
      <p:sp>
        <p:nvSpPr>
          <p:cNvPr id="15" name="Shape 10"/>
          <p:cNvSpPr/>
          <p:nvPr>
            <p:custDataLst>
              <p:tags r:id="rId5"/>
            </p:custDataLst>
          </p:nvPr>
        </p:nvSpPr>
        <p:spPr>
          <a:xfrm>
            <a:off x="9344025" y="2706370"/>
            <a:ext cx="7886700" cy="3619500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</p:sp>
      <p:sp>
        <p:nvSpPr>
          <p:cNvPr id="16" name="Shape 11"/>
          <p:cNvSpPr/>
          <p:nvPr>
            <p:custDataLst>
              <p:tags r:id="rId6"/>
            </p:custDataLst>
          </p:nvPr>
        </p:nvSpPr>
        <p:spPr>
          <a:xfrm>
            <a:off x="9353550" y="271589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</p:sp>
      <p:sp>
        <p:nvSpPr>
          <p:cNvPr id="18" name="Text 12"/>
          <p:cNvSpPr/>
          <p:nvPr>
            <p:custDataLst>
              <p:tags r:id="rId7"/>
            </p:custDataLst>
          </p:nvPr>
        </p:nvSpPr>
        <p:spPr>
          <a:xfrm>
            <a:off x="10986770" y="2826385"/>
            <a:ext cx="45548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猜得出</a:t>
            </a:r>
            <a:r>
              <a:rPr lang="en-US" altLang="zh-CN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</a:t>
            </a:r>
            <a:r>
              <a:rPr lang="zh-CN" altLang="en-US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人物形象鲜活</a:t>
            </a:r>
          </a:p>
        </p:txBody>
      </p:sp>
      <p:sp>
        <p:nvSpPr>
          <p:cNvPr id="19" name="Shape 13"/>
          <p:cNvSpPr/>
          <p:nvPr>
            <p:custDataLst>
              <p:tags r:id="rId8"/>
            </p:custDataLst>
          </p:nvPr>
        </p:nvSpPr>
        <p:spPr>
          <a:xfrm>
            <a:off x="9353550" y="3458845"/>
            <a:ext cx="7867650" cy="2857500"/>
          </a:xfrm>
          <a:custGeom>
            <a:avLst/>
            <a:gdLst/>
            <a:ahLst/>
            <a:cxnLst/>
            <a:rect l="l" t="t" r="r" b="b"/>
            <a:pathLst>
              <a:path w="7867650" h="2857500">
                <a:moveTo>
                  <a:pt x="0" y="0"/>
                </a:moveTo>
                <a:lnTo>
                  <a:pt x="7867650" y="0"/>
                </a:lnTo>
                <a:lnTo>
                  <a:pt x="7867650" y="2686050"/>
                </a:lnTo>
                <a:arcTo wR="171450" hR="171450" stAng="0" swAng="5400000"/>
                <a:lnTo>
                  <a:pt x="171450" y="2857500"/>
                </a:lnTo>
                <a:arcTo wR="171450" hR="1714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F8FA"/>
          </a:solidFill>
        </p:spPr>
      </p:sp>
      <p:sp>
        <p:nvSpPr>
          <p:cNvPr id="22" name="Text 15"/>
          <p:cNvSpPr/>
          <p:nvPr/>
        </p:nvSpPr>
        <p:spPr>
          <a:xfrm>
            <a:off x="1920875" y="7113905"/>
            <a:ext cx="1347724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左边从早到晚记了一连串事情，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班里几乎人人都这样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，读完猜不出，也记不住。</a:t>
            </a:r>
          </a:p>
        </p:txBody>
      </p:sp>
      <p:sp>
        <p:nvSpPr>
          <p:cNvPr id="23" name="Text 16"/>
          <p:cNvSpPr/>
          <p:nvPr/>
        </p:nvSpPr>
        <p:spPr>
          <a:xfrm>
            <a:off x="1920875" y="8251825"/>
            <a:ext cx="1150874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右边只写一件事：他会画画，画得好，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这个人立刻就有了模样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311910" y="3754120"/>
            <a:ext cx="7603490" cy="1835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我的同桌，每天早上我们一起到校，上午一起上课，中午一起吃饭，下午一起做值日，放学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一起回家。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632950" y="3683000"/>
            <a:ext cx="7708900" cy="233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我的同桌有一手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画画的本事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。课间十分钟，别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人都在追跑打闹，他一个人趴在桌上，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几笔就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把窗外那棵树画活了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，叶子一片一片，跟真的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一样。</a:t>
            </a:r>
          </a:p>
        </p:txBody>
      </p:sp>
      <p:pic>
        <p:nvPicPr>
          <p:cNvPr id="32" name="图片 31" descr="猜猜他是谁-8"/>
          <p:cNvPicPr>
            <a:picLocks noChangeAspect="1"/>
          </p:cNvPicPr>
          <p:nvPr/>
        </p:nvPicPr>
        <p:blipFill>
          <a:blip r:embed="rId17">
            <a:alphaModFix amt="60000"/>
            <a:clrChange>
              <a:clrFrom>
                <a:srgbClr val="FBFCF7">
                  <a:alpha val="100000"/>
                </a:srgbClr>
              </a:clrFrom>
              <a:clrTo>
                <a:srgbClr val="FBFCF7">
                  <a:alpha val="100000"/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877415" y="5779770"/>
            <a:ext cx="2466340" cy="4507230"/>
          </a:xfrm>
          <a:prstGeom prst="rect">
            <a:avLst/>
          </a:prstGeom>
        </p:spPr>
      </p:pic>
      <p:sp>
        <p:nvSpPr>
          <p:cNvPr id="173" name="椭圆 172"/>
          <p:cNvSpPr/>
          <p:nvPr>
            <p:custDataLst>
              <p:tags r:id="rId9"/>
            </p:custDataLst>
          </p:nvPr>
        </p:nvSpPr>
        <p:spPr>
          <a:xfrm>
            <a:off x="1311910" y="712533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10"/>
            </p:custDataLst>
          </p:nvPr>
        </p:nvSpPr>
        <p:spPr>
          <a:xfrm>
            <a:off x="1311910" y="829659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11"/>
            </p:custDataLst>
          </p:nvPr>
        </p:nvCxnSpPr>
        <p:spPr>
          <a:xfrm>
            <a:off x="1550035" y="7658735"/>
            <a:ext cx="0" cy="607695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2"/>
            </p:custDataLst>
          </p:nvPr>
        </p:nvSpPr>
        <p:spPr>
          <a:xfrm>
            <a:off x="1311910" y="720121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3"/>
            </p:custDataLst>
          </p:nvPr>
        </p:nvSpPr>
        <p:spPr>
          <a:xfrm>
            <a:off x="1308735" y="837438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猜猜他是谁-5"/>
          <p:cNvPicPr>
            <a:picLocks noChangeAspect="1"/>
          </p:cNvPicPr>
          <p:nvPr/>
        </p:nvPicPr>
        <p:blipFill>
          <a:blip r:embed="rId11">
            <a:clrChange>
              <a:clrFrom>
                <a:srgbClr val="FEFDF9">
                  <a:alpha val="100000"/>
                </a:srgbClr>
              </a:clrFrom>
              <a:clrTo>
                <a:srgbClr val="FEFDF9">
                  <a:alpha val="100000"/>
                  <a:alpha val="0"/>
                </a:srgbClr>
              </a:clrTo>
            </a:clrChange>
          </a:blip>
          <a:srcRect l="14186" t="10591"/>
          <a:stretch>
            <a:fillRect/>
          </a:stretch>
        </p:blipFill>
        <p:spPr>
          <a:xfrm>
            <a:off x="0" y="0"/>
            <a:ext cx="8381365" cy="1028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14845" y="2135505"/>
            <a:ext cx="10503535" cy="950595"/>
          </a:xfrm>
          <a:prstGeom prst="roundRect">
            <a:avLst>
              <a:gd name="adj" fmla="val 20041"/>
            </a:avLst>
          </a:prstGeom>
          <a:solidFill>
            <a:schemeClr val="accent4">
              <a:lumMod val="60000"/>
              <a:lumOff val="40000"/>
            </a:schemeClr>
          </a:solidFill>
        </p:spPr>
      </p:sp>
      <p:sp>
        <p:nvSpPr>
          <p:cNvPr id="19" name="Shape 3"/>
          <p:cNvSpPr/>
          <p:nvPr/>
        </p:nvSpPr>
        <p:spPr>
          <a:xfrm>
            <a:off x="7002780" y="3249930"/>
            <a:ext cx="10503535" cy="5565775"/>
          </a:xfrm>
          <a:prstGeom prst="roundRect">
            <a:avLst>
              <a:gd name="adj" fmla="val 3547"/>
            </a:avLst>
          </a:prstGeom>
          <a:solidFill>
            <a:srgbClr val="FFEFC4"/>
          </a:solidFill>
        </p:spPr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1049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33945" y="2326005"/>
            <a:ext cx="892683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猜猜他是谁</a:t>
            </a: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：抓住</a:t>
            </a:r>
            <a:r>
              <a:rPr lang="en-US" sz="34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一两个最特别的地方</a:t>
            </a:r>
          </a:p>
        </p:txBody>
      </p:sp>
      <p:sp>
        <p:nvSpPr>
          <p:cNvPr id="13" name="Text 9"/>
          <p:cNvSpPr/>
          <p:nvPr/>
        </p:nvSpPr>
        <p:spPr>
          <a:xfrm>
            <a:off x="7997825" y="3992880"/>
            <a:ext cx="914361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面面俱到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：长相、性格、爱好都写一点，等于什么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都没说清楚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7997825" y="5524500"/>
            <a:ext cx="916502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一两个最与众不同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、一说大家就知道是谁的地方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7997825" y="6678930"/>
            <a:ext cx="10022205" cy="12630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围绕这一处，把它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写清楚、写具体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。选得准、写得细，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别人就能猜中</a:t>
            </a:r>
            <a:endParaRPr lang="en-US" sz="2700" dirty="0"/>
          </a:p>
        </p:txBody>
      </p:sp>
      <p:sp>
        <p:nvSpPr>
          <p:cNvPr id="21" name="Text 14"/>
          <p:cNvSpPr/>
          <p:nvPr/>
        </p:nvSpPr>
        <p:spPr>
          <a:xfrm>
            <a:off x="5715000" y="9137650"/>
            <a:ext cx="12603480" cy="5499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ln w="38100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“头发短短的、皮肤白白的、不高不矮”，班里这样的同学</a:t>
            </a:r>
            <a:r>
              <a:rPr lang="en-US" sz="2500" b="1" dirty="0">
                <a:ln w="38100">
                  <a:noFill/>
                </a:ln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不止一个</a:t>
            </a:r>
            <a:r>
              <a:rPr lang="en-US" sz="2500" b="1" dirty="0">
                <a:ln w="38100">
                  <a:noFill/>
                </a:ln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，这不叫特点。</a:t>
            </a:r>
          </a:p>
        </p:txBody>
      </p:sp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7280275" y="693547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7277100" y="700214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7280275" y="423672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7280275" y="559085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518400" y="477012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7518400" y="612267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7280275" y="431260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7277100" y="566864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1049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728599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看老师把</a:t>
            </a:r>
            <a:r>
              <a:rPr lang="en-US" sz="34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“他很急”</a:t>
            </a: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写成一小段话</a:t>
            </a:r>
            <a:endParaRPr lang="zh-CN" altLang="en-US" sz="34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731770"/>
            <a:ext cx="16192500" cy="5332095"/>
          </a:xfrm>
          <a:prstGeom prst="roundRect">
            <a:avLst>
              <a:gd name="adj" fmla="val 5150"/>
            </a:avLst>
          </a:prstGeom>
          <a:solidFill>
            <a:srgbClr val="FCF3EE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26870" y="5715000"/>
            <a:ext cx="2721610" cy="1386205"/>
          </a:xfrm>
          <a:prstGeom prst="roundRect">
            <a:avLst>
              <a:gd name="adj" fmla="val 10997"/>
            </a:avLst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70735" y="5972175"/>
            <a:ext cx="22682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看得见的样子</a:t>
            </a:r>
          </a:p>
        </p:txBody>
      </p:sp>
      <p:sp>
        <p:nvSpPr>
          <p:cNvPr id="12" name="Text 9"/>
          <p:cNvSpPr/>
          <p:nvPr/>
        </p:nvSpPr>
        <p:spPr>
          <a:xfrm>
            <a:off x="2070735" y="6457950"/>
            <a:ext cx="2268220" cy="424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举得高高的手</a:t>
            </a:r>
          </a:p>
        </p:txBody>
      </p:sp>
      <p:sp>
        <p:nvSpPr>
          <p:cNvPr id="13" name="Shape 10"/>
          <p:cNvSpPr/>
          <p:nvPr/>
        </p:nvSpPr>
        <p:spPr>
          <a:xfrm>
            <a:off x="4939665" y="5715000"/>
            <a:ext cx="3848100" cy="1385888"/>
          </a:xfrm>
          <a:prstGeom prst="roundRect">
            <a:avLst>
              <a:gd name="adj" fmla="val 10997"/>
            </a:avLst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0175" y="5972175"/>
            <a:ext cx="25253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听得见的声音</a:t>
            </a:r>
          </a:p>
        </p:txBody>
      </p:sp>
      <p:sp>
        <p:nvSpPr>
          <p:cNvPr id="15" name="Text 12"/>
          <p:cNvSpPr/>
          <p:nvPr/>
        </p:nvSpPr>
        <p:spPr>
          <a:xfrm>
            <a:off x="4863465" y="6457950"/>
            <a:ext cx="4283710" cy="424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“嗖”“我知道！我知道！”</a:t>
            </a:r>
          </a:p>
        </p:txBody>
      </p:sp>
      <p:sp>
        <p:nvSpPr>
          <p:cNvPr id="16" name="Shape 13"/>
          <p:cNvSpPr/>
          <p:nvPr/>
        </p:nvSpPr>
        <p:spPr>
          <a:xfrm>
            <a:off x="9378950" y="5715000"/>
            <a:ext cx="3848100" cy="1385888"/>
          </a:xfrm>
          <a:prstGeom prst="roundRect">
            <a:avLst>
              <a:gd name="adj" fmla="val 10997"/>
            </a:avLst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99295" y="5972175"/>
            <a:ext cx="16129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一件小事</a:t>
            </a:r>
          </a:p>
        </p:txBody>
      </p:sp>
      <p:sp>
        <p:nvSpPr>
          <p:cNvPr id="18" name="Text 15"/>
          <p:cNvSpPr/>
          <p:nvPr/>
        </p:nvSpPr>
        <p:spPr>
          <a:xfrm>
            <a:off x="9568815" y="6457950"/>
            <a:ext cx="3786505" cy="424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下课铃没响完就冲出教室</a:t>
            </a:r>
          </a:p>
        </p:txBody>
      </p:sp>
      <p:sp>
        <p:nvSpPr>
          <p:cNvPr id="19" name="Shape 16"/>
          <p:cNvSpPr/>
          <p:nvPr/>
        </p:nvSpPr>
        <p:spPr>
          <a:xfrm>
            <a:off x="13818235" y="5715000"/>
            <a:ext cx="2690495" cy="1386205"/>
          </a:xfrm>
          <a:prstGeom prst="roundRect">
            <a:avLst>
              <a:gd name="adj" fmla="val 10997"/>
            </a:avLst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247495" y="5972175"/>
            <a:ext cx="184213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</a:p>
        </p:txBody>
      </p:sp>
      <p:sp>
        <p:nvSpPr>
          <p:cNvPr id="21" name="Text 18"/>
          <p:cNvSpPr/>
          <p:nvPr/>
        </p:nvSpPr>
        <p:spPr>
          <a:xfrm>
            <a:off x="14247495" y="6457950"/>
            <a:ext cx="2303780" cy="424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像一枚小火箭</a:t>
            </a:r>
          </a:p>
        </p:txBody>
      </p:sp>
      <p:sp>
        <p:nvSpPr>
          <p:cNvPr id="22" name="Text 19"/>
          <p:cNvSpPr/>
          <p:nvPr/>
        </p:nvSpPr>
        <p:spPr>
          <a:xfrm>
            <a:off x="1230630" y="8168640"/>
            <a:ext cx="16511270" cy="12738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老师没有再说“他很急”，可是</a:t>
            </a:r>
            <a:r>
              <a:rPr lang="en-US" sz="27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处处都能看到他在急</a:t>
            </a:r>
            <a:r>
              <a:rPr lang="en-US" sz="27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。请你也试一试：选出你要写的那个人的一个</a:t>
            </a:r>
            <a:endParaRPr lang="zh-CN" altLang="en-US" sz="275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特点，说具体、说清楚。</a:t>
            </a:r>
            <a:endParaRPr lang="en-US" sz="275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72895" y="3124835"/>
            <a:ext cx="1614805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他呀，一刻也闲不住。下课铃一响，老师“下课”还没说完，他已经</a:t>
            </a:r>
            <a:r>
              <a:rPr lang="zh-CN" altLang="en-US" sz="3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“嗖”地冲出教</a:t>
            </a:r>
          </a:p>
          <a:p>
            <a:pPr>
              <a:lnSpc>
                <a:spcPct val="150000"/>
              </a:lnSpc>
            </a:pPr>
            <a:r>
              <a:rPr lang="zh-CN" altLang="en-US" sz="3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室</a:t>
            </a:r>
            <a:r>
              <a:rPr lang="zh-CN" altLang="en-US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3000" b="1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像一枚小火箭</a:t>
            </a:r>
            <a:r>
              <a:rPr lang="zh-CN" altLang="en-US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。上课更急，问题才问一半，他的</a:t>
            </a:r>
            <a:r>
              <a:rPr lang="zh-CN" altLang="en-US" sz="30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手就举得高高的</a:t>
            </a:r>
            <a:r>
              <a:rPr lang="zh-CN" altLang="en-US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，嘴里直喊</a:t>
            </a:r>
            <a:r>
              <a:rPr lang="zh-CN" altLang="en-US" sz="3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“我知道！</a:t>
            </a:r>
          </a:p>
          <a:p>
            <a:pPr>
              <a:lnSpc>
                <a:spcPct val="150000"/>
              </a:lnSpc>
            </a:pPr>
            <a:r>
              <a:rPr lang="zh-CN" altLang="en-US" sz="3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我知道！”</a:t>
            </a:r>
            <a:r>
              <a:rPr lang="zh-CN" altLang="en-US" sz="3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885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人物特点卡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2724150" cy="695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人物特点卡</a:t>
            </a:r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907498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每栏只填两三个关键词，不写句子（示例：那位“急性子”同学）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4248150"/>
          </a:xfrm>
          <a:prstGeom prst="roundRect">
            <a:avLst>
              <a:gd name="adj" fmla="val 3139"/>
            </a:avLst>
          </a:prstGeom>
          <a:ln w="9525">
            <a:solidFill>
              <a:srgbClr val="DF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custGeom>
            <a:avLst/>
            <a:gdLst/>
            <a:ahLst/>
            <a:cxnLst/>
            <a:rect l="l" t="t" r="r" b="b"/>
            <a:pathLst>
              <a:path w="16173450" h="723900">
                <a:moveTo>
                  <a:pt x="133350" y="0"/>
                </a:moveTo>
                <a:lnTo>
                  <a:pt x="16040100" y="0"/>
                </a:lnTo>
                <a:arcTo wR="133350" hR="133350" stAng="16200000" swAng="5400000"/>
                <a:lnTo>
                  <a:pt x="16173450" y="723900"/>
                </a:lnTo>
                <a:lnTo>
                  <a:pt x="0" y="723900"/>
                </a:lnTo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3D4A63"/>
          </a:solidFill>
        </p:spPr>
      </p:sp>
      <p:sp>
        <p:nvSpPr>
          <p:cNvPr id="11" name="Text 7"/>
          <p:cNvSpPr/>
          <p:nvPr/>
        </p:nvSpPr>
        <p:spPr>
          <a:xfrm>
            <a:off x="1362075" y="3000375"/>
            <a:ext cx="58654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观察角度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7343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658100" y="3000375"/>
            <a:ext cx="95644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我想到的关键词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1057275" y="3552825"/>
            <a:ext cx="16173450" cy="695325"/>
          </a:xfrm>
          <a:prstGeom prst="rect">
            <a:avLst/>
          </a:prstGeom>
          <a:solidFill>
            <a:srgbClr val="EEF1F5"/>
          </a:solidFill>
        </p:spPr>
      </p:sp>
      <p:sp>
        <p:nvSpPr>
          <p:cNvPr id="15" name="Text 11"/>
          <p:cNvSpPr/>
          <p:nvPr/>
        </p:nvSpPr>
        <p:spPr>
          <a:xfrm>
            <a:off x="1362075" y="371475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外貌：发型、眼睛、身高、穿着</a:t>
            </a:r>
            <a:endParaRPr lang="en-US" sz="2175" dirty="0"/>
          </a:p>
        </p:txBody>
      </p:sp>
      <p:sp>
        <p:nvSpPr>
          <p:cNvPr id="16" name="Shape 12"/>
          <p:cNvSpPr/>
          <p:nvPr/>
        </p:nvSpPr>
        <p:spPr>
          <a:xfrm>
            <a:off x="7343775" y="3552825"/>
            <a:ext cx="9525" cy="695325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17" name="Text 13"/>
          <p:cNvSpPr/>
          <p:nvPr/>
        </p:nvSpPr>
        <p:spPr>
          <a:xfrm>
            <a:off x="7658100" y="371475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个子不高、瘦瘦的、头发短短的、总穿一双运动鞋</a:t>
            </a:r>
            <a:endParaRPr lang="en-US" sz="2175" dirty="0"/>
          </a:p>
        </p:txBody>
      </p:sp>
      <p:sp>
        <p:nvSpPr>
          <p:cNvPr id="18" name="Shape 14"/>
          <p:cNvSpPr/>
          <p:nvPr/>
        </p:nvSpPr>
        <p:spPr>
          <a:xfrm>
            <a:off x="1057275" y="4248150"/>
            <a:ext cx="16173450" cy="6953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1362075" y="441007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招牌动作 · 口头禅 · 神态：他一……就……</a:t>
            </a:r>
            <a:endParaRPr lang="en-US" sz="2175" dirty="0"/>
          </a:p>
        </p:txBody>
      </p:sp>
      <p:sp>
        <p:nvSpPr>
          <p:cNvPr id="20" name="Shape 16"/>
          <p:cNvSpPr/>
          <p:nvPr/>
        </p:nvSpPr>
        <p:spPr>
          <a:xfrm>
            <a:off x="7343775" y="4248150"/>
            <a:ext cx="9525" cy="695325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1" name="Text 17"/>
          <p:cNvSpPr/>
          <p:nvPr/>
        </p:nvSpPr>
        <p:spPr>
          <a:xfrm>
            <a:off x="7658100" y="441007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下课像小火箭冲出去、抢答喊“我知道”、直抓头发</a:t>
            </a:r>
            <a:endParaRPr lang="en-US" sz="2175" dirty="0"/>
          </a:p>
        </p:txBody>
      </p:sp>
      <p:sp>
        <p:nvSpPr>
          <p:cNvPr id="22" name="Shape 18"/>
          <p:cNvSpPr/>
          <p:nvPr/>
        </p:nvSpPr>
        <p:spPr>
          <a:xfrm>
            <a:off x="1057275" y="4943475"/>
            <a:ext cx="16173450" cy="723900"/>
          </a:xfrm>
          <a:prstGeom prst="rect">
            <a:avLst/>
          </a:prstGeom>
          <a:solidFill>
            <a:srgbClr val="EEF1F5"/>
          </a:solidFill>
        </p:spPr>
      </p:sp>
      <p:sp>
        <p:nvSpPr>
          <p:cNvPr id="23" name="Text 19"/>
          <p:cNvSpPr/>
          <p:nvPr/>
        </p:nvSpPr>
        <p:spPr>
          <a:xfrm>
            <a:off x="1362075" y="5105400"/>
            <a:ext cx="586549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性格：爱笑、文静、开朗、调皮……</a:t>
            </a:r>
            <a:endParaRPr lang="en-US" sz="2175" dirty="0"/>
          </a:p>
        </p:txBody>
      </p:sp>
      <p:sp>
        <p:nvSpPr>
          <p:cNvPr id="24" name="Shape 20"/>
          <p:cNvSpPr/>
          <p:nvPr/>
        </p:nvSpPr>
        <p:spPr>
          <a:xfrm>
            <a:off x="7343775" y="4943475"/>
            <a:ext cx="9525" cy="7239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5" name="Text 21"/>
          <p:cNvSpPr/>
          <p:nvPr/>
        </p:nvSpPr>
        <p:spPr>
          <a:xfrm>
            <a:off x="7658100" y="5105400"/>
            <a:ext cx="9564434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急、风风火火、坐不住 ◯←老师圈出的重点</a:t>
            </a:r>
            <a:endParaRPr lang="en-US" sz="2175" dirty="0"/>
          </a:p>
        </p:txBody>
      </p:sp>
      <p:sp>
        <p:nvSpPr>
          <p:cNvPr id="26" name="Shape 22"/>
          <p:cNvSpPr/>
          <p:nvPr/>
        </p:nvSpPr>
        <p:spPr>
          <a:xfrm>
            <a:off x="1057275" y="5667375"/>
            <a:ext cx="16173450" cy="6953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3"/>
          <p:cNvSpPr/>
          <p:nvPr/>
        </p:nvSpPr>
        <p:spPr>
          <a:xfrm>
            <a:off x="1362075" y="582930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爱好：看书、踢球、画画、唱歌……</a:t>
            </a:r>
            <a:endParaRPr lang="en-US" sz="2175" dirty="0"/>
          </a:p>
        </p:txBody>
      </p:sp>
      <p:sp>
        <p:nvSpPr>
          <p:cNvPr id="28" name="Shape 24"/>
          <p:cNvSpPr/>
          <p:nvPr/>
        </p:nvSpPr>
        <p:spPr>
          <a:xfrm>
            <a:off x="7343775" y="5667375"/>
            <a:ext cx="9525" cy="695325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9" name="Text 25"/>
          <p:cNvSpPr/>
          <p:nvPr/>
        </p:nvSpPr>
        <p:spPr>
          <a:xfrm>
            <a:off x="7658100" y="582930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踢球、爱看球赛</a:t>
            </a:r>
            <a:endParaRPr lang="en-US" sz="2175" dirty="0"/>
          </a:p>
        </p:txBody>
      </p:sp>
      <p:sp>
        <p:nvSpPr>
          <p:cNvPr id="30" name="Shape 26"/>
          <p:cNvSpPr/>
          <p:nvPr/>
        </p:nvSpPr>
        <p:spPr>
          <a:xfrm>
            <a:off x="1057275" y="6362700"/>
            <a:ext cx="16173450" cy="695325"/>
          </a:xfrm>
          <a:custGeom>
            <a:avLst/>
            <a:gdLst/>
            <a:ahLst/>
            <a:cxnLst/>
            <a:rect l="l" t="t" r="r" b="b"/>
            <a:pathLst>
              <a:path w="16173450" h="695325">
                <a:moveTo>
                  <a:pt x="0" y="0"/>
                </a:moveTo>
                <a:lnTo>
                  <a:pt x="16173450" y="0"/>
                </a:lnTo>
                <a:lnTo>
                  <a:pt x="16173450" y="561975"/>
                </a:lnTo>
                <a:arcTo wR="133350" hR="133350" stAng="0" swAng="5400000"/>
                <a:lnTo>
                  <a:pt x="133350" y="695325"/>
                </a:lnTo>
                <a:arcTo wR="133350" hR="133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EEF1F5"/>
          </a:solidFill>
        </p:spPr>
      </p:sp>
      <p:sp>
        <p:nvSpPr>
          <p:cNvPr id="32" name="Text 27"/>
          <p:cNvSpPr/>
          <p:nvPr/>
        </p:nvSpPr>
        <p:spPr>
          <a:xfrm>
            <a:off x="1362075" y="652462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品质：热心、有礼貌、爱帮人……</a:t>
            </a:r>
            <a:endParaRPr lang="en-US" sz="2175" dirty="0"/>
          </a:p>
        </p:txBody>
      </p:sp>
      <p:sp>
        <p:nvSpPr>
          <p:cNvPr id="33" name="Shape 28"/>
          <p:cNvSpPr/>
          <p:nvPr/>
        </p:nvSpPr>
        <p:spPr>
          <a:xfrm>
            <a:off x="7343775" y="6362700"/>
            <a:ext cx="9525" cy="695325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34" name="Text 29"/>
          <p:cNvSpPr/>
          <p:nvPr/>
        </p:nvSpPr>
        <p:spPr>
          <a:xfrm>
            <a:off x="7658100" y="652462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仗义、同学忘带笔马上就借</a:t>
            </a:r>
            <a:endParaRPr lang="en-US" sz="2175" dirty="0"/>
          </a:p>
        </p:txBody>
      </p:sp>
      <p:sp>
        <p:nvSpPr>
          <p:cNvPr id="35" name="Text 30"/>
          <p:cNvSpPr/>
          <p:nvPr/>
        </p:nvSpPr>
        <p:spPr>
          <a:xfrm>
            <a:off x="1047750" y="7619365"/>
            <a:ext cx="1446720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最关键的一步：在卡上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圈出最与众不同的一两处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，这决定了你这一篇围绕什么来写。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3" name="Shape 5"/>
          <p:cNvSpPr/>
          <p:nvPr/>
        </p:nvSpPr>
        <p:spPr>
          <a:xfrm>
            <a:off x="-635" y="2667000"/>
            <a:ext cx="18289270" cy="6244590"/>
          </a:xfrm>
          <a:prstGeom prst="roundRect">
            <a:avLst>
              <a:gd name="adj" fmla="val 0"/>
            </a:avLst>
          </a:prstGeom>
          <a:solidFill>
            <a:srgbClr val="FCD254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885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人物特点卡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801814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自己动手：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先填卡，再圈出一两处</a:t>
            </a:r>
          </a:p>
        </p:txBody>
      </p:sp>
      <p:sp>
        <p:nvSpPr>
          <p:cNvPr id="10" name="Text 7"/>
          <p:cNvSpPr/>
          <p:nvPr>
            <p:custDataLst>
              <p:tags r:id="rId1"/>
            </p:custDataLst>
          </p:nvPr>
        </p:nvSpPr>
        <p:spPr>
          <a:xfrm>
            <a:off x="8313420" y="3792220"/>
            <a:ext cx="6798945" cy="546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，想不出的角度可以空着</a:t>
            </a:r>
            <a:endParaRPr lang="en-US" sz="2800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8313420" y="5125085"/>
            <a:ext cx="8652510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别人对不上号、只有他才有</a:t>
            </a:r>
            <a:r>
              <a:rPr lang="zh-CN" altLang="en-US" sz="2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的那一处圈出来</a:t>
            </a:r>
          </a:p>
        </p:txBody>
      </p:sp>
      <p:sp>
        <p:nvSpPr>
          <p:cNvPr id="16" name="Text 13"/>
          <p:cNvSpPr/>
          <p:nvPr>
            <p:custDataLst>
              <p:tags r:id="rId3"/>
            </p:custDataLst>
          </p:nvPr>
        </p:nvSpPr>
        <p:spPr>
          <a:xfrm>
            <a:off x="8313420" y="6463030"/>
            <a:ext cx="9993630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前后桌四人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互相说一说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只说圈出的那一两处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，先不说他是谁</a:t>
            </a:r>
          </a:p>
        </p:txBody>
      </p:sp>
      <p:sp>
        <p:nvSpPr>
          <p:cNvPr id="19" name="Text 15"/>
          <p:cNvSpPr/>
          <p:nvPr/>
        </p:nvSpPr>
        <p:spPr>
          <a:xfrm>
            <a:off x="708025" y="8234045"/>
            <a:ext cx="1763395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听的同学做评委：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听完告诉他，只凭这一两处，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你能不能想到一个人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。都摇头，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说明圈得不够特别，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就回卡上再换一处。</a:t>
            </a:r>
          </a:p>
        </p:txBody>
      </p:sp>
      <p:sp>
        <p:nvSpPr>
          <p:cNvPr id="20" name="Text 16"/>
          <p:cNvSpPr/>
          <p:nvPr/>
        </p:nvSpPr>
        <p:spPr>
          <a:xfrm>
            <a:off x="720090" y="9173845"/>
            <a:ext cx="140855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一张人物特点卡，先从几个角度写下关键词，再圈出最特别的一两处，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思路就清楚了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175" name="椭圆 174"/>
          <p:cNvSpPr/>
          <p:nvPr>
            <p:custDataLst>
              <p:tags r:id="rId4"/>
            </p:custDataLst>
          </p:nvPr>
        </p:nvSpPr>
        <p:spPr>
          <a:xfrm>
            <a:off x="7686040" y="6492875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5"/>
            </p:custDataLst>
          </p:nvPr>
        </p:nvSpPr>
        <p:spPr>
          <a:xfrm>
            <a:off x="7682865" y="655955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6"/>
            </p:custDataLst>
          </p:nvPr>
        </p:nvSpPr>
        <p:spPr>
          <a:xfrm>
            <a:off x="7686040" y="379412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7"/>
            </p:custDataLst>
          </p:nvPr>
        </p:nvSpPr>
        <p:spPr>
          <a:xfrm>
            <a:off x="7686040" y="514826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8"/>
            </p:custDataLst>
          </p:nvPr>
        </p:nvCxnSpPr>
        <p:spPr>
          <a:xfrm>
            <a:off x="7924165" y="432752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9"/>
            </p:custDataLst>
          </p:nvPr>
        </p:nvCxnSpPr>
        <p:spPr>
          <a:xfrm>
            <a:off x="7924165" y="568007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0"/>
            </p:custDataLst>
          </p:nvPr>
        </p:nvSpPr>
        <p:spPr>
          <a:xfrm>
            <a:off x="7686040" y="387000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1"/>
            </p:custDataLst>
          </p:nvPr>
        </p:nvSpPr>
        <p:spPr>
          <a:xfrm>
            <a:off x="7682865" y="522605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22" name="图片 21" descr="E:/22222小学配图/同步写作/三上1-猜猜他是谁/猜猜他是谁-12.png猜猜他是谁-12"/>
          <p:cNvPicPr>
            <a:picLocks noChangeAspect="1"/>
          </p:cNvPicPr>
          <p:nvPr/>
        </p:nvPicPr>
        <p:blipFill>
          <a:blip r:embed="rId15"/>
          <a:srcRect l="12" r="241" b="2856"/>
          <a:stretch>
            <a:fillRect/>
          </a:stretch>
        </p:blipFill>
        <p:spPr>
          <a:xfrm>
            <a:off x="735330" y="2987040"/>
            <a:ext cx="6663055" cy="5097145"/>
          </a:xfrm>
          <a:prstGeom prst="roundRect">
            <a:avLst>
              <a:gd name="adj" fmla="val 5057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885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562100"/>
            <a:ext cx="734123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这张卡，写成了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能让人猜的短文</a:t>
            </a:r>
          </a:p>
        </p:txBody>
      </p:sp>
      <p:sp>
        <p:nvSpPr>
          <p:cNvPr id="15" name="Text 12"/>
          <p:cNvSpPr/>
          <p:nvPr/>
        </p:nvSpPr>
        <p:spPr>
          <a:xfrm>
            <a:off x="1222375" y="9036685"/>
            <a:ext cx="50387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看得见的样子（动作·神态）</a:t>
            </a:r>
          </a:p>
        </p:txBody>
      </p:sp>
      <p:sp>
        <p:nvSpPr>
          <p:cNvPr id="16" name="Text 13"/>
          <p:cNvSpPr/>
          <p:nvPr/>
        </p:nvSpPr>
        <p:spPr>
          <a:xfrm>
            <a:off x="5761355" y="9036685"/>
            <a:ext cx="38461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听得见的声音 · </a:t>
            </a:r>
            <a:r>
              <a:rPr lang="zh-CN" alt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</a:t>
            </a:r>
          </a:p>
        </p:txBody>
      </p:sp>
      <p:sp>
        <p:nvSpPr>
          <p:cNvPr id="17" name="Text 14"/>
          <p:cNvSpPr/>
          <p:nvPr/>
        </p:nvSpPr>
        <p:spPr>
          <a:xfrm>
            <a:off x="9404985" y="9036685"/>
            <a:ext cx="17760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打比方</a:t>
            </a:r>
          </a:p>
        </p:txBody>
      </p:sp>
      <p:sp>
        <p:nvSpPr>
          <p:cNvPr id="18" name="Shape 5"/>
          <p:cNvSpPr/>
          <p:nvPr/>
        </p:nvSpPr>
        <p:spPr>
          <a:xfrm>
            <a:off x="1047750" y="2542540"/>
            <a:ext cx="16192500" cy="6332855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>
            <a:endParaRPr/>
          </a:p>
        </p:txBody>
      </p:sp>
      <p:sp>
        <p:nvSpPr>
          <p:cNvPr id="20" name="文本框 19"/>
          <p:cNvSpPr txBox="1"/>
          <p:nvPr/>
        </p:nvSpPr>
        <p:spPr>
          <a:xfrm>
            <a:off x="1467485" y="2954655"/>
            <a:ext cx="693547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说他是个急性子，真是一点儿也没错。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467485" y="4806950"/>
            <a:ext cx="1565021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在学习上，他更是急得不得了。上课时，老师的问题才问了一半，他就把</a:t>
            </a: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手举得高高的，身子都从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凳子上欠了起来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，嘴里还小声直喊：</a:t>
            </a:r>
            <a:r>
              <a:rPr lang="zh-CN" altLang="en-US" sz="26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“我知道！我知道！”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467485" y="7192645"/>
            <a:ext cx="1575943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</a:rPr>
              <a:t>别看他这么急，做起事来倒挺仗义。哪个同学忘带笔，他二话不说，从笔袋里抽出一支就扔了过去。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451610" y="7952105"/>
            <a:ext cx="158007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600" b="1">
                <a:latin typeface="楷体" panose="02010609060101010101" charset="-122"/>
                <a:ea typeface="楷体" panose="02010609060101010101" charset="-122"/>
              </a:rPr>
              <a:t>你猜出他是谁了吗？反正在我们班，要是有人风风火火、走到哪儿都比别人快半拍，那多半就是他。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479550" y="3642360"/>
            <a:ext cx="1603184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下课铃</a:t>
            </a:r>
            <a:r>
              <a:rPr lang="zh-CN" altLang="en-US" sz="26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“叮铃铃”一响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，老师那句“下课”还没说完，他已经</a:t>
            </a:r>
            <a:r>
              <a:rPr lang="zh-CN" altLang="en-US" sz="26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像一枚小火箭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6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“嗖”地冲出了教室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直奔操场。平时走路，他也总是</a:t>
            </a: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连蹦带跳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，别人走三步，他恨不得一步就跨过去。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467485" y="6009005"/>
            <a:ext cx="1577594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</a:rPr>
              <a:t>放学收拾书包，他也急。别人把书本一本本理平整，他</a:t>
            </a: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抓起课本、文具盒一股脑塞进书包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</a:rPr>
              <a:t>，拉链一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>
                <a:latin typeface="楷体" panose="02010609060101010101" charset="-122"/>
                <a:ea typeface="楷体" panose="02010609060101010101" charset="-122"/>
              </a:rPr>
              <a:t>拉就往外冲。结果第二天，不是作业本压得皱巴巴，就是忘带橡皮，</a:t>
            </a:r>
            <a:r>
              <a:rPr lang="zh-CN" altLang="en-US" sz="2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急得在座位上直抓头发</a:t>
            </a:r>
            <a:r>
              <a:rPr lang="zh-CN" altLang="en-US" sz="2600">
                <a:latin typeface="楷体" panose="02010609060101010101" charset="-122"/>
                <a:ea typeface="楷体" panose="0201060906010101010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270129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19250"/>
            <a:ext cx="4703445" cy="851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读完后，思考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</a:p>
        </p:txBody>
      </p:sp>
      <p:sp>
        <p:nvSpPr>
          <p:cNvPr id="24" name="Text 21"/>
          <p:cNvSpPr/>
          <p:nvPr/>
        </p:nvSpPr>
        <p:spPr>
          <a:xfrm>
            <a:off x="1158240" y="9121140"/>
            <a:ext cx="142240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一件接一件都在写“急”，这就叫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围绕一个意思写，把最特别的那个特点写透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26" name="Shape 5"/>
          <p:cNvSpPr/>
          <p:nvPr/>
        </p:nvSpPr>
        <p:spPr>
          <a:xfrm>
            <a:off x="1047750" y="2952750"/>
            <a:ext cx="7886700" cy="5686425"/>
          </a:xfrm>
          <a:prstGeom prst="roundRect">
            <a:avLst>
              <a:gd name="adj" fmla="val 4826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28" name="Text 8"/>
          <p:cNvSpPr/>
          <p:nvPr>
            <p:custDataLst>
              <p:tags r:id="rId1"/>
            </p:custDataLst>
          </p:nvPr>
        </p:nvSpPr>
        <p:spPr>
          <a:xfrm>
            <a:off x="2200275" y="3546475"/>
            <a:ext cx="474281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主要只写一个特点：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“急”</a:t>
            </a:r>
          </a:p>
        </p:txBody>
      </p:sp>
      <p:sp>
        <p:nvSpPr>
          <p:cNvPr id="30" name="Text 10"/>
          <p:cNvSpPr/>
          <p:nvPr>
            <p:custDataLst>
              <p:tags r:id="rId2"/>
            </p:custDataLst>
          </p:nvPr>
        </p:nvSpPr>
        <p:spPr>
          <a:xfrm>
            <a:off x="2718435" y="5406390"/>
            <a:ext cx="420052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下课“嗖”地冲出教室</a:t>
            </a:r>
          </a:p>
        </p:txBody>
      </p:sp>
      <p:sp>
        <p:nvSpPr>
          <p:cNvPr id="32" name="Text 12"/>
          <p:cNvSpPr/>
          <p:nvPr>
            <p:custDataLst>
              <p:tags r:id="rId3"/>
            </p:custDataLst>
          </p:nvPr>
        </p:nvSpPr>
        <p:spPr>
          <a:xfrm>
            <a:off x="2718435" y="6150610"/>
            <a:ext cx="279273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走路连蹦带跳</a:t>
            </a:r>
          </a:p>
        </p:txBody>
      </p:sp>
      <p:sp>
        <p:nvSpPr>
          <p:cNvPr id="34" name="Text 14"/>
          <p:cNvSpPr/>
          <p:nvPr>
            <p:custDataLst>
              <p:tags r:id="rId4"/>
            </p:custDataLst>
          </p:nvPr>
        </p:nvSpPr>
        <p:spPr>
          <a:xfrm>
            <a:off x="2718435" y="6894830"/>
            <a:ext cx="505714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上课抢答“我知道！我知道！”</a:t>
            </a:r>
          </a:p>
        </p:txBody>
      </p:sp>
      <p:sp>
        <p:nvSpPr>
          <p:cNvPr id="35" name="Shape 15"/>
          <p:cNvSpPr/>
          <p:nvPr/>
        </p:nvSpPr>
        <p:spPr>
          <a:xfrm>
            <a:off x="9353550" y="2952750"/>
            <a:ext cx="7886700" cy="5685790"/>
          </a:xfrm>
          <a:prstGeom prst="roundRect">
            <a:avLst>
              <a:gd name="adj" fmla="val 4826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36" name="Text 17"/>
          <p:cNvSpPr/>
          <p:nvPr/>
        </p:nvSpPr>
        <p:spPr>
          <a:xfrm>
            <a:off x="9772650" y="4288155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</a:p>
        </p:txBody>
      </p:sp>
      <p:sp>
        <p:nvSpPr>
          <p:cNvPr id="38" name="Text 19"/>
          <p:cNvSpPr/>
          <p:nvPr/>
        </p:nvSpPr>
        <p:spPr>
          <a:xfrm>
            <a:off x="9772650" y="5054918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</a:p>
        </p:txBody>
      </p:sp>
      <p:sp>
        <p:nvSpPr>
          <p:cNvPr id="41" name="Text 7"/>
          <p:cNvSpPr/>
          <p:nvPr/>
        </p:nvSpPr>
        <p:spPr>
          <a:xfrm>
            <a:off x="2251710" y="3084195"/>
            <a:ext cx="6540500" cy="775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主要写了哪个特点？</a:t>
            </a:r>
          </a:p>
        </p:txBody>
      </p:sp>
      <p:sp>
        <p:nvSpPr>
          <p:cNvPr id="42" name="Shape 6"/>
          <p:cNvSpPr/>
          <p:nvPr/>
        </p:nvSpPr>
        <p:spPr>
          <a:xfrm flipH="1">
            <a:off x="1974215" y="295465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7"/>
          <p:cNvSpPr/>
          <p:nvPr/>
        </p:nvSpPr>
        <p:spPr>
          <a:xfrm>
            <a:off x="1358900" y="310959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44" name="Text 7"/>
          <p:cNvSpPr/>
          <p:nvPr/>
        </p:nvSpPr>
        <p:spPr>
          <a:xfrm>
            <a:off x="10664825" y="3124835"/>
            <a:ext cx="6066790" cy="774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倒数第二段还带了一笔“仗义”</a:t>
            </a:r>
          </a:p>
        </p:txBody>
      </p:sp>
      <p:sp>
        <p:nvSpPr>
          <p:cNvPr id="45" name="Shape 6"/>
          <p:cNvSpPr/>
          <p:nvPr/>
        </p:nvSpPr>
        <p:spPr>
          <a:xfrm flipH="1">
            <a:off x="10387330" y="293433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7"/>
          <p:cNvSpPr/>
          <p:nvPr/>
        </p:nvSpPr>
        <p:spPr>
          <a:xfrm>
            <a:off x="9772015" y="310451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47" name="Text 7"/>
          <p:cNvSpPr/>
          <p:nvPr/>
        </p:nvSpPr>
        <p:spPr>
          <a:xfrm>
            <a:off x="2251710" y="4203065"/>
            <a:ext cx="7101840" cy="1047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5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写了几次“急”？哪一句话让你一下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5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子就“看见”了他急的样子？</a:t>
            </a:r>
          </a:p>
        </p:txBody>
      </p:sp>
      <p:sp>
        <p:nvSpPr>
          <p:cNvPr id="48" name="Text 7"/>
          <p:cNvSpPr/>
          <p:nvPr>
            <p:custDataLst>
              <p:tags r:id="rId5"/>
            </p:custDataLst>
          </p:nvPr>
        </p:nvSpPr>
        <p:spPr>
          <a:xfrm>
            <a:off x="2198370" y="5398770"/>
            <a:ext cx="56515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急</a:t>
            </a:r>
          </a:p>
        </p:txBody>
      </p:sp>
      <p:sp>
        <p:nvSpPr>
          <p:cNvPr id="50" name="Text 14"/>
          <p:cNvSpPr/>
          <p:nvPr>
            <p:custDataLst>
              <p:tags r:id="rId6"/>
            </p:custDataLst>
          </p:nvPr>
        </p:nvSpPr>
        <p:spPr>
          <a:xfrm>
            <a:off x="2718435" y="7639050"/>
            <a:ext cx="345249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放学一股脑塞书包</a:t>
            </a:r>
          </a:p>
        </p:txBody>
      </p:sp>
      <p:sp>
        <p:nvSpPr>
          <p:cNvPr id="53" name="下箭头 52"/>
          <p:cNvSpPr/>
          <p:nvPr/>
        </p:nvSpPr>
        <p:spPr>
          <a:xfrm>
            <a:off x="2270125" y="6245225"/>
            <a:ext cx="242570" cy="38671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下箭头 53"/>
          <p:cNvSpPr/>
          <p:nvPr/>
        </p:nvSpPr>
        <p:spPr>
          <a:xfrm>
            <a:off x="2270125" y="6986905"/>
            <a:ext cx="242570" cy="38671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Text 7"/>
          <p:cNvSpPr/>
          <p:nvPr>
            <p:custDataLst>
              <p:tags r:id="rId7"/>
            </p:custDataLst>
          </p:nvPr>
        </p:nvSpPr>
        <p:spPr>
          <a:xfrm>
            <a:off x="2199640" y="7635240"/>
            <a:ext cx="56515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急</a:t>
            </a:r>
          </a:p>
        </p:txBody>
      </p:sp>
      <p:sp>
        <p:nvSpPr>
          <p:cNvPr id="21" name="Text 18"/>
          <p:cNvSpPr/>
          <p:nvPr/>
        </p:nvSpPr>
        <p:spPr>
          <a:xfrm>
            <a:off x="10426065" y="4307840"/>
            <a:ext cx="585025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但只有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短短两句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，一笔就收住了</a:t>
            </a:r>
          </a:p>
        </p:txBody>
      </p:sp>
      <p:sp>
        <p:nvSpPr>
          <p:cNvPr id="23" name="Text 20"/>
          <p:cNvSpPr/>
          <p:nvPr/>
        </p:nvSpPr>
        <p:spPr>
          <a:xfrm>
            <a:off x="10426065" y="5036820"/>
            <a:ext cx="6798945" cy="1132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其他特点至多在结尾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轻轻带一笔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，不能盖过主要特点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0" grpId="0"/>
      <p:bldP spid="32" grpId="0"/>
      <p:bldP spid="34" grpId="0"/>
      <p:bldP spid="36" grpId="0"/>
      <p:bldP spid="38" grpId="0"/>
      <p:bldP spid="44" grpId="0"/>
      <p:bldP spid="45" grpId="0" animBg="1"/>
      <p:bldP spid="46" grpId="0"/>
      <p:bldP spid="47" grpId="0"/>
      <p:bldP spid="48" grpId="0"/>
      <p:bldP spid="50" grpId="0"/>
      <p:bldP spid="53" grpId="0" animBg="1"/>
      <p:bldP spid="54" grpId="0" animBg="1"/>
      <p:bldP spid="55" grpId="0"/>
      <p:bldP spid="21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22472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8041640" cy="582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逐句分析：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写“急”用了哪些方法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933700"/>
            <a:ext cx="16192500" cy="4600575"/>
          </a:xfrm>
          <a:prstGeom prst="roundRect">
            <a:avLst>
              <a:gd name="adj" fmla="val 2899"/>
            </a:avLst>
          </a:prstGeom>
          <a:ln w="9525">
            <a:solidFill>
              <a:srgbClr val="DF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7275" y="2943225"/>
            <a:ext cx="16173450" cy="771525"/>
          </a:xfrm>
          <a:custGeom>
            <a:avLst/>
            <a:gdLst/>
            <a:ahLst/>
            <a:cxnLst/>
            <a:rect l="l" t="t" r="r" b="b"/>
            <a:pathLst>
              <a:path w="16173450" h="771525">
                <a:moveTo>
                  <a:pt x="133350" y="0"/>
                </a:moveTo>
                <a:lnTo>
                  <a:pt x="16040100" y="0"/>
                </a:lnTo>
                <a:arcTo wR="133350" hR="133350" stAng="16200000" swAng="5400000"/>
                <a:lnTo>
                  <a:pt x="16173450" y="771525"/>
                </a:lnTo>
                <a:lnTo>
                  <a:pt x="0" y="771525"/>
                </a:lnTo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3D4A63"/>
          </a:solidFill>
        </p:spPr>
      </p:sp>
      <p:sp>
        <p:nvSpPr>
          <p:cNvPr id="11" name="Text 7"/>
          <p:cNvSpPr/>
          <p:nvPr/>
        </p:nvSpPr>
        <p:spPr>
          <a:xfrm>
            <a:off x="1362075" y="3133725"/>
            <a:ext cx="10555034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2" name="Shape 8"/>
          <p:cNvSpPr/>
          <p:nvPr/>
        </p:nvSpPr>
        <p:spPr>
          <a:xfrm>
            <a:off x="11896725" y="29432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12211050" y="3133725"/>
            <a:ext cx="487489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这一句用了什么方法</a:t>
            </a:r>
            <a:endParaRPr lang="en-US" sz="2325" dirty="0"/>
          </a:p>
        </p:txBody>
      </p:sp>
      <p:sp>
        <p:nvSpPr>
          <p:cNvPr id="14" name="Shape 10"/>
          <p:cNvSpPr/>
          <p:nvPr/>
        </p:nvSpPr>
        <p:spPr>
          <a:xfrm>
            <a:off x="1057275" y="3714750"/>
            <a:ext cx="16173450" cy="762000"/>
          </a:xfrm>
          <a:prstGeom prst="rect">
            <a:avLst/>
          </a:prstGeom>
          <a:solidFill>
            <a:srgbClr val="EEF1F5"/>
          </a:solidFill>
        </p:spPr>
      </p:sp>
      <p:sp>
        <p:nvSpPr>
          <p:cNvPr id="15" name="Text 11"/>
          <p:cNvSpPr/>
          <p:nvPr/>
        </p:nvSpPr>
        <p:spPr>
          <a:xfrm>
            <a:off x="1362075" y="3905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手举得高高的、身子从凳子上欠了起来</a:t>
            </a:r>
            <a:endParaRPr lang="en-US" sz="2250" dirty="0"/>
          </a:p>
        </p:txBody>
      </p:sp>
      <p:sp>
        <p:nvSpPr>
          <p:cNvPr id="16" name="Shape 12"/>
          <p:cNvSpPr/>
          <p:nvPr/>
        </p:nvSpPr>
        <p:spPr>
          <a:xfrm>
            <a:off x="11896725" y="3714750"/>
            <a:ext cx="9525" cy="7620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17" name="Text 13"/>
          <p:cNvSpPr/>
          <p:nvPr/>
        </p:nvSpPr>
        <p:spPr>
          <a:xfrm>
            <a:off x="12211050" y="3905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看得见的样子（动作·神态）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1057275" y="4476750"/>
            <a:ext cx="16173450" cy="76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1362075" y="4667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下课铃“叮铃铃”、“嗖”地冲出教室</a:t>
            </a:r>
            <a:endParaRPr lang="en-US" sz="2250" dirty="0"/>
          </a:p>
        </p:txBody>
      </p:sp>
      <p:sp>
        <p:nvSpPr>
          <p:cNvPr id="20" name="Shape 16"/>
          <p:cNvSpPr/>
          <p:nvPr/>
        </p:nvSpPr>
        <p:spPr>
          <a:xfrm>
            <a:off x="11896725" y="4476750"/>
            <a:ext cx="9525" cy="7620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1" name="Text 17"/>
          <p:cNvSpPr/>
          <p:nvPr/>
        </p:nvSpPr>
        <p:spPr>
          <a:xfrm>
            <a:off x="12211050" y="4667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听得见的声音</a:t>
            </a:r>
            <a:endParaRPr lang="en-US" sz="2250" dirty="0"/>
          </a:p>
        </p:txBody>
      </p:sp>
      <p:sp>
        <p:nvSpPr>
          <p:cNvPr id="22" name="Shape 18"/>
          <p:cNvSpPr/>
          <p:nvPr/>
        </p:nvSpPr>
        <p:spPr>
          <a:xfrm>
            <a:off x="1057275" y="5238750"/>
            <a:ext cx="16173450" cy="762000"/>
          </a:xfrm>
          <a:prstGeom prst="rect">
            <a:avLst/>
          </a:prstGeom>
          <a:solidFill>
            <a:srgbClr val="EEF1F5"/>
          </a:solidFill>
        </p:spPr>
      </p:sp>
      <p:sp>
        <p:nvSpPr>
          <p:cNvPr id="23" name="Text 19"/>
          <p:cNvSpPr/>
          <p:nvPr/>
        </p:nvSpPr>
        <p:spPr>
          <a:xfrm>
            <a:off x="1362075" y="5429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像一枚小火箭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11896725" y="5238750"/>
            <a:ext cx="9525" cy="7620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5" name="Text 21"/>
          <p:cNvSpPr/>
          <p:nvPr/>
        </p:nvSpPr>
        <p:spPr>
          <a:xfrm>
            <a:off x="12211050" y="5429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endParaRPr lang="en-US" sz="2250" dirty="0"/>
          </a:p>
        </p:txBody>
      </p:sp>
      <p:sp>
        <p:nvSpPr>
          <p:cNvPr id="26" name="Shape 22"/>
          <p:cNvSpPr/>
          <p:nvPr/>
        </p:nvSpPr>
        <p:spPr>
          <a:xfrm>
            <a:off x="1057275" y="6000750"/>
            <a:ext cx="16173450" cy="76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3"/>
          <p:cNvSpPr/>
          <p:nvPr/>
        </p:nvSpPr>
        <p:spPr>
          <a:xfrm>
            <a:off x="1362075" y="6191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一股脑塞进书包、急得直抓头发</a:t>
            </a:r>
            <a:endParaRPr lang="en-US" sz="2250" dirty="0"/>
          </a:p>
        </p:txBody>
      </p:sp>
      <p:sp>
        <p:nvSpPr>
          <p:cNvPr id="28" name="Shape 24"/>
          <p:cNvSpPr/>
          <p:nvPr/>
        </p:nvSpPr>
        <p:spPr>
          <a:xfrm>
            <a:off x="11896725" y="6000750"/>
            <a:ext cx="9525" cy="7620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29" name="Text 25"/>
          <p:cNvSpPr/>
          <p:nvPr/>
        </p:nvSpPr>
        <p:spPr>
          <a:xfrm>
            <a:off x="12211050" y="6191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看得见的动作</a:t>
            </a:r>
            <a:endParaRPr lang="en-US" sz="2250" dirty="0"/>
          </a:p>
        </p:txBody>
      </p:sp>
      <p:sp>
        <p:nvSpPr>
          <p:cNvPr id="30" name="Shape 26"/>
          <p:cNvSpPr/>
          <p:nvPr/>
        </p:nvSpPr>
        <p:spPr>
          <a:xfrm>
            <a:off x="1057275" y="6762750"/>
            <a:ext cx="16173450" cy="762000"/>
          </a:xfrm>
          <a:custGeom>
            <a:avLst/>
            <a:gdLst/>
            <a:ahLst/>
            <a:cxnLst/>
            <a:rect l="l" t="t" r="r" b="b"/>
            <a:pathLst>
              <a:path w="16173450" h="762000">
                <a:moveTo>
                  <a:pt x="0" y="0"/>
                </a:moveTo>
                <a:lnTo>
                  <a:pt x="16173450" y="0"/>
                </a:lnTo>
                <a:lnTo>
                  <a:pt x="16173450" y="628650"/>
                </a:lnTo>
                <a:arcTo wR="133350" hR="133350" stAng="0" swAng="5400000"/>
                <a:lnTo>
                  <a:pt x="133350" y="762000"/>
                </a:lnTo>
                <a:arcTo wR="133350" hR="133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EEF1F5"/>
          </a:solidFill>
        </p:spPr>
      </p:sp>
      <p:sp>
        <p:nvSpPr>
          <p:cNvPr id="32" name="Text 27"/>
          <p:cNvSpPr/>
          <p:nvPr/>
        </p:nvSpPr>
        <p:spPr>
          <a:xfrm>
            <a:off x="1362075" y="6953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“我知道！我知道！”</a:t>
            </a:r>
            <a:endParaRPr lang="en-US" sz="2250" dirty="0"/>
          </a:p>
        </p:txBody>
      </p:sp>
      <p:sp>
        <p:nvSpPr>
          <p:cNvPr id="33" name="Shape 28"/>
          <p:cNvSpPr/>
          <p:nvPr/>
        </p:nvSpPr>
        <p:spPr>
          <a:xfrm>
            <a:off x="11896725" y="6762750"/>
            <a:ext cx="9525" cy="762000"/>
          </a:xfrm>
          <a:prstGeom prst="rect">
            <a:avLst/>
          </a:prstGeom>
          <a:solidFill>
            <a:srgbClr val="DFE3E9"/>
          </a:solidFill>
        </p:spPr>
      </p:sp>
      <p:sp>
        <p:nvSpPr>
          <p:cNvPr id="34" name="Text 29"/>
          <p:cNvSpPr/>
          <p:nvPr/>
        </p:nvSpPr>
        <p:spPr>
          <a:xfrm>
            <a:off x="12211050" y="6953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听得见的话</a:t>
            </a:r>
            <a:endParaRPr lang="en-US" sz="2250" dirty="0"/>
          </a:p>
        </p:txBody>
      </p:sp>
      <p:sp>
        <p:nvSpPr>
          <p:cNvPr id="35" name="Text 30"/>
          <p:cNvSpPr/>
          <p:nvPr/>
        </p:nvSpPr>
        <p:spPr>
          <a:xfrm>
            <a:off x="1047750" y="8841105"/>
            <a:ext cx="1661731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从头到尾没有写一句“他很急”，全靠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看得见的样子、听得见的声音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这些动作、语言、神态描写，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把“急”刻画了出来。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3" name="Shape 5"/>
          <p:cNvSpPr/>
          <p:nvPr/>
        </p:nvSpPr>
        <p:spPr>
          <a:xfrm>
            <a:off x="-635" y="2667000"/>
            <a:ext cx="18289270" cy="6220800"/>
          </a:xfrm>
          <a:prstGeom prst="roundRect">
            <a:avLst>
              <a:gd name="adj" fmla="val 0"/>
            </a:avLst>
          </a:prstGeom>
          <a:solidFill>
            <a:srgbClr val="FCD254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23291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586867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圈的是长相？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同样能写具体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3261360"/>
            <a:ext cx="10620375" cy="2548255"/>
          </a:xfrm>
          <a:prstGeom prst="roundRect">
            <a:avLst>
              <a:gd name="adj" fmla="val 7222"/>
            </a:avLst>
          </a:prstGeom>
          <a:solidFill>
            <a:srgbClr val="FCF3EE"/>
          </a:solidFill>
          <a:ln w="28575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7750" y="6418421"/>
            <a:ext cx="152400" cy="152400"/>
          </a:xfrm>
          <a:prstGeom prst="ellipse">
            <a:avLst/>
          </a:prstGeom>
          <a:solidFill>
            <a:srgbClr val="3D4A63"/>
          </a:solidFill>
        </p:spPr>
      </p:sp>
      <p:sp>
        <p:nvSpPr>
          <p:cNvPr id="11" name="Text 8"/>
          <p:cNvSpPr/>
          <p:nvPr/>
        </p:nvSpPr>
        <p:spPr>
          <a:xfrm>
            <a:off x="1409700" y="6229985"/>
            <a:ext cx="8678545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“卷头发”这一个细节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，把它变成看得清的样子</a:t>
            </a:r>
          </a:p>
        </p:txBody>
      </p:sp>
      <p:sp>
        <p:nvSpPr>
          <p:cNvPr id="12" name="Shape 9"/>
          <p:cNvSpPr/>
          <p:nvPr/>
        </p:nvSpPr>
        <p:spPr>
          <a:xfrm>
            <a:off x="1047750" y="7229475"/>
            <a:ext cx="152400" cy="152400"/>
          </a:xfrm>
          <a:prstGeom prst="ellipse">
            <a:avLst/>
          </a:prstGeom>
          <a:solidFill>
            <a:srgbClr val="3D4A63"/>
          </a:solidFill>
        </p:spPr>
      </p:sp>
      <p:sp>
        <p:nvSpPr>
          <p:cNvPr id="13" name="Text 10"/>
          <p:cNvSpPr/>
          <p:nvPr/>
        </p:nvSpPr>
        <p:spPr>
          <a:xfrm>
            <a:off x="1409700" y="7025640"/>
            <a:ext cx="8171815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再配上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一件小事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，长相也能让人一下子认出她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1047750" y="9102090"/>
            <a:ext cx="164934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写你选定的那个人，也就是最熟悉、一想起来就会笑的那个人；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开头空两格，标点占一格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。休息后动笔。</a:t>
            </a:r>
          </a:p>
        </p:txBody>
      </p:sp>
      <p:pic>
        <p:nvPicPr>
          <p:cNvPr id="16" name="图片 15" descr="猜猜他是谁-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6270" y="2667000"/>
            <a:ext cx="6222365" cy="6222365"/>
          </a:xfrm>
          <a:prstGeom prst="rect">
            <a:avLst/>
          </a:prstGeom>
        </p:spPr>
      </p:pic>
      <p:sp>
        <p:nvSpPr>
          <p:cNvPr id="41" name="Freeform 2"/>
          <p:cNvSpPr/>
          <p:nvPr>
            <p:custDataLst>
              <p:tags r:id="rId1"/>
            </p:custDataLst>
          </p:nvPr>
        </p:nvSpPr>
        <p:spPr>
          <a:xfrm flipH="1">
            <a:off x="11744325" y="4133215"/>
            <a:ext cx="566420" cy="73977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文本框 16"/>
          <p:cNvSpPr txBox="1"/>
          <p:nvPr/>
        </p:nvSpPr>
        <p:spPr>
          <a:xfrm>
            <a:off x="1489075" y="3450590"/>
            <a:ext cx="99860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她的头发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一卷一卷的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，跑起来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一颠一颠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800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像顶着一团小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火苗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。上体育课怎么扎都扎不住，跑两圈就散开了，她一边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跑，一边把头发往耳朵后面塞。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txBody>
          <a:bodyPr/>
          <a:lstStyle/>
          <a:p>
            <a:endParaRPr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38350" y="3181350"/>
            <a:ext cx="2581230" cy="2428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0" b="1" kern="0" spc="4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8" name="Text 5"/>
          <p:cNvSpPr/>
          <p:nvPr/>
        </p:nvSpPr>
        <p:spPr>
          <a:xfrm>
            <a:off x="2228850" y="5676900"/>
            <a:ext cx="5364480" cy="790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2247900" y="6572250"/>
            <a:ext cx="8622164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kern="0" spc="1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快问快答写开头 · 自由写作 · 猜猜他是谁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"/>
          <p:cNvSpPr/>
          <p:nvPr>
            <p:custDataLst>
              <p:tags r:id="rId1"/>
            </p:custDataLst>
          </p:nvPr>
        </p:nvSpPr>
        <p:spPr>
          <a:xfrm>
            <a:off x="2649855" y="3450590"/>
            <a:ext cx="145478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25" name="Shape 8"/>
          <p:cNvSpPr/>
          <p:nvPr>
            <p:custDataLst>
              <p:tags r:id="rId2"/>
            </p:custDataLst>
          </p:nvPr>
        </p:nvSpPr>
        <p:spPr>
          <a:xfrm>
            <a:off x="2649855" y="4404360"/>
            <a:ext cx="145478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26" name="Shape 11"/>
          <p:cNvSpPr/>
          <p:nvPr>
            <p:custDataLst>
              <p:tags r:id="rId3"/>
            </p:custDataLst>
          </p:nvPr>
        </p:nvSpPr>
        <p:spPr>
          <a:xfrm>
            <a:off x="2649855" y="5358130"/>
            <a:ext cx="145478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27" name="Shape 14"/>
          <p:cNvSpPr/>
          <p:nvPr>
            <p:custDataLst>
              <p:tags r:id="rId4"/>
            </p:custDataLst>
          </p:nvPr>
        </p:nvSpPr>
        <p:spPr>
          <a:xfrm>
            <a:off x="2649855" y="6311900"/>
            <a:ext cx="145478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16137255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</p:sp>
      <p:sp>
        <p:nvSpPr>
          <p:cNvPr id="7" name="Text 4"/>
          <p:cNvSpPr/>
          <p:nvPr/>
        </p:nvSpPr>
        <p:spPr>
          <a:xfrm>
            <a:off x="1466850" y="1619250"/>
            <a:ext cx="1576197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快问快答：</a:t>
            </a:r>
            <a:r>
              <a:rPr lang="zh-CN" altLang="en-US" sz="34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拿出上节课的特点卡，对照圈出的那一处，用四句话写出开头</a:t>
            </a:r>
            <a:endParaRPr lang="en-US" sz="345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1047750" y="3440430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75000"/>
            </a:schemeClr>
          </a:solidFill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299210" y="3592830"/>
            <a:ext cx="12198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点特点</a:t>
            </a:r>
            <a:endParaRPr lang="en-US" sz="225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2724150" y="3569315"/>
            <a:ext cx="12677448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开头空两格，用一句话点出他最特别的地方，如：“说他是个急性子，真是一点儿也没错。”</a:t>
            </a:r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1047750" y="4394200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75000"/>
            </a:schemeClr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1299210" y="4546600"/>
            <a:ext cx="123761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问动作</a:t>
            </a:r>
            <a:endParaRPr lang="en-US" sz="225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2724150" y="4523105"/>
            <a:ext cx="1410335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他做这件事的时候，身体有什么动作？比如写“急”，一急起来，手和脚会不会跟着动？</a:t>
            </a:r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1047750" y="5347970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75000"/>
            </a:schemeClr>
          </a:solidFill>
        </p:spPr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1299210" y="5500370"/>
            <a:ext cx="122936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问表情</a:t>
            </a:r>
            <a:endParaRPr lang="en-US" sz="2250" dirty="0"/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2724150" y="5476875"/>
            <a:ext cx="13041630" cy="6178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这时候他脸上是什么样子？比如一紧张就咬嘴唇，一得意眉毛就挑得高高的……</a:t>
            </a:r>
          </a:p>
        </p:txBody>
      </p:sp>
      <p:sp>
        <p:nvSpPr>
          <p:cNvPr id="17" name="Shape 14"/>
          <p:cNvSpPr/>
          <p:nvPr>
            <p:custDataLst>
              <p:tags r:id="rId14"/>
            </p:custDataLst>
          </p:nvPr>
        </p:nvSpPr>
        <p:spPr>
          <a:xfrm>
            <a:off x="1047750" y="6301740"/>
            <a:ext cx="1428750" cy="685800"/>
          </a:xfrm>
          <a:prstGeom prst="roundRect">
            <a:avLst>
              <a:gd name="adj" fmla="val 19444"/>
            </a:avLst>
          </a:prstGeom>
          <a:solidFill>
            <a:schemeClr val="accent2">
              <a:lumMod val="75000"/>
            </a:schemeClr>
          </a:solidFill>
        </p:spPr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1299210" y="6454140"/>
            <a:ext cx="12287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问声音</a:t>
            </a:r>
            <a:endParaRPr lang="en-US" sz="2250" dirty="0"/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2724150" y="6430645"/>
            <a:ext cx="14051915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他最可能说出哪一句话？比如“那还用说”，或者一高兴就吹口哨；没有声音，就写他这时最常做的小动作。</a:t>
            </a:r>
          </a:p>
        </p:txBody>
      </p:sp>
      <p:sp>
        <p:nvSpPr>
          <p:cNvPr id="20" name="Shape 17"/>
          <p:cNvSpPr/>
          <p:nvPr>
            <p:custDataLst>
              <p:tags r:id="rId17"/>
            </p:custDataLst>
          </p:nvPr>
        </p:nvSpPr>
        <p:spPr>
          <a:xfrm>
            <a:off x="1047750" y="8322945"/>
            <a:ext cx="16192500" cy="885825"/>
          </a:xfrm>
          <a:prstGeom prst="roundRect">
            <a:avLst>
              <a:gd name="adj" fmla="val 17204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>
            <a:off x="1409700" y="8551545"/>
            <a:ext cx="157753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如果上节课你圈的是长相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，就换几个问题来写：那一处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是什么颜色、什么形状？比别人特别在哪里？像什么？</a:t>
            </a:r>
            <a:r>
              <a:rPr 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同样各写一句。</a:t>
            </a:r>
          </a:p>
        </p:txBody>
      </p:sp>
      <p:sp>
        <p:nvSpPr>
          <p:cNvPr id="22" name="Text 19"/>
          <p:cNvSpPr/>
          <p:nvPr>
            <p:custDataLst>
              <p:tags r:id="rId19"/>
            </p:custDataLst>
          </p:nvPr>
        </p:nvSpPr>
        <p:spPr>
          <a:xfrm>
            <a:off x="1398270" y="2655570"/>
            <a:ext cx="130549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每句话简单写几个字即可，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错字不停笔，不会写的字先用拼音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，写完连起来读，开头就有了。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7886065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876554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把整个人写出来：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记住这两点</a:t>
            </a:r>
          </a:p>
        </p:txBody>
      </p:sp>
      <p:sp>
        <p:nvSpPr>
          <p:cNvPr id="15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</p:sp>
      <p:sp>
        <p:nvSpPr>
          <p:cNvPr id="16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写作约 18 分钟</a:t>
            </a:r>
            <a:endParaRPr lang="en-US" sz="2850" dirty="0"/>
          </a:p>
        </p:txBody>
      </p:sp>
      <p:sp>
        <p:nvSpPr>
          <p:cNvPr id="20" name="Shape 5"/>
          <p:cNvSpPr/>
          <p:nvPr>
            <p:custDataLst>
              <p:tags r:id="rId1"/>
            </p:custDataLst>
          </p:nvPr>
        </p:nvSpPr>
        <p:spPr>
          <a:xfrm>
            <a:off x="1047750" y="5536565"/>
            <a:ext cx="16210280" cy="2190750"/>
          </a:xfrm>
          <a:prstGeom prst="roundRect">
            <a:avLst>
              <a:gd name="adj" fmla="val 7723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17" name="Shape 5"/>
          <p:cNvSpPr/>
          <p:nvPr>
            <p:custDataLst>
              <p:tags r:id="rId2"/>
            </p:custDataLst>
          </p:nvPr>
        </p:nvSpPr>
        <p:spPr>
          <a:xfrm>
            <a:off x="1047750" y="2952750"/>
            <a:ext cx="7886700" cy="2190750"/>
          </a:xfrm>
          <a:prstGeom prst="roundRect">
            <a:avLst>
              <a:gd name="adj" fmla="val 7723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>
            <p:custDataLst>
              <p:tags r:id="rId3"/>
            </p:custDataLst>
          </p:nvPr>
        </p:nvSpPr>
        <p:spPr>
          <a:xfrm>
            <a:off x="9353550" y="2952750"/>
            <a:ext cx="7886700" cy="2190750"/>
          </a:xfrm>
          <a:prstGeom prst="roundRect">
            <a:avLst>
              <a:gd name="adj" fmla="val 7375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26" name="Text 7"/>
          <p:cNvSpPr/>
          <p:nvPr>
            <p:custDataLst>
              <p:tags r:id="rId4"/>
            </p:custDataLst>
          </p:nvPr>
        </p:nvSpPr>
        <p:spPr>
          <a:xfrm>
            <a:off x="2251710" y="3084195"/>
            <a:ext cx="6540500" cy="1713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全篇不出现他的名字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只用“他”或“她”来称呼</a:t>
            </a:r>
          </a:p>
        </p:txBody>
      </p:sp>
      <p:sp>
        <p:nvSpPr>
          <p:cNvPr id="27" name="Shape 6"/>
          <p:cNvSpPr/>
          <p:nvPr>
            <p:custDataLst>
              <p:tags r:id="rId5"/>
            </p:custDataLst>
          </p:nvPr>
        </p:nvSpPr>
        <p:spPr>
          <a:xfrm flipH="1">
            <a:off x="1974215" y="295465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7"/>
          <p:cNvSpPr/>
          <p:nvPr>
            <p:custDataLst>
              <p:tags r:id="rId6"/>
            </p:custDataLst>
          </p:nvPr>
        </p:nvSpPr>
        <p:spPr>
          <a:xfrm>
            <a:off x="1358900" y="306387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29" name="Text 7"/>
          <p:cNvSpPr/>
          <p:nvPr>
            <p:custDataLst>
              <p:tags r:id="rId7"/>
            </p:custDataLst>
          </p:nvPr>
        </p:nvSpPr>
        <p:spPr>
          <a:xfrm>
            <a:off x="10664825" y="3063875"/>
            <a:ext cx="6396990" cy="2078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围绕圈出的那一处多写几笔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写他在哪几件事上表现出这个特点</a:t>
            </a:r>
          </a:p>
        </p:txBody>
      </p:sp>
      <p:sp>
        <p:nvSpPr>
          <p:cNvPr id="30" name="Shape 6"/>
          <p:cNvSpPr/>
          <p:nvPr>
            <p:custDataLst>
              <p:tags r:id="rId8"/>
            </p:custDataLst>
          </p:nvPr>
        </p:nvSpPr>
        <p:spPr>
          <a:xfrm flipH="1">
            <a:off x="10387330" y="293433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7"/>
          <p:cNvSpPr/>
          <p:nvPr>
            <p:custDataLst>
              <p:tags r:id="rId9"/>
            </p:custDataLst>
          </p:nvPr>
        </p:nvSpPr>
        <p:spPr>
          <a:xfrm>
            <a:off x="9772015" y="304355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358900" y="5796280"/>
            <a:ext cx="160166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就像示范文写“急”，选了下课、上课、放学时发生的几件事，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一件一件写他的样子、声音和做的事。圈的是长相的，选一件能看出这一点的事来写，比如圈了“个子高”，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就写一次他帮大家拿到高处的东西。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17" grpId="0" bldLvl="0" animBg="1"/>
      <p:bldP spid="18" grpId="0" bldLvl="0" animBg="1"/>
      <p:bldP spid="26" grpId="0"/>
      <p:bldP spid="27" grpId="0" bldLvl="0" animBg="1"/>
      <p:bldP spid="28" grpId="0"/>
      <p:bldP spid="29" grpId="0"/>
      <p:bldP spid="30" grpId="0" bldLvl="0" animBg="1"/>
      <p:bldP spid="31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l="3669" r="3699"/>
          <a:stretch>
            <a:fillRect/>
          </a:stretch>
        </p:blipFill>
        <p:spPr>
          <a:xfrm>
            <a:off x="1377315" y="1510030"/>
            <a:ext cx="15258415" cy="713168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7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</p:sp>
      <p:sp>
        <p:nvSpPr>
          <p:cNvPr id="8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写作约 18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558228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现场竞猜：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猜猜他是谁</a:t>
            </a:r>
          </a:p>
        </p:txBody>
      </p:sp>
      <p:sp>
        <p:nvSpPr>
          <p:cNvPr id="19" name="Shape 5"/>
          <p:cNvSpPr/>
          <p:nvPr/>
        </p:nvSpPr>
        <p:spPr>
          <a:xfrm>
            <a:off x="653415" y="2607310"/>
            <a:ext cx="17091660" cy="6012000"/>
          </a:xfrm>
          <a:prstGeom prst="roundRect">
            <a:avLst>
              <a:gd name="adj" fmla="val 3429"/>
            </a:avLst>
          </a:prstGeom>
          <a:solidFill>
            <a:srgbClr val="FDF2D0"/>
          </a:solidFill>
        </p:spPr>
        <p:txBody>
          <a:bodyPr/>
          <a:lstStyle/>
          <a:p>
            <a:endParaRPr/>
          </a:p>
        </p:txBody>
      </p:sp>
      <p:sp>
        <p:nvSpPr>
          <p:cNvPr id="20" name="Shape 3"/>
          <p:cNvSpPr/>
          <p:nvPr/>
        </p:nvSpPr>
        <p:spPr>
          <a:xfrm>
            <a:off x="2495550" y="6950710"/>
            <a:ext cx="14671040" cy="1290320"/>
          </a:xfrm>
          <a:prstGeom prst="roundRect">
            <a:avLst>
              <a:gd name="adj" fmla="val 12992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6"/>
          <p:cNvSpPr/>
          <p:nvPr/>
        </p:nvSpPr>
        <p:spPr>
          <a:xfrm>
            <a:off x="6212840" y="3070225"/>
            <a:ext cx="716661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上台朗读自己写的这一页，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只读内容，不读名字</a:t>
            </a:r>
          </a:p>
        </p:txBody>
      </p:sp>
      <p:sp>
        <p:nvSpPr>
          <p:cNvPr id="21" name="Text 8"/>
          <p:cNvSpPr/>
          <p:nvPr/>
        </p:nvSpPr>
        <p:spPr>
          <a:xfrm>
            <a:off x="6212840" y="4354195"/>
            <a:ext cx="6409690" cy="782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认识这个人的同学，举手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猜猜他是谁</a:t>
            </a:r>
          </a:p>
        </p:txBody>
      </p:sp>
      <p:sp>
        <p:nvSpPr>
          <p:cNvPr id="22" name="Text 10"/>
          <p:cNvSpPr/>
          <p:nvPr/>
        </p:nvSpPr>
        <p:spPr>
          <a:xfrm>
            <a:off x="6212840" y="5579745"/>
            <a:ext cx="11532235" cy="11677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不认识的同学，说一说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眼前有没有出现一个清清楚楚的人</a:t>
            </a: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，他大概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是个怎样的人</a:t>
            </a:r>
          </a:p>
        </p:txBody>
      </p:sp>
      <p:sp>
        <p:nvSpPr>
          <p:cNvPr id="23" name="Text 12"/>
          <p:cNvSpPr/>
          <p:nvPr/>
        </p:nvSpPr>
        <p:spPr>
          <a:xfrm>
            <a:off x="6216015" y="6993255"/>
            <a:ext cx="10170160" cy="1238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能让人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又快又准地猜中</a:t>
            </a:r>
            <a:r>
              <a:rPr lang="zh-CN" alt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，或者过后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还记得这个人</a:t>
            </a:r>
            <a:endParaRPr lang="zh-CN" altLang="en-US" sz="27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都说明这一页特点抓得准、写得清楚。</a:t>
            </a:r>
          </a:p>
        </p:txBody>
      </p:sp>
      <p:sp>
        <p:nvSpPr>
          <p:cNvPr id="24" name="Text 13"/>
          <p:cNvSpPr/>
          <p:nvPr/>
        </p:nvSpPr>
        <p:spPr>
          <a:xfrm>
            <a:off x="6216015" y="8669020"/>
            <a:ext cx="11495405" cy="1304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读完猜不出？想一想：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这些话是不是</a:t>
            </a:r>
            <a:r>
              <a:rPr lang="zh-CN" altLang="en-US" sz="27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放在很多人身上都合适</a:t>
            </a: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？那正是接下来要修改的地方。</a:t>
            </a:r>
          </a:p>
        </p:txBody>
      </p:sp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5590540" y="5796915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5587365" y="586359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5590540" y="309816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5590540" y="445230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5828665" y="363156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5828665" y="498411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5590540" y="317404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5587365" y="453009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25" name="图片 24" descr="写日记-分享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215" y="2401570"/>
            <a:ext cx="4860925" cy="7885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18" grpId="0"/>
      <p:bldP spid="21" grpId="0"/>
      <p:bldP spid="22" grpId="0"/>
      <p:bldP spid="23" grpId="0"/>
      <p:bldP spid="24" grpId="0"/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5"/>
          <p:cNvSpPr/>
          <p:nvPr/>
        </p:nvSpPr>
        <p:spPr>
          <a:xfrm>
            <a:off x="-635" y="2731770"/>
            <a:ext cx="18289270" cy="7552690"/>
          </a:xfrm>
          <a:prstGeom prst="roundRect">
            <a:avLst>
              <a:gd name="adj" fmla="val 0"/>
            </a:avLst>
          </a:prstGeom>
          <a:solidFill>
            <a:srgbClr val="FEFFEF"/>
          </a:solidFill>
        </p:spPr>
        <p:txBody>
          <a:bodyPr/>
          <a:lstStyle/>
          <a:p>
            <a:endParaRPr/>
          </a:p>
        </p:txBody>
      </p:sp>
      <p:pic>
        <p:nvPicPr>
          <p:cNvPr id="24" name="图片 23" descr="猜猜他是谁-1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10931341" y="2904460"/>
            <a:ext cx="7357294" cy="7380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10730865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</p:sp>
      <p:sp>
        <p:nvSpPr>
          <p:cNvPr id="7" name="Text 4"/>
          <p:cNvSpPr/>
          <p:nvPr/>
        </p:nvSpPr>
        <p:spPr>
          <a:xfrm>
            <a:off x="1466850" y="1590040"/>
            <a:ext cx="944435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同桌互读：找出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“形象最鲜明的一句”</a:t>
            </a:r>
          </a:p>
        </p:txBody>
      </p:sp>
      <p:sp>
        <p:nvSpPr>
          <p:cNvPr id="18" name="Shape 6"/>
          <p:cNvSpPr/>
          <p:nvPr>
            <p:custDataLst>
              <p:tags r:id="rId1"/>
            </p:custDataLst>
          </p:nvPr>
        </p:nvSpPr>
        <p:spPr>
          <a:xfrm>
            <a:off x="1675765" y="3192780"/>
            <a:ext cx="10102215" cy="819785"/>
          </a:xfrm>
          <a:prstGeom prst="roundRect">
            <a:avLst>
              <a:gd name="adj" fmla="val 16270"/>
            </a:avLst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9" name="Text 7"/>
          <p:cNvSpPr/>
          <p:nvPr>
            <p:custDataLst>
              <p:tags r:id="rId2"/>
            </p:custDataLst>
          </p:nvPr>
        </p:nvSpPr>
        <p:spPr>
          <a:xfrm>
            <a:off x="1961515" y="3402330"/>
            <a:ext cx="613346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读完告诉对方：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你眼前是个怎样的人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20" name="Shape 8"/>
          <p:cNvSpPr/>
          <p:nvPr>
            <p:custDataLst>
              <p:tags r:id="rId3"/>
            </p:custDataLst>
          </p:nvPr>
        </p:nvSpPr>
        <p:spPr>
          <a:xfrm>
            <a:off x="1675765" y="4524375"/>
            <a:ext cx="10102215" cy="819785"/>
          </a:xfrm>
          <a:prstGeom prst="roundRect">
            <a:avLst>
              <a:gd name="adj" fmla="val 16270"/>
            </a:avLst>
          </a:prstGeom>
          <a:solidFill>
            <a:schemeClr val="accent2"/>
          </a:solidFill>
        </p:spPr>
        <p:txBody>
          <a:bodyPr/>
          <a:lstStyle/>
          <a:p>
            <a:endParaRPr/>
          </a:p>
        </p:txBody>
      </p:sp>
      <p:sp>
        <p:nvSpPr>
          <p:cNvPr id="21" name="Text 9"/>
          <p:cNvSpPr/>
          <p:nvPr>
            <p:custDataLst>
              <p:tags r:id="rId4"/>
            </p:custDataLst>
          </p:nvPr>
        </p:nvSpPr>
        <p:spPr>
          <a:xfrm>
            <a:off x="1961515" y="4733925"/>
            <a:ext cx="1008697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哪一句最让你觉得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“这个人真特别，像见过一样”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，把那一句指给他看</a:t>
            </a:r>
          </a:p>
        </p:txBody>
      </p:sp>
      <p:sp>
        <p:nvSpPr>
          <p:cNvPr id="22" name="Shape 10"/>
          <p:cNvSpPr/>
          <p:nvPr>
            <p:custDataLst>
              <p:tags r:id="rId5"/>
            </p:custDataLst>
          </p:nvPr>
        </p:nvSpPr>
        <p:spPr>
          <a:xfrm>
            <a:off x="1675765" y="5884545"/>
            <a:ext cx="10126980" cy="819785"/>
          </a:xfrm>
          <a:prstGeom prst="roundRect">
            <a:avLst>
              <a:gd name="adj" fmla="val 16270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3" name="Text 11"/>
          <p:cNvSpPr/>
          <p:nvPr>
            <p:custDataLst>
              <p:tags r:id="rId6"/>
            </p:custDataLst>
          </p:nvPr>
        </p:nvSpPr>
        <p:spPr>
          <a:xfrm>
            <a:off x="1961515" y="6094095"/>
            <a:ext cx="613346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正好认识他写的人？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顺便猜一猜是谁</a:t>
            </a:r>
          </a:p>
        </p:txBody>
      </p:sp>
      <p:sp>
        <p:nvSpPr>
          <p:cNvPr id="25" name="Text 22"/>
          <p:cNvSpPr/>
          <p:nvPr/>
        </p:nvSpPr>
        <p:spPr>
          <a:xfrm>
            <a:off x="1273810" y="7615555"/>
            <a:ext cx="10266680" cy="1713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被同桌指出的那一句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，就是你这一页的亮点；同桌说不出这个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人特别在哪里，那正是接下来要修改的地方。</a:t>
            </a:r>
          </a:p>
        </p:txBody>
      </p:sp>
      <p:sp>
        <p:nvSpPr>
          <p:cNvPr id="175" name="椭圆 174"/>
          <p:cNvSpPr/>
          <p:nvPr>
            <p:custDataLst>
              <p:tags r:id="rId7"/>
            </p:custDataLst>
          </p:nvPr>
        </p:nvSpPr>
        <p:spPr>
          <a:xfrm>
            <a:off x="1106170" y="602996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8"/>
            </p:custDataLst>
          </p:nvPr>
        </p:nvSpPr>
        <p:spPr>
          <a:xfrm>
            <a:off x="1102995" y="609663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9"/>
            </p:custDataLst>
          </p:nvPr>
        </p:nvSpPr>
        <p:spPr>
          <a:xfrm>
            <a:off x="1106170" y="333121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10"/>
            </p:custDataLst>
          </p:nvPr>
        </p:nvSpPr>
        <p:spPr>
          <a:xfrm>
            <a:off x="1106170" y="468534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11"/>
            </p:custDataLst>
          </p:nvPr>
        </p:nvCxnSpPr>
        <p:spPr>
          <a:xfrm>
            <a:off x="1344295" y="386461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12"/>
            </p:custDataLst>
          </p:nvPr>
        </p:nvCxnSpPr>
        <p:spPr>
          <a:xfrm>
            <a:off x="1344295" y="521716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3"/>
            </p:custDataLst>
          </p:nvPr>
        </p:nvSpPr>
        <p:spPr>
          <a:xfrm>
            <a:off x="1106170" y="340709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4"/>
            </p:custDataLst>
          </p:nvPr>
        </p:nvSpPr>
        <p:spPr>
          <a:xfrm>
            <a:off x="1102995" y="476313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  <p:bldP spid="20" grpId="0" bldLvl="0" animBg="1"/>
      <p:bldP spid="21" grpId="0"/>
      <p:bldP spid="22" grpId="0" bldLvl="0" animBg="1"/>
      <p:bldP spid="23" grpId="0"/>
      <p:bldP spid="25" grpId="0"/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0" name="Shape 13"/>
          <p:cNvSpPr/>
          <p:nvPr/>
        </p:nvSpPr>
        <p:spPr>
          <a:xfrm>
            <a:off x="1112520" y="3543300"/>
            <a:ext cx="6906895" cy="1101090"/>
          </a:xfrm>
          <a:prstGeom prst="roundRect">
            <a:avLst>
              <a:gd name="adj" fmla="val 865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32" name="Shape 16"/>
          <p:cNvSpPr/>
          <p:nvPr/>
        </p:nvSpPr>
        <p:spPr>
          <a:xfrm>
            <a:off x="1112520" y="4876800"/>
            <a:ext cx="6906895" cy="1101090"/>
          </a:xfrm>
          <a:prstGeom prst="roundRect">
            <a:avLst>
              <a:gd name="adj" fmla="val 8651"/>
            </a:avLst>
          </a:prstGeom>
          <a:solidFill>
            <a:schemeClr val="accent4">
              <a:lumMod val="40000"/>
              <a:lumOff val="60000"/>
            </a:schemeClr>
          </a:solidFill>
        </p:spPr>
      </p:sp>
      <p:sp>
        <p:nvSpPr>
          <p:cNvPr id="34" name="Shape 19"/>
          <p:cNvSpPr/>
          <p:nvPr/>
        </p:nvSpPr>
        <p:spPr>
          <a:xfrm>
            <a:off x="1112520" y="6210300"/>
            <a:ext cx="6906895" cy="1101090"/>
          </a:xfrm>
          <a:prstGeom prst="roundRect">
            <a:avLst>
              <a:gd name="adj" fmla="val 8651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15087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715137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三个符号 + 三条标准</a:t>
            </a:r>
          </a:p>
        </p:txBody>
      </p:sp>
      <p:sp>
        <p:nvSpPr>
          <p:cNvPr id="8" name="Text 5"/>
          <p:cNvSpPr/>
          <p:nvPr/>
        </p:nvSpPr>
        <p:spPr>
          <a:xfrm>
            <a:off x="1047750" y="2933700"/>
            <a:ext cx="350202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三个修改符号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333500" y="3890010"/>
            <a:ext cx="6172835" cy="4248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删除号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多写或写错的字，用一道横线划掉</a:t>
            </a:r>
          </a:p>
        </p:txBody>
      </p:sp>
      <p:sp>
        <p:nvSpPr>
          <p:cNvPr id="12" name="Text 9"/>
          <p:cNvSpPr/>
          <p:nvPr/>
        </p:nvSpPr>
        <p:spPr>
          <a:xfrm>
            <a:off x="1333500" y="5053965"/>
            <a:ext cx="6506210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增补号 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在两字之间画一个朝上的尖角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要补的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字写在尖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上方</a:t>
            </a:r>
          </a:p>
        </p:txBody>
      </p:sp>
      <p:sp>
        <p:nvSpPr>
          <p:cNvPr id="15" name="Text 12"/>
          <p:cNvSpPr/>
          <p:nvPr/>
        </p:nvSpPr>
        <p:spPr>
          <a:xfrm>
            <a:off x="8286750" y="2933700"/>
            <a:ext cx="77533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修改前，先对照这三条检查自己的习作（先自改）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286750" y="3543300"/>
            <a:ext cx="8953500" cy="1101030"/>
          </a:xfrm>
          <a:prstGeom prst="roundRect">
            <a:avLst>
              <a:gd name="adj" fmla="val 865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17" name="Shape 14"/>
          <p:cNvSpPr/>
          <p:nvPr/>
        </p:nvSpPr>
        <p:spPr>
          <a:xfrm>
            <a:off x="8286750" y="3543300"/>
            <a:ext cx="76200" cy="1101030"/>
          </a:xfrm>
          <a:prstGeom prst="rect">
            <a:avLst/>
          </a:prstGeom>
          <a:solidFill>
            <a:srgbClr val="9AA6B6"/>
          </a:solidFill>
        </p:spPr>
      </p:sp>
      <p:sp>
        <p:nvSpPr>
          <p:cNvPr id="18" name="Text 15"/>
          <p:cNvSpPr/>
          <p:nvPr/>
        </p:nvSpPr>
        <p:spPr>
          <a:xfrm>
            <a:off x="8629650" y="3855720"/>
            <a:ext cx="8183880" cy="758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第一条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特点抓准了吗？写的是不是只有他才有的那一两处</a:t>
            </a:r>
          </a:p>
        </p:txBody>
      </p:sp>
      <p:sp>
        <p:nvSpPr>
          <p:cNvPr id="19" name="Shape 16"/>
          <p:cNvSpPr/>
          <p:nvPr/>
        </p:nvSpPr>
        <p:spPr>
          <a:xfrm>
            <a:off x="8286750" y="4876740"/>
            <a:ext cx="8953500" cy="1101030"/>
          </a:xfrm>
          <a:prstGeom prst="roundRect">
            <a:avLst>
              <a:gd name="adj" fmla="val 8651"/>
            </a:avLst>
          </a:prstGeom>
          <a:solidFill>
            <a:schemeClr val="accent4">
              <a:lumMod val="40000"/>
              <a:lumOff val="60000"/>
            </a:schemeClr>
          </a:solidFill>
        </p:spPr>
      </p:sp>
      <p:sp>
        <p:nvSpPr>
          <p:cNvPr id="20" name="Shape 17"/>
          <p:cNvSpPr/>
          <p:nvPr/>
        </p:nvSpPr>
        <p:spPr>
          <a:xfrm>
            <a:off x="8286750" y="4876740"/>
            <a:ext cx="76200" cy="1101030"/>
          </a:xfrm>
          <a:prstGeom prst="rect">
            <a:avLst/>
          </a:prstGeom>
          <a:solidFill>
            <a:srgbClr val="E0A43B"/>
          </a:solidFill>
        </p:spPr>
      </p:sp>
      <p:sp>
        <p:nvSpPr>
          <p:cNvPr id="21" name="Text 18"/>
          <p:cNvSpPr/>
          <p:nvPr/>
        </p:nvSpPr>
        <p:spPr>
          <a:xfrm>
            <a:off x="8629650" y="5067300"/>
            <a:ext cx="9159875" cy="758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第二条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有没有围绕这一处写具体：他的样子、声音、一件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小事</a:t>
            </a:r>
          </a:p>
        </p:txBody>
      </p:sp>
      <p:sp>
        <p:nvSpPr>
          <p:cNvPr id="22" name="Shape 19"/>
          <p:cNvSpPr/>
          <p:nvPr/>
        </p:nvSpPr>
        <p:spPr>
          <a:xfrm>
            <a:off x="8286750" y="6210181"/>
            <a:ext cx="8953500" cy="1101030"/>
          </a:xfrm>
          <a:prstGeom prst="roundRect">
            <a:avLst>
              <a:gd name="adj" fmla="val 8651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23" name="Shape 20"/>
          <p:cNvSpPr/>
          <p:nvPr/>
        </p:nvSpPr>
        <p:spPr>
          <a:xfrm>
            <a:off x="8286750" y="6210181"/>
            <a:ext cx="76200" cy="110103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24" name="Text 21"/>
          <p:cNvSpPr/>
          <p:nvPr/>
        </p:nvSpPr>
        <p:spPr>
          <a:xfrm>
            <a:off x="8629650" y="6355080"/>
            <a:ext cx="9010015" cy="910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第三条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别人读了，能不能认出他是个怎样的人：认识的能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猜中，不认识的也像眼前浮现出这样一个人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333500" y="8188960"/>
            <a:ext cx="10560050" cy="1362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把“他很高”“他很好”这样的空话，换成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具体的样子或一件小事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再改</a:t>
            </a: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通顺、改错字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，注意开头空两格，标点也要占一格。</a:t>
            </a:r>
          </a:p>
        </p:txBody>
      </p:sp>
      <p:sp>
        <p:nvSpPr>
          <p:cNvPr id="31" name="Shape 14"/>
          <p:cNvSpPr/>
          <p:nvPr/>
        </p:nvSpPr>
        <p:spPr>
          <a:xfrm>
            <a:off x="1112520" y="3543300"/>
            <a:ext cx="76200" cy="1101030"/>
          </a:xfrm>
          <a:prstGeom prst="rect">
            <a:avLst/>
          </a:prstGeom>
          <a:solidFill>
            <a:srgbClr val="9AA6B6"/>
          </a:solidFill>
        </p:spPr>
      </p:sp>
      <p:sp>
        <p:nvSpPr>
          <p:cNvPr id="33" name="Shape 17"/>
          <p:cNvSpPr/>
          <p:nvPr/>
        </p:nvSpPr>
        <p:spPr>
          <a:xfrm>
            <a:off x="1112520" y="4876740"/>
            <a:ext cx="76200" cy="1101030"/>
          </a:xfrm>
          <a:prstGeom prst="rect">
            <a:avLst/>
          </a:prstGeom>
          <a:solidFill>
            <a:srgbClr val="E0A43B"/>
          </a:solidFill>
        </p:spPr>
      </p:sp>
      <p:sp>
        <p:nvSpPr>
          <p:cNvPr id="35" name="Shape 20"/>
          <p:cNvSpPr/>
          <p:nvPr/>
        </p:nvSpPr>
        <p:spPr>
          <a:xfrm>
            <a:off x="1112520" y="6210181"/>
            <a:ext cx="76200" cy="110103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6" name="Text 11"/>
          <p:cNvSpPr/>
          <p:nvPr/>
        </p:nvSpPr>
        <p:spPr>
          <a:xfrm>
            <a:off x="1333500" y="6497955"/>
            <a:ext cx="6228080" cy="4248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改正号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写错的字划掉，在旁边写上正确的字</a:t>
            </a:r>
          </a:p>
        </p:txBody>
      </p:sp>
      <p:pic>
        <p:nvPicPr>
          <p:cNvPr id="37" name="图片 36" descr="猜猜他是谁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885" y="6768465"/>
            <a:ext cx="3899535" cy="3658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8" grpId="0"/>
      <p:bldP spid="21" grpId="0"/>
      <p:bldP spid="24" grpId="0"/>
      <p:bldP spid="25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9000000" cy="82800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16" name="Shape 5"/>
          <p:cNvSpPr/>
          <p:nvPr/>
        </p:nvSpPr>
        <p:spPr>
          <a:xfrm>
            <a:off x="-635" y="2667000"/>
            <a:ext cx="18289270" cy="6840000"/>
          </a:xfrm>
          <a:prstGeom prst="roundRect">
            <a:avLst>
              <a:gd name="adj" fmla="val 0"/>
            </a:avLst>
          </a:prstGeom>
          <a:solidFill>
            <a:srgbClr val="FCD254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6332220" y="6358255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6329045" y="642493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6332220" y="394906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6332220" y="513556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6570345" y="4427220"/>
            <a:ext cx="0" cy="71374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6570345" y="5621655"/>
            <a:ext cx="0" cy="735330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6332220" y="402494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6329045" y="521335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4" name="Text 2"/>
          <p:cNvSpPr/>
          <p:nvPr/>
        </p:nvSpPr>
        <p:spPr>
          <a:xfrm>
            <a:off x="1219200" y="609600"/>
            <a:ext cx="7620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83159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装订成一本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《人物图鉴》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，全班传阅</a:t>
            </a:r>
          </a:p>
        </p:txBody>
      </p:sp>
      <p:sp>
        <p:nvSpPr>
          <p:cNvPr id="9" name="Text 6"/>
          <p:cNvSpPr/>
          <p:nvPr/>
        </p:nvSpPr>
        <p:spPr>
          <a:xfrm>
            <a:off x="6971030" y="3890010"/>
            <a:ext cx="879665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今天写的这一页，就是图鉴里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属于你的那一页</a:t>
            </a:r>
          </a:p>
        </p:txBody>
      </p:sp>
      <p:sp>
        <p:nvSpPr>
          <p:cNvPr id="11" name="Text 8"/>
          <p:cNvSpPr/>
          <p:nvPr/>
        </p:nvSpPr>
        <p:spPr>
          <a:xfrm>
            <a:off x="6971030" y="5059045"/>
            <a:ext cx="1083373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以后再翻开，读着这几行字，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那个同学的样子就会重新浮现</a:t>
            </a:r>
          </a:p>
        </p:txBody>
      </p:sp>
      <p:sp>
        <p:nvSpPr>
          <p:cNvPr id="13" name="Text 10"/>
          <p:cNvSpPr/>
          <p:nvPr/>
        </p:nvSpPr>
        <p:spPr>
          <a:xfrm>
            <a:off x="6971030" y="6273165"/>
            <a:ext cx="929957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收进班级成长档案，作为大家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第一次写人的纪念</a:t>
            </a:r>
          </a:p>
        </p:txBody>
      </p:sp>
      <p:sp>
        <p:nvSpPr>
          <p:cNvPr id="15" name="Text 11"/>
          <p:cNvSpPr/>
          <p:nvPr/>
        </p:nvSpPr>
        <p:spPr>
          <a:xfrm>
            <a:off x="6971030" y="7392035"/>
            <a:ext cx="10822305" cy="14662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写人物，先要细心观察，再动笔：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抓住最特别的一两处，围绕它写具体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，这就是今天学到的方法。</a:t>
            </a:r>
            <a:endParaRPr lang="en-US" sz="2800" dirty="0"/>
          </a:p>
        </p:txBody>
      </p:sp>
      <p:pic>
        <p:nvPicPr>
          <p:cNvPr id="21" name="图片 20" descr="猜猜他是谁-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180000">
            <a:off x="661035" y="3105150"/>
            <a:ext cx="4761865" cy="6348730"/>
          </a:xfrm>
          <a:prstGeom prst="rect">
            <a:avLst/>
          </a:prstGeom>
          <a:effectLst>
            <a:outerShdw blurRad="50800" dist="101600" dir="189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  <p:bldP spid="9" grpId="0"/>
      <p:bldP spid="11" grpId="0"/>
      <p:bldP spid="13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txBody>
          <a:bodyPr/>
          <a:lstStyle/>
          <a:p>
            <a:endParaRPr/>
          </a:p>
        </p:txBody>
      </p:sp>
      <p:sp>
        <p:nvSpPr>
          <p:cNvPr id="14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</a:p>
        </p:txBody>
      </p:sp>
      <p:sp>
        <p:nvSpPr>
          <p:cNvPr id="15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下次课再见</a:t>
            </a:r>
            <a:endParaRPr lang="en-US" sz="3000" dirty="0"/>
          </a:p>
        </p:txBody>
      </p:sp>
      <p:sp>
        <p:nvSpPr>
          <p:cNvPr id="17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5676900"/>
            <a:ext cx="1221774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kern="0" spc="1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写人，先观察，再落笔：抓住最特别的一两处，围绕它写具体。</a:t>
            </a:r>
            <a:endParaRPr lang="en-US" sz="2850" dirty="0"/>
          </a:p>
        </p:txBody>
      </p:sp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78125984251966,&quot;left&quot;:477,&quot;top&quot;:349.65,&quot;width&quot;:935.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78125984251966,&quot;left&quot;:477,&quot;top&quot;:349.65,&quot;width&quot;:935.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78125984251966,&quot;left&quot;:477,&quot;top&quot;:349.65,&quot;width&quot;:935.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,&quot;left&quot;:82.5,&quot;top&quot;:225,&quot;width&quot;:12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12503937007878,&quot;left&quot;:79.5,&quot;top&quot;:247.5,&quot;width&quot;:909.1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12503937007878,&quot;left&quot;:79.5,&quot;top&quot;:247.5,&quot;width&quot;:909.1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12503937007878,&quot;left&quot;:79.5,&quot;top&quot;:247.5,&quot;width&quot;:909.1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2.4,&quot;left&quot;:79.5,&quot;top&quot;:215.1,&quot;width&quot;:1405.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2657</Words>
  <Application>Microsoft Office PowerPoint</Application>
  <PresentationFormat>自定义</PresentationFormat>
  <Paragraphs>312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思源黑体 CN Normal</vt:lpstr>
      <vt:lpstr>微软雅黑</vt:lpstr>
      <vt:lpstr>Arial</vt:lpstr>
      <vt:lpstr>Calibri Light</vt:lpstr>
      <vt:lpstr>楷体</vt:lpstr>
      <vt:lpstr>等线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66</cp:revision>
  <dcterms:created xsi:type="dcterms:W3CDTF">2026-08-01T08:00:00Z</dcterms:created>
  <dcterms:modified xsi:type="dcterms:W3CDTF">2026-09-02T02:47:59Z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A5A49707BAEF4476B7D8AC39D2A80078_13</vt:lpwstr>
  </property>
  <property fmtid="{D5CDD505-2E9C-101B-9397-08002B2CF9AE}" pid="3" name="KSOProductBuildVer">
    <vt:lpwstr>2052-12.1.0.26895</vt:lpwstr>
  </property>
</Properties>
</file>