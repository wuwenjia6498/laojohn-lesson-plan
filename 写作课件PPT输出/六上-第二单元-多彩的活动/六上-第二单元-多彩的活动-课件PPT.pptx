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多彩的活动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六年级上册 · 第二单元 · 校内同步写作（记事）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24936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点面结合写场面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回到那一刻 · 点面结合 · 场面定格表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19279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029005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这一年参加过的活动里，哪一次你还记得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当时的声音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529590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333750"/>
            <a:ext cx="51968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运动会，四百米最后一圈全班都在喊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6534150" y="3143250"/>
            <a:ext cx="441007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819900" y="3333750"/>
            <a:ext cx="422243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拔河，绳子中间的裁判吹哨子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11134725" y="3143250"/>
            <a:ext cx="500062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1420475" y="3333750"/>
            <a:ext cx="487203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朗诵会，读到最后一句，底下鼓掌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1047750" y="4105275"/>
            <a:ext cx="441007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33500" y="4295775"/>
            <a:ext cx="422243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研学插秧，脚踩在泥里的声音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5648325" y="4105275"/>
            <a:ext cx="70675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934075" y="4295775"/>
            <a:ext cx="71456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去敬老院，屋里很静，只有一位老爷爷一直在咳嗽</a:t>
            </a:r>
            <a:endParaRPr lang="en-US" sz="2325" dirty="0"/>
          </a:p>
        </p:txBody>
      </p:sp>
      <p:sp>
        <p:nvSpPr>
          <p:cNvPr id="18" name="Shape 15"/>
          <p:cNvSpPr/>
          <p:nvPr/>
        </p:nvSpPr>
        <p:spPr>
          <a:xfrm>
            <a:off x="1047750" y="5334000"/>
            <a:ext cx="16192500" cy="923925"/>
          </a:xfrm>
          <a:prstGeom prst="roundRect">
            <a:avLst>
              <a:gd name="adj" fmla="val 16495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28750" y="5581650"/>
            <a:ext cx="16973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想到了就说一说：是</a:t>
            </a:r>
            <a:pPr algn="l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哪一次活动</a:t>
            </a:r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什么声音</a:t>
            </a:r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550" dirty="0"/>
          </a:p>
        </p:txBody>
      </p:sp>
      <p:sp>
        <p:nvSpPr>
          <p:cNvPr id="20" name="Shape 17"/>
          <p:cNvSpPr/>
          <p:nvPr/>
        </p:nvSpPr>
        <p:spPr>
          <a:xfrm>
            <a:off x="1047750" y="6667500"/>
            <a:ext cx="16192500" cy="1615380"/>
          </a:xfrm>
          <a:prstGeom prst="roundRect">
            <a:avLst>
              <a:gd name="adj" fmla="val 1061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485900" y="6972300"/>
            <a:ext cx="15775686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平时听人讲一场活动，往往只听到“特别热闹”“特别激动”，再追问一句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到底热闹成什么样 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，讲的人就说不上来了。</a:t>
            </a:r>
            <a:endParaRPr lang="en-US" sz="2475" dirty="0"/>
          </a:p>
        </p:txBody>
      </p:sp>
      <p:sp>
        <p:nvSpPr>
          <p:cNvPr id="22" name="Text 19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你说的那一场活动，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身边的同学多半也没在场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今天的任务：把一次活动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写给没在场的人读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76550"/>
            <a:ext cx="16973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写完以后，稿子会传给一位</a:t>
            </a:r>
            <a:pPr algn="l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没在场的同学</a:t>
            </a:r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读，让读的人像自己也在场一样。</a:t>
            </a:r>
            <a:endParaRPr lang="en-US" sz="2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905250"/>
            <a:ext cx="3810000" cy="4381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0" y="3924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266111" y="40005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848475" y="3981450"/>
            <a:ext cx="10301288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读的人在你的稿子末尾写两行：第一行，他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看见了一个什么样的场面</a:t>
            </a:r>
            <a:endParaRPr lang="en-US" sz="2625" dirty="0"/>
          </a:p>
        </p:txBody>
      </p:sp>
      <p:sp>
        <p:nvSpPr>
          <p:cNvPr id="13" name="Shape 9"/>
          <p:cNvSpPr/>
          <p:nvPr/>
        </p:nvSpPr>
        <p:spPr>
          <a:xfrm>
            <a:off x="6096000" y="4826794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266111" y="4902994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848475" y="4883944"/>
            <a:ext cx="7554278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第二行，他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记住了你写的哪个人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，那个人在做什么</a:t>
            </a:r>
            <a:endParaRPr lang="en-US" sz="2625" dirty="0"/>
          </a:p>
        </p:txBody>
      </p:sp>
      <p:sp>
        <p:nvSpPr>
          <p:cNvPr id="16" name="Shape 12"/>
          <p:cNvSpPr/>
          <p:nvPr/>
        </p:nvSpPr>
        <p:spPr>
          <a:xfrm>
            <a:off x="6096000" y="57292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266111" y="58054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848475" y="5786438"/>
            <a:ext cx="6180773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这两行他写得出来，这次活动就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写成功了</a:t>
            </a:r>
            <a:endParaRPr lang="en-US" sz="26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他只写得出“很热闹”，说明那个场面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还留在你的脑海里，没有到纸上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明确任务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教材上的《多彩的活动》：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三条要求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73342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校内校外的活动都可以写</a:t>
            </a:r>
            <a:endParaRPr lang="en-US" sz="2325" dirty="0"/>
          </a:p>
        </p:txBody>
      </p:sp>
      <p:sp>
        <p:nvSpPr>
          <p:cNvPr id="8" name="Shape 5"/>
          <p:cNvSpPr/>
          <p:nvPr/>
        </p:nvSpPr>
        <p:spPr>
          <a:xfrm>
            <a:off x="1047750" y="3457575"/>
            <a:ext cx="3695700" cy="742950"/>
          </a:xfrm>
          <a:prstGeom prst="roundRect">
            <a:avLst>
              <a:gd name="adj" fmla="val 1794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638550"/>
            <a:ext cx="34575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“祖国在我心中”朗诵会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4914900" y="3457575"/>
            <a:ext cx="1981200" cy="742950"/>
          </a:xfrm>
          <a:prstGeom prst="roundRect">
            <a:avLst>
              <a:gd name="adj" fmla="val 1794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191125" y="36385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学校运动会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47750" y="4371975"/>
            <a:ext cx="3124200" cy="742950"/>
          </a:xfrm>
          <a:prstGeom prst="roundRect">
            <a:avLst>
              <a:gd name="adj" fmla="val 1794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23975" y="4552950"/>
            <a:ext cx="28289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“六一”儿童节演出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4343400" y="4371975"/>
            <a:ext cx="1695450" cy="742950"/>
          </a:xfrm>
          <a:prstGeom prst="roundRect">
            <a:avLst>
              <a:gd name="adj" fmla="val 1794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19625" y="4552950"/>
            <a:ext cx="1219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田间劳动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047750" y="5286375"/>
            <a:ext cx="2552700" cy="742950"/>
          </a:xfrm>
          <a:prstGeom prst="roundRect">
            <a:avLst>
              <a:gd name="adj" fmla="val 1794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23975" y="5467350"/>
            <a:ext cx="2200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端午节看赛龙舟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3771900" y="5286375"/>
            <a:ext cx="2266950" cy="742950"/>
          </a:xfrm>
          <a:prstGeom prst="roundRect">
            <a:avLst>
              <a:gd name="adj" fmla="val 1794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048125" y="5467350"/>
            <a:ext cx="1885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看望孤寡老人</a:t>
            </a:r>
            <a:endParaRPr lang="en-US" sz="22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6353175"/>
            <a:ext cx="6667500" cy="28575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38200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855211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9134475" y="3105150"/>
            <a:ext cx="755427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写清楚活动过程，把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印象深刻的部分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作为重点来写</a:t>
            </a:r>
            <a:endParaRPr lang="en-US" sz="2625" dirty="0"/>
          </a:p>
        </p:txBody>
      </p:sp>
      <p:sp>
        <p:nvSpPr>
          <p:cNvPr id="24" name="Shape 20"/>
          <p:cNvSpPr/>
          <p:nvPr/>
        </p:nvSpPr>
        <p:spPr>
          <a:xfrm>
            <a:off x="8382000" y="3948112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8552111" y="4024313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134475" y="4005262"/>
            <a:ext cx="834894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写场面时，既要关注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整个场景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，也要注意同学的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动作、语言、神态</a:t>
            </a:r>
            <a:endParaRPr lang="en-US" sz="2625" dirty="0"/>
          </a:p>
        </p:txBody>
      </p:sp>
      <p:sp>
        <p:nvSpPr>
          <p:cNvPr id="27" name="Shape 23"/>
          <p:cNvSpPr/>
          <p:nvPr/>
        </p:nvSpPr>
        <p:spPr>
          <a:xfrm>
            <a:off x="8382000" y="53482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8552111" y="54244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29" name="Text 25"/>
          <p:cNvSpPr/>
          <p:nvPr/>
        </p:nvSpPr>
        <p:spPr>
          <a:xfrm>
            <a:off x="9134475" y="5405438"/>
            <a:ext cx="3433763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把活动中的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体会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写下来</a:t>
            </a:r>
            <a:endParaRPr lang="en-US" sz="2625" dirty="0"/>
          </a:p>
        </p:txBody>
      </p:sp>
      <p:sp>
        <p:nvSpPr>
          <p:cNvPr id="30" name="Shape 26"/>
          <p:cNvSpPr/>
          <p:nvPr/>
        </p:nvSpPr>
        <p:spPr>
          <a:xfrm>
            <a:off x="8382000" y="6248400"/>
            <a:ext cx="8858250" cy="952946"/>
          </a:xfrm>
          <a:prstGeom prst="roundRect">
            <a:avLst>
              <a:gd name="adj" fmla="val 15993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8743950" y="6496050"/>
            <a:ext cx="894778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请每人先在稿纸的右上角，写下自己要写的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活动名称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60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找出印象最深的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，回答四个问题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7934325" cy="1171575"/>
          </a:xfrm>
          <a:prstGeom prst="roundRect">
            <a:avLst>
              <a:gd name="adj" fmla="val 1463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419225" y="34575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589336" y="353377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52650" y="3514725"/>
            <a:ext cx="63377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那一刻，你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听得最清楚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的一个声音是什么？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9305925" y="3143250"/>
            <a:ext cx="7934325" cy="1171575"/>
          </a:xfrm>
          <a:prstGeom prst="roundRect">
            <a:avLst>
              <a:gd name="adj" fmla="val 1463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677400" y="34575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847511" y="353377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410825" y="3514725"/>
            <a:ext cx="63377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那一刻，你往四周看，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眼前最多的是什么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550" dirty="0"/>
          </a:p>
        </p:txBody>
      </p:sp>
      <p:sp>
        <p:nvSpPr>
          <p:cNvPr id="16" name="Shape 13"/>
          <p:cNvSpPr/>
          <p:nvPr/>
        </p:nvSpPr>
        <p:spPr>
          <a:xfrm>
            <a:off x="1047750" y="4638675"/>
            <a:ext cx="7934325" cy="165735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419225" y="4953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589336" y="5029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2152650" y="5010150"/>
            <a:ext cx="665168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那一刻，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你自己在做什么动作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，有没有喊出声，喊的是什么？</a:t>
            </a:r>
            <a:endParaRPr lang="en-US" sz="2550" dirty="0"/>
          </a:p>
        </p:txBody>
      </p:sp>
      <p:sp>
        <p:nvSpPr>
          <p:cNvPr id="20" name="Shape 17"/>
          <p:cNvSpPr/>
          <p:nvPr/>
        </p:nvSpPr>
        <p:spPr>
          <a:xfrm>
            <a:off x="9305925" y="4638675"/>
            <a:ext cx="7934325" cy="165735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677400" y="4953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847511" y="5029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0410825" y="5010150"/>
            <a:ext cx="63377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那一刻，你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眼睛盯着的是谁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，他在做什么？</a:t>
            </a:r>
            <a:endParaRPr lang="en-US" sz="2550" dirty="0"/>
          </a:p>
        </p:txBody>
      </p:sp>
      <p:sp>
        <p:nvSpPr>
          <p:cNvPr id="24" name="Shape 21"/>
          <p:cNvSpPr/>
          <p:nvPr/>
        </p:nvSpPr>
        <p:spPr>
          <a:xfrm>
            <a:off x="1047750" y="6667500"/>
            <a:ext cx="16192500" cy="895350"/>
          </a:xfrm>
          <a:prstGeom prst="roundRect">
            <a:avLst>
              <a:gd name="adj" fmla="val 1702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428750" y="6915150"/>
            <a:ext cx="16973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每个问题只在稿纸角上</a:t>
            </a:r>
            <a:pPr algn="l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写几个关键词</a:t>
            </a:r>
            <a:pPr algn="l" indent="0" marL="0"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。第四问想不出的，就写那一刻正对面站着的人，或者离你最近的人。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这一刻可能是最紧张、最热闹的，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也可能是最安静的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观察体验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写一个人，要说出他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当时的样子</a:t>
            </a:r>
            <a:endParaRPr lang="en-US" sz="320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143250"/>
            <a:ext cx="5334000" cy="495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53250" y="3105150"/>
            <a:ext cx="11315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看图上的人，各说出一个动作和一个神态</a:t>
            </a:r>
            <a:endParaRPr lang="en-US" sz="2325" dirty="0"/>
          </a:p>
        </p:txBody>
      </p:sp>
      <p:sp>
        <p:nvSpPr>
          <p:cNvPr id="9" name="Shape 5"/>
          <p:cNvSpPr/>
          <p:nvPr/>
        </p:nvSpPr>
        <p:spPr>
          <a:xfrm>
            <a:off x="6953250" y="3705225"/>
            <a:ext cx="1028700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239000" y="3895725"/>
            <a:ext cx="10687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他身子往后仰，脚蹬着地</a:t>
            </a:r>
            <a:endParaRPr lang="en-US" sz="2325" dirty="0"/>
          </a:p>
        </p:txBody>
      </p:sp>
      <p:sp>
        <p:nvSpPr>
          <p:cNvPr id="11" name="Shape 7"/>
          <p:cNvSpPr/>
          <p:nvPr/>
        </p:nvSpPr>
        <p:spPr>
          <a:xfrm>
            <a:off x="6953250" y="4667250"/>
            <a:ext cx="1028700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239000" y="4857750"/>
            <a:ext cx="10687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他咬着牙，脸都皱起来了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6953250" y="5629275"/>
            <a:ext cx="1028700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239000" y="5819775"/>
            <a:ext cx="10687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她两只手攥得紧紧的，眼睛一直盯着前面</a:t>
            </a:r>
            <a:endParaRPr lang="en-US" sz="2325" dirty="0"/>
          </a:p>
        </p:txBody>
      </p:sp>
      <p:sp>
        <p:nvSpPr>
          <p:cNvPr id="15" name="Shape 11"/>
          <p:cNvSpPr/>
          <p:nvPr/>
        </p:nvSpPr>
        <p:spPr>
          <a:xfrm>
            <a:off x="6953250" y="6591300"/>
            <a:ext cx="1028700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7239000" y="6781800"/>
            <a:ext cx="10687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他弯着腰，头一直低着看水面</a:t>
            </a:r>
            <a:endParaRPr lang="en-US" sz="2325" dirty="0"/>
          </a:p>
        </p:txBody>
      </p:sp>
      <p:sp>
        <p:nvSpPr>
          <p:cNvPr id="17" name="Shape 13"/>
          <p:cNvSpPr/>
          <p:nvPr/>
        </p:nvSpPr>
        <p:spPr>
          <a:xfrm>
            <a:off x="6953250" y="7686675"/>
            <a:ext cx="10287000" cy="1410593"/>
          </a:xfrm>
          <a:prstGeom prst="roundRect">
            <a:avLst>
              <a:gd name="adj" fmla="val 1080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7315200" y="7934325"/>
            <a:ext cx="9849993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照这个说法，给第四问写到的人补上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一个动作词、一个神态词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，记到稿纸上。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身子后仰、脚蹬地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，神态是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咬牙、皱着脸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，这就是把一个人的样子说出来。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两段都写拔河，哪一段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符合这次习作的要求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5334000"/>
          </a:xfrm>
          <a:prstGeom prst="roundRect">
            <a:avLst>
              <a:gd name="adj" fmla="val 321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609975"/>
            <a:ext cx="7867650" cy="4572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0175" y="3914775"/>
            <a:ext cx="7397306" cy="2855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天下午我们班和四班拔河。哨声一响，我两只手死死攥住绳子，绳子上的毛刺扎进手心里。我把脚跟往后一蹬，身子往后仰，鞋底在跑道上蹭出两道印子。绳子一点一点往对面滑，我的手心磨得发烫，胳膊酸得抬不起来。我咬着牙，心里只有一个念头：不能松手。不知道过了多久，绳子忽然往我们这边一松，我一屁股坐在了地上，我们赢了。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5334000"/>
          </a:xfrm>
          <a:prstGeom prst="roundRect">
            <a:avLst>
              <a:gd name="adj" fmla="val 321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609975"/>
            <a:ext cx="7867650" cy="4572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05975" y="3914775"/>
            <a:ext cx="7397306" cy="3324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声一响，操场上几十个人一齐喊了起来，两边的加油声撞在一块儿，分不清是哪个班的。绳子中间那根红布条一会儿往左一会儿往右，两队人全都仰着身子，鞋底在跑道上蹭出一片沙沙声。排在最后的大个子把绳子在腰上绕了一圈，脸憋得通红，一步一步往后挪。班长站在队伍旁边，两只手往下压，一声一声地喊：“稳住！稳住！”红布条一点一点向我们这边过来了。</a:t>
            </a:r>
            <a:endParaRPr lang="en-US" sz="2175" dirty="0"/>
          </a:p>
        </p:txBody>
      </p:sp>
      <p:sp>
        <p:nvSpPr>
          <p:cNvPr id="17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先读一遍，说出你的理由；再数一数：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这一段读完，你看见了几个人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第一段写得真，可是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只看见一个人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973226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毛刺扎进手心、鞋底蹭出印子，这些都是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拔过河的人才写得出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6482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495800"/>
            <a:ext cx="82981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从哨声响写到分出输赢，一次拔河的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过程一步不落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4864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334000"/>
            <a:ext cx="973226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可是除了“我”，那几十个人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一个也没有露面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：对面拉绳的是谁，旁边的同学在做什么，场边有没有人喊，一句都没有写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333750"/>
            <a:ext cx="4953000" cy="4191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280970"/>
            <a:ext cx="16192500" cy="1577280"/>
          </a:xfrm>
          <a:prstGeom prst="roundRect">
            <a:avLst>
              <a:gd name="adj" fmla="val 1087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66850" y="7566720"/>
            <a:ext cx="15814929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题目写的是“活动”，活动是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一群人一起做的事 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：一次活动，要有整个场面，也要有场面里的人，还要写清楚过程和自己的体会。</a:t>
            </a:r>
            <a:endParaRPr lang="en-US" sz="2475" dirty="0"/>
          </a:p>
        </p:txBody>
      </p:sp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读的人要看见的是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那个场面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，不是只看见你一个人。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把第二段分一分：哪几句是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，哪几句是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4610100"/>
          </a:xfrm>
          <a:prstGeom prst="roundRect">
            <a:avLst>
              <a:gd name="adj" fmla="val 371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962275"/>
            <a:ext cx="7867650" cy="781050"/>
          </a:xfrm>
          <a:prstGeom prst="rect">
            <a:avLst/>
          </a:prstGeom>
          <a:solidFill>
            <a:srgbClr val="2F72B8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15277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整个操场上的人都在做的事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743325"/>
            <a:ext cx="7867650" cy="3810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4029075"/>
            <a:ext cx="794194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几十个人一齐喊了起来，两边的加油声撞在一块儿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381125" y="4662488"/>
            <a:ext cx="794194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红布条一会儿往左一会儿往右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381125" y="5295900"/>
            <a:ext cx="794194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两队人全都仰着身子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81125" y="5929313"/>
            <a:ext cx="794194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鞋底在跑道上蹭出一片沙沙声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381125" y="6562725"/>
            <a:ext cx="794194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写的是整个场面看到的和听到的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9353550" y="2952750"/>
            <a:ext cx="7886700" cy="4610100"/>
          </a:xfrm>
          <a:prstGeom prst="roundRect">
            <a:avLst>
              <a:gd name="adj" fmla="val 371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9363075" y="2962275"/>
            <a:ext cx="7867650" cy="78105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67875" y="315277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· 只写一个人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363075" y="3743325"/>
            <a:ext cx="7867650" cy="3810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686925" y="4029075"/>
            <a:ext cx="743654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大个子把绳子在腰上绕了一圈，脸憋得通红，一步一步往后挪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9686925" y="5105400"/>
            <a:ext cx="794194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班长两只手往下压，一声一声地喊：“稳住！稳住！”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9686925" y="5738813"/>
            <a:ext cx="794194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写的是一个人的动作、神态和他说的话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先写面，再落到点，这就是这次习作的写法，叫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点面结合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课文也在用：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先合起来写，再一个一个写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238500"/>
            <a:ext cx="5905500" cy="5524500"/>
          </a:xfrm>
          <a:prstGeom prst="roundRect">
            <a:avLst>
              <a:gd name="adj" fmla="val 3793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470023" y="4613970"/>
            <a:ext cx="3060954" cy="2811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277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先写面 再写点</a:t>
            </a:r>
            <a:endParaRPr lang="en-US" sz="7800" dirty="0"/>
          </a:p>
        </p:txBody>
      </p:sp>
      <p:sp>
        <p:nvSpPr>
          <p:cNvPr id="10" name="Shape 7"/>
          <p:cNvSpPr/>
          <p:nvPr/>
        </p:nvSpPr>
        <p:spPr>
          <a:xfrm>
            <a:off x="7810500" y="3352800"/>
            <a:ext cx="9429750" cy="1410593"/>
          </a:xfrm>
          <a:prstGeom prst="roundRect">
            <a:avLst>
              <a:gd name="adj" fmla="val 1080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53400" y="3600450"/>
            <a:ext cx="900626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单元导语页：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了解文章是怎样点面结合写场面的，尝试运用点面结合的写法记一次活动。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7810500" y="522059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172450" y="5087243"/>
            <a:ext cx="933983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《狼牙山五壮士》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写五位战士在山顶打击敌人，先合起来写他们一同向敌人射击</a:t>
            </a:r>
            <a:endParaRPr lang="en-US" sz="2625" dirty="0"/>
          </a:p>
        </p:txBody>
      </p:sp>
      <p:sp>
        <p:nvSpPr>
          <p:cNvPr id="14" name="Shape 11"/>
          <p:cNvSpPr/>
          <p:nvPr/>
        </p:nvSpPr>
        <p:spPr>
          <a:xfrm>
            <a:off x="7810500" y="654456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172450" y="6411218"/>
            <a:ext cx="933983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一个一个写下去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：班长怎么指挥，副班长怎么打枪，年纪最小的两个战士怎么瞄准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7810500" y="7868543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172450" y="7735193"/>
            <a:ext cx="7700963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课文这一段和刚才的第二段，用的是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一样的写法</a:t>
            </a:r>
            <a:endParaRPr lang="en-US" sz="262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先用两三句把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写出来，再用两三句落到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一两个人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身上。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71887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两个“点”要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各是各的样子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大个子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6099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0175" y="3914775"/>
            <a:ext cx="7397306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把绳子在腰上绕了一圈，脸憋得通红，一步一步往后挪。</a:t>
            </a:r>
            <a:endParaRPr lang="en-US" sz="2325" dirty="0"/>
          </a:p>
        </p:txBody>
      </p:sp>
      <p:sp>
        <p:nvSpPr>
          <p:cNvPr id="12" name="Text 9"/>
          <p:cNvSpPr/>
          <p:nvPr/>
        </p:nvSpPr>
        <p:spPr>
          <a:xfrm>
            <a:off x="1400175" y="5166122"/>
            <a:ext cx="7397306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写的是他的动作和脸色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班长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9363075" y="36099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705975" y="3914775"/>
            <a:ext cx="7397306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站在队伍旁边，两只手往下压，一声一声地喊：“稳住！稳住！”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9705975" y="5166122"/>
            <a:ext cx="7397306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写的是他的手势和喊的话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8164711"/>
            <a:ext cx="1781175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一个在拉，一个在喊；一个写脸色，一个写话，</a:t>
            </a:r>
            <a:pPr algn="l" indent="0" marL="0">
              <a:lnSpc>
                <a:spcPct val="10963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两个人不会混在一起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0" name="Text 17"/>
          <p:cNvSpPr/>
          <p:nvPr/>
        </p:nvSpPr>
        <p:spPr>
          <a:xfrm>
            <a:off x="1047750" y="8745141"/>
            <a:ext cx="1781175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两个人都写成“使劲拉、脸通红”，</a:t>
            </a:r>
            <a:pPr algn="l" indent="0" marL="0">
              <a:lnSpc>
                <a:spcPct val="10963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就等于只写了一个人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047750" y="9325570"/>
            <a:ext cx="1781175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《狼牙山五壮士》里那几位战士也是</a:t>
            </a:r>
            <a:pPr algn="l" indent="0" marL="0">
              <a:lnSpc>
                <a:spcPct val="10963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一人一个样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896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083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听老师读两遍，比一比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各少了什么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4800600"/>
          </a:xfrm>
          <a:prstGeom prst="roundRect">
            <a:avLst>
              <a:gd name="adj" fmla="val 3571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962275"/>
            <a:ext cx="7867650" cy="781050"/>
          </a:xfrm>
          <a:prstGeom prst="rect">
            <a:avLst/>
          </a:prstGeom>
          <a:solidFill>
            <a:srgbClr val="2F72B8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15277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第一遍 · 只读“面”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743325"/>
            <a:ext cx="7867650" cy="4000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4029075"/>
            <a:ext cx="7436549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哨声一响，操场上几十个人一齐喊了起来……两队人全都仰着身子，鞋底在跑道上蹭出一片沙沙声。红布条一点一点向我们这边过来了。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1381125" y="5685383"/>
            <a:ext cx="7219950" cy="847725"/>
          </a:xfrm>
          <a:prstGeom prst="roundRect">
            <a:avLst>
              <a:gd name="adj" fmla="val 1573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647825" y="5894933"/>
            <a:ext cx="73552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热闹是热闹，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一个人的脸都看不清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9353550" y="2952750"/>
            <a:ext cx="7886700" cy="4800600"/>
          </a:xfrm>
          <a:prstGeom prst="roundRect">
            <a:avLst>
              <a:gd name="adj" fmla="val 3571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363075" y="2962275"/>
            <a:ext cx="7867650" cy="78105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67875" y="3152775"/>
            <a:ext cx="79838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第二遍 · 只读“点”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9363075" y="3743325"/>
            <a:ext cx="7867650" cy="4000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86925" y="4029075"/>
            <a:ext cx="7436549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52450" marL="0">
              <a:lnSpc>
                <a:spcPct val="12641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排在最后的大个子把绳子在腰上绕了一圈，脸憋得通红，一步一步往后挪。班长站在队伍旁边，两只手往下压，一声一声地喊：“稳住！稳住！”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9686925" y="5685383"/>
            <a:ext cx="7219950" cy="847725"/>
          </a:xfrm>
          <a:prstGeom prst="roundRect">
            <a:avLst>
              <a:gd name="adj" fmla="val 1573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953625" y="5894933"/>
            <a:ext cx="73552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只有两个人，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不知道他们身在什么场面里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面和点合在一起，读的人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既看见整个操场，又记住了大个子和班长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19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84279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整篇怎么安排：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过程带过，定格一段，体会一两句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200400"/>
            <a:ext cx="725995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活动过程按顺序交代清楚，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每一步一两句带过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047750" y="41100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1862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167188"/>
            <a:ext cx="834894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印象最深的那一步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下来，用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先面后点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写成一整段</a:t>
            </a:r>
            <a:endParaRPr lang="en-US" sz="2775" dirty="0"/>
          </a:p>
        </p:txBody>
      </p:sp>
      <p:sp>
        <p:nvSpPr>
          <p:cNvPr id="13" name="Shape 10"/>
          <p:cNvSpPr/>
          <p:nvPr/>
        </p:nvSpPr>
        <p:spPr>
          <a:xfrm>
            <a:off x="1047750" y="50768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1530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133975"/>
            <a:ext cx="544496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最后跟着这个场面，写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一两句体会</a:t>
            </a:r>
            <a:endParaRPr lang="en-US" sz="2775" dirty="0"/>
          </a:p>
        </p:txBody>
      </p:sp>
      <p:sp>
        <p:nvSpPr>
          <p:cNvPr id="16" name="Shape 13"/>
          <p:cNvSpPr/>
          <p:nvPr/>
        </p:nvSpPr>
        <p:spPr>
          <a:xfrm>
            <a:off x="1047750" y="790575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28750" y="8172450"/>
            <a:ext cx="169735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第二段只写了拔河最紧张的那一阵，前面怎么分队、后面谁赢了，一句都没有写：</a:t>
            </a:r>
            <a:pPr algn="l" indent="0" marL="0"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不是每一步都要细写</a:t>
            </a:r>
            <a:pPr algn="l" indent="0" marL="0"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教材说，把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印象深刻的部分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作为重点来写。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场面定格表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场面定格表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91154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每格只填几个关键词，不写句子（先看老师用一次插秧活动填的）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5419725"/>
          </a:xfrm>
          <a:prstGeom prst="roundRect">
            <a:avLst>
              <a:gd name="adj" fmla="val 2460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  <a:ln/>
        </p:spPr>
      </p:sp>
      <p:sp>
        <p:nvSpPr>
          <p:cNvPr id="9" name="Text 6"/>
          <p:cNvSpPr/>
          <p:nvPr/>
        </p:nvSpPr>
        <p:spPr>
          <a:xfrm>
            <a:off x="1362075" y="2924175"/>
            <a:ext cx="60350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715327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467600" y="2924175"/>
            <a:ext cx="104041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关键词（每格只填几个字）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523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543300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 · 时间 · 地点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153275" y="3457575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467600" y="3543300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劳动实践课 · 五月 · 郊区稻田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3981450"/>
            <a:ext cx="161734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067175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过程顺序（三四步）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153275" y="3981450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467600" y="4067175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坐车 → 田埂上听讲 → 下田插秧 → 洗脚上车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505325"/>
            <a:ext cx="16173450" cy="523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591050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定格哪一步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7153275" y="4505325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467600" y="4591050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下田插秧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029200"/>
            <a:ext cx="161734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114925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看到的整体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7153275" y="5029200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467600" y="5114925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几十个人弯腰 · 裤腿卷到膝盖 · 水面晃眼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5553075"/>
            <a:ext cx="16173450" cy="523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5638800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听到的整体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7153275" y="5553075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467600" y="5638800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拔脚的咕叽声 · 老师喊“往后退” · 有人喊“我的鞋没了”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076950"/>
            <a:ext cx="161734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6162675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· 第一个人（谁 · 动作 · 神态 · 话）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7153275" y="6076950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467600" y="6162675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农民伯伯 · 三根一捏 · 一按一退 · 不看手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6600825"/>
            <a:ext cx="16173450" cy="523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62075" y="6686550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· 第二个人（谁 · 动作 · 神态 · 话）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7153275" y="6600825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7467600" y="6686550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小宇 · 秧苗浮起一撮 · 捞起再按 · 泥点溅到眉毛 · “别踩过来”</a:t>
            </a:r>
            <a:endParaRPr lang="en-US" sz="2100" dirty="0"/>
          </a:p>
        </p:txBody>
      </p:sp>
      <p:sp>
        <p:nvSpPr>
          <p:cNvPr id="40" name="Shape 37"/>
          <p:cNvSpPr/>
          <p:nvPr/>
        </p:nvSpPr>
        <p:spPr>
          <a:xfrm>
            <a:off x="1057275" y="7124700"/>
            <a:ext cx="161734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362075" y="7210425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那一刻的我</a:t>
            </a:r>
            <a:endParaRPr lang="en-US" sz="2100" dirty="0"/>
          </a:p>
        </p:txBody>
      </p:sp>
      <p:sp>
        <p:nvSpPr>
          <p:cNvPr id="42" name="Shape 39"/>
          <p:cNvSpPr/>
          <p:nvPr/>
        </p:nvSpPr>
        <p:spPr>
          <a:xfrm>
            <a:off x="7153275" y="7124700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7467600" y="7210425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脚陷泥里 · 腰直不起来 · 插得歪</a:t>
            </a:r>
            <a:endParaRPr lang="en-US" sz="2100" dirty="0"/>
          </a:p>
        </p:txBody>
      </p:sp>
      <p:sp>
        <p:nvSpPr>
          <p:cNvPr id="44" name="Shape 41"/>
          <p:cNvSpPr/>
          <p:nvPr/>
        </p:nvSpPr>
        <p:spPr>
          <a:xfrm>
            <a:off x="1057275" y="7648575"/>
            <a:ext cx="16173450" cy="5238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1362075" y="7734300"/>
            <a:ext cx="56692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体会（一句）</a:t>
            </a:r>
            <a:endParaRPr lang="en-US" sz="2100" dirty="0"/>
          </a:p>
        </p:txBody>
      </p:sp>
      <p:sp>
        <p:nvSpPr>
          <p:cNvPr id="46" name="Shape 43"/>
          <p:cNvSpPr/>
          <p:nvPr/>
        </p:nvSpPr>
        <p:spPr>
          <a:xfrm>
            <a:off x="7153275" y="7648575"/>
            <a:ext cx="9525" cy="5238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7467600" y="7734300"/>
            <a:ext cx="9760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一碗饭里有多少次弯腰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“定格哪一步”只选一步，是你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印象最深、最有话说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的那一步。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场面定格表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轮到你了：把稿纸上的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四问答案填进九格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05150"/>
            <a:ext cx="5837396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“定格哪一步”从过程顺序里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只选一步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3910013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3986213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3967163"/>
            <a:ext cx="933002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“点”两格填一两个人，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两个人要各不一样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；第二个人一时想不出，可以先空着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2720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3482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329238"/>
            <a:ext cx="78976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“那一刻的我”单独占一格，这样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“我”也在场面里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0" y="3143250"/>
            <a:ext cx="4762500" cy="3810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257157"/>
            <a:ext cx="16192500" cy="1410593"/>
          </a:xfrm>
          <a:prstGeom prst="roundRect">
            <a:avLst>
              <a:gd name="adj" fmla="val 1080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504807"/>
            <a:ext cx="15893415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四问答案这样填：声音填到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听到的整体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，四周最多的填到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看到的整体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，自己的动作和喊的话填到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那一刻的我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，盯着的那个人填到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· 第一个人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8793659"/>
            <a:ext cx="10791825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填好以后和同桌互相说一遍：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先说面，再说点 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；听的人只回答一句，你最先看见的是谁。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13213407" y="8953500"/>
            <a:ext cx="4026843" cy="800100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3556307" y="9124950"/>
            <a:ext cx="367514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填表时间约 4 分钟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9303246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93953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老师照着那张表写成的一篇：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《田里的一上午》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28600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1562100" y="2552700"/>
            <a:ext cx="1561871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月里的一个大晴天，我们坐着大巴颠了一个多小时，到郊区的一片稻田上劳动实践课。下车以后，我们先站在田埂上听一位晒得黑红的农民伯伯讲怎么插秧：秧苗三根一撮捏在手里，插进泥里一指深，人要退着往后走，一行才插得直。听上去一点也不难，我心里还挺得意，以为半个小时就能插完一整块。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1562100" y="3700463"/>
            <a:ext cx="15618714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真下了田才知道不是这么回事。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整块水田里，几十个人一齐弯着腰，一个后背挨着一个后背，从这头排到那头。大家的校服裤腿都卷到了膝盖上面，露出来的小腿上溅满了泥点。水面被太阳照得亮闪闪的，晃得人睁不开眼。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我们每从烂泥里拔一次脚，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泥和水被挤在一起咕叽地响一声，满田都是这个声音。田埂上的老师一声接一声地喊“往后退，别踩着秧苗”。田中间不知道谁大叫了一句“我的鞋没了”，一阵笑声顺着水面荡过来。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1562100" y="5205413"/>
            <a:ext cx="15618714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农民伯伯就在紧挨着我的那一行里插秧。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他左手攥着一大把秧苗，右手的拇指和食指轻轻一捏，分出三根来，往泥里一按，手一收，人已经退了半步。他从来不低头看手，眼睛一直盯着前面那一行，一按一退，一按一退，身后的秧苗排得整整齐齐，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像用尺子比着画出来的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小宇在我另一边，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他插下去的秧苗过一会儿就浮起来一撮，他赶紧捞起来重新按进泥里，溅起的泥点甩到了眉毛上。他顾不上擦，一回头看见我正退着脚往他那一行挪，急忙伸手拦住我：“你别踩过来，我这一行马上就插直了。”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562100" y="6710363"/>
            <a:ext cx="15618714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我自己，两只脚深深地陷在软烂的泥里，每退一步都要先使劲把脚拔出来，凉凉的泥水顺着小腿往下淌。我学着农民伯伯的样子，捏起三根秧苗往泥里一按，手一松，那一撮秧苗就歪歪斜斜地倒到了一边。弯着腰插了半个小时，我的腰又酸又胀，想直起来得先用手在背后撑一把。回头一看，我插的那一行歪歪扭扭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活像一条爬过去的蛇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1562100" y="7858125"/>
            <a:ext cx="15618714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76250" marL="0">
              <a:lnSpc>
                <a:spcPct val="113636"/>
              </a:lnSpc>
              <a:buNone/>
            </a:pPr>
            <a:r>
              <a:rPr lang="en-US" sz="18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回去的车上，大家裤腿上沾的泥风干了，变成灰白色，用手一搓就簌簌地往下掉。我一直望着窗外， </a:t>
            </a:r>
            <a:pPr algn="just" indent="476250" marL="0">
              <a:lnSpc>
                <a:spcPct val="113636"/>
              </a:lnSpc>
              <a:buNone/>
            </a:pPr>
            <a:r>
              <a:rPr lang="en-US" sz="18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这一刻我才明白，餐桌上的每一粒米，都是水田里一次次弯腰才换来的。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047750" y="9429750"/>
            <a:ext cx="39428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面 · 整个场面看到的、听到的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5013127" y="9429750"/>
            <a:ext cx="42257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点 · 一两个人的动作、神态、话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9235678" y="942975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打比方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10620226" y="9429750"/>
            <a:ext cx="822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体会</a:t>
            </a:r>
            <a:endParaRPr lang="en-US" sz="20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表上只有几个词，文里变成了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一句一句的话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1816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962275"/>
            <a:ext cx="5162550" cy="762000"/>
          </a:xfrm>
          <a:prstGeom prst="rect">
            <a:avLst/>
          </a:prstGeom>
          <a:solidFill>
            <a:srgbClr val="2F72B8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1527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看到的整体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343025" y="3990975"/>
            <a:ext cx="4728782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表上：几十个人弯腰 · 裤腿卷到膝盖 · 水面晃眼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1343025" y="5065216"/>
            <a:ext cx="4728782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文里：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写成三句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，还多写出一个后背挨着一个后背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6553200" y="2952750"/>
            <a:ext cx="51816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562725" y="2962275"/>
            <a:ext cx="5162550" cy="762000"/>
          </a:xfrm>
          <a:prstGeom prst="rect">
            <a:avLst/>
          </a:prstGeom>
          <a:solidFill>
            <a:srgbClr val="2F72B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29425" y="31527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听到的整体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48475" y="3990975"/>
            <a:ext cx="4728782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表上：拔脚咕叽声 · 老师喊“往后退” · 有人喊“我的鞋没了”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6848475" y="5065216"/>
            <a:ext cx="5050155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文里：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写成三句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，一个声音一句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2058650" y="2952750"/>
            <a:ext cx="51816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068175" y="2962275"/>
            <a:ext cx="5162550" cy="762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2334875" y="315277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· 第一个人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2353925" y="3990975"/>
            <a:ext cx="5050155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表上：三根一捏 · 一按一退 · 不看手</a:t>
            </a:r>
            <a:endParaRPr lang="en-US" sz="2175" dirty="0"/>
          </a:p>
        </p:txBody>
      </p:sp>
      <p:sp>
        <p:nvSpPr>
          <p:cNvPr id="21" name="Text 18"/>
          <p:cNvSpPr/>
          <p:nvPr/>
        </p:nvSpPr>
        <p:spPr>
          <a:xfrm>
            <a:off x="12353925" y="4623346"/>
            <a:ext cx="4728782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文里：动作拆成 </a:t>
            </a:r>
            <a:pPr algn="l" indent="0" marL="0">
              <a:lnSpc>
                <a:spcPct val="118974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一捏、一按、一收、退半步 </a:t>
            </a:r>
            <a:pPr algn="l" indent="0" marL="0">
              <a:lnSpc>
                <a:spcPct val="118974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，一个动作一个小句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1047750" y="7311628"/>
            <a:ext cx="16192500" cy="1546622"/>
          </a:xfrm>
          <a:prstGeom prst="roundRect">
            <a:avLst>
              <a:gd name="adj" fmla="val 1108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66850" y="7597378"/>
            <a:ext cx="15814929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再看整篇：坐车一句，听讲两句，洗脚上车没有写；定格的那一步写了两大段，加上写“我”的一小段； 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体会只有两句 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从表到文：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把每个词拆开，写成一句一句的话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35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26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这一句用了什么写法：从示范文里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找句子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6134100"/>
          </a:xfrm>
          <a:prstGeom prst="roundRect">
            <a:avLst>
              <a:gd name="adj" fmla="val 217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71525"/>
          </a:xfrm>
          <a:prstGeom prst="rect">
            <a:avLst/>
          </a:prstGeom>
          <a:solidFill>
            <a:srgbClr val="3D4A63"/>
          </a:solidFill>
          <a:ln/>
        </p:spPr>
      </p:sp>
      <p:sp>
        <p:nvSpPr>
          <p:cNvPr id="9" name="Text 6"/>
          <p:cNvSpPr/>
          <p:nvPr/>
        </p:nvSpPr>
        <p:spPr>
          <a:xfrm>
            <a:off x="1362075" y="3057525"/>
            <a:ext cx="1062418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1325225" y="2867025"/>
            <a:ext cx="9525" cy="771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639550" y="3057525"/>
            <a:ext cx="581501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这一句用了什么写法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1057275" y="3638550"/>
            <a:ext cx="16173450" cy="633413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762375"/>
            <a:ext cx="996638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整块水田里，几十个人一齐弯着腰，一个后背挨着一个后背，从这头排到那头。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1325225" y="3638550"/>
            <a:ext cx="9525" cy="633413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639550" y="3762375"/>
            <a:ext cx="54635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整个场面看到的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1057275" y="4271963"/>
            <a:ext cx="16173450" cy="1019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395788"/>
            <a:ext cx="99663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泥和水被挤在一起咕叽地响一声，满田都是这个声音。田埂上的老师一声接一声地喊“往后退”。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11325225" y="4271963"/>
            <a:ext cx="9525" cy="1019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639550" y="4395788"/>
            <a:ext cx="54635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整个场面听到的</a:t>
            </a:r>
            <a:endParaRPr lang="en-US" sz="2025" dirty="0"/>
          </a:p>
        </p:txBody>
      </p:sp>
      <p:sp>
        <p:nvSpPr>
          <p:cNvPr id="20" name="Shape 17"/>
          <p:cNvSpPr/>
          <p:nvPr/>
        </p:nvSpPr>
        <p:spPr>
          <a:xfrm>
            <a:off x="1057275" y="5291138"/>
            <a:ext cx="16173450" cy="1019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414963"/>
            <a:ext cx="99663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他从来不低头看手，眼睛一直盯着前面那一行，一按一退，一按一退，身后的秧苗排得整整齐齐，像用尺子比着画出来的。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11325225" y="5291138"/>
            <a:ext cx="9525" cy="1019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639550" y="5414963"/>
            <a:ext cx="54635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· 第一个人的动作，拆成几步一句一句写；末句一个 </a:t>
            </a:r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</a:t>
            </a:r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，把熟练写成看得见的样子</a:t>
            </a:r>
            <a:endParaRPr lang="en-US" sz="2025" dirty="0"/>
          </a:p>
        </p:txBody>
      </p:sp>
      <p:sp>
        <p:nvSpPr>
          <p:cNvPr id="24" name="Shape 21"/>
          <p:cNvSpPr/>
          <p:nvPr/>
        </p:nvSpPr>
        <p:spPr>
          <a:xfrm>
            <a:off x="1057275" y="6310313"/>
            <a:ext cx="16173450" cy="1019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434138"/>
            <a:ext cx="99663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他顾不上擦，急忙伸手拦住我：“你别踩过来，我这一行马上就插直了。”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11325225" y="6310313"/>
            <a:ext cx="9525" cy="1019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639550" y="6434138"/>
            <a:ext cx="54635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· 第二个人，用神态、动作和一句话来写，和第一个人不一样</a:t>
            </a:r>
            <a:endParaRPr lang="en-US" sz="2025" dirty="0"/>
          </a:p>
        </p:txBody>
      </p:sp>
      <p:sp>
        <p:nvSpPr>
          <p:cNvPr id="28" name="Shape 25"/>
          <p:cNvSpPr/>
          <p:nvPr/>
        </p:nvSpPr>
        <p:spPr>
          <a:xfrm>
            <a:off x="1057275" y="7329488"/>
            <a:ext cx="16173450" cy="633413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7453312"/>
            <a:ext cx="996638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下车以后，我们先站在田埂上听一位晒得黑红的农民伯伯讲怎么插秧。</a:t>
            </a:r>
            <a:endParaRPr lang="en-US" sz="2025" dirty="0"/>
          </a:p>
        </p:txBody>
      </p:sp>
      <p:sp>
        <p:nvSpPr>
          <p:cNvPr id="30" name="Shape 27"/>
          <p:cNvSpPr/>
          <p:nvPr/>
        </p:nvSpPr>
        <p:spPr>
          <a:xfrm>
            <a:off x="11325225" y="7329488"/>
            <a:ext cx="9525" cy="633413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1639550" y="7453312"/>
            <a:ext cx="54635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过程里的一步，一句带过</a:t>
            </a:r>
            <a:endParaRPr lang="en-US" sz="2025" dirty="0"/>
          </a:p>
        </p:txBody>
      </p:sp>
      <p:sp>
        <p:nvSpPr>
          <p:cNvPr id="32" name="Shape 29"/>
          <p:cNvSpPr/>
          <p:nvPr/>
        </p:nvSpPr>
        <p:spPr>
          <a:xfrm>
            <a:off x="1057275" y="7962900"/>
            <a:ext cx="16173450" cy="1019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8086725"/>
            <a:ext cx="99663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大家裤腿上沾的泥风干了，变成灰白色……餐桌上的每一粒米，都是水田里一次次弯腰才换来的。</a:t>
            </a:r>
            <a:endParaRPr lang="en-US" sz="2025" dirty="0"/>
          </a:p>
        </p:txBody>
      </p:sp>
      <p:sp>
        <p:nvSpPr>
          <p:cNvPr id="34" name="Shape 31"/>
          <p:cNvSpPr/>
          <p:nvPr/>
        </p:nvSpPr>
        <p:spPr>
          <a:xfrm>
            <a:off x="11325225" y="7962900"/>
            <a:ext cx="9525" cy="1019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1639550" y="8086725"/>
            <a:ext cx="54635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体会跟着刚写的这件事，先停在一处具体的事物上，再说一两句</a:t>
            </a:r>
            <a:endParaRPr lang="en-US" sz="2025" dirty="0"/>
          </a:p>
        </p:txBody>
      </p:sp>
      <p:sp>
        <p:nvSpPr>
          <p:cNvPr id="36" name="Text 33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找到的句子和表里不一样也可以，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只要用的是这一格的写法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两个结尾，哪一个更像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这个插秧的人说的话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示范文的结尾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6099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0175" y="3914775"/>
            <a:ext cx="739730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71500" marL="0">
              <a:lnSpc>
                <a:spcPct val="127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回去的车上，大家裤腿上沾的泥风干了，变成灰白色，用手一搓就簌簌地往下掉。我一直望着窗外，这一刻我才明白， </a:t>
            </a:r>
            <a:pPr algn="l" indent="571500" marL="0">
              <a:lnSpc>
                <a:spcPct val="127500"/>
              </a:lnSpc>
              <a:buNone/>
            </a:pPr>
            <a:r>
              <a:rPr lang="en-US" sz="22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餐桌上的每一粒米，都是水田里一次次弯腰才换来的 </a:t>
            </a:r>
            <a:pPr algn="l" indent="571500" marL="0">
              <a:lnSpc>
                <a:spcPct val="127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另一种结尾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6099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05975" y="3914775"/>
            <a:ext cx="739730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71500" marL="0">
              <a:lnSpc>
                <a:spcPct val="127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这次插秧让我懂得了劳动的艰辛。我们每一个人都要珍惜粮食，从小事做起，做热爱劳动的好少年！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47750" y="8164711"/>
            <a:ext cx="1781175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右边说的意思没有错，可是</a:t>
            </a:r>
            <a:pPr algn="l" indent="0" marL="0">
              <a:lnSpc>
                <a:spcPct val="10963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换到扫地、换到植树的结尾里也一样能用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，看不出说话的人那天在哪里、干了什么。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047750" y="8745141"/>
            <a:ext cx="1781175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左边把同一个意思</a:t>
            </a:r>
            <a:pPr algn="l" indent="0" marL="0">
              <a:lnSpc>
                <a:spcPct val="10963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落在一处具体的事物上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：先停在那层风干的泥，再说到餐桌上的每一粒米。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9325570"/>
            <a:ext cx="1781175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体会跟着刚写的那件事走，</a:t>
            </a:r>
            <a:pPr algn="l" indent="0" marL="0">
              <a:lnSpc>
                <a:spcPct val="10963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一两句就够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；喊口号的句子，去掉。</a:t>
            </a:r>
            <a:endParaRPr lang="en-US" sz="23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定起笔的一句 · 自由写作 · 传稿互读 · 修改收束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写作准备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71887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定格那一段，从哪一句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起笔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1816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19225" y="3305175"/>
            <a:ext cx="48825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19225" y="4238625"/>
            <a:ext cx="457181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看到的整体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起笔：先写你站在那里往四周看到的景象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6553200" y="2952750"/>
            <a:ext cx="51816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24675" y="3305175"/>
            <a:ext cx="48825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924675" y="4238625"/>
            <a:ext cx="457181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 · 听到的整体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里最大的那个声音起笔：先写这一声响，再写周围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2058650" y="2952750"/>
            <a:ext cx="51816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30125" y="3305175"/>
            <a:ext cx="48825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30125" y="4238625"/>
            <a:ext cx="457181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那一刻的我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起笔：先写自己在做什么动作，再抬头写周围的人</a:t>
            </a:r>
            <a:endParaRPr lang="en-US" sz="2550" dirty="0"/>
          </a:p>
        </p:txBody>
      </p:sp>
      <p:sp>
        <p:nvSpPr>
          <p:cNvPr id="16" name="Shape 13"/>
          <p:cNvSpPr/>
          <p:nvPr/>
        </p:nvSpPr>
        <p:spPr>
          <a:xfrm>
            <a:off x="1047750" y="7380089"/>
            <a:ext cx="16192500" cy="1478161"/>
          </a:xfrm>
          <a:prstGeom prst="roundRect">
            <a:avLst>
              <a:gd name="adj" fmla="val 1031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28750" y="7646789"/>
            <a:ext cx="1589341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在表上要起笔的那一格旁边写一个“1”，再把这一句先写在表的下面。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这一句不是整篇的第一句 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，它落在整篇的中间。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三种都可以，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哪一种最有话说就选哪一种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正式动笔，记住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05150"/>
            <a:ext cx="8348948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定格的那一段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先面后点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，点落在一两个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不同的人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身上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047750" y="3976687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0528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033837"/>
            <a:ext cx="1016393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过程各步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一两句带过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，写到定格那一步，把想好的那一句抄上去</a:t>
            </a:r>
            <a:endParaRPr lang="en-US" sz="2775" dirty="0"/>
          </a:p>
        </p:txBody>
      </p:sp>
      <p:sp>
        <p:nvSpPr>
          <p:cNvPr id="13" name="Shape 10"/>
          <p:cNvSpPr/>
          <p:nvPr/>
        </p:nvSpPr>
        <p:spPr>
          <a:xfrm>
            <a:off x="1047750" y="49053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498157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4962525"/>
            <a:ext cx="471897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跟着这件事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写一两句体会</a:t>
            </a:r>
            <a:endParaRPr lang="en-US" sz="2775" dirty="0"/>
          </a:p>
        </p:txBody>
      </p:sp>
      <p:sp>
        <p:nvSpPr>
          <p:cNvPr id="16" name="Shape 13"/>
          <p:cNvSpPr/>
          <p:nvPr/>
        </p:nvSpPr>
        <p:spPr>
          <a:xfrm>
            <a:off x="1047750" y="7311628"/>
            <a:ext cx="16192500" cy="1546622"/>
          </a:xfrm>
          <a:prstGeom prst="roundRect">
            <a:avLst>
              <a:gd name="adj" fmla="val 1108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66850" y="7597378"/>
            <a:ext cx="15814929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整篇从头写起：先交代活动是什么、怎么开始的，前几步是怎么进行的；这个学期的习作在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五百字上下 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，写到六百字也可以。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047750" y="8793659"/>
            <a:ext cx="10301288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写不完的，先把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定格那一段和结尾的体会 </a:t>
            </a:r>
            <a:pPr algn="l" indent="0" marL="0">
              <a:lnSpc>
                <a:spcPct val="110476"/>
              </a:lnSpc>
              <a:buNone/>
            </a:pPr>
            <a:r>
              <a:rPr lang="en-US" sz="240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写完；过程里来不及写全的先空着。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3001923" y="8953500"/>
            <a:ext cx="4238327" cy="800100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3344823" y="9124950"/>
            <a:ext cx="39077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25 分钟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把稿子传给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没在场的人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读，读完写两行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9715500" cy="1634430"/>
          </a:xfrm>
          <a:prstGeom prst="roundRect">
            <a:avLst>
              <a:gd name="adj" fmla="val 1049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19225" y="3362325"/>
            <a:ext cx="924172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第一行 我看见的场面： 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用一句话写出你读到的整个场面是什么样子</a:t>
            </a:r>
            <a:endParaRPr lang="en-US" sz="2475" dirty="0"/>
          </a:p>
        </p:txBody>
      </p:sp>
      <p:sp>
        <p:nvSpPr>
          <p:cNvPr id="9" name="Shape 6"/>
          <p:cNvSpPr/>
          <p:nvPr/>
        </p:nvSpPr>
        <p:spPr>
          <a:xfrm>
            <a:off x="1047750" y="4949130"/>
            <a:ext cx="9715500" cy="1131540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19225" y="5263455"/>
            <a:ext cx="9869805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第二行 我记住的人：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写出作者写了谁、他在做什么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047750" y="6347371"/>
            <a:ext cx="9715500" cy="991046"/>
          </a:xfrm>
          <a:prstGeom prst="roundRect">
            <a:avLst>
              <a:gd name="adj" fmla="val 153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6614071"/>
            <a:ext cx="989076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写得出就写，写不出就在那一行写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“没看见”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，实话实说。</a:t>
            </a:r>
            <a:endParaRPr lang="en-US" sz="232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4191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799189"/>
            <a:ext cx="16192500" cy="1059061"/>
          </a:xfrm>
          <a:prstGeom prst="roundRect">
            <a:avLst>
              <a:gd name="adj" fmla="val 1618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66850" y="8084939"/>
            <a:ext cx="16889730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传稿之前先自己读一遍：语句通不通顺，前后连不连贯，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读到不通的地方做个记号，先不改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第一行只写“很热闹”的，请把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那个场面里最多的是什么、那些人在做什么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写出来。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对照这两行，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只改一处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92202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读一读别人写在你稿子末尾的两行，对照三种情况</a:t>
            </a:r>
            <a:endParaRPr lang="en-US" sz="2325" dirty="0"/>
          </a:p>
        </p:txBody>
      </p:sp>
      <p:sp>
        <p:nvSpPr>
          <p:cNvPr id="8" name="Shape 5"/>
          <p:cNvSpPr/>
          <p:nvPr/>
        </p:nvSpPr>
        <p:spPr>
          <a:xfrm>
            <a:off x="1047750" y="3457575"/>
            <a:ext cx="8382000" cy="1285875"/>
          </a:xfrm>
          <a:prstGeom prst="roundRect">
            <a:avLst>
              <a:gd name="adj" fmla="val 1037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686175"/>
            <a:ext cx="804481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第一行写着“没看见”或只写了“很热闹”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面没有写出来：在定格那一段开头 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补两句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整个场面看到的和听到的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047750" y="4933950"/>
            <a:ext cx="8382000" cy="1285875"/>
          </a:xfrm>
          <a:prstGeom prst="roundRect">
            <a:avLst>
              <a:gd name="adj" fmla="val 1037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33500" y="5162550"/>
            <a:ext cx="804481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第二行写着“没看见”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点没有落下来：选一个人，补上他的 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动作和他的一句话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1047750" y="6410325"/>
            <a:ext cx="8382000" cy="1285875"/>
          </a:xfrm>
          <a:prstGeom prst="roundRect">
            <a:avLst>
              <a:gd name="adj" fmla="val 1037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33500" y="6638925"/>
            <a:ext cx="804481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两行都写出来了，但写到的人不在定格的那一刻里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点没有放在面里：把这个人 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挪到那一段里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去写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1047750" y="7886700"/>
            <a:ext cx="8382000" cy="1323975"/>
          </a:xfrm>
          <a:prstGeom prst="roundRect">
            <a:avLst>
              <a:gd name="adj" fmla="val 1007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52550" y="8134350"/>
            <a:ext cx="800557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三种情况都没有的，再看结尾：体会有没有跟着这件事，还是写成了 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换个活动也能用的口号句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9715500" y="2857500"/>
            <a:ext cx="82772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三档标准（教师掌握）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9715500" y="3457575"/>
            <a:ext cx="7524750" cy="805755"/>
          </a:xfrm>
          <a:prstGeom prst="roundRect">
            <a:avLst>
              <a:gd name="adj" fmla="val 11821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715500" y="3457575"/>
            <a:ext cx="76200" cy="805755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058400" y="3667125"/>
            <a:ext cx="760666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活动过程写清楚了，有简单的场面描写，语句通顺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715500" y="4434780"/>
            <a:ext cx="7524750" cy="1192411"/>
          </a:xfrm>
          <a:prstGeom prst="roundRect">
            <a:avLst>
              <a:gd name="adj" fmla="val 7988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715500" y="4434780"/>
            <a:ext cx="76200" cy="1192411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0058400" y="4644330"/>
            <a:ext cx="712260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过程清楚，定格那一段先面后点，点落在了一两个人身上，重点部分比较具体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9715500" y="5798641"/>
            <a:ext cx="7524750" cy="1579066"/>
          </a:xfrm>
          <a:prstGeom prst="roundRect">
            <a:avLst>
              <a:gd name="adj" fmla="val 603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715500" y="5798641"/>
            <a:ext cx="76200" cy="157906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058400" y="6008191"/>
            <a:ext cx="712260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面有整体的看和听，点各是各的样子，点在面里；过程详略分明；体会由刚写的这件事说起，落在一处具体的事物上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715500" y="7625358"/>
            <a:ext cx="7524750" cy="1285875"/>
          </a:xfrm>
          <a:prstGeom prst="roundRect">
            <a:avLst>
              <a:gd name="adj" fmla="val 11852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0001250" y="7853958"/>
            <a:ext cx="716184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改完通读一遍，把不通的地方改顺，再用</a:t>
            </a:r>
            <a:pPr algn="l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修改符号 </a:t>
            </a:r>
            <a:pPr algn="l" indent="0" marL="0">
              <a:lnSpc>
                <a:spcPct val="111538"/>
              </a:lnSpc>
              <a:buNone/>
            </a:pPr>
            <a:r>
              <a:rPr lang="en-US" sz="217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划掉多的字、补上漏的字、改正错字。</a:t>
            </a:r>
            <a:endParaRPr lang="en-US" sz="2175" dirty="0"/>
          </a:p>
        </p:txBody>
      </p:sp>
      <p:sp>
        <p:nvSpPr>
          <p:cNvPr id="28" name="Text 25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读的人写下了他看见的场面和记住的人，说明那个场面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已经从你的脑海里到了纸上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50403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5162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667827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从当堂完成的稿子里选三篇投屏（不写姓名），每篇约三到五分钟，只看一件事：定格那一段先面后点做到了没有，点是不是各是各的样子；＿＿＿处换成本班学生的真实句子。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42900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438525"/>
            <a:ext cx="5162550" cy="762000"/>
          </a:xfrm>
          <a:prstGeom prst="rect">
            <a:avLst/>
          </a:prstGeom>
          <a:solidFill>
            <a:srgbClr val="4E9A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较好的一篇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486275"/>
            <a:ext cx="4745926" cy="297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先面后点，两个点各是各的样子。 读面的一两句，再读两个人的句子：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读的人先看见全场，再记住两个人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6553200" y="342900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562725" y="3438525"/>
            <a:ext cx="5162550" cy="762000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2942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48475" y="4486275"/>
            <a:ext cx="4745926" cy="297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面写清楚了，点只有一个人。 全班一起想：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那一刻的场面里还有谁，也可以写一写？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2058650" y="342900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2068175" y="3438525"/>
            <a:ext cx="5162550" cy="762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33487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有典型问题的一篇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2353925" y="4486275"/>
            <a:ext cx="4745926" cy="297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每一步都写了三四句，没有定格出一段。 请作者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选出一步写成先面后点的一整段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，其余各步减到一两句。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以后写任何一次活动，先问自己两句：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整个场面我写了吗，场面里的人我写了几个、各是什么样子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3620750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28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写一次活动：先写面，再落到点，点各是各的样子。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2026-09-16T03:11:14Z</dcterms:created>
  <dcterms:modified xsi:type="dcterms:W3CDTF">2026-09-16T03:11:14Z</dcterms:modified>
</cp:coreProperties>
</file>