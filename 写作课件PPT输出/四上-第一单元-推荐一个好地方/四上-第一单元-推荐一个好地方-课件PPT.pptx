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32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84" r:id="rId19"/>
    <p:sldId id="271" r:id="rId20"/>
    <p:sldId id="272" r:id="rId21"/>
    <p:sldId id="273" r:id="rId22"/>
    <p:sldId id="274" r:id="rId23"/>
    <p:sldId id="275" r:id="rId24"/>
    <p:sldId id="276" r:id="rId25"/>
    <p:sldId id="283" r:id="rId26"/>
    <p:sldId id="277" r:id="rId27"/>
    <p:sldId id="278" r:id="rId28"/>
    <p:sldId id="279" r:id="rId29"/>
    <p:sldId id="280" r:id="rId30"/>
    <p:sldId id="282" r:id="rId31"/>
  </p:sldIdLst>
  <p:sldSz cx="18288000" cy="10287000"/>
  <p:notesSz cx="10287000" cy="18288000"/>
  <p:embeddedFontLst>
    <p:embeddedFont>
      <p:font typeface="微软雅黑" panose="020B0503020204020204" pitchFamily="34" charset="-122"/>
      <p:regular r:id="rId36"/>
    </p:embeddedFont>
    <p:embeddedFont>
      <p:font typeface="微软雅黑" panose="020B0503020204020204" pitchFamily="34" charset="-120"/>
      <p:regular r:id="rId37"/>
    </p:embeddedFont>
    <p:embeddedFont>
      <p:font typeface="楷体" panose="02010609060101010101" charset="-122"/>
      <p:regular r:id="rId38"/>
    </p:embeddedFont>
    <p:embeddedFont>
      <p:font typeface="Calibri" panose="020F0502020204030204" charset="0"/>
      <p:regular r:id="rId39"/>
      <p:bold r:id="rId40"/>
      <p:italic r:id="rId41"/>
      <p:boldItalic r:id="rId42"/>
    </p:embeddedFont>
    <p:embeddedFont>
      <p:font typeface="等线" panose="02010600030101010101" charset="-122"/>
      <p:regular r:id="rId43"/>
    </p:embeddedFont>
    <p:embeddedFont>
      <p:font typeface="Calibri Light" panose="020F0302020204030204" charset="0"/>
      <p:regular r:id="rId44"/>
      <p:italic r:id="rId45"/>
    </p:embeddedFont>
  </p:embeddedFontLst>
  <p:custDataLst>
    <p:tags r:id="rId4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6" Type="http://schemas.openxmlformats.org/officeDocument/2006/relationships/tags" Target="tags/tag139.xml"/><Relationship Id="rId45" Type="http://schemas.openxmlformats.org/officeDocument/2006/relationships/font" Target="fonts/font10.fntdata"/><Relationship Id="rId44" Type="http://schemas.openxmlformats.org/officeDocument/2006/relationships/font" Target="fonts/font9.fntdata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slide" Target="slides/slide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8740379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7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8740379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7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上第一单元推荐类习作，2课时连排。任务：每人推荐一个自己真正去过的好地方，写成推荐稿，课上开'好地方推荐会'。提示：开场那件事、示范的小村子都是拟写的，老师若有自己真去过的地方，请整体换成自己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第1课时·写作指导课。线索：两回介绍对比导入推荐会任务，唤起记忆找地方，学'一条理由写一段、先亮理由再写具体'，填推荐卡理思路，读教师示范文与旁批。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开场故事：朋友带孩子来玩，问能上哪儿。第一回只说'那儿挺好的'，他点点头没打算去；第二回补了柿子、米糕、小溪、老树看星星，他就准备出发了。提问：这两回差在哪儿？（第二回说得多／说了具体的东西）关键：地方没差别，差别全在我们怎么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贯穿任务：每人推荐一个自己真正去过的好地方，写成推荐稿；写完在教室里开'好地方推荐会'——先念给同桌听，再请几位上台念给全班，最后全班投票选出最想去的地方。成功标准：有人说'我也好想去'就是介绍成功；大家毫无兴致，多半只笼统说了'很不错'，没讲清亮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问题逐个问，想起来就举手、一句话说完：①哪一处的味道你到现在还记得？（桂花芋圆、老街烤肠、海边烤鱿鱼）②哪一处的声音你现在还想得起来？（海浪、庙会敲锣、鸟叫）③哪一处你回来以后还跟人说起过？其余同学带着任务听。总结：这三样都说明那个地方你真去过、真记住了——只有自己印象深刻的地方，才能把别人说得心生向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范围打开：好地方不一定要多远——身边的（学校后小路、小区花园、常去的书店）、家乡的（公园、山、老街）、旅游去过的（古镇、乐园、博物馆），挑一个自己真心觉得好的。挑好先别说地名，跟同桌说三样：看到过什么、听到过什么、吃到或摸到过什么，让同桌猜是个什么样的地方。应答：学生只报地名说不出三样，不追问'好在哪'，改问'第一眼看见什么''那天吃了什么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地方有了，等会儿要写的是理由——那地方到底好在哪儿。理由从四个方面找：景好看、有好吃的、有好玩的项目、有一段来历一个故事。对着自己选的地方想一想能找出几条，心里先记着，待会儿要用。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分清：今天写的到底是什么样子的文章。读两段：A按时间罗列一天行程（几点出发、中午吃饭、下午摘柿子），写得清楚，但没说好在哪，别人没法判断想不想去；B一上来点明'住下就不想走'，紧接着介绍亮点。今天写的不是出游记事，而是推荐稿——讲清地点、说清好处，吸引没去过的人心生向往；顺时间记一整天就跑题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写法第一半：理由不用太多，也不能只有一条——聊天时一口气说了四样，落到写作里，挑最吸引人的两条就够。两条理由分开书写，一条独立成段，不要混在一起；段落划分清楚，读者一眼看清两个亮点；每段开头先把这条理由亮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更关键的一点：先听'村口有家现做米糕的，特别好吃，你去了一定要尝尝'——能勾起想去吗？不能，只给了结论，'好吃'谁都会说。再念老师当场扩写的米糕段（见屏，标色）。追问：多出来的是什么？白汽、米香、笃笃的敲打声、烫手、绵密的红豆沙——亲身在场才有的细节。把这些写进文字，读者就像跟着你去了现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明今天的写法：一条理由单独成段，段首先摆明观点，接着写看得见、闻得到、听得见、尝得着的画面；不要只空洞地写'很好''很不错'。链接课文：《观潮》写大潮来临，依次写听到的声响、看到的景象，一层层铺开，不靠直接夸赞。练习：回想跟同桌聊的场景，挑一条理由，说一句带细节的句子，先小声读一读。点评时关注：抓的是颜色？声音？还是吃到的味道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脑子里的素材零零散散，直接动笔容易又写成流水账——先用推荐卡理思路。每格只写词语、不写整句，自己能看懂就行。当众示范填小村子那张（见表）。最长的一格才四个词；下面两格最重要——写你在那里看见的、闻到的、吃到的事物。动笔时，单单'白汽'一个词就能拓展成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卡约3分钟，不必焦虑填满六格，先写出一组素材就很棒。应答：两条理由填的是同一个方面（都写吃的），提醒换个方面——'除了吃的，那儿的景怎么样？有什么好玩的？有没有来历？'填好后四人一组：每人限时半分钟，结合推荐卡介绍地点+两条理由；其余三人商议反馈哪一条更吸引人；一轮完毕各组选代表全班展示。教师点评：厘清两条理由的角度，点出最适合拓展写作的细节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老师把刚才那张卡整篇写出来。看的时候留心：卡上那几格词，是怎么变成一段一段的话的。完整读一遍，注意标色：看得见（红）、听得见（蓝）、闻得到（紫）、尝到摸到（绿）——与后面梳理表同色呼应。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默读范文找句子：哪一句让你眼前浮现画面、仿佛尝到闻到了味道？把挑出的句子梳理成表——每一句都在做一件事。提醒：范文写的是老师亲身去过的小村；你们心里的地方只有自己最了解，不用模仿范文的样子，写得像不像不重要。守住两个要求：两条理由各写一段；每段融入亲眼看见、亲身感受、亲口品尝的真实细节。有第三条特别想写的，先把前两条写扎实，再简单增补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点明三样写作素材都备齐了：确定好的推荐地点、梳理完整的推荐卡、打磨到位的口头推荐语句。有特别想写的第三条理由：先把前两条写扎实，再额外简单增补一段。稍作休息，下节课正式动笔完成推荐稿。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课间休息回来进入第2课时。先拿出上节课填好的推荐卡，跟着老师一句一句写下开头，再自由写作、交流评议、修改收束。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推荐卡。第一行最容易写：把第一格和第二格连成一句——老师卡上是'城外两小时·山坳小村'+'住下就不想走'，连起来就是'离城两个多小时，山坳里有个小村子，是个让人住下了就不想走的好地方'。空两格写第一行。第一句写完往下就顺了：看理由一'好在哪'，把那几个词说成一句话，另起一行空两格写下来——就是这一段的头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理由亮出来了，就用细节写扎实。找到卡上【理由一·让你印象深刻的东西】，挑一样最想写的，盯住它，跟着三个问题一句一句写：①它的颜色、模样；②走近它，留意模样大小、外表特征；③站在近处，听见什么、闻到什么？能触摸品尝的，写触感或滋味。停一停回头看：总说→段首亮观点→借事物铺展描写，文字才有画面感。写理由二时沿用这套写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往下写，写十七八分钟把整篇写完。三件事记心里（见屏）。写时不用回头改字，一口气写到底。巡视只做正向介入：接不下去的领回推荐卡看'理由二'；内容空泛的挑一样具体东西问'它什么样子''玩起来什么感觉'；顺畅的不打断，轻声一句'接着写'；草草收尾的先肯定再推一步'还听见什么、闻到什么，补一两句'。临近时间：把这一句写到句号，没写完的不用赶，后面自改时间可接着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往下写，写十七八分钟把整篇写完。三件事记心里（见屏）。写时不用回头改字，一口气写到底。巡视只做正向介入：接不下去的领回推荐卡看'理由二'；内容空泛的挑一样具体东西问'它什么样子''玩起来什么感觉'；顺畅的不打断，轻声一句'接着写'；草草收尾的先肯定再推一步'还听见什么、闻到什么，补一两句'。临近时间：把这一句写到句号，没写完的不用赶，后面自改时间可接着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好的文稿读给同桌听。规则：倾听的同学听完先给一句反馈——'我想去'或'我还不太想去'；接着补充：打动你的是哪一条理由；兴趣不大，就讲清哪一条没让你感到吸引。两人轮流朗读、互相倾听，交流才算完成。教师巡视，走进多组聆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会开场：请4位同学上前分享，不必读完整文章——读开头概括特点的总说句，再展示最有信心的一条理由，一分钟之内。台下认真听，心里想：听完这份推荐，你是否向往这个地方。每位分享完，随机请一两位听众说说被哪一处打动；教师点评聚焦文本细节：哪句写出声音、哪些由卡上关键词拓展的句子画面感最强，同时温和提一处可增补的建议。最后全班投票：最想去哪里就为它举手，每人一票，当场宣布票数最高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听完别人的，回自己稿子上改。对照三档标准看自己达到哪一档；再按三点逐一调整：①两条理由是否分段、段首有没有亮观点；②段里只有'很好''很不错'的，补一句感官细节；③检查文末有没有邀约的语句。同时整理错别字、圈删多余词句、补齐缺漏；不会写的字请教同桌或举手。尚未写完的优先完成正文，只改一处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扣开场：只一句'那儿挺好'很难打动别人；细细讲出柿子、米糕这些真切事物，就能吸引他人。今天练的正是把亲身所见、所闻、品尝到的感受落实在文字里。稿子带回家念给家里人听，问问他们想不想去。总结口诀：挑两条最有吸引力的理由，一条独立成段；段首摆明观点，接着填充真实细节；开头总体概括、结尾发出邀请。这套写法将来推荐书籍、影片同样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收束：推荐一个好地方——挑两条最打动人的理由，一条一段，段首亮观点，用看得见、闻得到、尝得着的细节，让人心生向往。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6.pn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image" Target="../media/image9.png"/><Relationship Id="rId22" Type="http://schemas.openxmlformats.org/officeDocument/2006/relationships/tags" Target="../tags/tag30.xml"/><Relationship Id="rId21" Type="http://schemas.openxmlformats.org/officeDocument/2006/relationships/image" Target="../media/image8.png"/><Relationship Id="rId20" Type="http://schemas.openxmlformats.org/officeDocument/2006/relationships/tags" Target="../tags/tag29.xml"/><Relationship Id="rId2" Type="http://schemas.openxmlformats.org/officeDocument/2006/relationships/image" Target="../media/image3.png"/><Relationship Id="rId19" Type="http://schemas.openxmlformats.org/officeDocument/2006/relationships/image" Target="../media/image7.png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0.png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2.png"/><Relationship Id="rId21" Type="http://schemas.openxmlformats.org/officeDocument/2006/relationships/tags" Target="../tags/tag58.xml"/><Relationship Id="rId20" Type="http://schemas.openxmlformats.org/officeDocument/2006/relationships/image" Target="../media/image7.png"/><Relationship Id="rId2" Type="http://schemas.openxmlformats.org/officeDocument/2006/relationships/image" Target="../media/image3.png"/><Relationship Id="rId19" Type="http://schemas.openxmlformats.org/officeDocument/2006/relationships/tags" Target="../tags/tag57.xml"/><Relationship Id="rId18" Type="http://schemas.openxmlformats.org/officeDocument/2006/relationships/image" Target="../media/image11.png"/><Relationship Id="rId17" Type="http://schemas.openxmlformats.org/officeDocument/2006/relationships/tags" Target="../tags/tag56.xml"/><Relationship Id="rId16" Type="http://schemas.openxmlformats.org/officeDocument/2006/relationships/image" Target="../media/image4.png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4.png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19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2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1.png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3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14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/>
          </p:txBody>
        </p:sp>
        <p:sp>
          <p:nvSpPr>
            <p:cNvPr id="15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pic>
          <p:nvPicPr>
            <p:cNvPr id="19" name="Picture 3" descr="logo-r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8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/>
          </p:txBody>
        </p:sp>
      </p:grpSp>
      <p:sp>
        <p:nvSpPr>
          <p:cNvPr id="7" name="Text 4"/>
          <p:cNvSpPr/>
          <p:nvPr/>
        </p:nvSpPr>
        <p:spPr>
          <a:xfrm>
            <a:off x="4671695" y="2433320"/>
            <a:ext cx="8634095" cy="1371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推荐一个好地方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4636770" y="3950970"/>
            <a:ext cx="95377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第一单元 · 校内同步写作（推荐类）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第一单元</a:t>
            </a:r>
            <a:endParaRPr lang="en-US" sz="2550" dirty="0"/>
          </a:p>
        </p:txBody>
      </p:sp>
      <p:pic>
        <p:nvPicPr>
          <p:cNvPr id="2" name="图片 1" descr="推荐一个好地方-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1475" y="3780155"/>
            <a:ext cx="6486525" cy="6506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93065" y="392430"/>
            <a:ext cx="17532350" cy="9458960"/>
            <a:chOff x="619" y="618"/>
            <a:chExt cx="27610" cy="14896"/>
          </a:xfrm>
        </p:grpSpPr>
        <p:sp>
          <p:nvSpPr>
            <p:cNvPr id="10" name="Shape 2"/>
            <p:cNvSpPr/>
            <p:nvPr/>
          </p:nvSpPr>
          <p:spPr>
            <a:xfrm>
              <a:off x="619" y="618"/>
              <a:ext cx="27611" cy="14896"/>
            </a:xfrm>
            <a:prstGeom prst="roundRect">
              <a:avLst>
                <a:gd name="adj" fmla="val 1754"/>
              </a:avLst>
            </a:prstGeom>
            <a:gradFill rotWithShape="1">
              <a:gsLst>
                <a:gs pos="0">
                  <a:srgbClr val="6FB8AD">
                    <a:alpha val="100000"/>
                  </a:srgbClr>
                </a:gs>
                <a:gs pos="60000">
                  <a:srgbClr val="4E93A0">
                    <a:alpha val="100000"/>
                  </a:srgbClr>
                </a:gs>
                <a:gs pos="100000">
                  <a:srgbClr val="3D6E82">
                    <a:alpha val="100000"/>
                  </a:srgbClr>
                </a:gs>
              </a:gsLst>
              <a:lin ang="1800000" scaled="0"/>
            </a:gradFill>
          </p:spPr>
          <p:txBody>
            <a:bodyPr/>
            <a:lstStyle/>
            <a:p/>
          </p:txBody>
        </p:sp>
        <p:sp>
          <p:nvSpPr>
            <p:cNvPr id="11" name="Text 3"/>
            <p:cNvSpPr/>
            <p:nvPr/>
          </p:nvSpPr>
          <p:spPr>
            <a:xfrm>
              <a:off x="3410" y="5210"/>
              <a:ext cx="3867" cy="3337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 fontScale="90000"/>
            </a:bodyPr>
            <a:lstStyle/>
            <a:p>
              <a:pPr marL="0" indent="0" algn="l">
                <a:lnSpc>
                  <a:spcPct val="87000"/>
                </a:lnSpc>
                <a:buNone/>
              </a:pPr>
              <a:r>
                <a:rPr lang="en-US" sz="14250" b="1" dirty="0">
                  <a:solidFill>
                    <a:srgbClr val="FFFFFF">
                      <a:alpha val="9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4250" dirty="0"/>
            </a:p>
          </p:txBody>
        </p:sp>
        <p:sp>
          <p:nvSpPr>
            <p:cNvPr id="12" name="Shape 6"/>
            <p:cNvSpPr/>
            <p:nvPr/>
          </p:nvSpPr>
          <p:spPr>
            <a:xfrm>
              <a:off x="3210" y="12480"/>
              <a:ext cx="2830" cy="12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</p:spPr>
          <p:txBody>
            <a:bodyPr/>
            <a:lstStyle/>
            <a:p/>
          </p:txBody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10" y="12660"/>
              <a:ext cx="2230" cy="840"/>
            </a:xfrm>
            <a:prstGeom prst="rect">
              <a:avLst/>
            </a:prstGeom>
          </p:spPr>
        </p:pic>
      </p:grpSp>
      <p:sp>
        <p:nvSpPr>
          <p:cNvPr id="6" name="Text 4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795487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唤起记忆 · 学写法 · 推荐卡 · 教师示范文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标注 25"/>
          <p:cNvSpPr/>
          <p:nvPr/>
        </p:nvSpPr>
        <p:spPr>
          <a:xfrm rot="10800000" flipH="1">
            <a:off x="9283700" y="7677785"/>
            <a:ext cx="8051800" cy="1308735"/>
          </a:xfrm>
          <a:prstGeom prst="wedgeRoundRectCallout">
            <a:avLst>
              <a:gd name="adj1" fmla="val -22421"/>
              <a:gd name="adj2" fmla="val 475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9481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7" name="Text 4"/>
          <p:cNvSpPr/>
          <p:nvPr/>
        </p:nvSpPr>
        <p:spPr>
          <a:xfrm>
            <a:off x="1466850" y="1588770"/>
            <a:ext cx="9890125" cy="811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同一个地方，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介绍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两回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：差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在哪儿？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693910" y="7846695"/>
            <a:ext cx="7231380" cy="968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同一个地方，同一个人说——地方没差别，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差别全在我们怎么介绍</a:t>
            </a:r>
            <a:r>
              <a:rPr 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106170" y="5252720"/>
            <a:ext cx="5963285" cy="5708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头一回一句</a:t>
            </a: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“挺好的”没人动；</a:t>
            </a:r>
            <a:endParaRPr lang="en-US" sz="24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同侧圆角矩形 27"/>
          <p:cNvSpPr/>
          <p:nvPr/>
        </p:nvSpPr>
        <p:spPr>
          <a:xfrm flipV="1">
            <a:off x="1047750" y="6682105"/>
            <a:ext cx="7865745" cy="2304415"/>
          </a:xfrm>
          <a:prstGeom prst="round2SameRect">
            <a:avLst>
              <a:gd name="adj1" fmla="val 7642"/>
              <a:gd name="adj2" fmla="val 0"/>
            </a:avLst>
          </a:prstGeom>
          <a:solidFill>
            <a:srgbClr val="FFEC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同侧圆角矩形 26"/>
          <p:cNvSpPr/>
          <p:nvPr/>
        </p:nvSpPr>
        <p:spPr>
          <a:xfrm flipV="1">
            <a:off x="1057275" y="3463290"/>
            <a:ext cx="7865745" cy="1668145"/>
          </a:xfrm>
          <a:prstGeom prst="round2SameRect">
            <a:avLst>
              <a:gd name="adj1" fmla="val 7642"/>
              <a:gd name="adj2" fmla="val 0"/>
            </a:avLst>
          </a:prstGeom>
          <a:solidFill>
            <a:srgbClr val="FFEC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Shape 6"/>
          <p:cNvSpPr/>
          <p:nvPr/>
        </p:nvSpPr>
        <p:spPr>
          <a:xfrm>
            <a:off x="1057275" y="2722880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wR="171450" h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chemeClr val="accent2"/>
          </a:solidFill>
        </p:spPr>
        <p:txBody>
          <a:bodyPr/>
          <a:lstStyle/>
          <a:p/>
        </p:txBody>
      </p:sp>
      <p:sp>
        <p:nvSpPr>
          <p:cNvPr id="8" name="Shape 11"/>
          <p:cNvSpPr/>
          <p:nvPr/>
        </p:nvSpPr>
        <p:spPr>
          <a:xfrm>
            <a:off x="1047750" y="594169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wR="171450" h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chemeClr val="accent2"/>
          </a:solidFill>
        </p:spPr>
        <p:txBody>
          <a:bodyPr/>
          <a:lstStyle/>
          <a:p/>
        </p:txBody>
      </p:sp>
      <p:sp>
        <p:nvSpPr>
          <p:cNvPr id="24" name="文本框 23"/>
          <p:cNvSpPr txBox="1"/>
          <p:nvPr/>
        </p:nvSpPr>
        <p:spPr>
          <a:xfrm>
            <a:off x="3884930" y="2891790"/>
            <a:ext cx="2475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第一回介绍：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43960" y="6110605"/>
            <a:ext cx="2475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第二回介绍：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284605" y="3630930"/>
            <a:ext cx="7860030" cy="1308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“那儿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挺好的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，你们可以去玩玩。”</a:t>
            </a: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朋友点点头，没</a:t>
            </a:r>
            <a:endParaRPr lang="en-US" sz="24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往下</a:t>
            </a: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接话</a:t>
            </a:r>
            <a:r>
              <a:rPr lang="zh-CN" alt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。但我</a:t>
            </a: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看得出来，他</a:t>
            </a:r>
            <a:r>
              <a:rPr lang="zh-CN" alt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应该</a:t>
            </a: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没打算去。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384300" y="6835140"/>
            <a:ext cx="7530465" cy="22555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山坳里的村子，十月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满山的柿子随你摘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；村口小店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做热乎乎的米糕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；村后小溪水浅，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孩子能下去踩水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晚上坐在院里老树下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能看见星星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他听完，就准备带</a:t>
            </a:r>
            <a:endParaRPr lang="en-US" sz="24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着孩子去了。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1102360" y="9110345"/>
            <a:ext cx="8590915" cy="5708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第二回讲出了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柿子、米糕、小溪、星星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，别人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就准备出发了。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1" name="图片 30" descr="推荐一个好地方-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700" y="2756535"/>
            <a:ext cx="8051800" cy="4525645"/>
          </a:xfrm>
          <a:prstGeom prst="roundRect">
            <a:avLst>
              <a:gd name="adj" fmla="val 4145"/>
            </a:avLst>
          </a:prstGeom>
        </p:spPr>
      </p:pic>
      <p:sp>
        <p:nvSpPr>
          <p:cNvPr id="33" name="等腰三角形 32"/>
          <p:cNvSpPr/>
          <p:nvPr/>
        </p:nvSpPr>
        <p:spPr>
          <a:xfrm>
            <a:off x="9679305" y="7336155"/>
            <a:ext cx="560705" cy="469265"/>
          </a:xfrm>
          <a:prstGeom prst="triangle">
            <a:avLst>
              <a:gd name="adj" fmla="val 500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" grpId="0"/>
      <p:bldP spid="21" grpId="0"/>
      <p:bldP spid="28" grpId="0" animBg="1"/>
      <p:bldP spid="27" grpId="0" animBg="1"/>
      <p:bldP spid="2" grpId="0" animBg="1"/>
      <p:bldP spid="8" grpId="0" animBg="1"/>
      <p:bldP spid="24" grpId="0"/>
      <p:bldP spid="25" grpId="0"/>
      <p:bldP spid="13" grpId="0"/>
      <p:bldP spid="18" grpId="0"/>
      <p:bldP spid="23" grpId="0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27" name="圆角矩形 26"/>
          <p:cNvSpPr/>
          <p:nvPr>
            <p:custDataLst>
              <p:tags r:id="rId2"/>
            </p:custDataLst>
          </p:nvPr>
        </p:nvSpPr>
        <p:spPr>
          <a:xfrm>
            <a:off x="9217025" y="4441190"/>
            <a:ext cx="8023225" cy="8640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>
            <p:custDataLst>
              <p:tags r:id="rId3"/>
            </p:custDataLst>
          </p:nvPr>
        </p:nvSpPr>
        <p:spPr>
          <a:xfrm>
            <a:off x="9217025" y="5674125"/>
            <a:ext cx="8023225" cy="8636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>
            <p:custDataLst>
              <p:tags r:id="rId4"/>
            </p:custDataLst>
          </p:nvPr>
        </p:nvSpPr>
        <p:spPr>
          <a:xfrm>
            <a:off x="9217025" y="6906660"/>
            <a:ext cx="8023225" cy="8636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8535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8828405" cy="7562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今天的任务：开一场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“好地方推荐会”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28750" y="2876550"/>
            <a:ext cx="100596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每人推荐一个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自己真正去过</a:t>
            </a: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的好地方，写成一篇推荐稿。</a:t>
            </a:r>
            <a:endParaRPr lang="en-US" sz="2550" dirty="0"/>
          </a:p>
        </p:txBody>
      </p:sp>
      <p:sp>
        <p:nvSpPr>
          <p:cNvPr id="13" name="Text 9"/>
          <p:cNvSpPr/>
          <p:nvPr>
            <p:custDataLst>
              <p:tags r:id="rId6"/>
            </p:custDataLst>
          </p:nvPr>
        </p:nvSpPr>
        <p:spPr>
          <a:xfrm>
            <a:off x="9636760" y="4591685"/>
            <a:ext cx="8482330" cy="639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写完后先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读给同桌听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，再请几位同学上台读给全班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</a:t>
            </a:r>
            <a:endParaRPr lang="zh-CN" alt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>
            <p:custDataLst>
              <p:tags r:id="rId7"/>
            </p:custDataLst>
          </p:nvPr>
        </p:nvSpPr>
        <p:spPr>
          <a:xfrm>
            <a:off x="9636760" y="5791200"/>
            <a:ext cx="6885940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全班投票，选出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大家最想去的那个地方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8"/>
            </p:custDataLst>
          </p:nvPr>
        </p:nvSpPr>
        <p:spPr>
          <a:xfrm>
            <a:off x="9636760" y="7060565"/>
            <a:ext cx="7762875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有人说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“我也好想去”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，你的推荐就成功了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410065" y="8350885"/>
            <a:ext cx="8336915" cy="919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若大家听完并无兴致，多半是</a:t>
            </a:r>
            <a:r>
              <a:rPr lang="zh-CN" altLang="en-US" sz="23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因为</a:t>
            </a:r>
            <a:r>
              <a:rPr lang="en-US" sz="23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只说了</a:t>
            </a:r>
            <a:r>
              <a:rPr lang="en-US" sz="2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“很不错”的空话</a:t>
            </a:r>
            <a:r>
              <a:rPr lang="en-US" sz="23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23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23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没讲清亮点在哪。</a:t>
            </a:r>
            <a:endParaRPr lang="en-US" sz="23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5"/>
          <p:cNvSpPr/>
          <p:nvPr>
            <p:custDataLst>
              <p:tags r:id="rId9"/>
            </p:custDataLst>
          </p:nvPr>
        </p:nvSpPr>
        <p:spPr>
          <a:xfrm>
            <a:off x="8997950" y="461518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10"/>
            </p:custDataLst>
          </p:nvPr>
        </p:nvSpPr>
        <p:spPr>
          <a:xfrm>
            <a:off x="8997950" y="457835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11"/>
            </p:custDataLst>
          </p:nvPr>
        </p:nvSpPr>
        <p:spPr>
          <a:xfrm>
            <a:off x="8997950" y="583755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12"/>
            </p:custDataLst>
          </p:nvPr>
        </p:nvSpPr>
        <p:spPr>
          <a:xfrm>
            <a:off x="8997950" y="580072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3"/>
            </p:custDataLst>
          </p:nvPr>
        </p:nvSpPr>
        <p:spPr>
          <a:xfrm>
            <a:off x="8997315" y="705993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4"/>
            </p:custDataLst>
          </p:nvPr>
        </p:nvSpPr>
        <p:spPr>
          <a:xfrm>
            <a:off x="8997315" y="702310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6" name="图片 25" descr="我来编童话-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445" y="3696335"/>
            <a:ext cx="8290560" cy="6425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3" grpId="0" animBg="1"/>
      <p:bldP spid="13" grpId="0"/>
      <p:bldP spid="16" grpId="0"/>
      <p:bldP spid="19" grpId="0"/>
      <p:bldP spid="20" grpId="0"/>
      <p:bldP spid="24" grpId="0" animBg="1"/>
      <p:bldP spid="25" grpId="0"/>
      <p:bldP spid="29" grpId="0" animBg="1"/>
      <p:bldP spid="30" grpId="0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895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唤起记忆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43990" y="9239250"/>
            <a:ext cx="14753590" cy="5162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3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说得出来，就</a:t>
            </a:r>
            <a:r>
              <a:rPr lang="en-US" sz="23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</a:t>
            </a:r>
            <a:r>
              <a:rPr lang="zh-CN" altLang="en-US" sz="23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</a:t>
            </a:r>
            <a:r>
              <a:rPr lang="en-US" sz="23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地方，你</a:t>
            </a:r>
            <a:r>
              <a:rPr lang="en-US" sz="2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真去过、真记得</a:t>
            </a:r>
            <a:r>
              <a:rPr lang="en-US" sz="23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zh-CN" altLang="en-US" sz="23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只有自己印象深刻的地方，</a:t>
            </a:r>
            <a:r>
              <a:rPr lang="en-US" sz="23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才能把别人说得心生向往。</a:t>
            </a:r>
            <a:endParaRPr lang="en-US" sz="23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圆角矩形 37"/>
          <p:cNvSpPr/>
          <p:nvPr>
            <p:custDataLst>
              <p:tags r:id="rId3"/>
            </p:custDataLst>
          </p:nvPr>
        </p:nvSpPr>
        <p:spPr>
          <a:xfrm>
            <a:off x="1382395" y="2593975"/>
            <a:ext cx="4750435" cy="1764000"/>
          </a:xfrm>
          <a:prstGeom prst="roundRect">
            <a:avLst>
              <a:gd name="adj" fmla="val 12721"/>
            </a:avLst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 9"/>
          <p:cNvSpPr/>
          <p:nvPr>
            <p:custDataLst>
              <p:tags r:id="rId4"/>
            </p:custDataLst>
          </p:nvPr>
        </p:nvSpPr>
        <p:spPr>
          <a:xfrm>
            <a:off x="1783080" y="2685415"/>
            <a:ext cx="4171315" cy="1670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你去过的地方里，到现在还记得它的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味道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Shape 5"/>
          <p:cNvSpPr/>
          <p:nvPr>
            <p:custDataLst>
              <p:tags r:id="rId5"/>
            </p:custDataLst>
          </p:nvPr>
        </p:nvSpPr>
        <p:spPr>
          <a:xfrm>
            <a:off x="1132840" y="285940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5" name="Text 6"/>
          <p:cNvSpPr/>
          <p:nvPr>
            <p:custDataLst>
              <p:tags r:id="rId6"/>
            </p:custDataLst>
          </p:nvPr>
        </p:nvSpPr>
        <p:spPr>
          <a:xfrm>
            <a:off x="1132840" y="282257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53" name="文本框 52"/>
          <p:cNvSpPr txBox="1"/>
          <p:nvPr>
            <p:custDataLst>
              <p:tags r:id="rId7"/>
            </p:custDataLst>
          </p:nvPr>
        </p:nvSpPr>
        <p:spPr>
          <a:xfrm>
            <a:off x="2276475" y="3695065"/>
            <a:ext cx="3511550" cy="688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糖水铺的桂花芋圆</a:t>
            </a:r>
            <a:endParaRPr lang="en-US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54" name="圆角矩形 53"/>
          <p:cNvSpPr/>
          <p:nvPr>
            <p:custDataLst>
              <p:tags r:id="rId8"/>
            </p:custDataLst>
          </p:nvPr>
        </p:nvSpPr>
        <p:spPr>
          <a:xfrm>
            <a:off x="6913245" y="2593975"/>
            <a:ext cx="4750435" cy="1764000"/>
          </a:xfrm>
          <a:prstGeom prst="roundRect">
            <a:avLst>
              <a:gd name="adj" fmla="val 12721"/>
            </a:avLst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Text 9"/>
          <p:cNvSpPr/>
          <p:nvPr>
            <p:custDataLst>
              <p:tags r:id="rId9"/>
            </p:custDataLst>
          </p:nvPr>
        </p:nvSpPr>
        <p:spPr>
          <a:xfrm>
            <a:off x="7313930" y="2685415"/>
            <a:ext cx="4326890" cy="1670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还能想得起来它的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声音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6" name="Shape 5"/>
          <p:cNvSpPr/>
          <p:nvPr>
            <p:custDataLst>
              <p:tags r:id="rId10"/>
            </p:custDataLst>
          </p:nvPr>
        </p:nvSpPr>
        <p:spPr>
          <a:xfrm>
            <a:off x="6663690" y="285940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7" name="Text 6"/>
          <p:cNvSpPr/>
          <p:nvPr>
            <p:custDataLst>
              <p:tags r:id="rId11"/>
            </p:custDataLst>
          </p:nvPr>
        </p:nvSpPr>
        <p:spPr>
          <a:xfrm>
            <a:off x="6663690" y="282257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58" name="文本框 57"/>
          <p:cNvSpPr txBox="1"/>
          <p:nvPr>
            <p:custDataLst>
              <p:tags r:id="rId12"/>
            </p:custDataLst>
          </p:nvPr>
        </p:nvSpPr>
        <p:spPr>
          <a:xfrm>
            <a:off x="8188960" y="3695065"/>
            <a:ext cx="2568575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海浪的声音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59" name="圆角矩形 58"/>
          <p:cNvSpPr/>
          <p:nvPr>
            <p:custDataLst>
              <p:tags r:id="rId13"/>
            </p:custDataLst>
          </p:nvPr>
        </p:nvSpPr>
        <p:spPr>
          <a:xfrm>
            <a:off x="12418695" y="2593975"/>
            <a:ext cx="4750435" cy="1764000"/>
          </a:xfrm>
          <a:prstGeom prst="roundRect">
            <a:avLst>
              <a:gd name="adj" fmla="val 12721"/>
            </a:avLst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 9"/>
          <p:cNvSpPr/>
          <p:nvPr>
            <p:custDataLst>
              <p:tags r:id="rId14"/>
            </p:custDataLst>
          </p:nvPr>
        </p:nvSpPr>
        <p:spPr>
          <a:xfrm>
            <a:off x="12819380" y="2685415"/>
            <a:ext cx="4416425" cy="1670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回来以后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还跟人说起过？</a:t>
            </a:r>
            <a:endParaRPr lang="zh-CN" altLang="en-US" sz="2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1" name="Shape 5"/>
          <p:cNvSpPr/>
          <p:nvPr>
            <p:custDataLst>
              <p:tags r:id="rId15"/>
            </p:custDataLst>
          </p:nvPr>
        </p:nvSpPr>
        <p:spPr>
          <a:xfrm>
            <a:off x="12169140" y="285940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2" name="Text 6"/>
          <p:cNvSpPr/>
          <p:nvPr>
            <p:custDataLst>
              <p:tags r:id="rId16"/>
            </p:custDataLst>
          </p:nvPr>
        </p:nvSpPr>
        <p:spPr>
          <a:xfrm>
            <a:off x="12169140" y="282257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63" name="文本框 62"/>
          <p:cNvSpPr txBox="1"/>
          <p:nvPr>
            <p:custDataLst>
              <p:tags r:id="rId17"/>
            </p:custDataLst>
          </p:nvPr>
        </p:nvSpPr>
        <p:spPr>
          <a:xfrm>
            <a:off x="13707745" y="3695065"/>
            <a:ext cx="280797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庙会上敲锣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64" name="图片 63" descr="推荐一个好地方-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b="7768"/>
          <a:stretch>
            <a:fillRect/>
          </a:stretch>
        </p:blipFill>
        <p:spPr>
          <a:xfrm>
            <a:off x="1380830" y="4521200"/>
            <a:ext cx="4752000" cy="4523297"/>
          </a:xfrm>
          <a:prstGeom prst="roundRect">
            <a:avLst>
              <a:gd name="adj" fmla="val 7436"/>
            </a:avLst>
          </a:prstGeom>
          <a:ln w="19050">
            <a:solidFill>
              <a:schemeClr val="accent1"/>
            </a:solidFill>
          </a:ln>
        </p:spPr>
      </p:pic>
      <p:pic>
        <p:nvPicPr>
          <p:cNvPr id="67" name="图片 66" descr="E:/22222小学配图/同步写作/四上1-推荐一个好地方/推荐一个好地方-3.png推荐一个好地方-3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l="18378" r="18378"/>
          <a:stretch>
            <a:fillRect/>
          </a:stretch>
        </p:blipFill>
        <p:spPr>
          <a:xfrm>
            <a:off x="6912950" y="4521200"/>
            <a:ext cx="4752000" cy="4523297"/>
          </a:xfrm>
          <a:prstGeom prst="roundRect">
            <a:avLst>
              <a:gd name="adj" fmla="val 7436"/>
            </a:avLst>
          </a:prstGeom>
          <a:ln w="19050">
            <a:solidFill>
              <a:schemeClr val="accent1"/>
            </a:solidFill>
          </a:ln>
        </p:spPr>
      </p:pic>
      <p:pic>
        <p:nvPicPr>
          <p:cNvPr id="68" name="图片 67" descr="E:/22222小学配图/同步写作/四上1-推荐一个好地方/推荐一个好地方-6.png推荐一个好地方-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l="27194" t="681" r="9512" b="347"/>
          <a:stretch>
            <a:fillRect/>
          </a:stretch>
        </p:blipFill>
        <p:spPr>
          <a:xfrm>
            <a:off x="12418695" y="4521200"/>
            <a:ext cx="4752000" cy="4523297"/>
          </a:xfrm>
          <a:prstGeom prst="roundRect">
            <a:avLst>
              <a:gd name="adj" fmla="val 7436"/>
            </a:avLst>
          </a:prstGeom>
          <a:ln w="19050">
            <a:solidFill>
              <a:schemeClr val="accent1"/>
            </a:solidFill>
          </a:ln>
        </p:spPr>
      </p:pic>
      <p:sp>
        <p:nvSpPr>
          <p:cNvPr id="69" name="Text 21"/>
          <p:cNvSpPr/>
          <p:nvPr>
            <p:custDataLst>
              <p:tags r:id="rId24"/>
            </p:custDataLst>
          </p:nvPr>
        </p:nvSpPr>
        <p:spPr>
          <a:xfrm>
            <a:off x="5190490" y="8533765"/>
            <a:ext cx="8858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味道</a:t>
            </a:r>
            <a:endParaRPr lang="en-US" sz="2250" dirty="0"/>
          </a:p>
        </p:txBody>
      </p:sp>
      <p:sp>
        <p:nvSpPr>
          <p:cNvPr id="70" name="Text 21"/>
          <p:cNvSpPr/>
          <p:nvPr>
            <p:custDataLst>
              <p:tags r:id="rId25"/>
            </p:custDataLst>
          </p:nvPr>
        </p:nvSpPr>
        <p:spPr>
          <a:xfrm>
            <a:off x="10664825" y="8579485"/>
            <a:ext cx="8858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声音</a:t>
            </a:r>
            <a:endParaRPr lang="zh-CN" altLang="en-US" sz="225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21"/>
          <p:cNvSpPr/>
          <p:nvPr>
            <p:custDataLst>
              <p:tags r:id="rId26"/>
            </p:custDataLst>
          </p:nvPr>
        </p:nvSpPr>
        <p:spPr>
          <a:xfrm>
            <a:off x="15282545" y="8579485"/>
            <a:ext cx="182372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跟人说起过</a:t>
            </a:r>
            <a:endParaRPr lang="zh-CN" altLang="en-US" sz="225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9400" y="1560195"/>
            <a:ext cx="8431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三个问题，想到就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举手说一句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3" grpId="0"/>
      <p:bldP spid="58" grpId="0"/>
      <p:bldP spid="63" grpId="0"/>
      <p:bldP spid="69" grpId="0"/>
      <p:bldP spid="70" grpId="0"/>
      <p:bldP spid="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9" name="图片 18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9164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唤起记忆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9591675" cy="808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挑一个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你真心觉得好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的地方，不一定要远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47750" y="2952750"/>
            <a:ext cx="5181600" cy="2037159"/>
          </a:xfrm>
          <a:prstGeom prst="roundRect">
            <a:avLst>
              <a:gd name="adj" fmla="val 8416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400175" y="3236595"/>
            <a:ext cx="268605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身边的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1400175" y="3819525"/>
            <a:ext cx="4828540" cy="894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学校后面那条小路、小区里的花园、</a:t>
            </a:r>
            <a:endParaRPr lang="en-US" sz="21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1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常去的那家书店</a:t>
            </a:r>
            <a:endParaRPr lang="en-US" sz="21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6553200" y="2952750"/>
            <a:ext cx="5181600" cy="2037159"/>
          </a:xfrm>
          <a:prstGeom prst="roundRect">
            <a:avLst>
              <a:gd name="adj" fmla="val 8416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6905625" y="3236595"/>
            <a:ext cx="268605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家乡的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6905625" y="3819525"/>
            <a:ext cx="492442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一个公园、一座山、一条老街</a:t>
            </a:r>
            <a:endParaRPr lang="en-US" sz="21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12058650" y="2952750"/>
            <a:ext cx="5181600" cy="2037159"/>
          </a:xfrm>
          <a:prstGeom prst="roundRect">
            <a:avLst>
              <a:gd name="adj" fmla="val 8416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2411075" y="3236595"/>
            <a:ext cx="268605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旅游去过的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12411075" y="3819525"/>
            <a:ext cx="492442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一处古镇、一个乐园、一家博物馆</a:t>
            </a:r>
            <a:endParaRPr lang="en-US" sz="21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47750" y="5243830"/>
            <a:ext cx="16310610" cy="4320000"/>
          </a:xfrm>
          <a:prstGeom prst="roundRect">
            <a:avLst>
              <a:gd name="adj" fmla="val 5432"/>
            </a:avLst>
          </a:prstGeom>
          <a:solidFill>
            <a:srgbClr val="FFECD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6075045" y="5517515"/>
            <a:ext cx="10852785" cy="193167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25400" tIns="25400" rIns="25400" bIns="25400" rtlCol="0" anchor="t">
            <a:normAutofit lnSpcReduction="20000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选好后，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先别说地名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跟同桌说三样：</a:t>
            </a:r>
            <a:endParaRPr lang="en-US" sz="28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那里你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看到过什么、听到过什么、吃到或摸到过什么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28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让同桌猜猜这是个什么样的地方。</a:t>
            </a:r>
            <a:endParaRPr lang="en-US" sz="28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075045" y="8183880"/>
            <a:ext cx="11233785" cy="1076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说不出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三样？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那请你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答两个小问题：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在那里，你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第一眼看见的是什么？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吃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了什么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好吃的东西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075045" y="7455535"/>
            <a:ext cx="9933305" cy="717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是安静的，还是热闹的？是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吃东西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的地方，还是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看风景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的地方？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5" name="图片 24" descr="推荐一个好地方-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340" y="4703445"/>
            <a:ext cx="5696585" cy="5583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4" name="图片 13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910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唤起记忆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1047750" y="2615565"/>
            <a:ext cx="3599815" cy="1313180"/>
          </a:xfrm>
          <a:prstGeom prst="roundRect">
            <a:avLst>
              <a:gd name="adj" fmla="val 11798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1362075" y="2684145"/>
            <a:ext cx="2764155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那里的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景好看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1362075" y="3269933"/>
            <a:ext cx="3509963" cy="4238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满山柿子、海边日出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5080635" y="6318885"/>
            <a:ext cx="3599815" cy="1313180"/>
          </a:xfrm>
          <a:prstGeom prst="roundRect">
            <a:avLst>
              <a:gd name="adj" fmla="val 11798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5394960" y="6387465"/>
            <a:ext cx="3509963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那里有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好吃的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5394960" y="6973253"/>
            <a:ext cx="3509963" cy="4238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现做米糕、桂花芋圆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>
            <p:custDataLst>
              <p:tags r:id="rId9"/>
            </p:custDataLst>
          </p:nvPr>
        </p:nvSpPr>
        <p:spPr>
          <a:xfrm>
            <a:off x="9159055" y="2615565"/>
            <a:ext cx="3600000" cy="1313180"/>
          </a:xfrm>
          <a:prstGeom prst="roundRect">
            <a:avLst>
              <a:gd name="adj" fmla="val 9975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9427845" y="2684145"/>
            <a:ext cx="3509963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那里有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好玩的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9427845" y="3269933"/>
            <a:ext cx="3509963" cy="4238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小溪踩水、树下看星星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8"/>
          <p:cNvSpPr/>
          <p:nvPr>
            <p:custDataLst>
              <p:tags r:id="rId12"/>
            </p:custDataLst>
          </p:nvPr>
        </p:nvSpPr>
        <p:spPr>
          <a:xfrm>
            <a:off x="13237845" y="6303645"/>
            <a:ext cx="4068000" cy="1313180"/>
          </a:xfrm>
          <a:prstGeom prst="roundRect">
            <a:avLst>
              <a:gd name="adj" fmla="val 11073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3" name="Text 20"/>
          <p:cNvSpPr/>
          <p:nvPr>
            <p:custDataLst>
              <p:tags r:id="rId13"/>
            </p:custDataLst>
          </p:nvPr>
        </p:nvSpPr>
        <p:spPr>
          <a:xfrm>
            <a:off x="13425170" y="6372225"/>
            <a:ext cx="3509963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有一段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来历、故事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1"/>
          <p:cNvSpPr/>
          <p:nvPr>
            <p:custDataLst>
              <p:tags r:id="rId14"/>
            </p:custDataLst>
          </p:nvPr>
        </p:nvSpPr>
        <p:spPr>
          <a:xfrm>
            <a:off x="13425170" y="6958330"/>
            <a:ext cx="3906520" cy="424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老街的传说、博物馆的宝贝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047750" y="7978140"/>
            <a:ext cx="16287750" cy="895350"/>
          </a:xfrm>
          <a:prstGeom prst="roundRect">
            <a:avLst>
              <a:gd name="adj" fmla="val 17021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428750" y="8180070"/>
            <a:ext cx="12882880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对着你选的地方想一想：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能找出几条理由？</a:t>
            </a:r>
            <a:r>
              <a:rPr lang="zh-CN" alt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把它们记在心里</a:t>
            </a: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b="1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47750" y="9056370"/>
            <a:ext cx="142773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真去过、记得住味道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声音的地方，才推荐得出去；理由可从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风景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、吃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、玩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、故事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这几方面找。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" name="图片 1" descr="E:/22222小学配图/同步写作/四上1-推荐一个好地方/推荐一个好地方-9.png推荐一个好地方-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l="46897" t="1399" r="6" b="-388"/>
          <a:stretch>
            <a:fillRect/>
          </a:stretch>
        </p:blipFill>
        <p:spPr>
          <a:xfrm>
            <a:off x="9159055" y="3997325"/>
            <a:ext cx="3600000" cy="37287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46295" y="4028440"/>
            <a:ext cx="3600000" cy="3728722"/>
          </a:xfrm>
          <a:prstGeom prst="rect">
            <a:avLst/>
          </a:prstGeom>
        </p:spPr>
      </p:pic>
      <p:pic>
        <p:nvPicPr>
          <p:cNvPr id="8" name="图片 7" descr="E:/22222小学配图/同步写作/四上1-推荐一个好地方/推荐一个好地方-1.png推荐一个好地方-1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 l="187" r="187"/>
          <a:stretch>
            <a:fillRect/>
          </a:stretch>
        </p:blipFill>
        <p:spPr>
          <a:xfrm>
            <a:off x="5080450" y="2488565"/>
            <a:ext cx="3600000" cy="3728722"/>
          </a:xfrm>
          <a:prstGeom prst="rect">
            <a:avLst/>
          </a:prstGeom>
        </p:spPr>
      </p:pic>
      <p:pic>
        <p:nvPicPr>
          <p:cNvPr id="30" name="图片 29" descr="E:/22222小学配图/同步写作/四上1-推荐一个好地方/推荐一个好地方-12.png推荐一个好地方-12"/>
          <p:cNvPicPr/>
          <p:nvPr>
            <p:custDataLst>
              <p:tags r:id="rId21"/>
            </p:custDataLst>
          </p:nvPr>
        </p:nvPicPr>
        <p:blipFill>
          <a:blip r:embed="rId22"/>
          <a:srcRect t="4170" b="4170"/>
          <a:stretch>
            <a:fillRect/>
          </a:stretch>
        </p:blipFill>
        <p:spPr>
          <a:xfrm>
            <a:off x="13237845" y="2488565"/>
            <a:ext cx="4068000" cy="372872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445895" y="1559560"/>
            <a:ext cx="6096000" cy="1036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它到底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好在哪儿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2" name="图片 11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8827135"/>
            <a:ext cx="15716250" cy="950595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04010"/>
            <a:ext cx="6026150" cy="862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这两段话，哪一段才算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3523615" y="2992755"/>
            <a:ext cx="282448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流水账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11829415" y="2992755"/>
            <a:ext cx="275336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会推荐</a:t>
            </a:r>
            <a:endParaRPr 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47750" y="7138035"/>
            <a:ext cx="1406588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左边按时间先后逐一罗列，别人只知道你的行程，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没法判断自己想不想去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47750" y="7857490"/>
            <a:ext cx="1209230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右边开篇先给这地方一个说法，紧接着介绍亮点，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这才是推荐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367790" y="9025890"/>
            <a:ext cx="1080643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推荐稿要讲清地点、说清好处，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吸引没去过的人心生向往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" name="图片 1" descr="我来编童话-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flipH="1">
            <a:off x="14097635" y="5786120"/>
            <a:ext cx="4500880" cy="450088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256030" y="3827780"/>
            <a:ext cx="7600315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十月三号那天，我们全家去了山里的一个小村子。早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上七点半出发，路上开了两个多小时。到了先在村里转了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转，中午在房东家吃的饭，下午上山摘柿子，四点多就往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回赶了。这一天过得很开心。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38970" y="3827780"/>
            <a:ext cx="7600315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离城两个多小时，山坳里有个小村子，是个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让人住</a:t>
            </a:r>
            <a:endParaRPr lang="zh-CN" altLang="en-US" sz="23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下了就不想走的好地方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。最值得去的，是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十月里满山的柿</a:t>
            </a:r>
            <a:endParaRPr lang="zh-CN" altLang="en-US" sz="23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子，随便你摘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。村后那面坡上全是柿子树，叶子落光了，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只剩一树一树的果子挂着。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0" y="2851785"/>
            <a:ext cx="18288000" cy="648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3530"/>
            <a:ext cx="10718165" cy="704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怎样才能打动人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一条理由写一段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推荐语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圆角矩形 26"/>
          <p:cNvSpPr/>
          <p:nvPr>
            <p:custDataLst>
              <p:tags r:id="rId3"/>
            </p:custDataLst>
          </p:nvPr>
        </p:nvSpPr>
        <p:spPr>
          <a:xfrm>
            <a:off x="7425690" y="7565390"/>
            <a:ext cx="9845675" cy="86423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9"/>
          <p:cNvSpPr/>
          <p:nvPr>
            <p:custDataLst>
              <p:tags r:id="rId4"/>
            </p:custDataLst>
          </p:nvPr>
        </p:nvSpPr>
        <p:spPr>
          <a:xfrm>
            <a:off x="7838440" y="7702550"/>
            <a:ext cx="9752330" cy="8705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每段开头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先把理由亮出来，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让人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一眼就看清你的亮点</a:t>
            </a:r>
            <a:endParaRPr lang="en-US" alt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4" name="Shape 5"/>
          <p:cNvSpPr/>
          <p:nvPr>
            <p:custDataLst>
              <p:tags r:id="rId5"/>
            </p:custDataLst>
          </p:nvPr>
        </p:nvSpPr>
        <p:spPr>
          <a:xfrm>
            <a:off x="7214870" y="773938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6"/>
            </p:custDataLst>
          </p:nvPr>
        </p:nvSpPr>
        <p:spPr>
          <a:xfrm>
            <a:off x="7214870" y="770255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圆角矩形 17"/>
          <p:cNvSpPr/>
          <p:nvPr>
            <p:custDataLst>
              <p:tags r:id="rId7"/>
            </p:custDataLst>
          </p:nvPr>
        </p:nvSpPr>
        <p:spPr>
          <a:xfrm>
            <a:off x="7425690" y="5855970"/>
            <a:ext cx="9845675" cy="86423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 9"/>
          <p:cNvSpPr/>
          <p:nvPr>
            <p:custDataLst>
              <p:tags r:id="rId8"/>
            </p:custDataLst>
          </p:nvPr>
        </p:nvSpPr>
        <p:spPr>
          <a:xfrm>
            <a:off x="7838440" y="5993130"/>
            <a:ext cx="8879840" cy="8705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理由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分开写，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每一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条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都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独立成段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，不要混在一起</a:t>
            </a:r>
            <a:endParaRPr lang="en-US" alt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0" name="Shape 5"/>
          <p:cNvSpPr/>
          <p:nvPr>
            <p:custDataLst>
              <p:tags r:id="rId9"/>
            </p:custDataLst>
          </p:nvPr>
        </p:nvSpPr>
        <p:spPr>
          <a:xfrm>
            <a:off x="7214870" y="602996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 6"/>
          <p:cNvSpPr/>
          <p:nvPr>
            <p:custDataLst>
              <p:tags r:id="rId10"/>
            </p:custDataLst>
          </p:nvPr>
        </p:nvSpPr>
        <p:spPr>
          <a:xfrm>
            <a:off x="7214870" y="599313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圆角矩形 22"/>
          <p:cNvSpPr/>
          <p:nvPr>
            <p:custDataLst>
              <p:tags r:id="rId11"/>
            </p:custDataLst>
          </p:nvPr>
        </p:nvSpPr>
        <p:spPr>
          <a:xfrm>
            <a:off x="7425690" y="3763010"/>
            <a:ext cx="9845675" cy="116903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 9"/>
          <p:cNvSpPr/>
          <p:nvPr>
            <p:custDataLst>
              <p:tags r:id="rId12"/>
            </p:custDataLst>
          </p:nvPr>
        </p:nvSpPr>
        <p:spPr>
          <a:xfrm>
            <a:off x="7838440" y="3839210"/>
            <a:ext cx="8895715" cy="8705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理由不必太多，但也不能只有一条，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挑出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最能打动人的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几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条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理由</a:t>
            </a:r>
            <a:endParaRPr lang="en-US" alt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8" name="Shape 5"/>
          <p:cNvSpPr/>
          <p:nvPr>
            <p:custDataLst>
              <p:tags r:id="rId13"/>
            </p:custDataLst>
          </p:nvPr>
        </p:nvSpPr>
        <p:spPr>
          <a:xfrm>
            <a:off x="7214870" y="408940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Text 6"/>
          <p:cNvSpPr/>
          <p:nvPr>
            <p:custDataLst>
              <p:tags r:id="rId14"/>
            </p:custDataLst>
          </p:nvPr>
        </p:nvSpPr>
        <p:spPr>
          <a:xfrm>
            <a:off x="7214870" y="405257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pic>
        <p:nvPicPr>
          <p:cNvPr id="31" name="图片 30" descr="推荐一个好地方-7"/>
          <p:cNvPicPr>
            <a:picLocks noChangeAspect="1"/>
          </p:cNvPicPr>
          <p:nvPr/>
        </p:nvPicPr>
        <p:blipFill>
          <a:blip r:embed="rId15"/>
          <a:srcRect l="20812" r="10349"/>
          <a:stretch>
            <a:fillRect/>
          </a:stretch>
        </p:blipFill>
        <p:spPr>
          <a:xfrm flipH="1">
            <a:off x="1047750" y="3372715"/>
            <a:ext cx="5857875" cy="5438140"/>
          </a:xfrm>
          <a:prstGeom prst="roundRect">
            <a:avLst>
              <a:gd name="adj" fmla="val 6605"/>
            </a:avLst>
          </a:prstGeom>
          <a:ln w="28575"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6" grpId="0"/>
      <p:bldP spid="24" grpId="0" bldLvl="0" animBg="1"/>
      <p:bldP spid="25" grpId="0"/>
      <p:bldP spid="18" grpId="0" bldLvl="0" animBg="1"/>
      <p:bldP spid="19" grpId="0"/>
      <p:bldP spid="20" grpId="0" bldLvl="0" animBg="1"/>
      <p:bldP spid="21" grpId="0"/>
      <p:bldP spid="23" grpId="0" bldLvl="0" animBg="1"/>
      <p:bldP spid="26" grpId="0"/>
      <p:bldP spid="28" grpId="0" bldLvl="0" animBg="1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1" name="图片 10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799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47750" y="2865755"/>
            <a:ext cx="16192500" cy="1039495"/>
          </a:xfrm>
          <a:prstGeom prst="roundRect">
            <a:avLst>
              <a:gd name="adj" fmla="val 17297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7"/>
          <p:cNvSpPr/>
          <p:nvPr/>
        </p:nvSpPr>
        <p:spPr>
          <a:xfrm>
            <a:off x="1047750" y="4204970"/>
            <a:ext cx="16189960" cy="3788410"/>
          </a:xfrm>
          <a:prstGeom prst="roundRect">
            <a:avLst>
              <a:gd name="adj" fmla="val 6953"/>
            </a:avLst>
          </a:prstGeom>
          <a:solidFill>
            <a:srgbClr val="FCF3EE"/>
          </a:solidFill>
          <a:ln w="1905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1154430" y="8124825"/>
            <a:ext cx="261302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看得见的样子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16630" y="8150860"/>
            <a:ext cx="3760470" cy="3644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听得见的声音 · </a:t>
            </a:r>
            <a:r>
              <a:rPr lang="zh-CN" alt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说的</a:t>
            </a:r>
            <a:r>
              <a:rPr 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endParaRPr lang="en-US" sz="2400" b="1" dirty="0">
              <a:solidFill>
                <a:srgbClr val="2F72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39965" y="8124825"/>
            <a:ext cx="261302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闻得到的气味</a:t>
            </a:r>
            <a:endParaRPr lang="en-US" sz="2400" b="1" dirty="0">
              <a:solidFill>
                <a:srgbClr val="8E5A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861550" y="8124825"/>
            <a:ext cx="338264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尝到 · 摸到的感觉</a:t>
            </a:r>
            <a:endParaRPr lang="en-US" sz="2400" b="1" dirty="0">
              <a:solidFill>
                <a:srgbClr val="4E9A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23950" y="8903970"/>
            <a:ext cx="16101060" cy="625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白汽、米香、笃笃声、烫手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，都是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亲身在场才有的细节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；写进文字，读者就像跟着你到了现场。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3025" y="4332605"/>
            <a:ext cx="15982315" cy="309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村口那家米糕店，天不亮就开始蒸糕。一排竹蒸笼摞得比人还高，</a:t>
            </a:r>
            <a:r>
              <a:rPr lang="zh-CN" altLang="en-US" sz="2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白汽从笼缝里直往外冒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600" b="1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隔着两条</a:t>
            </a:r>
            <a:endParaRPr lang="zh-CN" altLang="en-US" sz="2600" b="1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巷子就闻得到那股米香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。做糕的奶奶拿着木槌，</a:t>
            </a:r>
            <a:r>
              <a:rPr lang="zh-CN" altLang="en-US" sz="26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笃、笃、笃轻轻敲打米团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。她掀开蒸笼，热腾腾的水汽扑</a:t>
            </a:r>
            <a:endParaRPr lang="zh-CN" altLang="en-US" sz="2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面而来，一块米糕垫着荷叶递到我手上，还叮嘱：</a:t>
            </a:r>
            <a:r>
              <a:rPr lang="zh-CN" altLang="en-US" sz="26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“趁热吃，凉了口感就不软糯啦。”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米糕烫得很，我只</a:t>
            </a:r>
            <a:endParaRPr lang="zh-CN" altLang="en-US" sz="2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能</a:t>
            </a:r>
            <a:r>
              <a:rPr lang="zh-CN" altLang="en-US" sz="2600"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双手来回轮换捧着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。一口咬下去，</a:t>
            </a:r>
            <a:r>
              <a:rPr lang="zh-CN" altLang="en-US" sz="2600"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质地软软糯糯，中间裹着红豆沙，甜而不腻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。一块下肚，手心还留着</a:t>
            </a:r>
            <a:endParaRPr lang="zh-CN" altLang="en-US" sz="2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荷叶淡淡的清香。</a:t>
            </a:r>
            <a:endParaRPr lang="zh-CN" altLang="en-US" sz="2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32890" y="1564640"/>
            <a:ext cx="8640445" cy="810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看老师如何把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“特别好吃”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，变成一段话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19200" y="3176270"/>
            <a:ext cx="155194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“村口有家现做米糕的，</a:t>
            </a:r>
            <a:r>
              <a:rPr lang="zh-CN" altLang="en-US" sz="21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特别好吃</a:t>
            </a:r>
            <a:r>
              <a:rPr lang="zh-CN" altLang="en-US" sz="2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，你去了一定要尝尝。”</a:t>
            </a:r>
            <a:r>
              <a:rPr lang="zh-CN" altLang="en-US" sz="21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“好吃”人人都说得出；像这样只给结论，勾不起别人想去的念头。</a:t>
            </a:r>
            <a:endParaRPr lang="zh-CN" altLang="en-US" sz="21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pic>
        <p:nvPicPr>
          <p:cNvPr id="21" name="图片 20" descr="推荐一个好地方-13"/>
          <p:cNvPicPr>
            <a:picLocks noChangeAspect="1"/>
          </p:cNvPicPr>
          <p:nvPr/>
        </p:nvPicPr>
        <p:blipFill>
          <a:blip r:embed="rId2"/>
          <a:srcRect l="3037" r="2037"/>
          <a:stretch>
            <a:fillRect/>
          </a:stretch>
        </p:blipFill>
        <p:spPr>
          <a:xfrm>
            <a:off x="449580" y="2887345"/>
            <a:ext cx="4823460" cy="6797040"/>
          </a:xfrm>
          <a:prstGeom prst="roundRect">
            <a:avLst>
              <a:gd name="adj" fmla="val 6673"/>
            </a:avLst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932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6828155" cy="744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先亮理由，再写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现场的细节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88380" y="2895600"/>
            <a:ext cx="614750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一条理由单独成段，每段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先摆明观点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088380" y="3977640"/>
            <a:ext cx="814592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接着写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看得见、闻得到、听得见、尝得着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的画面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088380" y="5074920"/>
            <a:ext cx="12350115" cy="792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不要只写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“很好”“很不错”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，笼统的评价人人都写得出，打动不了人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5434330" y="6099810"/>
            <a:ext cx="13430250" cy="1478280"/>
          </a:xfrm>
          <a:prstGeom prst="roundRect">
            <a:avLst>
              <a:gd name="adj" fmla="val 11348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6" name="Text 12"/>
          <p:cNvSpPr/>
          <p:nvPr/>
        </p:nvSpPr>
        <p:spPr>
          <a:xfrm>
            <a:off x="5642610" y="6113145"/>
            <a:ext cx="15916275" cy="13804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zh-CN" alt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回忆一下学过的课文</a:t>
            </a:r>
            <a:r>
              <a:rPr 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26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《观潮》写大潮来临，依次写出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听到的声响、看到的景象</a:t>
            </a:r>
            <a:r>
              <a:rPr lang="en-US" sz="26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26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26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一层层铺开，不靠直接夸赞，便让我们感受到大潮的雄伟壮观。</a:t>
            </a:r>
            <a:endParaRPr lang="en-US" sz="26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34330" y="8032115"/>
            <a:ext cx="13411835" cy="791845"/>
          </a:xfrm>
          <a:prstGeom prst="roundRect">
            <a:avLst>
              <a:gd name="adj" fmla="val 1827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4"/>
          <p:cNvSpPr/>
          <p:nvPr/>
        </p:nvSpPr>
        <p:spPr>
          <a:xfrm>
            <a:off x="5642610" y="8157845"/>
            <a:ext cx="12983845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轮到你试一试：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挑一条理由，说一句带细节的句子，要能让人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仿佛亲眼看见、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身临其境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642610" y="9065260"/>
            <a:ext cx="95262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你抓住的是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颜色？声音？还是吃到的味道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椭圆 1"/>
          <p:cNvSpPr/>
          <p:nvPr>
            <p:custDataLst>
              <p:tags r:id="rId4"/>
            </p:custDataLst>
          </p:nvPr>
        </p:nvSpPr>
        <p:spPr>
          <a:xfrm>
            <a:off x="5485130" y="293306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5"/>
            </p:custDataLst>
          </p:nvPr>
        </p:nvSpPr>
        <p:spPr>
          <a:xfrm>
            <a:off x="5485130" y="402812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5" name="椭圆 174"/>
          <p:cNvSpPr/>
          <p:nvPr>
            <p:custDataLst>
              <p:tags r:id="rId6"/>
            </p:custDataLst>
          </p:nvPr>
        </p:nvSpPr>
        <p:spPr>
          <a:xfrm>
            <a:off x="5485130" y="5113655"/>
            <a:ext cx="476250" cy="476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7"/>
            </p:custDataLst>
          </p:nvPr>
        </p:nvCxnSpPr>
        <p:spPr>
          <a:xfrm>
            <a:off x="5723255" y="3466465"/>
            <a:ext cx="0" cy="576000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8"/>
            </p:custDataLst>
          </p:nvPr>
        </p:nvCxnSpPr>
        <p:spPr>
          <a:xfrm>
            <a:off x="5723255" y="4544695"/>
            <a:ext cx="0" cy="576000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5485130" y="300894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79" name="文本框 178"/>
          <p:cNvSpPr txBox="1"/>
          <p:nvPr>
            <p:custDataLst>
              <p:tags r:id="rId10"/>
            </p:custDataLst>
          </p:nvPr>
        </p:nvSpPr>
        <p:spPr>
          <a:xfrm>
            <a:off x="5481955" y="410591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80" name="文本框 179"/>
          <p:cNvSpPr txBox="1"/>
          <p:nvPr>
            <p:custDataLst>
              <p:tags r:id="rId11"/>
            </p:custDataLst>
          </p:nvPr>
        </p:nvSpPr>
        <p:spPr>
          <a:xfrm>
            <a:off x="5481955" y="518033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23" name="等腰三角形 22"/>
          <p:cNvSpPr/>
          <p:nvPr/>
        </p:nvSpPr>
        <p:spPr>
          <a:xfrm rot="16200000" flipH="1">
            <a:off x="4756785" y="6236970"/>
            <a:ext cx="639445" cy="5308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 animBg="1"/>
      <p:bldP spid="16" grpId="0"/>
      <p:bldP spid="17" grpId="0" animBg="1"/>
      <p:bldP spid="18" grpId="0"/>
      <p:bldP spid="19" grpId="0"/>
      <p:bldP spid="2" grpId="0" animBg="1"/>
      <p:bldP spid="174" grpId="0" animBg="1"/>
      <p:bldP spid="175" grpId="0" animBg="1"/>
      <p:bldP spid="6" grpId="0"/>
      <p:bldP spid="179" grpId="0"/>
      <p:bldP spid="180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40" name="图片 3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5392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推荐卡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2070" y="1596390"/>
            <a:ext cx="2237105" cy="6819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推荐卡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47750" y="2484120"/>
            <a:ext cx="776859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每格只写词语、不写整句（看老师填那个山坳小村）</a:t>
            </a:r>
            <a:endParaRPr lang="en-US" sz="225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16192500" cy="4914900"/>
          </a:xfrm>
          <a:prstGeom prst="roundRect">
            <a:avLst>
              <a:gd name="adj" fmla="val 271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30575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3228975"/>
            <a:ext cx="58654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343775" y="30575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7658100" y="3228975"/>
            <a:ext cx="95644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我的关键词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7814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94335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推荐的地方（在哪儿）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7343775" y="37814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7658100" y="394335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城外两小时 · 山坳小村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57275" y="447675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2075" y="4638675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总说：是个什么样的地方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7343775" y="447675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7658100" y="4638675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住下就不想走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1057275" y="517207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1362075" y="533400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理由一 · 好在哪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7343775" y="517207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7658100" y="533400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满山柿子随你摘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586740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362075" y="6029325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理由一 · 让你印象深刻的东西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7343775" y="586740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7658100" y="6029325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叶子落光了，只剩一树一树的果子挂着</a:t>
            </a:r>
            <a:endParaRPr lang="zh-CN" altLang="en-US" sz="217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57275" y="65627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672465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理由二 · 好在哪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7343775" y="65627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7658100" y="672465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村口米糕店现蒸现做</a:t>
            </a:r>
            <a:endParaRPr lang="en-US" sz="2175" dirty="0"/>
          </a:p>
        </p:txBody>
      </p:sp>
      <p:sp>
        <p:nvSpPr>
          <p:cNvPr id="33" name="Shape 30"/>
          <p:cNvSpPr/>
          <p:nvPr/>
        </p:nvSpPr>
        <p:spPr>
          <a:xfrm>
            <a:off x="1057275" y="725805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62075" y="7419975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理由二 · 让你印象深刻的东西</a:t>
            </a:r>
            <a:endParaRPr lang="en-US" sz="2175" dirty="0"/>
          </a:p>
        </p:txBody>
      </p:sp>
      <p:sp>
        <p:nvSpPr>
          <p:cNvPr id="35" name="Shape 32"/>
          <p:cNvSpPr/>
          <p:nvPr/>
        </p:nvSpPr>
        <p:spPr>
          <a:xfrm>
            <a:off x="7343775" y="725805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7658100" y="7419975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白汽、米香、笃笃声、烫手</a:t>
            </a:r>
            <a:endParaRPr lang="en-US" sz="2175" dirty="0"/>
          </a:p>
        </p:txBody>
      </p:sp>
      <p:sp>
        <p:nvSpPr>
          <p:cNvPr id="37" name="Text 34"/>
          <p:cNvSpPr/>
          <p:nvPr/>
        </p:nvSpPr>
        <p:spPr>
          <a:xfrm>
            <a:off x="1047750" y="8658225"/>
            <a:ext cx="1659953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下面两格最重要：写你在那里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看见的、闻到的、吃到的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；动笔时，“白汽”一个词就能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成一句话。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pic>
        <p:nvPicPr>
          <p:cNvPr id="2" name="图片 1" descr="续写故事-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0" y="2766695"/>
            <a:ext cx="7509841" cy="5040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5868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推荐卡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04010"/>
            <a:ext cx="916178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先填卡，再与小组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交流分享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047750" y="801528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9" name="Text 15"/>
          <p:cNvSpPr/>
          <p:nvPr/>
        </p:nvSpPr>
        <p:spPr>
          <a:xfrm>
            <a:off x="1428750" y="8262938"/>
            <a:ext cx="15916275" cy="4810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听的同学：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思考</a:t>
            </a: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后告诉他：两条理由里，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哪一条更吸引人</a:t>
            </a: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。一轮说完，各组选出一名代表，准备全班展示。</a:t>
            </a:r>
            <a:endParaRPr lang="en-US" sz="2325" dirty="0"/>
          </a:p>
        </p:txBody>
      </p:sp>
      <p:sp>
        <p:nvSpPr>
          <p:cNvPr id="20" name="Text 16"/>
          <p:cNvSpPr/>
          <p:nvPr/>
        </p:nvSpPr>
        <p:spPr>
          <a:xfrm>
            <a:off x="1352550" y="9147810"/>
            <a:ext cx="11795760" cy="529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一张卡，把零散的素材摊开、理齐，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思路就清楚了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9265285" y="3643630"/>
            <a:ext cx="9197975" cy="993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每格只写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，不必填满六格，先写出一组素材便是好的开始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9262745" y="4852670"/>
            <a:ext cx="8940165" cy="9575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两条理由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不要写同一个方面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，比如不要都写吃的，把其中一条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换成风景、玩的地方或来历传说等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9260205" y="6336030"/>
            <a:ext cx="8500110" cy="6210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四人一组，每人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限时半分钟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：介绍地点，说出两条理由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8688705" y="365188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5"/>
            </p:custDataLst>
          </p:nvPr>
        </p:nvSpPr>
        <p:spPr>
          <a:xfrm>
            <a:off x="8688705" y="500602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5" name="椭圆 174"/>
          <p:cNvSpPr/>
          <p:nvPr>
            <p:custDataLst>
              <p:tags r:id="rId6"/>
            </p:custDataLst>
          </p:nvPr>
        </p:nvSpPr>
        <p:spPr>
          <a:xfrm>
            <a:off x="8688705" y="6350635"/>
            <a:ext cx="476250" cy="476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7"/>
            </p:custDataLst>
          </p:nvPr>
        </p:nvCxnSpPr>
        <p:spPr>
          <a:xfrm>
            <a:off x="8926830" y="418528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8"/>
            </p:custDataLst>
          </p:nvPr>
        </p:nvCxnSpPr>
        <p:spPr>
          <a:xfrm>
            <a:off x="8926830" y="553783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8688705" y="372776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79" name="文本框 178"/>
          <p:cNvSpPr txBox="1"/>
          <p:nvPr>
            <p:custDataLst>
              <p:tags r:id="rId10"/>
            </p:custDataLst>
          </p:nvPr>
        </p:nvSpPr>
        <p:spPr>
          <a:xfrm>
            <a:off x="8685530" y="508381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80" name="文本框 179"/>
          <p:cNvSpPr txBox="1"/>
          <p:nvPr>
            <p:custDataLst>
              <p:tags r:id="rId11"/>
            </p:custDataLst>
          </p:nvPr>
        </p:nvSpPr>
        <p:spPr>
          <a:xfrm>
            <a:off x="8685530" y="641731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74" grpId="0" bldLvl="0" animBg="1"/>
      <p:bldP spid="175" grpId="0" bldLvl="0" animBg="1"/>
      <p:bldP spid="23" grpId="0"/>
      <p:bldP spid="179" grpId="0"/>
      <p:bldP spid="1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18" name="Shape 5"/>
          <p:cNvSpPr/>
          <p:nvPr/>
        </p:nvSpPr>
        <p:spPr>
          <a:xfrm>
            <a:off x="1047750" y="2495550"/>
            <a:ext cx="16192500" cy="648000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607820"/>
            <a:ext cx="7331075" cy="757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老师的那张卡，变成了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一篇推荐稿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11250" y="9136380"/>
            <a:ext cx="56388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看得见的样子 · 打比方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87900" y="9136380"/>
            <a:ext cx="460756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听得见的声音 · </a:t>
            </a:r>
            <a:r>
              <a:rPr lang="zh-CN" altLang="en-US" sz="23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语言</a:t>
            </a:r>
            <a:endParaRPr lang="zh-CN" altLang="en-US" sz="2300" b="1" dirty="0">
              <a:solidFill>
                <a:srgbClr val="2F72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13065" y="9136380"/>
            <a:ext cx="355790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闻得到的气味</a:t>
            </a:r>
            <a:endParaRPr lang="en-US" sz="2400" b="1" dirty="0">
              <a:solidFill>
                <a:srgbClr val="8E5A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429875" y="9136380"/>
            <a:ext cx="306006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尝到 · 摸到</a:t>
            </a:r>
            <a:endParaRPr lang="en-US" sz="2400" b="1" dirty="0">
              <a:solidFill>
                <a:srgbClr val="4E9A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65250" y="2741295"/>
            <a:ext cx="15913735" cy="937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5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5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离城两个多小时，山坳里有个小村子。我去年秋天在那里住了两天，回来至今还时时想起它。这是个让人住</a:t>
            </a:r>
            <a:endParaRPr lang="zh-CN" altLang="en-US" sz="2500" b="1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下了就不想走的好地方。</a:t>
            </a:r>
            <a:endParaRPr lang="zh-CN" altLang="en-US" sz="2500" b="1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65250" y="3789680"/>
            <a:ext cx="1595120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5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最值得去的，是村后的柿子山坡。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十月里满山的柿子，随你摘。村后那面坡上全是柿子树，叶子落光了，只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剩下一树一树的果子，</a:t>
            </a:r>
            <a:r>
              <a:rPr lang="zh-CN" altLang="en-US" sz="25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金红金红地挂着，远看像谁在半山腰点了一片小灯笼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。房东递给我一根顶头带钩的长竹竿，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教我怎么把最高的那几个够下来。竿子一勾，柿子</a:t>
            </a:r>
            <a:r>
              <a:rPr lang="zh-CN" altLang="en-US" sz="25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咚地落进草里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5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捡起来捧在手心，沉甸甸、硬邦邦的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。咬一口，</a:t>
            </a:r>
            <a:r>
              <a:rPr lang="zh-CN" altLang="en-US" sz="25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脆生生、甜丝丝，果肉紧实爽口，清甜的果香瞬间在嘴里散开了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65250" y="5688330"/>
            <a:ext cx="1584198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第二样值得去的，是村口那家米糕店。经常天不亮就开始蒸糕，一排竹蒸笼摞得比人还高，</a:t>
            </a:r>
            <a:r>
              <a:rPr lang="zh-CN" altLang="en-US" sz="25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白汽从笼缝里直往</a:t>
            </a:r>
            <a:endParaRPr lang="zh-CN" altLang="en-US" sz="2500" b="1" spc="-70">
              <a:solidFill>
                <a:srgbClr val="C00000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外冒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500" b="1" spc="-70">
                <a:solidFill>
                  <a:srgbClr val="7030A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隔着两条巷子就闻得到那股米香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。做糕的奶奶拿着木槌，</a:t>
            </a:r>
            <a:r>
              <a:rPr lang="zh-CN" altLang="en-US" sz="25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笃、笃、笃轻轻敲打米团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。敲上一会儿，她掀开蒸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笼，热腾腾的水汽扑面而来，一块米糕垫着荷叶递到我手上，还叮嘱：</a:t>
            </a:r>
            <a:r>
              <a:rPr lang="zh-CN" altLang="en-US" sz="25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“趁热吃，凉了口感就不软糯啦。”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米糕烫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得很，我只能双手来回轮换捧着。一口咬下去，</a:t>
            </a:r>
            <a:r>
              <a:rPr lang="zh-CN" altLang="en-US" sz="25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质地软软糯糯，中间裹着红豆沙，甜而不腻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65250" y="7618730"/>
            <a:ext cx="15875000" cy="937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你要是也想找个地方待上两天，就去这个小村子。上山勾一竿柿子，下山趁热吃一块米糕。去过之后，这份滋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味，会长久留在你的心里。</a:t>
            </a:r>
            <a:endParaRPr lang="zh-CN" altLang="en-US" sz="25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/>
      <p:bldP spid="23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27" name="图片 26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pic>
        <p:nvPicPr>
          <p:cNvPr id="2" name="图片 1" descr="推荐一个好地方-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865" y="6560185"/>
            <a:ext cx="5504815" cy="3048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488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读样稿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5650230" cy="735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读完，先想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952750"/>
            <a:ext cx="7886700" cy="3752215"/>
          </a:xfrm>
          <a:prstGeom prst="roundRect">
            <a:avLst>
              <a:gd name="adj" fmla="val 4905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66850" y="3333750"/>
            <a:ext cx="77533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写了几条理由？每段头一句在干什么？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466850" y="4010025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885950" y="4010025"/>
            <a:ext cx="28289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两条理由，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一条一段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466850" y="4610100"/>
            <a:ext cx="361950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885950" y="4610100"/>
            <a:ext cx="6828282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段首把理由亮出来——“最值得去的，是……”“第二样值得去的，是……”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466850" y="563880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885950" y="5638800"/>
            <a:ext cx="4808027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开门见山，读者一眼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抓住段落重点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9353550" y="2952750"/>
            <a:ext cx="7886700" cy="3752215"/>
          </a:xfrm>
          <a:prstGeom prst="roundRect">
            <a:avLst>
              <a:gd name="adj" fmla="val 4905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9772650" y="3333750"/>
            <a:ext cx="57169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开头和结尾在干什么？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772650" y="4010025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0191750" y="4010025"/>
            <a:ext cx="735139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开头一句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总写特点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：“住下了就不想走的好地方”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772650" y="4610100"/>
            <a:ext cx="361950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191750" y="4610100"/>
            <a:ext cx="6828282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结尾顺势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发出邀请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：“你要是也想……就去这个小村子”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9772650" y="563880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0191750" y="5638800"/>
            <a:ext cx="350799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总—分—总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，完整又规整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47750" y="7791450"/>
            <a:ext cx="13679170" cy="12757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还记得米糕那段吗？卡上只有四个词，</a:t>
            </a:r>
            <a:endParaRPr lang="en-US" sz="27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一个词，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拓展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成了一句生动的画面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。你们卡上的词，稍后也能</a:t>
            </a:r>
            <a:r>
              <a:rPr lang="zh-CN" alt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写成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</a:t>
            </a:r>
            <a:r>
              <a:rPr lang="zh-CN" alt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段落。</a:t>
            </a:r>
            <a:endParaRPr lang="en-US" sz="27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2" name="图片 1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6351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00200"/>
            <a:ext cx="10683875" cy="8521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每一句都在做一件事：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看看好句子好在哪儿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594610"/>
            <a:ext cx="16192500" cy="6400800"/>
          </a:xfrm>
          <a:prstGeom prst="roundRect">
            <a:avLst>
              <a:gd name="adj" fmla="val 208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60413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2775585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578725" y="260413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8134350" y="2775585"/>
            <a:ext cx="586041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</a:t>
            </a: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好在哪里</a:t>
            </a:r>
            <a:endParaRPr lang="zh-CN" altLang="en-US" sz="22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57275" y="332803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480435"/>
            <a:ext cx="1055503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这是个让人住下了就不想走的好地方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578725" y="332803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8134350" y="3480435"/>
            <a:ext cx="586041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开头一句总说，先给这地方一个说法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57275" y="398526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2075" y="4137660"/>
            <a:ext cx="1055503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最值得去的，是村后的柿子山坡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578725" y="398526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8134350" y="4137660"/>
            <a:ext cx="586041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一条理由起一段，段首把理由亮出来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057275" y="4642485"/>
            <a:ext cx="16173450" cy="100965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1362075" y="4794885"/>
            <a:ext cx="1055503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金红金红地挂着，远看像点了一片小灯笼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7578725" y="4642485"/>
            <a:ext cx="9525" cy="1009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8134350" y="4794885"/>
            <a:ext cx="586041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写颜色、打比方——柿子的样子看得见了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57275" y="5652135"/>
            <a:ext cx="16173450" cy="10096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362075" y="5804535"/>
            <a:ext cx="1055503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柿子咚地落进草里，捡起来还是温的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7578725" y="5652135"/>
            <a:ext cx="9525" cy="1009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8134350" y="5804535"/>
            <a:ext cx="586041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一个声音、一个手感——人像站在树底下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057275" y="666178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6814185"/>
            <a:ext cx="1055503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白汽直往外冒，隔着两条巷子就闻得到米香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7578725" y="666178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8134350" y="6814185"/>
            <a:ext cx="586041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写闻得到的气味——“好吃”落到了实处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1057275" y="7319010"/>
            <a:ext cx="16173450" cy="10096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62075" y="7471410"/>
            <a:ext cx="1055503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“趁热吃，凉了口感就不软糯啦。”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7578725" y="7319010"/>
            <a:ext cx="9525" cy="1009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8134350" y="7471410"/>
            <a:ext cx="586041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记下摊主的话——读的人像站到了摊子跟前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1057275" y="8328660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8" name="Text 35"/>
          <p:cNvSpPr/>
          <p:nvPr/>
        </p:nvSpPr>
        <p:spPr>
          <a:xfrm>
            <a:off x="1362075" y="8481060"/>
            <a:ext cx="1055503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你要是也想找个地方待上两天，就去这个小村子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7578725" y="832866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0" name="Text 37"/>
          <p:cNvSpPr/>
          <p:nvPr/>
        </p:nvSpPr>
        <p:spPr>
          <a:xfrm>
            <a:off x="8134350" y="8481060"/>
            <a:ext cx="586041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结尾一句邀请，把人请过去</a:t>
            </a:r>
            <a:endParaRPr lang="en-US" sz="2100" dirty="0"/>
          </a:p>
        </p:txBody>
      </p:sp>
      <p:sp>
        <p:nvSpPr>
          <p:cNvPr id="41" name="Text 38"/>
          <p:cNvSpPr/>
          <p:nvPr/>
        </p:nvSpPr>
        <p:spPr>
          <a:xfrm>
            <a:off x="1047750" y="9271635"/>
            <a:ext cx="16157575" cy="501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</a:t>
            </a:r>
            <a:r>
              <a:rPr lang="en-US" sz="22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住两个要求：</a:t>
            </a:r>
            <a:r>
              <a:rPr lang="zh-CN" alt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</a:t>
            </a: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理由各写一段</a:t>
            </a:r>
            <a:r>
              <a:rPr lang="zh-CN" alt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；每段有你亲眼</a:t>
            </a:r>
            <a:r>
              <a:rPr lang="zh-CN" alt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看见</a:t>
            </a: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zh-CN" alt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亲耳听到、</a:t>
            </a: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亲身</a:t>
            </a:r>
            <a:r>
              <a:rPr lang="zh-CN" alt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体验</a:t>
            </a: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的真实细节</a:t>
            </a:r>
            <a:r>
              <a:rPr lang="en-US" sz="22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2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pic>
        <p:nvPicPr>
          <p:cNvPr id="2" name="图片 1" descr="我来编童话-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601595"/>
            <a:ext cx="5989955" cy="6913245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6212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课时一收束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3530"/>
            <a:ext cx="7677150" cy="733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三样素材备齐，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下节课动笔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318000" y="7920355"/>
            <a:ext cx="13139999" cy="938530"/>
          </a:xfrm>
          <a:prstGeom prst="roundRect">
            <a:avLst>
              <a:gd name="adj" fmla="val 16244"/>
            </a:avLst>
          </a:prstGeom>
          <a:solidFill>
            <a:srgbClr val="DCE6F5"/>
          </a:solidFill>
          <a:ln w="19050">
            <a:solidFill>
              <a:schemeClr val="accent1"/>
            </a:solidFill>
          </a:ln>
        </p:spPr>
        <p:txBody>
          <a:bodyPr/>
          <a:lstStyle/>
          <a:p/>
        </p:txBody>
      </p:sp>
      <p:sp>
        <p:nvSpPr>
          <p:cNvPr id="19" name="Text 16"/>
          <p:cNvSpPr/>
          <p:nvPr/>
        </p:nvSpPr>
        <p:spPr>
          <a:xfrm>
            <a:off x="4699000" y="8107045"/>
            <a:ext cx="1291209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若还有特别想写的</a:t>
            </a:r>
            <a:r>
              <a:rPr lang="zh-CN" alt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理由，</a:t>
            </a: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先把前</a:t>
            </a:r>
            <a:r>
              <a:rPr lang="zh-CN" alt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面的理由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写扎实</a:t>
            </a: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，再另起一段简要补充即可。</a:t>
            </a:r>
            <a:endParaRPr lang="en-US" sz="28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615680" y="3643630"/>
            <a:ext cx="9197975" cy="993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推荐地点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：你真去过、真记得的地方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8613140" y="5020310"/>
            <a:ext cx="8940165" cy="7029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梳理完整的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推荐卡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：两条理由、几格关键词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8610600" y="6366510"/>
            <a:ext cx="8500110" cy="6210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打磨到位的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口头推荐语句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：带着细节的描述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8039100" y="365188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5"/>
            </p:custDataLst>
          </p:nvPr>
        </p:nvSpPr>
        <p:spPr>
          <a:xfrm>
            <a:off x="8039100" y="500602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5" name="椭圆 174"/>
          <p:cNvSpPr/>
          <p:nvPr>
            <p:custDataLst>
              <p:tags r:id="rId6"/>
            </p:custDataLst>
          </p:nvPr>
        </p:nvSpPr>
        <p:spPr>
          <a:xfrm>
            <a:off x="8039100" y="6350635"/>
            <a:ext cx="476250" cy="476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7"/>
            </p:custDataLst>
          </p:nvPr>
        </p:nvCxnSpPr>
        <p:spPr>
          <a:xfrm>
            <a:off x="8277225" y="418528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8"/>
            </p:custDataLst>
          </p:nvPr>
        </p:nvCxnSpPr>
        <p:spPr>
          <a:xfrm>
            <a:off x="8277225" y="553783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8039100" y="372776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79" name="文本框 178"/>
          <p:cNvSpPr txBox="1"/>
          <p:nvPr>
            <p:custDataLst>
              <p:tags r:id="rId10"/>
            </p:custDataLst>
          </p:nvPr>
        </p:nvSpPr>
        <p:spPr>
          <a:xfrm>
            <a:off x="8035925" y="508381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80" name="文本框 179"/>
          <p:cNvSpPr txBox="1"/>
          <p:nvPr>
            <p:custDataLst>
              <p:tags r:id="rId11"/>
            </p:custDataLst>
          </p:nvPr>
        </p:nvSpPr>
        <p:spPr>
          <a:xfrm>
            <a:off x="8035925" y="641731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74" grpId="0" bldLvl="0" animBg="1"/>
      <p:bldP spid="175" grpId="0" bldLvl="0" animBg="1"/>
      <p:bldP spid="23" grpId="0"/>
      <p:bldP spid="179" grpId="0"/>
      <p:bldP spid="1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7658234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看卡写开头 · 自由写作 · 好地方推荐会 · 修改收束</a:t>
            </a:r>
            <a:endParaRPr lang="en-US" sz="2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2" name="图片 1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386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7177405" cy="7569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看着推荐卡，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写下开头的两句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47750" y="3002280"/>
            <a:ext cx="1428750" cy="685800"/>
          </a:xfrm>
          <a:prstGeom prst="roundRect">
            <a:avLst>
              <a:gd name="adj" fmla="val 19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/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009650" y="315468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</a:t>
            </a:r>
            <a:endParaRPr lang="en-US" sz="225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2724150" y="3123724"/>
            <a:ext cx="6479843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第一格与第二格</a:t>
            </a: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连成一句，空两格写下来</a:t>
            </a:r>
            <a:endParaRPr lang="en-US" sz="2325" b="1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2724150" y="3836670"/>
            <a:ext cx="14516100" cy="1381125"/>
          </a:xfrm>
          <a:prstGeom prst="roundRect">
            <a:avLst>
              <a:gd name="adj" fmla="val 1241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3143250" y="4084320"/>
            <a:ext cx="14113383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5B6470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“城外两小时 · 山坳小村” + “住下就不想走” → </a:t>
            </a:r>
            <a:r>
              <a:rPr 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“离城两个多小时，山坳里有个小村子，是个让人住下了</a:t>
            </a:r>
            <a:endParaRPr lang="en-US" sz="225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就不想走的好地方。”</a:t>
            </a:r>
            <a:endParaRPr lang="en-US" sz="225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1047750" y="5869305"/>
            <a:ext cx="1428750" cy="685800"/>
          </a:xfrm>
          <a:prstGeom prst="roundRect">
            <a:avLst>
              <a:gd name="adj" fmla="val 19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1009650" y="6021705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第二句</a:t>
            </a:r>
            <a:endParaRPr lang="en-US" sz="2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2724150" y="5990749"/>
            <a:ext cx="13639413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看【理由一 · 好在哪】，把那几个词说成一句话，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另起一行、空两格</a:t>
            </a: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，这就是这一段的头一句</a:t>
            </a:r>
            <a:endParaRPr lang="en-US" sz="2325" b="1" dirty="0"/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2724150" y="6703695"/>
            <a:ext cx="14516100" cy="938213"/>
          </a:xfrm>
          <a:prstGeom prst="roundRect">
            <a:avLst>
              <a:gd name="adj" fmla="val 1827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3143250" y="6951345"/>
            <a:ext cx="14113383" cy="4810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5B6470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“满山柿子随你摘” → </a:t>
            </a:r>
            <a:r>
              <a:rPr 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“最值得去的，是村后的柿子山坡。十月里满山的柿子，随你摘。”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724150" y="8388985"/>
            <a:ext cx="686625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第一句写完，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再往下写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就顺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畅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2" name="图片 1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80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9554845" cy="7962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盯住一样东西，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跟着三问，一句一句写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9585" y="2762250"/>
            <a:ext cx="17350740" cy="4691380"/>
          </a:xfrm>
          <a:prstGeom prst="roundRect">
            <a:avLst>
              <a:gd name="adj" fmla="val 5955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28750" y="2971800"/>
            <a:ext cx="1591627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从【理由一 · 让你印象深刻的东西】里，挑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一样最想写的</a:t>
            </a: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，盯住它：</a:t>
            </a:r>
            <a:endParaRPr lang="en-US" sz="2325" dirty="0"/>
          </a:p>
        </p:txBody>
      </p:sp>
      <p:sp>
        <p:nvSpPr>
          <p:cNvPr id="10" name="Shape 7"/>
          <p:cNvSpPr/>
          <p:nvPr>
            <p:custDataLst>
              <p:tags r:id="rId3"/>
            </p:custDataLst>
          </p:nvPr>
        </p:nvSpPr>
        <p:spPr>
          <a:xfrm>
            <a:off x="1047750" y="40005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1009650" y="415290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第一句</a:t>
            </a:r>
            <a:endParaRPr lang="en-US" sz="225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2724150" y="4076065"/>
            <a:ext cx="937323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写它的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颜色、模样</a:t>
            </a:r>
            <a:r>
              <a:rPr lang="en-US" sz="28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：金红金红地挂着，像一片小灯笼</a:t>
            </a:r>
            <a:endParaRPr lang="en-US" sz="28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1047750" y="510159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1009650" y="525399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第二句</a:t>
            </a:r>
            <a:endParaRPr lang="en-US" sz="225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2724150" y="5192395"/>
            <a:ext cx="8815070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走近它，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又能观察到哪些细节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？模样大小、外表特征</a:t>
            </a:r>
            <a:endParaRPr lang="en-US" sz="28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1047750" y="618744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1009650" y="633984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第三句</a:t>
            </a:r>
            <a:endParaRPr lang="en-US" sz="2250" dirty="0"/>
          </a:p>
        </p:txBody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2724150" y="6263005"/>
            <a:ext cx="1149794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站在近处：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听见了什么、闻到了什么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？能摸、能尝的，写触感或滋味</a:t>
            </a:r>
            <a:endParaRPr lang="en-US" sz="28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9585" y="7714804"/>
            <a:ext cx="173520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1047750" y="7981315"/>
            <a:ext cx="14443075" cy="4959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停一停，回头看：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总说一句 → 段首亮观点 → 借印象深刻的事物铺展描写，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文字就有了画面感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47750" y="9056370"/>
            <a:ext cx="1049210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写第二条理由时，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沿用这套写法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：先亮观点，再用三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挖细节。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7895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04010"/>
            <a:ext cx="7367270" cy="9251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把整篇写完，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记住三个关键点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13571339" y="879157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13"/>
          <p:cNvSpPr/>
          <p:nvPr/>
        </p:nvSpPr>
        <p:spPr>
          <a:xfrm>
            <a:off x="13952339" y="898207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大约写 18 分钟</a:t>
            </a:r>
            <a:endParaRPr lang="en-US" sz="2850" dirty="0"/>
          </a:p>
        </p:txBody>
      </p:sp>
      <p:sp>
        <p:nvSpPr>
          <p:cNvPr id="2" name="圆角矩形 1"/>
          <p:cNvSpPr/>
          <p:nvPr/>
        </p:nvSpPr>
        <p:spPr>
          <a:xfrm>
            <a:off x="1047750" y="3357880"/>
            <a:ext cx="5220000" cy="2761615"/>
          </a:xfrm>
          <a:prstGeom prst="roundRect">
            <a:avLst>
              <a:gd name="adj" fmla="val 1092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34415" y="3940810"/>
            <a:ext cx="12376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9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79600" y="3970020"/>
            <a:ext cx="4100830" cy="1454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每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条理由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分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一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段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，每段开头先亮理由</a:t>
            </a:r>
            <a:endParaRPr lang="en-US" sz="2800" dirty="0"/>
          </a:p>
          <a:p>
            <a:endParaRPr lang="zh-CN" altLang="en-US" sz="2800"/>
          </a:p>
        </p:txBody>
      </p:sp>
      <p:sp>
        <p:nvSpPr>
          <p:cNvPr id="24" name="圆角矩形 23"/>
          <p:cNvSpPr/>
          <p:nvPr/>
        </p:nvSpPr>
        <p:spPr>
          <a:xfrm>
            <a:off x="6604000" y="3357880"/>
            <a:ext cx="5220000" cy="2761615"/>
          </a:xfrm>
          <a:prstGeom prst="roundRect">
            <a:avLst>
              <a:gd name="adj" fmla="val 1092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590665" y="3940810"/>
            <a:ext cx="12376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9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92035" y="3970020"/>
            <a:ext cx="5004435" cy="1454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每段写上你在那里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看见的、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闻到的、吃到的种种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2140565" y="3319145"/>
            <a:ext cx="5220000" cy="2761615"/>
          </a:xfrm>
          <a:prstGeom prst="roundRect">
            <a:avLst>
              <a:gd name="adj" fmla="val 1092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2127230" y="3902075"/>
            <a:ext cx="12376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9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972415" y="4190365"/>
            <a:ext cx="44310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最后一句，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把人邀请过去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8" name="图片 7" descr="续写故事-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6465570"/>
            <a:ext cx="4324985" cy="3634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 bldLvl="0" animBg="1"/>
      <p:bldP spid="18" grpId="0"/>
      <p:bldP spid="19" grpId="0"/>
      <p:bldP spid="24" grpId="0" bldLvl="0" animBg="1"/>
      <p:bldP spid="25" grpId="0"/>
      <p:bldP spid="26" grpId="0"/>
      <p:bldP spid="27" grpId="0" bldLvl="0" animBg="1"/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418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3571339" y="879157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13"/>
          <p:cNvSpPr/>
          <p:nvPr/>
        </p:nvSpPr>
        <p:spPr>
          <a:xfrm>
            <a:off x="13952339" y="898207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大约写 18 分钟</a:t>
            </a:r>
            <a:endParaRPr lang="en-US" sz="285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8411"/>
          <a:stretch>
            <a:fillRect/>
          </a:stretch>
        </p:blipFill>
        <p:spPr>
          <a:xfrm>
            <a:off x="1249680" y="1356360"/>
            <a:ext cx="15368270" cy="728154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10" name="图片 9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24" name="Shape 11"/>
          <p:cNvSpPr/>
          <p:nvPr/>
        </p:nvSpPr>
        <p:spPr>
          <a:xfrm>
            <a:off x="1047750" y="7758430"/>
            <a:ext cx="17936845" cy="1148715"/>
          </a:xfrm>
          <a:prstGeom prst="roundRect">
            <a:avLst>
              <a:gd name="adj" fmla="val 12081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904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7" name="Text 6"/>
          <p:cNvSpPr/>
          <p:nvPr>
            <p:custDataLst>
              <p:tags r:id="rId3"/>
            </p:custDataLst>
          </p:nvPr>
        </p:nvSpPr>
        <p:spPr>
          <a:xfrm>
            <a:off x="9523730" y="3273425"/>
            <a:ext cx="8763635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听完先说一句：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“我想去”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或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“我还不太想去”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8"/>
          <p:cNvSpPr/>
          <p:nvPr>
            <p:custDataLst>
              <p:tags r:id="rId4"/>
            </p:custDataLst>
          </p:nvPr>
        </p:nvSpPr>
        <p:spPr>
          <a:xfrm>
            <a:off x="9523730" y="4458970"/>
            <a:ext cx="6924675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想去：说说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打动你的是哪一条理由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0"/>
          <p:cNvSpPr/>
          <p:nvPr>
            <p:custDataLst>
              <p:tags r:id="rId5"/>
            </p:custDataLst>
          </p:nvPr>
        </p:nvSpPr>
        <p:spPr>
          <a:xfrm>
            <a:off x="9523730" y="5674360"/>
            <a:ext cx="7787640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兴趣不大：讲清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哪一条没能吸引你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6"/>
            </p:custDataLst>
          </p:nvPr>
        </p:nvSpPr>
        <p:spPr>
          <a:xfrm>
            <a:off x="8925560" y="331025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7"/>
            </p:custDataLst>
          </p:nvPr>
        </p:nvSpPr>
        <p:spPr>
          <a:xfrm>
            <a:off x="8925560" y="327342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8"/>
            </p:custDataLst>
          </p:nvPr>
        </p:nvSpPr>
        <p:spPr>
          <a:xfrm>
            <a:off x="8925560" y="448691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9"/>
            </p:custDataLst>
          </p:nvPr>
        </p:nvSpPr>
        <p:spPr>
          <a:xfrm>
            <a:off x="8925560" y="445008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0"/>
            </p:custDataLst>
          </p:nvPr>
        </p:nvSpPr>
        <p:spPr>
          <a:xfrm>
            <a:off x="8924925" y="570928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1"/>
            </p:custDataLst>
          </p:nvPr>
        </p:nvSpPr>
        <p:spPr>
          <a:xfrm>
            <a:off x="8924925" y="567245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3" name="图片 22" descr="我来编童话-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170" y="3770630"/>
            <a:ext cx="8721725" cy="57315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92895" y="8045450"/>
            <a:ext cx="8134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两人轮流朗读、互相倾听，交流才算完成。</a:t>
            </a:r>
            <a:endParaRPr lang="zh-CN" altLang="en-US" sz="28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0335" y="1555750"/>
            <a:ext cx="91979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同桌互读，一句话反馈：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“我想去”吗？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17" grpId="0"/>
      <p:bldP spid="18" grpId="0"/>
      <p:bldP spid="19" grpId="0"/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195"/>
            <a:ext cx="9829800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21" name="图片 20" descr="我来编童话-23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6020" y="2489200"/>
            <a:ext cx="8150225" cy="6317615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8333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1905000" y="3200400"/>
            <a:ext cx="9025890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四位同学上台：读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开头的总说句 + 最有信心的一条理由</a:t>
            </a:r>
            <a:endParaRPr lang="en-US" sz="2625" dirty="0"/>
          </a:p>
        </p:txBody>
      </p:sp>
      <p:sp>
        <p:nvSpPr>
          <p:cNvPr id="13" name="Text 10"/>
          <p:cNvSpPr/>
          <p:nvPr>
            <p:custDataLst>
              <p:tags r:id="rId4"/>
            </p:custDataLst>
          </p:nvPr>
        </p:nvSpPr>
        <p:spPr>
          <a:xfrm>
            <a:off x="1905000" y="4455795"/>
            <a:ext cx="9025890" cy="12738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台下想一想：听完这份推荐，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你是否向往这个地方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？说说</a:t>
            </a:r>
            <a:endParaRPr lang="en-US" sz="262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被哪一处打动</a:t>
            </a:r>
            <a:endParaRPr lang="en-US" sz="2625" dirty="0"/>
          </a:p>
        </p:txBody>
      </p:sp>
      <p:sp>
        <p:nvSpPr>
          <p:cNvPr id="16" name="Text 13"/>
          <p:cNvSpPr/>
          <p:nvPr>
            <p:custDataLst>
              <p:tags r:id="rId5"/>
            </p:custDataLst>
          </p:nvPr>
        </p:nvSpPr>
        <p:spPr>
          <a:xfrm>
            <a:off x="1905000" y="5924550"/>
            <a:ext cx="9026525" cy="538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全班投票：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最想去哪里，就为它举手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，每人只能选一处</a:t>
            </a:r>
            <a:endParaRPr lang="en-US" sz="2625" dirty="0"/>
          </a:p>
        </p:txBody>
      </p:sp>
      <p:sp>
        <p:nvSpPr>
          <p:cNvPr id="18" name="Shape 14"/>
          <p:cNvSpPr/>
          <p:nvPr/>
        </p:nvSpPr>
        <p:spPr>
          <a:xfrm>
            <a:off x="1047750" y="8045767"/>
            <a:ext cx="16192500" cy="1014413"/>
          </a:xfrm>
          <a:prstGeom prst="roundRect">
            <a:avLst>
              <a:gd name="adj" fmla="val 1690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Text 15"/>
          <p:cNvSpPr/>
          <p:nvPr/>
        </p:nvSpPr>
        <p:spPr>
          <a:xfrm>
            <a:off x="1466850" y="8243570"/>
            <a:ext cx="13243560" cy="7677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有人说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“我也好想去”</a:t>
            </a:r>
            <a:r>
              <a:rPr 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、投了你一票，说明你的理由挑得准、细节写得</a:t>
            </a:r>
            <a:r>
              <a:rPr lang="zh-CN" alt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</a:t>
            </a:r>
            <a:r>
              <a:rPr 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/>
          </a:p>
        </p:txBody>
      </p:sp>
      <p:sp>
        <p:nvSpPr>
          <p:cNvPr id="26" name="Shape 5"/>
          <p:cNvSpPr/>
          <p:nvPr>
            <p:custDataLst>
              <p:tags r:id="rId6"/>
            </p:custDataLst>
          </p:nvPr>
        </p:nvSpPr>
        <p:spPr>
          <a:xfrm>
            <a:off x="1309370" y="322770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7"/>
            </p:custDataLst>
          </p:nvPr>
        </p:nvSpPr>
        <p:spPr>
          <a:xfrm>
            <a:off x="1309370" y="319087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8"/>
            </p:custDataLst>
          </p:nvPr>
        </p:nvSpPr>
        <p:spPr>
          <a:xfrm>
            <a:off x="1309370" y="458724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9"/>
            </p:custDataLst>
          </p:nvPr>
        </p:nvSpPr>
        <p:spPr>
          <a:xfrm>
            <a:off x="1309370" y="455041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0"/>
            </p:custDataLst>
          </p:nvPr>
        </p:nvSpPr>
        <p:spPr>
          <a:xfrm>
            <a:off x="1308735" y="593153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1"/>
            </p:custDataLst>
          </p:nvPr>
        </p:nvSpPr>
        <p:spPr>
          <a:xfrm>
            <a:off x="1308735" y="589470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326515" y="1556385"/>
            <a:ext cx="74441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“好地方推荐会”，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正式开场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27" name="图片 26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6371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7677150" cy="8108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改一改：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三档标准 + 三点自查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7750" y="2872740"/>
            <a:ext cx="611441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对照三档标准，看自己到哪一档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47750" y="3543300"/>
            <a:ext cx="7810500" cy="1260000"/>
          </a:xfrm>
          <a:prstGeom prst="roundRect">
            <a:avLst>
              <a:gd name="adj" fmla="val 11821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10" name="Shape 7"/>
          <p:cNvSpPr/>
          <p:nvPr/>
        </p:nvSpPr>
        <p:spPr>
          <a:xfrm>
            <a:off x="1047750" y="3543300"/>
            <a:ext cx="76200" cy="1260000"/>
          </a:xfrm>
          <a:prstGeom prst="rect">
            <a:avLst/>
          </a:prstGeom>
          <a:solidFill>
            <a:srgbClr val="9AA6B6"/>
          </a:solidFill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1047750" y="4992945"/>
            <a:ext cx="7810500" cy="1260000"/>
          </a:xfrm>
          <a:prstGeom prst="roundRect">
            <a:avLst>
              <a:gd name="adj" fmla="val 7988"/>
            </a:avLst>
          </a:prstGeom>
          <a:solidFill>
            <a:srgbClr val="FBF3E6"/>
          </a:solidFill>
        </p:spPr>
        <p:txBody>
          <a:bodyPr/>
          <a:lstStyle/>
          <a:p/>
        </p:txBody>
      </p:sp>
      <p:sp>
        <p:nvSpPr>
          <p:cNvPr id="13" name="Shape 10"/>
          <p:cNvSpPr/>
          <p:nvPr/>
        </p:nvSpPr>
        <p:spPr>
          <a:xfrm>
            <a:off x="1047750" y="4992945"/>
            <a:ext cx="76200" cy="1260000"/>
          </a:xfrm>
          <a:prstGeom prst="rect">
            <a:avLst/>
          </a:prstGeom>
          <a:solidFill>
            <a:srgbClr val="E0A43B"/>
          </a:solidFill>
        </p:spPr>
        <p:txBody>
          <a:bodyPr/>
          <a:lstStyle/>
          <a:p/>
        </p:txBody>
      </p:sp>
      <p:sp>
        <p:nvSpPr>
          <p:cNvPr id="15" name="Shape 12"/>
          <p:cNvSpPr/>
          <p:nvPr/>
        </p:nvSpPr>
        <p:spPr>
          <a:xfrm>
            <a:off x="1047750" y="6478726"/>
            <a:ext cx="7810500" cy="1260000"/>
          </a:xfrm>
          <a:prstGeom prst="roundRect">
            <a:avLst>
              <a:gd name="adj" fmla="val 1182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16" name="Shape 13"/>
          <p:cNvSpPr/>
          <p:nvPr/>
        </p:nvSpPr>
        <p:spPr>
          <a:xfrm>
            <a:off x="1047750" y="6478726"/>
            <a:ext cx="76200" cy="1260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9810750" y="2872740"/>
            <a:ext cx="40259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三点自查，逐一调整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627870" y="3543300"/>
            <a:ext cx="7577455" cy="1259840"/>
          </a:xfrm>
          <a:prstGeom prst="roundRect">
            <a:avLst>
              <a:gd name="adj" fmla="val 15802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21" name="Shape 18"/>
          <p:cNvSpPr/>
          <p:nvPr/>
        </p:nvSpPr>
        <p:spPr>
          <a:xfrm>
            <a:off x="9627870" y="4993005"/>
            <a:ext cx="7577455" cy="1259840"/>
          </a:xfrm>
          <a:prstGeom prst="roundRect">
            <a:avLst>
              <a:gd name="adj" fmla="val 10837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23" name="Shape 20"/>
          <p:cNvSpPr/>
          <p:nvPr/>
        </p:nvSpPr>
        <p:spPr>
          <a:xfrm>
            <a:off x="9627870" y="6478726"/>
            <a:ext cx="7577455" cy="1259840"/>
          </a:xfrm>
          <a:prstGeom prst="roundRect">
            <a:avLst>
              <a:gd name="adj" fmla="val 15802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25" name="Text 22"/>
          <p:cNvSpPr/>
          <p:nvPr/>
        </p:nvSpPr>
        <p:spPr>
          <a:xfrm>
            <a:off x="1047750" y="8639175"/>
            <a:ext cx="15795625" cy="713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再整理错别字、圈删多余词句、补齐缺漏；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未写完的先完成正文，改一处即可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90650" y="3960923"/>
            <a:ext cx="7435215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了：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写清推荐地点，完整写出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条理由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390650" y="5217240"/>
            <a:ext cx="7435215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了：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理由角度不重复，每一段都写下现场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真实的所见所感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390650" y="6667500"/>
            <a:ext cx="7461885" cy="9594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写得让人想去：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读者读完心生向往，能说出被哪一处细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节打动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913620" y="3732530"/>
            <a:ext cx="7080885" cy="901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几条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理由是否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分段书写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，段首有没有清晰亮出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观点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913620" y="5217160"/>
            <a:ext cx="7439660" cy="811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只有“很好”“很不错”的段落，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补一句感官细节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你看见了什么、闻到了什么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913620" y="6896349"/>
            <a:ext cx="7080885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检查文末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有没有邀约的语句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33255"/>
            <a:ext cx="13319999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pic>
        <p:nvPicPr>
          <p:cNvPr id="2" name="图片 1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6505" y="389255"/>
            <a:ext cx="1642000" cy="1872000"/>
          </a:xfrm>
          <a:prstGeom prst="rect">
            <a:avLst/>
          </a:prstGeom>
        </p:spPr>
      </p:pic>
      <p:pic>
        <p:nvPicPr>
          <p:cNvPr id="17" name="图片 16" descr="小小动物园-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2890"/>
            <a:ext cx="6859789" cy="5760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6859905" y="2802890"/>
            <a:ext cx="11428095" cy="5760085"/>
          </a:xfrm>
          <a:prstGeom prst="rect">
            <a:avLst/>
          </a:prstGeom>
          <a:solidFill>
            <a:srgbClr val="FFEC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382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收尾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6711950" cy="7981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带回家：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读给家人听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185025" y="39433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7546975" y="3790950"/>
            <a:ext cx="9383395" cy="1095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一句“那儿挺好”打动不了人；讲出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柿子、米糕这些真切</a:t>
            </a:r>
            <a:endParaRPr lang="en-US" sz="277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事物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，就能吸引他人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7185025" y="538162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7546975" y="5229225"/>
            <a:ext cx="10312400" cy="1095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条理由一条一段，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段首亮观点、段中填细节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；开头总说、</a:t>
            </a:r>
            <a:endParaRPr lang="en-US" sz="277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结尾邀请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7185025" y="68199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7546975" y="6667500"/>
            <a:ext cx="759684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这套写法，日后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推荐书籍、影片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同样可以用</a:t>
            </a:r>
            <a:endParaRPr lang="en-US" sz="2775" dirty="0"/>
          </a:p>
        </p:txBody>
      </p:sp>
      <p:sp>
        <p:nvSpPr>
          <p:cNvPr id="15" name="Text 11"/>
          <p:cNvSpPr/>
          <p:nvPr/>
        </p:nvSpPr>
        <p:spPr>
          <a:xfrm>
            <a:off x="1047750" y="8909685"/>
            <a:ext cx="13014960" cy="6026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稿子今天已经写好，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回家后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读给家人听，问问他们：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想不想去？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3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15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4"/>
          <p:cNvSpPr/>
          <p:nvPr/>
        </p:nvSpPr>
        <p:spPr>
          <a:xfrm>
            <a:off x="2057400" y="5676900"/>
            <a:ext cx="11610052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</a:t>
            </a: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条理由各一段，段首亮观点——用真切的细节，让人心生向往。</a:t>
            </a:r>
            <a:endParaRPr lang="en-US" sz="28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2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3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4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5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6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8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9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10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11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12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13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14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15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16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17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18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19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0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1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2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3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4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5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6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7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8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29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30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31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32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33.xml><?xml version="1.0" encoding="utf-8"?>
<p:tagLst xmlns:p="http://schemas.openxmlformats.org/presentationml/2006/main">
  <p:tag name="KSO_WM_DIAGRAM_VIRTUALLY_FRAME" val="{&quot;height&quot;:521.1151306152344,&quot;left&quot;:89.19999999999996,&quot;top&quot;:204.25,&quot;width&quot;:1267.95}"/>
</p:tagLst>
</file>

<file path=ppt/tags/tag34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35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36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37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38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39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40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41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42.xml><?xml version="1.0" encoding="utf-8"?>
<p:tagLst xmlns:p="http://schemas.openxmlformats.org/presentationml/2006/main">
  <p:tag name="KSO_WM_DIAGRAM_VIRTUALLY_FRAME" val="{&quot;height&quot;:160.40622047244096,&quot;left&quot;:82.5,&quot;top&quot;:232.5,&quot;width&quot;:1282.5}"/>
</p:tagLst>
</file>

<file path=ppt/tags/tag43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44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45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46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47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48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49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0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1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2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3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4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5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6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7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8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59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0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1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2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3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4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5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6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67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68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69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0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1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2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3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4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5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6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7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2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03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04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05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06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07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08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09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10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11.xml><?xml version="1.0" encoding="utf-8"?>
<p:tagLst xmlns:p="http://schemas.openxmlformats.org/presentationml/2006/main">
  <p:tag name="KSO_WM_DIAGRAM_VIRTUALLY_FRAME" val="{&quot;height&quot;:365.3250393700788,&quot;left&quot;:79.5,&quot;top&quot;:236.4,&quot;width&quot;:1279.29}"/>
</p:tagLst>
</file>

<file path=ppt/tags/tag112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13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14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15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16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17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18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19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20.xml><?xml version="1.0" encoding="utf-8"?>
<p:tagLst xmlns:p="http://schemas.openxmlformats.org/presentationml/2006/main">
  <p:tag name="KSO_WM_DIAGRAM_VIRTUALLY_FRAME" val="{&quot;height&quot;:226.2,&quot;left&quot;:79.5,&quot;top&quot;:315,&quot;width&quot;:1040.35}"/>
</p:tagLst>
</file>

<file path=ppt/tags/tag121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2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3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4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5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6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7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8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9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30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1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2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3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4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5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6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7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8.xml><?xml version="1.0" encoding="utf-8"?>
<p:tagLst xmlns:p="http://schemas.openxmlformats.org/presentationml/2006/main">
  <p:tag name="KSO_WM_DIAGRAM_VIRTUALLY_FRAME" val="{&quot;height&quot;:294.55,&quot;left&quot;:82.5,&quot;top&quot;:217.15,&quot;width&quot;:1400.75}"/>
</p:tagLst>
</file>

<file path=ppt/tags/tag139.xml><?xml version="1.0" encoding="utf-8"?>
<p:tagLst xmlns:p="http://schemas.openxmlformats.org/presentationml/2006/main">
  <p:tag name="COMMONDATA" val="eyJoZGlkIjoiYjNkMGVmZTg3ZDFjNzBmZGRjYjliYWY5MzNlMTc1ZW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4687</Words>
  <Application>WPS 演示</Application>
  <PresentationFormat>自定义</PresentationFormat>
  <Paragraphs>551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微软雅黑</vt:lpstr>
      <vt:lpstr>楷体</vt:lpstr>
      <vt:lpstr>Calibri</vt:lpstr>
      <vt:lpstr>Arial Unicode MS</vt:lpstr>
      <vt:lpstr>思源黑体 CN Normal</vt:lpstr>
      <vt:lpstr>等线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79</cp:revision>
  <dcterms:created xsi:type="dcterms:W3CDTF">2026-08-05T13:35:00Z</dcterms:created>
  <dcterms:modified xsi:type="dcterms:W3CDTF">2026-09-01T09:38:40Z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7CC3DB76E928438F97631683E96A2BD0_13</vt:lpwstr>
  </property>
  <property fmtid="{D5CDD505-2E9C-101B-9397-08002B2CF9AE}" pid="3" name="KSOProductBuildVer">
    <vt:lpwstr>2052-12.1.0.20305</vt:lpwstr>
  </property>
</Properties>
</file>