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课前导入：这两节课的最后，教室里要开一场童话故事会——讲的童话全是自己现编的，一人一个，写完讲给大家听，收进班级童话集。三上第四单元想象习作，2课时连排。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第1课时·写作指导课。线索：宣布当堂童话故事会任务，回顾单元童话课文、从词语里想画面，辨'哪一段才是童话'，学'编完整+经过里添一处波折'，填童话构思表，读教师示范文《国王与铜锅》。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宣布任务：这两节课最后，教室里开一场童话故事会。讲的童话不是书上找来的、不是老师带来的，是自己编的——一人一个，写完讲给大家听。老师也算一个，等会儿讲写法时就用一组词语当场编。今天连老师带同学，每人手里都会有一个新故事。这正是第四单元习作《我来编童话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故事最要紧的是有人听。今天的听众就是全班同学。故事编得好不好不用老师打分，听的人会告诉你：讲到一半有人追问'后来呢'，就抓住人了；讲完有人说'真想不到'，那更好；要是讲完半天没人接一句话，多半是故事太平淡，回去再改一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编童话前先想本单元的童话：《卖火柴的小女孩》《那一定会更好》《在牛肚子里旅行》《一块奶酪》——每个故事里哪些事平常日子不会发生？火柴一擦亮变出烤鹅、树自己盘算日子、蟋蟀进了牛肚子又回来、蚂蚁说话抬奶酪。总结童话长相：东西会开口说话，会发生神奇的、想不到的事，有的讲完还让人明白一个道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示教材三组词语（教材页另有词组的照实增补）。先不编故事，只说画面：盯着一组词，脑子里冒出什么画面？示范：天快黑了，厨房里一个人也没有，国王自己站在大锅前面。开火车一人一句，说哪组都行，两列即可。学生说不出就起半句让他接：'黄昏的厨房里，谁进来了？''星期天的小河边，玫瑰花在干什么？''冬天的森林超市里，啄木鸟来买什么？'总结：画面有了，故事就能接着编；那个画面先在心里留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段都用了'小河边、玫瑰花、星期天'。A段：星期天和妈妈去河边散步看花拍照——写得不差，可它是把一件真事写清楚，这叫记事。B段：玫瑰花伸懒腰、发现红裙子少了一片、着急地问河水——东西开口说话，神奇的事发生了，这才是童话。判断不看句子漂不漂亮，看有没有生活里不会发生的事。今天千万别写成自己星期天真去过哪儿的记事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光有童话味还不够，故事得编完整。听故事的人心里有几个问题等着你回答：有谁？——角色；什么时候、什么地方？——时间地点；怎么开始的？——起因；中间发生了什么？——经过；最后怎么样了？——结果。一样不缺，听的人才觉得听到了完整的故事。刚才第二段已有好开头：星期天（时间）、小河边（地点）、玫瑰花和河水（角色）、花瓣丢了（起因）——接下来该编经过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把故事顺着往下编了一版（见屏）。连起来听，完整吗？完整——角色、时间、地点都有，事情从头到尾交代完了。可你们想不想追问一句'后来呢'？——不想，听完就完了，太平淡。问题就出在这儿：从头到尾顺顺当当，没有一点让人担心的地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场给这段动手术，就添几句话（见屏红字版）。再比一比，哪一版更想听下去？——第二版。多了什么？多了一场麻烦：眼看花瓣要拿回来了，忽然下起雨、花瓣又被冲走，听的人心一下提起来——还追得上吗？这种冒出来的麻烦就叫波折。波折一来，听的人就放不下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给故事添波折，路子有三条：遇到困难、碰上意外、要紧关头来帮手（刚才那版，意外和帮手都有了）。引出波折的话现成：'忽然''就在这时''谁知'。还有一处：小鱼大喊'别怕，我来！'——角色一开口故事就热闹了；写语言记两样：说话人后面点冒号，说出来的话标双引号（本学期标点重点）。口头练：就你看中的那组词、心里那个画面，想一个可能冒出来的麻烦，用'忽然'或'就在这时'起头说一句。抽两三位，点明他的波折是困难、意外还是帮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故事在脑子里还是一团，直接写容易乱。发童话构思表，一格只写关键词，能提醒自己就行，不写长句。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老师先填一张示范（投屏逐格念）：用第一组词——国王、黄昏、厨房。每格就几个词，'经过'那格用小箭头连一连，麻烦在哪儿一眼看得见。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生填自己的表（约3分钟）。填'经过'多想半分钟：你的波折是困难、意外还是帮手？填不出的不批评，把三个方向指给他挑：角色会遇到什么难事？会不会出个意外？要不要来个帮手？填好后同桌换着讲：看着表把故事从头到尾说一遍，一两分钟。听的人听完追问一句'后来呢''他为什么这么做'——问到答不上来的地方，就是表上还缺的地方，回去补。再请一两位说给全班，反馈落到具体：波折设在哪一步、结果收得干脆不干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把表里那个故事整个讲一遍，学生当第一批听众，一边听一边留心：老师怎么照着那张表，把几个词编成一个故事。标色与后面旁批表同色呼应：紫=东西开口说话（童话味），红=波折上场，蓝=对话（冒号引号），绿=打比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对框架：有谁？什么时候什么地方？（国王和会说话的铜锅；黄昏，王宫大厨房）起因经过结果各在哪儿？——构思表里的内容一个没落。波折是哪一处？——梯子晃了、盐罐掉下来摔了，汤又眼看要煮干，两桩麻烦叠在一起，全篇最紧张。再问哪一句最像亲眼看见的，把学生说的理成这张旁批表，颜色与示范文标色一一对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第2课时·当堂写作与评改课。先看着构思表写下第一句和起因，再自由写作约17分钟，然后童话故事会（同桌场+全班场）、带标准修改、收稿进班级童话集。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拿出构思表，找到'角色'和'时间·地点'两格。童话的第一句最好写：把这两格连起来说就是了。老师表上填的是'黄昏、王宫大厨房、国王'，连起来就是——'黄昏的时候，国王一个人走进了大厨房。'把你那两格连成一句，直接写在稿纸第一行。第一句写完后面就顺了：顺着往下写，想到什么写什么，不会写的字画个圈占住位置。先别管好不好，把起因写出来（约3分钟，教师不出声巡视、不纠正）。停笔看看——童话已经开了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着往下写约十四五分钟，把整个故事写完。三件事记在心里（见屏）。写时不用回头改字，一口气写完再说。巡视只做正向介入：接不下去的领回构思表——'经过'那格的波折还没上场呢；空泛的落到具体——别光说开心，写他们说了什么做了什么；顺畅的不打断；草草收尾的推一步——麻烦解决得太快了，中间怎么解决的写出来。临近时间：先把手上这句落个句号，没写完的记住后面想怎么编，评议完还有时间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故事会开场。第一场讲给同桌听：拿着稿子把童话从头到尾念一遍。听的人两件事：听完告诉他你觉得哪儿最神奇；再从他的故事里挑出一句你最喜欢的，念给他听。两人都讲完、都听完才算完。教师到几组跟前当听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场：请两三位同学把童话完完整整讲给全班（先2位，顺畅再加第三位，每人两分半以内）。台下都是评委，听时想三件事：完整吗？哪儿最神奇？哪儿最有趣？每篇读完先请一两位听众按三个角度说感受，教师再轻点评——落到具体句上：哪一句波折来得妙、哪一句对话像真的有人在说；每篇顺点一个可改的点。发言面放宽些，别总是常举手的几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到稿子上改一改，对着三个问题过一遍：①角色、时间地点、起因、经过、结果，缺不缺？缺了补上。②经过里那处波折在不在？从头顺到尾的，用'就在这时'添个麻烦。③角色说话的地方，冒号引号用对没有？顺手理错字：多的圈掉、漏的补上，写圈的字问同桌或老师。三档标准供教师掌握，不必念给学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点亮：请五六位被同桌选中句子的作者起立，把那一句大声念给全班，教师逐句接一句具体的肯定。收故事：稿子传给本列最前面的同学，一列一摞，排头放进册子——班级童话集今天装满了，里面每个故事都是今天现编的、以前世界上没有的。册子放教室书架，来上课都可以翻。回家把童话讲给家里人听。总结：往后不管编什么故事，这条线都用得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选环节，不计入两节连排；课后集中讲评，或作下次课开场约15-20分钟。课前通读全班稿件，围绕本课技法点挑三篇投屏（不念姓名）：较好的看'编完整、有波折'长什么样；中等的演示'把波折放大'；有典型问题的全班帮出主意。屏上＿＿＿处务必换成本班学生真实句子，切勿虚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收束：用三个词语编出了一个完整的童话——有角色，有时间地点，起因、经过、结果一样不缺，中间还有一处让人替角色着急的波折。班级童话集放教室书架，随时翻。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71589" y="323850"/>
            <a:ext cx="1668661" cy="6286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57250" y="1143000"/>
            <a:ext cx="16573500" cy="5715000"/>
          </a:xfrm>
          <a:prstGeom prst="roundRect">
            <a:avLst>
              <a:gd name="adj" fmla="val 2667"/>
            </a:avLst>
          </a:prstGeom>
          <a:gradFill rotWithShape="1">
            <a:gsLst>
              <a:gs pos="0">
                <a:srgbClr val="EE7B2E">
                  <a:alpha val="100000"/>
                </a:srgbClr>
              </a:gs>
              <a:gs pos="42000">
                <a:srgbClr val="F0A63C">
                  <a:alpha val="100000"/>
                </a:srgbClr>
              </a:gs>
              <a:gs pos="100000">
                <a:srgbClr val="57B0A6">
                  <a:alpha val="100000"/>
                </a:srgbClr>
              </a:gs>
            </a:gsLst>
            <a:lin ang="900000" scaled="0"/>
          </a:gradFill>
          <a:ln/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2952750" y="1428750"/>
            <a:ext cx="3429000" cy="3429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810250" y="4191000"/>
            <a:ext cx="4095750" cy="409575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3810000" y="2667000"/>
            <a:ext cx="11734800" cy="1443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551"/>
              </a:lnSpc>
              <a:buNone/>
            </a:pPr>
            <a:r>
              <a:rPr lang="en-US" sz="8850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我来编童话</a:t>
            </a:r>
            <a:endParaRPr lang="en-US" sz="8850" dirty="0"/>
          </a:p>
        </p:txBody>
      </p:sp>
      <p:sp>
        <p:nvSpPr>
          <p:cNvPr id="8" name="Text 5"/>
          <p:cNvSpPr/>
          <p:nvPr/>
        </p:nvSpPr>
        <p:spPr>
          <a:xfrm>
            <a:off x="3848100" y="4476750"/>
            <a:ext cx="117348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三年级上册 · 第四单元 · 校内同步写作（想象）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0" y="2857500"/>
            <a:ext cx="1066800" cy="133350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00"/>
            <a:ext cx="1066800" cy="1333500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0" y="6953250"/>
            <a:ext cx="4095750" cy="2667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47750" y="8943975"/>
            <a:ext cx="357495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三年级上册 · 第四单元</a:t>
            </a:r>
            <a:endParaRPr lang="en-US" sz="2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038350" y="3181350"/>
            <a:ext cx="2455500" cy="2119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52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250" dirty="0"/>
          </a:p>
        </p:txBody>
      </p:sp>
      <p:sp>
        <p:nvSpPr>
          <p:cNvPr id="6" name="Text 4"/>
          <p:cNvSpPr/>
          <p:nvPr/>
        </p:nvSpPr>
        <p:spPr>
          <a:xfrm>
            <a:off x="2228850" y="5676900"/>
            <a:ext cx="31432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734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写作指导课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2247900" y="6572250"/>
            <a:ext cx="902358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FFFFF">
                    <a:alpha val="9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 · 词语想画面 · 学写法 · 童话构思表 · 教师示范文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42494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28750"/>
            <a:ext cx="8487519" cy="950565"/>
          </a:xfrm>
          <a:prstGeom prst="roundRect">
            <a:avLst>
              <a:gd name="adj" fmla="val 20041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66850" y="1619250"/>
            <a:ext cx="7903945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今天要办一件事——开一场 </a:t>
            </a:r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童话故事会</a:t>
            </a:r>
            <a:endParaRPr lang="en-US" sz="3450" dirty="0"/>
          </a:p>
        </p:txBody>
      </p:sp>
      <p:sp>
        <p:nvSpPr>
          <p:cNvPr id="8" name="Shape 5"/>
          <p:cNvSpPr/>
          <p:nvPr/>
        </p:nvSpPr>
        <p:spPr>
          <a:xfrm>
            <a:off x="1162050" y="2550765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47750" y="2952750"/>
            <a:ext cx="16192500" cy="942975"/>
          </a:xfrm>
          <a:prstGeom prst="roundRect">
            <a:avLst>
              <a:gd name="adj" fmla="val 16162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28750" y="3181350"/>
            <a:ext cx="1591627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C3A54"/>
                </a:solidFill>
                <a:highlight>
                  <a:srgbClr val="DCE6F5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故事会上讲的童话，不是书上找来的，是 </a:t>
            </a:r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你们自己编的</a:t>
            </a:r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C3A54"/>
                </a:solidFill>
                <a:highlight>
                  <a:srgbClr val="DCE6F5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——一人编一个，写完就讲给大家听。</a:t>
            </a:r>
            <a:endParaRPr lang="en-US" sz="2550" dirty="0"/>
          </a:p>
        </p:txBody>
      </p:sp>
      <p:sp>
        <p:nvSpPr>
          <p:cNvPr id="11" name="Shape 8"/>
          <p:cNvSpPr/>
          <p:nvPr/>
        </p:nvSpPr>
        <p:spPr>
          <a:xfrm>
            <a:off x="1047750" y="438150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009650" y="43815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905000" y="4438650"/>
            <a:ext cx="8982815" cy="521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老师也算一个——等会儿讲写法的时候，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当场用一组词语编</a:t>
            </a:r>
            <a:endParaRPr lang="en-US" sz="2625" dirty="0"/>
          </a:p>
        </p:txBody>
      </p:sp>
      <p:sp>
        <p:nvSpPr>
          <p:cNvPr id="14" name="Shape 11"/>
          <p:cNvSpPr/>
          <p:nvPr/>
        </p:nvSpPr>
        <p:spPr>
          <a:xfrm>
            <a:off x="1047750" y="533400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009650" y="53340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905000" y="5391150"/>
            <a:ext cx="8241030" cy="521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今天这间教室里，连老师带同学，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每人手里一个新故事</a:t>
            </a:r>
            <a:endParaRPr lang="en-US" sz="2625" dirty="0"/>
          </a:p>
        </p:txBody>
      </p:sp>
      <p:sp>
        <p:nvSpPr>
          <p:cNvPr id="17" name="Shape 14"/>
          <p:cNvSpPr/>
          <p:nvPr/>
        </p:nvSpPr>
        <p:spPr>
          <a:xfrm>
            <a:off x="1047750" y="628650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009650" y="62865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1905000" y="6343650"/>
            <a:ext cx="8296062" cy="521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写好的故事收进讲台上这个空册子——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咱们班的童话集</a:t>
            </a:r>
            <a:endParaRPr lang="en-US" sz="2625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4476750"/>
            <a:ext cx="4953000" cy="38100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047750" y="9391650"/>
            <a:ext cx="178117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这件事，正是这学期语文书第四单元的那次习作——</a:t>
            </a:r>
            <a:pPr algn="l" indent="0" marL="0"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《我来编童话》</a:t>
            </a:r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42494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28750"/>
            <a:ext cx="6096000" cy="950565"/>
          </a:xfrm>
          <a:prstGeom prst="roundRect">
            <a:avLst>
              <a:gd name="adj" fmla="val 20041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66850" y="1619250"/>
            <a:ext cx="5440680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故事好不好，</a:t>
            </a:r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听的人说了算</a:t>
            </a:r>
            <a:endParaRPr lang="en-US" sz="3450" dirty="0"/>
          </a:p>
        </p:txBody>
      </p:sp>
      <p:sp>
        <p:nvSpPr>
          <p:cNvPr id="8" name="Shape 5"/>
          <p:cNvSpPr/>
          <p:nvPr/>
        </p:nvSpPr>
        <p:spPr>
          <a:xfrm>
            <a:off x="1047750" y="3048000"/>
            <a:ext cx="5168801" cy="3810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57275" y="3057525"/>
            <a:ext cx="5149751" cy="733425"/>
          </a:xfrm>
          <a:custGeom>
            <a:avLst/>
            <a:gdLst/>
            <a:ahLst/>
            <a:cxnLst/>
            <a:rect l="l" t="t" r="r" b="b"/>
            <a:pathLst>
              <a:path w="5149751" h="733425">
                <a:moveTo>
                  <a:pt x="171450" y="0"/>
                </a:moveTo>
                <a:lnTo>
                  <a:pt x="4978301" y="0"/>
                </a:lnTo>
                <a:arcTo hR="171450" wR="171450" stAng="16200000" swAng="5400000"/>
                <a:lnTo>
                  <a:pt x="5149751" y="733425"/>
                </a:lnTo>
                <a:lnTo>
                  <a:pt x="0" y="733425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3D4A63"/>
          </a:solidFill>
          <a:ln/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" y="3057525"/>
            <a:ext cx="5149751" cy="7334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003500" y="3228975"/>
            <a:ext cx="1257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讲到一半</a:t>
            </a:r>
            <a:endParaRPr lang="en-US" sz="2325" dirty="0"/>
          </a:p>
        </p:txBody>
      </p:sp>
      <p:sp>
        <p:nvSpPr>
          <p:cNvPr id="12" name="Text 8"/>
          <p:cNvSpPr/>
          <p:nvPr/>
        </p:nvSpPr>
        <p:spPr>
          <a:xfrm>
            <a:off x="1362075" y="4095750"/>
            <a:ext cx="4694643" cy="2486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76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有人追着问 </a:t>
            </a:r>
            <a:pPr algn="l" indent="0" marL="0">
              <a:lnSpc>
                <a:spcPct val="120976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“后来呢？后来怎么样了？” </a:t>
            </a:r>
            <a:pPr algn="l" indent="0" marL="0">
              <a:lnSpc>
                <a:spcPct val="120976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——你这个故事 </a:t>
            </a:r>
            <a:pPr algn="l" indent="0" marL="0">
              <a:lnSpc>
                <a:spcPct val="120976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抓住人了</a:t>
            </a:r>
            <a:pPr algn="l" indent="0" marL="0">
              <a:lnSpc>
                <a:spcPct val="120976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325" dirty="0"/>
          </a:p>
        </p:txBody>
      </p:sp>
      <p:sp>
        <p:nvSpPr>
          <p:cNvPr id="13" name="Shape 9"/>
          <p:cNvSpPr/>
          <p:nvPr/>
        </p:nvSpPr>
        <p:spPr>
          <a:xfrm>
            <a:off x="6559451" y="3048000"/>
            <a:ext cx="5168950" cy="3810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6568976" y="3057525"/>
            <a:ext cx="5149900" cy="733425"/>
          </a:xfrm>
          <a:custGeom>
            <a:avLst/>
            <a:gdLst/>
            <a:ahLst/>
            <a:cxnLst/>
            <a:rect l="l" t="t" r="r" b="b"/>
            <a:pathLst>
              <a:path w="5149900" h="733425">
                <a:moveTo>
                  <a:pt x="171450" y="0"/>
                </a:moveTo>
                <a:lnTo>
                  <a:pt x="4978450" y="0"/>
                </a:lnTo>
                <a:arcTo hR="171450" wR="171450" stAng="16200000" swAng="5400000"/>
                <a:lnTo>
                  <a:pt x="5149900" y="733425"/>
                </a:lnTo>
                <a:lnTo>
                  <a:pt x="0" y="733425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3D4A63"/>
          </a:solidFill>
          <a:ln/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976" y="3057525"/>
            <a:ext cx="5149900" cy="7334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62839" y="3228975"/>
            <a:ext cx="96202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讲完了</a:t>
            </a:r>
            <a:endParaRPr lang="en-US" sz="2325" dirty="0"/>
          </a:p>
        </p:txBody>
      </p:sp>
      <p:sp>
        <p:nvSpPr>
          <p:cNvPr id="17" name="Text 12"/>
          <p:cNvSpPr/>
          <p:nvPr/>
        </p:nvSpPr>
        <p:spPr>
          <a:xfrm>
            <a:off x="6873776" y="4095750"/>
            <a:ext cx="4694797" cy="2486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76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有人说 </a:t>
            </a:r>
            <a:pPr algn="l" indent="0" marL="0">
              <a:lnSpc>
                <a:spcPct val="120976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“真想不到，你怎么编出来的” </a:t>
            </a:r>
            <a:pPr algn="l" indent="0" marL="0">
              <a:lnSpc>
                <a:spcPct val="120976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——那就 </a:t>
            </a:r>
            <a:pPr algn="l" indent="0" marL="0">
              <a:lnSpc>
                <a:spcPct val="120976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更好了</a:t>
            </a:r>
            <a:pPr algn="l" indent="0" marL="0">
              <a:lnSpc>
                <a:spcPct val="120976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325" dirty="0"/>
          </a:p>
        </p:txBody>
      </p:sp>
      <p:sp>
        <p:nvSpPr>
          <p:cNvPr id="18" name="Shape 13"/>
          <p:cNvSpPr/>
          <p:nvPr/>
        </p:nvSpPr>
        <p:spPr>
          <a:xfrm>
            <a:off x="12071300" y="3048000"/>
            <a:ext cx="5168950" cy="3810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12080825" y="3057525"/>
            <a:ext cx="5149900" cy="733425"/>
          </a:xfrm>
          <a:custGeom>
            <a:avLst/>
            <a:gdLst/>
            <a:ahLst/>
            <a:cxnLst/>
            <a:rect l="l" t="t" r="r" b="b"/>
            <a:pathLst>
              <a:path w="5149900" h="733425">
                <a:moveTo>
                  <a:pt x="171450" y="0"/>
                </a:moveTo>
                <a:lnTo>
                  <a:pt x="4978450" y="0"/>
                </a:lnTo>
                <a:arcTo hR="171450" wR="171450" stAng="16200000" swAng="5400000"/>
                <a:lnTo>
                  <a:pt x="5149900" y="733425"/>
                </a:lnTo>
                <a:lnTo>
                  <a:pt x="0" y="733425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3D4A63"/>
          </a:solidFill>
          <a:ln/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80825" y="3057525"/>
            <a:ext cx="5149900" cy="7334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027051" y="3228975"/>
            <a:ext cx="1257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讲完半天</a:t>
            </a:r>
            <a:endParaRPr lang="en-US" sz="2325" dirty="0"/>
          </a:p>
        </p:txBody>
      </p:sp>
      <p:sp>
        <p:nvSpPr>
          <p:cNvPr id="22" name="Text 16"/>
          <p:cNvSpPr/>
          <p:nvPr/>
        </p:nvSpPr>
        <p:spPr>
          <a:xfrm>
            <a:off x="12385625" y="4095750"/>
            <a:ext cx="4694797" cy="2486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76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没有一个人想接一句话 ——多半是 </a:t>
            </a:r>
            <a:pPr algn="l" indent="0" marL="0">
              <a:lnSpc>
                <a:spcPct val="120976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故事太平淡 </a:t>
            </a:r>
            <a:pPr algn="l" indent="0" marL="0">
              <a:lnSpc>
                <a:spcPct val="120976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，咱们回去再改一改。</a:t>
            </a:r>
            <a:endParaRPr lang="en-US" sz="2325" dirty="0"/>
          </a:p>
        </p:txBody>
      </p:sp>
      <p:sp>
        <p:nvSpPr>
          <p:cNvPr id="23" name="Shape 17"/>
          <p:cNvSpPr/>
          <p:nvPr/>
        </p:nvSpPr>
        <p:spPr>
          <a:xfrm>
            <a:off x="1047750" y="8042970"/>
            <a:ext cx="16192500" cy="1005780"/>
          </a:xfrm>
          <a:prstGeom prst="roundRect">
            <a:avLst>
              <a:gd name="adj" fmla="val 17046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24" name="Text 18"/>
          <p:cNvSpPr/>
          <p:nvPr/>
        </p:nvSpPr>
        <p:spPr>
          <a:xfrm>
            <a:off x="1466850" y="8309670"/>
            <a:ext cx="15840075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95"/>
              </a:lnSpc>
              <a:buNone/>
            </a:pPr>
            <a:r>
              <a:rPr lang="en-US" sz="2400" dirty="0">
                <a:solidFill>
                  <a:srgbClr val="2A2E37"/>
                </a:solidFill>
                <a:highlight>
                  <a:srgbClr val="FCF3EE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今天你的听众就坐在你身边——</a:t>
            </a:r>
            <a:pPr algn="l" indent="0" marL="0">
              <a:lnSpc>
                <a:spcPct val="118095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全班同学</a:t>
            </a:r>
            <a:pPr algn="l" indent="0" marL="0">
              <a:lnSpc>
                <a:spcPct val="118095"/>
              </a:lnSpc>
              <a:buNone/>
            </a:pPr>
            <a:r>
              <a:rPr lang="en-US" sz="2400" dirty="0">
                <a:solidFill>
                  <a:srgbClr val="2A2E37"/>
                </a:solidFill>
                <a:highlight>
                  <a:srgbClr val="FCF3EE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400" dirty="0"/>
          </a:p>
        </p:txBody>
      </p:sp>
      <p:sp>
        <p:nvSpPr>
          <p:cNvPr id="25" name="Text 19"/>
          <p:cNvSpPr/>
          <p:nvPr/>
        </p:nvSpPr>
        <p:spPr>
          <a:xfrm>
            <a:off x="1047750" y="9391650"/>
            <a:ext cx="178117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一个故事编得好不好，不用老师打分——</a:t>
            </a:r>
            <a:pPr algn="l" indent="0" marL="0"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听的人会告诉你</a:t>
            </a:r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42494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回顾童话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28750"/>
            <a:ext cx="9293572" cy="950565"/>
          </a:xfrm>
          <a:prstGeom prst="roundRect">
            <a:avLst>
              <a:gd name="adj" fmla="val 20041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66850" y="1619250"/>
            <a:ext cx="8734179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这些课文里，哪些事 </a:t>
            </a:r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平常日子里不会发生</a:t>
            </a:r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3450" dirty="0"/>
          </a:p>
        </p:txBody>
      </p:sp>
      <p:sp>
        <p:nvSpPr>
          <p:cNvPr id="8" name="Shape 5"/>
          <p:cNvSpPr/>
          <p:nvPr/>
        </p:nvSpPr>
        <p:spPr>
          <a:xfrm>
            <a:off x="1047750" y="3048000"/>
            <a:ext cx="7953375" cy="1452563"/>
          </a:xfrm>
          <a:prstGeom prst="roundRect">
            <a:avLst>
              <a:gd name="adj" fmla="val 10492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400175" y="3324225"/>
            <a:ext cx="797337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《卖火柴的小女孩》</a:t>
            </a:r>
            <a:endParaRPr lang="en-US" sz="2325" dirty="0"/>
          </a:p>
        </p:txBody>
      </p:sp>
      <p:sp>
        <p:nvSpPr>
          <p:cNvPr id="10" name="Text 7"/>
          <p:cNvSpPr/>
          <p:nvPr/>
        </p:nvSpPr>
        <p:spPr>
          <a:xfrm>
            <a:off x="1400175" y="3810000"/>
            <a:ext cx="7973377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火柴一擦亮，眼前就出现了 </a:t>
            </a:r>
            <a:pPr algn="l" indent="0" marL="0">
              <a:lnSpc>
                <a:spcPct val="111538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大火炉、烤鹅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9286875" y="3048000"/>
            <a:ext cx="7953375" cy="1452563"/>
          </a:xfrm>
          <a:prstGeom prst="roundRect">
            <a:avLst>
              <a:gd name="adj" fmla="val 10492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9639300" y="3324225"/>
            <a:ext cx="797337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《那一定会更好》</a:t>
            </a:r>
            <a:endParaRPr lang="en-US" sz="2325" dirty="0"/>
          </a:p>
        </p:txBody>
      </p:sp>
      <p:sp>
        <p:nvSpPr>
          <p:cNvPr id="13" name="Text 10"/>
          <p:cNvSpPr/>
          <p:nvPr/>
        </p:nvSpPr>
        <p:spPr>
          <a:xfrm>
            <a:off x="9639300" y="3810000"/>
            <a:ext cx="7973377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一棵树 </a:t>
            </a:r>
            <a:pPr algn="l" indent="0" marL="0">
              <a:lnSpc>
                <a:spcPct val="111538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自己想事情</a:t>
            </a:r>
            <a:pPr algn="l" indent="0" marL="0">
              <a:lnSpc>
                <a:spcPct val="111538"/>
              </a:lnSpc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，做成手推车、椅子、木地板</a:t>
            </a:r>
            <a:endParaRPr lang="en-US" sz="2175" dirty="0"/>
          </a:p>
        </p:txBody>
      </p:sp>
      <p:sp>
        <p:nvSpPr>
          <p:cNvPr id="14" name="Shape 11"/>
          <p:cNvSpPr/>
          <p:nvPr/>
        </p:nvSpPr>
        <p:spPr>
          <a:xfrm>
            <a:off x="1047750" y="4786313"/>
            <a:ext cx="7953375" cy="1452563"/>
          </a:xfrm>
          <a:prstGeom prst="roundRect">
            <a:avLst>
              <a:gd name="adj" fmla="val 10492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400175" y="5062538"/>
            <a:ext cx="797337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《在牛肚子里旅行》</a:t>
            </a:r>
            <a:endParaRPr lang="en-US" sz="2325" dirty="0"/>
          </a:p>
        </p:txBody>
      </p:sp>
      <p:sp>
        <p:nvSpPr>
          <p:cNvPr id="16" name="Text 13"/>
          <p:cNvSpPr/>
          <p:nvPr/>
        </p:nvSpPr>
        <p:spPr>
          <a:xfrm>
            <a:off x="1400175" y="5548313"/>
            <a:ext cx="7973377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蟋蟀被牛吞进肚子，</a:t>
            </a:r>
            <a:pPr algn="l" indent="0" marL="0">
              <a:lnSpc>
                <a:spcPct val="111538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走了一趟还能回来</a:t>
            </a:r>
            <a:endParaRPr lang="en-US" sz="2175" dirty="0"/>
          </a:p>
        </p:txBody>
      </p:sp>
      <p:sp>
        <p:nvSpPr>
          <p:cNvPr id="17" name="Shape 14"/>
          <p:cNvSpPr/>
          <p:nvPr/>
        </p:nvSpPr>
        <p:spPr>
          <a:xfrm>
            <a:off x="9286875" y="4786313"/>
            <a:ext cx="7953375" cy="1452563"/>
          </a:xfrm>
          <a:prstGeom prst="roundRect">
            <a:avLst>
              <a:gd name="adj" fmla="val 10492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639300" y="5062538"/>
            <a:ext cx="797337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《一块奶酪》</a:t>
            </a:r>
            <a:endParaRPr lang="en-US" sz="2325" dirty="0"/>
          </a:p>
        </p:txBody>
      </p:sp>
      <p:sp>
        <p:nvSpPr>
          <p:cNvPr id="19" name="Text 16"/>
          <p:cNvSpPr/>
          <p:nvPr/>
        </p:nvSpPr>
        <p:spPr>
          <a:xfrm>
            <a:off x="9639300" y="5548313"/>
            <a:ext cx="7973377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一群蚂蚁 </a:t>
            </a:r>
            <a:pPr algn="l" indent="0" marL="0">
              <a:lnSpc>
                <a:spcPct val="111538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说着话</a:t>
            </a:r>
            <a:pPr algn="l" indent="0" marL="0">
              <a:lnSpc>
                <a:spcPct val="111538"/>
              </a:lnSpc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，抬着一块大奶酪</a:t>
            </a:r>
            <a:endParaRPr lang="en-US" sz="2175" dirty="0"/>
          </a:p>
        </p:txBody>
      </p:sp>
      <p:sp>
        <p:nvSpPr>
          <p:cNvPr id="20" name="Shape 17"/>
          <p:cNvSpPr/>
          <p:nvPr/>
        </p:nvSpPr>
        <p:spPr>
          <a:xfrm>
            <a:off x="1047750" y="7909620"/>
            <a:ext cx="16192500" cy="1043880"/>
          </a:xfrm>
          <a:prstGeom prst="roundRect">
            <a:avLst>
              <a:gd name="adj" fmla="val 16424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466850" y="8195370"/>
            <a:ext cx="15840075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95"/>
              </a:lnSpc>
              <a:buNone/>
            </a:pPr>
            <a:r>
              <a:rPr lang="en-US" sz="2400" dirty="0">
                <a:solidFill>
                  <a:srgbClr val="2A2E37"/>
                </a:solidFill>
                <a:highlight>
                  <a:srgbClr val="FCF3EE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童话就是这样的故事：动物、植物，连房子、锅碗都能 </a:t>
            </a:r>
            <a:pPr algn="l" indent="0" marL="0">
              <a:lnSpc>
                <a:spcPct val="118095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开口说话</a:t>
            </a:r>
            <a:pPr algn="l" indent="0" marL="0">
              <a:lnSpc>
                <a:spcPct val="118095"/>
              </a:lnSpc>
              <a:buNone/>
            </a:pPr>
            <a:r>
              <a:rPr lang="en-US" sz="2400" dirty="0">
                <a:solidFill>
                  <a:srgbClr val="2A2E37"/>
                </a:solidFill>
                <a:highlight>
                  <a:srgbClr val="FCF3EE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；故事里会发生 </a:t>
            </a:r>
            <a:pPr algn="l" indent="0" marL="0">
              <a:lnSpc>
                <a:spcPct val="118095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神奇的、想不到的事</a:t>
            </a:r>
            <a:pPr algn="l" indent="0" marL="0">
              <a:lnSpc>
                <a:spcPct val="118095"/>
              </a:lnSpc>
              <a:buNone/>
            </a:pPr>
            <a:r>
              <a:rPr lang="en-US" sz="2400" dirty="0">
                <a:solidFill>
                  <a:srgbClr val="2A2E37"/>
                </a:solidFill>
                <a:highlight>
                  <a:srgbClr val="FCF3EE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1047750" y="9391650"/>
            <a:ext cx="178117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有的故事讲完，还能让人 </a:t>
            </a:r>
            <a:pPr algn="l" indent="0" marL="0"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明白一个道理</a:t>
            </a:r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78117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词语想画面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28750"/>
            <a:ext cx="8356997" cy="950565"/>
          </a:xfrm>
          <a:prstGeom prst="roundRect">
            <a:avLst>
              <a:gd name="adj" fmla="val 20041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66850" y="1619250"/>
            <a:ext cx="7769507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三个词凑一起——</a:t>
            </a:r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你看见了什么画面</a:t>
            </a:r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3450" dirty="0"/>
          </a:p>
        </p:txBody>
      </p:sp>
      <p:sp>
        <p:nvSpPr>
          <p:cNvPr id="8" name="Shape 5"/>
          <p:cNvSpPr/>
          <p:nvPr/>
        </p:nvSpPr>
        <p:spPr>
          <a:xfrm>
            <a:off x="1162050" y="2550765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47750" y="3143250"/>
            <a:ext cx="5168801" cy="3430637"/>
          </a:xfrm>
          <a:prstGeom prst="roundRect">
            <a:avLst>
              <a:gd name="adj" fmla="val 4998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1057275" y="3152775"/>
            <a:ext cx="5149751" cy="685800"/>
          </a:xfrm>
          <a:custGeom>
            <a:avLst/>
            <a:gdLst/>
            <a:ahLst/>
            <a:cxnLst/>
            <a:rect l="l" t="t" r="r" b="b"/>
            <a:pathLst>
              <a:path w="5149751" h="685800">
                <a:moveTo>
                  <a:pt x="171450" y="0"/>
                </a:moveTo>
                <a:lnTo>
                  <a:pt x="4978301" y="0"/>
                </a:lnTo>
                <a:arcTo hR="171450" wR="171450" stAng="16200000" swAng="5400000"/>
                <a:lnTo>
                  <a:pt x="5149751" y="685800"/>
                </a:lnTo>
                <a:lnTo>
                  <a:pt x="0" y="685800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3D4A63"/>
          </a:solidFill>
          <a:ln/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" y="3152775"/>
            <a:ext cx="5149751" cy="685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65425" y="3305175"/>
            <a:ext cx="9334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第一组</a:t>
            </a:r>
            <a:endParaRPr lang="en-US" sz="2250" dirty="0"/>
          </a:p>
        </p:txBody>
      </p:sp>
      <p:sp>
        <p:nvSpPr>
          <p:cNvPr id="13" name="Text 9"/>
          <p:cNvSpPr/>
          <p:nvPr/>
        </p:nvSpPr>
        <p:spPr>
          <a:xfrm>
            <a:off x="1265779" y="4181475"/>
            <a:ext cx="4732743" cy="2078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818"/>
              </a:lnSpc>
              <a:buNone/>
            </a:pPr>
            <a:r>
              <a:rPr lang="en-US" sz="31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国王 黄昏 厨房</a:t>
            </a:r>
            <a:endParaRPr lang="en-US" sz="3150" dirty="0"/>
          </a:p>
        </p:txBody>
      </p:sp>
      <p:sp>
        <p:nvSpPr>
          <p:cNvPr id="14" name="Shape 10"/>
          <p:cNvSpPr/>
          <p:nvPr/>
        </p:nvSpPr>
        <p:spPr>
          <a:xfrm>
            <a:off x="6559451" y="3143250"/>
            <a:ext cx="5168950" cy="3430637"/>
          </a:xfrm>
          <a:prstGeom prst="roundRect">
            <a:avLst>
              <a:gd name="adj" fmla="val 4998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568976" y="3152775"/>
            <a:ext cx="5149900" cy="685800"/>
          </a:xfrm>
          <a:custGeom>
            <a:avLst/>
            <a:gdLst/>
            <a:ahLst/>
            <a:cxnLst/>
            <a:rect l="l" t="t" r="r" b="b"/>
            <a:pathLst>
              <a:path w="5149900" h="685800">
                <a:moveTo>
                  <a:pt x="171450" y="0"/>
                </a:moveTo>
                <a:lnTo>
                  <a:pt x="4978450" y="0"/>
                </a:lnTo>
                <a:arcTo hR="171450" wR="171450" stAng="16200000" swAng="5400000"/>
                <a:lnTo>
                  <a:pt x="5149900" y="685800"/>
                </a:lnTo>
                <a:lnTo>
                  <a:pt x="0" y="685800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3D4A63"/>
          </a:solidFill>
          <a:ln/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976" y="3152775"/>
            <a:ext cx="5149900" cy="6858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77126" y="3305175"/>
            <a:ext cx="9334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第二组</a:t>
            </a:r>
            <a:endParaRPr lang="en-US" sz="2250" dirty="0"/>
          </a:p>
        </p:txBody>
      </p:sp>
      <p:sp>
        <p:nvSpPr>
          <p:cNvPr id="18" name="Text 13"/>
          <p:cNvSpPr/>
          <p:nvPr/>
        </p:nvSpPr>
        <p:spPr>
          <a:xfrm>
            <a:off x="6777477" y="4181475"/>
            <a:ext cx="4732897" cy="2078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818"/>
              </a:lnSpc>
              <a:buNone/>
            </a:pPr>
            <a:r>
              <a:rPr lang="en-US" sz="31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小河边 玫瑰花 星期天</a:t>
            </a:r>
            <a:endParaRPr lang="en-US" sz="3150" dirty="0"/>
          </a:p>
        </p:txBody>
      </p:sp>
      <p:sp>
        <p:nvSpPr>
          <p:cNvPr id="19" name="Shape 14"/>
          <p:cNvSpPr/>
          <p:nvPr/>
        </p:nvSpPr>
        <p:spPr>
          <a:xfrm>
            <a:off x="12071300" y="3143250"/>
            <a:ext cx="5168950" cy="3430637"/>
          </a:xfrm>
          <a:prstGeom prst="roundRect">
            <a:avLst>
              <a:gd name="adj" fmla="val 4998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12080825" y="3152775"/>
            <a:ext cx="5149900" cy="685800"/>
          </a:xfrm>
          <a:custGeom>
            <a:avLst/>
            <a:gdLst/>
            <a:ahLst/>
            <a:cxnLst/>
            <a:rect l="l" t="t" r="r" b="b"/>
            <a:pathLst>
              <a:path w="5149900" h="685800">
                <a:moveTo>
                  <a:pt x="171450" y="0"/>
                </a:moveTo>
                <a:lnTo>
                  <a:pt x="4978450" y="0"/>
                </a:lnTo>
                <a:arcTo hR="171450" wR="171450" stAng="16200000" swAng="5400000"/>
                <a:lnTo>
                  <a:pt x="5149900" y="685800"/>
                </a:lnTo>
                <a:lnTo>
                  <a:pt x="0" y="685800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3D4A63"/>
          </a:solidFill>
          <a:ln/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80825" y="3152775"/>
            <a:ext cx="5149900" cy="6858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88976" y="3305175"/>
            <a:ext cx="9334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第三组</a:t>
            </a:r>
            <a:endParaRPr lang="en-US" sz="2250" dirty="0"/>
          </a:p>
        </p:txBody>
      </p:sp>
      <p:sp>
        <p:nvSpPr>
          <p:cNvPr id="23" name="Text 17"/>
          <p:cNvSpPr/>
          <p:nvPr/>
        </p:nvSpPr>
        <p:spPr>
          <a:xfrm>
            <a:off x="12289327" y="4181475"/>
            <a:ext cx="4732897" cy="2078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818"/>
              </a:lnSpc>
              <a:buNone/>
            </a:pPr>
            <a:r>
              <a:rPr lang="en-US" sz="31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啄木鸟 冬天 森林超市</a:t>
            </a:r>
            <a:endParaRPr lang="en-US" sz="3150" dirty="0"/>
          </a:p>
        </p:txBody>
      </p:sp>
      <p:sp>
        <p:nvSpPr>
          <p:cNvPr id="24" name="Shape 18"/>
          <p:cNvSpPr/>
          <p:nvPr/>
        </p:nvSpPr>
        <p:spPr>
          <a:xfrm>
            <a:off x="1047750" y="7386638"/>
            <a:ext cx="16192500" cy="900113"/>
          </a:xfrm>
          <a:prstGeom prst="roundRect">
            <a:avLst>
              <a:gd name="adj" fmla="val 16931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25" name="Text 19"/>
          <p:cNvSpPr/>
          <p:nvPr/>
        </p:nvSpPr>
        <p:spPr>
          <a:xfrm>
            <a:off x="1409700" y="7615238"/>
            <a:ext cx="1595437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highlight>
                  <a:srgbClr val="DCE6F5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开火车，一人说一个画面——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不用说故事，就说你看见了什么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highlight>
                  <a:srgbClr val="DCE6F5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。不想用这三组，也可以自己另定角色。</a:t>
            </a:r>
            <a:endParaRPr lang="en-US" sz="2325" dirty="0"/>
          </a:p>
        </p:txBody>
      </p:sp>
      <p:sp>
        <p:nvSpPr>
          <p:cNvPr id="26" name="Text 20"/>
          <p:cNvSpPr/>
          <p:nvPr/>
        </p:nvSpPr>
        <p:spPr>
          <a:xfrm>
            <a:off x="1047750" y="8672513"/>
            <a:ext cx="37147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</a:t>
            </a:r>
            <a:endParaRPr lang="en-US" sz="2325" dirty="0"/>
          </a:p>
        </p:txBody>
      </p:sp>
      <p:sp>
        <p:nvSpPr>
          <p:cNvPr id="27" name="Text 21"/>
          <p:cNvSpPr/>
          <p:nvPr/>
        </p:nvSpPr>
        <p:spPr>
          <a:xfrm>
            <a:off x="1495425" y="8672513"/>
            <a:ext cx="8500036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“天快黑了，厨房里一个人也没有，国王自己站在大锅前面。”</a:t>
            </a:r>
            <a:endParaRPr lang="en-US" sz="2250" dirty="0"/>
          </a:p>
        </p:txBody>
      </p:sp>
      <p:sp>
        <p:nvSpPr>
          <p:cNvPr id="28" name="Text 22"/>
          <p:cNvSpPr/>
          <p:nvPr/>
        </p:nvSpPr>
        <p:spPr>
          <a:xfrm>
            <a:off x="1047750" y="9391650"/>
            <a:ext cx="178117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画面有了，故事就能接着编——你刚才那个画面，</a:t>
            </a:r>
            <a:pPr algn="l" indent="0" marL="0"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先在心里留着</a:t>
            </a:r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42494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判断对比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28750"/>
            <a:ext cx="6664672" cy="950565"/>
          </a:xfrm>
          <a:prstGeom prst="roundRect">
            <a:avLst>
              <a:gd name="adj" fmla="val 20041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66850" y="1619250"/>
            <a:ext cx="6026412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这两段话，哪一段才是 </a:t>
            </a:r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童话</a:t>
            </a:r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3450" dirty="0"/>
          </a:p>
        </p:txBody>
      </p:sp>
      <p:sp>
        <p:nvSpPr>
          <p:cNvPr id="8" name="Shape 5"/>
          <p:cNvSpPr/>
          <p:nvPr/>
        </p:nvSpPr>
        <p:spPr>
          <a:xfrm>
            <a:off x="1047750" y="2857500"/>
            <a:ext cx="7886700" cy="3905250"/>
          </a:xfrm>
          <a:prstGeom prst="roundRect">
            <a:avLst>
              <a:gd name="adj" fmla="val 4390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57275" y="2867025"/>
            <a:ext cx="7867650" cy="742950"/>
          </a:xfrm>
          <a:custGeom>
            <a:avLst/>
            <a:gdLst/>
            <a:ahLst/>
            <a:cxnLst/>
            <a:rect l="l" t="t" r="r" b="b"/>
            <a:pathLst>
              <a:path w="7867650" h="742950">
                <a:moveTo>
                  <a:pt x="171450" y="0"/>
                </a:moveTo>
                <a:lnTo>
                  <a:pt x="7696200" y="0"/>
                </a:lnTo>
                <a:arcTo hR="171450" wR="171450" stAng="16200000" swAng="5400000"/>
                <a:lnTo>
                  <a:pt x="7867650" y="742950"/>
                </a:lnTo>
                <a:lnTo>
                  <a:pt x="0" y="742950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3D4A63"/>
          </a:solidFill>
          <a:ln/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" y="2867025"/>
            <a:ext cx="7867650" cy="7429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79366" y="3038475"/>
            <a:ext cx="202346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第一段 · 记事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1057275" y="3609975"/>
            <a:ext cx="7867650" cy="314325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1381125" y="3914775"/>
            <a:ext cx="7455980" cy="2571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590550" marL="0">
              <a:lnSpc>
                <a:spcPct val="128537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星期天早上，我和妈妈去小河边散步。河边的玫瑰花开得正好，风一吹，红的粉的一起晃，香味飘出去老远。我蹲下来闻了闻，妈妈举起手机，给我和那丛花拍了张照片。</a:t>
            </a:r>
            <a:endParaRPr lang="en-US" sz="2325" dirty="0"/>
          </a:p>
        </p:txBody>
      </p:sp>
      <p:sp>
        <p:nvSpPr>
          <p:cNvPr id="14" name="Shape 10"/>
          <p:cNvSpPr/>
          <p:nvPr/>
        </p:nvSpPr>
        <p:spPr>
          <a:xfrm>
            <a:off x="9353550" y="2857500"/>
            <a:ext cx="7886700" cy="3905250"/>
          </a:xfrm>
          <a:prstGeom prst="roundRect">
            <a:avLst>
              <a:gd name="adj" fmla="val 4390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9363075" y="2867025"/>
            <a:ext cx="7867650" cy="742950"/>
          </a:xfrm>
          <a:custGeom>
            <a:avLst/>
            <a:gdLst/>
            <a:ahLst/>
            <a:cxnLst/>
            <a:rect l="l" t="t" r="r" b="b"/>
            <a:pathLst>
              <a:path w="7867650" h="742950">
                <a:moveTo>
                  <a:pt x="171450" y="0"/>
                </a:moveTo>
                <a:lnTo>
                  <a:pt x="7696200" y="0"/>
                </a:lnTo>
                <a:arcTo hR="171450" wR="171450" stAng="16200000" swAng="5400000"/>
                <a:lnTo>
                  <a:pt x="7867650" y="742950"/>
                </a:lnTo>
                <a:lnTo>
                  <a:pt x="0" y="742950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3D4A63"/>
          </a:solidFill>
          <a:ln/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075" y="2867025"/>
            <a:ext cx="7867650" cy="7429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285166" y="3038475"/>
            <a:ext cx="202346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第二段 · 童话</a:t>
            </a:r>
            <a:endParaRPr lang="en-US" sz="2400" dirty="0"/>
          </a:p>
        </p:txBody>
      </p:sp>
      <p:sp>
        <p:nvSpPr>
          <p:cNvPr id="18" name="Shape 13"/>
          <p:cNvSpPr/>
          <p:nvPr/>
        </p:nvSpPr>
        <p:spPr>
          <a:xfrm>
            <a:off x="9363075" y="3609975"/>
            <a:ext cx="7867650" cy="314325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9" name="Text 14"/>
          <p:cNvSpPr/>
          <p:nvPr/>
        </p:nvSpPr>
        <p:spPr>
          <a:xfrm>
            <a:off x="9686925" y="3914775"/>
            <a:ext cx="7455980" cy="2571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590550" marL="0">
              <a:lnSpc>
                <a:spcPct val="128537"/>
              </a:lnSpc>
              <a:buNone/>
            </a:pPr>
            <a:r>
              <a:rPr lang="en-US" sz="2325" dirty="0">
                <a:solidFill>
                  <a:srgbClr val="2A2E37"/>
                </a:solidFill>
                <a:highlight>
                  <a:srgbClr val="F7F8F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星期天一大早，小河边的玫瑰花 </a:t>
            </a:r>
            <a:pPr algn="l" indent="590550" marL="0">
              <a:lnSpc>
                <a:spcPct val="128537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伸了个懒腰 </a:t>
            </a:r>
            <a:pPr algn="l" indent="590550" marL="0">
              <a:lnSpc>
                <a:spcPct val="128537"/>
              </a:lnSpc>
              <a:buNone/>
            </a:pPr>
            <a:r>
              <a:rPr lang="en-US" sz="2325" dirty="0">
                <a:solidFill>
                  <a:srgbClr val="2A2E37"/>
                </a:solidFill>
                <a:highlight>
                  <a:srgbClr val="F7F8F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，发现自己的红裙子少了一片。她着急地问河水： </a:t>
            </a:r>
            <a:pPr algn="l" indent="590550" marL="0">
              <a:lnSpc>
                <a:spcPct val="128537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“你看见我的花瓣了吗？”</a:t>
            </a:r>
            <a:endParaRPr lang="en-US" sz="2325" dirty="0"/>
          </a:p>
        </p:txBody>
      </p:sp>
      <p:sp>
        <p:nvSpPr>
          <p:cNvPr id="20" name="Text 15"/>
          <p:cNvSpPr/>
          <p:nvPr/>
        </p:nvSpPr>
        <p:spPr>
          <a:xfrm>
            <a:off x="1047750" y="7390061"/>
            <a:ext cx="17811750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21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第一段句子写得挺好——可它是把一件 </a:t>
            </a:r>
            <a:pPr algn="l" indent="0" marL="0">
              <a:lnSpc>
                <a:spcPct val="107821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真事 </a:t>
            </a:r>
            <a:pPr algn="l" indent="0" marL="0">
              <a:lnSpc>
                <a:spcPct val="107821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写清楚了，这叫记事。</a:t>
            </a:r>
            <a:endParaRPr lang="en-US" sz="2175" dirty="0"/>
          </a:p>
        </p:txBody>
      </p:sp>
      <p:sp>
        <p:nvSpPr>
          <p:cNvPr id="21" name="Text 16"/>
          <p:cNvSpPr/>
          <p:nvPr/>
        </p:nvSpPr>
        <p:spPr>
          <a:xfrm>
            <a:off x="1047750" y="7923907"/>
            <a:ext cx="17811750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21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第二段里，玫瑰花会伸懒腰、会着急地问河水——</a:t>
            </a:r>
            <a:pPr algn="l" indent="0" marL="0">
              <a:lnSpc>
                <a:spcPct val="107821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东西开口说话了，神奇的事发生了</a:t>
            </a:r>
            <a:pPr algn="l" indent="0" marL="0">
              <a:lnSpc>
                <a:spcPct val="107821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175" dirty="0"/>
          </a:p>
        </p:txBody>
      </p:sp>
      <p:sp>
        <p:nvSpPr>
          <p:cNvPr id="22" name="Text 17"/>
          <p:cNvSpPr/>
          <p:nvPr/>
        </p:nvSpPr>
        <p:spPr>
          <a:xfrm>
            <a:off x="1047750" y="8457754"/>
            <a:ext cx="17811750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21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判断是不是童话，不看句子漂不漂亮，看有没有 </a:t>
            </a:r>
            <a:pPr algn="l" indent="0" marL="0">
              <a:lnSpc>
                <a:spcPct val="107821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生活里不会发生的事</a:t>
            </a:r>
            <a:pPr algn="l" indent="0" marL="0">
              <a:lnSpc>
                <a:spcPct val="107821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175" dirty="0"/>
          </a:p>
        </p:txBody>
      </p:sp>
      <p:sp>
        <p:nvSpPr>
          <p:cNvPr id="23" name="Text 18"/>
          <p:cNvSpPr/>
          <p:nvPr/>
        </p:nvSpPr>
        <p:spPr>
          <a:xfrm>
            <a:off x="1047750" y="9401175"/>
            <a:ext cx="178117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今天要写的是童话——</a:t>
            </a:r>
            <a:pPr algn="l" indent="0" marL="0"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千万别写成自己星期天真去过哪儿 </a:t>
            </a:r>
            <a:pPr algn="l" indent="0" marL="0">
              <a:buNone/>
            </a:pPr>
            <a:r>
              <a:rPr lang="en-US" sz="2175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这样的记事文。</a:t>
            </a:r>
            <a:endParaRPr lang="en-US" sz="217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0477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28750"/>
            <a:ext cx="6734919" cy="950565"/>
          </a:xfrm>
          <a:prstGeom prst="roundRect">
            <a:avLst>
              <a:gd name="adj" fmla="val 20041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66850" y="1619250"/>
            <a:ext cx="6098767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今天这一招——把故事 </a:t>
            </a:r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编完整</a:t>
            </a:r>
            <a:endParaRPr lang="en-US" sz="3450" dirty="0"/>
          </a:p>
        </p:txBody>
      </p:sp>
      <p:sp>
        <p:nvSpPr>
          <p:cNvPr id="8" name="Shape 5"/>
          <p:cNvSpPr/>
          <p:nvPr/>
        </p:nvSpPr>
        <p:spPr>
          <a:xfrm>
            <a:off x="1162050" y="2550765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47750" y="3143250"/>
            <a:ext cx="5715000" cy="5715000"/>
          </a:xfrm>
          <a:prstGeom prst="roundRect">
            <a:avLst>
              <a:gd name="adj" fmla="val 3667"/>
            </a:avLst>
          </a:prstGeom>
          <a:gradFill rotWithShape="1">
            <a:gsLst>
              <a:gs pos="0">
                <a:srgbClr val="3D4A63">
                  <a:alpha val="100000"/>
                </a:srgbClr>
              </a:gs>
              <a:gs pos="100000">
                <a:srgbClr val="2C3650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2021586" y="4720679"/>
            <a:ext cx="3767328" cy="2598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827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编完整 一样不缺</a:t>
            </a:r>
            <a:endParaRPr lang="en-US" sz="7200" dirty="0"/>
          </a:p>
        </p:txBody>
      </p:sp>
      <p:sp>
        <p:nvSpPr>
          <p:cNvPr id="11" name="Shape 8"/>
          <p:cNvSpPr/>
          <p:nvPr/>
        </p:nvSpPr>
        <p:spPr>
          <a:xfrm>
            <a:off x="7524750" y="3143250"/>
            <a:ext cx="1905000" cy="638175"/>
          </a:xfrm>
          <a:prstGeom prst="roundRect">
            <a:avLst>
              <a:gd name="adj" fmla="val 20896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486650" y="3276600"/>
            <a:ext cx="1981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</a:t>
            </a:r>
            <a:endParaRPr lang="en-US" sz="2175" dirty="0"/>
          </a:p>
        </p:txBody>
      </p:sp>
      <p:sp>
        <p:nvSpPr>
          <p:cNvPr id="13" name="Text 10"/>
          <p:cNvSpPr/>
          <p:nvPr/>
        </p:nvSpPr>
        <p:spPr>
          <a:xfrm>
            <a:off x="9658350" y="3255615"/>
            <a:ext cx="2045077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5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故事里 </a:t>
            </a:r>
            <a:pPr algn="l" indent="0" marL="0">
              <a:lnSpc>
                <a:spcPct val="105854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有谁</a:t>
            </a:r>
            <a:pPr algn="l" indent="0" marL="0">
              <a:lnSpc>
                <a:spcPct val="10585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325" dirty="0"/>
          </a:p>
        </p:txBody>
      </p:sp>
      <p:sp>
        <p:nvSpPr>
          <p:cNvPr id="14" name="Shape 11"/>
          <p:cNvSpPr/>
          <p:nvPr/>
        </p:nvSpPr>
        <p:spPr>
          <a:xfrm>
            <a:off x="7524750" y="3990975"/>
            <a:ext cx="1905000" cy="638175"/>
          </a:xfrm>
          <a:prstGeom prst="roundRect">
            <a:avLst>
              <a:gd name="adj" fmla="val 20896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7486650" y="4124325"/>
            <a:ext cx="1981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 · 地点</a:t>
            </a:r>
            <a:endParaRPr lang="en-US" sz="2175" dirty="0"/>
          </a:p>
        </p:txBody>
      </p:sp>
      <p:sp>
        <p:nvSpPr>
          <p:cNvPr id="16" name="Text 13"/>
          <p:cNvSpPr/>
          <p:nvPr/>
        </p:nvSpPr>
        <p:spPr>
          <a:xfrm>
            <a:off x="9658350" y="4103340"/>
            <a:ext cx="3669090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54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</a:t>
            </a:r>
            <a:pPr algn="l" indent="0" marL="0">
              <a:lnSpc>
                <a:spcPct val="10585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、在 </a:t>
            </a:r>
            <a:pPr algn="l" indent="0" marL="0">
              <a:lnSpc>
                <a:spcPct val="105854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什么地方</a:t>
            </a:r>
            <a:pPr algn="l" indent="0" marL="0">
              <a:lnSpc>
                <a:spcPct val="10585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325" dirty="0"/>
          </a:p>
        </p:txBody>
      </p:sp>
      <p:sp>
        <p:nvSpPr>
          <p:cNvPr id="17" name="Shape 14"/>
          <p:cNvSpPr/>
          <p:nvPr/>
        </p:nvSpPr>
        <p:spPr>
          <a:xfrm>
            <a:off x="7524750" y="4838700"/>
            <a:ext cx="1905000" cy="638175"/>
          </a:xfrm>
          <a:prstGeom prst="roundRect">
            <a:avLst>
              <a:gd name="adj" fmla="val 20896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7486650" y="4972050"/>
            <a:ext cx="1981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起因</a:t>
            </a:r>
            <a:endParaRPr lang="en-US" sz="2175" dirty="0"/>
          </a:p>
        </p:txBody>
      </p:sp>
      <p:sp>
        <p:nvSpPr>
          <p:cNvPr id="19" name="Text 16"/>
          <p:cNvSpPr/>
          <p:nvPr/>
        </p:nvSpPr>
        <p:spPr>
          <a:xfrm>
            <a:off x="9658350" y="4951065"/>
            <a:ext cx="3019485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5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事情是 </a:t>
            </a:r>
            <a:pPr algn="l" indent="0" marL="0">
              <a:lnSpc>
                <a:spcPct val="105854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怎么开始的</a:t>
            </a:r>
            <a:pPr algn="l" indent="0" marL="0">
              <a:lnSpc>
                <a:spcPct val="10585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325" dirty="0"/>
          </a:p>
        </p:txBody>
      </p:sp>
      <p:sp>
        <p:nvSpPr>
          <p:cNvPr id="20" name="Shape 17"/>
          <p:cNvSpPr/>
          <p:nvPr/>
        </p:nvSpPr>
        <p:spPr>
          <a:xfrm>
            <a:off x="7524750" y="5686425"/>
            <a:ext cx="1905000" cy="638175"/>
          </a:xfrm>
          <a:prstGeom prst="roundRect">
            <a:avLst>
              <a:gd name="adj" fmla="val 20896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7486650" y="5819775"/>
            <a:ext cx="1981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经过</a:t>
            </a:r>
            <a:endParaRPr lang="en-US" sz="2175" dirty="0"/>
          </a:p>
        </p:txBody>
      </p:sp>
      <p:sp>
        <p:nvSpPr>
          <p:cNvPr id="22" name="Text 19"/>
          <p:cNvSpPr/>
          <p:nvPr/>
        </p:nvSpPr>
        <p:spPr>
          <a:xfrm>
            <a:off x="9658350" y="5798790"/>
            <a:ext cx="2694682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5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 </a:t>
            </a:r>
            <a:pPr algn="l" indent="0" marL="0">
              <a:lnSpc>
                <a:spcPct val="105854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发生了什么</a:t>
            </a:r>
            <a:pPr algn="l" indent="0" marL="0">
              <a:lnSpc>
                <a:spcPct val="10585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325" dirty="0"/>
          </a:p>
        </p:txBody>
      </p:sp>
      <p:sp>
        <p:nvSpPr>
          <p:cNvPr id="23" name="Shape 20"/>
          <p:cNvSpPr/>
          <p:nvPr/>
        </p:nvSpPr>
        <p:spPr>
          <a:xfrm>
            <a:off x="7524750" y="6534150"/>
            <a:ext cx="1905000" cy="638175"/>
          </a:xfrm>
          <a:prstGeom prst="roundRect">
            <a:avLst>
              <a:gd name="adj" fmla="val 20896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7486650" y="6667500"/>
            <a:ext cx="1981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2175" dirty="0"/>
          </a:p>
        </p:txBody>
      </p:sp>
      <p:sp>
        <p:nvSpPr>
          <p:cNvPr id="25" name="Text 22"/>
          <p:cNvSpPr/>
          <p:nvPr/>
        </p:nvSpPr>
        <p:spPr>
          <a:xfrm>
            <a:off x="9658350" y="6646515"/>
            <a:ext cx="2369880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5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 </a:t>
            </a:r>
            <a:pPr algn="l" indent="0" marL="0">
              <a:lnSpc>
                <a:spcPct val="105854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怎么样了</a:t>
            </a:r>
            <a:pPr algn="l" indent="0" marL="0">
              <a:lnSpc>
                <a:spcPct val="10585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325" dirty="0"/>
          </a:p>
        </p:txBody>
      </p:sp>
      <p:sp>
        <p:nvSpPr>
          <p:cNvPr id="26" name="Text 23"/>
          <p:cNvSpPr/>
          <p:nvPr/>
        </p:nvSpPr>
        <p:spPr>
          <a:xfrm>
            <a:off x="1047750" y="9401175"/>
            <a:ext cx="178117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刚才第二段已有个好开头：星期天（时间）、小河边（地点）、玫瑰花和河水（角色）、花瓣丢了（起因）——</a:t>
            </a:r>
            <a:pPr algn="l" indent="0" marL="0"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接下来该编经过了</a:t>
            </a:r>
            <a:pPr algn="l" indent="0" marL="0">
              <a:buNone/>
            </a:pPr>
            <a:r>
              <a:rPr lang="en-US" sz="2175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17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0477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28750"/>
            <a:ext cx="9671447" cy="950565"/>
          </a:xfrm>
          <a:prstGeom prst="roundRect">
            <a:avLst>
              <a:gd name="adj" fmla="val 20041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66850" y="1619250"/>
            <a:ext cx="9123390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老师顺着编完了——</a:t>
            </a:r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完整，可你想听下去吗</a:t>
            </a:r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3450" dirty="0"/>
          </a:p>
        </p:txBody>
      </p:sp>
      <p:sp>
        <p:nvSpPr>
          <p:cNvPr id="8" name="Shape 5"/>
          <p:cNvSpPr/>
          <p:nvPr/>
        </p:nvSpPr>
        <p:spPr>
          <a:xfrm>
            <a:off x="1047750" y="3048000"/>
            <a:ext cx="9715500" cy="2400300"/>
          </a:xfrm>
          <a:prstGeom prst="roundRect">
            <a:avLst>
              <a:gd name="adj" fmla="val 11111"/>
            </a:avLst>
          </a:prstGeom>
          <a:solidFill>
            <a:srgbClr val="EAF1FB"/>
          </a:solidFill>
          <a:ln w="19050">
            <a:solidFill>
              <a:srgbClr val="C3D6F0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733550" y="5410200"/>
            <a:ext cx="457200" cy="285750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550" y="5410200"/>
            <a:ext cx="457200" cy="285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24000" y="3448050"/>
            <a:ext cx="9025890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609600" marL="0">
              <a:lnSpc>
                <a:spcPct val="133333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河水说：“你的红裙子？你是指你的一片花瓣吧，它顺着水往下游漂去啦。”小鱼听见了，游过去，把花瓣顶了回来。玫瑰花把花瓣别回裙子上，说了声谢谢。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1047750" y="6124575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1409700" y="5981700"/>
            <a:ext cx="8543746" cy="521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角色、时间、地点都有了，事情也 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从头到尾交代完了</a:t>
            </a:r>
            <a:endParaRPr lang="en-US" sz="2625" dirty="0"/>
          </a:p>
        </p:txBody>
      </p:sp>
      <p:sp>
        <p:nvSpPr>
          <p:cNvPr id="14" name="Shape 10"/>
          <p:cNvSpPr/>
          <p:nvPr/>
        </p:nvSpPr>
        <p:spPr>
          <a:xfrm>
            <a:off x="1047750" y="6893719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1409700" y="6750844"/>
            <a:ext cx="7775287" cy="521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可听完了，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没有人想追问“后来呢”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——太平淡了</a:t>
            </a:r>
            <a:endParaRPr lang="en-US" sz="2625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0" y="3238500"/>
            <a:ext cx="4953000" cy="41910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47750" y="9391650"/>
            <a:ext cx="178117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问题就出在这儿——这个故事从头到尾顺顺当当，</a:t>
            </a:r>
            <a:pPr algn="l" indent="0" marL="0"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没有一点让人担心的地方</a:t>
            </a:r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0477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28750"/>
            <a:ext cx="8487519" cy="950565"/>
          </a:xfrm>
          <a:prstGeom prst="roundRect">
            <a:avLst>
              <a:gd name="adj" fmla="val 20041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66850" y="1619250"/>
            <a:ext cx="7903945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看老师动个手术——给经过 </a:t>
            </a:r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添一处波折</a:t>
            </a:r>
            <a:endParaRPr lang="en-US" sz="3450" dirty="0"/>
          </a:p>
        </p:txBody>
      </p:sp>
      <p:sp>
        <p:nvSpPr>
          <p:cNvPr id="8" name="Shape 5"/>
          <p:cNvSpPr/>
          <p:nvPr/>
        </p:nvSpPr>
        <p:spPr>
          <a:xfrm>
            <a:off x="1162050" y="2550765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47750" y="3143250"/>
            <a:ext cx="16192500" cy="2374106"/>
          </a:xfrm>
          <a:prstGeom prst="roundRect">
            <a:avLst>
              <a:gd name="adj" fmla="val 7222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543050" y="3505200"/>
            <a:ext cx="15687675" cy="1688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628650" marL="0">
              <a:lnSpc>
                <a:spcPct val="131250"/>
              </a:lnSpc>
              <a:buNone/>
            </a:pPr>
            <a:r>
              <a:rPr lang="en-US" sz="2475" dirty="0">
                <a:solidFill>
                  <a:srgbClr val="2A2E37"/>
                </a:solidFill>
                <a:highlight>
                  <a:srgbClr val="FCF3EE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小鱼刚把花瓣顶出水面—— </a:t>
            </a:r>
            <a:pPr algn="l" indent="628650" marL="0">
              <a:lnSpc>
                <a:spcPct val="13125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就在这时，天上哗啦啦下起大雨，河水一下涨了起来，花瓣又被冲走，眼看要卷进漩涡里 </a:t>
            </a:r>
            <a:pPr algn="l" indent="628650" marL="0">
              <a:lnSpc>
                <a:spcPct val="131250"/>
              </a:lnSpc>
              <a:buNone/>
            </a:pPr>
            <a:r>
              <a:rPr lang="en-US" sz="2475" dirty="0">
                <a:solidFill>
                  <a:srgbClr val="2A2E37"/>
                </a:solidFill>
                <a:highlight>
                  <a:srgbClr val="FCF3EE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。小鱼大喊：</a:t>
            </a:r>
            <a:pPr algn="l" indent="628650" marL="0">
              <a:lnSpc>
                <a:spcPct val="131250"/>
              </a:lnSpc>
              <a:buNone/>
            </a:pPr>
            <a:r>
              <a:rPr lang="en-US" sz="247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“别怕，我来！” </a:t>
            </a:r>
            <a:pPr algn="l" indent="628650" marL="0">
              <a:lnSpc>
                <a:spcPct val="131250"/>
              </a:lnSpc>
              <a:buNone/>
            </a:pPr>
            <a:r>
              <a:rPr lang="en-US" sz="2475" dirty="0">
                <a:solidFill>
                  <a:srgbClr val="2A2E37"/>
                </a:solidFill>
                <a:highlight>
                  <a:srgbClr val="FCF3EE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他顶着雨追上去，用背把花瓣稳稳地驮了回来。雨停了，玫瑰花把花瓣别回了裙子上。</a:t>
            </a:r>
            <a:endParaRPr lang="en-US" sz="2475" dirty="0"/>
          </a:p>
        </p:txBody>
      </p:sp>
      <p:sp>
        <p:nvSpPr>
          <p:cNvPr id="11" name="Shape 8"/>
          <p:cNvSpPr/>
          <p:nvPr/>
        </p:nvSpPr>
        <p:spPr>
          <a:xfrm>
            <a:off x="1047750" y="6429375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409700" y="6286500"/>
            <a:ext cx="1323783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眼看花瓣就要拿回来了，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麻烦忽然上场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——听的人心一下提起来：这回还追得上吗？</a:t>
            </a:r>
            <a:endParaRPr lang="en-US" sz="2550" dirty="0"/>
          </a:p>
        </p:txBody>
      </p:sp>
      <p:sp>
        <p:nvSpPr>
          <p:cNvPr id="13" name="Shape 10"/>
          <p:cNvSpPr/>
          <p:nvPr/>
        </p:nvSpPr>
        <p:spPr>
          <a:xfrm>
            <a:off x="1047750" y="7165628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409700" y="7022753"/>
            <a:ext cx="11206669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故事里冒出来的这种麻烦，就叫 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波折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——波折一来，听的人就放不下了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1047750" y="9391650"/>
            <a:ext cx="178117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同一个故事，就添了几句话——</a:t>
            </a:r>
            <a:pPr algn="l" indent="0" marL="0"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这一版，你是不是就想听下去了</a:t>
            </a:r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0477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28750"/>
            <a:ext cx="4781550" cy="950565"/>
          </a:xfrm>
          <a:prstGeom prst="roundRect">
            <a:avLst>
              <a:gd name="adj" fmla="val 20041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66850" y="1619250"/>
            <a:ext cx="4086797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添波折，</a:t>
            </a:r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路子有三条</a:t>
            </a:r>
            <a:endParaRPr lang="en-US" sz="3450" dirty="0"/>
          </a:p>
        </p:txBody>
      </p:sp>
      <p:sp>
        <p:nvSpPr>
          <p:cNvPr id="8" name="Shape 5"/>
          <p:cNvSpPr/>
          <p:nvPr/>
        </p:nvSpPr>
        <p:spPr>
          <a:xfrm>
            <a:off x="1047750" y="2952750"/>
            <a:ext cx="5168801" cy="1662113"/>
          </a:xfrm>
          <a:prstGeom prst="roundRect">
            <a:avLst>
              <a:gd name="adj" fmla="val 10315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400175" y="3286125"/>
            <a:ext cx="4910346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遇到困难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1400175" y="3867150"/>
            <a:ext cx="4910346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盐罐在最高的架子上，够不着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6559451" y="2952750"/>
            <a:ext cx="5168950" cy="1662113"/>
          </a:xfrm>
          <a:prstGeom prst="roundRect">
            <a:avLst>
              <a:gd name="adj" fmla="val 10315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911876" y="3286125"/>
            <a:ext cx="491051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碰上意外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6911876" y="3867150"/>
            <a:ext cx="491051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忽然下起大雨，花瓣又被冲走了</a:t>
            </a:r>
            <a:endParaRPr lang="en-US" sz="2175" dirty="0"/>
          </a:p>
        </p:txBody>
      </p:sp>
      <p:sp>
        <p:nvSpPr>
          <p:cNvPr id="14" name="Shape 11"/>
          <p:cNvSpPr/>
          <p:nvPr/>
        </p:nvSpPr>
        <p:spPr>
          <a:xfrm>
            <a:off x="12071300" y="2952750"/>
            <a:ext cx="5168950" cy="1662113"/>
          </a:xfrm>
          <a:prstGeom prst="roundRect">
            <a:avLst>
              <a:gd name="adj" fmla="val 10315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2423725" y="3286125"/>
            <a:ext cx="491051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来个帮手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12423725" y="3867150"/>
            <a:ext cx="491051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要紧关头，小鱼大喊“别怕，我来！”</a:t>
            </a:r>
            <a:endParaRPr lang="en-US" sz="2175" dirty="0"/>
          </a:p>
        </p:txBody>
      </p:sp>
      <p:sp>
        <p:nvSpPr>
          <p:cNvPr id="17" name="Text 14"/>
          <p:cNvSpPr/>
          <p:nvPr/>
        </p:nvSpPr>
        <p:spPr>
          <a:xfrm>
            <a:off x="1047750" y="5486400"/>
            <a:ext cx="394969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引出波折的话，现成的——</a:t>
            </a:r>
            <a:endParaRPr lang="en-US" sz="2325" dirty="0"/>
          </a:p>
        </p:txBody>
      </p:sp>
      <p:sp>
        <p:nvSpPr>
          <p:cNvPr id="18" name="Shape 15"/>
          <p:cNvSpPr/>
          <p:nvPr/>
        </p:nvSpPr>
        <p:spPr>
          <a:xfrm>
            <a:off x="4866977" y="5334000"/>
            <a:ext cx="1200150" cy="695325"/>
          </a:xfrm>
          <a:prstGeom prst="roundRect">
            <a:avLst>
              <a:gd name="adj" fmla="val 19178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171777" y="5486400"/>
            <a:ext cx="6667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忽然</a:t>
            </a:r>
            <a:endParaRPr lang="en-US" sz="2325" dirty="0"/>
          </a:p>
        </p:txBody>
      </p:sp>
      <p:sp>
        <p:nvSpPr>
          <p:cNvPr id="20" name="Shape 17"/>
          <p:cNvSpPr/>
          <p:nvPr/>
        </p:nvSpPr>
        <p:spPr>
          <a:xfrm>
            <a:off x="6257627" y="5334000"/>
            <a:ext cx="1790700" cy="695325"/>
          </a:xfrm>
          <a:prstGeom prst="roundRect">
            <a:avLst>
              <a:gd name="adj" fmla="val 19178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562427" y="5486400"/>
            <a:ext cx="1257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就在这时</a:t>
            </a:r>
            <a:endParaRPr lang="en-US" sz="2325" dirty="0"/>
          </a:p>
        </p:txBody>
      </p:sp>
      <p:sp>
        <p:nvSpPr>
          <p:cNvPr id="22" name="Shape 19"/>
          <p:cNvSpPr/>
          <p:nvPr/>
        </p:nvSpPr>
        <p:spPr>
          <a:xfrm>
            <a:off x="8238827" y="5334000"/>
            <a:ext cx="1200150" cy="695325"/>
          </a:xfrm>
          <a:prstGeom prst="roundRect">
            <a:avLst>
              <a:gd name="adj" fmla="val 19178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8543627" y="5486400"/>
            <a:ext cx="6667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谁知</a:t>
            </a:r>
            <a:endParaRPr lang="en-US" sz="2325" dirty="0"/>
          </a:p>
        </p:txBody>
      </p:sp>
      <p:sp>
        <p:nvSpPr>
          <p:cNvPr id="24" name="Shape 21"/>
          <p:cNvSpPr/>
          <p:nvPr/>
        </p:nvSpPr>
        <p:spPr>
          <a:xfrm>
            <a:off x="1047750" y="6572250"/>
            <a:ext cx="16192500" cy="991046"/>
          </a:xfrm>
          <a:prstGeom prst="roundRect">
            <a:avLst>
              <a:gd name="adj" fmla="val 17300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466850" y="6838950"/>
            <a:ext cx="15840075" cy="495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highlight>
                  <a:srgbClr val="FCF3EE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角色一开口，故事就热闹了。写角色的语言记两样：说话人后面点 </a:t>
            </a:r>
            <a:pPr algn="l" indent="0" marL="0">
              <a:lnSpc>
                <a:spcPct val="11719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冒号（：）</a:t>
            </a:r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highlight>
                  <a:srgbClr val="FCF3EE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，说出来的话标上 </a:t>
            </a:r>
            <a:pPr algn="l" indent="0" marL="0">
              <a:lnSpc>
                <a:spcPct val="11719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双引号（“ ”）</a:t>
            </a:r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highlight>
                  <a:srgbClr val="FCF3EE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325" dirty="0"/>
          </a:p>
        </p:txBody>
      </p:sp>
      <p:sp>
        <p:nvSpPr>
          <p:cNvPr id="26" name="Shape 23"/>
          <p:cNvSpPr/>
          <p:nvPr/>
        </p:nvSpPr>
        <p:spPr>
          <a:xfrm>
            <a:off x="1047750" y="8148638"/>
            <a:ext cx="16192500" cy="900113"/>
          </a:xfrm>
          <a:prstGeom prst="roundRect">
            <a:avLst>
              <a:gd name="adj" fmla="val 16931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1409700" y="8377238"/>
            <a:ext cx="1595437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highlight>
                  <a:srgbClr val="DCE6F5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口头试一试：就你那组词、心里那个画面，想一个可能冒出来的麻烦，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用“忽然”或“就在这时”起头说一句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highlight>
                  <a:srgbClr val="DCE6F5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325" dirty="0"/>
          </a:p>
        </p:txBody>
      </p:sp>
      <p:sp>
        <p:nvSpPr>
          <p:cNvPr id="28" name="Text 25"/>
          <p:cNvSpPr/>
          <p:nvPr/>
        </p:nvSpPr>
        <p:spPr>
          <a:xfrm>
            <a:off x="1047750" y="9391650"/>
            <a:ext cx="178117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记住这个写法：照着那条线把故事编完整，</a:t>
            </a:r>
            <a:pPr algn="l" indent="0" marL="0"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写到经过，添一处波折</a:t>
            </a:r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78117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童话构思表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7750" y="1428750"/>
            <a:ext cx="2724150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971"/>
              </a:lnSpc>
              <a:buNone/>
            </a:pPr>
            <a:r>
              <a:rPr lang="en-US" sz="39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童话构思表</a:t>
            </a:r>
            <a:endParaRPr lang="en-US" sz="3900" dirty="0"/>
          </a:p>
        </p:txBody>
      </p:sp>
      <p:sp>
        <p:nvSpPr>
          <p:cNvPr id="7" name="Text 4"/>
          <p:cNvSpPr/>
          <p:nvPr/>
        </p:nvSpPr>
        <p:spPr>
          <a:xfrm>
            <a:off x="1047750" y="2133600"/>
            <a:ext cx="696557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一格里只写关键词，能提醒自己就行——不写长句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1047750" y="2819400"/>
            <a:ext cx="16192500" cy="5200650"/>
          </a:xfrm>
          <a:prstGeom prst="roundRect">
            <a:avLst>
              <a:gd name="adj" fmla="val 2564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57275" y="2828925"/>
            <a:ext cx="16173450" cy="72390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362075" y="3000375"/>
            <a:ext cx="586549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>
            <a:off x="7343775" y="2828925"/>
            <a:ext cx="9525" cy="72390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658100" y="3000375"/>
            <a:ext cx="956443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我的关键词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1057275" y="3552825"/>
            <a:ext cx="16173450" cy="742950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362075" y="3733800"/>
            <a:ext cx="586549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我选的词语（或自定角色）</a:t>
            </a:r>
            <a:endParaRPr lang="en-US" sz="2250" dirty="0"/>
          </a:p>
        </p:txBody>
      </p:sp>
      <p:sp>
        <p:nvSpPr>
          <p:cNvPr id="15" name="Shape 12"/>
          <p:cNvSpPr/>
          <p:nvPr/>
        </p:nvSpPr>
        <p:spPr>
          <a:xfrm>
            <a:off x="7343775" y="3552825"/>
            <a:ext cx="9525" cy="74295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658100" y="3733800"/>
            <a:ext cx="956443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9AA6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＿＿＿＿＿＿＿＿</a:t>
            </a:r>
            <a:endParaRPr lang="en-US" sz="2250" dirty="0"/>
          </a:p>
        </p:txBody>
      </p:sp>
      <p:sp>
        <p:nvSpPr>
          <p:cNvPr id="17" name="Shape 14"/>
          <p:cNvSpPr/>
          <p:nvPr/>
        </p:nvSpPr>
        <p:spPr>
          <a:xfrm>
            <a:off x="1057275" y="4295775"/>
            <a:ext cx="16173450" cy="7429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362075" y="4476750"/>
            <a:ext cx="586549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</a:t>
            </a:r>
            <a:endParaRPr lang="en-US" sz="2250" dirty="0"/>
          </a:p>
        </p:txBody>
      </p:sp>
      <p:sp>
        <p:nvSpPr>
          <p:cNvPr id="19" name="Shape 16"/>
          <p:cNvSpPr/>
          <p:nvPr/>
        </p:nvSpPr>
        <p:spPr>
          <a:xfrm>
            <a:off x="7343775" y="4295775"/>
            <a:ext cx="9525" cy="74295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7658100" y="4476750"/>
            <a:ext cx="956443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9AA6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＿＿＿＿＿＿＿＿</a:t>
            </a:r>
            <a:endParaRPr lang="en-US" sz="2250" dirty="0"/>
          </a:p>
        </p:txBody>
      </p:sp>
      <p:sp>
        <p:nvSpPr>
          <p:cNvPr id="21" name="Shape 18"/>
          <p:cNvSpPr/>
          <p:nvPr/>
        </p:nvSpPr>
        <p:spPr>
          <a:xfrm>
            <a:off x="1057275" y="5038725"/>
            <a:ext cx="16173450" cy="742950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1362075" y="5219700"/>
            <a:ext cx="586549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 · 地点</a:t>
            </a:r>
            <a:endParaRPr lang="en-US" sz="2250" dirty="0"/>
          </a:p>
        </p:txBody>
      </p:sp>
      <p:sp>
        <p:nvSpPr>
          <p:cNvPr id="23" name="Shape 20"/>
          <p:cNvSpPr/>
          <p:nvPr/>
        </p:nvSpPr>
        <p:spPr>
          <a:xfrm>
            <a:off x="7343775" y="5038725"/>
            <a:ext cx="9525" cy="74295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7658100" y="5219700"/>
            <a:ext cx="956443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9AA6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＿＿＿＿＿＿＿＿</a:t>
            </a:r>
            <a:endParaRPr lang="en-US" sz="2250" dirty="0"/>
          </a:p>
        </p:txBody>
      </p:sp>
      <p:sp>
        <p:nvSpPr>
          <p:cNvPr id="25" name="Shape 22"/>
          <p:cNvSpPr/>
          <p:nvPr/>
        </p:nvSpPr>
        <p:spPr>
          <a:xfrm>
            <a:off x="1057275" y="5781675"/>
            <a:ext cx="16173450" cy="7429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362075" y="5962650"/>
            <a:ext cx="586549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起因（事情怎么开始的）</a:t>
            </a:r>
            <a:endParaRPr lang="en-US" sz="2250" dirty="0"/>
          </a:p>
        </p:txBody>
      </p:sp>
      <p:sp>
        <p:nvSpPr>
          <p:cNvPr id="27" name="Shape 24"/>
          <p:cNvSpPr/>
          <p:nvPr/>
        </p:nvSpPr>
        <p:spPr>
          <a:xfrm>
            <a:off x="7343775" y="5781675"/>
            <a:ext cx="9525" cy="74295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7658100" y="5962650"/>
            <a:ext cx="956443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9AA6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＿＿＿＿＿＿＿＿</a:t>
            </a:r>
            <a:endParaRPr lang="en-US" sz="2250" dirty="0"/>
          </a:p>
        </p:txBody>
      </p:sp>
      <p:sp>
        <p:nvSpPr>
          <p:cNvPr id="29" name="Shape 26"/>
          <p:cNvSpPr/>
          <p:nvPr/>
        </p:nvSpPr>
        <p:spPr>
          <a:xfrm>
            <a:off x="1057275" y="6524625"/>
            <a:ext cx="16173450" cy="742950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1362075" y="6705600"/>
            <a:ext cx="586549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经过（波折是什么）</a:t>
            </a:r>
            <a:endParaRPr lang="en-US" sz="2250" dirty="0"/>
          </a:p>
        </p:txBody>
      </p:sp>
      <p:sp>
        <p:nvSpPr>
          <p:cNvPr id="31" name="Shape 28"/>
          <p:cNvSpPr/>
          <p:nvPr/>
        </p:nvSpPr>
        <p:spPr>
          <a:xfrm>
            <a:off x="7343775" y="6524625"/>
            <a:ext cx="9525" cy="74295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7658100" y="6705600"/>
            <a:ext cx="956443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9AA6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＿＿＿＿＿＿＿＿</a:t>
            </a:r>
            <a:endParaRPr lang="en-US" sz="2250" dirty="0"/>
          </a:p>
        </p:txBody>
      </p:sp>
      <p:sp>
        <p:nvSpPr>
          <p:cNvPr id="33" name="Shape 30"/>
          <p:cNvSpPr/>
          <p:nvPr/>
        </p:nvSpPr>
        <p:spPr>
          <a:xfrm>
            <a:off x="1057275" y="7267575"/>
            <a:ext cx="16173450" cy="7429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1362075" y="7448550"/>
            <a:ext cx="586549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结果（最后怎么样了）</a:t>
            </a:r>
            <a:endParaRPr lang="en-US" sz="2250" dirty="0"/>
          </a:p>
        </p:txBody>
      </p:sp>
      <p:sp>
        <p:nvSpPr>
          <p:cNvPr id="35" name="Shape 32"/>
          <p:cNvSpPr/>
          <p:nvPr/>
        </p:nvSpPr>
        <p:spPr>
          <a:xfrm>
            <a:off x="7343775" y="7267575"/>
            <a:ext cx="9525" cy="74295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7658100" y="7448550"/>
            <a:ext cx="956443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9AA6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＿＿＿＿＿＿＿＿</a:t>
            </a:r>
            <a:endParaRPr lang="en-US" sz="2250" dirty="0"/>
          </a:p>
        </p:txBody>
      </p:sp>
      <p:sp>
        <p:nvSpPr>
          <p:cNvPr id="37" name="Text 34"/>
          <p:cNvSpPr/>
          <p:nvPr/>
        </p:nvSpPr>
        <p:spPr>
          <a:xfrm>
            <a:off x="1047750" y="9420225"/>
            <a:ext cx="178117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直接写容易写着写着就乱——先用这张表，</a:t>
            </a:r>
            <a:pPr algn="l" indent="0" marL="0"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把脑子里那一团理清楚</a:t>
            </a:r>
            <a:pPr algn="l" indent="0" marL="0">
              <a:buNone/>
            </a:pPr>
            <a:r>
              <a:rPr lang="en-US" sz="2175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17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78117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童话构思表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28750"/>
            <a:ext cx="10240119" cy="950565"/>
          </a:xfrm>
          <a:prstGeom prst="roundRect">
            <a:avLst>
              <a:gd name="adj" fmla="val 20041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66850" y="1619250"/>
            <a:ext cx="9709123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老师先填一张——用第一组词 </a:t>
            </a:r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国王、黄昏、厨房</a:t>
            </a:r>
            <a:endParaRPr lang="en-US" sz="3450" dirty="0"/>
          </a:p>
        </p:txBody>
      </p:sp>
      <p:sp>
        <p:nvSpPr>
          <p:cNvPr id="8" name="Shape 5"/>
          <p:cNvSpPr/>
          <p:nvPr/>
        </p:nvSpPr>
        <p:spPr>
          <a:xfrm>
            <a:off x="1047750" y="2857500"/>
            <a:ext cx="16192500" cy="5200650"/>
          </a:xfrm>
          <a:prstGeom prst="roundRect">
            <a:avLst>
              <a:gd name="adj" fmla="val 2564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57275" y="2867025"/>
            <a:ext cx="16173450" cy="72390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362075" y="3038475"/>
            <a:ext cx="586549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>
            <a:off x="7343775" y="2867025"/>
            <a:ext cx="9525" cy="72390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658100" y="3038475"/>
            <a:ext cx="956443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我的关键词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1057275" y="3590925"/>
            <a:ext cx="16173450" cy="742950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362075" y="3771900"/>
            <a:ext cx="586549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我选的词语</a:t>
            </a:r>
            <a:endParaRPr lang="en-US" sz="2250" dirty="0"/>
          </a:p>
        </p:txBody>
      </p:sp>
      <p:sp>
        <p:nvSpPr>
          <p:cNvPr id="15" name="Shape 12"/>
          <p:cNvSpPr/>
          <p:nvPr/>
        </p:nvSpPr>
        <p:spPr>
          <a:xfrm>
            <a:off x="7343775" y="3590925"/>
            <a:ext cx="9525" cy="74295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658100" y="3771900"/>
            <a:ext cx="956443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国王、黄昏、厨房</a:t>
            </a:r>
            <a:endParaRPr lang="en-US" sz="2250" dirty="0"/>
          </a:p>
        </p:txBody>
      </p:sp>
      <p:sp>
        <p:nvSpPr>
          <p:cNvPr id="17" name="Shape 14"/>
          <p:cNvSpPr/>
          <p:nvPr/>
        </p:nvSpPr>
        <p:spPr>
          <a:xfrm>
            <a:off x="1057275" y="4333875"/>
            <a:ext cx="16173450" cy="7429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362075" y="4514850"/>
            <a:ext cx="586549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</a:t>
            </a:r>
            <a:endParaRPr lang="en-US" sz="2250" dirty="0"/>
          </a:p>
        </p:txBody>
      </p:sp>
      <p:sp>
        <p:nvSpPr>
          <p:cNvPr id="19" name="Shape 16"/>
          <p:cNvSpPr/>
          <p:nvPr/>
        </p:nvSpPr>
        <p:spPr>
          <a:xfrm>
            <a:off x="7343775" y="4333875"/>
            <a:ext cx="9525" cy="74295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7658100" y="4514850"/>
            <a:ext cx="956443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国王、会说话的铜锅</a:t>
            </a:r>
            <a:endParaRPr lang="en-US" sz="2250" dirty="0"/>
          </a:p>
        </p:txBody>
      </p:sp>
      <p:sp>
        <p:nvSpPr>
          <p:cNvPr id="21" name="Shape 18"/>
          <p:cNvSpPr/>
          <p:nvPr/>
        </p:nvSpPr>
        <p:spPr>
          <a:xfrm>
            <a:off x="1057275" y="5076825"/>
            <a:ext cx="16173450" cy="742950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1362075" y="5257800"/>
            <a:ext cx="586549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 · 地点</a:t>
            </a:r>
            <a:endParaRPr lang="en-US" sz="2250" dirty="0"/>
          </a:p>
        </p:txBody>
      </p:sp>
      <p:sp>
        <p:nvSpPr>
          <p:cNvPr id="23" name="Shape 20"/>
          <p:cNvSpPr/>
          <p:nvPr/>
        </p:nvSpPr>
        <p:spPr>
          <a:xfrm>
            <a:off x="7343775" y="5076825"/>
            <a:ext cx="9525" cy="74295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7658100" y="5257800"/>
            <a:ext cx="956443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黄昏、王宫大厨房</a:t>
            </a:r>
            <a:endParaRPr lang="en-US" sz="2250" dirty="0"/>
          </a:p>
        </p:txBody>
      </p:sp>
      <p:sp>
        <p:nvSpPr>
          <p:cNvPr id="25" name="Shape 22"/>
          <p:cNvSpPr/>
          <p:nvPr/>
        </p:nvSpPr>
        <p:spPr>
          <a:xfrm>
            <a:off x="1057275" y="5819775"/>
            <a:ext cx="16173450" cy="7429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362075" y="6000750"/>
            <a:ext cx="586549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起因</a:t>
            </a:r>
            <a:endParaRPr lang="en-US" sz="2250" dirty="0"/>
          </a:p>
        </p:txBody>
      </p:sp>
      <p:sp>
        <p:nvSpPr>
          <p:cNvPr id="27" name="Shape 24"/>
          <p:cNvSpPr/>
          <p:nvPr/>
        </p:nvSpPr>
        <p:spPr>
          <a:xfrm>
            <a:off x="7343775" y="5819775"/>
            <a:ext cx="9525" cy="74295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7658100" y="6000750"/>
            <a:ext cx="956443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饿了 · 自己煮汤</a:t>
            </a:r>
            <a:endParaRPr lang="en-US" sz="2250" dirty="0"/>
          </a:p>
        </p:txBody>
      </p:sp>
      <p:sp>
        <p:nvSpPr>
          <p:cNvPr id="29" name="Shape 26"/>
          <p:cNvSpPr/>
          <p:nvPr/>
        </p:nvSpPr>
        <p:spPr>
          <a:xfrm>
            <a:off x="1057275" y="6562725"/>
            <a:ext cx="16173450" cy="742950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1362075" y="6743700"/>
            <a:ext cx="586549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经过（波折是什么）</a:t>
            </a:r>
            <a:endParaRPr lang="en-US" sz="2250" dirty="0"/>
          </a:p>
        </p:txBody>
      </p:sp>
      <p:sp>
        <p:nvSpPr>
          <p:cNvPr id="31" name="Shape 28"/>
          <p:cNvSpPr/>
          <p:nvPr/>
        </p:nvSpPr>
        <p:spPr>
          <a:xfrm>
            <a:off x="7343775" y="6562725"/>
            <a:ext cx="9525" cy="74295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7658100" y="6743700"/>
            <a:ext cx="956443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忘放盐 → 盐撒了 → 海苔救场</a:t>
            </a:r>
            <a:endParaRPr lang="en-US" sz="2250" dirty="0"/>
          </a:p>
        </p:txBody>
      </p:sp>
      <p:sp>
        <p:nvSpPr>
          <p:cNvPr id="33" name="Shape 30"/>
          <p:cNvSpPr/>
          <p:nvPr/>
        </p:nvSpPr>
        <p:spPr>
          <a:xfrm>
            <a:off x="1057275" y="7305675"/>
            <a:ext cx="16173450" cy="7429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1362075" y="7486650"/>
            <a:ext cx="586549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2250" dirty="0"/>
          </a:p>
        </p:txBody>
      </p:sp>
      <p:sp>
        <p:nvSpPr>
          <p:cNvPr id="35" name="Shape 32"/>
          <p:cNvSpPr/>
          <p:nvPr/>
        </p:nvSpPr>
        <p:spPr>
          <a:xfrm>
            <a:off x="7343775" y="7305675"/>
            <a:ext cx="9525" cy="74295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7658100" y="7486650"/>
            <a:ext cx="956443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汤煮成 · 分一碗给锅</a:t>
            </a:r>
            <a:endParaRPr lang="en-US" sz="2250" dirty="0"/>
          </a:p>
        </p:txBody>
      </p:sp>
      <p:sp>
        <p:nvSpPr>
          <p:cNvPr id="37" name="Text 34"/>
          <p:cNvSpPr/>
          <p:nvPr/>
        </p:nvSpPr>
        <p:spPr>
          <a:xfrm>
            <a:off x="1047750" y="9420225"/>
            <a:ext cx="178117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每格就几个词，“经过”那格用小箭头连一连——</a:t>
            </a:r>
            <a:pPr algn="l" indent="0" marL="0"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麻烦在哪儿，一眼就看得见</a:t>
            </a:r>
            <a:pPr algn="l" indent="0" marL="0">
              <a:buNone/>
            </a:pPr>
            <a:r>
              <a:rPr lang="en-US" sz="2175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17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42494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理清思路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28750"/>
            <a:ext cx="7480697" cy="950565"/>
          </a:xfrm>
          <a:prstGeom prst="roundRect">
            <a:avLst>
              <a:gd name="adj" fmla="val 20041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66850" y="1619250"/>
            <a:ext cx="6866918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轮到你——</a:t>
            </a:r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先填表，再讲给同桌听</a:t>
            </a:r>
            <a:endParaRPr lang="en-US" sz="3450" dirty="0"/>
          </a:p>
        </p:txBody>
      </p:sp>
      <p:sp>
        <p:nvSpPr>
          <p:cNvPr id="8" name="Shape 5"/>
          <p:cNvSpPr/>
          <p:nvPr/>
        </p:nvSpPr>
        <p:spPr>
          <a:xfrm>
            <a:off x="1047750" y="314325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009650" y="314325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905000" y="3219450"/>
            <a:ext cx="9025890" cy="1004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把自己的故事填进表里——填“经过”时多想半分钟： 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你的波折是困难、意外，还是帮手 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625" dirty="0"/>
          </a:p>
        </p:txBody>
      </p:sp>
      <p:sp>
        <p:nvSpPr>
          <p:cNvPr id="11" name="Shape 8"/>
          <p:cNvSpPr/>
          <p:nvPr/>
        </p:nvSpPr>
        <p:spPr>
          <a:xfrm>
            <a:off x="1047750" y="4491038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009650" y="4491038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905000" y="4567237"/>
            <a:ext cx="9025890" cy="1004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跟同桌换着讲：看着表，把故事从头到尾 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说一遍 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，一两分钟就行</a:t>
            </a:r>
            <a:endParaRPr lang="en-US" sz="2625" dirty="0"/>
          </a:p>
        </p:txBody>
      </p:sp>
      <p:sp>
        <p:nvSpPr>
          <p:cNvPr id="14" name="Shape 11"/>
          <p:cNvSpPr/>
          <p:nvPr/>
        </p:nvSpPr>
        <p:spPr>
          <a:xfrm>
            <a:off x="1047750" y="5838825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009650" y="583882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905000" y="5915025"/>
            <a:ext cx="9025890" cy="1004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听的人别闲着——听完追问一句： 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“后来呢？”“他为什么这么做？”</a:t>
            </a:r>
            <a:endParaRPr lang="en-US" sz="2625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3238500"/>
            <a:ext cx="4953000" cy="40005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1047750" y="8015288"/>
            <a:ext cx="16192500" cy="938213"/>
          </a:xfrm>
          <a:prstGeom prst="roundRect">
            <a:avLst>
              <a:gd name="adj" fmla="val 16244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1428750" y="8262938"/>
            <a:ext cx="15916275" cy="481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问到对方答不上来的地方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highlight>
                  <a:srgbClr val="DCE6F5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，就是表上还缺的地方——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回去补一补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highlight>
                  <a:srgbClr val="DCE6F5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325" dirty="0"/>
          </a:p>
        </p:txBody>
      </p:sp>
      <p:sp>
        <p:nvSpPr>
          <p:cNvPr id="20" name="Text 16"/>
          <p:cNvSpPr/>
          <p:nvPr/>
        </p:nvSpPr>
        <p:spPr>
          <a:xfrm>
            <a:off x="1047750" y="9391650"/>
            <a:ext cx="178117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一张表把故事摊开——</a:t>
            </a:r>
            <a:pPr algn="l" indent="0" marL="0"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思路就清楚了</a:t>
            </a:r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78117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教师示范文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09700"/>
            <a:ext cx="7226945" cy="828675"/>
          </a:xfrm>
          <a:prstGeom prst="roundRect">
            <a:avLst>
              <a:gd name="adj" fmla="val 20690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28750" y="1562100"/>
            <a:ext cx="6681753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老师表里的那个故事——</a:t>
            </a:r>
            <a:pPr algn="l" indent="0" marL="0">
              <a:buNone/>
            </a:pPr>
            <a:r>
              <a:rPr lang="en-US" sz="31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国王与铜锅</a:t>
            </a:r>
            <a:endParaRPr lang="en-US" sz="3150" dirty="0"/>
          </a:p>
        </p:txBody>
      </p:sp>
      <p:sp>
        <p:nvSpPr>
          <p:cNvPr id="8" name="Shape 5"/>
          <p:cNvSpPr/>
          <p:nvPr/>
        </p:nvSpPr>
        <p:spPr>
          <a:xfrm>
            <a:off x="1047750" y="2266950"/>
            <a:ext cx="16192500" cy="6877050"/>
          </a:xfrm>
          <a:prstGeom prst="roundRect">
            <a:avLst>
              <a:gd name="adj" fmla="val 2493"/>
            </a:avLst>
          </a:prstGeom>
          <a:solidFill>
            <a:srgbClr val="F7F5F2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600200" y="2552700"/>
            <a:ext cx="1659636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49530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黄昏的时候，王宫的大厨房里空空的，厨师们都回家了。</a:t>
            </a:r>
            <a:pPr algn="just" indent="495300" marL="0">
              <a:lnSpc>
                <a:spcPct val="111429"/>
              </a:lnSpc>
              <a:buNone/>
            </a:pPr>
            <a:r>
              <a:rPr lang="en-US" sz="19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国王饿了，决定自己煮一锅汤。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600200" y="3009900"/>
            <a:ext cx="1659636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49530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他把水倒进大铜锅，丢进三根胡萝卜，又搅了搅。忽然，</a:t>
            </a:r>
            <a:pPr algn="just" indent="495300" marL="0">
              <a:lnSpc>
                <a:spcPct val="111429"/>
              </a:lnSpc>
              <a:buNone/>
            </a:pPr>
            <a:r>
              <a:rPr lang="en-US" sz="1950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铜锅开口了：“陛下，您忘了放盐。”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600200" y="3467100"/>
            <a:ext cx="1659636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49530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国王吓了一跳：</a:t>
            </a:r>
            <a:pPr algn="just" indent="495300" marL="0">
              <a:lnSpc>
                <a:spcPct val="111429"/>
              </a:lnSpc>
              <a:buNone/>
            </a:pPr>
            <a:r>
              <a:rPr lang="en-US" sz="195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“你会说话？”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600200" y="3924300"/>
            <a:ext cx="1659636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495300" marL="0">
              <a:lnSpc>
                <a:spcPct val="111429"/>
              </a:lnSpc>
              <a:buNone/>
            </a:pPr>
            <a:r>
              <a:rPr lang="en-US" sz="195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“我在厨房里站了一百年，什么汤都记得。”</a:t>
            </a:r>
            <a:pPr algn="just" indent="49530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铜锅慢悠悠地说，“盐罐在最高的架子上。”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600200" y="4381500"/>
            <a:ext cx="1659636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49530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国王搬来梯子，爬到一半，梯子晃了晃，</a:t>
            </a:r>
            <a:pPr algn="just" indent="495300" marL="0">
              <a:lnSpc>
                <a:spcPct val="111429"/>
              </a:lnSpc>
              <a:buNone/>
            </a:pPr>
            <a:r>
              <a:rPr lang="en-US" sz="19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盐罐“哐当”一声掉在地上，盐撒了一地。锅里的汤咕嘟咕嘟直响，眼看就要煮干了。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1600200" y="4838700"/>
            <a:ext cx="1659636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495300" marL="0">
              <a:lnSpc>
                <a:spcPct val="111429"/>
              </a:lnSpc>
              <a:buNone/>
            </a:pPr>
            <a:r>
              <a:rPr lang="en-US" sz="195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“别急，”</a:t>
            </a:r>
            <a:pPr algn="just" indent="49530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铜锅说，</a:t>
            </a:r>
            <a:pPr algn="just" indent="495300" marL="0">
              <a:lnSpc>
                <a:spcPct val="111429"/>
              </a:lnSpc>
              <a:buNone/>
            </a:pPr>
            <a:r>
              <a:rPr lang="en-US" sz="195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“窗台上晒着一小把海苔，又咸又鲜，碾碎了撒进来。”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600200" y="5295900"/>
            <a:ext cx="1659636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49530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国王赶紧照做。绿色的海苔碎落进汤里，汤面上浮起一圈圈小泡，</a:t>
            </a:r>
            <a:pPr algn="just" indent="495300" marL="0">
              <a:lnSpc>
                <a:spcPct val="111429"/>
              </a:lnSpc>
              <a:buNone/>
            </a:pPr>
            <a:r>
              <a:rPr lang="en-US" sz="1950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像撒了一把碎星星</a:t>
            </a:r>
            <a:pPr algn="just" indent="49530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1600200" y="5753100"/>
            <a:ext cx="1554022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49530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汤煮好了。国王盛了两碗，一碗放在自己面前，一碗端到铜锅跟前：</a:t>
            </a:r>
            <a:pPr algn="just" indent="495300" marL="0">
              <a:lnSpc>
                <a:spcPct val="111429"/>
              </a:lnSpc>
              <a:buNone/>
            </a:pPr>
            <a:r>
              <a:rPr lang="en-US" sz="19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“你没有嘴，可这碗是你的。” </a:t>
            </a:r>
            <a:pPr algn="just" indent="49530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黄昏最后一点太阳光，正好照在那碗汤上。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1047750" y="9420225"/>
            <a:ext cx="32422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东西开口说话（童话味）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4319141" y="9420225"/>
            <a:ext cx="133539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波折上场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5856982" y="9420225"/>
            <a:ext cx="216229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对话 · 冒号引号</a:t>
            </a:r>
            <a:endParaRPr lang="en-US" sz="1950" dirty="0"/>
          </a:p>
        </p:txBody>
      </p:sp>
      <p:sp>
        <p:nvSpPr>
          <p:cNvPr id="20" name="Text 17"/>
          <p:cNvSpPr/>
          <p:nvPr/>
        </p:nvSpPr>
        <p:spPr>
          <a:xfrm>
            <a:off x="8146554" y="9420225"/>
            <a:ext cx="104254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打比方</a:t>
            </a:r>
            <a:endParaRPr lang="en-US" sz="1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0477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旁批表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28750"/>
            <a:ext cx="8698855" cy="925711"/>
          </a:xfrm>
          <a:prstGeom prst="roundRect">
            <a:avLst>
              <a:gd name="adj" fmla="val 20579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66850" y="1619250"/>
            <a:ext cx="8121621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949"/>
              </a:lnSpc>
              <a:buNone/>
            </a:pPr>
            <a:r>
              <a:rPr lang="en-US" sz="330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每句在做什么——把 </a:t>
            </a:r>
            <a:pPr algn="l" indent="0" marL="0">
              <a:lnSpc>
                <a:spcPct val="96949"/>
              </a:lnSpc>
              <a:buNone/>
            </a:pPr>
            <a:r>
              <a:rPr lang="en-US" sz="3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编故事的秘密 </a:t>
            </a:r>
            <a:pPr algn="l" indent="0" marL="0">
              <a:lnSpc>
                <a:spcPct val="96949"/>
              </a:lnSpc>
              <a:buNone/>
            </a:pPr>
            <a:r>
              <a:rPr lang="en-US" sz="330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摆出来</a:t>
            </a:r>
            <a:endParaRPr lang="en-US" sz="3300" dirty="0"/>
          </a:p>
        </p:txBody>
      </p:sp>
      <p:sp>
        <p:nvSpPr>
          <p:cNvPr id="8" name="Shape 5"/>
          <p:cNvSpPr/>
          <p:nvPr/>
        </p:nvSpPr>
        <p:spPr>
          <a:xfrm>
            <a:off x="1047750" y="2857500"/>
            <a:ext cx="16192500" cy="4800600"/>
          </a:xfrm>
          <a:prstGeom prst="roundRect">
            <a:avLst>
              <a:gd name="adj" fmla="val 2778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57275" y="2867025"/>
            <a:ext cx="16173450" cy="72390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362075" y="3038475"/>
            <a:ext cx="996638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示范文里的句子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>
            <a:off x="11325225" y="2867025"/>
            <a:ext cx="9525" cy="72390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1639550" y="3038475"/>
            <a:ext cx="546354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这一句在做什么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1057275" y="3590925"/>
            <a:ext cx="16173450" cy="6762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362075" y="3752850"/>
            <a:ext cx="996638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黄昏的时候，王宫的大厨房里空空的……国王饿了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11325225" y="3590925"/>
            <a:ext cx="9525" cy="6762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1639550" y="3752850"/>
            <a:ext cx="54635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开头一口气交代了时间、地点、角色和起因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1057275" y="4267200"/>
            <a:ext cx="16173450" cy="6762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362075" y="4429125"/>
            <a:ext cx="996638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忽然，铜锅开口了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11325225" y="4267200"/>
            <a:ext cx="9525" cy="6762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1639550" y="4429125"/>
            <a:ext cx="54635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让东西开口说话，童话的味道出来了</a:t>
            </a:r>
            <a:endParaRPr lang="en-US" sz="2100" dirty="0"/>
          </a:p>
        </p:txBody>
      </p:sp>
      <p:sp>
        <p:nvSpPr>
          <p:cNvPr id="21" name="Shape 18"/>
          <p:cNvSpPr/>
          <p:nvPr/>
        </p:nvSpPr>
        <p:spPr>
          <a:xfrm>
            <a:off x="1057275" y="4943475"/>
            <a:ext cx="16173450" cy="6762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1362075" y="5105400"/>
            <a:ext cx="996638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盐罐“哐当”一声掉在地上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11325225" y="4943475"/>
            <a:ext cx="9525" cy="6762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11639550" y="5105400"/>
            <a:ext cx="54635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波折上场；“哐当”是听得见的声音</a:t>
            </a:r>
            <a:endParaRPr lang="en-US" sz="2100" dirty="0"/>
          </a:p>
        </p:txBody>
      </p:sp>
      <p:sp>
        <p:nvSpPr>
          <p:cNvPr id="25" name="Shape 22"/>
          <p:cNvSpPr/>
          <p:nvPr/>
        </p:nvSpPr>
        <p:spPr>
          <a:xfrm>
            <a:off x="1057275" y="5619750"/>
            <a:ext cx="16173450" cy="6762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362075" y="5781675"/>
            <a:ext cx="996638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国王吓了一跳：“你会说话？”</a:t>
            </a:r>
            <a:endParaRPr lang="en-US" sz="2100" dirty="0"/>
          </a:p>
        </p:txBody>
      </p:sp>
      <p:sp>
        <p:nvSpPr>
          <p:cNvPr id="27" name="Shape 24"/>
          <p:cNvSpPr/>
          <p:nvPr/>
        </p:nvSpPr>
        <p:spPr>
          <a:xfrm>
            <a:off x="11325225" y="5619750"/>
            <a:ext cx="9525" cy="6762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11639550" y="5781675"/>
            <a:ext cx="54635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对话——冒号、引号，一样不少</a:t>
            </a:r>
            <a:endParaRPr lang="en-US" sz="2100" dirty="0"/>
          </a:p>
        </p:txBody>
      </p:sp>
      <p:sp>
        <p:nvSpPr>
          <p:cNvPr id="29" name="Shape 26"/>
          <p:cNvSpPr/>
          <p:nvPr/>
        </p:nvSpPr>
        <p:spPr>
          <a:xfrm>
            <a:off x="1057275" y="6296025"/>
            <a:ext cx="16173450" cy="6762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1362075" y="6457950"/>
            <a:ext cx="996638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汤面上浮起一圈圈小泡，像撒了一把碎星星</a:t>
            </a:r>
            <a:endParaRPr lang="en-US" sz="2100" dirty="0"/>
          </a:p>
        </p:txBody>
      </p:sp>
      <p:sp>
        <p:nvSpPr>
          <p:cNvPr id="31" name="Shape 28"/>
          <p:cNvSpPr/>
          <p:nvPr/>
        </p:nvSpPr>
        <p:spPr>
          <a:xfrm>
            <a:off x="11325225" y="6296025"/>
            <a:ext cx="9525" cy="6762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11639550" y="6457950"/>
            <a:ext cx="54635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打了个比方，画面就看得见了</a:t>
            </a:r>
            <a:endParaRPr lang="en-US" sz="2100" dirty="0"/>
          </a:p>
        </p:txBody>
      </p:sp>
      <p:sp>
        <p:nvSpPr>
          <p:cNvPr id="33" name="Shape 30"/>
          <p:cNvSpPr/>
          <p:nvPr/>
        </p:nvSpPr>
        <p:spPr>
          <a:xfrm>
            <a:off x="1057275" y="6972300"/>
            <a:ext cx="16173450" cy="6762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1362075" y="7134225"/>
            <a:ext cx="996638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一碗端到铜锅跟前：“你没有嘴，可这碗是你的。”</a:t>
            </a:r>
            <a:endParaRPr lang="en-US" sz="2100" dirty="0"/>
          </a:p>
        </p:txBody>
      </p:sp>
      <p:sp>
        <p:nvSpPr>
          <p:cNvPr id="35" name="Shape 32"/>
          <p:cNvSpPr/>
          <p:nvPr/>
        </p:nvSpPr>
        <p:spPr>
          <a:xfrm>
            <a:off x="11325225" y="6972300"/>
            <a:ext cx="9525" cy="6762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11639550" y="7134225"/>
            <a:ext cx="54635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结尾写结果，说完这句就收住，干净利落</a:t>
            </a:r>
            <a:endParaRPr lang="en-US" sz="2100" dirty="0"/>
          </a:p>
        </p:txBody>
      </p:sp>
      <p:sp>
        <p:nvSpPr>
          <p:cNvPr id="37" name="Text 34"/>
          <p:cNvSpPr/>
          <p:nvPr/>
        </p:nvSpPr>
        <p:spPr>
          <a:xfrm>
            <a:off x="1047750" y="9420225"/>
            <a:ext cx="178117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跟老师的像不像，一点不要紧——</a:t>
            </a:r>
            <a:pPr algn="l" indent="0" marL="0"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编得完整、有波折就行</a:t>
            </a:r>
            <a:pPr algn="l" indent="0" marL="0">
              <a:buNone/>
            </a:pPr>
            <a:r>
              <a:rPr lang="en-US" sz="2175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。休息回来，就把它写成真正的童话。</a:t>
            </a:r>
            <a:endParaRPr lang="en-US" sz="217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038350" y="3181350"/>
            <a:ext cx="2455500" cy="2119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52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250" dirty="0"/>
          </a:p>
        </p:txBody>
      </p:sp>
      <p:sp>
        <p:nvSpPr>
          <p:cNvPr id="6" name="Text 4"/>
          <p:cNvSpPr/>
          <p:nvPr/>
        </p:nvSpPr>
        <p:spPr>
          <a:xfrm>
            <a:off x="2228850" y="5676900"/>
            <a:ext cx="50292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734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当堂写作与评改课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2247900" y="6572250"/>
            <a:ext cx="694576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FFFFF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写下开头 · 自由写作 · 童话故事会 · 修改收束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42494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写作热身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28750"/>
            <a:ext cx="7042547" cy="950565"/>
          </a:xfrm>
          <a:prstGeom prst="roundRect">
            <a:avLst>
              <a:gd name="adj" fmla="val 20041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66850" y="1619250"/>
            <a:ext cx="6415623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第一句最好写——</a:t>
            </a:r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把两格连起来</a:t>
            </a:r>
            <a:endParaRPr lang="en-US" sz="3450" dirty="0"/>
          </a:p>
        </p:txBody>
      </p:sp>
      <p:sp>
        <p:nvSpPr>
          <p:cNvPr id="8" name="Shape 5"/>
          <p:cNvSpPr/>
          <p:nvPr/>
        </p:nvSpPr>
        <p:spPr>
          <a:xfrm>
            <a:off x="1162050" y="2550765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47750" y="3219450"/>
            <a:ext cx="6370588" cy="1990725"/>
          </a:xfrm>
          <a:prstGeom prst="roundRect">
            <a:avLst>
              <a:gd name="adj" fmla="val 8612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137843" y="3533775"/>
            <a:ext cx="619040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构思表上的两格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137843" y="4000500"/>
            <a:ext cx="619040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 ＋ 时间 · 地点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1137843" y="4524375"/>
            <a:ext cx="619040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黄昏、王宫大厨房、国王</a:t>
            </a:r>
            <a:endParaRPr lang="en-US" sz="2175" dirty="0"/>
          </a:p>
        </p:txBody>
      </p:sp>
      <p:sp>
        <p:nvSpPr>
          <p:cNvPr id="13" name="Shape 10"/>
          <p:cNvSpPr/>
          <p:nvPr/>
        </p:nvSpPr>
        <p:spPr>
          <a:xfrm>
            <a:off x="7761238" y="3890962"/>
            <a:ext cx="495300" cy="647700"/>
          </a:xfrm>
          <a:prstGeom prst="rect">
            <a:avLst/>
          </a:prstGeom>
          <a:solidFill>
            <a:srgbClr val="7FA33C"/>
          </a:solidFill>
          <a:ln/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238" y="3890962"/>
            <a:ext cx="495300" cy="6477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599438" y="3143250"/>
            <a:ext cx="8640812" cy="2143125"/>
          </a:xfrm>
          <a:prstGeom prst="roundRect">
            <a:avLst>
              <a:gd name="adj" fmla="val 8000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8586497" y="3467100"/>
            <a:ext cx="866669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连起来，就是第一句</a:t>
            </a:r>
            <a:endParaRPr lang="en-US" sz="2100" dirty="0"/>
          </a:p>
        </p:txBody>
      </p:sp>
      <p:sp>
        <p:nvSpPr>
          <p:cNvPr id="17" name="Text 13"/>
          <p:cNvSpPr/>
          <p:nvPr/>
        </p:nvSpPr>
        <p:spPr>
          <a:xfrm>
            <a:off x="8862256" y="3933825"/>
            <a:ext cx="8115176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“黄昏的时候，国王一个人 走进了大厨房。”</a:t>
            </a:r>
            <a:endParaRPr lang="en-US" sz="2700" dirty="0"/>
          </a:p>
        </p:txBody>
      </p:sp>
      <p:sp>
        <p:nvSpPr>
          <p:cNvPr id="18" name="Shape 14"/>
          <p:cNvSpPr/>
          <p:nvPr/>
        </p:nvSpPr>
        <p:spPr>
          <a:xfrm>
            <a:off x="1047750" y="6334125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1409700" y="6191250"/>
            <a:ext cx="712470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把你那两格连成一句话，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直接写在稿纸第一行</a:t>
            </a:r>
            <a:endParaRPr lang="en-US" sz="2550" dirty="0"/>
          </a:p>
        </p:txBody>
      </p:sp>
      <p:sp>
        <p:nvSpPr>
          <p:cNvPr id="20" name="Shape 16"/>
          <p:cNvSpPr/>
          <p:nvPr/>
        </p:nvSpPr>
        <p:spPr>
          <a:xfrm>
            <a:off x="1047750" y="7070378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1409700" y="6927503"/>
            <a:ext cx="783717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顺着第一句往下写，先别管好不好，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把起因写出来</a:t>
            </a:r>
            <a:endParaRPr lang="en-US" sz="2550" dirty="0"/>
          </a:p>
        </p:txBody>
      </p:sp>
      <p:sp>
        <p:nvSpPr>
          <p:cNvPr id="22" name="Shape 18"/>
          <p:cNvSpPr/>
          <p:nvPr/>
        </p:nvSpPr>
        <p:spPr>
          <a:xfrm>
            <a:off x="1047750" y="780663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1409700" y="7663755"/>
            <a:ext cx="641223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不会写的字，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画个圈占住位置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，接着往下</a:t>
            </a:r>
            <a:endParaRPr lang="en-US" sz="2550" dirty="0"/>
          </a:p>
        </p:txBody>
      </p:sp>
      <p:sp>
        <p:nvSpPr>
          <p:cNvPr id="24" name="Text 20"/>
          <p:cNvSpPr/>
          <p:nvPr/>
        </p:nvSpPr>
        <p:spPr>
          <a:xfrm>
            <a:off x="1047750" y="9391650"/>
            <a:ext cx="178117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第一句写完，后面就顺了——你的童话，</a:t>
            </a:r>
            <a:pPr algn="l" indent="0" marL="0"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已经开了头</a:t>
            </a:r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42494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自由写作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28750"/>
            <a:ext cx="7042547" cy="950565"/>
          </a:xfrm>
          <a:prstGeom prst="roundRect">
            <a:avLst>
              <a:gd name="adj" fmla="val 20041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66850" y="1619250"/>
            <a:ext cx="6415623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把故事写完——</a:t>
            </a:r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三件事记在心里</a:t>
            </a:r>
            <a:endParaRPr lang="en-US" sz="3450" dirty="0"/>
          </a:p>
        </p:txBody>
      </p:sp>
      <p:sp>
        <p:nvSpPr>
          <p:cNvPr id="8" name="Shape 5"/>
          <p:cNvSpPr/>
          <p:nvPr/>
        </p:nvSpPr>
        <p:spPr>
          <a:xfrm>
            <a:off x="1047750" y="3048000"/>
            <a:ext cx="5143500" cy="314325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466850" y="3429000"/>
            <a:ext cx="473583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472"/>
              </a:lnSpc>
              <a:buNone/>
            </a:pPr>
            <a:r>
              <a:rPr lang="en-US" sz="60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en-US" sz="6000" dirty="0"/>
          </a:p>
        </p:txBody>
      </p:sp>
      <p:sp>
        <p:nvSpPr>
          <p:cNvPr id="10" name="Text 7"/>
          <p:cNvSpPr/>
          <p:nvPr/>
        </p:nvSpPr>
        <p:spPr>
          <a:xfrm>
            <a:off x="1466850" y="4381500"/>
            <a:ext cx="4735830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照着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构思表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写到底</a:t>
            </a:r>
            <a:endParaRPr lang="en-US" sz="2625" dirty="0"/>
          </a:p>
        </p:txBody>
      </p:sp>
      <p:sp>
        <p:nvSpPr>
          <p:cNvPr id="11" name="Shape 8"/>
          <p:cNvSpPr/>
          <p:nvPr/>
        </p:nvSpPr>
        <p:spPr>
          <a:xfrm>
            <a:off x="6572250" y="3048000"/>
            <a:ext cx="5143500" cy="314325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991350" y="3429000"/>
            <a:ext cx="473583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472"/>
              </a:lnSpc>
              <a:buNone/>
            </a:pPr>
            <a:r>
              <a:rPr lang="en-US" sz="60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en-US" sz="6000" dirty="0"/>
          </a:p>
        </p:txBody>
      </p:sp>
      <p:sp>
        <p:nvSpPr>
          <p:cNvPr id="13" name="Text 10"/>
          <p:cNvSpPr/>
          <p:nvPr/>
        </p:nvSpPr>
        <p:spPr>
          <a:xfrm>
            <a:off x="6991350" y="4381500"/>
            <a:ext cx="4735830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经过里那处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波折别落下</a:t>
            </a:r>
            <a:endParaRPr lang="en-US" sz="2625" dirty="0"/>
          </a:p>
        </p:txBody>
      </p:sp>
      <p:sp>
        <p:nvSpPr>
          <p:cNvPr id="14" name="Shape 11"/>
          <p:cNvSpPr/>
          <p:nvPr/>
        </p:nvSpPr>
        <p:spPr>
          <a:xfrm>
            <a:off x="12096750" y="3048000"/>
            <a:ext cx="5143500" cy="314325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2515850" y="3429000"/>
            <a:ext cx="473583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472"/>
              </a:lnSpc>
              <a:buNone/>
            </a:pPr>
            <a:r>
              <a:rPr lang="en-US" sz="60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en-US" sz="6000" dirty="0"/>
          </a:p>
        </p:txBody>
      </p:sp>
      <p:sp>
        <p:nvSpPr>
          <p:cNvPr id="16" name="Text 13"/>
          <p:cNvSpPr/>
          <p:nvPr/>
        </p:nvSpPr>
        <p:spPr>
          <a:xfrm>
            <a:off x="12515850" y="4381500"/>
            <a:ext cx="4434459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让角色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开口说话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——冒号、引号用上</a:t>
            </a:r>
            <a:endParaRPr lang="en-US" sz="2625" dirty="0"/>
          </a:p>
        </p:txBody>
      </p:sp>
      <p:sp>
        <p:nvSpPr>
          <p:cNvPr id="17" name="Text 14"/>
          <p:cNvSpPr/>
          <p:nvPr/>
        </p:nvSpPr>
        <p:spPr>
          <a:xfrm>
            <a:off x="1047750" y="8639175"/>
            <a:ext cx="1309687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写的时候不用回头改字，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一口气写完再说</a:t>
            </a:r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；不会写的字画个圈占住位置，别停下来。</a:t>
            </a:r>
            <a:endParaRPr lang="en-US" sz="2250" dirty="0"/>
          </a:p>
        </p:txBody>
      </p:sp>
      <p:sp>
        <p:nvSpPr>
          <p:cNvPr id="18" name="Shape 15"/>
          <p:cNvSpPr/>
          <p:nvPr/>
        </p:nvSpPr>
        <p:spPr>
          <a:xfrm>
            <a:off x="13871377" y="8791575"/>
            <a:ext cx="3368873" cy="866775"/>
          </a:xfrm>
          <a:prstGeom prst="roundRect">
            <a:avLst>
              <a:gd name="adj" fmla="val 17582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4252377" y="8982075"/>
            <a:ext cx="270794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写十四五分钟</a:t>
            </a:r>
            <a:endParaRPr lang="en-US" sz="2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78117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童话故事会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28750"/>
            <a:ext cx="7918847" cy="950565"/>
          </a:xfrm>
          <a:prstGeom prst="roundRect">
            <a:avLst>
              <a:gd name="adj" fmla="val 20041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66850" y="1619250"/>
            <a:ext cx="7318212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故事会开场——第一场，</a:t>
            </a:r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讲给同桌听</a:t>
            </a:r>
            <a:endParaRPr lang="en-US" sz="3450" dirty="0"/>
          </a:p>
        </p:txBody>
      </p:sp>
      <p:sp>
        <p:nvSpPr>
          <p:cNvPr id="8" name="Shape 5"/>
          <p:cNvSpPr/>
          <p:nvPr/>
        </p:nvSpPr>
        <p:spPr>
          <a:xfrm>
            <a:off x="1047750" y="333375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409700" y="3181350"/>
            <a:ext cx="6705927" cy="549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49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拿着稿子，把你的童话 </a:t>
            </a:r>
            <a:pPr algn="l" indent="0" marL="0">
              <a:lnSpc>
                <a:spcPct val="109490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从头到尾念一遍</a:t>
            </a:r>
            <a:endParaRPr lang="en-US" sz="2775" dirty="0"/>
          </a:p>
        </p:txBody>
      </p:sp>
      <p:sp>
        <p:nvSpPr>
          <p:cNvPr id="10" name="Shape 7"/>
          <p:cNvSpPr/>
          <p:nvPr/>
        </p:nvSpPr>
        <p:spPr>
          <a:xfrm>
            <a:off x="1047750" y="4168527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409700" y="4016127"/>
            <a:ext cx="6978015" cy="549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49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听的人：听完告诉他，</a:t>
            </a:r>
            <a:pPr algn="l" indent="0" marL="0">
              <a:lnSpc>
                <a:spcPct val="109490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你觉得哪儿最神奇</a:t>
            </a:r>
            <a:endParaRPr lang="en-US" sz="2775" dirty="0"/>
          </a:p>
        </p:txBody>
      </p:sp>
      <p:sp>
        <p:nvSpPr>
          <p:cNvPr id="12" name="Shape 9"/>
          <p:cNvSpPr/>
          <p:nvPr/>
        </p:nvSpPr>
        <p:spPr>
          <a:xfrm>
            <a:off x="1047750" y="5003304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409700" y="4850904"/>
            <a:ext cx="8256597" cy="549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49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再从他的故事里挑出 </a:t>
            </a:r>
            <a:pPr algn="l" indent="0" marL="0">
              <a:lnSpc>
                <a:spcPct val="109490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一句你最喜欢的</a:t>
            </a:r>
            <a:pPr algn="l" indent="0" marL="0">
              <a:lnSpc>
                <a:spcPct val="10949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，念给他听</a:t>
            </a:r>
            <a:endParaRPr lang="en-US" sz="2775" dirty="0"/>
          </a:p>
        </p:txBody>
      </p:sp>
      <p:sp>
        <p:nvSpPr>
          <p:cNvPr id="14" name="Shape 11"/>
          <p:cNvSpPr/>
          <p:nvPr/>
        </p:nvSpPr>
        <p:spPr>
          <a:xfrm>
            <a:off x="1047750" y="5685681"/>
            <a:ext cx="9620250" cy="1419225"/>
          </a:xfrm>
          <a:prstGeom prst="roundRect">
            <a:avLst>
              <a:gd name="adj" fmla="val 12081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447800" y="5952381"/>
            <a:ext cx="910875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两人都讲完、都听完，才算完。 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highlight>
                  <a:srgbClr val="DCE6F5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被挑中的那一句记下来——它是你这个故事的亮点。</a:t>
            </a:r>
            <a:endParaRPr lang="en-US" sz="2325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750" y="3352800"/>
            <a:ext cx="4953000" cy="466725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47750" y="9391650"/>
            <a:ext cx="178117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你的同桌，就是你这个新故事的 </a:t>
            </a:r>
            <a:pPr algn="l" indent="0" marL="0"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第一位听众</a:t>
            </a:r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78117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童话故事会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28750"/>
            <a:ext cx="5289947" cy="950565"/>
          </a:xfrm>
          <a:prstGeom prst="roundRect">
            <a:avLst>
              <a:gd name="adj" fmla="val 20041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66850" y="1619250"/>
            <a:ext cx="4610445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第二场——</a:t>
            </a:r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讲给全班听</a:t>
            </a:r>
            <a:endParaRPr lang="en-US" sz="3450" dirty="0"/>
          </a:p>
        </p:txBody>
      </p:sp>
      <p:sp>
        <p:nvSpPr>
          <p:cNvPr id="8" name="Shape 5"/>
          <p:cNvSpPr/>
          <p:nvPr/>
        </p:nvSpPr>
        <p:spPr>
          <a:xfrm>
            <a:off x="1047750" y="2952750"/>
            <a:ext cx="16192500" cy="928688"/>
          </a:xfrm>
          <a:prstGeom prst="roundRect">
            <a:avLst>
              <a:gd name="adj" fmla="val 16410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428750" y="3181350"/>
            <a:ext cx="15916275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2C3A54"/>
                </a:solidFill>
                <a:highlight>
                  <a:srgbClr val="DCE6F5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请两三位同学，把自己的童话 </a:t>
            </a:r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完完整整讲给全班</a:t>
            </a:r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2C3A54"/>
                </a:solidFill>
                <a:highlight>
                  <a:srgbClr val="DCE6F5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——台下的同学都是评委。</a:t>
            </a:r>
            <a:endParaRPr lang="en-US" sz="2475" dirty="0"/>
          </a:p>
        </p:txBody>
      </p:sp>
      <p:sp>
        <p:nvSpPr>
          <p:cNvPr id="10" name="Shape 7"/>
          <p:cNvSpPr/>
          <p:nvPr/>
        </p:nvSpPr>
        <p:spPr>
          <a:xfrm>
            <a:off x="1047750" y="4286250"/>
            <a:ext cx="5143500" cy="2057400"/>
          </a:xfrm>
          <a:prstGeom prst="roundRect">
            <a:avLst>
              <a:gd name="adj" fmla="val 8333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314700" y="4657725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276600" y="465772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220153" y="5457825"/>
            <a:ext cx="479869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他的故事 </a:t>
            </a:r>
            <a:pPr algn="ctr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完整吗</a:t>
            </a:r>
            <a:pPr algn="ctr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700" dirty="0"/>
          </a:p>
        </p:txBody>
      </p:sp>
      <p:sp>
        <p:nvSpPr>
          <p:cNvPr id="14" name="Shape 11"/>
          <p:cNvSpPr/>
          <p:nvPr/>
        </p:nvSpPr>
        <p:spPr>
          <a:xfrm>
            <a:off x="6572250" y="4286250"/>
            <a:ext cx="5143500" cy="2057400"/>
          </a:xfrm>
          <a:prstGeom prst="roundRect">
            <a:avLst>
              <a:gd name="adj" fmla="val 8333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8839200" y="4657725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801100" y="465772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6744653" y="5457825"/>
            <a:ext cx="479869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哪儿 </a:t>
            </a:r>
            <a:pPr algn="ctr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最神奇</a:t>
            </a:r>
            <a:pPr algn="ctr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700" dirty="0"/>
          </a:p>
        </p:txBody>
      </p:sp>
      <p:sp>
        <p:nvSpPr>
          <p:cNvPr id="18" name="Shape 15"/>
          <p:cNvSpPr/>
          <p:nvPr/>
        </p:nvSpPr>
        <p:spPr>
          <a:xfrm>
            <a:off x="12096750" y="4286250"/>
            <a:ext cx="5143500" cy="2057400"/>
          </a:xfrm>
          <a:prstGeom prst="roundRect">
            <a:avLst>
              <a:gd name="adj" fmla="val 8333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4363700" y="4657725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4325600" y="465772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12269153" y="5457825"/>
            <a:ext cx="479869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哪儿 </a:t>
            </a:r>
            <a:pPr algn="ctr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最有趣</a:t>
            </a:r>
            <a:pPr algn="ctr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700" dirty="0"/>
          </a:p>
        </p:txBody>
      </p:sp>
      <p:sp>
        <p:nvSpPr>
          <p:cNvPr id="22" name="Shape 19"/>
          <p:cNvSpPr/>
          <p:nvPr/>
        </p:nvSpPr>
        <p:spPr>
          <a:xfrm>
            <a:off x="1047750" y="8057704"/>
            <a:ext cx="16192500" cy="991046"/>
          </a:xfrm>
          <a:prstGeom prst="roundRect">
            <a:avLst>
              <a:gd name="adj" fmla="val 17300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466850" y="8324404"/>
            <a:ext cx="15840075" cy="495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highlight>
                  <a:srgbClr val="FCF3EE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听的时候想着这三件事，</a:t>
            </a:r>
            <a:pPr algn="l" indent="0" marL="0">
              <a:lnSpc>
                <a:spcPct val="11719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听完说给大家</a:t>
            </a:r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highlight>
                  <a:srgbClr val="FCF3EE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——点评要落到具体的句子上。</a:t>
            </a:r>
            <a:endParaRPr lang="en-US" sz="2325" dirty="0"/>
          </a:p>
        </p:txBody>
      </p:sp>
      <p:sp>
        <p:nvSpPr>
          <p:cNvPr id="24" name="Text 21"/>
          <p:cNvSpPr/>
          <p:nvPr/>
        </p:nvSpPr>
        <p:spPr>
          <a:xfrm>
            <a:off x="1047750" y="9391650"/>
            <a:ext cx="178117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有人追问“后来呢”、有人说“真想不到”——</a:t>
            </a:r>
            <a:pPr algn="l" indent="0" marL="0"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你的故事就成了</a:t>
            </a:r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42494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修改收束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28750"/>
            <a:ext cx="7042547" cy="950565"/>
          </a:xfrm>
          <a:prstGeom prst="roundRect">
            <a:avLst>
              <a:gd name="adj" fmla="val 20041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66850" y="1619250"/>
            <a:ext cx="6415623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改一改——</a:t>
            </a:r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对着三个问题过一遍</a:t>
            </a:r>
            <a:endParaRPr lang="en-US" sz="3450" dirty="0"/>
          </a:p>
        </p:txBody>
      </p:sp>
      <p:sp>
        <p:nvSpPr>
          <p:cNvPr id="8" name="Shape 5"/>
          <p:cNvSpPr/>
          <p:nvPr/>
        </p:nvSpPr>
        <p:spPr>
          <a:xfrm>
            <a:off x="1047750" y="2933700"/>
            <a:ext cx="7810500" cy="1285875"/>
          </a:xfrm>
          <a:prstGeom prst="roundRect">
            <a:avLst>
              <a:gd name="adj" fmla="val 10370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33500" y="3162300"/>
            <a:ext cx="747331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2175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第一问</a:t>
            </a:r>
            <a:pPr algn="l" indent="0" marL="0">
              <a:lnSpc>
                <a:spcPct val="111538"/>
              </a:lnSpc>
              <a:buNone/>
            </a:pPr>
            <a:r>
              <a:rPr lang="en-US" sz="2175" dirty="0">
                <a:solidFill>
                  <a:srgbClr val="2A2E37"/>
                </a:solidFill>
                <a:highlight>
                  <a:srgbClr val="F7F8F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角色、时间地点、起因、经过、结果——</a:t>
            </a:r>
            <a:pPr algn="l" indent="0" marL="0">
              <a:lnSpc>
                <a:spcPct val="111538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缺不缺？ </a:t>
            </a:r>
            <a:pPr algn="l" indent="0" marL="0">
              <a:lnSpc>
                <a:spcPct val="111538"/>
              </a:lnSpc>
              <a:buNone/>
            </a:pPr>
            <a:r>
              <a:rPr lang="en-US" sz="2175" dirty="0">
                <a:solidFill>
                  <a:srgbClr val="2A2E37"/>
                </a:solidFill>
                <a:highlight>
                  <a:srgbClr val="F7F8F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缺了补上</a:t>
            </a:r>
            <a:endParaRPr lang="en-US" sz="2175" dirty="0"/>
          </a:p>
        </p:txBody>
      </p:sp>
      <p:sp>
        <p:nvSpPr>
          <p:cNvPr id="10" name="Shape 7"/>
          <p:cNvSpPr/>
          <p:nvPr/>
        </p:nvSpPr>
        <p:spPr>
          <a:xfrm>
            <a:off x="1047750" y="4410075"/>
            <a:ext cx="7810500" cy="1285875"/>
          </a:xfrm>
          <a:prstGeom prst="roundRect">
            <a:avLst>
              <a:gd name="adj" fmla="val 10370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33500" y="4638675"/>
            <a:ext cx="747331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2175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第二问</a:t>
            </a:r>
            <a:pPr algn="l" indent="0" marL="0">
              <a:lnSpc>
                <a:spcPct val="111538"/>
              </a:lnSpc>
              <a:buNone/>
            </a:pPr>
            <a:r>
              <a:rPr lang="en-US" sz="2175" dirty="0">
                <a:solidFill>
                  <a:srgbClr val="2A2E37"/>
                </a:solidFill>
                <a:highlight>
                  <a:srgbClr val="F7F8F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经过里那处 </a:t>
            </a:r>
            <a:pPr algn="l" indent="0" marL="0">
              <a:lnSpc>
                <a:spcPct val="111538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波折在不在？ </a:t>
            </a:r>
            <a:pPr algn="l" indent="0" marL="0">
              <a:lnSpc>
                <a:spcPct val="111538"/>
              </a:lnSpc>
              <a:buNone/>
            </a:pPr>
            <a:r>
              <a:rPr lang="en-US" sz="2175" dirty="0">
                <a:solidFill>
                  <a:srgbClr val="2A2E37"/>
                </a:solidFill>
                <a:highlight>
                  <a:srgbClr val="F7F8F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从头顺到尾，就用“就在这时”添个麻烦</a:t>
            </a:r>
            <a:endParaRPr lang="en-US" sz="2175" dirty="0"/>
          </a:p>
        </p:txBody>
      </p:sp>
      <p:sp>
        <p:nvSpPr>
          <p:cNvPr id="12" name="Shape 9"/>
          <p:cNvSpPr/>
          <p:nvPr/>
        </p:nvSpPr>
        <p:spPr>
          <a:xfrm>
            <a:off x="1047750" y="5886450"/>
            <a:ext cx="7810500" cy="871538"/>
          </a:xfrm>
          <a:prstGeom prst="roundRect">
            <a:avLst>
              <a:gd name="adj" fmla="val 15301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33500" y="6115050"/>
            <a:ext cx="747331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2175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第三问</a:t>
            </a:r>
            <a:pPr algn="l" indent="0" marL="0">
              <a:lnSpc>
                <a:spcPct val="111538"/>
              </a:lnSpc>
              <a:buNone/>
            </a:pPr>
            <a:r>
              <a:rPr lang="en-US" sz="2175" dirty="0">
                <a:solidFill>
                  <a:srgbClr val="2A2E37"/>
                </a:solidFill>
                <a:highlight>
                  <a:srgbClr val="F7F8F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角色说话的地方，</a:t>
            </a:r>
            <a:pPr algn="l" indent="0" marL="0">
              <a:lnSpc>
                <a:spcPct val="111538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冒号、引号用对没有？</a:t>
            </a:r>
            <a:endParaRPr lang="en-US" sz="2175" dirty="0"/>
          </a:p>
        </p:txBody>
      </p:sp>
      <p:sp>
        <p:nvSpPr>
          <p:cNvPr id="14" name="Shape 11"/>
          <p:cNvSpPr/>
          <p:nvPr/>
        </p:nvSpPr>
        <p:spPr>
          <a:xfrm>
            <a:off x="1047750" y="6948488"/>
            <a:ext cx="7810500" cy="1219200"/>
          </a:xfrm>
          <a:prstGeom prst="roundRect">
            <a:avLst>
              <a:gd name="adj" fmla="val 10938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333500" y="7158038"/>
            <a:ext cx="747331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顺手把错字理一理：多的圈掉、漏的补上，写圈的字问同桌或举手问老师。</a:t>
            </a:r>
            <a:endParaRPr lang="en-US" sz="2100" dirty="0"/>
          </a:p>
        </p:txBody>
      </p:sp>
      <p:sp>
        <p:nvSpPr>
          <p:cNvPr id="26" name="Text 23"/>
          <p:cNvSpPr/>
          <p:nvPr/>
        </p:nvSpPr>
        <p:spPr>
          <a:xfrm>
            <a:off x="1047750" y="9420225"/>
            <a:ext cx="178117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今天不求十全十美——只把 </a:t>
            </a:r>
            <a:pPr algn="l" indent="0" marL="0"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“完整不完整、波折在不在” </a:t>
            </a:r>
            <a:pPr algn="l" indent="0" marL="0">
              <a:buNone/>
            </a:pPr>
            <a:r>
              <a:rPr lang="en-US" sz="2175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改到位。</a:t>
            </a:r>
            <a:endParaRPr lang="en-US" sz="217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7239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收束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28750"/>
            <a:ext cx="4912072" cy="950565"/>
          </a:xfrm>
          <a:prstGeom prst="roundRect">
            <a:avLst>
              <a:gd name="adj" fmla="val 20041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66850" y="1619250"/>
            <a:ext cx="4221234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装满咱们班的 </a:t>
            </a:r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童话集</a:t>
            </a:r>
            <a:endParaRPr lang="en-US" sz="3450" dirty="0"/>
          </a:p>
        </p:txBody>
      </p:sp>
      <p:sp>
        <p:nvSpPr>
          <p:cNvPr id="8" name="Shape 5"/>
          <p:cNvSpPr/>
          <p:nvPr/>
        </p:nvSpPr>
        <p:spPr>
          <a:xfrm>
            <a:off x="1047750" y="329565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409700" y="3143250"/>
            <a:ext cx="8787839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被同桌挑中句子的同学，起立把那一句 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大声念给全班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1047750" y="417195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409700" y="4019550"/>
            <a:ext cx="829818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稿子传到本列排头，一列一摞，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放进讲台上的册子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1047750" y="504825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409700" y="4895850"/>
            <a:ext cx="980694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里面每一个故事，都是今天现编的、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以前世界上没有的故事</a:t>
            </a:r>
            <a:endParaRPr lang="en-US" sz="2700" dirty="0"/>
          </a:p>
        </p:txBody>
      </p:sp>
      <p:sp>
        <p:nvSpPr>
          <p:cNvPr id="14" name="Shape 11"/>
          <p:cNvSpPr/>
          <p:nvPr/>
        </p:nvSpPr>
        <p:spPr>
          <a:xfrm>
            <a:off x="1047750" y="592455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409700" y="5772150"/>
            <a:ext cx="8471059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回家把你的童话 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讲给家里人听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——他们一定没听过</a:t>
            </a:r>
            <a:endParaRPr lang="en-US" sz="27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750" y="3333750"/>
            <a:ext cx="4953000" cy="45720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47750" y="9391650"/>
            <a:ext cx="178117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照着 </a:t>
            </a:r>
            <a:pPr algn="l" indent="0" marL="0"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“角色、时间地点、起因、经过、结果” </a:t>
            </a:r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这条线编完整，经过里添一处波折——往后编什么故事，这条线都用得上。</a:t>
            </a:r>
            <a:endParaRPr lang="en-US" sz="2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15001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 · 习作讲评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09700"/>
            <a:ext cx="8127950" cy="800100"/>
          </a:xfrm>
          <a:prstGeom prst="roundRect">
            <a:avLst>
              <a:gd name="adj" fmla="val 21429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28750" y="1562100"/>
            <a:ext cx="760978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习作讲评环节 </a:t>
            </a:r>
            <a:pPr algn="l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（可选 · 课后或下次课开场）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047750" y="2571750"/>
            <a:ext cx="1712547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 3 篇投屏（不念姓名），每篇约 3–5 分钟，只看一件事：故事编完整没有、波折立住没有。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1047750" y="3238500"/>
            <a:ext cx="5181600" cy="4476750"/>
          </a:xfrm>
          <a:prstGeom prst="roundRect">
            <a:avLst>
              <a:gd name="adj" fmla="val 383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1057275" y="3248025"/>
            <a:ext cx="5162550" cy="762000"/>
          </a:xfrm>
          <a:custGeom>
            <a:avLst/>
            <a:gdLst/>
            <a:ahLst/>
            <a:cxnLst/>
            <a:rect l="l" t="t" r="r" b="b"/>
            <a:pathLst>
              <a:path w="5162550" h="762000">
                <a:moveTo>
                  <a:pt x="171450" y="0"/>
                </a:moveTo>
                <a:lnTo>
                  <a:pt x="4991100" y="0"/>
                </a:lnTo>
                <a:arcTo hR="171450" wR="171450" stAng="16200000" swAng="5400000"/>
                <a:lnTo>
                  <a:pt x="5162550" y="762000"/>
                </a:lnTo>
                <a:lnTo>
                  <a:pt x="0" y="762000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4E9A57"/>
          </a:solidFill>
          <a:ln/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" y="3248025"/>
            <a:ext cx="5162550" cy="762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3975" y="3438525"/>
            <a:ext cx="15716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较好的一篇</a:t>
            </a:r>
            <a:endParaRPr lang="en-US" sz="2250" dirty="0"/>
          </a:p>
        </p:txBody>
      </p:sp>
      <p:sp>
        <p:nvSpPr>
          <p:cNvPr id="13" name="Text 9"/>
          <p:cNvSpPr/>
          <p:nvPr/>
        </p:nvSpPr>
        <p:spPr>
          <a:xfrm>
            <a:off x="1343025" y="4295775"/>
            <a:ext cx="4745926" cy="3162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要素样样齐全，波折设得妙，对话像真的有人在说。 念波折处最妙的一两句—— </a:t>
            </a:r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麻烦一冒出来，人就放不下了 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  <p:sp>
        <p:nvSpPr>
          <p:cNvPr id="14" name="Shape 10"/>
          <p:cNvSpPr/>
          <p:nvPr/>
        </p:nvSpPr>
        <p:spPr>
          <a:xfrm>
            <a:off x="6553200" y="3238500"/>
            <a:ext cx="5181600" cy="4476750"/>
          </a:xfrm>
          <a:prstGeom prst="roundRect">
            <a:avLst>
              <a:gd name="adj" fmla="val 383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562725" y="3248025"/>
            <a:ext cx="5162550" cy="762000"/>
          </a:xfrm>
          <a:custGeom>
            <a:avLst/>
            <a:gdLst/>
            <a:ahLst/>
            <a:cxnLst/>
            <a:rect l="l" t="t" r="r" b="b"/>
            <a:pathLst>
              <a:path w="5162550" h="762000">
                <a:moveTo>
                  <a:pt x="171450" y="0"/>
                </a:moveTo>
                <a:lnTo>
                  <a:pt x="4991100" y="0"/>
                </a:lnTo>
                <a:arcTo hR="171450" wR="171450" stAng="16200000" swAng="5400000"/>
                <a:lnTo>
                  <a:pt x="5162550" y="762000"/>
                </a:lnTo>
                <a:lnTo>
                  <a:pt x="0" y="762000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E0A43B"/>
          </a:solidFill>
          <a:ln/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3248025"/>
            <a:ext cx="5162550" cy="7620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29425" y="3438525"/>
            <a:ext cx="15716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中等的一篇</a:t>
            </a:r>
            <a:endParaRPr lang="en-US" sz="2250" dirty="0"/>
          </a:p>
        </p:txBody>
      </p:sp>
      <p:sp>
        <p:nvSpPr>
          <p:cNvPr id="18" name="Text 13"/>
          <p:cNvSpPr/>
          <p:nvPr/>
        </p:nvSpPr>
        <p:spPr>
          <a:xfrm>
            <a:off x="6848475" y="4295775"/>
            <a:ext cx="4745926" cy="3162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故事完整，但经过一句就滑过去了，波折没展开。 全班帮他拆开： </a:t>
            </a:r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麻烦怎么来的、先做了什么、又怎么解决的？</a:t>
            </a:r>
            <a:endParaRPr lang="en-US" sz="2250" dirty="0"/>
          </a:p>
        </p:txBody>
      </p:sp>
      <p:sp>
        <p:nvSpPr>
          <p:cNvPr id="19" name="Shape 14"/>
          <p:cNvSpPr/>
          <p:nvPr/>
        </p:nvSpPr>
        <p:spPr>
          <a:xfrm>
            <a:off x="12058650" y="3238500"/>
            <a:ext cx="5181600" cy="4476750"/>
          </a:xfrm>
          <a:prstGeom prst="roundRect">
            <a:avLst>
              <a:gd name="adj" fmla="val 383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12068175" y="3248025"/>
            <a:ext cx="5162550" cy="762000"/>
          </a:xfrm>
          <a:custGeom>
            <a:avLst/>
            <a:gdLst/>
            <a:ahLst/>
            <a:cxnLst/>
            <a:rect l="l" t="t" r="r" b="b"/>
            <a:pathLst>
              <a:path w="5162550" h="762000">
                <a:moveTo>
                  <a:pt x="171450" y="0"/>
                </a:moveTo>
                <a:lnTo>
                  <a:pt x="4991100" y="0"/>
                </a:lnTo>
                <a:arcTo hR="171450" wR="171450" stAng="16200000" swAng="5400000"/>
                <a:lnTo>
                  <a:pt x="5162550" y="762000"/>
                </a:lnTo>
                <a:lnTo>
                  <a:pt x="0" y="762000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8175" y="3248025"/>
            <a:ext cx="5162550" cy="7620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334875" y="3438525"/>
            <a:ext cx="25146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有典型问题的一篇</a:t>
            </a:r>
            <a:endParaRPr lang="en-US" sz="2250" dirty="0"/>
          </a:p>
        </p:txBody>
      </p:sp>
      <p:sp>
        <p:nvSpPr>
          <p:cNvPr id="23" name="Text 17"/>
          <p:cNvSpPr/>
          <p:nvPr/>
        </p:nvSpPr>
        <p:spPr>
          <a:xfrm>
            <a:off x="12353925" y="4295775"/>
            <a:ext cx="4745926" cy="3162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要素缺了一两样——多为没交代时间地点，或没有结果，故事停在半路。 讨论：</a:t>
            </a:r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谁来帮他想一个结尾？</a:t>
            </a:r>
            <a:endParaRPr lang="en-US" sz="2250" dirty="0"/>
          </a:p>
        </p:txBody>
      </p:sp>
      <p:sp>
        <p:nvSpPr>
          <p:cNvPr id="24" name="Text 18"/>
          <p:cNvSpPr/>
          <p:nvPr/>
        </p:nvSpPr>
        <p:spPr>
          <a:xfrm>
            <a:off x="1047750" y="9420225"/>
            <a:ext cx="178117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收尾点回——往后编故事先问自己两句：</a:t>
            </a:r>
            <a:pPr algn="l" indent="0" marL="0"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线走全了没有？麻烦上场了没有？</a:t>
            </a:r>
            <a:endParaRPr lang="en-US" sz="217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943100" y="3657600"/>
            <a:ext cx="8064892" cy="1900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77"/>
              </a:lnSpc>
              <a:buNone/>
            </a:pPr>
            <a:r>
              <a:rPr lang="en-US" sz="12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END</a:t>
            </a:r>
            <a:endParaRPr lang="en-US" sz="12750" dirty="0"/>
          </a:p>
        </p:txBody>
      </p:sp>
      <p:sp>
        <p:nvSpPr>
          <p:cNvPr id="6" name="Text 4"/>
          <p:cNvSpPr/>
          <p:nvPr/>
        </p:nvSpPr>
        <p:spPr>
          <a:xfrm>
            <a:off x="2057400" y="5676900"/>
            <a:ext cx="13735050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2850" dirty="0">
                <a:solidFill>
                  <a:srgbClr val="FFFFFF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编故事这条线——角色、时间地点、起因、经过、结果，一样不缺；写到经过，添一处波折。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3792200" y="8058150"/>
            <a:ext cx="2095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下一次再见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925800" y="8039100"/>
            <a:ext cx="419100" cy="533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25800" y="8039100"/>
            <a:ext cx="419100" cy="5334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2026-08-04T12:59:10Z</dcterms:created>
  <dcterms:modified xsi:type="dcterms:W3CDTF">2026-08-04T12:59:10Z</dcterms:modified>
</cp:coreProperties>
</file>