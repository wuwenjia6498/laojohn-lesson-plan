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9.svg" ContentType="image/svg+xml"/>
  <Override PartName="/ppt/media/image21.svg" ContentType="image/svg+xml"/>
  <Override PartName="/ppt/media/image23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2" r:id="rId24"/>
    <p:sldId id="276" r:id="rId25"/>
    <p:sldId id="277" r:id="rId26"/>
    <p:sldId id="278" r:id="rId27"/>
    <p:sldId id="279" r:id="rId28"/>
    <p:sldId id="281" r:id="rId29"/>
  </p:sldIdLst>
  <p:sldSz cx="18288000" cy="10287000"/>
  <p:notesSz cx="10287000" cy="18288000"/>
  <p:embeddedFontLst>
    <p:embeddedFont>
      <p:font typeface="微软雅黑" panose="020B0503020204020204" pitchFamily="34" charset="-122"/>
      <p:regular r:id="rId33"/>
    </p:embeddedFont>
    <p:embeddedFont>
      <p:font typeface="微软雅黑" panose="020B0503020204020204" pitchFamily="34" charset="-120"/>
      <p:regular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  <p:embeddedFont>
      <p:font typeface="楷体" panose="02010609060101010101" charset="-122"/>
      <p:regular r:id="rId39"/>
    </p:embeddedFont>
    <p:embeddedFont>
      <p:font typeface="等线" panose="02010600030101010101" charset="-122"/>
      <p:regular r:id="rId40"/>
    </p:embeddedFont>
    <p:embeddedFont>
      <p:font typeface="Calibri Light" panose="020F0302020204030204" charset="0"/>
      <p:regular r:id="rId41"/>
      <p:italic r:id="rId42"/>
    </p:embeddedFont>
  </p:embeddedFontLst>
  <p:custDataLst>
    <p:tags r:id="rId4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E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11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124.xml"/><Relationship Id="rId42" Type="http://schemas.openxmlformats.org/officeDocument/2006/relationships/font" Target="fonts/font10.fntdata"/><Relationship Id="rId41" Type="http://schemas.openxmlformats.org/officeDocument/2006/relationships/font" Target="fonts/font9.fntdata"/><Relationship Id="rId40" Type="http://schemas.openxmlformats.org/officeDocument/2006/relationships/font" Target="fonts/font8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上第二单元写人习作，2课时连排。任务：把自己家比喻成一个动物园，两三位家人一人一段，开'我家动物园开放日'。授课提示：全程不用老师自己家举例；示范文四口之家为教师拟写；示范文里的啄木鸟、猫头鹰、仓鼠不要换回蜜蜂、熊、猴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第1课时·写作指导课。线索：报外号+两轮齐喊导入，看清动物再接回自家人，学'先找独家细节再挑动物、细节同向'，填家人·动物对照表，读教师示范文与旁批。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问快答三四位（四十秒收住，不追问不评价）：家里有没有谁被叫过跟动物有关的外号？外号带贬义的照原样念一遍、笑一声带过，分寸问题留到第三环节末尾。然后两轮齐喊：想你家早上最先起床的那一位——她像什么动物？数到三一起喊（多半是一片蜜蜂，夹着小鸟公鸡闹钟）；再想自己的爸爸喊一轮（熊最响，夹老虎狮子大象）。应答：喊得杂更好用——直接问几位喊的是什么，落点一样：动物换了好几只，说的还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轮喊下来：全班的妈妈都是蜜蜂，全班的爸爸都是熊。可你们的妈妈明明一个和一个不一样，怎么一用动物形容就都长成一个样子了？先别急着答。挑一位喊蜜蜂的同学问：你妈妈早上叫你起床，是怎么叫的？（掀被子／门口喊名字／唰地拉开窗帘／拿手在床头敲两下）应答：说不出就换更具体的问法——她手上拿着东西吗？第一句话是什么？还答不上就'今天回去留意一下'，换人。总结：掀被子、拉窗帘、床头敲两下——蜜蜂都做不出来；'蜜蜂'全班都能喊，床头敲两下只有他家才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贯穿任务：把自己家比喻成一个动物园，家里的两三位家人一位写一段；写完在教室里办'我家动物园开放日'。朗读时不许说他是你爸爸还是你奶奶，只念那一段，让同学猜是你家的谁。猜中并不难——家里就那么几位，闭着眼也能蒙对；难的在后头：老师追问'你是从哪一句听出来的？把那句念出来'。念得出来，说明这个人写活了；含含糊糊'就是感觉像'，说明还缺独属于你家的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拿动物比家里人，先把动物看清楚。规则：不许说'它很懒''它很勤快'——那是结论，不看图谁都说得出来；只说你看见它在做什么、长成什么样。第一屏五张快速带过（熊、蜜蜂、猴子、老虎、猪）：这几只大家一想就能想到，谁挑了它们就得写得更细。再依次出示松鼠、壁虎、鹦鹉、袋鼠，开火车一人一句，想不出说'过'。参考：松鼠——两只手捧着啃/腮帮子鼓/往土里埋果子/尾巴比身子大；壁虎——贴在墙上一动不动/一转眼跑没了；鹦鹉——你说什么它跟着说/叫起来特别响；袋鼠——肚子上有口袋什么都装/走路一蹦一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倒过来想：先不看动物，先想你家那一位——他昨天在家做的哪一件事你还记得？他一进门先做什么？想出来了，再回头看这四只动物，有没有哪一只也是这样的。（参考：奶奶老把糖藏起来，跟松鼠一个样／妹妹我说什么她学什么／妈妈那个包什么都装得下）总结两点：是先想起家里那一位做过的事，才想到这只动物的；动物身上最好认的是它做事的样子，家里那一位最好认的也是这些——进门先做什么、手上在做什么、弄出什么响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弄清这一篇到底写谁。两段都写'奶奶像老猫'，念完让学生选。不急着下结论：第一段确实写得满，只数一件事——'奶奶'一共出现了几回？（两回：头一句、最后一句）中间三句写的是谁？（全是猫）。问题就在这：满的全是猫，中间一大块全借给了老猫。今天写的是你的家人，动物只是打比方的，不是拿来介绍的——写成动物介绍就跑题了。第二段从头到尾写的都是奶奶，而且放到老猫身上一样一样都说得通。应答：多数学生一上来选第二段，就合成一问：第一段写得满，为什么不选它？数数'奶奶'出现几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的写法：一位家人写一段，段落开头先点明他像什么动物，后面把他身上契合这个动物特点的两三处细节写出来。'一样'指他身上一处相契合的地方：可能是他长什么样，也可能是他做起事来什么样、做过的一件什么事。动物只在段落开头那一句出现，剩下整段都写他这个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动物的关键第一步：选对动物。开课大家已经走过误区——先想到标签'勤快'，再搜最贴合的动物，蜜蜂自然出现；所有人都能想到，写出来大同小异，同学猜出是谁也说不出依据哪句。相反的顺序：先想到独属于自家的细节（掀被子、拉窗帘、敲床头），再找匹配的动物——蜜蜂就不合适了。两种思路对比：①标签→动物，快但撞车；②细节→动物，慢一些，但选出的动物只贴合你的家人。今天用第二种。示范文作者就是先留意到妈妈用指关节轻敲桌沿，才想到啄木鸟。现在心里想一位家人，先别急着定动物——哪个场景、哪个举动是你们家独有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定动物后还有一道关卡：找人与动物契合的地方。现场试：老师想到一个人物，先说四个特点（见屏），候选动物树懒、熊猫、猴子。问：哪几样跟树懒对得上？（②③）第四样天天跑五圈呢？（对不上）那还要不要写进'他像树懒'那段？（不要）这一步最要紧：挑出来的几样必须朝同一个方向，第四样一写进去，前两样就白写了，读的人犯迷糊：到底是慢性子还是急性子。要么放下第四样不写，要么换一只更相配的动物。第一样圆脸眯眼跟熊猫也像——同一个人挑出的样子不同，能比成不同动物；难在挑出来的几样不能互相打架。然后学生练说：一件真实小事+动物+再补一处细节，想好轻声默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好一件事：开课说起小猪、小懒猫、大狗熊，都是笑着说的——作文里的动物比喻也该如此。把家人比作动物，要怀着喜爱去写：写妈妈像啄木鸟，写的是她时常提醒你；写爸爸像猫头鹰，写的是他深夜为家里忙碌。底线：写完这段话，你敢读给本人听。愿意念给他听，这个比喻就选对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范围放宽：爸妈、爷爷奶奶、外公外婆、兄弟姐妹，谁特点最鲜明写谁，写两三位都行。先用家人·动物对照表理思路，每格只填词语，五个字以内。关键：不要从左到右顺着填——第二栏标了'先填'，先填别人家没有的那一处细节，再挑动物才不跑偏；先定动物就又掉回'蜜蜂'的思路。老师示范填四口之家（妈妈/爸爸/弟弟）：先填第二格念'桌沿上那两声笃笃'，再问'什么动物是这样的'，才写下'啄木鸟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填表约3分钟，不必填满三行，梳理好一位就很好。应答四类：①动物和细节不契合——'你这两处细节，想突出他慢还是快？''哪种动物是这样的？'让他自主调整；②仍选蜜蜂熊猴子——先看第二栏'哪一处是你们家独有的？''这个举动蜜蜂能做到吗？'契合就保留写充分；③第二栏空白直接定了动物——'他昨天在家做了什么？进门第一件事是什么？'挖出细节再定去留；④只写得出一位——'他不在家时，家里谁和他差别最大？'。填好同桌互说：像什么动物、依据哪两处细节；听的反馈哪一处最契合，不贴切直接说。最后请两三位全班分享，教师点评区分外貌还是行为、点明哪处是他家独有的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理清整体框架，逐行带读骨架屏。问：写了几位家人？一人占几段？每段开头什么作用？（三位，一人一段；开头直接点明对应的动物）。两句衔接语'说完了妈妈，再说说我爸爸''动物园里还有一只仓鼠'是过渡，简短一句即可。开头总起点出家是一座动物园；结尾汇总三种动物，抒发对家的感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回示范表停在妈妈那一行：桌沿上那两声笃笃、啄木鸟、手指细爱翘食指、走过就敲两下——没有完整句子。整篇写出来是这样的。听时留心：表上那几个词是怎么变成一段话的。读完问：三段听下来，哪一句你听着最像亲眼看见的？留意妈妈那段的顺序：先写外貌（手指细、爱翘食指），再写举动（敲桌沿、说话一句一顿），一处写完再写下一处；每一处都配具体小事。标色：红=长相，绿=做事的样子，蓝=原话·声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带读前四行，剩下的留屏上学生自读。提醒：啄木鸟、猫头鹰、仓鼠只适合范文这一家人；你的家人适合比作什么，只有你最了解——写出跟这一篇不一样的，才是对的（务必落实这句话）。核心要求两点：一位亲人独立成段、段首点明动物；段落里那两三处细节，一定是你亲眼看见、在家真实发生过的场景。保管好对照表，下节课依据表格写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课间休息回来进入第2课时。拿出上节课填好的家人·动物对照表，跟着老师一句一句写下第一组句子，再自由写作、开放日猜读、修改收束。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对照表，看第②格，挑一位最有把握的家人从他写起。第一句好写：把第一栏、第三栏组合——'我妈妈是我家的一只啄木鸟'。往下老师问一句、大家写一句：细节是行为举动（笃笃声、偷糖、藏饼干）就围绕这个场景展开；是外貌特征就回想他做什么事时这个特征最显眼。三问：①他做这件事时，手上在做什么、脚下在做什么？②当时他什么神情？写外貌的重点刻画颜色、模样、和别人不一样的地方；③他嘴里说过什么话、发出过什么声音？尽量还原原话。停一停回看：第一句点明动物，后面三句围绕同一个场景写充实；再挑另一处契合的特点多写两三行，这一段完成再写下一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往下写：这一位写完写第二位、第三位，中间不停笔，十七八分钟写完整篇。要点见屏。写作过程中不用停下改字词，先完整写完。巡视只做正向引导：①思路卡顿——翻对照表'表里还记录了另一位，接着写他'；②内容空洞（只有'妈妈很勤劳像小蜜蜂'）——回忆今早一件小事，说出场景就直接写进去；③流畅的不打扰；④仓促收尾——先肯定再推：'他吃饭什么模样，筷子怎么夹菜？补一两句'。时间到就停笔，自改环节可继续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往下写：这一位写完写第二位、第三位，中间不停笔，十七八分钟写完整篇。要点见屏。写作过程中不用停下改字词，先完整写完。巡视只做正向引导：①思路卡顿——翻对照表'表里还记录了另一位，接着写他'；②内容空洞（只有'妈妈很勤劳像小蜜蜂'）——回忆今早一件小事，说出场景就直接写进去；③流畅的不打扰；④仓促收尾——先肯定再推：'他吃饭什么模样，筷子怎么夹菜？补一两句'。时间到就停笔，自改环节可继续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放日先在小组里开：四人一组，每人念自己最有把握的那一位的段落。规矩只有一条：不许说他是你爸爸还是你奶奶，只念那一段。念完另外三位猜：这是他家的谁。猜中还不算完——还要说出从哪一句听出来的，把那一句念回来。念得回来，这一段就算写成了；念不回来也不硬凑——说明这一段还差一句只有他家才有的话。教师走到两三个小组跟前倾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班猜读约5分钟：请两位代表朗读，每位约两分半——念一段、两三位同学猜并念回那一句、教师简要点评（指出写的是动作还是原话，顺带指一处可补充的地方）。念不回来不追问也不打圆场，只回一句'那这一段还差一样只有他家才有的'。提问覆盖全班。然后同桌互挑亮点约3分钟：交换稿子只读第一段，做两件事——挑出最像他家的那一句指给他；说一句：你写的这两三样，是不是都朝着你挑的那只动物。最后随机点三位，把同桌挑中的那一句念一遍，教师逐一回应是长相、动作还是原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自己稿子上改：先对照三档标准看自己到哪一档，再重点修改三处：①每段开头有没有清晰点明动物；②段落里和动物特质不契合的内容，直接删去或补充合适细节；③'他很勤劳''他很懒散'这类概括话，替换成真实发生的小事，优先独属于自家的场景。同时圈多余词句、补漏、订正错别字；不会写的字请教同桌或举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点题：猜出人物并不难，真正厉害的是读者能找到对应的细节句子——靠的不只是开头的比喻，而是那些真实、独一无二的生活画面。习作完成后找机会朗读给文中写到的家人，看他能不能认出写的是自己；暂时不方便的妥善收好。总结：先捕捉家人独有的细节，再匹配动物；一位亲人独立成段，段首点明动物，选取相契合的细节具体描写，舍弃不匹配的内容。这套思路今后写老师、同学、身边所有人都适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收束：小小'动物园'——先抓家人独有的细节，再挑贴合的动物；一位一段，段首点动物，细节同向，带着喜爱写。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image" Target="../media/image3.png"/><Relationship Id="rId7" Type="http://schemas.openxmlformats.org/officeDocument/2006/relationships/image" Target="../media/image8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8.png"/><Relationship Id="rId14" Type="http://schemas.openxmlformats.org/officeDocument/2006/relationships/image" Target="../media/image9.png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image" Target="../media/image10.png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3.png"/><Relationship Id="rId17" Type="http://schemas.openxmlformats.org/officeDocument/2006/relationships/tags" Target="../tags/tag33.xml"/><Relationship Id="rId16" Type="http://schemas.openxmlformats.org/officeDocument/2006/relationships/image" Target="../media/image12.png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image" Target="../media/image11.png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6.png"/><Relationship Id="rId10" Type="http://schemas.openxmlformats.org/officeDocument/2006/relationships/tags" Target="../tags/tag5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7.png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tags" Target="../tags/tag65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tags" Target="../tags/tag64.xml"/><Relationship Id="rId23" Type="http://schemas.openxmlformats.org/officeDocument/2006/relationships/notesSlide" Target="../notesSlides/notesSlide1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image" Target="../media/image3.png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image" Target="../media/image24.svg"/><Relationship Id="rId12" Type="http://schemas.openxmlformats.org/officeDocument/2006/relationships/tags" Target="../tags/tag67.xml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1" Type="http://schemas.openxmlformats.org/officeDocument/2006/relationships/notesSlide" Target="../notesSlides/notesSlide2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52400" y="-244475"/>
            <a:ext cx="20288885" cy="8912225"/>
            <a:chOff x="-240" y="-385"/>
            <a:chExt cx="31951" cy="14035"/>
          </a:xfrm>
        </p:grpSpPr>
        <p:sp>
          <p:nvSpPr>
            <p:cNvPr id="14" name="Shape 1"/>
            <p:cNvSpPr/>
            <p:nvPr/>
          </p:nvSpPr>
          <p:spPr>
            <a:xfrm>
              <a:off x="728" y="2595"/>
              <a:ext cx="27293" cy="84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EE7B2E">
                    <a:alpha val="100000"/>
                  </a:srgbClr>
                </a:gs>
                <a:gs pos="42000">
                  <a:srgbClr val="F0A63C">
                    <a:alpha val="100000"/>
                  </a:srgbClr>
                </a:gs>
                <a:gs pos="100000">
                  <a:srgbClr val="57B0A6">
                    <a:alpha val="100000"/>
                  </a:srgbClr>
                </a:gs>
              </a:gsLst>
              <a:lin ang="900000" scaled="0"/>
            </a:gradFill>
          </p:spPr>
          <p:txBody>
            <a:bodyPr/>
            <a:lstStyle/>
            <a:p/>
          </p:txBody>
        </p:sp>
        <p:sp>
          <p:nvSpPr>
            <p:cNvPr id="15" name="Shape 3"/>
            <p:cNvSpPr/>
            <p:nvPr/>
          </p:nvSpPr>
          <p:spPr>
            <a:xfrm>
              <a:off x="23495" y="-385"/>
              <a:ext cx="8216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Shape 2"/>
            <p:cNvSpPr/>
            <p:nvPr/>
          </p:nvSpPr>
          <p:spPr>
            <a:xfrm>
              <a:off x="4650" y="2250"/>
              <a:ext cx="5400" cy="54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Shape 3"/>
            <p:cNvSpPr/>
            <p:nvPr/>
          </p:nvSpPr>
          <p:spPr>
            <a:xfrm>
              <a:off x="9150" y="7200"/>
              <a:ext cx="6450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pic>
          <p:nvPicPr>
            <p:cNvPr id="19" name="Picture 3" descr="logo-r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569" y="893"/>
              <a:ext cx="3355" cy="1415"/>
            </a:xfrm>
            <a:prstGeom prst="rect">
              <a:avLst/>
            </a:prstGeom>
          </p:spPr>
        </p:pic>
        <p:sp>
          <p:nvSpPr>
            <p:cNvPr id="18" name="Shape 1"/>
            <p:cNvSpPr/>
            <p:nvPr/>
          </p:nvSpPr>
          <p:spPr>
            <a:xfrm>
              <a:off x="-240" y="810"/>
              <a:ext cx="1560" cy="1110"/>
            </a:xfrm>
            <a:prstGeom prst="roundRect">
              <a:avLst>
                <a:gd name="adj" fmla="val 4054"/>
              </a:avLst>
            </a:prstGeom>
            <a:solidFill>
              <a:srgbClr val="3D4A63"/>
            </a:solidFill>
          </p:spPr>
          <p:txBody>
            <a:bodyPr/>
            <a:lstStyle/>
            <a:p/>
          </p:txBody>
        </p:sp>
      </p:grpSp>
      <p:sp>
        <p:nvSpPr>
          <p:cNvPr id="7" name="Text 4"/>
          <p:cNvSpPr/>
          <p:nvPr/>
        </p:nvSpPr>
        <p:spPr>
          <a:xfrm>
            <a:off x="4048760" y="3015615"/>
            <a:ext cx="8724900" cy="1371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小小“动物园”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4086860" y="4518660"/>
            <a:ext cx="91440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第二单元 · 校内同步写作（写人）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第二单元</a:t>
            </a:r>
            <a:endParaRPr lang="en-US" sz="2550" dirty="0"/>
          </a:p>
        </p:txBody>
      </p:sp>
      <p:pic>
        <p:nvPicPr>
          <p:cNvPr id="2" name="图片 1" descr="小小动物园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3009880" y="4031615"/>
            <a:ext cx="4454525" cy="6255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1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866734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看清动物 · 学写法 · 家人对照表 · 教师示范文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9399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6731000" cy="775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你们家，住着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哪些“动物”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46530" y="5577840"/>
            <a:ext cx="243713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▶</a:t>
            </a:r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我弟弟叫小猪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30775" y="5577840"/>
            <a:ext cx="269176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我妈叫我小懒猫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167130" y="9126220"/>
            <a:ext cx="32321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我们叫我爸大狗熊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32045" y="9126220"/>
            <a:ext cx="283083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我妹妹是小馋猫</a:t>
            </a:r>
            <a:endParaRPr 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394700" y="2731770"/>
            <a:ext cx="8924290" cy="2160000"/>
          </a:xfrm>
          <a:prstGeom prst="roundRect">
            <a:avLst>
              <a:gd name="adj" fmla="val 11581"/>
            </a:avLst>
          </a:prstGeom>
          <a:solidFill>
            <a:srgbClr val="FDEED7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Text 16"/>
          <p:cNvSpPr/>
          <p:nvPr/>
        </p:nvSpPr>
        <p:spPr>
          <a:xfrm>
            <a:off x="8745220" y="3093720"/>
            <a:ext cx="383921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第一轮 · </a:t>
            </a:r>
            <a:r>
              <a:rPr lang="zh-CN" altLang="en-US" sz="23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请你回答</a:t>
            </a:r>
            <a:endParaRPr lang="en-US" sz="232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745220" y="3580765"/>
            <a:ext cx="9010015" cy="1074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想一想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你家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早上最先起床的那一位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，像一只什么动物？</a:t>
            </a:r>
            <a:endParaRPr lang="en-US" sz="255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一、二、三！</a:t>
            </a:r>
            <a:endParaRPr lang="en-US" sz="255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386445" y="5721350"/>
            <a:ext cx="8924290" cy="2160000"/>
          </a:xfrm>
          <a:prstGeom prst="roundRect">
            <a:avLst>
              <a:gd name="adj" fmla="val 11581"/>
            </a:avLst>
          </a:prstGeom>
          <a:solidFill>
            <a:srgbClr val="FDEED7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Text 20"/>
          <p:cNvSpPr/>
          <p:nvPr/>
        </p:nvSpPr>
        <p:spPr>
          <a:xfrm>
            <a:off x="8736965" y="6083300"/>
            <a:ext cx="383921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第二轮 · </a:t>
            </a:r>
            <a:r>
              <a:rPr lang="zh-CN" altLang="en-US" sz="2325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请你回答</a:t>
            </a:r>
            <a:endParaRPr lang="en-US" sz="2325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736965" y="6626225"/>
            <a:ext cx="7711440" cy="5561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这一次想一想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你的爸爸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。一、二、三！</a:t>
            </a:r>
            <a:endParaRPr lang="en-US" sz="255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8394700" y="8738235"/>
            <a:ext cx="944880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用动物比喻人，大家早已会做，只是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</a:t>
            </a:r>
            <a:r>
              <a:rPr lang="zh-CN" alt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没有这样写过作文</a:t>
            </a:r>
            <a:r>
              <a:rPr lang="en-US" sz="26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657840" y="5060315"/>
            <a:ext cx="4268470" cy="396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蜜蜂 / 小鸟 / 公鸡 / 老黄牛……</a:t>
            </a:r>
            <a:endParaRPr lang="en-US" sz="23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657840" y="8022590"/>
            <a:ext cx="4185920" cy="396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熊</a:t>
            </a:r>
            <a:r>
              <a:rPr lang="en-US" altLang="zh-CN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/ </a:t>
            </a: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老虎</a:t>
            </a:r>
            <a:r>
              <a:rPr lang="en-US" altLang="zh-CN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/ </a:t>
            </a: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狮子</a:t>
            </a:r>
            <a:r>
              <a:rPr lang="en-US" altLang="zh-CN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/ </a:t>
            </a: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大象</a:t>
            </a:r>
            <a:r>
              <a:rPr lang="en-US" altLang="zh-CN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……</a:t>
            </a:r>
            <a:endParaRPr lang="en-US" altLang="zh-CN" sz="23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2" name="图片 1" descr="小小动物园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070" y="2720975"/>
            <a:ext cx="2791460" cy="2791460"/>
          </a:xfrm>
          <a:prstGeom prst="roundRect">
            <a:avLst>
              <a:gd name="adj" fmla="val 6574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pic>
        <p:nvPicPr>
          <p:cNvPr id="6" name="图片 5" descr="小小动物园-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445" y="6266180"/>
            <a:ext cx="2791460" cy="2791460"/>
          </a:xfrm>
          <a:prstGeom prst="roundRect">
            <a:avLst>
              <a:gd name="adj" fmla="val 6028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pic>
        <p:nvPicPr>
          <p:cNvPr id="8" name="图片 7" descr="小小动物园-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445" y="2720975"/>
            <a:ext cx="2791460" cy="2791460"/>
          </a:xfrm>
          <a:prstGeom prst="roundRect">
            <a:avLst>
              <a:gd name="adj" fmla="val 6574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pic>
        <p:nvPicPr>
          <p:cNvPr id="32" name="图片 31" descr="小小动物园-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070" y="6266180"/>
            <a:ext cx="2791460" cy="2791460"/>
          </a:xfrm>
          <a:prstGeom prst="roundRect">
            <a:avLst>
              <a:gd name="adj" fmla="val 6301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pic>
        <p:nvPicPr>
          <p:cNvPr id="13" name="图片 12" descr="我来编童话-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17" name="Shape 13"/>
          <p:cNvSpPr/>
          <p:nvPr/>
        </p:nvSpPr>
        <p:spPr>
          <a:xfrm>
            <a:off x="1047750" y="6469380"/>
            <a:ext cx="16192500" cy="2842895"/>
          </a:xfrm>
          <a:prstGeom prst="roundRect">
            <a:avLst>
              <a:gd name="adj" fmla="val 7393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1"/>
          <p:cNvSpPr/>
          <p:nvPr/>
        </p:nvSpPr>
        <p:spPr>
          <a:xfrm>
            <a:off x="1047750" y="2729865"/>
            <a:ext cx="16192500" cy="3441700"/>
          </a:xfrm>
          <a:prstGeom prst="roundRect">
            <a:avLst>
              <a:gd name="adj" fmla="val 5455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14" name="Shape 5"/>
          <p:cNvSpPr/>
          <p:nvPr>
            <p:custDataLst>
              <p:tags r:id="rId1"/>
            </p:custDataLst>
          </p:nvPr>
        </p:nvSpPr>
        <p:spPr>
          <a:xfrm>
            <a:off x="1466850" y="309626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 6"/>
          <p:cNvSpPr/>
          <p:nvPr>
            <p:custDataLst>
              <p:tags r:id="rId2"/>
            </p:custDataLst>
          </p:nvPr>
        </p:nvSpPr>
        <p:spPr>
          <a:xfrm>
            <a:off x="1466850" y="305943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3"/>
            </p:custDataLst>
          </p:nvPr>
        </p:nvSpPr>
        <p:spPr>
          <a:xfrm>
            <a:off x="1466850" y="416623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4"/>
            </p:custDataLst>
          </p:nvPr>
        </p:nvSpPr>
        <p:spPr>
          <a:xfrm>
            <a:off x="1466850" y="412940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5"/>
            </p:custDataLst>
          </p:nvPr>
        </p:nvSpPr>
        <p:spPr>
          <a:xfrm>
            <a:off x="1466215" y="523621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6"/>
            </p:custDataLst>
          </p:nvPr>
        </p:nvSpPr>
        <p:spPr>
          <a:xfrm>
            <a:off x="1466215" y="519938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22" name="图片 21" descr="我来编童话-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586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9" name="Text 6"/>
          <p:cNvSpPr/>
          <p:nvPr>
            <p:custDataLst>
              <p:tags r:id="rId9"/>
            </p:custDataLst>
          </p:nvPr>
        </p:nvSpPr>
        <p:spPr>
          <a:xfrm>
            <a:off x="2095500" y="3078480"/>
            <a:ext cx="961850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妈妈都是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蜜蜂、小鸟、公鸡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，说的都是“忙碌、叫人起床”</a:t>
            </a:r>
            <a:endParaRPr lang="en-US" sz="2700" dirty="0"/>
          </a:p>
        </p:txBody>
      </p:sp>
      <p:sp>
        <p:nvSpPr>
          <p:cNvPr id="11" name="Text 8"/>
          <p:cNvSpPr/>
          <p:nvPr>
            <p:custDataLst>
              <p:tags r:id="rId10"/>
            </p:custDataLst>
          </p:nvPr>
        </p:nvSpPr>
        <p:spPr>
          <a:xfrm>
            <a:off x="2095500" y="4160520"/>
            <a:ext cx="10418445" cy="763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爸爸都是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熊、老虎、狮子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，动物换了几种，思路却完全相同</a:t>
            </a:r>
            <a:endParaRPr lang="en-US" sz="2700" dirty="0"/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2095500" y="5207635"/>
            <a:ext cx="13756005" cy="908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每位同学的妈妈明明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各不相同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，为什么一用动物来形容，就都成了同一个样子？</a:t>
            </a:r>
            <a:endParaRPr lang="zh-CN" altLang="en-US" sz="27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341120" y="8470265"/>
            <a:ext cx="15049500" cy="6146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些独属于你妈妈的动作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，才是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你家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独有的画面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，今天写作的关键就在这里。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66850" y="1576705"/>
            <a:ext cx="8963025" cy="8553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奇怪，全班的妈妈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都是蜜蜂？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41120" y="6659880"/>
            <a:ext cx="6842760" cy="927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你的妈妈早上叫你起床，</a:t>
            </a:r>
            <a:r>
              <a:rPr lang="en-US" sz="2800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是怎样叫的</a:t>
            </a: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？</a:t>
            </a:r>
            <a:endParaRPr lang="en-US" altLang="en-US" sz="28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41120" y="7359650"/>
            <a:ext cx="15460345" cy="918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掀被子 / 唰地拉开窗帘 / 在床头敲两下，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这是只有你的妈妈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才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会做的动作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 animBg="1"/>
      <p:bldP spid="14" grpId="0" animBg="1"/>
      <p:bldP spid="23" grpId="0"/>
      <p:bldP spid="29" grpId="0" animBg="1"/>
      <p:bldP spid="30" grpId="0"/>
      <p:bldP spid="31" grpId="0" animBg="1"/>
      <p:bldP spid="32" grpId="0"/>
      <p:bldP spid="9" grpId="0"/>
      <p:bldP spid="11" grpId="0"/>
      <p:bldP spid="13" grpId="0"/>
      <p:bldP spid="19" grpId="0"/>
      <p:bldP spid="18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3741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195"/>
            <a:ext cx="10843895" cy="6692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今天的任务：举办一场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“我家‘动物园’开放日”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667000"/>
            <a:ext cx="1648079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28750" y="2876550"/>
            <a:ext cx="111899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把自己的家比作一个动物园，家里的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两三位家人，一位写一段</a:t>
            </a:r>
            <a:r>
              <a:rPr 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b="1" dirty="0">
              <a:solidFill>
                <a:srgbClr val="2C3A54"/>
              </a:solidFill>
              <a:highlight>
                <a:srgbClr val="DCE6F5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2"/>
            </p:custDataLst>
          </p:nvPr>
        </p:nvSpPr>
        <p:spPr>
          <a:xfrm>
            <a:off x="8272780" y="4548505"/>
            <a:ext cx="9624060" cy="7937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朗读时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隐去称呼</a:t>
            </a:r>
            <a:r>
              <a:rPr 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，不说是爸爸还是奶奶，只读</a:t>
            </a:r>
            <a:r>
              <a:rPr lang="zh-CN" alt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你写的</a:t>
            </a:r>
            <a:r>
              <a:rPr 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那一段</a:t>
            </a:r>
            <a:endParaRPr lang="en-US" sz="2500" dirty="0"/>
          </a:p>
        </p:txBody>
      </p:sp>
      <p:sp>
        <p:nvSpPr>
          <p:cNvPr id="16" name="Text 12"/>
          <p:cNvSpPr/>
          <p:nvPr>
            <p:custDataLst>
              <p:tags r:id="rId3"/>
            </p:custDataLst>
          </p:nvPr>
        </p:nvSpPr>
        <p:spPr>
          <a:xfrm>
            <a:off x="8272780" y="5721985"/>
            <a:ext cx="7564755" cy="6934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同学来猜：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这是你家的谁</a:t>
            </a:r>
            <a:r>
              <a:rPr 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？猜中还不够</a:t>
            </a:r>
            <a:endParaRPr lang="en-US" sz="2500" dirty="0"/>
          </a:p>
        </p:txBody>
      </p:sp>
      <p:sp>
        <p:nvSpPr>
          <p:cNvPr id="19" name="Text 15"/>
          <p:cNvSpPr/>
          <p:nvPr>
            <p:custDataLst>
              <p:tags r:id="rId4"/>
            </p:custDataLst>
          </p:nvPr>
        </p:nvSpPr>
        <p:spPr>
          <a:xfrm>
            <a:off x="8272780" y="6971665"/>
            <a:ext cx="9269730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还要追问一句：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你是从哪一句听出来的？</a:t>
            </a:r>
            <a:r>
              <a:rPr 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把那句</a:t>
            </a:r>
            <a:r>
              <a:rPr lang="zh-CN" alt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r>
              <a:rPr lang="en-US" sz="25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读出来</a:t>
            </a:r>
            <a:endParaRPr lang="en-US" sz="2500" dirty="0"/>
          </a:p>
        </p:txBody>
      </p:sp>
      <p:sp>
        <p:nvSpPr>
          <p:cNvPr id="20" name="Text 16"/>
          <p:cNvSpPr/>
          <p:nvPr/>
        </p:nvSpPr>
        <p:spPr>
          <a:xfrm>
            <a:off x="8180070" y="8053705"/>
            <a:ext cx="9210675" cy="13569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读得出那一句，这个人就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写活了</a:t>
            </a:r>
            <a:r>
              <a:rPr lang="en-US" sz="25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；如果“说不上来，只是感觉像”</a:t>
            </a:r>
            <a:endParaRPr lang="en-US" sz="25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5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就说明还缺少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独属于</a:t>
            </a:r>
            <a:r>
              <a:rPr lang="zh-CN" alt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这个人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的细节</a:t>
            </a:r>
            <a:r>
              <a:rPr lang="en-US" sz="25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500" dirty="0"/>
          </a:p>
        </p:txBody>
      </p:sp>
      <p:sp>
        <p:nvSpPr>
          <p:cNvPr id="27" name="圆角矩形 26"/>
          <p:cNvSpPr/>
          <p:nvPr>
            <p:custDataLst>
              <p:tags r:id="rId5"/>
            </p:custDataLst>
          </p:nvPr>
        </p:nvSpPr>
        <p:spPr>
          <a:xfrm>
            <a:off x="7896225" y="4349750"/>
            <a:ext cx="9632315" cy="86423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>
            <p:custDataLst>
              <p:tags r:id="rId6"/>
            </p:custDataLst>
          </p:nvPr>
        </p:nvSpPr>
        <p:spPr>
          <a:xfrm>
            <a:off x="7896225" y="5582920"/>
            <a:ext cx="9632315" cy="8636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>
            <p:custDataLst>
              <p:tags r:id="rId7"/>
            </p:custDataLst>
          </p:nvPr>
        </p:nvSpPr>
        <p:spPr>
          <a:xfrm>
            <a:off x="7896225" y="6815455"/>
            <a:ext cx="9632315" cy="8636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hape 5"/>
          <p:cNvSpPr/>
          <p:nvPr>
            <p:custDataLst>
              <p:tags r:id="rId8"/>
            </p:custDataLst>
          </p:nvPr>
        </p:nvSpPr>
        <p:spPr>
          <a:xfrm>
            <a:off x="7677150" y="452374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Text 6"/>
          <p:cNvSpPr/>
          <p:nvPr>
            <p:custDataLst>
              <p:tags r:id="rId9"/>
            </p:custDataLst>
          </p:nvPr>
        </p:nvSpPr>
        <p:spPr>
          <a:xfrm>
            <a:off x="7677150" y="448691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10"/>
            </p:custDataLst>
          </p:nvPr>
        </p:nvSpPr>
        <p:spPr>
          <a:xfrm>
            <a:off x="7677150" y="574611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11"/>
            </p:custDataLst>
          </p:nvPr>
        </p:nvSpPr>
        <p:spPr>
          <a:xfrm>
            <a:off x="7677150" y="570928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12"/>
            </p:custDataLst>
          </p:nvPr>
        </p:nvSpPr>
        <p:spPr>
          <a:xfrm>
            <a:off x="7676515" y="696849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3"/>
            </p:custDataLst>
          </p:nvPr>
        </p:nvSpPr>
        <p:spPr>
          <a:xfrm>
            <a:off x="7676515" y="693166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34" name="图片 33" descr="我来编童话-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105" y="3943350"/>
            <a:ext cx="7454900" cy="5777865"/>
          </a:xfrm>
          <a:prstGeom prst="rect">
            <a:avLst/>
          </a:prstGeom>
        </p:spPr>
      </p:pic>
      <p:pic>
        <p:nvPicPr>
          <p:cNvPr id="6" name="图片 5" descr="我来编童话-1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3" grpId="0"/>
      <p:bldP spid="16" grpId="0"/>
      <p:bldP spid="19" grpId="0"/>
      <p:bldP spid="20" grpId="0"/>
      <p:bldP spid="27" grpId="0" animBg="1"/>
      <p:bldP spid="28" grpId="0" animBg="1"/>
      <p:bldP spid="33" grpId="0" animBg="1"/>
      <p:bldP spid="25" grpId="0" animBg="1"/>
      <p:bldP spid="26" grpId="0"/>
      <p:bldP spid="29" grpId="0" animBg="1"/>
      <p:bldP spid="30" grpId="0"/>
      <p:bldP spid="31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2" name="图片 2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81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看清动物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31620"/>
            <a:ext cx="8795385" cy="9404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开火车看动物：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只说看见的，不说结论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762250"/>
            <a:ext cx="16192500" cy="809625"/>
          </a:xfrm>
          <a:prstGeom prst="roundRect">
            <a:avLst>
              <a:gd name="adj" fmla="val 1882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28750" y="2971800"/>
            <a:ext cx="1591627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看图说话：</a:t>
            </a: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不说“它很懒”“它很勤快”，那是结论；只说你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看见它在做什么、长成什么样</a:t>
            </a: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。想不出就说“过”。</a:t>
            </a:r>
            <a:endParaRPr lang="en-US" sz="2325" dirty="0"/>
          </a:p>
        </p:txBody>
      </p:sp>
      <p:sp>
        <p:nvSpPr>
          <p:cNvPr id="26" name="Text 19"/>
          <p:cNvSpPr/>
          <p:nvPr/>
        </p:nvSpPr>
        <p:spPr>
          <a:xfrm>
            <a:off x="1412875" y="3768090"/>
            <a:ext cx="1630807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熊、蜜蜂、猴子、老虎、猪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这几种</a:t>
            </a:r>
            <a:r>
              <a:rPr lang="zh-CN" alt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动物先不说，因为最容易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到；</a:t>
            </a:r>
            <a:r>
              <a:rPr lang="zh-CN" alt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稍后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谁选了它们</a:t>
            </a:r>
            <a:r>
              <a:rPr lang="zh-CN" alt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来写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，就要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比别人写得更细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250" dirty="0"/>
          </a:p>
        </p:txBody>
      </p:sp>
      <p:sp>
        <p:nvSpPr>
          <p:cNvPr id="28" name="Shape 10"/>
          <p:cNvSpPr/>
          <p:nvPr>
            <p:custDataLst>
              <p:tags r:id="rId3"/>
            </p:custDataLst>
          </p:nvPr>
        </p:nvSpPr>
        <p:spPr>
          <a:xfrm>
            <a:off x="1072515" y="8284210"/>
            <a:ext cx="3780155" cy="1313180"/>
          </a:xfrm>
          <a:prstGeom prst="roundRect">
            <a:avLst>
              <a:gd name="adj" fmla="val 11798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4"/>
            </p:custDataLst>
          </p:nvPr>
        </p:nvSpPr>
        <p:spPr>
          <a:xfrm>
            <a:off x="2480945" y="8338185"/>
            <a:ext cx="1807210" cy="509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松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鼠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9" name="图片 38" descr="E:/22222小学配图/同步写作/四上2-小小“动物园”/松鼠1.png松鼠1"/>
          <p:cNvPicPr/>
          <p:nvPr>
            <p:custDataLst>
              <p:tags r:id="rId5"/>
            </p:custDataLst>
          </p:nvPr>
        </p:nvPicPr>
        <p:blipFill>
          <a:blip r:embed="rId6"/>
          <a:srcRect l="4317" r="4317"/>
          <a:stretch>
            <a:fillRect/>
          </a:stretch>
        </p:blipFill>
        <p:spPr>
          <a:xfrm>
            <a:off x="1072515" y="4453890"/>
            <a:ext cx="3780155" cy="3728720"/>
          </a:xfrm>
          <a:prstGeom prst="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13" name="Text 9"/>
          <p:cNvSpPr/>
          <p:nvPr/>
        </p:nvSpPr>
        <p:spPr>
          <a:xfrm>
            <a:off x="1249045" y="8778240"/>
            <a:ext cx="3532505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两只手捧着啃、腮帮子鼓、把</a:t>
            </a:r>
            <a:endParaRPr 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果子往土里埋</a:t>
            </a:r>
            <a:endParaRPr 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3" name="Shape 10"/>
          <p:cNvSpPr/>
          <p:nvPr>
            <p:custDataLst>
              <p:tags r:id="rId7"/>
            </p:custDataLst>
          </p:nvPr>
        </p:nvSpPr>
        <p:spPr>
          <a:xfrm>
            <a:off x="5201920" y="8284210"/>
            <a:ext cx="3780155" cy="1313180"/>
          </a:xfrm>
          <a:prstGeom prst="roundRect">
            <a:avLst>
              <a:gd name="adj" fmla="val 11798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44" name="Text 12"/>
          <p:cNvSpPr/>
          <p:nvPr>
            <p:custDataLst>
              <p:tags r:id="rId8"/>
            </p:custDataLst>
          </p:nvPr>
        </p:nvSpPr>
        <p:spPr>
          <a:xfrm>
            <a:off x="6610350" y="8338185"/>
            <a:ext cx="1807210" cy="509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虎</a:t>
            </a:r>
            <a:endParaRPr 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8" name="Text 9"/>
          <p:cNvSpPr/>
          <p:nvPr/>
        </p:nvSpPr>
        <p:spPr>
          <a:xfrm>
            <a:off x="5378450" y="8778240"/>
            <a:ext cx="3766185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贴在墙上一动不动、脚上像有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吸盘、一转眼就不见了</a:t>
            </a:r>
            <a:endParaRPr 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0" name="Shape 10"/>
          <p:cNvSpPr/>
          <p:nvPr>
            <p:custDataLst>
              <p:tags r:id="rId9"/>
            </p:custDataLst>
          </p:nvPr>
        </p:nvSpPr>
        <p:spPr>
          <a:xfrm>
            <a:off x="9331325" y="8284210"/>
            <a:ext cx="3780155" cy="1313180"/>
          </a:xfrm>
          <a:prstGeom prst="roundRect">
            <a:avLst>
              <a:gd name="adj" fmla="val 11798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51" name="Text 12"/>
          <p:cNvSpPr/>
          <p:nvPr>
            <p:custDataLst>
              <p:tags r:id="rId10"/>
            </p:custDataLst>
          </p:nvPr>
        </p:nvSpPr>
        <p:spPr>
          <a:xfrm>
            <a:off x="10739755" y="8338185"/>
            <a:ext cx="1807210" cy="509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鹦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鹉</a:t>
            </a:r>
            <a:endParaRPr 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52" name="图片 51" descr="E:/22222小学配图/同步写作/四上2-小小“动物园”/鹦鹉1.png鹦鹉1"/>
          <p:cNvPicPr/>
          <p:nvPr>
            <p:custDataLst>
              <p:tags r:id="rId11"/>
            </p:custDataLst>
          </p:nvPr>
        </p:nvPicPr>
        <p:blipFill>
          <a:blip r:embed="rId12"/>
          <a:srcRect l="4317" r="4317"/>
          <a:stretch>
            <a:fillRect/>
          </a:stretch>
        </p:blipFill>
        <p:spPr>
          <a:xfrm>
            <a:off x="9331325" y="4453890"/>
            <a:ext cx="3780155" cy="3728720"/>
          </a:xfrm>
          <a:prstGeom prst="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53" name="Text 9"/>
          <p:cNvSpPr/>
          <p:nvPr/>
        </p:nvSpPr>
        <p:spPr>
          <a:xfrm>
            <a:off x="9507855" y="8778240"/>
            <a:ext cx="3532505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你说什么它跟着说什么、歪着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头、叫起来特别响</a:t>
            </a:r>
            <a:endParaRPr 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5" name="Shape 10"/>
          <p:cNvSpPr/>
          <p:nvPr>
            <p:custDataLst>
              <p:tags r:id="rId13"/>
            </p:custDataLst>
          </p:nvPr>
        </p:nvSpPr>
        <p:spPr>
          <a:xfrm>
            <a:off x="13460730" y="8284210"/>
            <a:ext cx="3780155" cy="1313180"/>
          </a:xfrm>
          <a:prstGeom prst="roundRect">
            <a:avLst>
              <a:gd name="adj" fmla="val 11798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56" name="Text 12"/>
          <p:cNvSpPr/>
          <p:nvPr>
            <p:custDataLst>
              <p:tags r:id="rId14"/>
            </p:custDataLst>
          </p:nvPr>
        </p:nvSpPr>
        <p:spPr>
          <a:xfrm>
            <a:off x="14869160" y="8338185"/>
            <a:ext cx="1807210" cy="509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袋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鼠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57" name="图片 56" descr="E:/22222小学配图/同步写作/四上2-小小“动物园”/袋鼠1.png袋鼠1"/>
          <p:cNvPicPr/>
          <p:nvPr>
            <p:custDataLst>
              <p:tags r:id="rId15"/>
            </p:custDataLst>
          </p:nvPr>
        </p:nvPicPr>
        <p:blipFill>
          <a:blip r:embed="rId16"/>
          <a:srcRect l="8634"/>
          <a:stretch>
            <a:fillRect/>
          </a:stretch>
        </p:blipFill>
        <p:spPr>
          <a:xfrm>
            <a:off x="13460730" y="4453890"/>
            <a:ext cx="3780155" cy="3728720"/>
          </a:xfrm>
          <a:prstGeom prst="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58" name="Text 9"/>
          <p:cNvSpPr/>
          <p:nvPr/>
        </p:nvSpPr>
        <p:spPr>
          <a:xfrm>
            <a:off x="13637260" y="8778240"/>
            <a:ext cx="3532505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肚子上有个口袋什么都装、走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路一蹦一蹦</a:t>
            </a:r>
            <a:endParaRPr 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5" name="图片 44" descr="E:/22222小学配图/同步写作/四上2-小小“动物园”/壁虎1.png壁虎1"/>
          <p:cNvPicPr/>
          <p:nvPr>
            <p:custDataLst>
              <p:tags r:id="rId17"/>
            </p:custDataLst>
          </p:nvPr>
        </p:nvPicPr>
        <p:blipFill>
          <a:blip r:embed="rId18"/>
          <a:srcRect l="4317" r="4317"/>
          <a:stretch>
            <a:fillRect/>
          </a:stretch>
        </p:blipFill>
        <p:spPr>
          <a:xfrm>
            <a:off x="5201920" y="4453890"/>
            <a:ext cx="3780155" cy="3728720"/>
          </a:xfrm>
          <a:prstGeom prst="rect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9" grpId="0"/>
      <p:bldP spid="13" grpId="0"/>
      <p:bldP spid="43" grpId="0" bldLvl="0" animBg="1"/>
      <p:bldP spid="44" grpId="0"/>
      <p:bldP spid="48" grpId="0"/>
      <p:bldP spid="50" grpId="0" bldLvl="0" animBg="1"/>
      <p:bldP spid="51" grpId="0"/>
      <p:bldP spid="53" grpId="0"/>
      <p:bldP spid="55" grpId="0" bldLvl="0" animBg="1"/>
      <p:bldP spid="56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11" name="图片 10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6570345" y="6955790"/>
            <a:ext cx="3459480" cy="1738630"/>
            <a:chOff x="9795" y="11124"/>
            <a:chExt cx="5448" cy="2738"/>
          </a:xfrm>
        </p:grpSpPr>
        <p:sp>
          <p:nvSpPr>
            <p:cNvPr id="15" name="圆角矩形 14"/>
            <p:cNvSpPr/>
            <p:nvPr/>
          </p:nvSpPr>
          <p:spPr>
            <a:xfrm>
              <a:off x="9795" y="11124"/>
              <a:ext cx="5449" cy="228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flipV="1">
              <a:off x="10392" y="13360"/>
              <a:ext cx="725" cy="50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0335260" y="6955790"/>
            <a:ext cx="3459480" cy="1738630"/>
            <a:chOff x="9795" y="11124"/>
            <a:chExt cx="5448" cy="2738"/>
          </a:xfrm>
        </p:grpSpPr>
        <p:sp>
          <p:nvSpPr>
            <p:cNvPr id="38" name="圆角矩形 37"/>
            <p:cNvSpPr/>
            <p:nvPr/>
          </p:nvSpPr>
          <p:spPr>
            <a:xfrm>
              <a:off x="9795" y="11124"/>
              <a:ext cx="5449" cy="228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flipV="1">
              <a:off x="10392" y="13360"/>
              <a:ext cx="725" cy="50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4100175" y="6955790"/>
            <a:ext cx="3459480" cy="1738630"/>
            <a:chOff x="9795" y="11124"/>
            <a:chExt cx="5448" cy="2738"/>
          </a:xfrm>
        </p:grpSpPr>
        <p:sp>
          <p:nvSpPr>
            <p:cNvPr id="41" name="圆角矩形 40"/>
            <p:cNvSpPr/>
            <p:nvPr/>
          </p:nvSpPr>
          <p:spPr>
            <a:xfrm>
              <a:off x="9795" y="11124"/>
              <a:ext cx="5449" cy="228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等腰三角形 41"/>
            <p:cNvSpPr/>
            <p:nvPr/>
          </p:nvSpPr>
          <p:spPr>
            <a:xfrm flipV="1">
              <a:off x="10392" y="13360"/>
              <a:ext cx="725" cy="50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7934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看清动物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821309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反过来想：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先想家人，再找动物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202805" y="3188970"/>
            <a:ext cx="670592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他昨天在家做的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哪一件事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，你还记得？</a:t>
            </a:r>
            <a:endParaRPr lang="en-US" sz="2775" dirty="0"/>
          </a:p>
        </p:txBody>
      </p:sp>
      <p:sp>
        <p:nvSpPr>
          <p:cNvPr id="12" name="Text 9"/>
          <p:cNvSpPr/>
          <p:nvPr/>
        </p:nvSpPr>
        <p:spPr>
          <a:xfrm>
            <a:off x="7202805" y="4334828"/>
            <a:ext cx="903193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他一进门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先做什么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？手上在做什么，发出什么声响？</a:t>
            </a:r>
            <a:endParaRPr lang="en-US" sz="2775" dirty="0"/>
          </a:p>
        </p:txBody>
      </p:sp>
      <p:sp>
        <p:nvSpPr>
          <p:cNvPr id="14" name="Text 11"/>
          <p:cNvSpPr/>
          <p:nvPr/>
        </p:nvSpPr>
        <p:spPr>
          <a:xfrm>
            <a:off x="7202805" y="5434965"/>
            <a:ext cx="10240645" cy="1095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想好了，再回头看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松鼠、壁虎、鹦鹉、袋鼠这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四种动物</a:t>
            </a:r>
            <a:endParaRPr lang="en-US" sz="277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有没有哪一种也是这样的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775" dirty="0"/>
          </a:p>
        </p:txBody>
      </p:sp>
      <p:sp>
        <p:nvSpPr>
          <p:cNvPr id="22" name="Text 18"/>
          <p:cNvSpPr/>
          <p:nvPr/>
        </p:nvSpPr>
        <p:spPr>
          <a:xfrm>
            <a:off x="6569710" y="9001125"/>
            <a:ext cx="1052576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留意刚才的思路：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先想起家人做过的事，才想到这种动物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5"/>
          <p:cNvSpPr/>
          <p:nvPr>
            <p:custDataLst>
              <p:tags r:id="rId3"/>
            </p:custDataLst>
          </p:nvPr>
        </p:nvSpPr>
        <p:spPr>
          <a:xfrm>
            <a:off x="6570345" y="323723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4"/>
            </p:custDataLst>
          </p:nvPr>
        </p:nvSpPr>
        <p:spPr>
          <a:xfrm>
            <a:off x="6570345" y="320040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5"/>
            </p:custDataLst>
          </p:nvPr>
        </p:nvSpPr>
        <p:spPr>
          <a:xfrm>
            <a:off x="6570345" y="439864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6"/>
            </p:custDataLst>
          </p:nvPr>
        </p:nvSpPr>
        <p:spPr>
          <a:xfrm>
            <a:off x="6570345" y="436181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7"/>
            </p:custDataLst>
          </p:nvPr>
        </p:nvSpPr>
        <p:spPr>
          <a:xfrm>
            <a:off x="6569710" y="569722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8"/>
            </p:custDataLst>
          </p:nvPr>
        </p:nvSpPr>
        <p:spPr>
          <a:xfrm>
            <a:off x="6569710" y="566039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6835775" y="7101840"/>
            <a:ext cx="3500120" cy="149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奶奶总把糖藏起来，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和松鼠一个样</a:t>
            </a:r>
            <a:endParaRPr lang="en-US" sz="2600" dirty="0"/>
          </a:p>
          <a:p>
            <a:endParaRPr lang="zh-CN" altLang="en-US" sz="2600"/>
          </a:p>
        </p:txBody>
      </p:sp>
      <p:sp>
        <p:nvSpPr>
          <p:cNvPr id="6" name="文本框 5"/>
          <p:cNvSpPr txBox="1"/>
          <p:nvPr/>
        </p:nvSpPr>
        <p:spPr>
          <a:xfrm>
            <a:off x="10843895" y="7101840"/>
            <a:ext cx="2936875" cy="1091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我说什么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妹妹学什么</a:t>
            </a:r>
            <a:endParaRPr lang="en-US" alt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526895" y="7101840"/>
            <a:ext cx="3385820" cy="1491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妈妈的包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什么都装得下</a:t>
            </a:r>
            <a:endParaRPr lang="en-US" sz="2600" dirty="0"/>
          </a:p>
          <a:p>
            <a:endParaRPr lang="zh-CN" altLang="en-US" sz="2600"/>
          </a:p>
        </p:txBody>
      </p:sp>
      <p:pic>
        <p:nvPicPr>
          <p:cNvPr id="43" name="图片 42" descr="小小动物园-11"/>
          <p:cNvPicPr>
            <a:picLocks noChangeAspect="1"/>
          </p:cNvPicPr>
          <p:nvPr/>
        </p:nvPicPr>
        <p:blipFill>
          <a:blip r:embed="rId9"/>
          <a:srcRect l="14687" r="29555"/>
          <a:stretch>
            <a:fillRect/>
          </a:stretch>
        </p:blipFill>
        <p:spPr>
          <a:xfrm>
            <a:off x="770890" y="2896870"/>
            <a:ext cx="5420360" cy="6229350"/>
          </a:xfrm>
          <a:prstGeom prst="roundRect">
            <a:avLst>
              <a:gd name="adj" fmla="val 4222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  <p:bldP spid="2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2" name="图片 2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1" name="Shape 3"/>
          <p:cNvSpPr/>
          <p:nvPr/>
        </p:nvSpPr>
        <p:spPr>
          <a:xfrm>
            <a:off x="1047750" y="8674735"/>
            <a:ext cx="15716250" cy="950595"/>
          </a:xfrm>
          <a:prstGeom prst="roundRect">
            <a:avLst>
              <a:gd name="adj" fmla="val 2004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6283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判断对比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10362565" cy="7943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下面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两段“奶奶像老猫”，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哪一段写的是奶奶？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47750" y="7045325"/>
            <a:ext cx="1393952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数一数：左边“奶奶”只出现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两次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，中间一大段</a:t>
            </a: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全是老猫。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47750" y="7771130"/>
            <a:ext cx="13939520" cy="452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右边从头到尾写的都是奶奶，而且这些放到老猫身上，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每一处都说得通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421130" y="8877300"/>
            <a:ext cx="1393952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动物只是用来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打比方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的，不是用来介绍的；写成一篇动物介绍，就偏离了题意。</a:t>
            </a:r>
            <a:endParaRPr lang="en-US" sz="26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5"/>
          <p:cNvSpPr/>
          <p:nvPr>
            <p:custDataLst>
              <p:tags r:id="rId3"/>
            </p:custDataLst>
          </p:nvPr>
        </p:nvSpPr>
        <p:spPr>
          <a:xfrm>
            <a:off x="1047750" y="2705100"/>
            <a:ext cx="78660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4" name="Shape 6"/>
          <p:cNvSpPr/>
          <p:nvPr>
            <p:custDataLst>
              <p:tags r:id="rId4"/>
            </p:custDataLst>
          </p:nvPr>
        </p:nvSpPr>
        <p:spPr>
          <a:xfrm>
            <a:off x="10477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5" name="Text 7"/>
          <p:cNvSpPr/>
          <p:nvPr>
            <p:custDataLst>
              <p:tags r:id="rId5"/>
            </p:custDataLst>
          </p:nvPr>
        </p:nvSpPr>
        <p:spPr>
          <a:xfrm>
            <a:off x="3523615" y="2840355"/>
            <a:ext cx="282448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写满了猫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10"/>
          <p:cNvSpPr/>
          <p:nvPr>
            <p:custDataLst>
              <p:tags r:id="rId6"/>
            </p:custDataLst>
          </p:nvPr>
        </p:nvSpPr>
        <p:spPr>
          <a:xfrm>
            <a:off x="9353550" y="2705100"/>
            <a:ext cx="78660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8" name="Shape 11"/>
          <p:cNvSpPr/>
          <p:nvPr>
            <p:custDataLst>
              <p:tags r:id="rId7"/>
            </p:custDataLst>
          </p:nvPr>
        </p:nvSpPr>
        <p:spPr>
          <a:xfrm>
            <a:off x="93535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8"/>
            </p:custDataLst>
          </p:nvPr>
        </p:nvSpPr>
        <p:spPr>
          <a:xfrm>
            <a:off x="11829415" y="2840355"/>
            <a:ext cx="275336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写的是奶奶</a:t>
            </a:r>
            <a:endParaRPr lang="en-US" sz="3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56030" y="3766820"/>
            <a:ext cx="7600315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我奶奶就像一只老猫。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老猫一天能睡上十几个钟头，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晒着太阳眯起眼睛，谁从旁边走过都不睁一下；走起路来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没有声音，脚底下有厚厚的肉垫；还特别爱干净，一天到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晚舔自己的毛。</a:t>
            </a:r>
            <a:r>
              <a: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我奶奶跟它一模一样。</a:t>
            </a:r>
            <a:endParaRPr lang="zh-CN" altLang="en-US" sz="23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38970" y="3766820"/>
            <a:ext cx="7600315" cy="1925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我奶奶就像一只老猫。一到下午，她就</a:t>
            </a: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坐到阳台那</a:t>
            </a:r>
            <a:endParaRPr lang="zh-CN" altLang="en-US" sz="23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把藤椅上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，晒着太阳，</a:t>
            </a: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眼睛眯成一条缝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。我喊她一声，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她</a:t>
            </a: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“嗯”一下，又睡过去了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4" name="图片 33" descr="小小动物园-10-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30885" y="5688965"/>
            <a:ext cx="4963160" cy="4598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1047750" y="3036570"/>
            <a:ext cx="16631920" cy="5821680"/>
          </a:xfrm>
          <a:prstGeom prst="roundRect">
            <a:avLst>
              <a:gd name="adj" fmla="val 5508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7419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8945245" cy="10560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今天的写法：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段首点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动物，整段写家人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66850" y="9032875"/>
            <a:ext cx="5589270" cy="751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一位家人写一段</a:t>
            </a: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235200" y="4031615"/>
            <a:ext cx="884824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段落开头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点明他像什么动物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，动物只在这一句出现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2235200" y="5155565"/>
            <a:ext cx="9143619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段落里选取他身上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契合这种动物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的两三处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，把“像在哪里”写清楚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2235200" y="6748145"/>
            <a:ext cx="817768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“他长什么样”“他做事时什么样”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两个方面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endParaRPr lang="zh-CN" alt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椭圆 17"/>
          <p:cNvSpPr/>
          <p:nvPr>
            <p:custDataLst>
              <p:tags r:id="rId3"/>
            </p:custDataLst>
          </p:nvPr>
        </p:nvSpPr>
        <p:spPr>
          <a:xfrm>
            <a:off x="1604010" y="4083685"/>
            <a:ext cx="476250" cy="47783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4" name="椭圆 173"/>
          <p:cNvSpPr/>
          <p:nvPr>
            <p:custDataLst>
              <p:tags r:id="rId4"/>
            </p:custDataLst>
          </p:nvPr>
        </p:nvSpPr>
        <p:spPr>
          <a:xfrm>
            <a:off x="1604010" y="5437823"/>
            <a:ext cx="476250" cy="477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sp>
        <p:nvSpPr>
          <p:cNvPr id="175" name="椭圆 174"/>
          <p:cNvSpPr/>
          <p:nvPr>
            <p:custDataLst>
              <p:tags r:id="rId5"/>
            </p:custDataLst>
          </p:nvPr>
        </p:nvSpPr>
        <p:spPr>
          <a:xfrm>
            <a:off x="1604010" y="6782435"/>
            <a:ext cx="476250" cy="4762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  <a:cs typeface="思源黑体 CN Normal" panose="020B0400000000000000" pitchFamily="34" charset="-122"/>
            </a:endParaRPr>
          </a:p>
        </p:txBody>
      </p:sp>
      <p:cxnSp>
        <p:nvCxnSpPr>
          <p:cNvPr id="176" name="直接连接符 175"/>
          <p:cNvCxnSpPr/>
          <p:nvPr>
            <p:custDataLst>
              <p:tags r:id="rId6"/>
            </p:custDataLst>
          </p:nvPr>
        </p:nvCxnSpPr>
        <p:spPr>
          <a:xfrm>
            <a:off x="1842135" y="461708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77" name="直接连接符 176"/>
          <p:cNvCxnSpPr/>
          <p:nvPr>
            <p:custDataLst>
              <p:tags r:id="rId7"/>
            </p:custDataLst>
          </p:nvPr>
        </p:nvCxnSpPr>
        <p:spPr>
          <a:xfrm>
            <a:off x="1842135" y="5969635"/>
            <a:ext cx="0" cy="795338"/>
          </a:xfrm>
          <a:prstGeom prst="line">
            <a:avLst/>
          </a:prstGeom>
          <a:solidFill>
            <a:srgbClr val="00993F"/>
          </a:solidFill>
          <a:ln w="28575">
            <a:solidFill>
              <a:schemeClr val="accent1">
                <a:alpha val="5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1604010" y="4159568"/>
            <a:ext cx="484188" cy="325437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1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179" name="文本框 178"/>
          <p:cNvSpPr txBox="1"/>
          <p:nvPr>
            <p:custDataLst>
              <p:tags r:id="rId9"/>
            </p:custDataLst>
          </p:nvPr>
        </p:nvSpPr>
        <p:spPr>
          <a:xfrm>
            <a:off x="1600835" y="5515610"/>
            <a:ext cx="484188" cy="325438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2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sp>
        <p:nvSpPr>
          <p:cNvPr id="180" name="文本框 179"/>
          <p:cNvSpPr txBox="1"/>
          <p:nvPr>
            <p:custDataLst>
              <p:tags r:id="rId10"/>
            </p:custDataLst>
          </p:nvPr>
        </p:nvSpPr>
        <p:spPr>
          <a:xfrm>
            <a:off x="1600835" y="6849110"/>
            <a:ext cx="484188" cy="327025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lt"/>
              </a:rPr>
              <a:t>3</a:t>
            </a:r>
            <a:endParaRPr lang="en-US" altLang="zh-CN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lt"/>
            </a:endParaRPr>
          </a:p>
        </p:txBody>
      </p:sp>
      <p:grpSp>
        <p:nvGrpSpPr>
          <p:cNvPr id="26" name="组合 25"/>
          <p:cNvGrpSpPr>
            <a:grpSpLocks noChangeAspect="1"/>
          </p:cNvGrpSpPr>
          <p:nvPr/>
        </p:nvGrpSpPr>
        <p:grpSpPr>
          <a:xfrm>
            <a:off x="11923395" y="3561080"/>
            <a:ext cx="6364605" cy="6703060"/>
            <a:chOff x="18402" y="5626"/>
            <a:chExt cx="10398" cy="10730"/>
          </a:xfrm>
        </p:grpSpPr>
        <p:sp>
          <p:nvSpPr>
            <p:cNvPr id="25" name="圆角矩形 24"/>
            <p:cNvSpPr/>
            <p:nvPr/>
          </p:nvSpPr>
          <p:spPr>
            <a:xfrm>
              <a:off x="23359" y="11497"/>
              <a:ext cx="5015" cy="44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 descr="小小动物园-9-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8402" y="5626"/>
              <a:ext cx="10398" cy="1073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0" grpId="0"/>
      <p:bldP spid="12" grpId="0"/>
      <p:bldP spid="14" grpId="0"/>
      <p:bldP spid="16" grpId="0"/>
      <p:bldP spid="18" grpId="0" animBg="1"/>
      <p:bldP spid="174" grpId="0" animBg="1"/>
      <p:bldP spid="175" grpId="0" animBg="1"/>
      <p:bldP spid="19" grpId="0"/>
      <p:bldP spid="179" grpId="0"/>
      <p:bldP spid="1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6370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5435"/>
            <a:ext cx="8622665" cy="9429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选动物的两种思路：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今天用第二种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38225" y="7499539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Text 16"/>
          <p:cNvSpPr/>
          <p:nvPr/>
        </p:nvSpPr>
        <p:spPr>
          <a:xfrm>
            <a:off x="3524250" y="7691755"/>
            <a:ext cx="13731875" cy="4959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心里想一位家人，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先不急于确定动物</a:t>
            </a:r>
            <a:r>
              <a:rPr lang="en-US" sz="26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，仔细回想：哪个场景、哪个举动，是</a:t>
            </a:r>
            <a:r>
              <a:rPr lang="zh-CN" altLang="en-US" sz="26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这位家人</a:t>
            </a:r>
            <a:r>
              <a:rPr lang="en-US" sz="26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独有的？</a:t>
            </a:r>
            <a:endParaRPr lang="en-US" sz="2600" dirty="0">
              <a:solidFill>
                <a:srgbClr val="2A2E37"/>
              </a:solidFill>
              <a:highlight>
                <a:srgbClr val="FCF3EE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889500" y="8882380"/>
            <a:ext cx="1157033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掀被子、拉窗帘、敲床头，这样的举动一出现，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蜜蜂就不合适了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5"/>
          <p:cNvSpPr/>
          <p:nvPr>
            <p:custDataLst>
              <p:tags r:id="rId3"/>
            </p:custDataLst>
          </p:nvPr>
        </p:nvSpPr>
        <p:spPr>
          <a:xfrm>
            <a:off x="1047750" y="2857500"/>
            <a:ext cx="7886700" cy="3905250"/>
          </a:xfrm>
          <a:prstGeom prst="roundRect">
            <a:avLst>
              <a:gd name="adj" fmla="val 4390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4" name="Shape 6"/>
          <p:cNvSpPr/>
          <p:nvPr>
            <p:custDataLst>
              <p:tags r:id="rId4"/>
            </p:custDataLst>
          </p:nvPr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/>
          <a:lstStyle/>
          <a:p/>
        </p:txBody>
      </p:sp>
      <p:sp>
        <p:nvSpPr>
          <p:cNvPr id="25" name="Text 7"/>
          <p:cNvSpPr/>
          <p:nvPr>
            <p:custDataLst>
              <p:tags r:id="rId5"/>
            </p:custDataLst>
          </p:nvPr>
        </p:nvSpPr>
        <p:spPr>
          <a:xfrm>
            <a:off x="1699260" y="2992755"/>
            <a:ext cx="64414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思路 </a:t>
            </a:r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 · </a:t>
            </a: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先想标签，再找动物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9"/>
          <p:cNvSpPr/>
          <p:nvPr>
            <p:custDataLst>
              <p:tags r:id="rId6"/>
            </p:custDataLst>
          </p:nvPr>
        </p:nvSpPr>
        <p:spPr>
          <a:xfrm>
            <a:off x="1381125" y="4890135"/>
            <a:ext cx="7456170" cy="13957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571500" algn="l" fontAlgn="auto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这样简单快捷，但人人都这样想，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写出来的家人大同小异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，同学猜中了也说不出依据哪一句。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10"/>
          <p:cNvSpPr/>
          <p:nvPr>
            <p:custDataLst>
              <p:tags r:id="rId7"/>
            </p:custDataLst>
          </p:nvPr>
        </p:nvSpPr>
        <p:spPr>
          <a:xfrm>
            <a:off x="9353550" y="2857500"/>
            <a:ext cx="78867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8" name="Shape 11"/>
          <p:cNvSpPr/>
          <p:nvPr>
            <p:custDataLst>
              <p:tags r:id="rId8"/>
            </p:custDataLst>
          </p:nvPr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9"/>
            </p:custDataLst>
          </p:nvPr>
        </p:nvSpPr>
        <p:spPr>
          <a:xfrm>
            <a:off x="10442575" y="2992755"/>
            <a:ext cx="602297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思路 </a:t>
            </a:r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 · </a:t>
            </a: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先抓独家细节，再找动物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14"/>
          <p:cNvSpPr/>
          <p:nvPr>
            <p:custDataLst>
              <p:tags r:id="rId10"/>
            </p:custDataLst>
          </p:nvPr>
        </p:nvSpPr>
        <p:spPr>
          <a:xfrm>
            <a:off x="9385300" y="4935855"/>
            <a:ext cx="7456170" cy="12376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indent="571500" algn="l" fontAlgn="auto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这样会慢一些，但选出来的动物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只贴合你的家人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571500" algn="l" fontAlgn="auto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别人无法套用。</a:t>
            </a:r>
            <a:endParaRPr lang="zh-CN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Text 9"/>
          <p:cNvSpPr/>
          <p:nvPr>
            <p:custDataLst>
              <p:tags r:id="rId11"/>
            </p:custDataLst>
          </p:nvPr>
        </p:nvSpPr>
        <p:spPr>
          <a:xfrm>
            <a:off x="1381125" y="3914775"/>
            <a:ext cx="6740525" cy="713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indent="571500" algn="l" fontAlgn="auto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“勤快” → 蜜蜂</a:t>
            </a: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“高大” → 熊</a:t>
            </a:r>
            <a:endParaRPr lang="zh-CN" altLang="en-US" sz="2800" b="1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Text 9"/>
          <p:cNvSpPr/>
          <p:nvPr>
            <p:custDataLst>
              <p:tags r:id="rId12"/>
            </p:custDataLst>
          </p:nvPr>
        </p:nvSpPr>
        <p:spPr>
          <a:xfrm>
            <a:off x="9719310" y="3967480"/>
            <a:ext cx="6740525" cy="713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indent="571500" algn="l" fontAlgn="auto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路过书桌用指关节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轻敲桌沿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啄木鸟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34" name="图片 33" descr="小小动物园-6-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460" y="6163310"/>
            <a:ext cx="3891915" cy="3968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/>
      <p:bldP spid="20" grpId="0"/>
      <p:bldP spid="26" grpId="0"/>
      <p:bldP spid="30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15" name="图片 14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42" name="Shape 10"/>
          <p:cNvSpPr/>
          <p:nvPr/>
        </p:nvSpPr>
        <p:spPr>
          <a:xfrm>
            <a:off x="1047750" y="5292090"/>
            <a:ext cx="9492615" cy="1180465"/>
          </a:xfrm>
          <a:prstGeom prst="roundRect">
            <a:avLst>
              <a:gd name="adj" fmla="val 17063"/>
            </a:avLst>
          </a:prstGeom>
          <a:solidFill>
            <a:srgbClr val="F7F8FA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31825"/>
            <a:ext cx="17272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8130"/>
            <a:ext cx="10772140" cy="873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选出的几处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要与同一种动物的特点相符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7750" y="2730500"/>
            <a:ext cx="78168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他像树懒吗？四个特点，逐条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</a:t>
            </a: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47750" y="6639560"/>
            <a:ext cx="9492615" cy="781685"/>
          </a:xfrm>
          <a:prstGeom prst="roundRect">
            <a:avLst>
              <a:gd name="adj" fmla="val 17063"/>
            </a:avLst>
          </a:prstGeom>
          <a:solidFill>
            <a:srgbClr val="F7F8FA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760220" y="6798945"/>
            <a:ext cx="5840730" cy="43878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ln>
                  <a:noFill/>
                </a:ln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个子矮，圆脸，笑起来眼睛眯成一条缝</a:t>
            </a:r>
            <a:endParaRPr lang="en-US" sz="2300" b="1" dirty="0">
              <a:ln>
                <a:noFill/>
              </a:ln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47750" y="3394710"/>
            <a:ext cx="9492615" cy="781685"/>
          </a:xfrm>
          <a:prstGeom prst="roundRect">
            <a:avLst>
              <a:gd name="adj" fmla="val 17063"/>
            </a:avLst>
          </a:prstGeom>
          <a:solidFill>
            <a:srgbClr val="F7F8FA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1760220" y="3554730"/>
            <a:ext cx="5836285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一天要睡三觉，坐着坐着就打起呼噜</a:t>
            </a:r>
            <a:endParaRPr lang="en-US" sz="2300" b="1" dirty="0">
              <a:solidFill>
                <a:srgbClr val="4E9A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47750" y="4343400"/>
            <a:ext cx="9492615" cy="781685"/>
          </a:xfrm>
          <a:prstGeom prst="roundRect">
            <a:avLst>
              <a:gd name="adj" fmla="val 17063"/>
            </a:avLst>
          </a:prstGeom>
          <a:solidFill>
            <a:srgbClr val="F7F8FA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760220" y="4533900"/>
            <a:ext cx="4984115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吃饭最慢，一顿饭能吃四十分钟</a:t>
            </a:r>
            <a:endParaRPr lang="en-US" sz="2300" b="1" dirty="0">
              <a:solidFill>
                <a:srgbClr val="4E9A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760220" y="5493385"/>
            <a:ext cx="5836285" cy="5245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喜欢跑步，每天早上绕小区跑五圈</a:t>
            </a:r>
            <a:endParaRPr lang="en-US" sz="23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953750" y="2730500"/>
            <a:ext cx="571246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对不上的那一处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</a:t>
            </a: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，怎么办？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953750" y="3394710"/>
            <a:ext cx="6286500" cy="4015105"/>
          </a:xfrm>
          <a:prstGeom prst="roundRect">
            <a:avLst>
              <a:gd name="adj" fmla="val 5034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/>
          <a:lstStyle/>
          <a:p/>
        </p:txBody>
      </p:sp>
      <p:sp>
        <p:nvSpPr>
          <p:cNvPr id="19" name="Text 16"/>
          <p:cNvSpPr/>
          <p:nvPr/>
        </p:nvSpPr>
        <p:spPr>
          <a:xfrm>
            <a:off x="11239500" y="3743325"/>
            <a:ext cx="5903595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要么舍弃不写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，读者才不会困惑：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他到底是慢性子还是急性子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239500" y="5314950"/>
            <a:ext cx="5474970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要么换一种动物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，同一个人，选出的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特点不同，可以比作不同的动物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047750" y="7714615"/>
            <a:ext cx="16192500" cy="831215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Text 20"/>
          <p:cNvSpPr/>
          <p:nvPr/>
        </p:nvSpPr>
        <p:spPr>
          <a:xfrm>
            <a:off x="1527810" y="7889875"/>
            <a:ext cx="14808200" cy="5848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请你试着说一说：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一件真实的小事 + 合适的动物 + 再补一处细节（长相或做事的样子），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要一致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27810" y="8849995"/>
            <a:ext cx="8771890" cy="593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难点在于：选出的这几处</a:t>
            </a:r>
            <a:r>
              <a:rPr lang="zh-CN" alt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特点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不能互相矛盾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" name="图片 1" descr="a354c92a74fa089e1cef0cbfad202db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7188" y="3467735"/>
            <a:ext cx="596900" cy="596900"/>
          </a:xfrm>
          <a:prstGeom prst="rect">
            <a:avLst/>
          </a:prstGeom>
        </p:spPr>
      </p:pic>
      <p:pic>
        <p:nvPicPr>
          <p:cNvPr id="20" name="图片 19" descr="211d71adb45ecfac28b03bb3555f93f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51470" y="5559425"/>
            <a:ext cx="648335" cy="648335"/>
          </a:xfrm>
          <a:prstGeom prst="rect">
            <a:avLst/>
          </a:prstGeom>
        </p:spPr>
      </p:pic>
      <p:pic>
        <p:nvPicPr>
          <p:cNvPr id="27" name="图片 26" descr="bff0a9fb2a3cfb45b1ad290b4b196f9c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0843" y="6737985"/>
            <a:ext cx="529590" cy="529590"/>
          </a:xfrm>
          <a:prstGeom prst="rect">
            <a:avLst/>
          </a:prstGeom>
        </p:spPr>
      </p:pic>
      <p:sp>
        <p:nvSpPr>
          <p:cNvPr id="28" name="Text 9"/>
          <p:cNvSpPr/>
          <p:nvPr/>
        </p:nvSpPr>
        <p:spPr>
          <a:xfrm>
            <a:off x="8752205" y="3547110"/>
            <a:ext cx="125222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对得上</a:t>
            </a:r>
            <a:endParaRPr lang="en-US" sz="23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9" name="图片 28" descr="a354c92a74fa089e1cef0cbfad202db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77188" y="4463415"/>
            <a:ext cx="596900" cy="596900"/>
          </a:xfrm>
          <a:prstGeom prst="rect">
            <a:avLst/>
          </a:prstGeom>
        </p:spPr>
      </p:pic>
      <p:sp>
        <p:nvSpPr>
          <p:cNvPr id="30" name="Text 9"/>
          <p:cNvSpPr/>
          <p:nvPr/>
        </p:nvSpPr>
        <p:spPr>
          <a:xfrm>
            <a:off x="8757285" y="4542790"/>
            <a:ext cx="125222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对得上</a:t>
            </a:r>
            <a:endParaRPr lang="en-US" sz="23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1760220" y="5935345"/>
            <a:ext cx="6544945" cy="5251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树懒不跑步，写进去会与前两处矛盾</a:t>
            </a:r>
            <a:endParaRPr lang="en-US" sz="23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8752205" y="5678170"/>
            <a:ext cx="125222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3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不匹配</a:t>
            </a:r>
            <a:endParaRPr lang="zh-CN" altLang="en-US" sz="23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767445" y="6788785"/>
            <a:ext cx="1538605" cy="43878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b="1" dirty="0">
                <a:ln>
                  <a:noFill/>
                </a:ln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更像熊猫</a:t>
            </a:r>
            <a:endParaRPr lang="en-US" sz="2300" b="1" dirty="0">
              <a:ln>
                <a:noFill/>
              </a:ln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Shape 5"/>
          <p:cNvSpPr/>
          <p:nvPr>
            <p:custDataLst>
              <p:tags r:id="rId14"/>
            </p:custDataLst>
          </p:nvPr>
        </p:nvSpPr>
        <p:spPr>
          <a:xfrm>
            <a:off x="1149350" y="353187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Text 6"/>
          <p:cNvSpPr/>
          <p:nvPr>
            <p:custDataLst>
              <p:tags r:id="rId15"/>
            </p:custDataLst>
          </p:nvPr>
        </p:nvSpPr>
        <p:spPr>
          <a:xfrm>
            <a:off x="1149350" y="349504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36" name="Shape 5"/>
          <p:cNvSpPr/>
          <p:nvPr>
            <p:custDataLst>
              <p:tags r:id="rId16"/>
            </p:custDataLst>
          </p:nvPr>
        </p:nvSpPr>
        <p:spPr>
          <a:xfrm>
            <a:off x="1148715" y="451104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 6"/>
          <p:cNvSpPr/>
          <p:nvPr>
            <p:custDataLst>
              <p:tags r:id="rId17"/>
            </p:custDataLst>
          </p:nvPr>
        </p:nvSpPr>
        <p:spPr>
          <a:xfrm>
            <a:off x="1148715" y="447421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8" name="Shape 5"/>
          <p:cNvSpPr/>
          <p:nvPr>
            <p:custDataLst>
              <p:tags r:id="rId18"/>
            </p:custDataLst>
          </p:nvPr>
        </p:nvSpPr>
        <p:spPr>
          <a:xfrm>
            <a:off x="1148080" y="566293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9" name="Text 6"/>
          <p:cNvSpPr/>
          <p:nvPr>
            <p:custDataLst>
              <p:tags r:id="rId19"/>
            </p:custDataLst>
          </p:nvPr>
        </p:nvSpPr>
        <p:spPr>
          <a:xfrm>
            <a:off x="1148080" y="562610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sp>
        <p:nvSpPr>
          <p:cNvPr id="40" name="Shape 5"/>
          <p:cNvSpPr/>
          <p:nvPr>
            <p:custDataLst>
              <p:tags r:id="rId20"/>
            </p:custDataLst>
          </p:nvPr>
        </p:nvSpPr>
        <p:spPr>
          <a:xfrm>
            <a:off x="1147445" y="677227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" name="Text 6"/>
          <p:cNvSpPr/>
          <p:nvPr>
            <p:custDataLst>
              <p:tags r:id="rId21"/>
            </p:custDataLst>
          </p:nvPr>
        </p:nvSpPr>
        <p:spPr>
          <a:xfrm>
            <a:off x="1147445" y="673544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/>
      <p:bldP spid="36" grpId="0" bldLvl="0" animBg="1"/>
      <p:bldP spid="37" grpId="0"/>
      <p:bldP spid="38" grpId="0" bldLvl="0" animBg="1"/>
      <p:bldP spid="39" grpId="0"/>
      <p:bldP spid="40" grpId="0" bldLvl="0" animBg="1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2" name="图片 2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9750" y="3036570"/>
            <a:ext cx="17139920" cy="5821680"/>
          </a:xfrm>
          <a:prstGeom prst="roundRect">
            <a:avLst>
              <a:gd name="adj" fmla="val 5508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65163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9888855" cy="8928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打比方，要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带着喜爱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，不拿家人取笑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78230" y="517715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348740" y="4963795"/>
            <a:ext cx="752475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写妈妈像啄木鸟，写的是她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时常提醒你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078230" y="6216333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348740" y="6018530"/>
            <a:ext cx="834009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写爸爸像猫头鹰，写的是他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深夜为家里忙碌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078230" y="370522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1348740" y="3491865"/>
            <a:ext cx="10662285" cy="1095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小猪、小懒猫、大狗熊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这些称呼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，家里人都是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笑着说的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作文中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的动物比喻也应如此。把家人比作动物，要怀着喜爱去写。</a:t>
            </a:r>
            <a:endParaRPr lang="zh-CN" alt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520190" y="7216140"/>
            <a:ext cx="9836150" cy="1050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守住一条底线：</a:t>
            </a:r>
            <a:endParaRPr lang="en-US" sz="2400" dirty="0">
              <a:solidFill>
                <a:srgbClr val="2A2E37"/>
              </a:solidFill>
              <a:highlight>
                <a:srgbClr val="FCF3EE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写完这段话，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你敢读给本人听</a:t>
            </a: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。愿意读给他听，这个比喻就选对了。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061720" y="9179560"/>
            <a:ext cx="16218535" cy="6153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请记住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先找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家人的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独家细节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再选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可以用来比喻的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动物；段首点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动物，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段内所写的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两三处细节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/>
          </a:p>
        </p:txBody>
      </p:sp>
      <p:pic>
        <p:nvPicPr>
          <p:cNvPr id="19" name="图片 18" descr="小小动物园-7"/>
          <p:cNvPicPr/>
          <p:nvPr/>
        </p:nvPicPr>
        <p:blipFill>
          <a:blip r:embed="rId3"/>
          <a:srcRect r="16574"/>
          <a:stretch>
            <a:fillRect/>
          </a:stretch>
        </p:blipFill>
        <p:spPr>
          <a:xfrm>
            <a:off x="11920855" y="2811145"/>
            <a:ext cx="5789295" cy="5760085"/>
          </a:xfrm>
          <a:prstGeom prst="ellipse">
            <a:avLst/>
          </a:prstGeom>
          <a:ln w="76200">
            <a:solidFill>
              <a:schemeClr val="bg1"/>
            </a:solidFill>
          </a:ln>
        </p:spPr>
      </p:pic>
      <p:sp>
        <p:nvSpPr>
          <p:cNvPr id="20" name="等腰三角形 19"/>
          <p:cNvSpPr/>
          <p:nvPr/>
        </p:nvSpPr>
        <p:spPr>
          <a:xfrm rot="5400000">
            <a:off x="1072515" y="7306310"/>
            <a:ext cx="444500" cy="34417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621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1428750"/>
            <a:ext cx="5286375" cy="6819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家人 · 动物对照表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1047750" y="2133600"/>
            <a:ext cx="112172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每格只填词语</a:t>
            </a:r>
            <a:r>
              <a:rPr lang="zh-CN" alt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或短句</a:t>
            </a: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先填第②栏</a:t>
            </a: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，再选</a:t>
            </a:r>
            <a:r>
              <a:rPr lang="zh-CN" alt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相符的</a:t>
            </a: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动物（参考教师填写的四口之家）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3124200"/>
          </a:xfrm>
          <a:prstGeom prst="roundRect">
            <a:avLst>
              <a:gd name="adj" fmla="val 4268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828925"/>
            <a:ext cx="16173450" cy="10477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04925" y="3000375"/>
            <a:ext cx="1676400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一位</a:t>
            </a:r>
            <a:r>
              <a:rPr lang="zh-CN" alt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家人</a:t>
            </a:r>
            <a:endParaRPr lang="zh-CN" altLang="en-US" sz="21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152775" y="2828925"/>
            <a:ext cx="9525" cy="104775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3237865" y="3013075"/>
            <a:ext cx="399097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先填：别人家没有的那一处细节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153275" y="2828925"/>
            <a:ext cx="9525" cy="104775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7410450" y="3000375"/>
            <a:ext cx="204787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像什么动物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629775" y="2828925"/>
            <a:ext cx="9525" cy="104775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9886950" y="3000375"/>
            <a:ext cx="340966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长相上相符的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3430250" y="2828925"/>
            <a:ext cx="9525" cy="104775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687425" y="3000375"/>
            <a:ext cx="340966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举止、习惯上相符的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1057275" y="3876675"/>
            <a:ext cx="16173450" cy="6858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1304925" y="4048125"/>
            <a:ext cx="16764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妈妈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3152775" y="38766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3409950" y="4048125"/>
            <a:ext cx="361569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桌沿上</a:t>
            </a: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时常响起的</a:t>
            </a: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笃笃</a:t>
            </a: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声</a:t>
            </a:r>
            <a:endParaRPr lang="zh-CN" altLang="en-US" sz="20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153275" y="38766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7410450" y="4048125"/>
            <a:ext cx="204787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啄木鸟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9629775" y="38766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9886950" y="4048125"/>
            <a:ext cx="340966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手指细、爱翘食指</a:t>
            </a:r>
            <a:endParaRPr lang="en-US" sz="2025" dirty="0"/>
          </a:p>
        </p:txBody>
      </p:sp>
      <p:sp>
        <p:nvSpPr>
          <p:cNvPr id="27" name="Shape 24"/>
          <p:cNvSpPr/>
          <p:nvPr/>
        </p:nvSpPr>
        <p:spPr>
          <a:xfrm>
            <a:off x="13430250" y="38766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13687425" y="4048125"/>
            <a:ext cx="340966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走过就敲两下、一句一顿</a:t>
            </a:r>
            <a:endParaRPr lang="en-US" sz="2025" dirty="0"/>
          </a:p>
        </p:txBody>
      </p:sp>
      <p:sp>
        <p:nvSpPr>
          <p:cNvPr id="29" name="Shape 26"/>
          <p:cNvSpPr/>
          <p:nvPr/>
        </p:nvSpPr>
        <p:spPr>
          <a:xfrm>
            <a:off x="1057275" y="4562475"/>
            <a:ext cx="16173450" cy="6858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04925" y="4733925"/>
            <a:ext cx="16764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</a:t>
            </a:r>
            <a:endParaRPr lang="en-US" sz="2025" dirty="0"/>
          </a:p>
        </p:txBody>
      </p:sp>
      <p:sp>
        <p:nvSpPr>
          <p:cNvPr id="31" name="Shape 28"/>
          <p:cNvSpPr/>
          <p:nvPr/>
        </p:nvSpPr>
        <p:spPr>
          <a:xfrm>
            <a:off x="3152775" y="45624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3409950" y="4733925"/>
            <a:ext cx="361569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背对着我也知道我在偷糖</a:t>
            </a:r>
            <a:endParaRPr lang="en-US" sz="2025" dirty="0"/>
          </a:p>
        </p:txBody>
      </p:sp>
      <p:sp>
        <p:nvSpPr>
          <p:cNvPr id="33" name="Shape 30"/>
          <p:cNvSpPr/>
          <p:nvPr/>
        </p:nvSpPr>
        <p:spPr>
          <a:xfrm>
            <a:off x="7153275" y="45624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7410450" y="4733925"/>
            <a:ext cx="204787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猫头鹰</a:t>
            </a:r>
            <a:endParaRPr lang="en-US" sz="2025" dirty="0"/>
          </a:p>
        </p:txBody>
      </p:sp>
      <p:sp>
        <p:nvSpPr>
          <p:cNvPr id="35" name="Shape 32"/>
          <p:cNvSpPr/>
          <p:nvPr/>
        </p:nvSpPr>
        <p:spPr>
          <a:xfrm>
            <a:off x="9629775" y="45624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9886950" y="4733925"/>
            <a:ext cx="340966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眼睛大、眼袋深</a:t>
            </a:r>
            <a:endParaRPr lang="en-US" sz="2025" dirty="0"/>
          </a:p>
        </p:txBody>
      </p:sp>
      <p:sp>
        <p:nvSpPr>
          <p:cNvPr id="37" name="Shape 34"/>
          <p:cNvSpPr/>
          <p:nvPr/>
        </p:nvSpPr>
        <p:spPr>
          <a:xfrm>
            <a:off x="13430250" y="45624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8" name="Text 35"/>
          <p:cNvSpPr/>
          <p:nvPr/>
        </p:nvSpPr>
        <p:spPr>
          <a:xfrm>
            <a:off x="13687425" y="4733925"/>
            <a:ext cx="340966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深夜才忙碌、白天不起</a:t>
            </a:r>
            <a:endParaRPr lang="en-US" sz="2025" dirty="0"/>
          </a:p>
        </p:txBody>
      </p:sp>
      <p:sp>
        <p:nvSpPr>
          <p:cNvPr id="39" name="Shape 36"/>
          <p:cNvSpPr/>
          <p:nvPr/>
        </p:nvSpPr>
        <p:spPr>
          <a:xfrm>
            <a:off x="1057275" y="5248275"/>
            <a:ext cx="16173450" cy="6858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40" name="Text 37"/>
          <p:cNvSpPr/>
          <p:nvPr/>
        </p:nvSpPr>
        <p:spPr>
          <a:xfrm>
            <a:off x="1304925" y="5419725"/>
            <a:ext cx="167640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弟弟</a:t>
            </a:r>
            <a:endParaRPr lang="en-US" sz="2025" dirty="0"/>
          </a:p>
        </p:txBody>
      </p:sp>
      <p:sp>
        <p:nvSpPr>
          <p:cNvPr id="41" name="Shape 38"/>
          <p:cNvSpPr/>
          <p:nvPr/>
        </p:nvSpPr>
        <p:spPr>
          <a:xfrm>
            <a:off x="3152775" y="52482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2" name="Text 39"/>
          <p:cNvSpPr/>
          <p:nvPr/>
        </p:nvSpPr>
        <p:spPr>
          <a:xfrm>
            <a:off x="3409950" y="5419725"/>
            <a:ext cx="361569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抽屉最里面</a:t>
            </a: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藏着的</a:t>
            </a: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饼干</a:t>
            </a:r>
            <a:endParaRPr lang="en-US" sz="2025" dirty="0"/>
          </a:p>
        </p:txBody>
      </p:sp>
      <p:sp>
        <p:nvSpPr>
          <p:cNvPr id="43" name="Shape 40"/>
          <p:cNvSpPr/>
          <p:nvPr/>
        </p:nvSpPr>
        <p:spPr>
          <a:xfrm>
            <a:off x="7153275" y="52482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4" name="Text 41"/>
          <p:cNvSpPr/>
          <p:nvPr/>
        </p:nvSpPr>
        <p:spPr>
          <a:xfrm>
            <a:off x="7410450" y="5419725"/>
            <a:ext cx="204787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仓鼠</a:t>
            </a:r>
            <a:endParaRPr lang="en-US" sz="2025" dirty="0"/>
          </a:p>
        </p:txBody>
      </p:sp>
      <p:sp>
        <p:nvSpPr>
          <p:cNvPr id="45" name="Shape 42"/>
          <p:cNvSpPr/>
          <p:nvPr/>
        </p:nvSpPr>
        <p:spPr>
          <a:xfrm>
            <a:off x="9629775" y="52482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6" name="Text 43"/>
          <p:cNvSpPr/>
          <p:nvPr/>
        </p:nvSpPr>
        <p:spPr>
          <a:xfrm>
            <a:off x="9886950" y="5419725"/>
            <a:ext cx="340966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脸圆、两腮鼓</a:t>
            </a:r>
            <a:endParaRPr lang="en-US" sz="2025" dirty="0"/>
          </a:p>
        </p:txBody>
      </p:sp>
      <p:sp>
        <p:nvSpPr>
          <p:cNvPr id="47" name="Shape 44"/>
          <p:cNvSpPr/>
          <p:nvPr/>
        </p:nvSpPr>
        <p:spPr>
          <a:xfrm>
            <a:off x="13430250" y="5248275"/>
            <a:ext cx="9525" cy="6858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8" name="Text 45"/>
          <p:cNvSpPr/>
          <p:nvPr/>
        </p:nvSpPr>
        <p:spPr>
          <a:xfrm>
            <a:off x="13687425" y="5419725"/>
            <a:ext cx="3409664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塞满了不咽、抽屉囤零食</a:t>
            </a:r>
            <a:endParaRPr lang="en-US" sz="2025" dirty="0"/>
          </a:p>
        </p:txBody>
      </p:sp>
      <p:sp>
        <p:nvSpPr>
          <p:cNvPr id="49" name="Shape 46"/>
          <p:cNvSpPr/>
          <p:nvPr/>
        </p:nvSpPr>
        <p:spPr>
          <a:xfrm>
            <a:off x="1047750" y="6096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50" name="Text 47"/>
          <p:cNvSpPr/>
          <p:nvPr/>
        </p:nvSpPr>
        <p:spPr>
          <a:xfrm>
            <a:off x="1428750" y="6324600"/>
            <a:ext cx="1591627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教师是这样填写的：先读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桌沿上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时常响起的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笃笃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声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</a:t>
            </a: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，再问“什么动物是这样的？”，然后才写下“啄木鸟”。</a:t>
            </a:r>
            <a:endParaRPr lang="en-US" sz="2325" dirty="0"/>
          </a:p>
        </p:txBody>
      </p:sp>
      <p:sp>
        <p:nvSpPr>
          <p:cNvPr id="51" name="Text 48"/>
          <p:cNvSpPr/>
          <p:nvPr/>
        </p:nvSpPr>
        <p:spPr>
          <a:xfrm>
            <a:off x="1219200" y="7976870"/>
            <a:ext cx="16103600" cy="1444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第②栏标注了“先填”，这里填写的内容，就是刚才所说的：独属于这位家人、别人家没有的细节。</a:t>
            </a:r>
            <a:endParaRPr lang="zh-CN" alt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just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先填好这一栏，再选动物才不容易偏离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所以要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先填细节，再选动物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pic>
        <p:nvPicPr>
          <p:cNvPr id="28" name="图片 27" descr="我来编童话-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65" y="2581910"/>
            <a:ext cx="7630795" cy="501523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85039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0830"/>
            <a:ext cx="7884160" cy="9785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动手练习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先填表，再与同桌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047750" y="777144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9" name="Text 15"/>
          <p:cNvSpPr/>
          <p:nvPr/>
        </p:nvSpPr>
        <p:spPr>
          <a:xfrm>
            <a:off x="1428750" y="8004175"/>
            <a:ext cx="133096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6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倾听的同学：</a:t>
            </a:r>
            <a:r>
              <a:rPr lang="en-US" sz="26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反馈两处细节中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哪一处最契合</a:t>
            </a:r>
            <a:r>
              <a:rPr lang="en-US" sz="260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；认为哪处不贴切，直接指出。</a:t>
            </a:r>
            <a:endParaRPr lang="en-US" sz="2600" dirty="0">
              <a:solidFill>
                <a:srgbClr val="2C3A54"/>
              </a:solidFill>
              <a:highlight>
                <a:srgbClr val="DCE6F5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428750" y="8939530"/>
            <a:ext cx="102965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只写得出一位</a:t>
            </a:r>
            <a:r>
              <a:rPr lang="zh-CN" alt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家人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？想一想：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他不在家时，家里谁和他差别最大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6"/>
          <p:cNvSpPr/>
          <p:nvPr>
            <p:custDataLst>
              <p:tags r:id="rId4"/>
            </p:custDataLst>
          </p:nvPr>
        </p:nvSpPr>
        <p:spPr>
          <a:xfrm>
            <a:off x="9218930" y="3258185"/>
            <a:ext cx="8636000" cy="10871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</a:t>
            </a: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第②栏先填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，那一处独属于他的细节；填不满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三行也没有关系，能填写两位家人就很好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8"/>
          <p:cNvSpPr/>
          <p:nvPr>
            <p:custDataLst>
              <p:tags r:id="rId5"/>
            </p:custDataLst>
          </p:nvPr>
        </p:nvSpPr>
        <p:spPr>
          <a:xfrm>
            <a:off x="9218930" y="4779010"/>
            <a:ext cx="8353425" cy="10109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选好动物后自查：这个举动，</a:t>
            </a: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蜜蜂（熊、猴子）能做</a:t>
            </a:r>
            <a:endParaRPr lang="zh-CN" altLang="en-US" sz="2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到吗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10"/>
          <p:cNvSpPr/>
          <p:nvPr>
            <p:custDataLst>
              <p:tags r:id="rId6"/>
            </p:custDataLst>
          </p:nvPr>
        </p:nvSpPr>
        <p:spPr>
          <a:xfrm>
            <a:off x="9218930" y="6283960"/>
            <a:ext cx="7787640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同桌交流：像什么动物，依据哪两处细节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5"/>
          <p:cNvSpPr/>
          <p:nvPr>
            <p:custDataLst>
              <p:tags r:id="rId7"/>
            </p:custDataLst>
          </p:nvPr>
        </p:nvSpPr>
        <p:spPr>
          <a:xfrm>
            <a:off x="8620760" y="329501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8"/>
            </p:custDataLst>
          </p:nvPr>
        </p:nvSpPr>
        <p:spPr>
          <a:xfrm>
            <a:off x="8620760" y="325818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9"/>
            </p:custDataLst>
          </p:nvPr>
        </p:nvSpPr>
        <p:spPr>
          <a:xfrm>
            <a:off x="8620760" y="479171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10"/>
            </p:custDataLst>
          </p:nvPr>
        </p:nvSpPr>
        <p:spPr>
          <a:xfrm>
            <a:off x="8620760" y="475488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11"/>
            </p:custDataLst>
          </p:nvPr>
        </p:nvSpPr>
        <p:spPr>
          <a:xfrm>
            <a:off x="8620125" y="631888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2"/>
            </p:custDataLst>
          </p:nvPr>
        </p:nvSpPr>
        <p:spPr>
          <a:xfrm>
            <a:off x="8620125" y="628205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5304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5595"/>
            <a:ext cx="8902065" cy="797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先看骨架：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文章是怎样搭建的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716530"/>
            <a:ext cx="16192500" cy="4476750"/>
          </a:xfrm>
          <a:prstGeom prst="roundRect">
            <a:avLst>
              <a:gd name="adj" fmla="val 2979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72605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62075" y="2897505"/>
            <a:ext cx="213741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3724275" y="272605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4038600" y="2897505"/>
            <a:ext cx="13292519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</a:t>
            </a: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endParaRPr lang="zh-CN" altLang="en-US" sz="22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57275" y="3449955"/>
            <a:ext cx="16173450" cy="67627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362075" y="3611880"/>
            <a:ext cx="213741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 · 总起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3724275" y="3449955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4038600" y="3611880"/>
            <a:ext cx="1329251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我家连我一共四口人。我常常觉得，我们家就像一个小小的“动物园”。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057275" y="4126230"/>
            <a:ext cx="16173450" cy="6762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>
            <p:custDataLst>
              <p:tags r:id="rId3"/>
            </p:custDataLst>
          </p:nvPr>
        </p:nvSpPr>
        <p:spPr>
          <a:xfrm>
            <a:off x="1362075" y="4288155"/>
            <a:ext cx="213741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第一段段头</a:t>
            </a:r>
            <a:endParaRPr lang="en-US" sz="2100" dirty="0"/>
          </a:p>
        </p:txBody>
      </p:sp>
      <p:sp>
        <p:nvSpPr>
          <p:cNvPr id="19" name="Shape 16"/>
          <p:cNvSpPr/>
          <p:nvPr>
            <p:custDataLst>
              <p:tags r:id="rId4"/>
            </p:custDataLst>
          </p:nvPr>
        </p:nvSpPr>
        <p:spPr>
          <a:xfrm>
            <a:off x="3724275" y="4126230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0" name="Text 17"/>
          <p:cNvSpPr/>
          <p:nvPr>
            <p:custDataLst>
              <p:tags r:id="rId5"/>
            </p:custDataLst>
          </p:nvPr>
        </p:nvSpPr>
        <p:spPr>
          <a:xfrm>
            <a:off x="4038600" y="4288155"/>
            <a:ext cx="1329251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我妈妈是园子里的一只 </a:t>
            </a: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啄木鸟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057275" y="4802505"/>
            <a:ext cx="16173450" cy="67627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2" name="Text 19"/>
          <p:cNvSpPr/>
          <p:nvPr>
            <p:custDataLst>
              <p:tags r:id="rId6"/>
            </p:custDataLst>
          </p:nvPr>
        </p:nvSpPr>
        <p:spPr>
          <a:xfrm>
            <a:off x="1362075" y="4964430"/>
            <a:ext cx="213741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第二段段头</a:t>
            </a:r>
            <a:endParaRPr lang="en-US" sz="2100" dirty="0"/>
          </a:p>
        </p:txBody>
      </p:sp>
      <p:sp>
        <p:nvSpPr>
          <p:cNvPr id="23" name="Shape 20"/>
          <p:cNvSpPr/>
          <p:nvPr>
            <p:custDataLst>
              <p:tags r:id="rId7"/>
            </p:custDataLst>
          </p:nvPr>
        </p:nvSpPr>
        <p:spPr>
          <a:xfrm>
            <a:off x="3724275" y="4802505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>
            <p:custDataLst>
              <p:tags r:id="rId8"/>
            </p:custDataLst>
          </p:nvPr>
        </p:nvSpPr>
        <p:spPr>
          <a:xfrm>
            <a:off x="4038600" y="4964430"/>
            <a:ext cx="1329251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说完了妈妈，再说说我爸爸。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他是我家的一只 </a:t>
            </a: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猫头鹰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057275" y="5478780"/>
            <a:ext cx="16173450" cy="6762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" name="Text 23"/>
          <p:cNvSpPr/>
          <p:nvPr>
            <p:custDataLst>
              <p:tags r:id="rId9"/>
            </p:custDataLst>
          </p:nvPr>
        </p:nvSpPr>
        <p:spPr>
          <a:xfrm>
            <a:off x="1362075" y="5640705"/>
            <a:ext cx="213741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第三段段头</a:t>
            </a:r>
            <a:endParaRPr lang="en-US" sz="2100" dirty="0"/>
          </a:p>
        </p:txBody>
      </p:sp>
      <p:sp>
        <p:nvSpPr>
          <p:cNvPr id="27" name="Shape 24"/>
          <p:cNvSpPr/>
          <p:nvPr>
            <p:custDataLst>
              <p:tags r:id="rId10"/>
            </p:custDataLst>
          </p:nvPr>
        </p:nvSpPr>
        <p:spPr>
          <a:xfrm>
            <a:off x="3724275" y="5478780"/>
            <a:ext cx="9525" cy="6762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>
            <p:custDataLst>
              <p:tags r:id="rId11"/>
            </p:custDataLst>
          </p:nvPr>
        </p:nvSpPr>
        <p:spPr>
          <a:xfrm>
            <a:off x="4038600" y="5640705"/>
            <a:ext cx="1329251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“动物园”里还有一只 </a:t>
            </a: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仓鼠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，那就是我弟弟。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057275" y="6155055"/>
            <a:ext cx="16173450" cy="102870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62075" y="6316980"/>
            <a:ext cx="2137410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 · 汇总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3724275" y="6155055"/>
            <a:ext cx="9525" cy="102870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4038600" y="6316980"/>
            <a:ext cx="13292455" cy="862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这就是我家的“动物园”……天天吵吵闹闹，却藏着满满的温暖。一放学，我总想快步奔向这个特别的</a:t>
            </a:r>
            <a:endParaRPr lang="en-US" sz="21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“动物园”。</a:t>
            </a:r>
            <a:endParaRPr lang="en-US" sz="21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047750" y="7763827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1383030" y="7931467"/>
            <a:ext cx="15916275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三位家人，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一人一段</a:t>
            </a: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；段首点明动物；</a:t>
            </a:r>
            <a:r>
              <a:rPr lang="en-US" sz="28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绿色的句子是过渡</a:t>
            </a:r>
            <a:r>
              <a:rPr lang="zh-CN" altLang="en-US" sz="28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</a:t>
            </a: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，简短一句</a:t>
            </a:r>
            <a:r>
              <a:rPr lang="zh-CN" alt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r>
              <a:rPr lang="en-US" sz="28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，自然切换描写对象。</a:t>
            </a:r>
            <a:endParaRPr lang="en-US" sz="28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383030" y="8934450"/>
            <a:ext cx="1422463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开头总起，结尾汇总三种动物、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抒发对家的感受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。骨架看完了，还要补上血肉。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7959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562100"/>
            <a:ext cx="9026525" cy="6515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表上的几个词语，变成了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一篇“动物园”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566670"/>
            <a:ext cx="16192500" cy="6342380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154430" y="8992870"/>
            <a:ext cx="28797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长相上相符的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02405" y="8992870"/>
            <a:ext cx="300736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做事时的样子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03390" y="8992870"/>
            <a:ext cx="227901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原话 · 声音</a:t>
            </a:r>
            <a:endParaRPr lang="en-US" sz="2400" b="1" dirty="0">
              <a:solidFill>
                <a:srgbClr val="2F72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082405" y="8992870"/>
            <a:ext cx="187388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过渡句</a:t>
            </a:r>
            <a:endParaRPr lang="en-US" sz="2400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36040" y="2697480"/>
            <a:ext cx="1429512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我家连我一共四口人。我常常觉得，我们家就像一个小小的“动物园”。</a:t>
            </a:r>
            <a:endParaRPr lang="zh-CN" altLang="en-US" sz="2400" b="1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36040" y="3318510"/>
            <a:ext cx="15951200" cy="1714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我妈妈是园子里的一只啄木鸟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她手指很细，指甲剪得短短的，说话的时候总爱把食指翘起来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。她走过我的书桌，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从来不说话，</a:t>
            </a: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只用指关节在桌沿上敲两下——笃、笃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。我一听见就把腰挺直，笔尖落回本子上。有一回我写着写着走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了神，抬头一看，</a:t>
            </a: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她不知什么时候已经站在我身后，那根啄木鸟的手指又抬起来了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。她说话也是这么一顿一顿的：</a:t>
            </a:r>
            <a:r>
              <a:rPr lang="zh-CN" altLang="en-US" sz="24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饭，</a:t>
            </a:r>
            <a:endParaRPr lang="zh-CN" altLang="en-US" sz="2400" b="1" spc="-70">
              <a:solidFill>
                <a:schemeClr val="accent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吃完了，再看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36040" y="5205730"/>
            <a:ext cx="15841980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 spc="-70">
                <a:solidFill>
                  <a:schemeClr val="accent4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说完了妈妈，再说说我爸爸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r>
              <a:rPr lang="zh-CN" altLang="en-US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他是我家的一只猫头鹰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他眼睛很大，底下挂着两个眼袋，白天看着总没睡醒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。他总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习惯在夜深的时候忙自己的事。有一回，已经到了睡觉的时间，我踮着脚尖，悄悄溜到厨房想去拿酸奶，</a:t>
            </a: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他背对着厨房</a:t>
            </a:r>
            <a:endParaRPr lang="zh-CN" altLang="en-US" sz="2400" b="1" spc="-70">
              <a:solidFill>
                <a:schemeClr val="accent6">
                  <a:lumMod val="7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门坐在电脑前，头也没回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，只说了一句：</a:t>
            </a:r>
            <a:r>
              <a:rPr lang="zh-CN" altLang="en-US" sz="2400" b="1" spc="-70">
                <a:solidFill>
                  <a:schemeClr val="accent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“放回去，刷过牙不能再喝了。”</a:t>
            </a:r>
            <a:endParaRPr lang="zh-CN" altLang="en-US" sz="2400" b="1" spc="-70">
              <a:solidFill>
                <a:schemeClr val="accent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336040" y="7756525"/>
            <a:ext cx="1588960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这就是我家的“动物园”：一只走过来就敲两下的啄木鸟，一只夜里格外精神的猫头鹰，一只把饼干藏进抽屉的仓</a:t>
            </a:r>
            <a:endParaRPr lang="zh-CN" altLang="en-US" sz="2400" b="1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鼠。天天吵吵闹闹，却藏着满满的温暖。一放学，我总想快步奔向这个特别的“动物园”。</a:t>
            </a:r>
            <a:endParaRPr lang="zh-CN" altLang="en-US" sz="2400" b="1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36040" y="6689090"/>
            <a:ext cx="1587500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 b="1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“动物园”里还有一只仓鼠，那就是我弟弟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r>
              <a:rPr lang="zh-CN" altLang="en-US" sz="2400" b="1" spc="-70">
                <a:solidFill>
                  <a:srgbClr val="C00000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他脸圆，一吃东西两边腮帮子就鼓起来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塞得满满的也不咽，含在嘴</a:t>
            </a:r>
            <a:endParaRPr lang="zh-CN" altLang="en-US" sz="2400" b="1" spc="-70">
              <a:solidFill>
                <a:schemeClr val="accent6">
                  <a:lumMod val="7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里满屋子跑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。他的抽屉不许别人开。上星期我找橡皮，拉开一条缝，</a:t>
            </a:r>
            <a:r>
              <a:rPr lang="zh-CN" altLang="en-US" sz="2400" b="1" spc="-70">
                <a:solidFill>
                  <a:schemeClr val="accent6">
                    <a:lumMod val="7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最里头压着一袋饼干，是他藏着的</a:t>
            </a:r>
            <a:r>
              <a:rPr lang="zh-CN" altLang="en-US" sz="2400" spc="-7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 spc="-7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1" grpId="0"/>
      <p:bldP spid="19" grpId="0"/>
      <p:bldP spid="23" grpId="0"/>
      <p:bldP spid="28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5" name="图片 4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56273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466850" y="1541780"/>
            <a:ext cx="6627495" cy="7334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每一句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话都有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具体的作用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743200"/>
            <a:ext cx="16192500" cy="5772150"/>
          </a:xfrm>
          <a:prstGeom prst="roundRect">
            <a:avLst>
              <a:gd name="adj" fmla="val 219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752725"/>
            <a:ext cx="16173450" cy="695325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62075" y="2914650"/>
            <a:ext cx="996638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8058150" y="2752725"/>
            <a:ext cx="9525" cy="69532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8416925" y="2914650"/>
            <a:ext cx="546354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这一句的作用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57275" y="3448050"/>
            <a:ext cx="16173450" cy="62865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362075" y="3590925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我们家就像一个小小的“动物园”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8058150" y="3448050"/>
            <a:ext cx="9525" cy="628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8416925" y="3590925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开头一句总起，先点出“动物园”这一比喻</a:t>
            </a:r>
            <a:endParaRPr lang="en-US" sz="2025" dirty="0"/>
          </a:p>
        </p:txBody>
      </p:sp>
      <p:sp>
        <p:nvSpPr>
          <p:cNvPr id="17" name="Shape 14"/>
          <p:cNvSpPr/>
          <p:nvPr/>
        </p:nvSpPr>
        <p:spPr>
          <a:xfrm>
            <a:off x="1057275" y="4076700"/>
            <a:ext cx="16173450" cy="6286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62075" y="4219575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我妈妈是园子里的一只啄木鸟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8058150" y="4076700"/>
            <a:ext cx="9525" cy="628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8416925" y="4219575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段首点明像什么动物，一位家人单独成段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1057275" y="4705350"/>
            <a:ext cx="16173450" cy="62865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1362075" y="4848225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她手指很细，说话的时候爱把食指翘起来</a:t>
            </a:r>
            <a:endParaRPr lang="en-US" sz="2025" dirty="0"/>
          </a:p>
        </p:txBody>
      </p:sp>
      <p:sp>
        <p:nvSpPr>
          <p:cNvPr id="23" name="Shape 20"/>
          <p:cNvSpPr/>
          <p:nvPr/>
        </p:nvSpPr>
        <p:spPr>
          <a:xfrm>
            <a:off x="8058150" y="4705350"/>
            <a:ext cx="9525" cy="628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8416925" y="4848225"/>
            <a:ext cx="7838440" cy="3803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长相与标志性动作：手指细如尖喙，一翘起就是在提醒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1057275" y="5334000"/>
            <a:ext cx="16173450" cy="9715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362075" y="5476875"/>
            <a:ext cx="9966389" cy="723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只用指关节在桌沿上敲两下——笃、笃</a:t>
            </a:r>
            <a:endParaRPr lang="en-US" sz="2025" dirty="0"/>
          </a:p>
        </p:txBody>
      </p:sp>
      <p:sp>
        <p:nvSpPr>
          <p:cNvPr id="27" name="Shape 24"/>
          <p:cNvSpPr/>
          <p:nvPr/>
        </p:nvSpPr>
        <p:spPr>
          <a:xfrm>
            <a:off x="8058150" y="5334000"/>
            <a:ext cx="9525" cy="9715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8416925" y="5476875"/>
            <a:ext cx="7447915" cy="723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不笼统写“她很严格”，借敲击声写出她时常提醒我</a:t>
            </a:r>
            <a:endParaRPr lang="en-US" sz="2025" dirty="0"/>
          </a:p>
        </p:txBody>
      </p:sp>
      <p:sp>
        <p:nvSpPr>
          <p:cNvPr id="29" name="Shape 26"/>
          <p:cNvSpPr/>
          <p:nvPr/>
        </p:nvSpPr>
        <p:spPr>
          <a:xfrm>
            <a:off x="1057275" y="6000750"/>
            <a:ext cx="16173450" cy="62865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62075" y="6143625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抬头一看，她不知什么时候已经站在我身后</a:t>
            </a:r>
            <a:endParaRPr lang="en-US" sz="2025" dirty="0"/>
          </a:p>
        </p:txBody>
      </p:sp>
      <p:sp>
        <p:nvSpPr>
          <p:cNvPr id="31" name="Shape 28"/>
          <p:cNvSpPr/>
          <p:nvPr/>
        </p:nvSpPr>
        <p:spPr>
          <a:xfrm>
            <a:off x="8058150" y="6000750"/>
            <a:ext cx="9525" cy="628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8416925" y="6143625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独属于</a:t>
            </a:r>
            <a:r>
              <a:rPr lang="zh-CN" alt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妈妈</a:t>
            </a:r>
            <a:r>
              <a:rPr 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的画面，让读者如临其境</a:t>
            </a:r>
            <a:endParaRPr lang="en-US" sz="2025" dirty="0"/>
          </a:p>
        </p:txBody>
      </p:sp>
      <p:sp>
        <p:nvSpPr>
          <p:cNvPr id="33" name="Shape 30"/>
          <p:cNvSpPr/>
          <p:nvPr/>
        </p:nvSpPr>
        <p:spPr>
          <a:xfrm>
            <a:off x="1057275" y="6629400"/>
            <a:ext cx="16173450" cy="6286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1362075" y="6772275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饭，吃完了，再看</a:t>
            </a:r>
            <a:endParaRPr lang="en-US" sz="2025" dirty="0"/>
          </a:p>
        </p:txBody>
      </p:sp>
      <p:sp>
        <p:nvSpPr>
          <p:cNvPr id="35" name="Shape 32"/>
          <p:cNvSpPr/>
          <p:nvPr/>
        </p:nvSpPr>
        <p:spPr>
          <a:xfrm>
            <a:off x="8058150" y="6629400"/>
            <a:ext cx="9525" cy="628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8416925" y="6772275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直接引用原话，把说话一顿一顿的样子写真切</a:t>
            </a:r>
            <a:endParaRPr lang="en-US" sz="2025" dirty="0"/>
          </a:p>
        </p:txBody>
      </p:sp>
      <p:sp>
        <p:nvSpPr>
          <p:cNvPr id="37" name="Shape 34"/>
          <p:cNvSpPr/>
          <p:nvPr/>
        </p:nvSpPr>
        <p:spPr>
          <a:xfrm>
            <a:off x="1057275" y="7258050"/>
            <a:ext cx="16173450" cy="628650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8" name="Text 35"/>
          <p:cNvSpPr/>
          <p:nvPr/>
        </p:nvSpPr>
        <p:spPr>
          <a:xfrm>
            <a:off x="1362075" y="7400925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说完了妈妈，再说说我爸爸</a:t>
            </a:r>
            <a:endParaRPr lang="en-US" sz="2025" dirty="0"/>
          </a:p>
        </p:txBody>
      </p:sp>
      <p:sp>
        <p:nvSpPr>
          <p:cNvPr id="39" name="Shape 36"/>
          <p:cNvSpPr/>
          <p:nvPr/>
        </p:nvSpPr>
        <p:spPr>
          <a:xfrm>
            <a:off x="8058150" y="7258050"/>
            <a:ext cx="9525" cy="628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0" name="Text 37"/>
          <p:cNvSpPr/>
          <p:nvPr/>
        </p:nvSpPr>
        <p:spPr>
          <a:xfrm>
            <a:off x="8416925" y="7400925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段落间简短过渡，自然切换描写对象</a:t>
            </a:r>
            <a:endParaRPr lang="en-US" sz="2025" dirty="0"/>
          </a:p>
        </p:txBody>
      </p:sp>
      <p:sp>
        <p:nvSpPr>
          <p:cNvPr id="41" name="Shape 38"/>
          <p:cNvSpPr/>
          <p:nvPr/>
        </p:nvSpPr>
        <p:spPr>
          <a:xfrm>
            <a:off x="1057275" y="7886700"/>
            <a:ext cx="16173450" cy="6286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2" name="Text 39"/>
          <p:cNvSpPr/>
          <p:nvPr/>
        </p:nvSpPr>
        <p:spPr>
          <a:xfrm>
            <a:off x="1362075" y="8029575"/>
            <a:ext cx="996638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这就是我家的“动物园”……</a:t>
            </a:r>
            <a:endParaRPr lang="en-US" sz="2025" dirty="0"/>
          </a:p>
        </p:txBody>
      </p:sp>
      <p:sp>
        <p:nvSpPr>
          <p:cNvPr id="43" name="Shape 40"/>
          <p:cNvSpPr/>
          <p:nvPr/>
        </p:nvSpPr>
        <p:spPr>
          <a:xfrm>
            <a:off x="8058150" y="7886700"/>
            <a:ext cx="9525" cy="628650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4" name="Text 41"/>
          <p:cNvSpPr/>
          <p:nvPr/>
        </p:nvSpPr>
        <p:spPr>
          <a:xfrm>
            <a:off x="8416925" y="8029575"/>
            <a:ext cx="546354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结尾汇总几种动物，抒发对家的感受</a:t>
            </a:r>
            <a:endParaRPr lang="en-US" sz="2025" dirty="0"/>
          </a:p>
        </p:txBody>
      </p:sp>
      <p:sp>
        <p:nvSpPr>
          <p:cNvPr id="45" name="Text 42"/>
          <p:cNvSpPr/>
          <p:nvPr/>
        </p:nvSpPr>
        <p:spPr>
          <a:xfrm>
            <a:off x="1047750" y="9027795"/>
            <a:ext cx="12287885" cy="6121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啄木鸟、猫头鹰、仓鼠只适合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范文中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这一家人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写出与范文不同的内容，才更可贵。</a:t>
            </a:r>
            <a:endParaRPr lang="zh-CN" alt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1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79686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看表写句子 · 自由写作 · “动物园”开放日 · 修改收束</a:t>
            </a:r>
            <a:endParaRPr lang="en-US" sz="2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5201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862076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对照表格：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跟着写下第一组句子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47750" y="28575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009650" y="300990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段首句</a:t>
            </a:r>
            <a:endParaRPr lang="en-US" sz="225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2647950" y="2811145"/>
            <a:ext cx="12898755" cy="9099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第①栏 + 第③栏连成一句</a:t>
            </a:r>
            <a:endParaRPr lang="en-US" sz="23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3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如“我妈妈是我家的一只啄木鸟”。</a:t>
            </a:r>
            <a:r>
              <a:rPr lang="zh-CN" altLang="en-US" sz="23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仿照这种方式，把你的内容连成一句话，写在段落开头</a:t>
            </a:r>
            <a:endParaRPr lang="zh-CN" altLang="en-US" sz="2300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1047750" y="387858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1009650" y="403098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第一句</a:t>
            </a:r>
            <a:endParaRPr lang="en-US" sz="2250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2647950" y="3999865"/>
            <a:ext cx="13928725" cy="501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他做这件事的时候，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有什么具体动作，例如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手上在做什么，脚下在做什么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？写下来</a:t>
            </a:r>
            <a:endParaRPr lang="en-US" sz="2400" dirty="0"/>
          </a:p>
        </p:txBody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1047750" y="489966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1009650" y="505206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第二句</a:t>
            </a:r>
            <a:endParaRPr lang="en-US" sz="225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2647950" y="5020945"/>
            <a:ext cx="12291060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当时他是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什么神情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？写外貌的，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刻画颜色、模样和与别人不同之处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4"/>
          <p:cNvSpPr/>
          <p:nvPr>
            <p:custDataLst>
              <p:tags r:id="rId12"/>
            </p:custDataLst>
          </p:nvPr>
        </p:nvSpPr>
        <p:spPr>
          <a:xfrm>
            <a:off x="1047750" y="59055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1009650" y="605790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第三句</a:t>
            </a:r>
            <a:endParaRPr lang="en-US" sz="2250" dirty="0"/>
          </a:p>
        </p:txBody>
      </p:sp>
      <p:sp>
        <p:nvSpPr>
          <p:cNvPr id="19" name="Text 16"/>
          <p:cNvSpPr/>
          <p:nvPr>
            <p:custDataLst>
              <p:tags r:id="rId14"/>
            </p:custDataLst>
          </p:nvPr>
        </p:nvSpPr>
        <p:spPr>
          <a:xfrm>
            <a:off x="2647950" y="6026785"/>
            <a:ext cx="964628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说过什么话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，或者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发出过什么声音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？尽量还原原话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47750" y="7162800"/>
            <a:ext cx="1640459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21" name="Text 18"/>
          <p:cNvSpPr/>
          <p:nvPr/>
        </p:nvSpPr>
        <p:spPr>
          <a:xfrm>
            <a:off x="1409700" y="7391400"/>
            <a:ext cx="15954375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细节是行为举动</a:t>
            </a: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225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（笃笃声、偷糖、藏饼干），就围绕这个场景展开；</a:t>
            </a:r>
            <a:r>
              <a:rPr 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是外貌特征</a:t>
            </a: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sz="225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，就回想：他做什么事的时候，这个特</a:t>
            </a:r>
            <a:endParaRPr lang="en-US" sz="2250" dirty="0">
              <a:solidFill>
                <a:srgbClr val="2C3A54"/>
              </a:solidFill>
              <a:highlight>
                <a:srgbClr val="DCE6F5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征最明显。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047750" y="8904605"/>
            <a:ext cx="1641538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回看：段首点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动物，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接下来的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三句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同一个场景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写充实；再选另一处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与动物特点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契合的细节，</a:t>
            </a:r>
            <a:r>
              <a:rPr lang="zh-CN" alt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写两三行。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6" name="图片 5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30314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46225"/>
            <a:ext cx="8474710" cy="9359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写我家的“动物园”：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记住四个要点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04900" y="8367395"/>
            <a:ext cx="11874500" cy="859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写完一位再写下一位，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中间不停笔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；先完整写完，不必停下修改字词。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12676505" y="8791575"/>
            <a:ext cx="4563745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24" name="Text 13"/>
          <p:cNvSpPr/>
          <p:nvPr/>
        </p:nvSpPr>
        <p:spPr>
          <a:xfrm>
            <a:off x="12980035" y="8982075"/>
            <a:ext cx="398907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18 分钟</a:t>
            </a:r>
            <a:endParaRPr lang="en-US" sz="2850" dirty="0"/>
          </a:p>
        </p:txBody>
      </p:sp>
      <p:sp>
        <p:nvSpPr>
          <p:cNvPr id="2" name="Shape 5"/>
          <p:cNvSpPr/>
          <p:nvPr>
            <p:custDataLst>
              <p:tags r:id="rId3"/>
            </p:custDataLst>
          </p:nvPr>
        </p:nvSpPr>
        <p:spPr>
          <a:xfrm>
            <a:off x="1047750" y="2758440"/>
            <a:ext cx="7953375" cy="1986915"/>
          </a:xfrm>
          <a:prstGeom prst="roundRect">
            <a:avLst>
              <a:gd name="adj" fmla="val 1049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Text 6"/>
          <p:cNvSpPr/>
          <p:nvPr>
            <p:custDataLst>
              <p:tags r:id="rId4"/>
            </p:custDataLst>
          </p:nvPr>
        </p:nvSpPr>
        <p:spPr>
          <a:xfrm>
            <a:off x="1400175" y="2959100"/>
            <a:ext cx="255714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》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第一点</a:t>
            </a:r>
            <a:endParaRPr lang="zh-CN" alt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7"/>
          <p:cNvSpPr/>
          <p:nvPr>
            <p:custDataLst>
              <p:tags r:id="rId5"/>
            </p:custDataLst>
          </p:nvPr>
        </p:nvSpPr>
        <p:spPr>
          <a:xfrm>
            <a:off x="1400175" y="3608070"/>
            <a:ext cx="7973377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一位家人独立成段，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段首点明动物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段内两三处细节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方向统一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Shape 8"/>
          <p:cNvSpPr/>
          <p:nvPr>
            <p:custDataLst>
              <p:tags r:id="rId6"/>
            </p:custDataLst>
          </p:nvPr>
        </p:nvSpPr>
        <p:spPr>
          <a:xfrm>
            <a:off x="9286875" y="2758440"/>
            <a:ext cx="8050530" cy="1986915"/>
          </a:xfrm>
          <a:prstGeom prst="roundRect">
            <a:avLst>
              <a:gd name="adj" fmla="val 1049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Text 9"/>
          <p:cNvSpPr/>
          <p:nvPr>
            <p:custDataLst>
              <p:tags r:id="rId7"/>
            </p:custDataLst>
          </p:nvPr>
        </p:nvSpPr>
        <p:spPr>
          <a:xfrm>
            <a:off x="9544050" y="2995295"/>
            <a:ext cx="236982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》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第二点</a:t>
            </a:r>
            <a:endParaRPr lang="zh-CN" alt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10"/>
          <p:cNvSpPr/>
          <p:nvPr>
            <p:custDataLst>
              <p:tags r:id="rId8"/>
            </p:custDataLst>
          </p:nvPr>
        </p:nvSpPr>
        <p:spPr>
          <a:xfrm>
            <a:off x="9639300" y="3638550"/>
            <a:ext cx="7683500" cy="849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lvl="0" algn="l">
              <a:lnSpc>
                <a:spcPct val="112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段落之间使用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简短过渡句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12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如“说完了妈妈，再说说我爸爸”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8" name="Shape 11"/>
          <p:cNvSpPr/>
          <p:nvPr>
            <p:custDataLst>
              <p:tags r:id="rId9"/>
            </p:custDataLst>
          </p:nvPr>
        </p:nvSpPr>
        <p:spPr>
          <a:xfrm>
            <a:off x="1047750" y="5060950"/>
            <a:ext cx="7953375" cy="1986915"/>
          </a:xfrm>
          <a:prstGeom prst="roundRect">
            <a:avLst>
              <a:gd name="adj" fmla="val 1049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10"/>
            </p:custDataLst>
          </p:nvPr>
        </p:nvSpPr>
        <p:spPr>
          <a:xfrm>
            <a:off x="1400175" y="5312410"/>
            <a:ext cx="242252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》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第三点</a:t>
            </a:r>
            <a:endParaRPr lang="zh-CN" alt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13"/>
          <p:cNvSpPr/>
          <p:nvPr>
            <p:custDataLst>
              <p:tags r:id="rId11"/>
            </p:custDataLst>
          </p:nvPr>
        </p:nvSpPr>
        <p:spPr>
          <a:xfrm>
            <a:off x="1400175" y="5880100"/>
            <a:ext cx="7973060" cy="7689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补上开头，交代你家的“动物园”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是什么样子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Shape 14"/>
          <p:cNvSpPr/>
          <p:nvPr>
            <p:custDataLst>
              <p:tags r:id="rId12"/>
            </p:custDataLst>
          </p:nvPr>
        </p:nvSpPr>
        <p:spPr>
          <a:xfrm>
            <a:off x="9286875" y="5060950"/>
            <a:ext cx="8044180" cy="1986915"/>
          </a:xfrm>
          <a:prstGeom prst="roundRect">
            <a:avLst>
              <a:gd name="adj" fmla="val 10492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Text 15"/>
          <p:cNvSpPr/>
          <p:nvPr>
            <p:custDataLst>
              <p:tags r:id="rId13"/>
            </p:custDataLst>
          </p:nvPr>
        </p:nvSpPr>
        <p:spPr>
          <a:xfrm>
            <a:off x="9639300" y="5297170"/>
            <a:ext cx="210947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》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第四点</a:t>
            </a:r>
            <a:endParaRPr lang="zh-CN" alt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16"/>
          <p:cNvSpPr/>
          <p:nvPr>
            <p:custDataLst>
              <p:tags r:id="rId14"/>
            </p:custDataLst>
          </p:nvPr>
        </p:nvSpPr>
        <p:spPr>
          <a:xfrm>
            <a:off x="9639300" y="5880100"/>
            <a:ext cx="7973060" cy="7105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结尾写出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身处这个家的感受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12"/>
          <p:cNvSpPr/>
          <p:nvPr/>
        </p:nvSpPr>
        <p:spPr>
          <a:xfrm>
            <a:off x="12717780" y="8791575"/>
            <a:ext cx="4522470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7" name="Text 13"/>
          <p:cNvSpPr/>
          <p:nvPr/>
        </p:nvSpPr>
        <p:spPr>
          <a:xfrm>
            <a:off x="13140055" y="8982075"/>
            <a:ext cx="3829050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18 分钟</a:t>
            </a:r>
            <a:endParaRPr lang="en-US" sz="285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b="8895"/>
          <a:stretch>
            <a:fillRect/>
          </a:stretch>
        </p:blipFill>
        <p:spPr>
          <a:xfrm>
            <a:off x="1304290" y="1483995"/>
            <a:ext cx="15299690" cy="712851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2" name="图片 2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pic>
        <p:nvPicPr>
          <p:cNvPr id="24" name="图片 23" descr="续写故事-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" y="2660015"/>
            <a:ext cx="7509841" cy="5040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8978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90040"/>
            <a:ext cx="8084185" cy="8312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“动物园”开放日：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先在小组内进行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550400" y="3451225"/>
            <a:ext cx="6902450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四人一组，每人读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最有把握的那一段</a:t>
            </a:r>
            <a:endParaRPr lang="en-US" sz="26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隐去称呼，只读文字</a:t>
            </a:r>
            <a:endParaRPr lang="en-US" sz="262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550400" y="4935220"/>
            <a:ext cx="4463891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另外三位猜：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这是他家的谁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2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550400" y="6169660"/>
            <a:ext cx="6922557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猜中还不够，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句子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读出来</a:t>
            </a:r>
            <a:endParaRPr lang="en-US" sz="26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047750" y="7939087"/>
            <a:ext cx="16192500" cy="1014413"/>
          </a:xfrm>
          <a:prstGeom prst="roundRect">
            <a:avLst>
              <a:gd name="adj" fmla="val 16901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Text 15"/>
          <p:cNvSpPr/>
          <p:nvPr/>
        </p:nvSpPr>
        <p:spPr>
          <a:xfrm>
            <a:off x="1466850" y="8163560"/>
            <a:ext cx="7314565" cy="673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能读出关键句子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，这一段就写成</a:t>
            </a:r>
            <a:r>
              <a:rPr lang="zh-CN" alt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</a:t>
            </a:r>
            <a:r>
              <a:rPr lang="en-US" sz="28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了。</a:t>
            </a:r>
            <a:endParaRPr lang="en-US" sz="28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466850" y="9144000"/>
            <a:ext cx="8095615" cy="6426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接下来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每组推选一位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，准备读给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全班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5"/>
          <p:cNvSpPr/>
          <p:nvPr>
            <p:custDataLst>
              <p:tags r:id="rId4"/>
            </p:custDataLst>
          </p:nvPr>
        </p:nvSpPr>
        <p:spPr>
          <a:xfrm>
            <a:off x="8860790" y="350266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5"/>
            </p:custDataLst>
          </p:nvPr>
        </p:nvSpPr>
        <p:spPr>
          <a:xfrm>
            <a:off x="8860790" y="346583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6"/>
            </p:custDataLst>
          </p:nvPr>
        </p:nvSpPr>
        <p:spPr>
          <a:xfrm>
            <a:off x="8860790" y="495363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7"/>
            </p:custDataLst>
          </p:nvPr>
        </p:nvSpPr>
        <p:spPr>
          <a:xfrm>
            <a:off x="8860790" y="491680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8"/>
            </p:custDataLst>
          </p:nvPr>
        </p:nvSpPr>
        <p:spPr>
          <a:xfrm>
            <a:off x="8860155" y="617601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1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9"/>
            </p:custDataLst>
          </p:nvPr>
        </p:nvSpPr>
        <p:spPr>
          <a:xfrm>
            <a:off x="8860155" y="613918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1047750" y="2815590"/>
            <a:ext cx="9000000" cy="3060065"/>
          </a:xfrm>
          <a:prstGeom prst="roundRect">
            <a:avLst>
              <a:gd name="adj" fmla="val 4986"/>
            </a:avLst>
          </a:prstGeom>
          <a:solidFill>
            <a:srgbClr val="FDEED7"/>
          </a:solidFill>
        </p:spPr>
        <p:txBody>
          <a:bodyPr/>
          <a:lstStyle/>
          <a:p/>
        </p:txBody>
      </p:sp>
      <p:sp>
        <p:nvSpPr>
          <p:cNvPr id="16" name="Shape 13"/>
          <p:cNvSpPr/>
          <p:nvPr/>
        </p:nvSpPr>
        <p:spPr>
          <a:xfrm>
            <a:off x="1047750" y="6268720"/>
            <a:ext cx="9000000" cy="3060065"/>
          </a:xfrm>
          <a:prstGeom prst="roundRect">
            <a:avLst>
              <a:gd name="adj" fmla="val 4986"/>
            </a:avLst>
          </a:prstGeom>
          <a:solidFill>
            <a:srgbClr val="FDEED7"/>
          </a:solidFill>
        </p:spPr>
        <p:txBody>
          <a:bodyPr/>
          <a:lstStyle/>
          <a:p/>
        </p:txBody>
      </p:sp>
      <p:sp>
        <p:nvSpPr>
          <p:cNvPr id="42" name="Shape 3"/>
          <p:cNvSpPr/>
          <p:nvPr/>
        </p:nvSpPr>
        <p:spPr>
          <a:xfrm>
            <a:off x="1047750" y="1398270"/>
            <a:ext cx="8999220" cy="82804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78828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pic>
        <p:nvPicPr>
          <p:cNvPr id="22" name="图片 21" descr="我来编童话-23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775" y="3008630"/>
            <a:ext cx="8150225" cy="63176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70330" y="1515745"/>
            <a:ext cx="7943215" cy="8318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读给全班听，再与同桌</a:t>
            </a:r>
            <a:r>
              <a:rPr lang="zh-CN" altLang="en-US" sz="32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互找亮点句子</a:t>
            </a:r>
            <a:endParaRPr lang="zh-CN" altLang="en-US" sz="32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66850" y="3069590"/>
            <a:ext cx="6372860" cy="53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9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全班猜读 · 两位代表依次朗读</a:t>
            </a:r>
            <a:endParaRPr lang="zh-CN" altLang="en-US" sz="29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66850" y="6617335"/>
            <a:ext cx="8367395" cy="53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9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同桌互找亮点 · 只读描写第一位家人的段落</a:t>
            </a:r>
            <a:endParaRPr lang="zh-CN" altLang="en-US" sz="29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71295" y="3832860"/>
            <a:ext cx="7579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隐去称呼，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朗读片段</a:t>
            </a:r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71295" y="4497705"/>
            <a:ext cx="7579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同学猜测人物，并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读出支撑判断的那句话</a:t>
            </a:r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71295" y="5162550"/>
            <a:ext cx="7579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读不出来，说明这一段还缺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独属于这位家人的特点</a:t>
            </a:r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471295" y="7432040"/>
            <a:ext cx="8312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最能表现这位家人特点的那一句话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，指给他看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471295" y="8084820"/>
            <a:ext cx="85718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▶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问一问：你写的这两三处细节，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是不是都与对应的</a:t>
            </a:r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动物特点相契合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9810750" y="2872740"/>
            <a:ext cx="40259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三点自查，逐一调整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44030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6060" y="1590040"/>
            <a:ext cx="7648575" cy="9772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三档标准 + 三点自查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47750" y="8837930"/>
            <a:ext cx="12272010" cy="5676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检查文字，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圈出多余词句、补上漏写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、订正错别字。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047750" y="2872740"/>
            <a:ext cx="611441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对照三档标准，看自己达到哪一档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1047750" y="3543300"/>
            <a:ext cx="7810500" cy="1260000"/>
          </a:xfrm>
          <a:prstGeom prst="roundRect">
            <a:avLst>
              <a:gd name="adj" fmla="val 11821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0" name="Shape 7"/>
          <p:cNvSpPr/>
          <p:nvPr/>
        </p:nvSpPr>
        <p:spPr>
          <a:xfrm>
            <a:off x="1047750" y="3543300"/>
            <a:ext cx="76200" cy="1260000"/>
          </a:xfrm>
          <a:prstGeom prst="rect">
            <a:avLst/>
          </a:prstGeom>
          <a:solidFill>
            <a:srgbClr val="9AA6B6"/>
          </a:solidFill>
        </p:spPr>
        <p:txBody>
          <a:bodyPr/>
          <a:lstStyle/>
          <a:p/>
        </p:txBody>
      </p:sp>
      <p:sp>
        <p:nvSpPr>
          <p:cNvPr id="32" name="Shape 9"/>
          <p:cNvSpPr/>
          <p:nvPr/>
        </p:nvSpPr>
        <p:spPr>
          <a:xfrm>
            <a:off x="1047750" y="4992945"/>
            <a:ext cx="7810500" cy="1260000"/>
          </a:xfrm>
          <a:prstGeom prst="roundRect">
            <a:avLst>
              <a:gd name="adj" fmla="val 7988"/>
            </a:avLst>
          </a:prstGeom>
          <a:solidFill>
            <a:srgbClr val="FBF3E6"/>
          </a:solidFill>
        </p:spPr>
        <p:txBody>
          <a:bodyPr/>
          <a:lstStyle/>
          <a:p/>
        </p:txBody>
      </p:sp>
      <p:sp>
        <p:nvSpPr>
          <p:cNvPr id="33" name="Shape 10"/>
          <p:cNvSpPr/>
          <p:nvPr/>
        </p:nvSpPr>
        <p:spPr>
          <a:xfrm>
            <a:off x="1047750" y="4992945"/>
            <a:ext cx="76200" cy="1260000"/>
          </a:xfrm>
          <a:prstGeom prst="rect">
            <a:avLst/>
          </a:prstGeom>
          <a:solidFill>
            <a:srgbClr val="E0A43B"/>
          </a:solidFill>
        </p:spPr>
        <p:txBody>
          <a:bodyPr/>
          <a:lstStyle/>
          <a:p/>
        </p:txBody>
      </p:sp>
      <p:sp>
        <p:nvSpPr>
          <p:cNvPr id="35" name="Shape 12"/>
          <p:cNvSpPr/>
          <p:nvPr/>
        </p:nvSpPr>
        <p:spPr>
          <a:xfrm>
            <a:off x="1047750" y="6478726"/>
            <a:ext cx="7810500" cy="1260000"/>
          </a:xfrm>
          <a:prstGeom prst="roundRect">
            <a:avLst>
              <a:gd name="adj" fmla="val 11821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36" name="Shape 13"/>
          <p:cNvSpPr/>
          <p:nvPr/>
        </p:nvSpPr>
        <p:spPr>
          <a:xfrm>
            <a:off x="1047750" y="6478726"/>
            <a:ext cx="76200" cy="12600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39" name="Shape 16"/>
          <p:cNvSpPr/>
          <p:nvPr/>
        </p:nvSpPr>
        <p:spPr>
          <a:xfrm>
            <a:off x="9627870" y="3543300"/>
            <a:ext cx="7577455" cy="1259840"/>
          </a:xfrm>
          <a:prstGeom prst="roundRect">
            <a:avLst>
              <a:gd name="adj" fmla="val 15802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41" name="Shape 18"/>
          <p:cNvSpPr/>
          <p:nvPr/>
        </p:nvSpPr>
        <p:spPr>
          <a:xfrm>
            <a:off x="9627870" y="4993005"/>
            <a:ext cx="7577455" cy="1259840"/>
          </a:xfrm>
          <a:prstGeom prst="roundRect">
            <a:avLst>
              <a:gd name="adj" fmla="val 10837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43" name="Shape 20"/>
          <p:cNvSpPr/>
          <p:nvPr/>
        </p:nvSpPr>
        <p:spPr>
          <a:xfrm>
            <a:off x="9627870" y="6478726"/>
            <a:ext cx="7577455" cy="1259840"/>
          </a:xfrm>
          <a:prstGeom prst="roundRect">
            <a:avLst>
              <a:gd name="adj" fmla="val 15802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390650" y="3773805"/>
            <a:ext cx="7729538" cy="41091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达标</a:t>
            </a:r>
            <a:r>
              <a:rPr lang="en-US" altLang="zh-CN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两三位家人各写一段，每段第一句都点明了他像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什么动物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390650" y="5194369"/>
            <a:ext cx="7729538" cy="7837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良好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同桌读完能说出：两三处细节都围绕同一种动物，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没有一处对不上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390650" y="6682948"/>
            <a:ext cx="7729538" cy="78372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优秀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至少一处场景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独属于这个人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；别人猜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出人物，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还能找出支撑判断的原句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913620" y="3930015"/>
            <a:ext cx="6786563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每段开头，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是否清楚地点明动物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913620" y="5177790"/>
            <a:ext cx="7011035" cy="811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与动物特点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不契合的内容</a:t>
            </a:r>
            <a:endParaRPr lang="en-US" sz="24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直接删去，或补充合适的细节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913620" y="6720840"/>
            <a:ext cx="7411720" cy="811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“他很勤劳”“他很懒散”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这类空泛的语句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换成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真实发生的小事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，优先选择自家独有的场景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5" grpId="0"/>
      <p:bldP spid="28" grpId="0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9" grpId="0" animBg="1"/>
      <p:bldP spid="41" grpId="0" animBg="1"/>
      <p:bldP spid="43" grpId="0" animBg="1"/>
      <p:bldP spid="11" grpId="0"/>
      <p:bldP spid="14" grpId="0"/>
      <p:bldP spid="17" grpId="0"/>
      <p:bldP spid="20" grpId="0"/>
      <p:bldP spid="22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3"/>
          <p:cNvSpPr/>
          <p:nvPr/>
        </p:nvSpPr>
        <p:spPr>
          <a:xfrm>
            <a:off x="1047750" y="139827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2" name="图片 2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545695" y="354270"/>
            <a:ext cx="1872000" cy="1872000"/>
          </a:xfrm>
          <a:prstGeom prst="rect">
            <a:avLst/>
          </a:prstGeom>
        </p:spPr>
      </p:pic>
      <p:pic>
        <p:nvPicPr>
          <p:cNvPr id="17" name="图片 16" descr="小小动物园-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2890"/>
            <a:ext cx="6859789" cy="5760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6859905" y="2802890"/>
            <a:ext cx="11428095" cy="5760085"/>
          </a:xfrm>
          <a:prstGeom prst="rect">
            <a:avLst/>
          </a:prstGeom>
          <a:solidFill>
            <a:srgbClr val="FFEC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10236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收尾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96455" y="426212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7558405" y="4065905"/>
            <a:ext cx="948164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猜出人物并不难，难得的是读者能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找到对应的细节句子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7196455" y="5561648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7558405" y="5363845"/>
            <a:ext cx="10120630" cy="683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先捕捉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独家细节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，再匹配动物；段首点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动物，细节方向统一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7196455" y="6829108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7558405" y="6618288"/>
            <a:ext cx="8256597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今后写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老师、同学和身边的人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，都可以用这种思路</a:t>
            </a:r>
            <a:endParaRPr lang="en-US" sz="2775" dirty="0"/>
          </a:p>
        </p:txBody>
      </p:sp>
      <p:sp>
        <p:nvSpPr>
          <p:cNvPr id="15" name="Text 11"/>
          <p:cNvSpPr/>
          <p:nvPr/>
        </p:nvSpPr>
        <p:spPr>
          <a:xfrm>
            <a:off x="1322070" y="1543685"/>
            <a:ext cx="11885930" cy="6845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找机会读给文中写到的家人听，看看他能否</a:t>
            </a:r>
            <a:r>
              <a:rPr lang="en-US" sz="29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认出写的是自己</a:t>
            </a:r>
            <a:r>
              <a:rPr lang="en-US" sz="29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9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/>
          <p:cNvSpPr/>
          <p:nvPr/>
        </p:nvSpPr>
        <p:spPr>
          <a:xfrm>
            <a:off x="635" y="-1905"/>
            <a:ext cx="18289905" cy="1028890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3" name="Text 3"/>
          <p:cNvSpPr/>
          <p:nvPr/>
        </p:nvSpPr>
        <p:spPr>
          <a:xfrm>
            <a:off x="2057400" y="3674110"/>
            <a:ext cx="8232775" cy="1992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157325" y="8804910"/>
            <a:ext cx="2700655" cy="6807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下节课见</a:t>
            </a:r>
            <a:endParaRPr lang="en-US" sz="3000" dirty="0"/>
          </a:p>
        </p:txBody>
      </p:sp>
      <p:sp>
        <p:nvSpPr>
          <p:cNvPr id="15" name="Shape 7"/>
          <p:cNvSpPr/>
          <p:nvPr/>
        </p:nvSpPr>
        <p:spPr>
          <a:xfrm>
            <a:off x="720725" y="8625840"/>
            <a:ext cx="2266315" cy="97409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05" y="8773795"/>
            <a:ext cx="1808480" cy="681355"/>
          </a:xfrm>
          <a:prstGeom prst="rect">
            <a:avLst/>
          </a:prstGeom>
        </p:spPr>
      </p:pic>
      <p:sp>
        <p:nvSpPr>
          <p:cNvPr id="19" name="Freeform 2"/>
          <p:cNvSpPr/>
          <p:nvPr/>
        </p:nvSpPr>
        <p:spPr>
          <a:xfrm>
            <a:off x="16277590" y="8688070"/>
            <a:ext cx="549275" cy="71564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4"/>
          <p:cNvSpPr/>
          <p:nvPr/>
        </p:nvSpPr>
        <p:spPr>
          <a:xfrm>
            <a:off x="2057400" y="5676900"/>
            <a:ext cx="12008197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先抓独家细节，再选动物；段首点明动物，细节方向统一，带着喜爱去写。</a:t>
            </a:r>
            <a:endParaRPr lang="en-US" sz="28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2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3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4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5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6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7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8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9.xml><?xml version="1.0" encoding="utf-8"?>
<p:tagLst xmlns:p="http://schemas.openxmlformats.org/presentationml/2006/main">
  <p:tag name="KSO_WM_DIAGRAM_VIRTUALLY_FRAME" val="{&quot;height&quot;:250.5,&quot;left&quot;:115.44999999999996,&quot;top&quot;:237.3,&quot;width&quot;:1132.7}"/>
</p:tagLst>
</file>

<file path=ppt/tags/tag10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1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2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3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4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5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6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7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8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19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20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21.xml><?xml version="1.0" encoding="utf-8"?>
<p:tagLst xmlns:p="http://schemas.openxmlformats.org/presentationml/2006/main">
  <p:tag name="KSO_WM_DIAGRAM_VIRTUALLY_FRAME" val="{&quot;height&quot;:307.33149606299213,&quot;left&quot;:477,&quot;top&quot;:304.5,&quot;width&quot;:932.2}"/>
</p:tagLst>
</file>

<file path=ppt/tags/tag22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23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24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25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26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27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28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29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30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31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32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33.xml><?xml version="1.0" encoding="utf-8"?>
<p:tagLst xmlns:p="http://schemas.openxmlformats.org/presentationml/2006/main">
  <p:tag name="KSO_WM_DIAGRAM_VIRTUALLY_FRAME" val="{&quot;height&quot;:418.45015748031494,&quot;left&quot;:82.38543307086614,&quot;top&quot;:201.95,&quot;width&quot;:1313.4145669291338}"/>
</p:tagLst>
</file>

<file path=ppt/tags/tag34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35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36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37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38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39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40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1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2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3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4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5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1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1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2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7_2*l_h_i*1_3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-0.25,&quot;colorType&quot;:1,&quot;foreColorIndex&quot;:14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1_2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2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ID" val="diagram20231017_2*l_h_i*1_3_3"/>
  <p:tag name="KSO_WM_TEMPLATE_CATEGORY" val="diagram"/>
  <p:tag name="KSO_WM_TEMPLATE_INDEX" val="20231017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99.1,&quot;left&quot;:64.35,&quot;top&quot;:100.95000000000002,&quot;width&quot;:841.71251968503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4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55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56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57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58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59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0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1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2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3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64.xml><?xml version="1.0" encoding="utf-8"?>
<p:tagLst xmlns:p="http://schemas.openxmlformats.org/presentationml/2006/main">
  <p:tag name="KSO_DOCER_RESOURCE_TRACE_INFO" val="{&quot;id&quot;:&quot;50059271&quot;,&quot;origin&quot;:0,&quot;type&quot;:&quot;icons&quot;,&quot;user&quot;:&quot;465116955&quot;}"/>
</p:tagLst>
</file>

<file path=ppt/tags/tag65.xml><?xml version="1.0" encoding="utf-8"?>
<p:tagLst xmlns:p="http://schemas.openxmlformats.org/presentationml/2006/main">
  <p:tag name="KSO_DOCER_RESOURCE_TRACE_INFO" val="{&quot;id&quot;:&quot;50062401&quot;,&quot;origin&quot;:0,&quot;type&quot;:&quot;icons&quot;,&quot;user&quot;:&quot;465116955&quot;}"/>
</p:tagLst>
</file>

<file path=ppt/tags/tag66.xml><?xml version="1.0" encoding="utf-8"?>
<p:tagLst xmlns:p="http://schemas.openxmlformats.org/presentationml/2006/main">
  <p:tag name="KSO_DOCER_RESOURCE_TRACE_INFO" val="{&quot;id&quot;:&quot;50059164&quot;,&quot;origin&quot;:0,&quot;type&quot;:&quot;icons&quot;,&quot;user&quot;:&quot;465116955&quot;}"/>
</p:tagLst>
</file>

<file path=ppt/tags/tag67.xml><?xml version="1.0" encoding="utf-8"?>
<p:tagLst xmlns:p="http://schemas.openxmlformats.org/presentationml/2006/main">
  <p:tag name="KSO_DOCER_RESOURCE_TRACE_INFO" val="{&quot;id&quot;:&quot;50059271&quot;,&quot;origin&quot;:0,&quot;type&quot;:&quot;icons&quot;,&quot;user&quot;:&quot;465116955&quot;}"/>
</p:tagLst>
</file>

<file path=ppt/tags/tag68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69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0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1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2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3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4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5.xml><?xml version="1.0" encoding="utf-8"?>
<p:tagLst xmlns:p="http://schemas.openxmlformats.org/presentationml/2006/main">
  <p:tag name="KSO_WM_DIAGRAM_VIRTUALLY_FRAME" val="{&quot;height&quot;:307.33149606299213,&quot;left&quot;:477,&quot;top&quot;:304.5,&quot;width&quot;:920.4}"/>
</p:tagLst>
</file>

<file path=ppt/tags/tag76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77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78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79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80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81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82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83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84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85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86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87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88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89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90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91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92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93.xml><?xml version="1.0" encoding="utf-8"?>
<p:tagLst xmlns:p="http://schemas.openxmlformats.org/presentationml/2006/main">
  <p:tag name="KSO_WM_DIAGRAM_VIRTUALLY_FRAME" val="{&quot;height&quot;:159.75,&quot;left&quot;:107.25,&quot;top&quot;:324.9,&quot;width&quot;:1257.4050393700788}"/>
</p:tagLst>
</file>

<file path=ppt/tags/tag94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95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96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97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98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99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100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101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102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103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104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105.xml><?xml version="1.0" encoding="utf-8"?>
<p:tagLst xmlns:p="http://schemas.openxmlformats.org/presentationml/2006/main">
  <p:tag name="KSO_WM_DIAGRAM_VIRTUALLY_FRAME" val="{&quot;height&quot;:270,&quot;left&quot;:79.5,&quot;top&quot;:225,&quot;width&quot;:1318}"/>
</p:tagLst>
</file>

<file path=ppt/tags/tag106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07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08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09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0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1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2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3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4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5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6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7.xml><?xml version="1.0" encoding="utf-8"?>
<p:tagLst xmlns:p="http://schemas.openxmlformats.org/presentationml/2006/main">
  <p:tag name="KSO_WM_DIAGRAM_VIRTUALLY_FRAME" val="{&quot;height&quot;:343.3,&quot;left&quot;:82.5,&quot;top&quot;:240,&quot;width&quot;:1304.3249606299214}"/>
</p:tagLst>
</file>

<file path=ppt/tags/tag118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19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0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1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2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3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24.xml><?xml version="1.0" encoding="utf-8"?>
<p:tagLst xmlns:p="http://schemas.openxmlformats.org/presentationml/2006/main">
  <p:tag name="RESOURCE_RECORD_KEY" val="{&quot;10&quot;:[50059538,50059271,50059164]}"/>
  <p:tag name="COMMONDATA" val="eyJoZGlkIjoiYjNkMGVmZTg3ZDFjNzBmZGRjYjliYWY5MzNlMTc1ZW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4943</Words>
  <Application>WPS 演示</Application>
  <PresentationFormat>自定义</PresentationFormat>
  <Paragraphs>586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微软雅黑</vt:lpstr>
      <vt:lpstr>思源黑体 CN Normal</vt:lpstr>
      <vt:lpstr>Calibri</vt:lpstr>
      <vt:lpstr>Arial Unicode MS</vt:lpstr>
      <vt:lpstr>Wingdings</vt:lpstr>
      <vt:lpstr>楷体</vt:lpstr>
      <vt:lpstr>等线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89</cp:revision>
  <dcterms:created xsi:type="dcterms:W3CDTF">2026-08-05T15:48:00Z</dcterms:created>
  <dcterms:modified xsi:type="dcterms:W3CDTF">2026-09-01T17:02:46Z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67AE0F85A5B44E02BD922C8749AA8858_13</vt:lpwstr>
  </property>
  <property fmtid="{D5CDD505-2E9C-101B-9397-08002B2CF9AE}" pid="3" name="KSOProductBuildVer">
    <vt:lpwstr>2052-12.1.0.20305</vt:lpwstr>
  </property>
</Properties>
</file>