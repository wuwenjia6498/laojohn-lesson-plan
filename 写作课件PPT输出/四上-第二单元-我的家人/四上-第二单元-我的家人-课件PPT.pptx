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3.svg" ContentType="image/svg+xml"/>
  <Override PartName="/ppt/media/image15.svg" ContentType="image/svg+xml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0" r:id="rId3"/>
  </p:sldMasterIdLst>
  <p:notesMasterIdLst>
    <p:notesMasterId r:id="rId5"/>
  </p:notesMasterIdLst>
  <p:handoutMasterIdLst>
    <p:handoutMasterId r:id="rId31"/>
  </p:handout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82" r:id="rId26"/>
    <p:sldId id="277" r:id="rId27"/>
    <p:sldId id="278" r:id="rId28"/>
    <p:sldId id="279" r:id="rId29"/>
    <p:sldId id="281" r:id="rId30"/>
  </p:sldIdLst>
  <p:sldSz cx="18288000" cy="10287000"/>
  <p:notesSz cx="10287000" cy="18288000"/>
  <p:embeddedFontLst>
    <p:embeddedFont>
      <p:font typeface="微软雅黑" panose="020B0503020204020204" pitchFamily="34" charset="-122"/>
      <p:regular r:id="rId35"/>
    </p:embeddedFont>
    <p:embeddedFont>
      <p:font typeface="微软雅黑" panose="020B0503020204020204" pitchFamily="34" charset="-120"/>
      <p:regular r:id="rId36"/>
    </p:embeddedFont>
    <p:embeddedFont>
      <p:font typeface="楷体" panose="02010609060101010101" charset="-122"/>
      <p:regular r:id="rId37"/>
    </p:embeddedFont>
    <p:embeddedFont>
      <p:font typeface="Calibri" panose="020F0502020204030204" charset="0"/>
      <p:regular r:id="rId38"/>
      <p:bold r:id="rId39"/>
      <p:italic r:id="rId40"/>
      <p:boldItalic r:id="rId41"/>
    </p:embeddedFont>
    <p:embeddedFont>
      <p:font typeface="等线" panose="02010600030101010101" charset="-122"/>
      <p:regular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0D3"/>
    <a:srgbClr val="FFEABD"/>
    <a:srgbClr val="FEE08C"/>
    <a:srgbClr val="FEFF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1" Type="http://schemas.openxmlformats.org/officeDocument/2006/relationships/font" Target="fonts/font7.fntdata"/><Relationship Id="rId40" Type="http://schemas.openxmlformats.org/officeDocument/2006/relationships/font" Target="fonts/font6.fntdata"/><Relationship Id="rId4" Type="http://schemas.openxmlformats.org/officeDocument/2006/relationships/slide" Target="slides/slide1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686550" cy="18351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27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8740379" y="0"/>
            <a:ext cx="6686550" cy="18351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27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34740852"/>
            <a:ext cx="6686550" cy="183514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27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8740379" y="34740852"/>
            <a:ext cx="6686550" cy="183514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7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四上第二单元《我的家人》，写人习作，2课时连排。本课示范用的姥爷来自教材习作页示例，不要换成教师自己家的亲人，避免学生模仿老师素材、局限选材。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第1课时·写作指导课。线索：从教材四段话里挑最想认识的一位却发现读完还是不认识他，先清点家人最近做过的事，学'先想一件事、再从事里看出人'，填选事表，读教师示范文。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投屏教材习作页的4段话，一人一句都很短。问：这4位家人，要是让你挑一位认识认识，你最想认识哪一位？说说理由。学生分享后，老师承认自己挑的也是那位会讲故事的爸爸——为下一页的追问做铺垫。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追问：这一句我读了两遍，还是没读出他到底怎么个会讲法。你们说说，他是怎么讲故事的？——没写、书上没说。对，它说了爸爸一有空就讲故事，可他怎么讲的、讲的时候什么样子，一个字也没有。所以读完，还是不认识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任务：每人挑家里一位家人，写一段话，让从来没见过他的人读完就像认识了他。两位听众：第一位是同桌，他并不认识你的家人，读完要能说说感受到这是怎样的人；第二位更重要——把习作带回家，读给你写的这位家人听，看他会不会觉得，你写的就像真实的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空白小纸条。先不问这位家人有什么特点，先想：他最近都做过哪些事。想到几件记几件，不用完整句子，三五个字自己看得懂就行。只记发生的事，不写评价——写'修自行车''夜里起来关窗户'这类事实，不写'他很能干'。约2分钟；只写出一件的轻声追问：上个星期天，他在家做些什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抽3-4名学生说记了几件、简单说其中一两件。再同桌互说其中一件事：只讲发生了什么，不评价这个人好不好。同桌听完只问两个问题。卡壳的学生别问'他是个怎样的人'，换具体问题：那时候他在什么地方？手上拿着什么东西？收束：有同学说爸爸修台灯忙到十一点——他没说爸爸辛苦，可听完这件事，心里就能感受到一些东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屏两段介绍家人的文字，教师朗读，学生判断哪一段更符合习作要求。预期有学生选第一段：四个人都写到了、门框吊车小辫子都有画面。先承认这些确实写出来了，再回到习作要求：结合具体事例写出家人的特点——数一数，第一段完整写了哪一件事？一件也没有。第二段只写妹妹一人，完整记录拿橡皮这件小事。不是第一段写得不好，是它没落实'写事例'的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看教材那位姥爷的原句：意思清楚，可还是想象不出姥爷真实的样子。老师当场给这句话补上一件真实发生的小事，朗读给学生听。听完问：你觉得这是一位怎样的姥爷？——做事很认真／答应别人的事就会坚持做完／特别有耐心。点破：这段话里并没有写'姥爷很认真、很有耐心'，可大家都读出来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点破思路：平时很多同学习惯先定特点、再找事来证明；今天换个思路——先回忆一件真实发生的事，把事写具体，读的人自然感受到特点。两种写法哪种好？都可以，也可以结合：开头直接说特点，后面用一件事把它支撑起来，自由选择。提醒：'他很好''他很能干'谁家都能套，读者分不清写的是谁——不是不能写，只要事例够具体也能写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纸条上记了三四件甚至更多的小事，不用全写，要筛选。方法一：挑不容易撞题材的——'妈妈每天给我做饭'不少同学家里都有；姥爷帮邻居写春联，就是他家独有的经历。方法二：合上小纸条回忆，哪一件事现在脑海里还能浮现画面——他站在哪里、手上拿着什么、说了什么话；画面越清晰越好写，也是印象最深的。两个方法任选其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屏教师提前填好的示范表，暂不发空白小纸条。问：第二栏想到三件事，最后选了写春联——为什么放弃'早上练字'？（很多老人都会早上练字，写春联只有他家才有。）第五、六栏写的都是实实在在的动作和原话，没有夸赞的词。最下面一栏先空着，等前面都填完再回头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空白小纸条，学生填写约4分钟。巡视要点：①第二栏只写了一件事的，轻声问'上个星期他在家还做过什么'；②第五栏填了'很认真''很辛苦'这类评价词的，提醒'这里写下他手上正在做的动作就可以'；③挑事理由空着的，把他写的几件事念一遍，引导想'哪一件带咱们家独有的小细节'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三位同学分享选中了哪件事、为什么挑它，其余同学听：这件事是不是带着他家独有的细节。'妈妈每天做饭'很多家都有——追问：有没有哪一次和平时不太一样？（停电打手电炒菜、生日天没亮起来炖汤。）带特殊小细节的事就适合做素材。最后请大家填表格最下面一栏：想用哪个词或短句评价这位家人。能顺利填上，说明挑的事例是合适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的表格也梳理完了，最后一栏填的是'说到做到'。现在依据这张表，把素材扩写成完整片段。朗读全文，学生边看边想：表格里的关键词，是怎样变成作文段落的。标色：动作红、原话蓝、具体数字绿——与后面的句子作用表同色呼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：开头第一句写的是什么？——点明姥爷说到做到。这是两种写法结合：先一句话概括，再用一整件事印证。也可以不点特点、直接从场景写起。把两种开头理一理（见屏）。第二种写法，把特点句记在草稿或选事表上，全写完再决定：挪到开头，或干脆不用。这是构思层面的处理，第二课时动笔时再落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：中间这么长一大段，写了几件事？——就一件，从头到尾围绕写春联展开。选好的那一件事，就足够写一大段，不用硬凑第二件。再问：哪处细节让你感受到姥爷吃力？——按膝盖、手在抖。没有写'姥爷很累''姥爷十分辛苦'，读者自然体会到。关键的那句话：'再写两副，人家等着贴。'换成'姥爷说他要坚持写完'，味道就没了——要还原人物当时真实说出口的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刚刚找到的关键句整理出来，看每句话在做什么。颜色与示范文标色一一对应。收束：待会儿动笔，不需要把技巧全部用上，优先做到两点——写清人物做了什么动作，记下他说过的话。这两点落实好，笔下的家人形象就立起来了。第1课时到此结束，课间休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课间休息回来进入第2课时。把上节课的选事表拿出来放在稿纸旁边，先写开头，再自由写作，然后交流评改。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事表放稿纸旁边。注意：先不抄表格里的动作和对话，留到写经过时再用。第一步写特点句：想放开头就空两格扩成一句（我姥爷是一个说到做到的人／我妹妹是个爱管事的小孩）；想直接写场景的，把特点句抄在稿纸最下方备用。第二步写事情开篇：只交代这件事在什么时间、什么场景下开始，写到这里先停——中间的动作、对话、结果都先不写。巡视时发现过早把表格内容全写出来的，轻声提醒：这部分留到后面写经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20分钟，教师全程不纠错、不打断，只做正向巡视。分类指导：写完开头卡住的，把他写的几行念给他听'这就是开头，你已经写出来了'，再问'那件事后来怎么样了，他最后做完没有'；通篇只会写'他很好、他很能干'的，手指选事表动作那一栏，一次只提示补一个动作；写得顺的不打断，点头示意；写三五行就说写完的，先肯定大体经过交代清楚了，再追问一处细节：'他说那句话的时候，人是站着还是坐着？'学生问能不能写两个人：可以，详写一位、其他人简单几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20分钟，教师全程不纠错、不打断，只做正向巡视。分类指导：写完开头卡住的，把他写的几行念给他听'这就是开头，你已经写出来了'，再问'那件事后来怎么样了，他最后做完没有'；通篇只会写'他很好、他很能干'的，手指选事表动作那一栏，一次只提示补一个动作；写得顺的不打断，点头示意；写三五行就说写完的，先肯定大体经过交代清楚了，再追问一处细节：'他说那句话的时候，人是站着还是坐着？'学生问能不能写两个人：可以，详写一位、其他人简单几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停笔，不管写没写完都来读一读。同桌互念约6分钟：轮流朗读，听的人只做一件事——提一个自己还想了解的问题，比如'他修台灯修到十一点，最后修好了没有''奶奶找到老花镜的时候说了什么'。被问的当场回答；心里知道、作文里没写的，直接补到习作上——这往往就是漏掉的细节。再请两位读给全班，各请一名同学提问，教师就补充的细节做简要点评。听众只会说'写得很好'提不出问题的，引导：读完这一段，你最想了解哪个地方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主修改约5分钟。写了多位家人的，重点检查详写那一段，简略部分不用套这四条。缺哪一条补哪一条：用修改符号，多余的圈掉，遗漏的写在行间空白处，不用整篇重抄。学生说'第三条达不到、这件事很多人家都有'：不用推翻重写，在事里加一处自家独有的小细节——一句原话，或一个特别的小动作，内容就不一样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完再读给同桌听一遍：这一轮不提问题，听完只说一句——你笔下的这位家人，是一个怎样的人。作者对照选事表最后一栏：大致吻合，就说明你靠事件让读者自己读懂了这个人；对不上也不算失败，问问同桌'你是从哪句话读出来的'，多半是缺了关键动作或原话，补上再读。课后小任务：回家读给你写的那位家人听——他的评价和同桌往往不一样，因为那是当事人自己的感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收束：写家人，先想一件他真做过的事——写清动作、记下原话，家里人听完会说：这写的可不就是他。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0.svg"/><Relationship Id="rId11" Type="http://schemas.openxmlformats.org/officeDocument/2006/relationships/image" Target="../media/image9.png"/><Relationship Id="rId10" Type="http://schemas.openxmlformats.org/officeDocument/2006/relationships/tags" Target="../tags/tag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5.svg"/><Relationship Id="rId14" Type="http://schemas.openxmlformats.org/officeDocument/2006/relationships/image" Target="../media/image14.png"/><Relationship Id="rId13" Type="http://schemas.openxmlformats.org/officeDocument/2006/relationships/tags" Target="../tags/tag15.xml"/><Relationship Id="rId12" Type="http://schemas.openxmlformats.org/officeDocument/2006/relationships/image" Target="../media/image13.svg"/><Relationship Id="rId11" Type="http://schemas.openxmlformats.org/officeDocument/2006/relationships/image" Target="../media/image12.png"/><Relationship Id="rId10" Type="http://schemas.openxmlformats.org/officeDocument/2006/relationships/tags" Target="../tags/tag1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20.xml"/><Relationship Id="rId7" Type="http://schemas.openxmlformats.org/officeDocument/2006/relationships/image" Target="../media/image16.png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image" Target="../media/image3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.sv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tags" Target="../tags/tag27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tags" Target="../tags/tag28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image" Target="../media/image3.png"/><Relationship Id="rId20" Type="http://schemas.openxmlformats.org/officeDocument/2006/relationships/notesSlide" Target="../notesSlides/notesSlide11.xml"/><Relationship Id="rId2" Type="http://schemas.openxmlformats.org/officeDocument/2006/relationships/image" Target="../media/image4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0.svg"/><Relationship Id="rId17" Type="http://schemas.openxmlformats.org/officeDocument/2006/relationships/image" Target="../media/image22.png"/><Relationship Id="rId16" Type="http://schemas.openxmlformats.org/officeDocument/2006/relationships/tags" Target="../tags/tag37.xml"/><Relationship Id="rId15" Type="http://schemas.openxmlformats.org/officeDocument/2006/relationships/image" Target="../media/image15.svg"/><Relationship Id="rId14" Type="http://schemas.openxmlformats.org/officeDocument/2006/relationships/image" Target="../media/image21.png"/><Relationship Id="rId13" Type="http://schemas.openxmlformats.org/officeDocument/2006/relationships/tags" Target="../tags/tag36.xml"/><Relationship Id="rId12" Type="http://schemas.openxmlformats.org/officeDocument/2006/relationships/image" Target="../media/image13.svg"/><Relationship Id="rId11" Type="http://schemas.openxmlformats.org/officeDocument/2006/relationships/image" Target="../media/image20.png"/><Relationship Id="rId10" Type="http://schemas.openxmlformats.org/officeDocument/2006/relationships/tags" Target="../tags/tag35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tags" Target="../tags/tag48.xml"/><Relationship Id="rId5" Type="http://schemas.openxmlformats.org/officeDocument/2006/relationships/image" Target="../media/image10.svg"/><Relationship Id="rId4" Type="http://schemas.openxmlformats.org/officeDocument/2006/relationships/image" Target="../media/image22.png"/><Relationship Id="rId3" Type="http://schemas.openxmlformats.org/officeDocument/2006/relationships/tags" Target="../tags/tag47.xml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image" Target="../media/image3.png"/><Relationship Id="rId15" Type="http://schemas.openxmlformats.org/officeDocument/2006/relationships/notesSlide" Target="../notesSlides/notesSlide16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0.svg"/><Relationship Id="rId12" Type="http://schemas.openxmlformats.org/officeDocument/2006/relationships/image" Target="../media/image22.png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image" Target="../media/image3.png"/><Relationship Id="rId15" Type="http://schemas.openxmlformats.org/officeDocument/2006/relationships/notesSlide" Target="../notesSlides/notesSlide17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0.svg"/><Relationship Id="rId12" Type="http://schemas.openxmlformats.org/officeDocument/2006/relationships/image" Target="../media/image22.png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20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image" Target="../media/image28.png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2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152400" y="-244475"/>
            <a:ext cx="20288885" cy="8912225"/>
            <a:chOff x="-240" y="-385"/>
            <a:chExt cx="31951" cy="14035"/>
          </a:xfrm>
        </p:grpSpPr>
        <p:sp>
          <p:nvSpPr>
            <p:cNvPr id="14" name="Shape 1"/>
            <p:cNvSpPr/>
            <p:nvPr/>
          </p:nvSpPr>
          <p:spPr>
            <a:xfrm>
              <a:off x="728" y="2595"/>
              <a:ext cx="27293" cy="8400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EE7B2E">
                    <a:alpha val="100000"/>
                  </a:srgbClr>
                </a:gs>
                <a:gs pos="42000">
                  <a:srgbClr val="F0A63C">
                    <a:alpha val="100000"/>
                  </a:srgbClr>
                </a:gs>
                <a:gs pos="100000">
                  <a:srgbClr val="57B0A6">
                    <a:alpha val="100000"/>
                  </a:srgbClr>
                </a:gs>
              </a:gsLst>
              <a:lin ang="900000" scaled="0"/>
            </a:gradFill>
          </p:spPr>
          <p:txBody>
            <a:bodyPr/>
            <a:lstStyle/>
            <a:p/>
          </p:txBody>
        </p:sp>
        <p:sp>
          <p:nvSpPr>
            <p:cNvPr id="15" name="Shape 3"/>
            <p:cNvSpPr/>
            <p:nvPr/>
          </p:nvSpPr>
          <p:spPr>
            <a:xfrm>
              <a:off x="23495" y="-385"/>
              <a:ext cx="8216" cy="64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Shape 2"/>
            <p:cNvSpPr/>
            <p:nvPr/>
          </p:nvSpPr>
          <p:spPr>
            <a:xfrm>
              <a:off x="4650" y="2250"/>
              <a:ext cx="5400" cy="54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Shape 3"/>
            <p:cNvSpPr/>
            <p:nvPr/>
          </p:nvSpPr>
          <p:spPr>
            <a:xfrm>
              <a:off x="9150" y="7200"/>
              <a:ext cx="6450" cy="64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</p:spPr>
          <p:txBody>
            <a:bodyPr/>
            <a:lstStyle/>
            <a:p/>
          </p:txBody>
        </p:sp>
        <p:pic>
          <p:nvPicPr>
            <p:cNvPr id="19" name="Picture 3" descr="logo-red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569" y="893"/>
              <a:ext cx="3355" cy="1415"/>
            </a:xfrm>
            <a:prstGeom prst="rect">
              <a:avLst/>
            </a:prstGeom>
          </p:spPr>
        </p:pic>
        <p:sp>
          <p:nvSpPr>
            <p:cNvPr id="18" name="Shape 1"/>
            <p:cNvSpPr/>
            <p:nvPr/>
          </p:nvSpPr>
          <p:spPr>
            <a:xfrm>
              <a:off x="-240" y="810"/>
              <a:ext cx="1560" cy="1110"/>
            </a:xfrm>
            <a:prstGeom prst="roundRect">
              <a:avLst>
                <a:gd name="adj" fmla="val 4054"/>
              </a:avLst>
            </a:prstGeom>
            <a:solidFill>
              <a:srgbClr val="3D4A63"/>
            </a:solidFill>
          </p:spPr>
          <p:txBody>
            <a:bodyPr/>
            <a:lstStyle/>
            <a:p/>
          </p:txBody>
        </p:sp>
      </p:grpSp>
      <p:sp>
        <p:nvSpPr>
          <p:cNvPr id="6" name="Text 3"/>
          <p:cNvSpPr/>
          <p:nvPr/>
        </p:nvSpPr>
        <p:spPr>
          <a:xfrm>
            <a:off x="4700905" y="2520950"/>
            <a:ext cx="5492750" cy="144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50" b="1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我的家人</a:t>
            </a:r>
            <a:endParaRPr lang="en-US" sz="8850" dirty="0"/>
          </a:p>
        </p:txBody>
      </p:sp>
      <p:sp>
        <p:nvSpPr>
          <p:cNvPr id="7" name="Text 4"/>
          <p:cNvSpPr/>
          <p:nvPr/>
        </p:nvSpPr>
        <p:spPr>
          <a:xfrm>
            <a:off x="4757420" y="3926205"/>
            <a:ext cx="9250045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四年级上册 · 第二单元 · 校内同步写作（写人）</a:t>
            </a:r>
            <a:endParaRPr lang="en-US" sz="3000" dirty="0"/>
          </a:p>
        </p:txBody>
      </p:sp>
      <p:sp>
        <p:nvSpPr>
          <p:cNvPr id="11" name="Text 6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四年级上册 · 第二单元</a:t>
            </a:r>
            <a:endParaRPr lang="en-US" sz="2550" dirty="0"/>
          </a:p>
        </p:txBody>
      </p:sp>
      <p:pic>
        <p:nvPicPr>
          <p:cNvPr id="12" name="图片 11" descr="E:/22222小学配图/同步写作/四上2-我的家人/我的家人-00.png我的家人-00"/>
          <p:cNvPicPr>
            <a:picLocks noChangeAspect="1"/>
          </p:cNvPicPr>
          <p:nvPr/>
        </p:nvPicPr>
        <p:blipFill>
          <a:blip r:embed="rId2"/>
          <a:srcRect l="10" r="10"/>
          <a:stretch>
            <a:fillRect/>
          </a:stretch>
        </p:blipFill>
        <p:spPr>
          <a:xfrm>
            <a:off x="12150725" y="3848100"/>
            <a:ext cx="6137275" cy="6438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393065" y="392430"/>
            <a:ext cx="17532985" cy="945896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  <p:txBody>
          <a:bodyPr/>
          <a:lstStyle/>
          <a:p/>
        </p:txBody>
      </p:sp>
      <p:sp>
        <p:nvSpPr>
          <p:cNvPr id="11" name="Text 3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250" dirty="0"/>
          </a:p>
        </p:txBody>
      </p:sp>
      <p:sp>
        <p:nvSpPr>
          <p:cNvPr id="12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2228850" y="5676900"/>
            <a:ext cx="3461385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8604504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 · 清点小事 · 学写法 · 素材记录卡 · 教师示范文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36" name="图片 35" descr="我的家人-27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89674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60830"/>
            <a:ext cx="8258071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教材中的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位家人，你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最想认识哪一位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3205" dirty="0"/>
          </a:p>
        </p:txBody>
      </p:sp>
      <p:sp>
        <p:nvSpPr>
          <p:cNvPr id="20" name="Text 16"/>
          <p:cNvSpPr/>
          <p:nvPr/>
        </p:nvSpPr>
        <p:spPr>
          <a:xfrm>
            <a:off x="12111990" y="2446020"/>
            <a:ext cx="5763895" cy="22713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lvl="0" indent="0"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lang="en-US" altLang="zh-CN" sz="2605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▶</a:t>
            </a:r>
            <a:r>
              <a:rPr lang="en-US" sz="260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会讲故事的爸爸</a:t>
            </a:r>
            <a:endParaRPr lang="en-US" sz="260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indent="0"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lang="en-US" altLang="zh-CN" sz="2605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▶</a:t>
            </a:r>
            <a:r>
              <a:rPr lang="en-US" sz="260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练书法的姥爷，一年三百六十五天</a:t>
            </a:r>
            <a:endParaRPr lang="en-US" sz="260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indent="0"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lang="en-US" sz="260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  不间断，很了不起</a:t>
            </a:r>
            <a:endParaRPr lang="en-US" sz="260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indent="0"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lang="en-US" altLang="zh-CN" sz="2605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▶四岁的</a:t>
            </a:r>
            <a:r>
              <a:rPr lang="en-US" sz="260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妹妹，又淘气又聪明</a:t>
            </a:r>
            <a:endParaRPr lang="en-US" sz="260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pic>
        <p:nvPicPr>
          <p:cNvPr id="25" name="图片 24" descr="我的家人-29"/>
          <p:cNvPicPr>
            <a:picLocks noChangeAspect="1"/>
          </p:cNvPicPr>
          <p:nvPr/>
        </p:nvPicPr>
        <p:blipFill>
          <a:blip r:embed="rId3"/>
          <a:srcRect l="808" t="-2284"/>
          <a:stretch>
            <a:fillRect/>
          </a:stretch>
        </p:blipFill>
        <p:spPr>
          <a:xfrm>
            <a:off x="1047750" y="2446020"/>
            <a:ext cx="10645140" cy="7341235"/>
          </a:xfrm>
          <a:prstGeom prst="roundRect">
            <a:avLst>
              <a:gd name="adj" fmla="val 2763"/>
            </a:avLst>
          </a:prstGeom>
          <a:ln>
            <a:solidFill>
              <a:schemeClr val="accent2"/>
            </a:solidFill>
          </a:ln>
        </p:spPr>
      </p:pic>
      <p:sp>
        <p:nvSpPr>
          <p:cNvPr id="33" name="Text 16"/>
          <p:cNvSpPr/>
          <p:nvPr/>
        </p:nvSpPr>
        <p:spPr>
          <a:xfrm>
            <a:off x="12111990" y="4873625"/>
            <a:ext cx="5763895" cy="1859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说一说你选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他的理由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。老师和不少</a:t>
            </a:r>
            <a:endParaRPr lang="en-US" sz="2605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同学的选择一样，最想认识那位会</a:t>
            </a:r>
            <a:endParaRPr lang="en-US" sz="2605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讲故事的爸爸。</a:t>
            </a:r>
            <a:endParaRPr lang="en-US" sz="2605" dirty="0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2470" y="6577965"/>
            <a:ext cx="5668010" cy="3743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8" name="图片 27" descr="我的家人-27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10160" y="2927985"/>
            <a:ext cx="18277840" cy="6407785"/>
          </a:xfrm>
          <a:prstGeom prst="rect">
            <a:avLst/>
          </a:prstGeom>
          <a:solidFill>
            <a:srgbClr val="FFF0D3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我的家人-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" y="2927985"/>
            <a:ext cx="7485251" cy="640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5798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6396841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这位爸爸，究竟是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怎样讲故事的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8021320" y="3691890"/>
            <a:ext cx="9401175" cy="1426845"/>
          </a:xfrm>
          <a:prstGeom prst="roundRect">
            <a:avLst>
              <a:gd name="adj" fmla="val 12892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8359140" y="4034790"/>
            <a:ext cx="8986520" cy="1038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“他很会讲故事，一有空就讲给我和弟弟听。”</a:t>
            </a:r>
            <a:endParaRPr lang="en-US" sz="2850" dirty="0"/>
          </a:p>
        </p:txBody>
      </p:sp>
      <p:sp>
        <p:nvSpPr>
          <p:cNvPr id="11" name="Shape 7"/>
          <p:cNvSpPr/>
          <p:nvPr/>
        </p:nvSpPr>
        <p:spPr>
          <a:xfrm>
            <a:off x="7924800" y="5966341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271510" y="5783580"/>
            <a:ext cx="9351010" cy="535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他是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怎样讲的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？讲的时候是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什么样子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？一个字也没有写</a:t>
            </a:r>
            <a:endParaRPr lang="en-US" sz="2700" dirty="0"/>
          </a:p>
        </p:txBody>
      </p:sp>
      <p:sp>
        <p:nvSpPr>
          <p:cNvPr id="13" name="Shape 9"/>
          <p:cNvSpPr/>
          <p:nvPr/>
        </p:nvSpPr>
        <p:spPr>
          <a:xfrm>
            <a:off x="7924800" y="6783467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8271510" y="6585347"/>
            <a:ext cx="6147509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这句话读了两遍，读完仍然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不认识他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7909560" y="7668895"/>
            <a:ext cx="9415780" cy="1552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意思写清楚了，可是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人的真实样子却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想象不出来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问题就出在这里。</a:t>
            </a:r>
            <a:endParaRPr lang="en-US" sz="2800" dirty="0"/>
          </a:p>
        </p:txBody>
      </p:sp>
      <p:sp>
        <p:nvSpPr>
          <p:cNvPr id="25" name="等腰三角形 24"/>
          <p:cNvSpPr/>
          <p:nvPr/>
        </p:nvSpPr>
        <p:spPr>
          <a:xfrm rot="5400000">
            <a:off x="7417435" y="4102100"/>
            <a:ext cx="595630" cy="460375"/>
          </a:xfrm>
          <a:prstGeom prst="triangle">
            <a:avLst>
              <a:gd name="adj" fmla="val 527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10160" y="2927985"/>
            <a:ext cx="18277840" cy="5360670"/>
          </a:xfrm>
          <a:prstGeom prst="rect">
            <a:avLst/>
          </a:prstGeom>
          <a:solidFill>
            <a:srgbClr val="FFF0D3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Shape 4"/>
          <p:cNvSpPr/>
          <p:nvPr/>
        </p:nvSpPr>
        <p:spPr>
          <a:xfrm>
            <a:off x="1047750" y="3302000"/>
            <a:ext cx="9401175" cy="1426845"/>
          </a:xfrm>
          <a:prstGeom prst="roundRect">
            <a:avLst>
              <a:gd name="adj" fmla="val 12892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17" name="图片 16" descr="我的家人-27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3176250" y="54864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75387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62735"/>
            <a:ext cx="9673590" cy="585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这两节课的任务：写一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篇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让人“认识”他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作文</a:t>
            </a:r>
            <a:endParaRPr lang="zh-CN" altLang="en-US" sz="3205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8"/>
          <p:cNvSpPr/>
          <p:nvPr>
            <p:custDataLst>
              <p:tags r:id="rId3"/>
            </p:custDataLst>
          </p:nvPr>
        </p:nvSpPr>
        <p:spPr>
          <a:xfrm>
            <a:off x="1981835" y="5114925"/>
            <a:ext cx="9025890" cy="1455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第一位读者：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你的同桌</a:t>
            </a:r>
            <a:endParaRPr lang="en-US" sz="26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他不认识你的家人，读完要能说出这是一位怎样的人</a:t>
            </a:r>
            <a:endParaRPr lang="en-US" sz="2600" dirty="0"/>
          </a:p>
        </p:txBody>
      </p:sp>
      <p:sp>
        <p:nvSpPr>
          <p:cNvPr id="15" name="Text 11"/>
          <p:cNvSpPr/>
          <p:nvPr>
            <p:custDataLst>
              <p:tags r:id="rId4"/>
            </p:custDataLst>
          </p:nvPr>
        </p:nvSpPr>
        <p:spPr>
          <a:xfrm>
            <a:off x="1981835" y="6707505"/>
            <a:ext cx="9025890" cy="1447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更重要的一位</a:t>
            </a:r>
            <a:r>
              <a:rPr lang="zh-CN" alt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读者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：带回家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读给你写的这位家人听</a:t>
            </a:r>
            <a:endParaRPr lang="en-US" sz="26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看他是否觉得，你写的就是真实的他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2236470" y="8750935"/>
            <a:ext cx="111137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写得好不好，标准只有一条：家人听完会说，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这写的就是他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  <p:sp>
        <p:nvSpPr>
          <p:cNvPr id="18" name="文本框 17"/>
          <p:cNvSpPr txBox="1"/>
          <p:nvPr/>
        </p:nvSpPr>
        <p:spPr>
          <a:xfrm>
            <a:off x="1428750" y="3362960"/>
            <a:ext cx="9223375" cy="1588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每人选一位家人，写一篇作文</a:t>
            </a:r>
            <a:endParaRPr lang="zh-CN" altLang="en-US" sz="2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让</a:t>
            </a:r>
            <a:r>
              <a:rPr lang="zh-CN" altLang="en-US" sz="2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从未见过他的人</a:t>
            </a:r>
            <a:r>
              <a:rPr lang="zh-CN" altLang="en-US" sz="2600" b="1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读一读，读完就像认识了他。</a:t>
            </a:r>
            <a:endParaRPr lang="zh-CN" altLang="en-US" sz="2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Shape 5"/>
          <p:cNvSpPr/>
          <p:nvPr>
            <p:custDataLst>
              <p:tags r:id="rId5"/>
            </p:custDataLst>
          </p:nvPr>
        </p:nvSpPr>
        <p:spPr>
          <a:xfrm>
            <a:off x="1330960" y="537591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Text 6"/>
          <p:cNvSpPr/>
          <p:nvPr>
            <p:custDataLst>
              <p:tags r:id="rId6"/>
            </p:custDataLst>
          </p:nvPr>
        </p:nvSpPr>
        <p:spPr>
          <a:xfrm>
            <a:off x="1323023" y="533908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7"/>
            </p:custDataLst>
          </p:nvPr>
        </p:nvSpPr>
        <p:spPr>
          <a:xfrm>
            <a:off x="1330960" y="693356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 6"/>
          <p:cNvSpPr/>
          <p:nvPr>
            <p:custDataLst>
              <p:tags r:id="rId8"/>
            </p:custDataLst>
          </p:nvPr>
        </p:nvSpPr>
        <p:spPr>
          <a:xfrm>
            <a:off x="1323023" y="689673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pic>
        <p:nvPicPr>
          <p:cNvPr id="20" name="图片 19" descr="我的家人-3-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84635" y="4302760"/>
            <a:ext cx="6603365" cy="5970270"/>
          </a:xfrm>
          <a:prstGeom prst="rect">
            <a:avLst/>
          </a:prstGeom>
        </p:spPr>
      </p:pic>
      <p:pic>
        <p:nvPicPr>
          <p:cNvPr id="23" name="图片 22" descr="e586ea7d877a0135e2b6db8a802a3d35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>
            <a:off x="1200150" y="850646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7" grpId="0"/>
      <p:bldP spid="29" grpId="0" bldLvl="0" animBg="1"/>
      <p:bldP spid="19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30" name="图片 29" descr="我的家人-27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553085"/>
            <a:ext cx="3055620" cy="4946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回忆生活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小事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8365490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想特点，先回忆他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最近做过哪些事</a:t>
            </a:r>
            <a:endParaRPr lang="en-US" sz="3205" dirty="0"/>
          </a:p>
        </p:txBody>
      </p:sp>
      <p:sp>
        <p:nvSpPr>
          <p:cNvPr id="9" name="Text 6"/>
          <p:cNvSpPr/>
          <p:nvPr/>
        </p:nvSpPr>
        <p:spPr>
          <a:xfrm>
            <a:off x="6833870" y="3249930"/>
            <a:ext cx="8985250" cy="11747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indent="0" algn="l" fontAlgn="auto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想一位家中的亲人，把他最近做过的事记在小纸条上</a:t>
            </a:r>
            <a:endParaRPr lang="en-US" sz="27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0" algn="l" fontAlgn="auto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想到几件记几件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6833870" y="4766310"/>
            <a:ext cx="9277985" cy="535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不必写成完整的句子，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三五个关键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词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，自己看得懂即可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6833870" y="6044208"/>
            <a:ext cx="5830729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暂时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不做挑选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，想到什么记什么</a:t>
            </a:r>
            <a:endParaRPr lang="en-US" sz="2700" dirty="0"/>
          </a:p>
        </p:txBody>
      </p:sp>
      <p:sp>
        <p:nvSpPr>
          <p:cNvPr id="15" name="Shape 11"/>
          <p:cNvSpPr/>
          <p:nvPr/>
        </p:nvSpPr>
        <p:spPr>
          <a:xfrm>
            <a:off x="-333375" y="7538085"/>
            <a:ext cx="19018250" cy="991235"/>
          </a:xfrm>
          <a:prstGeom prst="roundRect">
            <a:avLst>
              <a:gd name="adj" fmla="val 1730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5452110" y="7748905"/>
            <a:ext cx="4587875" cy="4959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只记发生的事，不写评价：</a:t>
            </a:r>
            <a:endParaRPr lang="en-US" sz="2325" dirty="0"/>
          </a:p>
        </p:txBody>
      </p:sp>
      <p:sp>
        <p:nvSpPr>
          <p:cNvPr id="17" name="Text 13"/>
          <p:cNvSpPr/>
          <p:nvPr/>
        </p:nvSpPr>
        <p:spPr>
          <a:xfrm>
            <a:off x="5452110" y="8846820"/>
            <a:ext cx="1068451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天天和家人生活在一起，他们做过的许多事，我们都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看在眼里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  <p:pic>
        <p:nvPicPr>
          <p:cNvPr id="18" name="图片 17" descr="我的家人-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64105"/>
            <a:ext cx="5238115" cy="6165215"/>
          </a:xfrm>
          <a:prstGeom prst="rect">
            <a:avLst/>
          </a:prstGeom>
        </p:spPr>
      </p:pic>
      <p:sp>
        <p:nvSpPr>
          <p:cNvPr id="26" name="Shape 5"/>
          <p:cNvSpPr/>
          <p:nvPr>
            <p:custDataLst>
              <p:tags r:id="rId4"/>
            </p:custDataLst>
          </p:nvPr>
        </p:nvSpPr>
        <p:spPr>
          <a:xfrm>
            <a:off x="6224270" y="333502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Text 6"/>
          <p:cNvSpPr/>
          <p:nvPr>
            <p:custDataLst>
              <p:tags r:id="rId5"/>
            </p:custDataLst>
          </p:nvPr>
        </p:nvSpPr>
        <p:spPr>
          <a:xfrm>
            <a:off x="6216333" y="329819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6"/>
            </p:custDataLst>
          </p:nvPr>
        </p:nvSpPr>
        <p:spPr>
          <a:xfrm>
            <a:off x="6224270" y="478599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 6"/>
          <p:cNvSpPr/>
          <p:nvPr>
            <p:custDataLst>
              <p:tags r:id="rId7"/>
            </p:custDataLst>
          </p:nvPr>
        </p:nvSpPr>
        <p:spPr>
          <a:xfrm>
            <a:off x="6216333" y="474916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Shape 5"/>
          <p:cNvSpPr/>
          <p:nvPr>
            <p:custDataLst>
              <p:tags r:id="rId8"/>
            </p:custDataLst>
          </p:nvPr>
        </p:nvSpPr>
        <p:spPr>
          <a:xfrm>
            <a:off x="6224270" y="605409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Text 6"/>
          <p:cNvSpPr/>
          <p:nvPr>
            <p:custDataLst>
              <p:tags r:id="rId9"/>
            </p:custDataLst>
          </p:nvPr>
        </p:nvSpPr>
        <p:spPr>
          <a:xfrm>
            <a:off x="6216333" y="601726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pic>
        <p:nvPicPr>
          <p:cNvPr id="20" name="图片 19" descr="211d71adb45ecfac28b03bb3555f93fe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231620" y="7746365"/>
            <a:ext cx="540000" cy="540000"/>
          </a:xfrm>
          <a:prstGeom prst="rect">
            <a:avLst/>
          </a:prstGeom>
        </p:spPr>
      </p:pic>
      <p:pic>
        <p:nvPicPr>
          <p:cNvPr id="21" name="图片 20" descr="a354c92a74fa089e1cef0cbfad202db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45638" y="7748905"/>
            <a:ext cx="540000" cy="5400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161270" y="7748905"/>
            <a:ext cx="4112260" cy="4959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32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修自行车、夜里起来关窗户  </a:t>
            </a:r>
            <a:endParaRPr lang="en-US" sz="2325" dirty="0"/>
          </a:p>
        </p:txBody>
      </p:sp>
      <p:sp>
        <p:nvSpPr>
          <p:cNvPr id="24" name="Text 12"/>
          <p:cNvSpPr/>
          <p:nvPr/>
        </p:nvSpPr>
        <p:spPr>
          <a:xfrm>
            <a:off x="14852015" y="7746365"/>
            <a:ext cx="1905000" cy="542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他很能干</a:t>
            </a:r>
            <a:endParaRPr lang="en-US" sz="23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7" grpId="0"/>
      <p:bldP spid="29" grpId="0" bldLvl="0" animBg="1"/>
      <p:bldP spid="19" grpId="0"/>
      <p:bldP spid="31" grpId="0" bldLvl="0" animBg="1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10160" y="2927985"/>
            <a:ext cx="18277840" cy="5360670"/>
          </a:xfrm>
          <a:prstGeom prst="rect">
            <a:avLst/>
          </a:prstGeom>
          <a:solidFill>
            <a:srgbClr val="FFF0D3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8" name="图片 27" descr="我的家人-27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4692650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选一件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事情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说给同桌听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569970"/>
            <a:ext cx="8906510" cy="1479550"/>
          </a:xfrm>
          <a:prstGeom prst="roundRect">
            <a:avLst>
              <a:gd name="adj" fmla="val 17391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3691890"/>
            <a:ext cx="8314055" cy="151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只讲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发生了什么</a:t>
            </a:r>
            <a:r>
              <a:rPr 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，不评价这个人怎么样；</a:t>
            </a:r>
            <a:endParaRPr lang="en-US" sz="2800" b="1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同桌听完不点评</a:t>
            </a:r>
            <a:r>
              <a:rPr lang="zh-CN" alt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</a:t>
            </a:r>
            <a:r>
              <a:rPr 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得好坏，只问两个问题：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859280" y="5600700"/>
            <a:ext cx="6252845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这件事，你是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什么时候看到的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775" dirty="0"/>
          </a:p>
        </p:txBody>
      </p:sp>
      <p:sp>
        <p:nvSpPr>
          <p:cNvPr id="14" name="Text 11"/>
          <p:cNvSpPr/>
          <p:nvPr/>
        </p:nvSpPr>
        <p:spPr>
          <a:xfrm>
            <a:off x="1859280" y="6755130"/>
            <a:ext cx="5356860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当时，他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说了什么话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775" dirty="0"/>
          </a:p>
        </p:txBody>
      </p:sp>
      <p:sp>
        <p:nvSpPr>
          <p:cNvPr id="16" name="Text 12"/>
          <p:cNvSpPr/>
          <p:nvPr/>
        </p:nvSpPr>
        <p:spPr>
          <a:xfrm>
            <a:off x="2038350" y="8679180"/>
            <a:ext cx="12329160" cy="7296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“爸爸修台灯一直忙到十一点”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没有说辛苦，可是听完，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我们已经感受到了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  <p:sp>
        <p:nvSpPr>
          <p:cNvPr id="17" name="Text 1"/>
          <p:cNvSpPr/>
          <p:nvPr/>
        </p:nvSpPr>
        <p:spPr>
          <a:xfrm>
            <a:off x="1219200" y="553085"/>
            <a:ext cx="3055620" cy="4946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回忆生活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小事</a:t>
            </a:r>
            <a:endParaRPr lang="en-US" sz="2400" dirty="0"/>
          </a:p>
        </p:txBody>
      </p:sp>
      <p:sp>
        <p:nvSpPr>
          <p:cNvPr id="26" name="Shape 5"/>
          <p:cNvSpPr/>
          <p:nvPr>
            <p:custDataLst>
              <p:tags r:id="rId3"/>
            </p:custDataLst>
          </p:nvPr>
        </p:nvSpPr>
        <p:spPr>
          <a:xfrm>
            <a:off x="1219200" y="560133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6"/>
          <p:cNvSpPr/>
          <p:nvPr>
            <p:custDataLst>
              <p:tags r:id="rId4"/>
            </p:custDataLst>
          </p:nvPr>
        </p:nvSpPr>
        <p:spPr>
          <a:xfrm>
            <a:off x="1211263" y="556450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5"/>
            </p:custDataLst>
          </p:nvPr>
        </p:nvSpPr>
        <p:spPr>
          <a:xfrm>
            <a:off x="1219200" y="680847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 6"/>
          <p:cNvSpPr/>
          <p:nvPr>
            <p:custDataLst>
              <p:tags r:id="rId6"/>
            </p:custDataLst>
          </p:nvPr>
        </p:nvSpPr>
        <p:spPr>
          <a:xfrm>
            <a:off x="1211263" y="677164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pic>
        <p:nvPicPr>
          <p:cNvPr id="5" name="图片 4" descr="我的家人-23-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2865" y="3768090"/>
            <a:ext cx="7591425" cy="4770755"/>
          </a:xfrm>
          <a:prstGeom prst="rect">
            <a:avLst/>
          </a:prstGeom>
        </p:spPr>
      </p:pic>
      <p:pic>
        <p:nvPicPr>
          <p:cNvPr id="23" name="图片 22" descr="e586ea7d877a0135e2b6db8a802a3d3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200150" y="850646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1" grpId="0"/>
      <p:bldP spid="26" grpId="0" animBg="1"/>
      <p:bldP spid="3" grpId="0"/>
      <p:bldP spid="14" grpId="0"/>
      <p:bldP spid="29" grpId="0" animBg="1"/>
      <p:bldP spid="19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8" name="图片 27" descr="我的家人-27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210185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判断对比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8633787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这两段话，哪一段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更符合本次习作的要求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3205" dirty="0"/>
          </a:p>
        </p:txBody>
      </p:sp>
      <p:sp>
        <p:nvSpPr>
          <p:cNvPr id="17" name="Text 14"/>
          <p:cNvSpPr/>
          <p:nvPr/>
        </p:nvSpPr>
        <p:spPr>
          <a:xfrm>
            <a:off x="1047750" y="7142480"/>
            <a:ext cx="15858490" cy="438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第一段介绍了四个人，外貌、工作都写到了，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但是从头到尾，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一件完整的事例都没有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47750" y="7935595"/>
            <a:ext cx="15858490" cy="438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第二段只写妹妹一个人，完整记下了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拿橡皮这一件小事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。教材要求的“事例”，就是实实在在发生过的一件事。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47750" y="8728710"/>
            <a:ext cx="15858490" cy="438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写一位或几位家人都可以：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重点详写一位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，其余简要介绍即可，不必每人都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写一件事。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Shape 5"/>
          <p:cNvSpPr/>
          <p:nvPr>
            <p:custDataLst>
              <p:tags r:id="rId3"/>
            </p:custDataLst>
          </p:nvPr>
        </p:nvSpPr>
        <p:spPr>
          <a:xfrm>
            <a:off x="1047750" y="2705100"/>
            <a:ext cx="7865745" cy="3992245"/>
          </a:xfrm>
          <a:prstGeom prst="roundRect">
            <a:avLst>
              <a:gd name="adj" fmla="val 4390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25" name="Shape 6"/>
          <p:cNvSpPr/>
          <p:nvPr>
            <p:custDataLst>
              <p:tags r:id="rId4"/>
            </p:custDataLst>
          </p:nvPr>
        </p:nvSpPr>
        <p:spPr>
          <a:xfrm>
            <a:off x="1047750" y="27146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26" name="Text 7"/>
          <p:cNvSpPr/>
          <p:nvPr>
            <p:custDataLst>
              <p:tags r:id="rId5"/>
            </p:custDataLst>
          </p:nvPr>
        </p:nvSpPr>
        <p:spPr>
          <a:xfrm>
            <a:off x="3112135" y="2840355"/>
            <a:ext cx="368109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第一段</a:t>
            </a:r>
            <a:endParaRPr lang="zh-CN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10"/>
          <p:cNvSpPr/>
          <p:nvPr>
            <p:custDataLst>
              <p:tags r:id="rId6"/>
            </p:custDataLst>
          </p:nvPr>
        </p:nvSpPr>
        <p:spPr>
          <a:xfrm>
            <a:off x="9353550" y="2705100"/>
            <a:ext cx="7865745" cy="3992245"/>
          </a:xfrm>
          <a:prstGeom prst="roundRect">
            <a:avLst>
              <a:gd name="adj" fmla="val 4390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20" name="Shape 11"/>
          <p:cNvSpPr/>
          <p:nvPr>
            <p:custDataLst>
              <p:tags r:id="rId7"/>
            </p:custDataLst>
          </p:nvPr>
        </p:nvSpPr>
        <p:spPr>
          <a:xfrm>
            <a:off x="9353550" y="27146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29" name="Text 12"/>
          <p:cNvSpPr/>
          <p:nvPr>
            <p:custDataLst>
              <p:tags r:id="rId8"/>
            </p:custDataLst>
          </p:nvPr>
        </p:nvSpPr>
        <p:spPr>
          <a:xfrm>
            <a:off x="11235055" y="2840355"/>
            <a:ext cx="362013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第二段</a:t>
            </a:r>
            <a:endParaRPr lang="zh-CN" altLang="en-US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256030" y="3599180"/>
            <a:ext cx="7888605" cy="2771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3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3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我家有四口人。爸爸个子很高，站在门口能碰到门框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上沿，他在工地上开吊车，早出晚归。妈妈头发短短的，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说话嗓门大，她做的红烧肉是全家最爱吃的一道菜。妹妹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今年五岁，扎两个小辫子，一天到晚在屋里跑来跑去。还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有我，我是四年级的学生。我们一家人过得很热闹。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538970" y="3599180"/>
            <a:ext cx="8462010" cy="3011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3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3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我家妹妹五岁。上个星期天早上我在写作业，她搬了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张小板凳坐到我旁边，把下巴搁在桌沿上看我写。看了一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会儿，她伸手把我的橡皮拿走了，说：“哥哥你写错了我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帮你擦。”我说我没写错。她想了想，又把橡皮放回来，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小声说：“那你写错了再叫我。”然后</a:t>
            </a:r>
            <a:r>
              <a:rPr lang="zh-CN" altLang="en-US" sz="23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一直坐在那儿等着，</a:t>
            </a:r>
            <a:endParaRPr lang="zh-CN" altLang="en-US" sz="23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等到我写完</a:t>
            </a:r>
            <a:r>
              <a:rPr lang="zh-CN" altLang="en-US" sz="23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6"/>
          <p:cNvSpPr/>
          <p:nvPr/>
        </p:nvSpPr>
        <p:spPr>
          <a:xfrm>
            <a:off x="1047750" y="3730625"/>
            <a:ext cx="16192500" cy="2418715"/>
          </a:xfrm>
          <a:prstGeom prst="roundRect">
            <a:avLst>
              <a:gd name="adj" fmla="val 8338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/>
          <a:p/>
        </p:txBody>
      </p:sp>
      <p:sp>
        <p:nvSpPr>
          <p:cNvPr id="27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8" name="图片 27" descr="我的家人-27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70497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6513830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老师给这位姥爷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补上一件事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625090"/>
            <a:ext cx="16192500" cy="918210"/>
          </a:xfrm>
          <a:prstGeom prst="roundRect">
            <a:avLst>
              <a:gd name="adj" fmla="val 14184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41120" y="2838450"/>
            <a:ext cx="15823565" cy="7181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“姥爷已经退休了，每天练习书法，一年三百六十五天从不间断。”意思很清楚，可是姥爷</a:t>
            </a:r>
            <a:r>
              <a:rPr lang="en-US" sz="2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真实的样子</a:t>
            </a:r>
            <a:r>
              <a:rPr lang="en-US" sz="2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，仍然想象不出来。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83030" y="6450330"/>
            <a:ext cx="9148445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听完这段</a:t>
            </a:r>
            <a:r>
              <a:rPr lang="zh-CN" altLang="en-US" sz="27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话</a:t>
            </a:r>
            <a:r>
              <a:rPr lang="en-US" sz="27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，你觉得这是一位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怎样的姥爷</a:t>
            </a:r>
            <a:r>
              <a:rPr lang="en-US" sz="27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700" b="1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087245" y="8825865"/>
            <a:ext cx="11891010" cy="735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这段话没有写“姥爷很认真、很有耐心”，大家却都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自己读出来了</a:t>
            </a: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0" dirty="0"/>
          </a:p>
        </p:txBody>
      </p:sp>
      <p:sp>
        <p:nvSpPr>
          <p:cNvPr id="15" name="文本框 14"/>
          <p:cNvSpPr txBox="1"/>
          <p:nvPr/>
        </p:nvSpPr>
        <p:spPr>
          <a:xfrm>
            <a:off x="1356360" y="4010660"/>
            <a:ext cx="16080740" cy="1727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>
                <a:solidFill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>
                <a:solidFill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去年腊月，姥爷答应给楼下几户人家写春联。那天下午他把</a:t>
            </a:r>
            <a:r>
              <a:rPr lang="zh-CN" altLang="en-US" sz="24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八仙桌搬到窗底下</a:t>
            </a:r>
            <a:r>
              <a:rPr lang="zh-CN" altLang="en-US" sz="2400">
                <a:solidFill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，红纸裁成一条一条铺开，砚台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压在最边上那张纸角上。写第一副的时候，“福”字最后那一笔他</a:t>
            </a:r>
            <a:r>
              <a:rPr lang="zh-CN" altLang="en-US" sz="24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收得很慢</a:t>
            </a:r>
            <a:r>
              <a:rPr lang="zh-CN" altLang="en-US" sz="2400">
                <a:solidFill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，笔尖在纸上顿了一下才提起来。写完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一副，他直起腰，捏着红纸的两个角，轻轻放到旁边的椅子上晾着，然后接着写第二副。那天下午他</a:t>
            </a:r>
            <a:r>
              <a:rPr lang="zh-CN" altLang="en-US" sz="24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一直写到天黑</a:t>
            </a:r>
            <a:r>
              <a:rPr lang="zh-CN" altLang="en-US" sz="2400">
                <a:solidFill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 flipV="1">
            <a:off x="1047750" y="7120255"/>
            <a:ext cx="2085975" cy="1172210"/>
            <a:chOff x="9795" y="11124"/>
            <a:chExt cx="5448" cy="2738"/>
          </a:xfrm>
        </p:grpSpPr>
        <p:sp>
          <p:nvSpPr>
            <p:cNvPr id="17" name="圆角矩形 16"/>
            <p:cNvSpPr/>
            <p:nvPr/>
          </p:nvSpPr>
          <p:spPr>
            <a:xfrm>
              <a:off x="9795" y="11124"/>
              <a:ext cx="5449" cy="228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flipV="1">
              <a:off x="10392" y="13360"/>
              <a:ext cx="725" cy="502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176020" y="7490460"/>
            <a:ext cx="2166620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做事很认真</a:t>
            </a:r>
            <a:endParaRPr lang="zh-CN" altLang="en-US" sz="26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 flipV="1">
            <a:off x="3422650" y="7120255"/>
            <a:ext cx="4371975" cy="1172210"/>
            <a:chOff x="9795" y="11124"/>
            <a:chExt cx="5448" cy="2738"/>
          </a:xfrm>
        </p:grpSpPr>
        <p:sp>
          <p:nvSpPr>
            <p:cNvPr id="20" name="圆角矩形 19"/>
            <p:cNvSpPr/>
            <p:nvPr/>
          </p:nvSpPr>
          <p:spPr>
            <a:xfrm>
              <a:off x="9795" y="11124"/>
              <a:ext cx="5449" cy="228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 flipV="1">
              <a:off x="10392" y="13360"/>
              <a:ext cx="725" cy="502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3535045" y="7490460"/>
            <a:ext cx="4725035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答应别人的事就会坚持做完</a:t>
            </a:r>
            <a:endParaRPr lang="zh-CN" altLang="en-US" sz="26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 flipV="1">
            <a:off x="8088630" y="7122795"/>
            <a:ext cx="6351905" cy="1172210"/>
            <a:chOff x="9795" y="11124"/>
            <a:chExt cx="5448" cy="2738"/>
          </a:xfrm>
        </p:grpSpPr>
        <p:sp>
          <p:nvSpPr>
            <p:cNvPr id="26" name="圆角矩形 25"/>
            <p:cNvSpPr/>
            <p:nvPr/>
          </p:nvSpPr>
          <p:spPr>
            <a:xfrm>
              <a:off x="9795" y="11124"/>
              <a:ext cx="5449" cy="228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flipV="1">
              <a:off x="10392" y="13360"/>
              <a:ext cx="725" cy="502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8308340" y="7536180"/>
            <a:ext cx="5749925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0" algn="l">
              <a:buClrTx/>
              <a:buSzTx/>
              <a:buFont typeface="Wingdings" panose="05000000000000000000" charset="0"/>
              <a:buNone/>
            </a:pPr>
            <a:r>
              <a:rPr lang="en-US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一直写到天黑，特别有耐心。</a:t>
            </a:r>
            <a:endParaRPr lang="en-US" altLang="en-US" sz="2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pic>
        <p:nvPicPr>
          <p:cNvPr id="31" name="图片 30" descr="e586ea7d877a0135e2b6db8a802a3d3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1002030" y="8643620"/>
            <a:ext cx="914400" cy="914400"/>
          </a:xfrm>
          <a:prstGeom prst="rect">
            <a:avLst/>
          </a:prstGeom>
        </p:spPr>
      </p:pic>
      <p:pic>
        <p:nvPicPr>
          <p:cNvPr id="36" name="图片 35" descr="我的家人-11-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07925" y="5713730"/>
            <a:ext cx="5680075" cy="4588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30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10160" y="2927985"/>
            <a:ext cx="18277840" cy="5360670"/>
          </a:xfrm>
          <a:prstGeom prst="rect">
            <a:avLst/>
          </a:prstGeom>
          <a:solidFill>
            <a:srgbClr val="FFF0D3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我的家人-15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2989580"/>
            <a:ext cx="6450965" cy="5057775"/>
          </a:xfrm>
          <a:prstGeom prst="rect">
            <a:avLst/>
          </a:prstGeom>
        </p:spPr>
      </p:pic>
      <p:sp>
        <p:nvSpPr>
          <p:cNvPr id="27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8" name="图片 27" descr="我的家人-27-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4993184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今天的写作思路：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倒过来写</a:t>
            </a:r>
            <a:endParaRPr lang="en-US" sz="3205" dirty="0"/>
          </a:p>
        </p:txBody>
      </p:sp>
      <p:sp>
        <p:nvSpPr>
          <p:cNvPr id="9" name="Text 6"/>
          <p:cNvSpPr/>
          <p:nvPr/>
        </p:nvSpPr>
        <p:spPr>
          <a:xfrm>
            <a:off x="3242945" y="7438390"/>
            <a:ext cx="4317365" cy="8642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先写事 再见人</a:t>
            </a:r>
            <a:endParaRPr lang="en-US" sz="4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787640" y="342900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149590" y="3295650"/>
            <a:ext cx="9143619" cy="1038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平时习惯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先定特点、再找事证明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；今天倒过来：先回忆一件真实发生的事，把它写具体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，让读者自己体会人物的特点</a:t>
            </a:r>
            <a:endParaRPr lang="zh-CN" altLang="en-US" sz="2625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787640" y="4912995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149590" y="4779645"/>
            <a:ext cx="8973185" cy="14928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just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两种写法都可以，</a:t>
            </a:r>
            <a:r>
              <a:rPr lang="zh-CN" altLang="en-US" sz="262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也可以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开头直接点明特点</a:t>
            </a:r>
            <a:r>
              <a:rPr lang="zh-CN" altLang="en-US" sz="262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，比如第一句就写“我姥爷很有毅力”，读者一读就能抓住重点，</a:t>
            </a:r>
            <a:r>
              <a:rPr lang="zh-CN" altLang="en-US" sz="2625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后面再用一件具体的事支撑这个特点</a:t>
            </a:r>
            <a:endParaRPr lang="zh-CN" altLang="en-US" sz="2625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787640" y="693801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149590" y="6804660"/>
            <a:ext cx="9143619" cy="1038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少用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“他很好”“他很能干”</a:t>
            </a:r>
            <a:r>
              <a:rPr lang="zh-CN" altLang="en-US" sz="262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这类笼统的评价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，几乎所有家人都适用，读者分不清写的是谁</a:t>
            </a:r>
            <a:endParaRPr lang="en-US" sz="2625" dirty="0"/>
          </a:p>
        </p:txBody>
      </p:sp>
      <p:sp>
        <p:nvSpPr>
          <p:cNvPr id="16" name="Text 13"/>
          <p:cNvSpPr/>
          <p:nvPr/>
        </p:nvSpPr>
        <p:spPr>
          <a:xfrm>
            <a:off x="3700145" y="8810625"/>
            <a:ext cx="979551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事情写具体了，这个人是什么样子，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读者自己就能读出来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  <p:pic>
        <p:nvPicPr>
          <p:cNvPr id="31" name="图片 30" descr="e586ea7d877a0135e2b6db8a802a3d3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2571750" y="864362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猜猜他是谁-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3010" y="6387465"/>
            <a:ext cx="3981450" cy="3735070"/>
          </a:xfrm>
          <a:prstGeom prst="rect">
            <a:avLst/>
          </a:prstGeom>
        </p:spPr>
      </p:pic>
      <p:sp>
        <p:nvSpPr>
          <p:cNvPr id="27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8" name="图片 27" descr="我的家人-27-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54559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5781040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记了这么多事，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选哪一件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3205" dirty="0"/>
          </a:p>
        </p:txBody>
      </p:sp>
      <p:sp>
        <p:nvSpPr>
          <p:cNvPr id="19" name="Text 16"/>
          <p:cNvSpPr/>
          <p:nvPr/>
        </p:nvSpPr>
        <p:spPr>
          <a:xfrm>
            <a:off x="2907030" y="8804910"/>
            <a:ext cx="12129135" cy="692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两种方法任选其一，选出那件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带自家独有细节、你印象最深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的事。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Shape 5"/>
          <p:cNvSpPr/>
          <p:nvPr>
            <p:custDataLst>
              <p:tags r:id="rId4"/>
            </p:custDataLst>
          </p:nvPr>
        </p:nvSpPr>
        <p:spPr>
          <a:xfrm>
            <a:off x="1047750" y="2705100"/>
            <a:ext cx="7865745" cy="3992245"/>
          </a:xfrm>
          <a:prstGeom prst="roundRect">
            <a:avLst>
              <a:gd name="adj" fmla="val 439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25" name="Shape 6"/>
          <p:cNvSpPr/>
          <p:nvPr>
            <p:custDataLst>
              <p:tags r:id="rId5"/>
            </p:custDataLst>
          </p:nvPr>
        </p:nvSpPr>
        <p:spPr>
          <a:xfrm>
            <a:off x="1047750" y="27146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26" name="Text 7"/>
          <p:cNvSpPr/>
          <p:nvPr>
            <p:custDataLst>
              <p:tags r:id="rId6"/>
            </p:custDataLst>
          </p:nvPr>
        </p:nvSpPr>
        <p:spPr>
          <a:xfrm>
            <a:off x="1969770" y="2840355"/>
            <a:ext cx="578040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方法一：选不容易与人重复的</a:t>
            </a:r>
            <a:endParaRPr lang="zh-CN" altLang="en-US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10"/>
          <p:cNvSpPr/>
          <p:nvPr>
            <p:custDataLst>
              <p:tags r:id="rId7"/>
            </p:custDataLst>
          </p:nvPr>
        </p:nvSpPr>
        <p:spPr>
          <a:xfrm>
            <a:off x="9353550" y="2705100"/>
            <a:ext cx="7865745" cy="3992245"/>
          </a:xfrm>
          <a:prstGeom prst="roundRect">
            <a:avLst>
              <a:gd name="adj" fmla="val 439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20" name="Shape 11"/>
          <p:cNvSpPr/>
          <p:nvPr>
            <p:custDataLst>
              <p:tags r:id="rId8"/>
            </p:custDataLst>
          </p:nvPr>
        </p:nvSpPr>
        <p:spPr>
          <a:xfrm>
            <a:off x="9353550" y="27146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29" name="Text 12"/>
          <p:cNvSpPr/>
          <p:nvPr>
            <p:custDataLst>
              <p:tags r:id="rId9"/>
            </p:custDataLst>
          </p:nvPr>
        </p:nvSpPr>
        <p:spPr>
          <a:xfrm>
            <a:off x="10579735" y="2840355"/>
            <a:ext cx="544449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方法二：选脑海中还有画面的</a:t>
            </a:r>
            <a:endParaRPr lang="zh-CN" altLang="en-US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835150" y="3599180"/>
            <a:ext cx="5413375" cy="1346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“妈妈每天给我做饭”</a:t>
            </a:r>
            <a:endParaRPr 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不少同学家里都有这件事</a:t>
            </a:r>
            <a:endParaRPr lang="zh-CN" altLang="en-US" sz="2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538970" y="3599180"/>
            <a:ext cx="7423150" cy="1402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合上小纸条回忆</a:t>
            </a:r>
            <a:endParaRPr 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他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站在哪里、手里拿着什么、说了什么话</a:t>
            </a:r>
            <a:endParaRPr lang="zh-CN" altLang="en-US" sz="2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878330" y="4979670"/>
            <a:ext cx="5413375" cy="1346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姥爷帮邻居写春联</a:t>
            </a:r>
            <a:endParaRPr lang="zh-CN" altLang="en-US" sz="2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这是</a:t>
            </a:r>
            <a:r>
              <a:rPr lang="zh-CN" altLang="en-US" sz="2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他家独有的经历</a:t>
            </a:r>
            <a:endParaRPr lang="zh-CN" altLang="en-US" sz="26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538970" y="5029200"/>
            <a:ext cx="7446010" cy="1402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画面越清晰，这件事就越好写</a:t>
            </a:r>
            <a:endParaRPr lang="zh-CN" altLang="en-US" sz="2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也是你</a:t>
            </a:r>
            <a:r>
              <a:rPr lang="zh-CN" altLang="en-US" sz="2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印象最深的事</a:t>
            </a:r>
            <a:endParaRPr lang="zh-CN" altLang="en-US" sz="26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0" name="图片 29" descr="211d71adb45ecfac28b03bb3555f93fe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44930" y="3714115"/>
            <a:ext cx="540000" cy="540000"/>
          </a:xfrm>
          <a:prstGeom prst="rect">
            <a:avLst/>
          </a:prstGeom>
        </p:spPr>
      </p:pic>
      <p:pic>
        <p:nvPicPr>
          <p:cNvPr id="31" name="图片 30" descr="a354c92a74fa089e1cef0cbfad202db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07783" y="5018405"/>
            <a:ext cx="540000" cy="540000"/>
          </a:xfrm>
          <a:prstGeom prst="rect">
            <a:avLst/>
          </a:prstGeom>
        </p:spPr>
      </p:pic>
      <p:pic>
        <p:nvPicPr>
          <p:cNvPr id="34" name="图片 33" descr="e586ea7d877a0135e2b6db8a802a3d3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5400000">
            <a:off x="1779270" y="864362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32" grpId="0"/>
      <p:bldP spid="21" grpId="0"/>
      <p:bldP spid="24" grpId="0" animBg="1"/>
      <p:bldP spid="29" grpId="0"/>
      <p:bldP spid="20" grpId="0" animBg="1"/>
      <p:bldP spid="33" grpId="0"/>
      <p:bldP spid="5" grpId="0" animBg="1"/>
      <p:bldP spid="23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3352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素材记录卡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1428750"/>
            <a:ext cx="2779776" cy="6819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素材记录卡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47750" y="2133600"/>
            <a:ext cx="9794498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老师以教材中的姥爷为例，提前填好了一份，看一看素材是怎样梳理的</a:t>
            </a:r>
            <a:endParaRPr lang="en-US" sz="22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47750" y="2781300"/>
            <a:ext cx="16192500" cy="5029200"/>
          </a:xfrm>
          <a:prstGeom prst="roundRect">
            <a:avLst>
              <a:gd name="adj" fmla="val 2652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90825"/>
            <a:ext cx="16173450" cy="67627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943225"/>
            <a:ext cx="58654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</a:t>
            </a:r>
            <a:endParaRPr lang="en-US" sz="2175" dirty="0"/>
          </a:p>
        </p:txBody>
      </p:sp>
      <p:sp>
        <p:nvSpPr>
          <p:cNvPr id="10" name="Shape 7"/>
          <p:cNvSpPr/>
          <p:nvPr/>
        </p:nvSpPr>
        <p:spPr>
          <a:xfrm>
            <a:off x="7343775" y="2790825"/>
            <a:ext cx="9525" cy="676275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658100" y="2943225"/>
            <a:ext cx="95644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我的关键词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1057275" y="3467100"/>
            <a:ext cx="16173450" cy="6191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600450"/>
            <a:ext cx="586549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我写家里哪</a:t>
            </a:r>
            <a:r>
              <a:rPr lang="zh-CN" alt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一位</a:t>
            </a:r>
            <a:endParaRPr lang="zh-CN" altLang="en-US" sz="21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343775" y="3467100"/>
            <a:ext cx="9525" cy="6191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658100" y="3600450"/>
            <a:ext cx="592836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姥爷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4086225"/>
            <a:ext cx="16173450" cy="6191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219575"/>
            <a:ext cx="586549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想起来的事（几件都可以）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7343775" y="4086225"/>
            <a:ext cx="9525" cy="6191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658100" y="4219575"/>
            <a:ext cx="592836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写春联、教我握笔、早上练字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057275" y="4705350"/>
            <a:ext cx="16173450" cy="6191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4838700"/>
            <a:ext cx="586549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挑中的是哪一件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7343775" y="4705350"/>
            <a:ext cx="9525" cy="6191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658100" y="4838700"/>
            <a:ext cx="592836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写春联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57275" y="5324475"/>
            <a:ext cx="16173450" cy="6191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5457825"/>
            <a:ext cx="586549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挑它的理由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7343775" y="5324475"/>
            <a:ext cx="9525" cy="6191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7658100" y="5457825"/>
            <a:ext cx="592836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这件事是我们家独有的经历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1057275" y="5943600"/>
            <a:ext cx="16173450" cy="6191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6076950"/>
            <a:ext cx="586549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这件事里，他做了什么具体动作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7343775" y="5943600"/>
            <a:ext cx="9525" cy="6191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7658100" y="6076950"/>
            <a:ext cx="592836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搬桌、裁纸、压好红纸、按膝盖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1057275" y="6562725"/>
            <a:ext cx="16173450" cy="6191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6696075"/>
            <a:ext cx="586549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这件事里，他说了什么话</a:t>
            </a:r>
            <a:endParaRPr lang="en-US" sz="2100" dirty="0"/>
          </a:p>
        </p:txBody>
      </p:sp>
      <p:sp>
        <p:nvSpPr>
          <p:cNvPr id="34" name="Shape 31"/>
          <p:cNvSpPr/>
          <p:nvPr/>
        </p:nvSpPr>
        <p:spPr>
          <a:xfrm>
            <a:off x="7343775" y="6562725"/>
            <a:ext cx="9525" cy="6191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7551420" y="6696075"/>
            <a:ext cx="592836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“再写两副，人家等着贴”</a:t>
            </a:r>
            <a:endParaRPr lang="en-US" sz="2100" dirty="0"/>
          </a:p>
        </p:txBody>
      </p:sp>
      <p:sp>
        <p:nvSpPr>
          <p:cNvPr id="36" name="Shape 33"/>
          <p:cNvSpPr/>
          <p:nvPr/>
        </p:nvSpPr>
        <p:spPr>
          <a:xfrm>
            <a:off x="1057275" y="7181850"/>
            <a:ext cx="16173450" cy="6191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362075" y="7315200"/>
            <a:ext cx="586549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最后回来填：他是个什么样的人</a:t>
            </a:r>
            <a:endParaRPr lang="en-US" sz="2100" dirty="0"/>
          </a:p>
        </p:txBody>
      </p:sp>
      <p:sp>
        <p:nvSpPr>
          <p:cNvPr id="38" name="Shape 35"/>
          <p:cNvSpPr/>
          <p:nvPr/>
        </p:nvSpPr>
        <p:spPr>
          <a:xfrm>
            <a:off x="7343775" y="7181850"/>
            <a:ext cx="9525" cy="6191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7658100" y="7315200"/>
            <a:ext cx="592836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（先空着，等前面都填完再回头填）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93470" y="8759190"/>
            <a:ext cx="1246251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为什么不选“早上练字”？很多老人都会，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写春联是他家独有的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3" grpId="0"/>
      <p:bldP spid="27" grpId="0"/>
      <p:bldP spid="31" grpId="0"/>
      <p:bldP spid="35" grpId="0"/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我的家人-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31695"/>
            <a:ext cx="5503545" cy="6477635"/>
          </a:xfrm>
          <a:prstGeom prst="rect">
            <a:avLst/>
          </a:prstGeom>
        </p:spPr>
      </p:pic>
      <p:sp>
        <p:nvSpPr>
          <p:cNvPr id="27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8" name="图片 27" descr="我的家人-27-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233870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素材记录卡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7676515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现在轮到你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填写自己的素材记录卡</a:t>
            </a:r>
            <a:endParaRPr lang="en-US" sz="3205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6583045" y="3511550"/>
            <a:ext cx="10232390" cy="800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每栏只写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三五个关键词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，自己看得懂即可，不必写成完整长句</a:t>
            </a:r>
            <a:endParaRPr lang="en-US" sz="2700" dirty="0"/>
          </a:p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6583045" y="4860290"/>
            <a:ext cx="6863080" cy="538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家人当时说的那句话，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尽量按原话记录</a:t>
            </a:r>
            <a:endParaRPr lang="en-US" sz="27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6"/>
            </p:custDataLst>
          </p:nvPr>
        </p:nvSpPr>
        <p:spPr>
          <a:xfrm>
            <a:off x="6583045" y="6102350"/>
            <a:ext cx="8686800" cy="538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最后一栏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先不填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，等前面全部填完再回头填</a:t>
            </a:r>
            <a:endParaRPr lang="en-US" sz="27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1047750" y="7723505"/>
            <a:ext cx="17732375" cy="885825"/>
          </a:xfrm>
          <a:prstGeom prst="roundRect">
            <a:avLst>
              <a:gd name="adj" fmla="val 1720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7915275"/>
            <a:ext cx="14977110" cy="6178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6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“做了什么”一栏：</a:t>
            </a:r>
            <a:r>
              <a:rPr lang="en-US" sz="26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写他手上正在做的动作，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不写“很认真”“很辛苦”这类</a:t>
            </a:r>
            <a:r>
              <a:rPr lang="zh-CN" alt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空泛的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</a:t>
            </a:r>
            <a:r>
              <a:rPr lang="en-US" sz="26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0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956935" y="8890000"/>
            <a:ext cx="8810625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填不下去时想一想：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上个星期天，他在家做了些什么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605" dirty="0"/>
          </a:p>
        </p:txBody>
      </p:sp>
      <p:sp>
        <p:nvSpPr>
          <p:cNvPr id="26" name="Shape 5"/>
          <p:cNvSpPr/>
          <p:nvPr>
            <p:custDataLst>
              <p:tags r:id="rId7"/>
            </p:custDataLst>
          </p:nvPr>
        </p:nvSpPr>
        <p:spPr>
          <a:xfrm>
            <a:off x="5956935" y="352425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Text 6"/>
          <p:cNvSpPr/>
          <p:nvPr>
            <p:custDataLst>
              <p:tags r:id="rId8"/>
            </p:custDataLst>
          </p:nvPr>
        </p:nvSpPr>
        <p:spPr>
          <a:xfrm>
            <a:off x="5948998" y="348742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9"/>
            </p:custDataLst>
          </p:nvPr>
        </p:nvSpPr>
        <p:spPr>
          <a:xfrm>
            <a:off x="5956935" y="486854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Text 6"/>
          <p:cNvSpPr/>
          <p:nvPr>
            <p:custDataLst>
              <p:tags r:id="rId10"/>
            </p:custDataLst>
          </p:nvPr>
        </p:nvSpPr>
        <p:spPr>
          <a:xfrm>
            <a:off x="5948998" y="483171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Shape 5"/>
          <p:cNvSpPr/>
          <p:nvPr>
            <p:custDataLst>
              <p:tags r:id="rId11"/>
            </p:custDataLst>
          </p:nvPr>
        </p:nvSpPr>
        <p:spPr>
          <a:xfrm>
            <a:off x="5956935" y="613664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Text 6"/>
          <p:cNvSpPr/>
          <p:nvPr>
            <p:custDataLst>
              <p:tags r:id="rId12"/>
            </p:custDataLst>
          </p:nvPr>
        </p:nvSpPr>
        <p:spPr>
          <a:xfrm>
            <a:off x="5948998" y="609981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5" grpId="0"/>
      <p:bldP spid="29" grpId="0" bldLvl="0" animBg="1"/>
      <p:bldP spid="20" grpId="0"/>
      <p:bldP spid="31" grpId="0" bldLvl="0" animBg="1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8" name="图片 27" descr="我的家人-27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213296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素材记录卡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7040245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说一说：你选定了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哪一件事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881063"/>
          </a:xfrm>
          <a:prstGeom prst="roundRect">
            <a:avLst>
              <a:gd name="adj" fmla="val 17297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0175" y="3076575"/>
            <a:ext cx="6463665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我选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爸爸修台灯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，一直修到十一点。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1047750" y="3929063"/>
            <a:ext cx="16192500" cy="881063"/>
          </a:xfrm>
          <a:prstGeom prst="roundRect">
            <a:avLst>
              <a:gd name="adj" fmla="val 17297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0175" y="4147820"/>
            <a:ext cx="8559800" cy="619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我写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奶奶找老花镜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，找了半天，眼镜其实就戴在她头上。</a:t>
            </a:r>
            <a:endParaRPr lang="en-US" sz="2325" dirty="0"/>
          </a:p>
        </p:txBody>
      </p:sp>
      <p:sp>
        <p:nvSpPr>
          <p:cNvPr id="11" name="Shape 8"/>
          <p:cNvSpPr/>
          <p:nvPr/>
        </p:nvSpPr>
        <p:spPr>
          <a:xfrm>
            <a:off x="1047750" y="5000625"/>
            <a:ext cx="16192500" cy="881063"/>
          </a:xfrm>
          <a:prstGeom prst="roundRect">
            <a:avLst>
              <a:gd name="adj" fmla="val 17297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0175" y="5219700"/>
            <a:ext cx="5836285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我打算写</a:t>
            </a:r>
            <a:r>
              <a:rPr lang="en-US" sz="23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妈妈做饭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，她每天都会做饭。</a:t>
            </a:r>
            <a:endParaRPr lang="en-US" sz="2325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047750" y="6096000"/>
            <a:ext cx="16192500" cy="1516261"/>
          </a:xfrm>
          <a:prstGeom prst="roundRect">
            <a:avLst>
              <a:gd name="adj" fmla="val 11307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66850" y="6351270"/>
            <a:ext cx="15814929" cy="9828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再回忆一下：妈妈做饭，有没有哪一次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和平时不一样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？“有一回停电，她打着手电炒菜”“我生日那天，她天</a:t>
            </a:r>
            <a:endParaRPr lang="en-US" sz="2325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还没亮就起床炖汤”，这样的事就适合写。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2785110" y="8816340"/>
            <a:ext cx="107327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现在填写最后一栏：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能顺利填好，就说明这件事例选对了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  <p:pic>
        <p:nvPicPr>
          <p:cNvPr id="34" name="图片 33" descr="e586ea7d877a0135e2b6db8a802a3d3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1779270" y="8643620"/>
            <a:ext cx="914400" cy="914400"/>
          </a:xfrm>
          <a:prstGeom prst="rect">
            <a:avLst/>
          </a:prstGeom>
        </p:spPr>
      </p:pic>
      <p:pic>
        <p:nvPicPr>
          <p:cNvPr id="5" name="图片 4" descr="bff0a9fb2a3cfb45b1ad290b4b196f9c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7318693" y="5212715"/>
            <a:ext cx="468000" cy="468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877175" y="5219700"/>
            <a:ext cx="4608830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这件事，很多同学家里都有</a:t>
            </a:r>
            <a:endParaRPr lang="en-US" sz="2325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8" name="图片 27" descr="我的家人-27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261239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28750" y="1562100"/>
            <a:ext cx="6663690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那张表格，变成了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完整的片段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373630"/>
            <a:ext cx="16192500" cy="6732000"/>
          </a:xfrm>
          <a:prstGeom prst="roundRect">
            <a:avLst>
              <a:gd name="adj" fmla="val 2493"/>
            </a:avLst>
          </a:prstGeom>
          <a:solidFill>
            <a:srgbClr val="F7F5F2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257300" y="9277350"/>
            <a:ext cx="239712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看得见的动作</a:t>
            </a:r>
            <a:endParaRPr lang="en-US" sz="2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578225" y="9277350"/>
            <a:ext cx="226631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他说的原话</a:t>
            </a:r>
            <a:endParaRPr lang="en-US" sz="2200" b="1" dirty="0">
              <a:solidFill>
                <a:srgbClr val="2F72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643245" y="9277350"/>
            <a:ext cx="272288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具体的数字</a:t>
            </a:r>
            <a:endParaRPr lang="en-US" sz="2200" b="1" dirty="0">
              <a:solidFill>
                <a:srgbClr val="4E9A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336040" y="2697480"/>
            <a:ext cx="1429512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b="1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我姥爷是那种说到做到的人，答应别人的事就一定会做好。</a:t>
            </a:r>
            <a:endParaRPr lang="zh-CN" altLang="en-US" sz="2400" b="1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36040" y="8277225"/>
            <a:ext cx="15889605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b="1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我姥爷平时话不多，一年到头就在那张八仙桌上写字。可那天下午我真切感受到，姥爷真是一个说到做到的人。</a:t>
            </a:r>
            <a:endParaRPr lang="zh-CN" altLang="en-US" sz="2400" b="1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336040" y="7290435"/>
            <a:ext cx="15875000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结果那天下午他一直写到天黑，直到屋里暗下来他才开了灯。只见桌上、椅子上、地上，摊满了晾着的红纸，</a:t>
            </a:r>
            <a:r>
              <a:rPr lang="zh-CN" altLang="en-US" sz="2400" b="1" spc="-70">
                <a:solidFill>
                  <a:schemeClr val="accent6">
                    <a:lumMod val="7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一共</a:t>
            </a:r>
            <a:endParaRPr lang="zh-CN" altLang="en-US" sz="2400" b="1" spc="-70">
              <a:solidFill>
                <a:schemeClr val="accent6">
                  <a:lumMod val="75000"/>
                </a:schemeClr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spc="-70">
                <a:solidFill>
                  <a:schemeClr val="accent6">
                    <a:lumMod val="7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十七副春联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。姥爷把手在裤子上擦了擦，说了句：</a:t>
            </a:r>
            <a:r>
              <a:rPr lang="zh-CN" altLang="en-US" sz="2400" b="1" spc="-70">
                <a:solidFill>
                  <a:schemeClr val="accent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“终于写完了。”</a:t>
            </a:r>
            <a:endParaRPr lang="zh-CN" altLang="en-US" sz="2400" b="1" spc="-70">
              <a:solidFill>
                <a:schemeClr val="accent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336040" y="3272155"/>
            <a:ext cx="16713835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去年腊月，楼下几户人家托姥爷写春联，他一口应下来。那天下午，他把</a:t>
            </a:r>
            <a:r>
              <a:rPr lang="zh-CN" altLang="en-US" sz="2400" b="1" spc="-70">
                <a:solidFill>
                  <a:srgbClr val="C0000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八仙桌从里屋搬到窗底下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，红纸裁成一条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一条铺开，砚台压在最边上那张纸角上。姥爷写字的时候不许人说话，我就搬了个小板凳坐在旁边看。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336040" y="4227830"/>
            <a:ext cx="16442690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写第一副的时候，“福”字最后那一笔他</a:t>
            </a:r>
            <a:r>
              <a:rPr lang="zh-CN" altLang="en-US" sz="2400" b="1" spc="-70">
                <a:solidFill>
                  <a:srgbClr val="C0000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收得很慢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，笔尖在纸上顿了一下，才慢慢提起来。写完一副，他就直起腰，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捏着红纸的两个角，轻轻放到旁边的椅子上晾着。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36040" y="5154930"/>
            <a:ext cx="15999460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我在边上数着，一副，两副。屋里静得很，只听见笔尖擦过红纸的沙沙声。写到第三副，他忽然停下笔，把毛笔搁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在砚台边上，</a:t>
            </a:r>
            <a:r>
              <a:rPr lang="zh-CN" altLang="en-US" sz="2400" b="1" spc="-70">
                <a:solidFill>
                  <a:srgbClr val="C0000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两只手在膝盖上按了按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。我这才看见，</a:t>
            </a:r>
            <a:r>
              <a:rPr lang="zh-CN" altLang="en-US" sz="2400" b="1" spc="-70">
                <a:solidFill>
                  <a:srgbClr val="C0000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他的手在抖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36040" y="6101080"/>
            <a:ext cx="840613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我说：“姥爷，你歇会儿吧，明天再写。”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336040" y="6677660"/>
            <a:ext cx="1184021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他没抬头，把笔又拿起来，说：</a:t>
            </a:r>
            <a:r>
              <a:rPr lang="zh-CN" altLang="en-US" sz="2400" b="1" spc="-70">
                <a:solidFill>
                  <a:schemeClr val="accent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“再写两副，人家等着贴。”</a:t>
            </a:r>
            <a:endParaRPr lang="zh-CN" altLang="en-US" sz="2400" b="1" spc="-70">
              <a:solidFill>
                <a:schemeClr val="accent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" grpId="0"/>
      <p:bldP spid="20" grpId="0"/>
      <p:bldP spid="19" grpId="0"/>
      <p:bldP spid="23" grpId="0"/>
      <p:bldP spid="24" grpId="0"/>
      <p:bldP spid="25" grpId="0"/>
      <p:bldP spid="29" grpId="0"/>
      <p:bldP spid="16" grpId="0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8" name="图片 27" descr="我的家人-27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40271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读样稿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5697220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开头有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两种写法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，都可以</a:t>
            </a:r>
            <a:endParaRPr lang="en-US" sz="3205" dirty="0"/>
          </a:p>
        </p:txBody>
      </p:sp>
      <p:sp>
        <p:nvSpPr>
          <p:cNvPr id="17" name="Shape 14"/>
          <p:cNvSpPr/>
          <p:nvPr/>
        </p:nvSpPr>
        <p:spPr>
          <a:xfrm>
            <a:off x="1047750" y="6736080"/>
            <a:ext cx="16192500" cy="1558290"/>
          </a:xfrm>
          <a:prstGeom prst="roundRect">
            <a:avLst>
              <a:gd name="adj" fmla="val 11268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28750" y="6884670"/>
            <a:ext cx="15893415" cy="13646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选第二种的同学：先</a:t>
            </a: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把特点句记在</a:t>
            </a:r>
            <a:r>
              <a:rPr lang="zh-CN" alt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小纸条</a:t>
            </a: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或素材记录卡上，全部写完再决定：移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到开头，或者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删去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不用</a:t>
            </a: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，完全</a:t>
            </a:r>
            <a:endParaRPr lang="en-US" sz="2400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靠事情让读者读懂这个人。</a:t>
            </a:r>
            <a:endParaRPr lang="en-US" sz="2400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874645" y="8790940"/>
            <a:ext cx="121551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只是构思，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先不动笔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第二课时写作时再落实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  <p:sp>
        <p:nvSpPr>
          <p:cNvPr id="24" name="Shape 5"/>
          <p:cNvSpPr/>
          <p:nvPr>
            <p:custDataLst>
              <p:tags r:id="rId3"/>
            </p:custDataLst>
          </p:nvPr>
        </p:nvSpPr>
        <p:spPr>
          <a:xfrm>
            <a:off x="1047750" y="2705100"/>
            <a:ext cx="7865745" cy="3286125"/>
          </a:xfrm>
          <a:prstGeom prst="roundRect">
            <a:avLst>
              <a:gd name="adj" fmla="val 439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25" name="Shape 6"/>
          <p:cNvSpPr/>
          <p:nvPr>
            <p:custDataLst>
              <p:tags r:id="rId4"/>
            </p:custDataLst>
          </p:nvPr>
        </p:nvSpPr>
        <p:spPr>
          <a:xfrm>
            <a:off x="1047750" y="27146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26" name="Text 7"/>
          <p:cNvSpPr/>
          <p:nvPr>
            <p:custDataLst>
              <p:tags r:id="rId5"/>
            </p:custDataLst>
          </p:nvPr>
        </p:nvSpPr>
        <p:spPr>
          <a:xfrm>
            <a:off x="1969770" y="2840355"/>
            <a:ext cx="578040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开头一：先写特点，再接事件</a:t>
            </a:r>
            <a:endParaRPr lang="zh-CN" altLang="en-US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10"/>
          <p:cNvSpPr/>
          <p:nvPr>
            <p:custDataLst>
              <p:tags r:id="rId6"/>
            </p:custDataLst>
          </p:nvPr>
        </p:nvSpPr>
        <p:spPr>
          <a:xfrm>
            <a:off x="9353550" y="2705100"/>
            <a:ext cx="7865745" cy="3286125"/>
          </a:xfrm>
          <a:prstGeom prst="roundRect">
            <a:avLst>
              <a:gd name="adj" fmla="val 439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20" name="Shape 11"/>
          <p:cNvSpPr/>
          <p:nvPr>
            <p:custDataLst>
              <p:tags r:id="rId7"/>
            </p:custDataLst>
          </p:nvPr>
        </p:nvSpPr>
        <p:spPr>
          <a:xfrm>
            <a:off x="9353550" y="27146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29" name="Text 12"/>
          <p:cNvSpPr/>
          <p:nvPr>
            <p:custDataLst>
              <p:tags r:id="rId8"/>
            </p:custDataLst>
          </p:nvPr>
        </p:nvSpPr>
        <p:spPr>
          <a:xfrm>
            <a:off x="10442575" y="2840355"/>
            <a:ext cx="593598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开头二：不说特点，直接写画面</a:t>
            </a:r>
            <a:endParaRPr lang="zh-CN" altLang="en-US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文本框 31"/>
          <p:cNvSpPr txBox="1"/>
          <p:nvPr>
            <p:custDataLst>
              <p:tags r:id="rId9"/>
            </p:custDataLst>
          </p:nvPr>
        </p:nvSpPr>
        <p:spPr>
          <a:xfrm>
            <a:off x="1218565" y="3660140"/>
            <a:ext cx="8034655" cy="1346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我姥爷是一个说到做到的人</a:t>
            </a:r>
            <a:r>
              <a:rPr lang="zh-CN" altLang="en-US" sz="26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。去年腊月，楼下</a:t>
            </a:r>
            <a:endParaRPr lang="zh-CN" altLang="en-US" sz="2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邻居来找姥爷写春联。”读者一读就抓住重点。</a:t>
            </a:r>
            <a:endParaRPr lang="zh-CN" altLang="en-US" sz="2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9538970" y="3660140"/>
            <a:ext cx="7978140" cy="1402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去年腊月的一个下午，姥爷把八仙桌搬到窗下</a:t>
            </a:r>
            <a:r>
              <a:rPr lang="zh-CN" altLang="en-US" sz="26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endParaRPr lang="zh-CN" altLang="en-US" sz="2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准备帮邻居写春联。”让读者自己感受这个人。</a:t>
            </a:r>
            <a:endParaRPr lang="zh-CN" altLang="en-US" sz="2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4" name="图片 33" descr="e586ea7d877a0135e2b6db8a802a3d3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1779270" y="864362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6" grpId="0"/>
      <p:bldP spid="32" grpId="0"/>
      <p:bldP spid="24" grpId="0" bldLvl="0" animBg="1"/>
      <p:bldP spid="29" grpId="0"/>
      <p:bldP spid="20" grpId="0" bldLvl="0" animBg="1"/>
      <p:bldP spid="33" grpId="0"/>
      <p:bldP spid="5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8" name="图片 27" descr="我的家人-27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56146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读样稿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5504815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再细读，思考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两个问题</a:t>
            </a:r>
            <a:endParaRPr lang="en-US" sz="3205" dirty="0"/>
          </a:p>
        </p:txBody>
      </p:sp>
      <p:sp>
        <p:nvSpPr>
          <p:cNvPr id="7" name="Shape 4"/>
          <p:cNvSpPr/>
          <p:nvPr>
            <p:custDataLst>
              <p:tags r:id="rId3"/>
            </p:custDataLst>
          </p:nvPr>
        </p:nvSpPr>
        <p:spPr>
          <a:xfrm>
            <a:off x="1047750" y="2952750"/>
            <a:ext cx="7886700" cy="3810000"/>
          </a:xfrm>
          <a:prstGeom prst="roundRect">
            <a:avLst>
              <a:gd name="adj" fmla="val 4500"/>
            </a:avLst>
          </a:prstGeom>
          <a:solidFill>
            <a:srgbClr val="FFF0D3"/>
          </a:solidFill>
          <a:ln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1466850" y="3333750"/>
            <a:ext cx="726630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问题① 中间这一大段，写了几件事？</a:t>
            </a:r>
            <a:endParaRPr 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2230755" y="4086225"/>
            <a:ext cx="6502400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altLang="zh-CN" sz="24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▶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一件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，从头到尾围绕“写春联”展开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2230755" y="4872355"/>
            <a:ext cx="6818630" cy="1035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altLang="zh-CN" sz="24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▶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选出来的这一件事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，足够写一大段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不必勉强再写第二件</a:t>
            </a:r>
            <a:endParaRPr lang="en-US" sz="2400" dirty="0"/>
          </a:p>
        </p:txBody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9353550" y="2952750"/>
            <a:ext cx="7886700" cy="3810000"/>
          </a:xfrm>
          <a:prstGeom prst="roundRect">
            <a:avLst>
              <a:gd name="adj" fmla="val 4500"/>
            </a:avLst>
          </a:prstGeom>
          <a:solidFill>
            <a:srgbClr val="FFF0D3"/>
          </a:solidFill>
          <a:ln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9772650" y="3333750"/>
            <a:ext cx="688657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问题② 哪一处细节看出姥爷吃力？</a:t>
            </a:r>
            <a:endParaRPr 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10536555" y="4086225"/>
            <a:ext cx="6169025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altLang="zh-CN" sz="24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▶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两只手在膝盖上按了按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他的手在抖</a:t>
            </a:r>
            <a:endParaRPr 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5"/>
          <p:cNvSpPr/>
          <p:nvPr>
            <p:custDataLst>
              <p:tags r:id="rId10"/>
            </p:custDataLst>
          </p:nvPr>
        </p:nvSpPr>
        <p:spPr>
          <a:xfrm>
            <a:off x="10536555" y="4872355"/>
            <a:ext cx="4970780" cy="13296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altLang="zh-CN" sz="24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▶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没有写一句“姥爷很累”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读者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自己体会到了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047750" y="7227124"/>
            <a:ext cx="16192500" cy="991046"/>
          </a:xfrm>
          <a:prstGeom prst="roundRect">
            <a:avLst>
              <a:gd name="adj" fmla="val 17300"/>
            </a:avLst>
          </a:prstGeom>
          <a:solidFill>
            <a:srgbClr val="FFF0D3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466850" y="7432675"/>
            <a:ext cx="13621385" cy="4959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</a:t>
            </a:r>
            <a:r>
              <a:rPr lang="en-US" sz="26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再写两副，人家等着贴。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”如果改成“姥爷说他要坚持写完”，读起来还一样吗？</a:t>
            </a:r>
            <a:endParaRPr 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819400" y="8767445"/>
            <a:ext cx="10748645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味道就不一样了。写作文，要尽量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还原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家人当时说的原话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  <p:pic>
        <p:nvPicPr>
          <p:cNvPr id="34" name="图片 33" descr="e586ea7d877a0135e2b6db8a802a3d3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1779270" y="864362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 animBg="1"/>
      <p:bldP spid="10" grpId="0"/>
      <p:bldP spid="12" grpId="0"/>
      <p:bldP spid="14" grpId="0"/>
      <p:bldP spid="13" grpId="0" animBg="1"/>
      <p:bldP spid="16" grpId="0"/>
      <p:bldP spid="18" grpId="0"/>
      <p:bldP spid="19" grpId="0" bldLvl="0" animBg="1"/>
      <p:bldP spid="20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38" name="图片 37" descr="我的家人-27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72021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旁批表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5121910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每一句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话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作用是什么</a:t>
            </a:r>
            <a:endParaRPr lang="zh-CN" altLang="en-US" sz="320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4914900"/>
          </a:xfrm>
          <a:prstGeom prst="roundRect">
            <a:avLst>
              <a:gd name="adj" fmla="val 2713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16173450" cy="7239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38475"/>
            <a:ext cx="105550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示范文里的句子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1896725" y="28670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211050" y="3038475"/>
            <a:ext cx="487489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这一句在做什么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590925"/>
            <a:ext cx="16173450" cy="6953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752850"/>
            <a:ext cx="105550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我姥爷是那种说到做到的人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11896725" y="3590925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211050" y="3752850"/>
            <a:ext cx="48748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开头直接点明人物特点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1057275" y="4286250"/>
            <a:ext cx="16173450" cy="6953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448175"/>
            <a:ext cx="105550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把八仙桌从里屋搬到窗底下，红纸裁成一条一条铺开</a:t>
            </a:r>
            <a:endParaRPr lang="en-US" sz="2175" dirty="0"/>
          </a:p>
        </p:txBody>
      </p:sp>
      <p:sp>
        <p:nvSpPr>
          <p:cNvPr id="18" name="Shape 15"/>
          <p:cNvSpPr/>
          <p:nvPr/>
        </p:nvSpPr>
        <p:spPr>
          <a:xfrm>
            <a:off x="11896725" y="4286250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2211050" y="4448175"/>
            <a:ext cx="48748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交代事情开端，写他在做什么</a:t>
            </a:r>
            <a:endParaRPr lang="en-US" sz="2175" dirty="0"/>
          </a:p>
        </p:txBody>
      </p:sp>
      <p:sp>
        <p:nvSpPr>
          <p:cNvPr id="20" name="Shape 17"/>
          <p:cNvSpPr/>
          <p:nvPr/>
        </p:nvSpPr>
        <p:spPr>
          <a:xfrm>
            <a:off x="1057275" y="4981575"/>
            <a:ext cx="16173450" cy="6953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5143500"/>
            <a:ext cx="105550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“福”字最后那一笔他收得很慢</a:t>
            </a:r>
            <a:endParaRPr lang="en-US" sz="2175" dirty="0"/>
          </a:p>
        </p:txBody>
      </p:sp>
      <p:sp>
        <p:nvSpPr>
          <p:cNvPr id="22" name="Shape 19"/>
          <p:cNvSpPr/>
          <p:nvPr/>
        </p:nvSpPr>
        <p:spPr>
          <a:xfrm>
            <a:off x="11896725" y="4981575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2211050" y="5143500"/>
            <a:ext cx="48748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细致刻画动作，写得慢、写得细</a:t>
            </a:r>
            <a:endParaRPr lang="en-US" sz="2175" dirty="0"/>
          </a:p>
        </p:txBody>
      </p:sp>
      <p:sp>
        <p:nvSpPr>
          <p:cNvPr id="24" name="Shape 21"/>
          <p:cNvSpPr/>
          <p:nvPr/>
        </p:nvSpPr>
        <p:spPr>
          <a:xfrm>
            <a:off x="1057275" y="5676900"/>
            <a:ext cx="16173450" cy="6953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5838825"/>
            <a:ext cx="105550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我这才看见，他的手在抖</a:t>
            </a:r>
            <a:endParaRPr lang="en-US" sz="2175" dirty="0"/>
          </a:p>
        </p:txBody>
      </p:sp>
      <p:sp>
        <p:nvSpPr>
          <p:cNvPr id="26" name="Shape 23"/>
          <p:cNvSpPr/>
          <p:nvPr/>
        </p:nvSpPr>
        <p:spPr>
          <a:xfrm>
            <a:off x="11896725" y="5676900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2211050" y="5838825"/>
            <a:ext cx="48748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不说累，靠动作传递感受</a:t>
            </a:r>
            <a:endParaRPr lang="en-US" sz="2175" dirty="0"/>
          </a:p>
        </p:txBody>
      </p:sp>
      <p:sp>
        <p:nvSpPr>
          <p:cNvPr id="28" name="Shape 25"/>
          <p:cNvSpPr/>
          <p:nvPr/>
        </p:nvSpPr>
        <p:spPr>
          <a:xfrm>
            <a:off x="1057275" y="6372225"/>
            <a:ext cx="16173450" cy="6953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6534150"/>
            <a:ext cx="105550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“再写两副，人家等着贴。”</a:t>
            </a:r>
            <a:endParaRPr lang="en-US" sz="2175" dirty="0"/>
          </a:p>
        </p:txBody>
      </p:sp>
      <p:sp>
        <p:nvSpPr>
          <p:cNvPr id="30" name="Shape 27"/>
          <p:cNvSpPr/>
          <p:nvPr/>
        </p:nvSpPr>
        <p:spPr>
          <a:xfrm>
            <a:off x="11896725" y="6372225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2211050" y="6534150"/>
            <a:ext cx="48748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记录人物当时的原话</a:t>
            </a:r>
            <a:endParaRPr lang="en-US" sz="2175" dirty="0"/>
          </a:p>
        </p:txBody>
      </p:sp>
      <p:sp>
        <p:nvSpPr>
          <p:cNvPr id="32" name="Shape 29"/>
          <p:cNvSpPr/>
          <p:nvPr/>
        </p:nvSpPr>
        <p:spPr>
          <a:xfrm>
            <a:off x="1057275" y="7067550"/>
            <a:ext cx="16173450" cy="6953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7229475"/>
            <a:ext cx="105550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一共十七副</a:t>
            </a:r>
            <a:endParaRPr lang="en-US" sz="2175" dirty="0"/>
          </a:p>
        </p:txBody>
      </p:sp>
      <p:sp>
        <p:nvSpPr>
          <p:cNvPr id="34" name="Shape 31"/>
          <p:cNvSpPr/>
          <p:nvPr/>
        </p:nvSpPr>
        <p:spPr>
          <a:xfrm>
            <a:off x="11896725" y="7067550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12211050" y="7229475"/>
            <a:ext cx="48748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用具体数字，代替模糊的“写了很多”</a:t>
            </a:r>
            <a:endParaRPr lang="en-US" sz="2175" dirty="0"/>
          </a:p>
        </p:txBody>
      </p:sp>
      <p:sp>
        <p:nvSpPr>
          <p:cNvPr id="36" name="Text 33"/>
          <p:cNvSpPr/>
          <p:nvPr/>
        </p:nvSpPr>
        <p:spPr>
          <a:xfrm>
            <a:off x="1047750" y="8804910"/>
            <a:ext cx="1300226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不必全部用上，优先做到两点：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写清他做了什么动作，记下他说过的话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393065" y="392430"/>
            <a:ext cx="17532985" cy="945896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  <p:txBody>
          <a:bodyPr/>
          <a:lstStyle/>
          <a:p/>
        </p:txBody>
      </p:sp>
      <p:sp>
        <p:nvSpPr>
          <p:cNvPr id="11" name="Text 3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250" dirty="0"/>
          </a:p>
        </p:txBody>
      </p:sp>
      <p:sp>
        <p:nvSpPr>
          <p:cNvPr id="12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2228850" y="5676900"/>
            <a:ext cx="502920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8667348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写下开头 · 自由写作 · 追问补写 · 对照修改 · 读给家人听</a:t>
            </a:r>
            <a:endParaRPr lang="en-US" sz="2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8" name="图片 27" descr="我的家人-27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94373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写下开头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6702552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素材记录卡放在旁边，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先只写开头</a:t>
            </a:r>
            <a:endParaRPr lang="en-US" sz="3205" dirty="0"/>
          </a:p>
        </p:txBody>
      </p:sp>
      <p:sp>
        <p:nvSpPr>
          <p:cNvPr id="7" name="Shape 4"/>
          <p:cNvSpPr/>
          <p:nvPr>
            <p:custDataLst>
              <p:tags r:id="rId3"/>
            </p:custDataLst>
          </p:nvPr>
        </p:nvSpPr>
        <p:spPr>
          <a:xfrm>
            <a:off x="1047750" y="309372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976312" y="3246120"/>
            <a:ext cx="157162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特点句</a:t>
            </a:r>
            <a:endParaRPr lang="en-US" sz="2250" dirty="0"/>
          </a:p>
        </p:txBody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2724150" y="2933700"/>
            <a:ext cx="14951583" cy="95339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看表格最后一栏。想放在开头的，空两格扩写成一句</a:t>
            </a:r>
            <a:endParaRPr lang="en-US" sz="2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“我姥爷是一个说到做到的人。”想直接写场景的，把它</a:t>
            </a:r>
            <a:r>
              <a:rPr lang="en-US" sz="2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</a:t>
            </a:r>
            <a:r>
              <a:rPr lang="en-US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在稿纸最下方备用</a:t>
            </a:r>
            <a:r>
              <a:rPr 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，写完再决定</a:t>
            </a:r>
            <a:endParaRPr lang="en-US" sz="2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是否使用。</a:t>
            </a:r>
            <a:endParaRPr lang="en-US" sz="2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7"/>
          <p:cNvSpPr/>
          <p:nvPr>
            <p:custDataLst>
              <p:tags r:id="rId6"/>
            </p:custDataLst>
          </p:nvPr>
        </p:nvSpPr>
        <p:spPr>
          <a:xfrm>
            <a:off x="1047750" y="4820543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7"/>
            </p:custDataLst>
          </p:nvPr>
        </p:nvSpPr>
        <p:spPr>
          <a:xfrm>
            <a:off x="976312" y="4972943"/>
            <a:ext cx="157162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写开篇</a:t>
            </a:r>
            <a:endParaRPr lang="en-US" sz="2250" dirty="0"/>
          </a:p>
        </p:txBody>
      </p:sp>
      <p:sp>
        <p:nvSpPr>
          <p:cNvPr id="12" name="Text 9"/>
          <p:cNvSpPr/>
          <p:nvPr>
            <p:custDataLst>
              <p:tags r:id="rId8"/>
            </p:custDataLst>
          </p:nvPr>
        </p:nvSpPr>
        <p:spPr>
          <a:xfrm>
            <a:off x="2724150" y="4675505"/>
            <a:ext cx="12586970" cy="9531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只交代这件事</a:t>
            </a:r>
            <a:r>
              <a:rPr lang="en-US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在什么时间、什么场景下开始</a:t>
            </a:r>
            <a:endParaRPr lang="en-US" sz="2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“去年腊月的一个下午，姥爷把八仙桌搬到窗底下。”写到这里，先停笔。</a:t>
            </a:r>
            <a:endParaRPr lang="en-US" sz="2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0"/>
          <p:cNvSpPr/>
          <p:nvPr>
            <p:custDataLst>
              <p:tags r:id="rId9"/>
            </p:custDataLst>
          </p:nvPr>
        </p:nvSpPr>
        <p:spPr>
          <a:xfrm>
            <a:off x="1047750" y="6288286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>
            <p:custDataLst>
              <p:tags r:id="rId10"/>
            </p:custDataLst>
          </p:nvPr>
        </p:nvSpPr>
        <p:spPr>
          <a:xfrm>
            <a:off x="976312" y="6440686"/>
            <a:ext cx="157162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先不抄</a:t>
            </a:r>
            <a:endParaRPr lang="en-US" sz="2250" dirty="0"/>
          </a:p>
        </p:txBody>
      </p:sp>
      <p:sp>
        <p:nvSpPr>
          <p:cNvPr id="15" name="Text 12"/>
          <p:cNvSpPr/>
          <p:nvPr>
            <p:custDataLst>
              <p:tags r:id="rId11"/>
            </p:custDataLst>
          </p:nvPr>
        </p:nvSpPr>
        <p:spPr>
          <a:xfrm>
            <a:off x="2724150" y="6097905"/>
            <a:ext cx="10452100" cy="1003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表格里的</a:t>
            </a:r>
            <a:r>
              <a:rPr lang="en-US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动作和对话先不抄</a:t>
            </a:r>
            <a:endParaRPr lang="en-US" sz="2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写春联、手发抖、说话这些</a:t>
            </a:r>
            <a:r>
              <a: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</a:t>
            </a:r>
            <a:r>
              <a:rPr 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，留到后面写经过时再用。</a:t>
            </a:r>
            <a:endParaRPr lang="en-US" sz="2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047750" y="7400925"/>
            <a:ext cx="16192500" cy="1045845"/>
          </a:xfrm>
          <a:prstGeom prst="roundRect">
            <a:avLst>
              <a:gd name="adj" fmla="val 1720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428750" y="7621905"/>
            <a:ext cx="15573375" cy="777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遇到不会写的字，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先空着或画小圆圈</a:t>
            </a:r>
            <a:r>
              <a:rPr lang="en-US" sz="28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，全部写完再补，不要停下来查字典而打断思路。</a:t>
            </a:r>
            <a:endParaRPr lang="en-US" sz="2800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428750" y="8713470"/>
            <a:ext cx="8778875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开头写好后，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顺着往下把整件事写完整即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8" name="图片 27" descr="我的家人-27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20701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6273165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顺着开头，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把整件事写完整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78867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66850" y="4122420"/>
            <a:ext cx="7934960" cy="1206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写经过时查看素材记录卡，把记下的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动作、</a:t>
            </a:r>
            <a:endParaRPr lang="en-US" sz="27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他当时说的话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、他的神态等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补充到作文中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9353550" y="3048000"/>
            <a:ext cx="78867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772650" y="4122420"/>
            <a:ext cx="8006715" cy="1206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把事情的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经过、结局，以及你当时的想法</a:t>
            </a:r>
            <a:endParaRPr lang="en-US" sz="27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都写进去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5803265" y="6767830"/>
            <a:ext cx="10852785" cy="1425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写完开头写不下去了？想一想：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那件事后来怎么样了，他最后做完了吗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4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不会写的字先空着或画小圆圈，不要停下来。</a:t>
            </a:r>
            <a:endParaRPr lang="en-US" sz="2400" dirty="0"/>
          </a:p>
        </p:txBody>
      </p:sp>
      <p:sp>
        <p:nvSpPr>
          <p:cNvPr id="21" name="Shape 12"/>
          <p:cNvSpPr/>
          <p:nvPr/>
        </p:nvSpPr>
        <p:spPr>
          <a:xfrm>
            <a:off x="13571339" y="8791575"/>
            <a:ext cx="366891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23" name="Text 13"/>
          <p:cNvSpPr/>
          <p:nvPr/>
        </p:nvSpPr>
        <p:spPr>
          <a:xfrm>
            <a:off x="13952339" y="8982075"/>
            <a:ext cx="3016978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约20分钟</a:t>
            </a:r>
            <a:endParaRPr lang="en-US" sz="2850" dirty="0"/>
          </a:p>
        </p:txBody>
      </p:sp>
      <p:pic>
        <p:nvPicPr>
          <p:cNvPr id="5" name="图片 4" descr="写日记-分享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20" y="5725795"/>
            <a:ext cx="5277485" cy="4436110"/>
          </a:xfrm>
          <a:prstGeom prst="rect">
            <a:avLst/>
          </a:prstGeom>
        </p:spPr>
      </p:pic>
      <p:sp>
        <p:nvSpPr>
          <p:cNvPr id="26" name="Shape 5"/>
          <p:cNvSpPr/>
          <p:nvPr>
            <p:custDataLst>
              <p:tags r:id="rId4"/>
            </p:custDataLst>
          </p:nvPr>
        </p:nvSpPr>
        <p:spPr>
          <a:xfrm>
            <a:off x="1466850" y="340423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Text 6"/>
          <p:cNvSpPr/>
          <p:nvPr>
            <p:custDataLst>
              <p:tags r:id="rId5"/>
            </p:custDataLst>
          </p:nvPr>
        </p:nvSpPr>
        <p:spPr>
          <a:xfrm>
            <a:off x="1458913" y="336740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6"/>
            </p:custDataLst>
          </p:nvPr>
        </p:nvSpPr>
        <p:spPr>
          <a:xfrm>
            <a:off x="9772650" y="340423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Text 6"/>
          <p:cNvSpPr/>
          <p:nvPr>
            <p:custDataLst>
              <p:tags r:id="rId7"/>
            </p:custDataLst>
          </p:nvPr>
        </p:nvSpPr>
        <p:spPr>
          <a:xfrm>
            <a:off x="9764713" y="336740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 bldLvl="0" animBg="1"/>
      <p:bldP spid="16" grpId="0"/>
      <p:bldP spid="29" grpId="0" bldLvl="0" animBg="1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3571339" y="8791575"/>
            <a:ext cx="366891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23" name="Text 13"/>
          <p:cNvSpPr/>
          <p:nvPr/>
        </p:nvSpPr>
        <p:spPr>
          <a:xfrm>
            <a:off x="13952339" y="8982075"/>
            <a:ext cx="3016978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约20分钟</a:t>
            </a:r>
            <a:endParaRPr lang="en-US" sz="285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40" y="1452880"/>
            <a:ext cx="15189160" cy="7128000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8" name="图片 27" descr="我的家人-27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200787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7357110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读给同桌听，他只提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一个问题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257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2660650"/>
            <a:ext cx="10998200" cy="1038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轮流朗读自己的习作，听的人不评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价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好坏，只提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一个还想了解的问题</a:t>
            </a:r>
            <a:endParaRPr lang="en-US" sz="2625" dirty="0"/>
          </a:p>
        </p:txBody>
      </p:sp>
      <p:sp>
        <p:nvSpPr>
          <p:cNvPr id="9" name="Shape 6"/>
          <p:cNvSpPr/>
          <p:nvPr/>
        </p:nvSpPr>
        <p:spPr>
          <a:xfrm>
            <a:off x="8119110" y="4968875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481060" y="4770120"/>
            <a:ext cx="9761220" cy="12585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被问的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同学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当场作答。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如果你知道答案，作文里却</a:t>
            </a:r>
            <a:endParaRPr lang="zh-CN" altLang="en-US" sz="2625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4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没有写，就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直接补进习作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，这往往就是你漏掉的细节</a:t>
            </a:r>
            <a:endParaRPr lang="en-US" sz="2625" dirty="0"/>
          </a:p>
        </p:txBody>
      </p:sp>
      <p:sp>
        <p:nvSpPr>
          <p:cNvPr id="11" name="Shape 8"/>
          <p:cNvSpPr/>
          <p:nvPr/>
        </p:nvSpPr>
        <p:spPr>
          <a:xfrm>
            <a:off x="8119110" y="62166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481060" y="6064250"/>
            <a:ext cx="8543746" cy="538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再请两位同学读给全班听，听的同学同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样提一个问题</a:t>
            </a:r>
            <a:endParaRPr lang="en-US" sz="2625" dirty="0"/>
          </a:p>
        </p:txBody>
      </p:sp>
      <p:sp>
        <p:nvSpPr>
          <p:cNvPr id="14" name="Shape 10"/>
          <p:cNvSpPr/>
          <p:nvPr/>
        </p:nvSpPr>
        <p:spPr>
          <a:xfrm>
            <a:off x="1047750" y="3267075"/>
            <a:ext cx="16287750" cy="1152000"/>
          </a:xfrm>
          <a:prstGeom prst="roundRect">
            <a:avLst>
              <a:gd name="adj" fmla="val 1730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466850" y="3506470"/>
            <a:ext cx="15520670" cy="10706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例如：“他修台灯修到十一点，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最后修好了吗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？”“奶奶找到老花镜的时候，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说了什么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？”</a:t>
            </a:r>
            <a:endParaRPr lang="en-US" sz="2325" dirty="0"/>
          </a:p>
        </p:txBody>
      </p:sp>
      <p:sp>
        <p:nvSpPr>
          <p:cNvPr id="16" name="Text 12"/>
          <p:cNvSpPr/>
          <p:nvPr/>
        </p:nvSpPr>
        <p:spPr>
          <a:xfrm>
            <a:off x="8537575" y="8686800"/>
            <a:ext cx="844042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很多细节藏在脑海中，经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过提问，就能挖掘出来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  <p:sp>
        <p:nvSpPr>
          <p:cNvPr id="18" name="Shape 10"/>
          <p:cNvSpPr/>
          <p:nvPr/>
        </p:nvSpPr>
        <p:spPr>
          <a:xfrm>
            <a:off x="8118475" y="6943725"/>
            <a:ext cx="9217025" cy="1440000"/>
          </a:xfrm>
          <a:prstGeom prst="roundRect">
            <a:avLst>
              <a:gd name="adj" fmla="val 1730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9" name="Text 11"/>
          <p:cNvSpPr/>
          <p:nvPr/>
        </p:nvSpPr>
        <p:spPr>
          <a:xfrm>
            <a:off x="8537575" y="7076440"/>
            <a:ext cx="8449945" cy="10871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如果提不出问题，可以想一想“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最后修好了吗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altLang="en-US" sz="2325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做完这件事之后</a:t>
            </a:r>
            <a:r>
              <a:rPr lang="zh-CN" altLang="en-US" sz="2325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又发生了什么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？”</a:t>
            </a:r>
            <a:endParaRPr lang="zh-CN" altLang="en-US" sz="2325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2325" dirty="0"/>
          </a:p>
        </p:txBody>
      </p:sp>
      <p:pic>
        <p:nvPicPr>
          <p:cNvPr id="5" name="图片 4" descr="我的家人-12-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35" y="4344670"/>
            <a:ext cx="7685405" cy="58178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32" name="图片 31" descr="我的家人-27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221361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6360" y="1565910"/>
            <a:ext cx="5987415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四条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，自主修改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3600450"/>
          </a:xfrm>
          <a:prstGeom prst="roundRect">
            <a:avLst>
              <a:gd name="adj" fmla="val 3704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16173450" cy="7239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38475"/>
            <a:ext cx="488442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检查要点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6391275" y="28670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705600" y="3038475"/>
            <a:ext cx="10545508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自查提示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590925"/>
            <a:ext cx="16173450" cy="7143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762375"/>
            <a:ext cx="488442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有没有一件完整的小事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6391275" y="3590925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705600" y="3762375"/>
            <a:ext cx="10545508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写清家人的一件真实小事，不是一笔带过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1057275" y="4305300"/>
            <a:ext cx="16173450" cy="7143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476750"/>
            <a:ext cx="488442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有没有写出他的样子</a:t>
            </a:r>
            <a:endParaRPr lang="en-US" sz="2175" dirty="0"/>
          </a:p>
        </p:txBody>
      </p:sp>
      <p:sp>
        <p:nvSpPr>
          <p:cNvPr id="18" name="Shape 15"/>
          <p:cNvSpPr/>
          <p:nvPr/>
        </p:nvSpPr>
        <p:spPr>
          <a:xfrm>
            <a:off x="6391275" y="4305300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705600" y="4476750"/>
            <a:ext cx="10545508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这件事里有他的动作，也有他说的那句话</a:t>
            </a:r>
            <a:endParaRPr lang="en-US" sz="2175" dirty="0"/>
          </a:p>
        </p:txBody>
      </p:sp>
      <p:sp>
        <p:nvSpPr>
          <p:cNvPr id="20" name="Shape 17"/>
          <p:cNvSpPr/>
          <p:nvPr/>
        </p:nvSpPr>
        <p:spPr>
          <a:xfrm>
            <a:off x="1057275" y="5019675"/>
            <a:ext cx="16173450" cy="7143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5191125"/>
            <a:ext cx="488442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选材是不是自家独有的</a:t>
            </a:r>
            <a:endParaRPr lang="en-US" sz="2175" dirty="0"/>
          </a:p>
        </p:txBody>
      </p:sp>
      <p:sp>
        <p:nvSpPr>
          <p:cNvPr id="22" name="Shape 19"/>
          <p:cNvSpPr/>
          <p:nvPr/>
        </p:nvSpPr>
        <p:spPr>
          <a:xfrm>
            <a:off x="6391275" y="5019675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705600" y="5191125"/>
            <a:ext cx="10545508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事例贴合自家生活，有专属小细节</a:t>
            </a:r>
            <a:endParaRPr lang="en-US" sz="2175" dirty="0"/>
          </a:p>
        </p:txBody>
      </p:sp>
      <p:sp>
        <p:nvSpPr>
          <p:cNvPr id="24" name="Shape 21"/>
          <p:cNvSpPr/>
          <p:nvPr/>
        </p:nvSpPr>
        <p:spPr>
          <a:xfrm>
            <a:off x="1057275" y="5734050"/>
            <a:ext cx="16173450" cy="7143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5905500"/>
            <a:ext cx="488442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能不能认出这个人</a:t>
            </a:r>
            <a:endParaRPr lang="en-US" sz="2175" dirty="0"/>
          </a:p>
        </p:txBody>
      </p:sp>
      <p:sp>
        <p:nvSpPr>
          <p:cNvPr id="26" name="Shape 23"/>
          <p:cNvSpPr/>
          <p:nvPr/>
        </p:nvSpPr>
        <p:spPr>
          <a:xfrm>
            <a:off x="6391275" y="5734050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705600" y="5905500"/>
            <a:ext cx="10545508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把开头那句话盖住，只读事情也能看出人物特点</a:t>
            </a:r>
            <a:endParaRPr lang="en-US" sz="2175" dirty="0"/>
          </a:p>
        </p:txBody>
      </p:sp>
      <p:sp>
        <p:nvSpPr>
          <p:cNvPr id="28" name="Shape 25"/>
          <p:cNvSpPr/>
          <p:nvPr/>
        </p:nvSpPr>
        <p:spPr>
          <a:xfrm>
            <a:off x="1047750" y="6985000"/>
            <a:ext cx="16192500" cy="1314450"/>
          </a:xfrm>
          <a:prstGeom prst="roundRect">
            <a:avLst>
              <a:gd name="adj" fmla="val 1159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428750" y="7213600"/>
            <a:ext cx="16576040" cy="1231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缺哪一条补哪一条。用修改符号，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多余的圈掉，遗漏的写在行间空白处</a:t>
            </a:r>
            <a:r>
              <a:rPr 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，不必整篇重抄。写了多位家人的，重点检查</a:t>
            </a:r>
            <a:endParaRPr lang="en-US" sz="2250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详写的那一段。</a:t>
            </a:r>
            <a:endParaRPr lang="en-US" sz="2250" dirty="0"/>
          </a:p>
        </p:txBody>
      </p:sp>
      <p:sp>
        <p:nvSpPr>
          <p:cNvPr id="30" name="Text 27"/>
          <p:cNvSpPr/>
          <p:nvPr/>
        </p:nvSpPr>
        <p:spPr>
          <a:xfrm>
            <a:off x="1047750" y="8775700"/>
            <a:ext cx="15192375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第三条达不到？给这件事加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一处自家独有的小细节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：一句原话，或一个特别的小动作。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8" name="图片 27" descr="我的家人-27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3176250" y="518160"/>
            <a:ext cx="1579091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9910445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改完再读一遍，听的人只说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“他是个怎样的人”</a:t>
            </a:r>
            <a:endParaRPr lang="en-US" sz="3205" dirty="0"/>
          </a:p>
        </p:txBody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7854315" y="2986405"/>
            <a:ext cx="8453755" cy="1313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这一轮同桌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不再提问</a:t>
            </a:r>
            <a:endParaRPr lang="en-US" sz="26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4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听完只说：你笔下的这位家人，是个怎样的人</a:t>
            </a:r>
            <a:endParaRPr lang="en-US" sz="2600" dirty="0"/>
          </a:p>
        </p:txBody>
      </p:sp>
      <p:sp>
        <p:nvSpPr>
          <p:cNvPr id="12" name="Text 9"/>
          <p:cNvSpPr/>
          <p:nvPr>
            <p:custDataLst>
              <p:tags r:id="rId4"/>
            </p:custDataLst>
          </p:nvPr>
        </p:nvSpPr>
        <p:spPr>
          <a:xfrm>
            <a:off x="7854315" y="4417060"/>
            <a:ext cx="8675370" cy="1242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对照素材记录卡最后一栏</a:t>
            </a:r>
            <a:endParaRPr lang="en-US" sz="26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4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大致吻合，就说明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“我没告诉他，他自己看出来了”</a:t>
            </a:r>
            <a:endParaRPr lang="en-US" sz="2600" dirty="0"/>
          </a:p>
        </p:txBody>
      </p:sp>
      <p:sp>
        <p:nvSpPr>
          <p:cNvPr id="15" name="Text 12"/>
          <p:cNvSpPr/>
          <p:nvPr>
            <p:custDataLst>
              <p:tags r:id="rId5"/>
            </p:custDataLst>
          </p:nvPr>
        </p:nvSpPr>
        <p:spPr>
          <a:xfrm>
            <a:off x="7854315" y="5923915"/>
            <a:ext cx="7964805" cy="1149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课后小任务：带回家，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读给你写的那位家人听</a:t>
            </a:r>
            <a:endParaRPr lang="en-US" sz="26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4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听一听他怎么说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897255" y="7525385"/>
            <a:ext cx="16651605" cy="1287780"/>
          </a:xfrm>
          <a:prstGeom prst="roundRect">
            <a:avLst>
              <a:gd name="adj" fmla="val 16495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095375" y="7668260"/>
            <a:ext cx="14231620" cy="11722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indent="0" algn="l" fontAlgn="auto">
              <a:lnSpc>
                <a:spcPct val="130000"/>
              </a:lnSpc>
              <a:buNone/>
            </a:pPr>
            <a:r>
              <a:rPr lang="zh-CN" alt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同桌读出的特点与素材记录卡填写的不一致，</a:t>
            </a: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也不算失败</a:t>
            </a:r>
            <a:endParaRPr lang="en-US" sz="2400" b="1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0" algn="l" fontAlgn="auto">
              <a:lnSpc>
                <a:spcPct val="130000"/>
              </a:lnSpc>
              <a:buNone/>
            </a:pP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问一问同桌“你是从哪句话读出来的”，多半是缺少关键动作或原话，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补上再读一遍</a:t>
            </a: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1078230" y="8961755"/>
            <a:ext cx="1541526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家人的评价和同桌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的感受可能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不一样，因为那是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当事人切身的感受</a:t>
            </a:r>
            <a:r>
              <a:rPr lang="zh-CN" altLang="en-US" sz="260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，反馈不同是正常的。</a:t>
            </a:r>
            <a:endParaRPr lang="en-US" sz="2605" dirty="0"/>
          </a:p>
        </p:txBody>
      </p:sp>
      <p:pic>
        <p:nvPicPr>
          <p:cNvPr id="20" name="图片 19" descr="小小动物园-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415" y="2513965"/>
            <a:ext cx="5650230" cy="4744720"/>
          </a:xfrm>
          <a:prstGeom prst="roundRect">
            <a:avLst>
              <a:gd name="adj" fmla="val 8113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26" name="Shape 5"/>
          <p:cNvSpPr/>
          <p:nvPr>
            <p:custDataLst>
              <p:tags r:id="rId7"/>
            </p:custDataLst>
          </p:nvPr>
        </p:nvSpPr>
        <p:spPr>
          <a:xfrm>
            <a:off x="7230110" y="298450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Text 6"/>
          <p:cNvSpPr/>
          <p:nvPr>
            <p:custDataLst>
              <p:tags r:id="rId8"/>
            </p:custDataLst>
          </p:nvPr>
        </p:nvSpPr>
        <p:spPr>
          <a:xfrm>
            <a:off x="7222173" y="294767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9"/>
            </p:custDataLst>
          </p:nvPr>
        </p:nvSpPr>
        <p:spPr>
          <a:xfrm>
            <a:off x="7230110" y="443547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 6"/>
          <p:cNvSpPr/>
          <p:nvPr>
            <p:custDataLst>
              <p:tags r:id="rId10"/>
            </p:custDataLst>
          </p:nvPr>
        </p:nvSpPr>
        <p:spPr>
          <a:xfrm>
            <a:off x="7222173" y="439864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Shape 5"/>
          <p:cNvSpPr/>
          <p:nvPr>
            <p:custDataLst>
              <p:tags r:id="rId11"/>
            </p:custDataLst>
          </p:nvPr>
        </p:nvSpPr>
        <p:spPr>
          <a:xfrm>
            <a:off x="7230110" y="593217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Text 6"/>
          <p:cNvSpPr/>
          <p:nvPr>
            <p:custDataLst>
              <p:tags r:id="rId12"/>
            </p:custDataLst>
          </p:nvPr>
        </p:nvSpPr>
        <p:spPr>
          <a:xfrm>
            <a:off x="7222173" y="589534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7" grpId="0"/>
      <p:bldP spid="29" grpId="0" bldLvl="0" animBg="1"/>
      <p:bldP spid="30" grpId="0"/>
      <p:bldP spid="31" grpId="0" bldLvl="0" animBg="1"/>
      <p:bldP spid="3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"/>
          <p:cNvSpPr/>
          <p:nvPr/>
        </p:nvSpPr>
        <p:spPr>
          <a:xfrm>
            <a:off x="635" y="-1905"/>
            <a:ext cx="18289905" cy="10288905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  <p:txBody>
          <a:bodyPr/>
          <a:lstStyle/>
          <a:p/>
        </p:txBody>
      </p:sp>
      <p:sp>
        <p:nvSpPr>
          <p:cNvPr id="13" name="Text 3"/>
          <p:cNvSpPr/>
          <p:nvPr/>
        </p:nvSpPr>
        <p:spPr>
          <a:xfrm>
            <a:off x="2057400" y="3674110"/>
            <a:ext cx="8232775" cy="19926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END</a:t>
            </a:r>
            <a:endParaRPr lang="en-US" sz="127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4157325" y="8804910"/>
            <a:ext cx="2700655" cy="6807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15" name="Shape 7"/>
          <p:cNvSpPr/>
          <p:nvPr/>
        </p:nvSpPr>
        <p:spPr>
          <a:xfrm>
            <a:off x="720725" y="8625840"/>
            <a:ext cx="2266315" cy="97409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705" y="8773795"/>
            <a:ext cx="1808480" cy="681355"/>
          </a:xfrm>
          <a:prstGeom prst="rect">
            <a:avLst/>
          </a:prstGeom>
        </p:spPr>
      </p:pic>
      <p:sp>
        <p:nvSpPr>
          <p:cNvPr id="19" name="Freeform 2"/>
          <p:cNvSpPr/>
          <p:nvPr/>
        </p:nvSpPr>
        <p:spPr>
          <a:xfrm>
            <a:off x="16277590" y="8688070"/>
            <a:ext cx="549275" cy="715645"/>
          </a:xfrm>
          <a:custGeom>
            <a:avLst/>
            <a:gdLst/>
            <a:ahLst/>
            <a:cxnLst/>
            <a:rect l="l" t="t" r="r" b="b"/>
            <a:pathLst>
              <a:path w="914400" h="1234440">
                <a:moveTo>
                  <a:pt x="0" y="0"/>
                </a:moveTo>
                <a:lnTo>
                  <a:pt x="914400" y="617220"/>
                </a:lnTo>
                <a:lnTo>
                  <a:pt x="0" y="12344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 3"/>
          <p:cNvSpPr/>
          <p:nvPr/>
        </p:nvSpPr>
        <p:spPr>
          <a:xfrm>
            <a:off x="2057400" y="5676900"/>
            <a:ext cx="15893415" cy="899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写家人，先想一件他真正做过的事，写清动作、记下原话，家人听完会说：这写的就是他。</a:t>
            </a:r>
            <a:endParaRPr lang="en-US" sz="2700" dirty="0">
              <a:solidFill>
                <a:srgbClr val="FFFFFF">
                  <a:alpha val="92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6.6,&quot;left&quot;:82.5,&quot;top&quot;:217.15,&quot;width&quot;:1400.75}"/>
</p:tagLst>
</file>

<file path=ppt/tags/tag2.xml><?xml version="1.0" encoding="utf-8"?>
<p:tagLst xmlns:p="http://schemas.openxmlformats.org/presentationml/2006/main">
  <p:tag name="KSO_WM_DIAGRAM_VIRTUALLY_FRAME" val="{&quot;height&quot;:416.6,&quot;left&quot;:82.5,&quot;top&quot;:217.15,&quot;width&quot;:1400.75}"/>
</p:tagLst>
</file>

<file path=ppt/tags/tag3.xml><?xml version="1.0" encoding="utf-8"?>
<p:tagLst xmlns:p="http://schemas.openxmlformats.org/presentationml/2006/main">
  <p:tag name="KSO_WM_DIAGRAM_VIRTUALLY_FRAME" val="{&quot;height&quot;:416.6,&quot;left&quot;:82.5,&quot;top&quot;:217.15,&quot;width&quot;:1400.75}"/>
</p:tagLst>
</file>

<file path=ppt/tags/tag4.xml><?xml version="1.0" encoding="utf-8"?>
<p:tagLst xmlns:p="http://schemas.openxmlformats.org/presentationml/2006/main">
  <p:tag name="KSO_WM_DIAGRAM_VIRTUALLY_FRAME" val="{&quot;height&quot;:416.6,&quot;left&quot;:82.5,&quot;top&quot;:217.15,&quot;width&quot;:1400.75}"/>
</p:tagLst>
</file>

<file path=ppt/tags/tag5.xml><?xml version="1.0" encoding="utf-8"?>
<p:tagLst xmlns:p="http://schemas.openxmlformats.org/presentationml/2006/main">
  <p:tag name="KSO_WM_DIAGRAM_VIRTUALLY_FRAME" val="{&quot;height&quot;:416.6,&quot;left&quot;:82.5,&quot;top&quot;:217.15,&quot;width&quot;:1400.75}"/>
</p:tagLst>
</file>

<file path=ppt/tags/tag6.xml><?xml version="1.0" encoding="utf-8"?>
<p:tagLst xmlns:p="http://schemas.openxmlformats.org/presentationml/2006/main">
  <p:tag name="KSO_WM_DIAGRAM_VIRTUALLY_FRAME" val="{&quot;height&quot;:416.6,&quot;left&quot;:82.5,&quot;top&quot;:217.15,&quot;width&quot;:1400.75}"/>
</p:tagLst>
</file>

<file path=ppt/tags/tag7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8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9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10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11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12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13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14.xml><?xml version="1.0" encoding="utf-8"?>
<p:tagLst xmlns:p="http://schemas.openxmlformats.org/presentationml/2006/main">
  <p:tag name="KSO_DOCER_RESOURCE_TRACE_INFO" val="{&quot;id&quot;:&quot;50062401&quot;,&quot;origin&quot;:0,&quot;type&quot;:&quot;icons&quot;,&quot;user&quot;:&quot;465116955&quot;}"/>
</p:tagLst>
</file>

<file path=ppt/tags/tag15.xml><?xml version="1.0" encoding="utf-8"?>
<p:tagLst xmlns:p="http://schemas.openxmlformats.org/presentationml/2006/main">
  <p:tag name="KSO_DOCER_RESOURCE_TRACE_INFO" val="{&quot;id&quot;:&quot;50059271&quot;,&quot;origin&quot;:0,&quot;type&quot;:&quot;icons&quot;,&quot;user&quot;:&quot;465116955&quot;}"/>
</p:tagLst>
</file>

<file path=ppt/tags/tag16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17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18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19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20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21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22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23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24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25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26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27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28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29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30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31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32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33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34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35.xml><?xml version="1.0" encoding="utf-8"?>
<p:tagLst xmlns:p="http://schemas.openxmlformats.org/presentationml/2006/main">
  <p:tag name="KSO_DOCER_RESOURCE_TRACE_INFO" val="{&quot;id&quot;:&quot;50062401&quot;,&quot;origin&quot;:0,&quot;type&quot;:&quot;icons&quot;,&quot;user&quot;:&quot;465116955&quot;}"/>
</p:tagLst>
</file>

<file path=ppt/tags/tag36.xml><?xml version="1.0" encoding="utf-8"?>
<p:tagLst xmlns:p="http://schemas.openxmlformats.org/presentationml/2006/main">
  <p:tag name="KSO_DOCER_RESOURCE_TRACE_INFO" val="{&quot;id&quot;:&quot;50059271&quot;,&quot;origin&quot;:0,&quot;type&quot;:&quot;icons&quot;,&quot;user&quot;:&quot;465116955&quot;}"/>
</p:tagLst>
</file>

<file path=ppt/tags/tag37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38.xml><?xml version="1.0" encoding="utf-8"?>
<p:tagLst xmlns:p="http://schemas.openxmlformats.org/presentationml/2006/main">
  <p:tag name="KSO_WM_DIAGRAM_VIRTUALLY_FRAME" val="{&quot;height&quot;:270.0750393700788,&quot;left&quot;:82.5,&quot;top&quot;:247.5,&quot;width&quot;:787.8}"/>
</p:tagLst>
</file>

<file path=ppt/tags/tag39.xml><?xml version="1.0" encoding="utf-8"?>
<p:tagLst xmlns:p="http://schemas.openxmlformats.org/presentationml/2006/main">
  <p:tag name="KSO_WM_DIAGRAM_VIRTUALLY_FRAME" val="{&quot;height&quot;:270.0750393700788,&quot;left&quot;:82.5,&quot;top&quot;:247.5,&quot;width&quot;:787.8}"/>
</p:tagLst>
</file>

<file path=ppt/tags/tag40.xml><?xml version="1.0" encoding="utf-8"?>
<p:tagLst xmlns:p="http://schemas.openxmlformats.org/presentationml/2006/main">
  <p:tag name="KSO_WM_DIAGRAM_VIRTUALLY_FRAME" val="{&quot;height&quot;:270.0750393700788,&quot;left&quot;:82.5,&quot;top&quot;:247.5,&quot;width&quot;:787.8}"/>
</p:tagLst>
</file>

<file path=ppt/tags/tag41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42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43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44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45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46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47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48.xml><?xml version="1.0" encoding="utf-8"?>
<p:tagLst xmlns:p="http://schemas.openxmlformats.org/presentationml/2006/main">
  <p:tag name="KSO_DOCER_RESOURCE_TRACE_INFO" val="{&quot;id&quot;:&quot;50059164&quot;,&quot;origin&quot;:0,&quot;type&quot;:&quot;icons&quot;,&quot;user&quot;:&quot;465116955&quot;}"/>
</p:tagLst>
</file>

<file path=ppt/tags/tag49.xml><?xml version="1.0" encoding="utf-8"?>
<p:tagLst xmlns:p="http://schemas.openxmlformats.org/presentationml/2006/main">
  <p:tag name="KSO_WM_DIAGRAM_VIRTUALLY_FRAME" val="{&quot;height&quot;:600,&quot;left&quot;:82.5,&quot;top&quot;:213,&quot;width&quot;:1381.95}"/>
</p:tagLst>
</file>

<file path=ppt/tags/tag50.xml><?xml version="1.0" encoding="utf-8"?>
<p:tagLst xmlns:p="http://schemas.openxmlformats.org/presentationml/2006/main">
  <p:tag name="KSO_WM_DIAGRAM_VIRTUALLY_FRAME" val="{&quot;height&quot;:600,&quot;left&quot;:82.5,&quot;top&quot;:213,&quot;width&quot;:1381.95}"/>
</p:tagLst>
</file>

<file path=ppt/tags/tag51.xml><?xml version="1.0" encoding="utf-8"?>
<p:tagLst xmlns:p="http://schemas.openxmlformats.org/presentationml/2006/main">
  <p:tag name="KSO_WM_DIAGRAM_VIRTUALLY_FRAME" val="{&quot;height&quot;:600,&quot;left&quot;:82.5,&quot;top&quot;:213,&quot;width&quot;:1381.95}"/>
</p:tagLst>
</file>

<file path=ppt/tags/tag52.xml><?xml version="1.0" encoding="utf-8"?>
<p:tagLst xmlns:p="http://schemas.openxmlformats.org/presentationml/2006/main">
  <p:tag name="KSO_WM_DIAGRAM_VIRTUALLY_FRAME" val="{&quot;height&quot;:600,&quot;left&quot;:82.5,&quot;top&quot;:213,&quot;width&quot;:1381.95}"/>
</p:tagLst>
</file>

<file path=ppt/tags/tag53.xml><?xml version="1.0" encoding="utf-8"?>
<p:tagLst xmlns:p="http://schemas.openxmlformats.org/presentationml/2006/main">
  <p:tag name="KSO_WM_DIAGRAM_VIRTUALLY_FRAME" val="{&quot;height&quot;:600,&quot;left&quot;:82.5,&quot;top&quot;:213,&quot;width&quot;:1381.95}"/>
</p:tagLst>
</file>

<file path=ppt/tags/tag54.xml><?xml version="1.0" encoding="utf-8"?>
<p:tagLst xmlns:p="http://schemas.openxmlformats.org/presentationml/2006/main">
  <p:tag name="KSO_WM_DIAGRAM_VIRTUALLY_FRAME" val="{&quot;height&quot;:600,&quot;left&quot;:82.5,&quot;top&quot;:213,&quot;width&quot;:1381.95}"/>
</p:tagLst>
</file>

<file path=ppt/tags/tag55.xml><?xml version="1.0" encoding="utf-8"?>
<p:tagLst xmlns:p="http://schemas.openxmlformats.org/presentationml/2006/main">
  <p:tag name="KSO_WM_DIAGRAM_VIRTUALLY_FRAME" val="{&quot;height&quot;:600,&quot;left&quot;:82.5,&quot;top&quot;:213,&quot;width&quot;:1381.95}"/>
</p:tagLst>
</file>

<file path=ppt/tags/tag56.xml><?xml version="1.0" encoding="utf-8"?>
<p:tagLst xmlns:p="http://schemas.openxmlformats.org/presentationml/2006/main">
  <p:tag name="KSO_WM_DIAGRAM_VIRTUALLY_FRAME" val="{&quot;height&quot;:600,&quot;left&quot;:82.5,&quot;top&quot;:213,&quot;width&quot;:1381.95}"/>
</p:tagLst>
</file>

<file path=ppt/tags/tag57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58.xml><?xml version="1.0" encoding="utf-8"?>
<p:tagLst xmlns:p="http://schemas.openxmlformats.org/presentationml/2006/main">
  <p:tag name="KSO_WM_DIAGRAM_VIRTUALLY_FRAME" val="{&quot;height&quot;:300,&quot;left&quot;:82.5,&quot;top&quot;:232.5,&quot;width&quot;:1275}"/>
</p:tagLst>
</file>

<file path=ppt/tags/tag59.xml><?xml version="1.0" encoding="utf-8"?>
<p:tagLst xmlns:p="http://schemas.openxmlformats.org/presentationml/2006/main">
  <p:tag name="KSO_WM_DIAGRAM_VIRTUALLY_FRAME" val="{&quot;height&quot;:300,&quot;left&quot;:82.5,&quot;top&quot;:232.5,&quot;width&quot;:1275}"/>
</p:tagLst>
</file>

<file path=ppt/tags/tag60.xml><?xml version="1.0" encoding="utf-8"?>
<p:tagLst xmlns:p="http://schemas.openxmlformats.org/presentationml/2006/main">
  <p:tag name="KSO_WM_DIAGRAM_VIRTUALLY_FRAME" val="{&quot;height&quot;:300,&quot;left&quot;:82.5,&quot;top&quot;:232.5,&quot;width&quot;:1275}"/>
</p:tagLst>
</file>

<file path=ppt/tags/tag61.xml><?xml version="1.0" encoding="utf-8"?>
<p:tagLst xmlns:p="http://schemas.openxmlformats.org/presentationml/2006/main">
  <p:tag name="KSO_WM_DIAGRAM_VIRTUALLY_FRAME" val="{&quot;height&quot;:300,&quot;left&quot;:82.5,&quot;top&quot;:232.5,&quot;width&quot;:1275}"/>
</p:tagLst>
</file>

<file path=ppt/tags/tag62.xml><?xml version="1.0" encoding="utf-8"?>
<p:tagLst xmlns:p="http://schemas.openxmlformats.org/presentationml/2006/main">
  <p:tag name="KSO_WM_DIAGRAM_VIRTUALLY_FRAME" val="{&quot;height&quot;:300,&quot;left&quot;:82.5,&quot;top&quot;:232.5,&quot;width&quot;:1275}"/>
</p:tagLst>
</file>

<file path=ppt/tags/tag63.xml><?xml version="1.0" encoding="utf-8"?>
<p:tagLst xmlns:p="http://schemas.openxmlformats.org/presentationml/2006/main">
  <p:tag name="KSO_WM_DIAGRAM_VIRTUALLY_FRAME" val="{&quot;height&quot;:300,&quot;left&quot;:82.5,&quot;top&quot;:232.5,&quot;width&quot;:1275}"/>
</p:tagLst>
</file>

<file path=ppt/tags/tag64.xml><?xml version="1.0" encoding="utf-8"?>
<p:tagLst xmlns:p="http://schemas.openxmlformats.org/presentationml/2006/main">
  <p:tag name="KSO_WM_DIAGRAM_VIRTUALLY_FRAME" val="{&quot;height&quot;:300,&quot;left&quot;:82.5,&quot;top&quot;:232.5,&quot;width&quot;:1275}"/>
</p:tagLst>
</file>

<file path=ppt/tags/tag65.xml><?xml version="1.0" encoding="utf-8"?>
<p:tagLst xmlns:p="http://schemas.openxmlformats.org/presentationml/2006/main">
  <p:tag name="KSO_WM_DIAGRAM_VIRTUALLY_FRAME" val="{&quot;height&quot;:300,&quot;left&quot;:82.5,&quot;top&quot;:232.5,&quot;width&quot;:1275}"/>
</p:tagLst>
</file>

<file path=ppt/tags/tag66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67.xml><?xml version="1.0" encoding="utf-8"?>
<p:tagLst xmlns:p="http://schemas.openxmlformats.org/presentationml/2006/main">
  <p:tag name="KSO_WM_DIAGRAM_VIRTUALLY_FRAME" val="{&quot;height&quot;:329.95,&quot;left&quot;:76.87496062992126,&quot;top&quot;:240,&quot;width&quot;:1314.9150393700788}"/>
</p:tagLst>
</file>

<file path=ppt/tags/tag68.xml><?xml version="1.0" encoding="utf-8"?>
<p:tagLst xmlns:p="http://schemas.openxmlformats.org/presentationml/2006/main">
  <p:tag name="KSO_WM_DIAGRAM_VIRTUALLY_FRAME" val="{&quot;height&quot;:329.95,&quot;left&quot;:76.87496062992126,&quot;top&quot;:240,&quot;width&quot;:1314.9150393700788}"/>
</p:tagLst>
</file>

<file path=ppt/tags/tag69.xml><?xml version="1.0" encoding="utf-8"?>
<p:tagLst xmlns:p="http://schemas.openxmlformats.org/presentationml/2006/main">
  <p:tag name="KSO_WM_DIAGRAM_VIRTUALLY_FRAME" val="{&quot;height&quot;:329.95,&quot;left&quot;:76.87496062992126,&quot;top&quot;:240,&quot;width&quot;:1314.9150393700788}"/>
</p:tagLst>
</file>

<file path=ppt/tags/tag70.xml><?xml version="1.0" encoding="utf-8"?>
<p:tagLst xmlns:p="http://schemas.openxmlformats.org/presentationml/2006/main">
  <p:tag name="KSO_WM_DIAGRAM_VIRTUALLY_FRAME" val="{&quot;height&quot;:329.95,&quot;left&quot;:76.87496062992126,&quot;top&quot;:240,&quot;width&quot;:1314.9150393700788}"/>
</p:tagLst>
</file>

<file path=ppt/tags/tag71.xml><?xml version="1.0" encoding="utf-8"?>
<p:tagLst xmlns:p="http://schemas.openxmlformats.org/presentationml/2006/main">
  <p:tag name="KSO_WM_DIAGRAM_VIRTUALLY_FRAME" val="{&quot;height&quot;:329.95,&quot;left&quot;:76.87496062992126,&quot;top&quot;:240,&quot;width&quot;:1314.9150393700788}"/>
</p:tagLst>
</file>

<file path=ppt/tags/tag72.xml><?xml version="1.0" encoding="utf-8"?>
<p:tagLst xmlns:p="http://schemas.openxmlformats.org/presentationml/2006/main">
  <p:tag name="KSO_WM_DIAGRAM_VIRTUALLY_FRAME" val="{&quot;height&quot;:329.95,&quot;left&quot;:76.87496062992126,&quot;top&quot;:240,&quot;width&quot;:1314.9150393700788}"/>
</p:tagLst>
</file>

<file path=ppt/tags/tag73.xml><?xml version="1.0" encoding="utf-8"?>
<p:tagLst xmlns:p="http://schemas.openxmlformats.org/presentationml/2006/main">
  <p:tag name="KSO_WM_DIAGRAM_VIRTUALLY_FRAME" val="{&quot;height&quot;:329.95,&quot;left&quot;:76.87496062992126,&quot;top&quot;:240,&quot;width&quot;:1314.9150393700788}"/>
</p:tagLst>
</file>

<file path=ppt/tags/tag74.xml><?xml version="1.0" encoding="utf-8"?>
<p:tagLst xmlns:p="http://schemas.openxmlformats.org/presentationml/2006/main">
  <p:tag name="KSO_WM_DIAGRAM_VIRTUALLY_FRAME" val="{&quot;height&quot;:329.95,&quot;left&quot;:76.87496062992126,&quot;top&quot;:240,&quot;width&quot;:1314.9150393700788}"/>
</p:tagLst>
</file>

<file path=ppt/tags/tag75.xml><?xml version="1.0" encoding="utf-8"?>
<p:tagLst xmlns:p="http://schemas.openxmlformats.org/presentationml/2006/main">
  <p:tag name="KSO_WM_DIAGRAM_VIRTUALLY_FRAME" val="{&quot;height&quot;:329.95,&quot;left&quot;:76.87496062992126,&quot;top&quot;:240,&quot;width&quot;:1314.9150393700788}"/>
</p:tagLst>
</file>

<file path=ppt/tags/tag76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77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78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79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80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81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82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83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84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85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86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87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ags/tag88.xml><?xml version="1.0" encoding="utf-8"?>
<p:tagLst xmlns:p="http://schemas.openxmlformats.org/presentationml/2006/main">
  <p:tag name="KSO_WM_DIAGRAM_VIRTUALLY_FRAME" val="{&quot;height&quot;:343.4,&quot;left&quot;:82.5,&quot;top&quot;:217.15,&quot;width&quot;:1400.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4643</Words>
  <Application>WPS 演示</Application>
  <PresentationFormat>On-screen Show (16:9)</PresentationFormat>
  <Paragraphs>495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微软雅黑</vt:lpstr>
      <vt:lpstr>Wingdings</vt:lpstr>
      <vt:lpstr>楷体</vt:lpstr>
      <vt:lpstr>Calibri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飞鱼</cp:lastModifiedBy>
  <cp:revision>46</cp:revision>
  <dcterms:created xsi:type="dcterms:W3CDTF">2026-08-26T06:39:00Z</dcterms:created>
  <dcterms:modified xsi:type="dcterms:W3CDTF">2026-09-01T14:01:50Z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761B9A8FBEB04A70A58732896498A948_12</vt:lpwstr>
  </property>
</Properties>
</file>