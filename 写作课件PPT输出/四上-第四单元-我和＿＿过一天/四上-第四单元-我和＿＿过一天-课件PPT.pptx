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4" r:id="rId15"/>
    <p:sldId id="267" r:id="rId16"/>
    <p:sldId id="281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2" r:id="rId26"/>
    <p:sldId id="276" r:id="rId27"/>
    <p:sldId id="277" r:id="rId28"/>
    <p:sldId id="278" r:id="rId29"/>
    <p:sldId id="280" r:id="rId30"/>
  </p:sldIdLst>
  <p:sldSz cx="18288000" cy="10287000"/>
  <p:notesSz cx="10287000" cy="18288000"/>
  <p:embeddedFontLst>
    <p:embeddedFont>
      <p:font typeface="微软雅黑" panose="020B0503020204020204" pitchFamily="34" charset="-122"/>
      <p:regular r:id="rId34"/>
    </p:embeddedFont>
    <p:embeddedFont>
      <p:font typeface="微软雅黑" panose="020B0503020204020204" pitchFamily="34" charset="-120"/>
      <p:regular r:id="rId35"/>
    </p:embeddedFont>
    <p:embeddedFont>
      <p:font typeface="楷体" panose="02010609060101010101" charset="-122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  <p:embeddedFont>
      <p:font typeface="等线" panose="02010600030101010101" charset="-122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slide" Target="slides/slide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四上第四单元想象习作：邀请一位神话/童话人物过一天。核心任务：写一件非他不可的事，最热闹的一幕写全动作、语言、心理。2课时连排。示范文人物神笔马良可换成老师更熟的人物，讲法不变。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第1课时·写作指导课。线索：换人小实验导入（同一场雨换两个人物），回想人物本领脾气，学'事由人定、挑非他不可的事、热闹一幕写慢'，填这一天构思表，读教师示范文与旁批。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想象游戏：下午下大雨，你困在屋檐底下回不了家。往你旁边放一个人——孙悟空，这场雨还拦得住你吗？（抢答两三位，快问快答不展开）再把他撤走，换神笔马良。发现：同样的雨天、同样的困境，人物不一样，解决问题的方法完全不同。雨没有变，变的是人物的本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只是短暂帮忙。如果让你最喜欢的神话、童话人物一天哪儿也不去、从早到晚专程陪着你，你最想邀请谁？（抽四五位只说名字）再问：你专门邀请他，最想用到他的什么本事？追问：如果这一整天他只默默跟着你、一点本领都不用，请他还有意义吗？——没意义。所以今天要想象和他度过神奇的一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核心任务：把这奇妙的一天写成一篇完整的想象作文。写完四人一组互读，找出'只有文中人物才能完成的事'画横线；再开班级分享，请几位朗读最精彩片段。评价标准只有一个：人物有没有写出专属他的样子和本事——把名字划掉换上同桌的名字，故事一个字不用改，这位人物就算白请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想写好人物，先读懂人物。抢答梳理，一人说一个特点不重复。先聊孙悟空的专属本领（老师复述强化，如'金箍棒能变小，塞在耳朵里'），再换哪吒。总结：本领大家都熟，但只写本领，人物还不鲜活。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孙悟空脾气怎么样？（性子急/爱开玩笑/不服输/爱打抱不平）追问：从哪儿看出他性子急？——别人话没说完他就跳起来了。一个人是什么脾气，就藏在一举一动、一言一行里。再演一样：他这会儿推门进来，第一句话会说什么？用他的语气说（两三位，教师点出像他的地方：'俺老孙'三个字一出口就没别人了）。总结：理清本领、性格、说话风格，才算真正把人物'请到'故事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先弄清这一天到底写什么。同一个题目、同一个地方——游乐园排队等过山车，两段都念，听完说哪一段里的孙悟空是真的孙悟空。追问：第一段也不能说没写具体，太阳、动作、话、排了多久一样不少，为什么不选它？——踮脚往前看谁都会，他一身本事一点没使上。把'孙悟空'划掉换同桌名字，一字不用改。这就是最大误区：故事完整，却没有专属人物的特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示范：当场把这一天里的一件事写成一段（马良画壁灯）。完整读一遍，注意标色：他的动作（红）、他说的话（蓝）、我的心理（紫）——与后面旁批表同色呼应。读完先让学生找：哪里是动作、哪里是语言。再补上最关键的心理描写：这一句没写他，写的是我——他动手的时候你在旁边冒出来的想法，就是真实的心理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场换人试装：这一段里的'马良'换成'孙悟空'，别的一个字不动，再念——'孙悟空没答话，蹲下去，把一张草稿纸铺在第一级台阶上……'不用念完，看表情就知道了。哪儿不对劲？——孙悟空不会画画呀。这件事马良干得成，孙悟空干不成。反过来问：要是那天陪着我的是孙悟空，奶奶爬楼这件事他会怎么办？（背上去/变灯具/吹口气送上去）人物换了，对应的故事、做法必须跟着换，不能生搬硬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写法：这一天写什么事，由人定。写想象作文，核心不是写'玩了一天'，是写只有这个人物才能陪你完成的一天。万能构思方法：先想生活中你解决不了的难题——够不着的、搬不动的、来不及的、坏了修不好的；再对应你选的人物，用他的专属本领解决难题，这件事就是独一无二、非他不可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件选好后还有一步：这一天不用从早写到晚，挑一两件事就够；重点场景放慢细节，写满三点。小练笔：想好人物和专属事件，写三句话——动作、专属台词、内心想法。写完请两位分享，点评三处：这件事是不是只有他干得成、台词贴不贴人设、心理够不够真实。最后补齐首尾：开头他怎么冒出来的、末了怎么走的，各一两句就够（老师：笔盒里凭空多出一支笔／笔放回去，下楼走了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同学想法多、写出来杂乱。发'这一天构思表'，只填关键词，自己能看懂就行。老师先当众填一张示范（见表，逐格边填边念）。重点第四栏：事件必须匹配人物本领，不能写谁都能做的普通小事；实在想不出，就回看第二栏的本领，顺着本领找事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表约3分钟，教师巡视。应答①学生挑的事换谁都干得成（一起吃饭逛街）：不否定，指着第二格问——这么厉害的人物，一身本领完全没用上，是不是太可惜了？换一件只有他能做的事。应答②想写动画片角色：可以写，只要本领、性格鲜明；尽量不写普通真人。填好四人小组轮流说，每人半分钟讲三点：请的人物、专属事件、为什么只有他能做；组员只判一句：这件事你的同桌能不能做到？人人能做就是选错了。之后请几位上台分享，点评匹配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老师把刚才那一段前后补齐，写成一整天。完整读一遍，学生留一件事在心上：老师这一天挑了几件事写。标色与旁批表同色呼应：他的动作红、他说的话蓝、我的心理紫。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框架：这一天写了几件事？（两件：画麻雀、画壁灯）换成孙悟空干得成吗？——干不成，他不会画。哪一件写得详细？（画壁灯，第三段最长）开头写什么、结尾写什么？（开头笔盒里多了一支笔；结尾笔放回去、走了）总结：开头交代怎么遇上的，结尾交代怎么分开的，中间挑两件事，最细的是画壁灯那一件——一天就是这么摆开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挑一处：念到哪一句，你脑子里就有画面了？把这几句理成一张小表对着看。中间三句就是三样：他的动作、他的一句话、我心里的想法——你们写他动手那一段的时候，也是这三样素材。老师请来的是马良，你们请来的是别人，写出来的事当然不一样，这正是这个题目好玩的地方。构思表别收，下节课接着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第2课时·当堂写作与评改课。拿出构思表：先写开头，再自由写作约20分钟，然后传稿画横线、全班奇幻故事会、带标准修改收束。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构思表拿出来，看第三行'怎么遇上的'，这三分钟动笔写开头。怎么写：他从哪儿冒出来的、你第一眼看见的是什么、那会儿你正在干什么。三四句就够。不会写的字先空着，优先保证流畅。（教师不出声巡视，不提示不纠正）停笔后：往下写之前，把核心事件、精彩细节再看一眼，上节课的三句练笔预留好位置，写到那件事直接放进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写约20分钟。中间挑一两件事，核心事件详细慢写，三句练笔放进这一件里；末了写怎么分开的。巡视只做正向介入：接不下去的领回构思表第四栏；内容空泛（'玩得很开心''本领真大'）的看第五栏、把动作写出来；顺畅的轻声一句'接着写'；草草收尾的先肯定再推一步——他办成事的时候是什么样子、说了什么。到点先停笔，修改时间还能回来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写约20分钟。中间挑一两件事，核心事件详细慢写，三句练笔放进这一件里；末了写怎么分开的。巡视只做正向介入：接不下去的领回构思表第四栏；内容空泛（'玩得很开心''本领真大'）的看第五栏、把动作写出来；顺畅的轻声一句'接着写'；草草收尾的先肯定再推一步——他办成事的时候是什么样子、说了什么。到点先停笔，修改时间还能回来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稿一轮约4分钟：四人一组，稿子朝同一个方向传一位，互相阅读。找出文中只有主角能完成的独特情节，画上横线；通篇都是普通小事、毫无专属特点的，在文末标注'换谁都行'。读完传回本人。拿回稿子看一眼横线画在哪一句上；被标注的别急，等下改的时候重点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班故事会约6分钟：请三位同学只朗读自己最精彩的核心片段，每位约两分钟。全班倾听判断：这段描写是不是专属这个人物的特点？从哪一句话能看出来？每位念完请一两位说出判断和依据；教师轻点评落到具体句上——这件事跟他哪一样本事接上了、哪一句话像是从他嘴里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之前先对着三档自检：基础完成（文章完整：遇上、做了什么、怎么分开）→细节达标（动作、话、心理三样都在）→人设贴合（换个人干不成，同组人画出了那道横线）。然后对着三条改三处：缺相遇告别的补齐；被标'换谁都行'的新增专属本领动作、优化事件；细节不全的补全动作语言心理——大部分同学缺心理描写，重点补。收尾点题：亮点不是想象多花哨，而是人物立得住、事件专属、换人就不行。往后再遇这类题，别一上来就想去哪儿玩，先想他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收束：这一天写什么事，由你请来的人物定——挑一件非他不可的事，把最热闹的那一幕写慢：他的动作、他的一句话、我心里的想法。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7.xml"/><Relationship Id="rId10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8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2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8.svg"/><Relationship Id="rId13" Type="http://schemas.openxmlformats.org/officeDocument/2006/relationships/image" Target="../media/image19.png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0.png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0" Type="http://schemas.openxmlformats.org/officeDocument/2006/relationships/notesSlide" Target="../notesSlides/notesSlide16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1.png"/><Relationship Id="rId17" Type="http://schemas.openxmlformats.org/officeDocument/2006/relationships/image" Target="../media/image8.svg"/><Relationship Id="rId16" Type="http://schemas.openxmlformats.org/officeDocument/2006/relationships/image" Target="../media/image19.png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19.png"/><Relationship Id="rId3" Type="http://schemas.openxmlformats.org/officeDocument/2006/relationships/tags" Target="../tags/tag60.xml"/><Relationship Id="rId2" Type="http://schemas.openxmlformats.org/officeDocument/2006/relationships/image" Target="../media/image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19.png"/><Relationship Id="rId3" Type="http://schemas.openxmlformats.org/officeDocument/2006/relationships/tags" Target="../tags/tag6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19.png"/><Relationship Id="rId3" Type="http://schemas.openxmlformats.org/officeDocument/2006/relationships/tags" Target="../tags/tag71.xml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3.png"/><Relationship Id="rId19" Type="http://schemas.openxmlformats.org/officeDocument/2006/relationships/notesSlide" Target="../notesSlides/notesSlide2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14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/>
          </p:txBody>
        </p:sp>
        <p:sp>
          <p:nvSpPr>
            <p:cNvPr id="15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/>
          </p:txBody>
        </p:sp>
      </p:grpSp>
      <p:sp>
        <p:nvSpPr>
          <p:cNvPr id="7" name="Text 4"/>
          <p:cNvSpPr/>
          <p:nvPr/>
        </p:nvSpPr>
        <p:spPr>
          <a:xfrm>
            <a:off x="3218180" y="2716530"/>
            <a:ext cx="9280525" cy="1855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我和</a:t>
            </a:r>
            <a:r>
              <a:rPr lang="en-US" sz="8400" b="1" i="1" u="sng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</a:t>
            </a:r>
            <a:r>
              <a:rPr lang="en-US" sz="84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过一天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3247390" y="4352290"/>
            <a:ext cx="125730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第四单元 · 校内同步写作（想象习作）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第四单元</a:t>
            </a:r>
            <a:endParaRPr lang="en-US" sz="2550" dirty="0"/>
          </a:p>
        </p:txBody>
      </p:sp>
      <p:pic>
        <p:nvPicPr>
          <p:cNvPr id="2" name="图片 1" descr="我和过一天-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963400" y="4572000"/>
            <a:ext cx="6191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2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13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9023583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回想人物 · 学写法 · 这一天构思表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/>
          <p:cNvSpPr/>
          <p:nvPr/>
        </p:nvSpPr>
        <p:spPr>
          <a:xfrm>
            <a:off x="4715510" y="8315960"/>
            <a:ext cx="14540230" cy="1457960"/>
          </a:xfrm>
          <a:prstGeom prst="roundRect">
            <a:avLst>
              <a:gd name="adj" fmla="val 11631"/>
            </a:avLst>
          </a:prstGeom>
          <a:solidFill>
            <a:srgbClr val="FFF8E3"/>
          </a:solidFill>
        </p:spPr>
        <p:txBody>
          <a:bodyPr/>
          <a:lstStyle/>
          <a:p/>
        </p:txBody>
      </p:sp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910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3050"/>
            <a:ext cx="8978265" cy="929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同一场大雨，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换一个人，办法就不一样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1580" y="2581275"/>
            <a:ext cx="16165195" cy="619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下午下起大雨，你站在屋檐下回不了家，越等雨越大。现在，让一位人物站到你身旁：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这场雨，还拦得住你吗？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3"/>
            </p:custDataLst>
          </p:nvPr>
        </p:nvSpPr>
        <p:spPr>
          <a:xfrm>
            <a:off x="1047750" y="5669915"/>
            <a:ext cx="7886700" cy="2203847"/>
          </a:xfrm>
          <a:prstGeom prst="roundRect">
            <a:avLst>
              <a:gd name="adj" fmla="val 12102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0"/>
          <p:cNvSpPr/>
          <p:nvPr>
            <p:custDataLst>
              <p:tags r:id="rId4"/>
            </p:custDataLst>
          </p:nvPr>
        </p:nvSpPr>
        <p:spPr>
          <a:xfrm>
            <a:off x="1466850" y="5967095"/>
            <a:ext cx="480123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身旁站的是：孙悟空</a:t>
            </a:r>
            <a:endParaRPr 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5"/>
            </p:custDataLst>
          </p:nvPr>
        </p:nvSpPr>
        <p:spPr>
          <a:xfrm>
            <a:off x="1466850" y="6510020"/>
            <a:ext cx="7259955" cy="11639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筋斗云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就到家了……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变出一把伞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给我；驮着我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从雨的上方飞过去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2"/>
          <p:cNvSpPr/>
          <p:nvPr>
            <p:custDataLst>
              <p:tags r:id="rId6"/>
            </p:custDataLst>
          </p:nvPr>
        </p:nvSpPr>
        <p:spPr>
          <a:xfrm>
            <a:off x="9448800" y="5669915"/>
            <a:ext cx="7886700" cy="2203847"/>
          </a:xfrm>
          <a:prstGeom prst="roundRect">
            <a:avLst>
              <a:gd name="adj" fmla="val 12102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4"/>
          <p:cNvSpPr/>
          <p:nvPr>
            <p:custDataLst>
              <p:tags r:id="rId7"/>
            </p:custDataLst>
          </p:nvPr>
        </p:nvSpPr>
        <p:spPr>
          <a:xfrm>
            <a:off x="9791700" y="5967095"/>
            <a:ext cx="480123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换成另一位：神笔马良</a:t>
            </a:r>
            <a:endParaRPr 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5"/>
          <p:cNvSpPr/>
          <p:nvPr>
            <p:custDataLst>
              <p:tags r:id="rId8"/>
            </p:custDataLst>
          </p:nvPr>
        </p:nvSpPr>
        <p:spPr>
          <a:xfrm>
            <a:off x="9791700" y="6510020"/>
            <a:ext cx="7259955" cy="11639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画一把伞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……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画一条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不下雨的路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画一辆车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送我回去。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292725" y="8408670"/>
            <a:ext cx="12358370" cy="656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同样的雨天，同样的困境，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人物不同，解决问题的方法就完全不同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292725" y="9054465"/>
            <a:ext cx="5833745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雨没有变，变的是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人物的本领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6" name="图片 5" descr="我和过一天-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180" y="3245485"/>
            <a:ext cx="3600000" cy="3535261"/>
          </a:xfrm>
          <a:prstGeom prst="ellipse">
            <a:avLst/>
          </a:prstGeom>
          <a:ln w="76200">
            <a:solidFill>
              <a:schemeClr val="bg1"/>
            </a:solidFill>
          </a:ln>
        </p:spPr>
      </p:pic>
      <p:pic>
        <p:nvPicPr>
          <p:cNvPr id="8" name="图片 7" descr="E:/22222小学配图/同步写作/四上4-我和＿＿过一天/我和过一天-10-0.png我和过一天-10-0"/>
          <p:cNvPicPr>
            <a:picLocks noChangeAspect="1"/>
          </p:cNvPicPr>
          <p:nvPr/>
        </p:nvPicPr>
        <p:blipFill>
          <a:blip r:embed="rId10"/>
          <a:srcRect l="9" r="9"/>
          <a:stretch>
            <a:fillRect/>
          </a:stretch>
        </p:blipFill>
        <p:spPr>
          <a:xfrm>
            <a:off x="13612495" y="3245485"/>
            <a:ext cx="3600000" cy="3535261"/>
          </a:xfrm>
          <a:prstGeom prst="ellipse">
            <a:avLst/>
          </a:prstGeom>
          <a:ln w="76200">
            <a:solidFill>
              <a:schemeClr val="bg1"/>
            </a:solidFill>
          </a:ln>
        </p:spPr>
      </p:pic>
      <p:pic>
        <p:nvPicPr>
          <p:cNvPr id="25" name="图片 24" descr="e586ea7d877a0135e2b6db8a802a3d3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3568700" y="8559165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11" grpId="0" animBg="1"/>
      <p:bldP spid="14" grpId="0"/>
      <p:bldP spid="15" grpId="0"/>
      <p:bldP spid="16" grpId="0" animBg="1"/>
      <p:bldP spid="19" grpId="0"/>
      <p:bldP spid="20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9476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58290"/>
            <a:ext cx="9196070" cy="709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请他专程陪你一天，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你最想请谁？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62990" y="549021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333500" y="5353050"/>
            <a:ext cx="10050706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孙悟空、哪吒、神笔马良、嫦娥……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先想好一位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，说出他的名字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062990" y="628307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333500" y="6145917"/>
            <a:ext cx="709359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你特意邀请他，最想借助他的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哪一项本领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062990" y="7121664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1333500" y="6938645"/>
            <a:ext cx="11628120" cy="10598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如果他一整天只是默默跟着你，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一点本领都不用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，请他还有意义吗？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2143760" y="7852410"/>
            <a:ext cx="15096490" cy="1005840"/>
          </a:xfrm>
          <a:prstGeom prst="roundRect">
            <a:avLst>
              <a:gd name="adj" fmla="val 17046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2"/>
          <p:cNvSpPr/>
          <p:nvPr/>
        </p:nvSpPr>
        <p:spPr>
          <a:xfrm>
            <a:off x="2381250" y="8027670"/>
            <a:ext cx="12158345" cy="510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每个人请的人物都不一样，但大家看重的，都是人物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独一无二的本领</a:t>
            </a: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2A2E37"/>
              </a:solidFill>
              <a:highlight>
                <a:srgbClr val="FCF3EE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381250" y="9029065"/>
            <a:ext cx="1030478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所以今天，我们要展开想象，和他度过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神奇的一天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2" name="图片 21" descr="孙悟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78405"/>
            <a:ext cx="3748478" cy="2664000"/>
          </a:xfrm>
          <a:prstGeom prst="roundRect">
            <a:avLst>
              <a:gd name="adj" fmla="val 7755"/>
            </a:avLst>
          </a:prstGeom>
        </p:spPr>
      </p:pic>
      <p:pic>
        <p:nvPicPr>
          <p:cNvPr id="23" name="图片 22" descr="e586ea7d877a0135e2b6db8a802a3d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047750" y="7890510"/>
            <a:ext cx="914400" cy="914400"/>
          </a:xfrm>
          <a:prstGeom prst="rect">
            <a:avLst/>
          </a:prstGeom>
        </p:spPr>
      </p:pic>
      <p:pic>
        <p:nvPicPr>
          <p:cNvPr id="32" name="图片 31" descr="E:/22222小学配图/同步写作/四上4-我和＿＿过一天/哪吒.png哪吒"/>
          <p:cNvPicPr>
            <a:picLocks noChangeAspect="1"/>
          </p:cNvPicPr>
          <p:nvPr/>
        </p:nvPicPr>
        <p:blipFill>
          <a:blip r:embed="rId7"/>
          <a:srcRect r="7"/>
          <a:stretch>
            <a:fillRect/>
          </a:stretch>
        </p:blipFill>
        <p:spPr>
          <a:xfrm>
            <a:off x="5386143" y="2478405"/>
            <a:ext cx="3748405" cy="2664000"/>
          </a:xfrm>
          <a:prstGeom prst="roundRect">
            <a:avLst>
              <a:gd name="adj" fmla="val 7755"/>
            </a:avLst>
          </a:prstGeom>
        </p:spPr>
      </p:pic>
      <p:pic>
        <p:nvPicPr>
          <p:cNvPr id="33" name="图片 32" descr="E:/22222小学配图/同步写作/四上4-我和＿＿过一天/神笔马良.png神笔马良"/>
          <p:cNvPicPr>
            <a:picLocks noChangeAspect="1"/>
          </p:cNvPicPr>
          <p:nvPr/>
        </p:nvPicPr>
        <p:blipFill>
          <a:blip r:embed="rId8"/>
          <a:srcRect l="3" r="3"/>
          <a:stretch>
            <a:fillRect/>
          </a:stretch>
        </p:blipFill>
        <p:spPr>
          <a:xfrm>
            <a:off x="9438713" y="2478405"/>
            <a:ext cx="3748405" cy="2664000"/>
          </a:xfrm>
          <a:prstGeom prst="roundRect">
            <a:avLst>
              <a:gd name="adj" fmla="val 7755"/>
            </a:avLst>
          </a:prstGeom>
          <a:ln>
            <a:solidFill>
              <a:schemeClr val="accent4">
                <a:lumMod val="75000"/>
              </a:schemeClr>
            </a:solidFill>
          </a:ln>
        </p:spPr>
      </p:pic>
      <p:pic>
        <p:nvPicPr>
          <p:cNvPr id="34" name="图片 33" descr="E:/22222小学配图/同步写作/四上4-我和＿＿过一天/嫦娥.png嫦娥"/>
          <p:cNvPicPr>
            <a:picLocks noChangeAspect="1"/>
          </p:cNvPicPr>
          <p:nvPr/>
        </p:nvPicPr>
        <p:blipFill>
          <a:blip r:embed="rId9"/>
          <a:srcRect l="7"/>
          <a:stretch>
            <a:fillRect/>
          </a:stretch>
        </p:blipFill>
        <p:spPr>
          <a:xfrm>
            <a:off x="13491283" y="2478405"/>
            <a:ext cx="3748405" cy="2664000"/>
          </a:xfrm>
          <a:prstGeom prst="roundRect">
            <a:avLst>
              <a:gd name="adj" fmla="val 7755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80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3530"/>
            <a:ext cx="815340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今天的任务：写下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神奇的一天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28750" y="2876550"/>
            <a:ext cx="159162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两节课完成一个核心任务：把和他度过的这一天，写成一篇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完整的想象作文</a:t>
            </a: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7654290" y="4493895"/>
            <a:ext cx="9994548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写完后四人小组互读，找出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只有文中人物才能完成的事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，画上横线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654290" y="5908040"/>
            <a:ext cx="7169052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班级分享：请几位同学朗读文章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最精彩的片段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7654290" y="7219950"/>
            <a:ext cx="10497820" cy="15316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评价标准只有一个：划掉人物的名字，换上同桌的名字，故事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一个字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都不用改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，这位人物就等于白请了</a:t>
            </a:r>
            <a:endParaRPr lang="en-US" sz="2600" dirty="0"/>
          </a:p>
        </p:txBody>
      </p:sp>
      <p:pic>
        <p:nvPicPr>
          <p:cNvPr id="2" name="图片 1" descr="推荐一个好地方-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" y="3717290"/>
            <a:ext cx="6201410" cy="6078220"/>
          </a:xfrm>
          <a:prstGeom prst="rect">
            <a:avLst/>
          </a:prstGeom>
        </p:spPr>
      </p:pic>
      <p:sp>
        <p:nvSpPr>
          <p:cNvPr id="6" name="Shape 5"/>
          <p:cNvSpPr/>
          <p:nvPr>
            <p:custDataLst>
              <p:tags r:id="rId4"/>
            </p:custDataLst>
          </p:nvPr>
        </p:nvSpPr>
        <p:spPr>
          <a:xfrm>
            <a:off x="6929120" y="449580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5"/>
            </p:custDataLst>
          </p:nvPr>
        </p:nvSpPr>
        <p:spPr>
          <a:xfrm>
            <a:off x="6929120" y="445897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6"/>
            </p:custDataLst>
          </p:nvPr>
        </p:nvSpPr>
        <p:spPr>
          <a:xfrm>
            <a:off x="6929120" y="588835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7"/>
            </p:custDataLst>
          </p:nvPr>
        </p:nvSpPr>
        <p:spPr>
          <a:xfrm>
            <a:off x="6929120" y="585152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8"/>
            </p:custDataLst>
          </p:nvPr>
        </p:nvSpPr>
        <p:spPr>
          <a:xfrm>
            <a:off x="6928485" y="741172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9"/>
            </p:custDataLst>
          </p:nvPr>
        </p:nvSpPr>
        <p:spPr>
          <a:xfrm>
            <a:off x="6928485" y="737489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6"/>
          <p:cNvSpPr/>
          <p:nvPr/>
        </p:nvSpPr>
        <p:spPr>
          <a:xfrm>
            <a:off x="1466850" y="5278755"/>
            <a:ext cx="16192500" cy="2379600"/>
          </a:xfrm>
          <a:prstGeom prst="roundRect">
            <a:avLst>
              <a:gd name="adj" fmla="val 968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noFill/>
            <a:prstDash val="solid"/>
          </a:ln>
        </p:spPr>
        <p:txBody>
          <a:bodyPr/>
          <a:lstStyle/>
          <a:p/>
        </p:txBody>
      </p:sp>
      <p:sp>
        <p:nvSpPr>
          <p:cNvPr id="36" name="Shape 26"/>
          <p:cNvSpPr/>
          <p:nvPr/>
        </p:nvSpPr>
        <p:spPr>
          <a:xfrm>
            <a:off x="1466850" y="2578100"/>
            <a:ext cx="16192500" cy="2379600"/>
          </a:xfrm>
          <a:prstGeom prst="roundRect">
            <a:avLst>
              <a:gd name="adj" fmla="val 9686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prstDash val="solid"/>
          </a:ln>
        </p:spPr>
        <p:txBody>
          <a:bodyPr/>
          <a:lstStyle/>
          <a:p/>
        </p:txBody>
      </p:sp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126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回想人物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30420" y="3036570"/>
            <a:ext cx="80479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先说孙悟空：一人说一个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本领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，不重复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630420" y="5581650"/>
            <a:ext cx="3207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换一位：哪吒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47750" y="7852410"/>
            <a:ext cx="16610965" cy="848360"/>
          </a:xfrm>
          <a:prstGeom prst="roundRect">
            <a:avLst>
              <a:gd name="adj" fmla="val 17046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28"/>
          <p:cNvSpPr/>
          <p:nvPr/>
        </p:nvSpPr>
        <p:spPr>
          <a:xfrm>
            <a:off x="10783570" y="9099550"/>
            <a:ext cx="609600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接着往下想：他是什么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脾气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 descr="孙悟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" y="2578100"/>
            <a:ext cx="3350895" cy="2381250"/>
          </a:xfrm>
          <a:prstGeom prst="roundRect">
            <a:avLst>
              <a:gd name="adj" fmla="val 7755"/>
            </a:avLst>
          </a:prstGeom>
        </p:spPr>
      </p:pic>
      <p:pic>
        <p:nvPicPr>
          <p:cNvPr id="32" name="图片 31" descr="E:/22222小学配图/同步写作/四上4-我和＿＿过一天/哪吒.png哪吒"/>
          <p:cNvPicPr>
            <a:picLocks noChangeAspect="1"/>
          </p:cNvPicPr>
          <p:nvPr/>
        </p:nvPicPr>
        <p:blipFill>
          <a:blip r:embed="rId4"/>
          <a:srcRect r="7"/>
          <a:stretch>
            <a:fillRect/>
          </a:stretch>
        </p:blipFill>
        <p:spPr>
          <a:xfrm>
            <a:off x="1066165" y="5276850"/>
            <a:ext cx="3350895" cy="2381250"/>
          </a:xfrm>
          <a:prstGeom prst="roundRect">
            <a:avLst>
              <a:gd name="adj" fmla="val 7755"/>
            </a:avLst>
          </a:prstGeom>
        </p:spPr>
      </p:pic>
      <p:sp>
        <p:nvSpPr>
          <p:cNvPr id="6" name="文本框 5"/>
          <p:cNvSpPr txBox="1"/>
          <p:nvPr/>
        </p:nvSpPr>
        <p:spPr>
          <a:xfrm>
            <a:off x="1466850" y="1531620"/>
            <a:ext cx="609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抢答：他有哪些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专属本领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623435" y="3752850"/>
            <a:ext cx="1683385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6496050" y="3752850"/>
            <a:ext cx="195580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8641080" y="3752850"/>
            <a:ext cx="1683385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10513695" y="3752850"/>
            <a:ext cx="284988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13552805" y="3752850"/>
            <a:ext cx="3885565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4623435" y="6378575"/>
            <a:ext cx="195580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6791960" y="6378575"/>
            <a:ext cx="195580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8960485" y="6378575"/>
            <a:ext cx="220091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11374120" y="6378575"/>
            <a:ext cx="332232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4782185" y="3899853"/>
            <a:ext cx="164528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七十二变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700520" y="3899853"/>
            <a:ext cx="18770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会翻筋斗云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835390" y="3899853"/>
            <a:ext cx="164528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火眼金睛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764520" y="3899853"/>
            <a:ext cx="25266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金箍棒能变大变小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3725525" y="3899853"/>
            <a:ext cx="3646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拔一把毫毛变出一群小猴子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796790" y="6525895"/>
            <a:ext cx="17830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脚踩风火轮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824345" y="6525895"/>
            <a:ext cx="219329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有一条混天绫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119235" y="6525578"/>
            <a:ext cx="20427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会变三头六臂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676380" y="6525578"/>
            <a:ext cx="300545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水性极好、身手敏捷</a:t>
            </a:r>
            <a:endParaRPr lang="zh-CN" altLang="en-US" sz="2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470660" y="8018145"/>
            <a:ext cx="9144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本领大家都很熟悉，但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只写本领，人物还是不鲜活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 animBg="1"/>
      <p:bldP spid="8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126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回想人物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27810"/>
            <a:ext cx="720788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他是什么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脾气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？会怎么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说话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33401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09700" y="3187700"/>
            <a:ext cx="835858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孙悟空性子急：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别人的话还没说完，他就跳起来了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41592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409700" y="4006850"/>
            <a:ext cx="927749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一个人是什么脾气，就藏在他的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一举一动、一言一行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047750" y="5149850"/>
            <a:ext cx="9715500" cy="2420987"/>
          </a:xfrm>
          <a:prstGeom prst="roundRect">
            <a:avLst>
              <a:gd name="adj" fmla="val 11016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prstDash val="solid"/>
          </a:ln>
        </p:spPr>
        <p:txBody>
          <a:bodyPr/>
          <a:lstStyle/>
          <a:p/>
        </p:txBody>
      </p:sp>
      <p:sp>
        <p:nvSpPr>
          <p:cNvPr id="15" name="Text 11"/>
          <p:cNvSpPr/>
          <p:nvPr/>
        </p:nvSpPr>
        <p:spPr>
          <a:xfrm>
            <a:off x="1413510" y="5344160"/>
            <a:ext cx="9228455" cy="24301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如果他现在推门进来，站在门口，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第一句话会说什么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请用他的语气，说给大家听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“俺老孙”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三个字一出口，就能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听出是他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了。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1047750" y="8858250"/>
            <a:ext cx="1015238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理清人物的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本领、性格、说话风格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，才算真正把人物“请到”你的故事里。</a:t>
            </a:r>
            <a:endParaRPr lang="en-US" sz="2250" dirty="0"/>
          </a:p>
        </p:txBody>
      </p:sp>
      <p:pic>
        <p:nvPicPr>
          <p:cNvPr id="2" name="图片 1" descr="我和过一天-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5" y="2460625"/>
            <a:ext cx="6204585" cy="6948805"/>
          </a:xfrm>
          <a:prstGeom prst="roundRect">
            <a:avLst>
              <a:gd name="adj" fmla="val 5489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6" name="等腰三角形 5"/>
          <p:cNvSpPr/>
          <p:nvPr/>
        </p:nvSpPr>
        <p:spPr>
          <a:xfrm rot="5400000">
            <a:off x="10570210" y="5628005"/>
            <a:ext cx="652780" cy="43751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1200130" y="4559300"/>
            <a:ext cx="2733040" cy="2687955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4879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3050"/>
            <a:ext cx="839724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哪一段里的孙悟空，是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真的孙悟空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Text 15"/>
          <p:cNvSpPr/>
          <p:nvPr/>
        </p:nvSpPr>
        <p:spPr>
          <a:xfrm>
            <a:off x="1047750" y="7045325"/>
            <a:ext cx="16270605" cy="14306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左边一段并非不具体：太阳、动作、他的话一样不少；可是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踮着脚往前看，谁都会做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。把“孙悟空”</a:t>
            </a:r>
            <a:endParaRPr lang="zh-CN" alt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altLang="zh-CN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划掉，换上你同桌的名字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一个字都不用改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。这就是本次习作最大的误区：故事完整，却没有专属</a:t>
            </a:r>
            <a:endParaRPr lang="zh-CN" alt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altLang="zh-CN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人物的特点。</a:t>
            </a:r>
            <a:endParaRPr lang="zh-CN" alt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16"/>
          <p:cNvSpPr/>
          <p:nvPr/>
        </p:nvSpPr>
        <p:spPr>
          <a:xfrm>
            <a:off x="1047750" y="8612505"/>
            <a:ext cx="987615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只有孙悟空才会吹仙气、使七十二般变化，这才是非他不可。</a:t>
            </a:r>
            <a:endParaRPr lang="zh-CN" alt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5"/>
          <p:cNvSpPr/>
          <p:nvPr>
            <p:custDataLst>
              <p:tags r:id="rId3"/>
            </p:custDataLst>
          </p:nvPr>
        </p:nvSpPr>
        <p:spPr>
          <a:xfrm>
            <a:off x="1047750" y="2705100"/>
            <a:ext cx="78660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Shape 6"/>
          <p:cNvSpPr/>
          <p:nvPr>
            <p:custDataLst>
              <p:tags r:id="rId4"/>
            </p:custDataLst>
          </p:nvPr>
        </p:nvSpPr>
        <p:spPr>
          <a:xfrm>
            <a:off x="10477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5" name="Text 7"/>
          <p:cNvSpPr/>
          <p:nvPr>
            <p:custDataLst>
              <p:tags r:id="rId5"/>
            </p:custDataLst>
          </p:nvPr>
        </p:nvSpPr>
        <p:spPr>
          <a:xfrm>
            <a:off x="3523615" y="2840355"/>
            <a:ext cx="282448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换谁都行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10"/>
          <p:cNvSpPr/>
          <p:nvPr>
            <p:custDataLst>
              <p:tags r:id="rId6"/>
            </p:custDataLst>
          </p:nvPr>
        </p:nvSpPr>
        <p:spPr>
          <a:xfrm>
            <a:off x="9353550" y="2705100"/>
            <a:ext cx="78660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8" name="Shape 11"/>
          <p:cNvSpPr/>
          <p:nvPr>
            <p:custDataLst>
              <p:tags r:id="rId7"/>
            </p:custDataLst>
          </p:nvPr>
        </p:nvSpPr>
        <p:spPr>
          <a:xfrm>
            <a:off x="93535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8"/>
            </p:custDataLst>
          </p:nvPr>
        </p:nvSpPr>
        <p:spPr>
          <a:xfrm>
            <a:off x="11829415" y="2840355"/>
            <a:ext cx="275336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非他不可</a:t>
            </a:r>
            <a:endParaRPr 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56030" y="3766820"/>
            <a:ext cx="7954010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过山车前面排着长长一队，太阳晒得人发晕。孙悟空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踮起脚往前看了看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，缩回来对我说：“还早呢，起码还得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等半个钟头。”我们跟着队伍一步一步往前挪，挪到快中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午才坐上。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38970" y="3766820"/>
            <a:ext cx="7812405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过山车前面排着长长一队，太阳晒得人发晕，站得我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腿都发酸。孙悟空见我满头大汗，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吹一口仙气，变出两片</a:t>
            </a:r>
            <a:endParaRPr lang="zh-CN" altLang="en-US" sz="23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大大的树荫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，罩在我们头顶。他挠挠头对我说：“排队等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着着实熬人，咱们先在阴凉底下歇会儿。”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35134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教师示范段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562100"/>
            <a:ext cx="8564245" cy="925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老师把一件事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详细写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给大家看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40330"/>
            <a:ext cx="16192500" cy="3167380"/>
          </a:xfrm>
          <a:prstGeom prst="roundRect">
            <a:avLst>
              <a:gd name="adj" fmla="val 5859"/>
            </a:avLst>
          </a:prstGeom>
          <a:solidFill>
            <a:srgbClr val="F7F5F2"/>
          </a:solidFill>
        </p:spPr>
        <p:txBody>
          <a:bodyPr/>
          <a:lstStyle/>
          <a:p/>
        </p:txBody>
      </p:sp>
      <p:sp>
        <p:nvSpPr>
          <p:cNvPr id="10" name="Shape 7"/>
          <p:cNvSpPr/>
          <p:nvPr/>
        </p:nvSpPr>
        <p:spPr>
          <a:xfrm>
            <a:off x="1047750" y="6877050"/>
            <a:ext cx="16192500" cy="2137410"/>
          </a:xfrm>
          <a:prstGeom prst="roundRect">
            <a:avLst>
              <a:gd name="adj" fmla="val 90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268730" y="7297420"/>
            <a:ext cx="16404590" cy="1943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最关键的心理描写，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就是这一句：</a:t>
            </a:r>
            <a:r>
              <a:rPr lang="zh-CN" altLang="en-US" sz="2600" b="1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心里诧异极了</a:t>
            </a:r>
            <a:r>
              <a:rPr lang="en-US" sz="26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b="1" dirty="0">
              <a:solidFill>
                <a:srgbClr val="8E5A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这一句没有写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马良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，写的是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神笔马良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笔画画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的时候，你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站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在旁边产生的想法，就是真实的心理活动。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84910" y="5998845"/>
            <a:ext cx="168529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他的动作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98165" y="5998845"/>
            <a:ext cx="23729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他说的一句话</a:t>
            </a:r>
            <a:endParaRPr lang="en-US" sz="24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36260" y="5998845"/>
            <a:ext cx="237299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我心里的想法</a:t>
            </a:r>
            <a:endParaRPr lang="en-US" sz="2400" b="1" dirty="0">
              <a:solidFill>
                <a:srgbClr val="8E5A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3030" y="2835910"/>
            <a:ext cx="15856585" cy="267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我家住六楼，是一栋老楼的顶楼。楼道里没有灯，一到傍晚楼道就漆黑一片，奶奶眼神不好，傍晚买菜上楼总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容易磕磕绊绊。那天下午我把这件烦心事说给马良听。他没答话，</a:t>
            </a: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蹲下去，把一张草稿纸铺在第一级台阶上，握着</a:t>
            </a:r>
            <a:endParaRPr lang="zh-CN" altLang="en-US" sz="24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笔在纸上画了一整排明亮的壁灯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。画完，</a:t>
            </a: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他站起身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，只见一幅幅灯的图样从纸上飘出，顺着楼梯依次定格在每层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墙壁上，化作真实的暖光壁灯，从一楼一直排到六楼。</a:t>
            </a:r>
            <a:r>
              <a:rPr lang="zh-CN" altLang="en-US" sz="24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“你瞧，”他说，“这些灯光，都是取自我家后山今年中秋</a:t>
            </a:r>
            <a:endParaRPr lang="zh-CN" altLang="en-US" sz="2400" b="1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节那晚的月光。”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我抬头望着暖融融的灯光，</a:t>
            </a:r>
            <a:r>
              <a:rPr lang="zh-CN" altLang="en-US" sz="2400" b="1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心里诧异极了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256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28000" y="3261995"/>
            <a:ext cx="9207500" cy="1824990"/>
          </a:xfrm>
          <a:prstGeom prst="roundRect">
            <a:avLst>
              <a:gd name="adj" fmla="val 14614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7"/>
          <p:cNvSpPr/>
          <p:nvPr/>
        </p:nvSpPr>
        <p:spPr>
          <a:xfrm>
            <a:off x="8387080" y="3532505"/>
            <a:ext cx="9065133" cy="1139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孙悟空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没答话，蹲下去，把一张草稿纸铺在第一级台阶上，握着笔在纸上画了……”</a:t>
            </a:r>
            <a:endParaRPr lang="en-US" sz="2550" dirty="0"/>
          </a:p>
        </p:txBody>
      </p:sp>
      <p:sp>
        <p:nvSpPr>
          <p:cNvPr id="12" name="Shape 8"/>
          <p:cNvSpPr/>
          <p:nvPr/>
        </p:nvSpPr>
        <p:spPr>
          <a:xfrm>
            <a:off x="8128000" y="56870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9"/>
          <p:cNvSpPr/>
          <p:nvPr/>
        </p:nvSpPr>
        <p:spPr>
          <a:xfrm>
            <a:off x="8489950" y="5544125"/>
            <a:ext cx="8602519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孙悟空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不会画画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画画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这件事马良能做到，他做不到</a:t>
            </a:r>
            <a:endParaRPr lang="en-US" sz="2625" dirty="0"/>
          </a:p>
        </p:txBody>
      </p:sp>
      <p:sp>
        <p:nvSpPr>
          <p:cNvPr id="14" name="Shape 10"/>
          <p:cNvSpPr/>
          <p:nvPr/>
        </p:nvSpPr>
        <p:spPr>
          <a:xfrm>
            <a:off x="8128000" y="6456144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5" name="Text 11"/>
          <p:cNvSpPr/>
          <p:nvPr/>
        </p:nvSpPr>
        <p:spPr>
          <a:xfrm>
            <a:off x="8489950" y="6313170"/>
            <a:ext cx="9634220" cy="1220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换成孙悟空陪我，奶奶上楼他会怎么办？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他背着奶奶一</a:t>
            </a:r>
            <a:endParaRPr lang="en-US" sz="26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下就上去了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en-US" sz="262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变出一套灯具</a:t>
            </a:r>
            <a:endParaRPr lang="en-US" sz="2625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6" name="图片 5" descr="我和过一天-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683510"/>
            <a:ext cx="6798310" cy="6908165"/>
          </a:xfrm>
          <a:prstGeom prst="roundRect">
            <a:avLst>
              <a:gd name="adj" fmla="val 4044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19" name="图片 18" descr="E:/22222小学配图/同步写作/四上4-我和＿＿过一天/我和过一天-2.png我和过一天-2"/>
          <p:cNvPicPr>
            <a:picLocks noChangeAspect="1"/>
          </p:cNvPicPr>
          <p:nvPr/>
        </p:nvPicPr>
        <p:blipFill>
          <a:blip r:embed="rId4"/>
          <a:srcRect l="9" r="9"/>
          <a:stretch>
            <a:fillRect/>
          </a:stretch>
        </p:blipFill>
        <p:spPr>
          <a:xfrm>
            <a:off x="1047750" y="2683510"/>
            <a:ext cx="6798310" cy="6908165"/>
          </a:xfrm>
          <a:prstGeom prst="roundRect">
            <a:avLst>
              <a:gd name="adj" fmla="val 4044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20" name="图片 19" descr="e586ea7d877a0135e2b6db8a802a3d3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489950" y="8022590"/>
            <a:ext cx="914400" cy="9144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518650" y="8060690"/>
            <a:ext cx="7167880" cy="1339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人物换了，对应的故事、做法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必须跟着换，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不能生搬硬套。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6525" y="1530350"/>
            <a:ext cx="9110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把“马良”换成“孙悟空”，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哪里不合适？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4137660" y="8214360"/>
            <a:ext cx="13319999" cy="900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56815"/>
            <a:ext cx="5589905" cy="6708140"/>
          </a:xfrm>
          <a:prstGeom prst="rect">
            <a:avLst/>
          </a:prstGeom>
        </p:spPr>
      </p:pic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5557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6850" y="9189720"/>
            <a:ext cx="3543935" cy="9232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人物决定事件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38950" y="3718560"/>
            <a:ext cx="10618470" cy="781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先想清楚他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有什么本领、是什么脾气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，再选一件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非他不可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的事来写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838950" y="4945380"/>
            <a:ext cx="11257280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通用构思法：先想生活中解决不了的难题，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够不着的、搬不动的、</a:t>
            </a:r>
            <a:endParaRPr 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来不及的、坏了修不好的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838950" y="6629400"/>
            <a:ext cx="10904220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再用他的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专属本领解决难题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，这件事就是独一无二、非他不可的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6264910" y="8408670"/>
            <a:ext cx="1119251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核心不是写“玩了一天”，而是写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只有这个人物才能陪你完成的一天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5"/>
          <p:cNvSpPr/>
          <p:nvPr>
            <p:custDataLst>
              <p:tags r:id="rId4"/>
            </p:custDataLst>
          </p:nvPr>
        </p:nvSpPr>
        <p:spPr>
          <a:xfrm>
            <a:off x="6212840" y="37490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5"/>
            </p:custDataLst>
          </p:nvPr>
        </p:nvSpPr>
        <p:spPr>
          <a:xfrm>
            <a:off x="6212840" y="37122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6"/>
            </p:custDataLst>
          </p:nvPr>
        </p:nvSpPr>
        <p:spPr>
          <a:xfrm>
            <a:off x="6212840" y="514159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7"/>
            </p:custDataLst>
          </p:nvPr>
        </p:nvSpPr>
        <p:spPr>
          <a:xfrm>
            <a:off x="6212840" y="510476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8"/>
            </p:custDataLst>
          </p:nvPr>
        </p:nvSpPr>
        <p:spPr>
          <a:xfrm>
            <a:off x="6212205" y="66649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9"/>
            </p:custDataLst>
          </p:nvPr>
        </p:nvSpPr>
        <p:spPr>
          <a:xfrm>
            <a:off x="6212205" y="66281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1357630" y="1533525"/>
            <a:ext cx="9864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今天的写法：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这一天写什么事，由人物定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我和过一天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9595" y="1990090"/>
            <a:ext cx="3575685" cy="4448175"/>
          </a:xfrm>
          <a:prstGeom prst="rect">
            <a:avLst/>
          </a:prstGeom>
        </p:spPr>
      </p:pic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50558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小练笔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27810"/>
            <a:ext cx="867156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最热闹的那一幕</a:t>
            </a:r>
            <a:r>
              <a:rPr lang="zh-CN" alt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详细写</a:t>
            </a: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</a:t>
            </a:r>
            <a:r>
              <a:rPr lang="zh-CN" alt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句话</a:t>
            </a:r>
            <a:endParaRPr lang="en-US" sz="355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290320" y="3028950"/>
            <a:ext cx="216000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449070" y="3168650"/>
            <a:ext cx="186245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前面一两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endParaRPr 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3605530" y="3120390"/>
            <a:ext cx="10085705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他的动作</a:t>
            </a:r>
            <a:r>
              <a:rPr lang="en-US" sz="28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：他蹲下去、铺纸、握笔、站起身</a:t>
            </a:r>
            <a:endParaRPr lang="en-US" sz="28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1290320" y="4141470"/>
            <a:ext cx="216000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449070" y="4281170"/>
            <a:ext cx="186245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中间一两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endParaRPr 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3605530" y="4232910"/>
            <a:ext cx="9187180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8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他的专属台词</a:t>
            </a:r>
            <a:r>
              <a:rPr lang="en-US" sz="28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：这一句话，别人说不出来</a:t>
            </a:r>
            <a:endParaRPr lang="en-US" sz="28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1290320" y="5223510"/>
            <a:ext cx="216000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449070" y="5363210"/>
            <a:ext cx="186245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endParaRPr 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3605530" y="5314950"/>
            <a:ext cx="10983595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8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你的内心想法</a:t>
            </a:r>
            <a:r>
              <a:rPr lang="en-US" sz="28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：他动手时，你在旁边产生的念头</a:t>
            </a:r>
            <a:endParaRPr lang="en-US" sz="28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47750" y="6499225"/>
            <a:ext cx="16192500" cy="1536065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48740" y="6614160"/>
            <a:ext cx="16162655" cy="1318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再补齐首尾，各一两句即可：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开头写他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怎么出现的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，结尾写他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怎么离开的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。老师写的是：笔盒里凭空多出一支笔；</a:t>
            </a:r>
            <a:endParaRPr lang="en-US" sz="24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结尾他把笔放回去，下楼走了。</a:t>
            </a:r>
            <a:endParaRPr lang="en-US" sz="24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724785" y="8341995"/>
            <a:ext cx="11653520" cy="1117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写完后请两位同学分享，大家帮他看三处：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事是不是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只有他能完成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、台词贴不贴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人设、心理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描写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真不真实。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0" name="图片 19" descr="e586ea7d877a0135e2b6db8a802a3d3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1466850" y="8341995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3741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构思表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2133600"/>
            <a:ext cx="7893685" cy="383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只填关键词，不写长句子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5200650"/>
          </a:xfrm>
          <a:prstGeom prst="roundRect">
            <a:avLst>
              <a:gd name="adj" fmla="val 256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3000375"/>
            <a:ext cx="64541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9152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8229600" y="3000375"/>
            <a:ext cx="897578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52825"/>
            <a:ext cx="16173450" cy="6762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705225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我请来的是谁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7915275" y="3552825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8229600" y="3705225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4229100"/>
            <a:ext cx="16173450" cy="6762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381500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他的本领、脾气性格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7915275" y="4229100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8229600" y="4381500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57275" y="4905375"/>
            <a:ext cx="16173450" cy="6762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5057775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我们怎么遇上的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7915275" y="4905375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8229600" y="5057775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5581650"/>
            <a:ext cx="16173450" cy="704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5734050"/>
            <a:ext cx="64541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这一天做的事（挑一两件，非他不可的）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7915275" y="5581650"/>
            <a:ext cx="9525" cy="7048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8229600" y="5734050"/>
            <a:ext cx="8975788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1057275" y="6286500"/>
            <a:ext cx="16173450" cy="10477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438900"/>
            <a:ext cx="645414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最热闹的那一幕：他做</a:t>
            </a: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、他说</a:t>
            </a: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、我心里</a:t>
            </a: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的感受</a:t>
            </a:r>
            <a:endParaRPr lang="zh-CN" altLang="en-US" sz="217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915275" y="6286500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8229600" y="6438900"/>
            <a:ext cx="897578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75" dirty="0"/>
          </a:p>
        </p:txBody>
      </p:sp>
      <p:sp>
        <p:nvSpPr>
          <p:cNvPr id="33" name="Shape 30"/>
          <p:cNvSpPr/>
          <p:nvPr/>
        </p:nvSpPr>
        <p:spPr>
          <a:xfrm>
            <a:off x="1057275" y="7334250"/>
            <a:ext cx="16173450" cy="6762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7486650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最后怎么分开的</a:t>
            </a:r>
            <a:endParaRPr lang="en-US" sz="2175" dirty="0"/>
          </a:p>
        </p:txBody>
      </p:sp>
      <p:sp>
        <p:nvSpPr>
          <p:cNvPr id="35" name="Shape 32"/>
          <p:cNvSpPr/>
          <p:nvPr/>
        </p:nvSpPr>
        <p:spPr>
          <a:xfrm>
            <a:off x="7915275" y="7334250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8229600" y="7486650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3741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构思表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2133600"/>
            <a:ext cx="72040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只填关键词，不写长句子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（老师填写的示例）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5200650"/>
          </a:xfrm>
          <a:prstGeom prst="roundRect">
            <a:avLst>
              <a:gd name="adj" fmla="val 256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3000375"/>
            <a:ext cx="64541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9152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8229600" y="3000375"/>
            <a:ext cx="897578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52825"/>
            <a:ext cx="16173450" cy="6762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705225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我请来的是谁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7915275" y="3552825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8229600" y="3705225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神笔马良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4229100"/>
            <a:ext cx="16173450" cy="6762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381500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他的本领、脾气性格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7915275" y="4229100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8229600" y="4381500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画什么活什么；话少、认真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57275" y="4905375"/>
            <a:ext cx="16173450" cy="6762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5057775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我们怎么遇上的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7915275" y="4905375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8229600" y="5057775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笔盒里多出一支笔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5581650"/>
            <a:ext cx="16173450" cy="7048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5734050"/>
            <a:ext cx="64541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这一天做的事（挑一两件，非他不可的）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7915275" y="5581650"/>
            <a:ext cx="9525" cy="7048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8229600" y="5734050"/>
            <a:ext cx="8975788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画一只麻雀、画一排壁灯（最关键的一栏）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1057275" y="6286500"/>
            <a:ext cx="16173450" cy="10477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438900"/>
            <a:ext cx="645414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最热闹的那一幕：他做的、他说的、我心里的感受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7915275" y="6286500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8229600" y="6438900"/>
            <a:ext cx="897578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蹲下画图；“这些灯光，都是取自我家后山今年中秋节那晚的月光。”；诧异极了</a:t>
            </a:r>
            <a:endParaRPr lang="en-US" sz="2175" dirty="0"/>
          </a:p>
        </p:txBody>
      </p:sp>
      <p:sp>
        <p:nvSpPr>
          <p:cNvPr id="33" name="Shape 30"/>
          <p:cNvSpPr/>
          <p:nvPr/>
        </p:nvSpPr>
        <p:spPr>
          <a:xfrm>
            <a:off x="1057275" y="7334250"/>
            <a:ext cx="16173450" cy="6762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7486650"/>
            <a:ext cx="64541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最后怎么分开的</a:t>
            </a:r>
            <a:endParaRPr lang="en-US" sz="2175" dirty="0"/>
          </a:p>
        </p:txBody>
      </p:sp>
      <p:sp>
        <p:nvSpPr>
          <p:cNvPr id="35" name="Shape 32"/>
          <p:cNvSpPr/>
          <p:nvPr/>
        </p:nvSpPr>
        <p:spPr>
          <a:xfrm>
            <a:off x="7915275" y="7334250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8229600" y="7486650"/>
            <a:ext cx="897578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笔放回；他下楼走了</a:t>
            </a:r>
            <a:endParaRPr lang="en-US" sz="2175" dirty="0"/>
          </a:p>
        </p:txBody>
      </p:sp>
      <p:sp>
        <p:nvSpPr>
          <p:cNvPr id="37" name="Text 34"/>
          <p:cNvSpPr/>
          <p:nvPr/>
        </p:nvSpPr>
        <p:spPr>
          <a:xfrm>
            <a:off x="1047750" y="8683625"/>
            <a:ext cx="16287750" cy="5835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第四栏最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事件必须匹配人物本领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；想不出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具体事件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，就回看第二栏，顺着本领找事件。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3741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构思表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58290"/>
            <a:ext cx="8947785" cy="8235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先填表，再和小组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227695" y="3436620"/>
            <a:ext cx="9968865" cy="735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，约三分钟；事件想不出，就顺着第二栏的本领找</a:t>
            </a:r>
            <a:endParaRPr lang="en-US" sz="2400" dirty="0"/>
          </a:p>
        </p:txBody>
      </p:sp>
      <p:sp>
        <p:nvSpPr>
          <p:cNvPr id="13" name="Text 10"/>
          <p:cNvSpPr/>
          <p:nvPr>
            <p:custDataLst>
              <p:tags r:id="rId4"/>
            </p:custDataLst>
          </p:nvPr>
        </p:nvSpPr>
        <p:spPr>
          <a:xfrm>
            <a:off x="8227695" y="4601210"/>
            <a:ext cx="9968865" cy="1005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四人小组轮流说，每人半分钟，讲清三点：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请的是谁、做的专属事件、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为什么只有他能做</a:t>
            </a:r>
            <a:endParaRPr lang="en-US" sz="2400" dirty="0"/>
          </a:p>
        </p:txBody>
      </p:sp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8227695" y="6010275"/>
            <a:ext cx="9968865" cy="1005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听的同学只判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：这件事，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你的同桌能不能做到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？人人能做，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就要换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</a:t>
            </a:r>
            <a:endParaRPr lang="zh-CN" alt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047750" y="7663815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28750" y="7911465"/>
            <a:ext cx="15916275" cy="1103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可以写动画片里的角色吗？</a:t>
            </a:r>
            <a:r>
              <a:rPr lang="en-US" sz="24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可以，只要本领、性格鲜明就符合要求；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尽量不写普通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真实人物</a:t>
            </a:r>
            <a:r>
              <a:rPr lang="en-US" sz="24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，缺少神奇本领，</a:t>
            </a:r>
            <a:endParaRPr lang="en-US" sz="2400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不符合想象习作的要求。</a:t>
            </a:r>
            <a:endParaRPr lang="en-US" sz="2400" dirty="0"/>
          </a:p>
        </p:txBody>
      </p:sp>
      <p:sp>
        <p:nvSpPr>
          <p:cNvPr id="6" name="Shape 5"/>
          <p:cNvSpPr/>
          <p:nvPr>
            <p:custDataLst>
              <p:tags r:id="rId6"/>
            </p:custDataLst>
          </p:nvPr>
        </p:nvSpPr>
        <p:spPr>
          <a:xfrm>
            <a:off x="7599045" y="341566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7"/>
            </p:custDataLst>
          </p:nvPr>
        </p:nvSpPr>
        <p:spPr>
          <a:xfrm>
            <a:off x="7599045" y="337883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8"/>
            </p:custDataLst>
          </p:nvPr>
        </p:nvSpPr>
        <p:spPr>
          <a:xfrm>
            <a:off x="7599045" y="47472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9"/>
            </p:custDataLst>
          </p:nvPr>
        </p:nvSpPr>
        <p:spPr>
          <a:xfrm>
            <a:off x="7599045" y="47104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10"/>
            </p:custDataLst>
          </p:nvPr>
        </p:nvSpPr>
        <p:spPr>
          <a:xfrm>
            <a:off x="7598410" y="617918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11"/>
            </p:custDataLst>
          </p:nvPr>
        </p:nvSpPr>
        <p:spPr>
          <a:xfrm>
            <a:off x="7598410" y="614235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0" name="图片 19" descr="我和过一天-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" y="2463800"/>
            <a:ext cx="7186930" cy="4770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355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516380"/>
            <a:ext cx="8096885" cy="561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那一段补齐首尾，成了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完整的一天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988945"/>
            <a:ext cx="16192500" cy="5973445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245870" y="9109075"/>
            <a:ext cx="199771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他的动作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184525" y="9109075"/>
            <a:ext cx="197040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他说的话</a:t>
            </a:r>
            <a:endParaRPr lang="en-US" sz="24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54295" y="9109075"/>
            <a:ext cx="203644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我的心理</a:t>
            </a:r>
            <a:endParaRPr lang="en-US" sz="2400" b="1" dirty="0">
              <a:solidFill>
                <a:srgbClr val="8E5A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90930" y="2367280"/>
            <a:ext cx="996251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听的时候想</a:t>
            </a: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</a:t>
            </a: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：老师</a:t>
            </a: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</a:t>
            </a: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</a:t>
            </a: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神奇的</a:t>
            </a: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一天，挑了几件事写？</a:t>
            </a:r>
            <a:endParaRPr lang="en-US" sz="24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65250" y="4129405"/>
            <a:ext cx="1429512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门口站着一个男孩，比我高半个头，光着脚。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“那支笔是我的，”他说，“我叫马良。”</a:t>
            </a:r>
            <a:endParaRPr lang="zh-CN" altLang="en-US" sz="2400" b="1" spc="-70">
              <a:solidFill>
                <a:schemeClr val="accent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65250" y="3151505"/>
            <a:ext cx="1595120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星期六早上，我在书桌前写字，笔盒里多出一支笔。木头杆，笔尖秃秃的。我拿它在草稿纸上画了一只麻雀。那只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麻雀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抖了抖翅膀，从纸上跳下来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，落在台灯上，歪着头看我。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65250" y="4692015"/>
            <a:ext cx="15841980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我家住六楼，是一栋老楼的顶楼。楼道里没有灯，一到傍晚楼道就漆黑一片，奶奶眼神不好，傍晚买菜上楼总容易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磕磕绊绊。那天下午我把这件烦心事说给马良听。他没答话，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蹲下去，把一张草稿纸铺在第一级台阶上，握着笔在纸上</a:t>
            </a:r>
            <a:endParaRPr lang="zh-CN" altLang="en-US" sz="2400" b="1" spc="-70">
              <a:solidFill>
                <a:srgbClr val="C00000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画了一整排明亮的壁灯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。画完，他站起身，只见一幅幅灯的图样从纸上飘出，顺着楼梯依次定格在每层墙壁上，化作真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实的暖光壁灯，从一楼一直排到六楼。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“你瞧，”他说，“这些灯光，都是取自我家后山今年中秋节那晚的月光。”</a:t>
            </a:r>
            <a:endParaRPr lang="zh-CN" altLang="en-US" sz="2400" b="1" spc="-70">
              <a:solidFill>
                <a:schemeClr val="accent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我抬头望着暖融融的灯光，</a:t>
            </a:r>
            <a:r>
              <a:rPr lang="zh-CN" altLang="en-US" sz="2400" b="1" spc="-70">
                <a:solidFill>
                  <a:srgbClr val="7030A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心里诧异极了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65250" y="7844155"/>
            <a:ext cx="1600136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马良把笔放回我的笔盒，走到门口。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“这些灯不会消失，以后夜里走路就安全了。”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他说完就下楼了。我趴在栏杆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上往下望，整栋楼道暖光满满，再也不会黑漆漆的了。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65250" y="6892290"/>
            <a:ext cx="1587500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天快黑的时候，奶奶提着菜上楼。她走进亮堂堂的楼道，脚步一顿，抬头看着墙上的灯，疑惑地说：“楼道里什么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时候装灯了？”</a:t>
            </a:r>
            <a:r>
              <a:rPr lang="zh-CN" altLang="en-US" sz="2400" b="1" spc="-70">
                <a:solidFill>
                  <a:srgbClr val="7030A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我摇摇头，没敢告诉她，这些灯是马良画出来的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9" grpId="0"/>
      <p:bldP spid="23" grpId="0"/>
      <p:bldP spid="2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3" name="图片 42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932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3050"/>
            <a:ext cx="7139305" cy="904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读完，先看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这一天怎么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830830"/>
            <a:ext cx="7886700" cy="3643630"/>
          </a:xfrm>
          <a:prstGeom prst="roundRect">
            <a:avLst>
              <a:gd name="adj" fmla="val 5590"/>
            </a:avLst>
          </a:prstGeom>
          <a:solidFill>
            <a:srgbClr val="FFF8E3"/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66850" y="3284855"/>
            <a:ext cx="68046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这一天写了几件事？哪一件详细？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1466850" y="4037330"/>
            <a:ext cx="382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b="1" dirty="0">
              <a:solidFill>
                <a:srgbClr val="7FA3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1885950" y="4037330"/>
            <a:ext cx="50342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两件：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画一只麻雀、画一排壁灯</a:t>
            </a:r>
            <a:endParaRPr lang="en-US" sz="24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1466850" y="4744085"/>
            <a:ext cx="382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b="1" dirty="0">
              <a:solidFill>
                <a:srgbClr val="7FA3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1885950" y="4744085"/>
            <a:ext cx="656018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写得最细的是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画壁灯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那一件，第三段最长</a:t>
            </a:r>
            <a:endParaRPr lang="en-US" sz="2400" dirty="0"/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1466850" y="5435600"/>
            <a:ext cx="382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b="1" dirty="0">
              <a:solidFill>
                <a:srgbClr val="7FA3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1885950" y="5435600"/>
            <a:ext cx="66948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换成孙悟空能完成吗？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不能，他不会画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353550" y="2830830"/>
            <a:ext cx="7886700" cy="3643630"/>
          </a:xfrm>
          <a:prstGeom prst="roundRect">
            <a:avLst>
              <a:gd name="adj" fmla="val 5590"/>
            </a:avLst>
          </a:prstGeom>
          <a:solidFill>
            <a:srgbClr val="FFF8E3"/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9772650" y="3284855"/>
            <a:ext cx="68046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开头写了什么？结尾写了什么？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9772650" y="4037330"/>
            <a:ext cx="382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b="1" dirty="0">
              <a:solidFill>
                <a:srgbClr val="7FA3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10191750" y="4037330"/>
            <a:ext cx="64611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开头交代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怎么遇上的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：笔盒里多了一支笔</a:t>
            </a:r>
            <a:endParaRPr lang="en-US" sz="2400" dirty="0"/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9772650" y="4744085"/>
            <a:ext cx="382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b="1" dirty="0">
              <a:solidFill>
                <a:srgbClr val="7FA3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10191750" y="4744085"/>
            <a:ext cx="712533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结尾交代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怎么分开的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：笔放回去，他下楼走了</a:t>
            </a:r>
            <a:endParaRPr lang="en-US" sz="2400" dirty="0"/>
          </a:p>
        </p:txBody>
      </p:sp>
      <p:sp>
        <p:nvSpPr>
          <p:cNvPr id="22" name="Text 19"/>
          <p:cNvSpPr/>
          <p:nvPr>
            <p:custDataLst>
              <p:tags r:id="rId13"/>
            </p:custDataLst>
          </p:nvPr>
        </p:nvSpPr>
        <p:spPr>
          <a:xfrm>
            <a:off x="9772650" y="5435600"/>
            <a:ext cx="382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b="1" dirty="0">
              <a:solidFill>
                <a:srgbClr val="7FA3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0"/>
          <p:cNvSpPr/>
          <p:nvPr>
            <p:custDataLst>
              <p:tags r:id="rId14"/>
            </p:custDataLst>
          </p:nvPr>
        </p:nvSpPr>
        <p:spPr>
          <a:xfrm>
            <a:off x="10191750" y="5435600"/>
            <a:ext cx="50800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首尾各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一两句即可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，不与中间的重点争篇幅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30060" y="7885430"/>
            <a:ext cx="10991850" cy="12649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开头遇上、结尾分开，中间挑一两件事、最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细的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件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具体，</a:t>
            </a:r>
            <a:endParaRPr lang="zh-CN" alt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神奇的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一天就是这样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开的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 descr="e586ea7d877a0135e2b6db8a802a3d3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>
            <a:off x="5690870" y="8077835"/>
            <a:ext cx="914400" cy="914400"/>
          </a:xfrm>
          <a:prstGeom prst="rect">
            <a:avLst/>
          </a:prstGeom>
        </p:spPr>
      </p:pic>
      <p:pic>
        <p:nvPicPr>
          <p:cNvPr id="6" name="图片 5" descr="续写故事-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515" y="6705600"/>
            <a:ext cx="4109720" cy="345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6" name="图片 5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621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50670"/>
            <a:ext cx="5315585" cy="7886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的作用是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86050"/>
            <a:ext cx="16192500" cy="4962525"/>
          </a:xfrm>
          <a:prstGeom prst="roundRect">
            <a:avLst>
              <a:gd name="adj" fmla="val 2687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695575"/>
            <a:ext cx="16173450" cy="676275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2847975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11325225" y="2695575"/>
            <a:ext cx="9525" cy="6762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11639550" y="2847975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这一句在做什么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57275" y="3371850"/>
            <a:ext cx="16173450" cy="6096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5052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笔盒里多出一支笔。木头杆，笔尖秃秃的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1325225" y="33718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11639550" y="35052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开头写怎么遇上的，一两句带过</a:t>
            </a:r>
            <a:endParaRPr lang="en-US" sz="2025" dirty="0"/>
          </a:p>
        </p:txBody>
      </p:sp>
      <p:sp>
        <p:nvSpPr>
          <p:cNvPr id="17" name="Shape 14"/>
          <p:cNvSpPr/>
          <p:nvPr/>
        </p:nvSpPr>
        <p:spPr>
          <a:xfrm>
            <a:off x="1057275" y="3981450"/>
            <a:ext cx="16173450" cy="60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1148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那只麻雀抖了抖翅膀，从纸上跳下来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11325225" y="39814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11639550" y="41148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快速凸显人物专属本领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1057275" y="4591050"/>
            <a:ext cx="16173450" cy="6096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47244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蹲下去，把一张草稿纸铺在第一级台阶上</a:t>
            </a:r>
            <a:endParaRPr lang="en-US" sz="2025" dirty="0"/>
          </a:p>
        </p:txBody>
      </p:sp>
      <p:sp>
        <p:nvSpPr>
          <p:cNvPr id="23" name="Shape 20"/>
          <p:cNvSpPr/>
          <p:nvPr/>
        </p:nvSpPr>
        <p:spPr>
          <a:xfrm>
            <a:off x="11325225" y="45910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11639550" y="47244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细化核心动作，放慢精彩场景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057275" y="5200650"/>
            <a:ext cx="16173450" cy="60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53340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“这些灯光，都是取自我家后山今年中秋节那晚的月光。”</a:t>
            </a:r>
            <a:endParaRPr lang="en-US" sz="2025" dirty="0"/>
          </a:p>
        </p:txBody>
      </p:sp>
      <p:sp>
        <p:nvSpPr>
          <p:cNvPr id="27" name="Shape 24"/>
          <p:cNvSpPr/>
          <p:nvPr/>
        </p:nvSpPr>
        <p:spPr>
          <a:xfrm>
            <a:off x="11325225" y="52006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11639550" y="53340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他开口说话，这一句别人说不出来</a:t>
            </a:r>
            <a:endParaRPr lang="en-US" sz="2025" dirty="0"/>
          </a:p>
        </p:txBody>
      </p:sp>
      <p:sp>
        <p:nvSpPr>
          <p:cNvPr id="29" name="Shape 26"/>
          <p:cNvSpPr/>
          <p:nvPr/>
        </p:nvSpPr>
        <p:spPr>
          <a:xfrm>
            <a:off x="1057275" y="5810250"/>
            <a:ext cx="16173450" cy="6096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59436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我摇摇头，没敢告诉她，这些灯是马良画出来的</a:t>
            </a:r>
            <a:endParaRPr lang="en-US" sz="2025" dirty="0"/>
          </a:p>
        </p:txBody>
      </p:sp>
      <p:sp>
        <p:nvSpPr>
          <p:cNvPr id="31" name="Shape 28"/>
          <p:cNvSpPr/>
          <p:nvPr/>
        </p:nvSpPr>
        <p:spPr>
          <a:xfrm>
            <a:off x="11325225" y="58102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11639550" y="59436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写出“我”的真实心理</a:t>
            </a:r>
            <a:endParaRPr lang="en-US" sz="2025" dirty="0"/>
          </a:p>
        </p:txBody>
      </p:sp>
      <p:sp>
        <p:nvSpPr>
          <p:cNvPr id="33" name="Shape 30"/>
          <p:cNvSpPr/>
          <p:nvPr/>
        </p:nvSpPr>
        <p:spPr>
          <a:xfrm>
            <a:off x="1057275" y="6419850"/>
            <a:ext cx="16173450" cy="60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65532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“这些灯不会消失，以后夜里走路就安全了。”</a:t>
            </a:r>
            <a:endParaRPr lang="en-US" sz="2025" dirty="0"/>
          </a:p>
        </p:txBody>
      </p:sp>
      <p:sp>
        <p:nvSpPr>
          <p:cNvPr id="35" name="Shape 32"/>
          <p:cNvSpPr/>
          <p:nvPr/>
        </p:nvSpPr>
        <p:spPr>
          <a:xfrm>
            <a:off x="11325225" y="64198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11639550" y="65532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结尾台词简练，余味十足</a:t>
            </a:r>
            <a:endParaRPr lang="en-US" sz="2025" dirty="0"/>
          </a:p>
        </p:txBody>
      </p:sp>
      <p:sp>
        <p:nvSpPr>
          <p:cNvPr id="37" name="Shape 34"/>
          <p:cNvSpPr/>
          <p:nvPr/>
        </p:nvSpPr>
        <p:spPr>
          <a:xfrm>
            <a:off x="1057275" y="7029450"/>
            <a:ext cx="16173450" cy="6096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8" name="Text 35"/>
          <p:cNvSpPr/>
          <p:nvPr/>
        </p:nvSpPr>
        <p:spPr>
          <a:xfrm>
            <a:off x="1362075" y="7162800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我趴在栏杆上往下望，整栋楼道暖光满满</a:t>
            </a:r>
            <a:endParaRPr lang="en-US" sz="2025" dirty="0"/>
          </a:p>
        </p:txBody>
      </p:sp>
      <p:sp>
        <p:nvSpPr>
          <p:cNvPr id="39" name="Shape 36"/>
          <p:cNvSpPr/>
          <p:nvPr/>
        </p:nvSpPr>
        <p:spPr>
          <a:xfrm>
            <a:off x="11325225" y="7029450"/>
            <a:ext cx="9525" cy="6096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0" name="Text 37"/>
          <p:cNvSpPr/>
          <p:nvPr/>
        </p:nvSpPr>
        <p:spPr>
          <a:xfrm>
            <a:off x="11639550" y="7162800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收在一个动作上，不再多写</a:t>
            </a:r>
            <a:endParaRPr lang="en-US" sz="2025" dirty="0"/>
          </a:p>
        </p:txBody>
      </p:sp>
      <p:sp>
        <p:nvSpPr>
          <p:cNvPr id="41" name="Text 38"/>
          <p:cNvSpPr/>
          <p:nvPr/>
        </p:nvSpPr>
        <p:spPr>
          <a:xfrm>
            <a:off x="1047750" y="8150225"/>
            <a:ext cx="11478260" cy="774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中间的三句就是三样素材：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他的动作、他的一句话、我心里的想法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866734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写开头 · 自由写作 · 传稿画横线 · 奇幻故事会 · 修改收束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714625"/>
            <a:ext cx="18288000" cy="4100830"/>
          </a:xfrm>
          <a:prstGeom prst="rect">
            <a:avLst/>
          </a:prstGeom>
          <a:solidFill>
            <a:srgbClr val="FFF8E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续写故事-封面用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60020" y="2858770"/>
            <a:ext cx="5996940" cy="6201410"/>
          </a:xfrm>
          <a:prstGeom prst="rect">
            <a:avLst/>
          </a:prstGeom>
        </p:spPr>
      </p:pic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297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写开头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3050"/>
            <a:ext cx="9331325" cy="9061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看构思表第三行，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先写你们怎么遇上的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64985" y="34480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7226935" y="3295650"/>
            <a:ext cx="399225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他是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从哪里出现的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6864985" y="430187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7226935" y="4149477"/>
            <a:ext cx="4495502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第一眼看见的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是什么？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6864985" y="5155704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7226935" y="5003304"/>
            <a:ext cx="399225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那时你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正在做什么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6864985" y="6009531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5" name="Text 12"/>
          <p:cNvSpPr/>
          <p:nvPr/>
        </p:nvSpPr>
        <p:spPr>
          <a:xfrm>
            <a:off x="7226935" y="5857131"/>
            <a:ext cx="8590895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三四句就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足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够；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不会写的字先空着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，先保证写得通顺</a:t>
            </a:r>
            <a:endParaRPr lang="en-US" sz="2775" dirty="0"/>
          </a:p>
        </p:txBody>
      </p:sp>
      <p:sp>
        <p:nvSpPr>
          <p:cNvPr id="16" name="Shape 13"/>
          <p:cNvSpPr/>
          <p:nvPr/>
        </p:nvSpPr>
        <p:spPr>
          <a:xfrm>
            <a:off x="13298805" y="8731250"/>
            <a:ext cx="3941445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13556615" y="8921750"/>
            <a:ext cx="340614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3 分钟</a:t>
            </a:r>
            <a:endParaRPr lang="en-US" sz="2850" dirty="0"/>
          </a:p>
        </p:txBody>
      </p:sp>
      <p:sp>
        <p:nvSpPr>
          <p:cNvPr id="18" name="Shape 15"/>
          <p:cNvSpPr/>
          <p:nvPr/>
        </p:nvSpPr>
        <p:spPr>
          <a:xfrm>
            <a:off x="6964680" y="7074535"/>
            <a:ext cx="11842115" cy="1440180"/>
          </a:xfrm>
          <a:prstGeom prst="roundRect">
            <a:avLst>
              <a:gd name="adj" fmla="val 1103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pic>
        <p:nvPicPr>
          <p:cNvPr id="2" name="图片 1" descr="e586ea7d877a0135e2b6db8a802a3d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928360" y="7322820"/>
            <a:ext cx="914400" cy="9144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226935" y="7154545"/>
            <a:ext cx="1058037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停笔后再看一眼构思表：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这一天要写哪件事、最热闹的那一幕是什么。</a:t>
            </a:r>
            <a:endParaRPr lang="zh-CN" altLang="en-US" sz="25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上节课的</a:t>
            </a:r>
            <a:r>
              <a:rPr lang="zh-CN" altLang="en-US" sz="25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三句练笔要预留好位置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，写到那件事时直接放进去。</a:t>
            </a:r>
            <a:endParaRPr lang="zh-CN" altLang="en-US" sz="25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6" name="图片 5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7578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3530"/>
            <a:ext cx="7673340" cy="857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神奇的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一天：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两个注意事项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66850" y="3429000"/>
            <a:ext cx="286512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66850" y="4137660"/>
            <a:ext cx="6483350" cy="13506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只有你选的人物能完成，</a:t>
            </a:r>
            <a:endParaRPr 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别人做不到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93535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9772650" y="3429000"/>
            <a:ext cx="286512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72650" y="4137660"/>
            <a:ext cx="7195820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精彩场景三样齐全：</a:t>
            </a:r>
            <a:endParaRPr lang="en-US" sz="28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他做了什么、说了哪句话、你心里怎么想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284095" y="6971665"/>
            <a:ext cx="1217485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中间挑一两件事，核心事件详细慢写，三句练笔就放进这一件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里；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结尾写你们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怎么分开的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。错字先不用管，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一口气写到底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12965430" y="8791575"/>
            <a:ext cx="4274820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13"/>
          <p:cNvSpPr/>
          <p:nvPr/>
        </p:nvSpPr>
        <p:spPr>
          <a:xfrm>
            <a:off x="13194665" y="8982075"/>
            <a:ext cx="377444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20 分钟</a:t>
            </a:r>
            <a:endParaRPr lang="en-US" sz="2850" dirty="0"/>
          </a:p>
        </p:txBody>
      </p:sp>
      <p:pic>
        <p:nvPicPr>
          <p:cNvPr id="15" name="图片 14" descr="e586ea7d877a0135e2b6db8a802a3d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219200" y="701294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45466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自由写作：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神奇的一天</a:t>
            </a:r>
            <a:endParaRPr lang="zh-CN" altLang="en-US" sz="25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2951460" y="8791575"/>
            <a:ext cx="4288790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13180695" y="8982075"/>
            <a:ext cx="378841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20 分钟</a:t>
            </a:r>
            <a:endParaRPr lang="en-US" sz="285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8732"/>
          <a:stretch>
            <a:fillRect/>
          </a:stretch>
        </p:blipFill>
        <p:spPr>
          <a:xfrm>
            <a:off x="1263015" y="1696720"/>
            <a:ext cx="15299690" cy="677608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6" name="图片 5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9679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47750" y="8297228"/>
            <a:ext cx="16192500" cy="976312"/>
          </a:xfrm>
          <a:prstGeom prst="roundRect">
            <a:avLst>
              <a:gd name="adj" fmla="val 1756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66850" y="8472805"/>
            <a:ext cx="12877165" cy="695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拿回稿子看一看：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横线画在哪一句上</a:t>
            </a:r>
            <a:r>
              <a:rPr lang="en-US" sz="28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？那就是你这一篇的亮点。</a:t>
            </a:r>
            <a:endParaRPr lang="en-US" sz="2800" dirty="0">
              <a:solidFill>
                <a:srgbClr val="2A2E37"/>
              </a:solidFill>
              <a:highlight>
                <a:srgbClr val="FCF3EE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0" name="图片 19" descr="我和过一天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" y="2510155"/>
            <a:ext cx="8135368" cy="5400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9443720" y="3566795"/>
            <a:ext cx="6699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四人小组，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稿件轮流传递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，互相阅读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9443720" y="4939030"/>
            <a:ext cx="7705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只有文中人物能完成的情节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，画上横线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9443720" y="6275705"/>
            <a:ext cx="82543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通篇都是普通小事的，在文末标注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“换谁都行”</a:t>
            </a:r>
            <a:endParaRPr lang="zh-CN" altLang="en-US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读完后传回本人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Shape 5"/>
          <p:cNvSpPr/>
          <p:nvPr>
            <p:custDataLst>
              <p:tags r:id="rId7"/>
            </p:custDataLst>
          </p:nvPr>
        </p:nvSpPr>
        <p:spPr>
          <a:xfrm>
            <a:off x="8883015" y="357314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8"/>
            </p:custDataLst>
          </p:nvPr>
        </p:nvSpPr>
        <p:spPr>
          <a:xfrm>
            <a:off x="8883015" y="353631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9"/>
            </p:custDataLst>
          </p:nvPr>
        </p:nvSpPr>
        <p:spPr>
          <a:xfrm>
            <a:off x="8883015" y="496570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10"/>
            </p:custDataLst>
          </p:nvPr>
        </p:nvSpPr>
        <p:spPr>
          <a:xfrm>
            <a:off x="8883015" y="492887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11"/>
            </p:custDataLst>
          </p:nvPr>
        </p:nvSpPr>
        <p:spPr>
          <a:xfrm>
            <a:off x="8882380" y="648906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12"/>
            </p:custDataLst>
          </p:nvPr>
        </p:nvSpPr>
        <p:spPr>
          <a:xfrm>
            <a:off x="8882380" y="645223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466850" y="1510030"/>
            <a:ext cx="9156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互相阅读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“非他不可”的那一句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/>
          <p:cNvSpPr/>
          <p:nvPr/>
        </p:nvSpPr>
        <p:spPr>
          <a:xfrm>
            <a:off x="1466850" y="7795260"/>
            <a:ext cx="10513060" cy="1256665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80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3530"/>
            <a:ext cx="357695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奇幻故事会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04900" y="349059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66850" y="3338195"/>
            <a:ext cx="7734300" cy="929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三位同学，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朗读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自己写得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最精彩的核心片段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104900" y="4493012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466850" y="4340860"/>
            <a:ext cx="10213340" cy="8343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全班</a:t>
            </a: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倾听判断：这段描写，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是不是专属这个人物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的特点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104900" y="6127889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1466850" y="5975350"/>
            <a:ext cx="6264910" cy="7867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说出依据：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从哪一句话能看出来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1371600" y="5015230"/>
            <a:ext cx="1030859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algn="l">
              <a:lnSpc>
                <a:spcPct val="113000"/>
              </a:lnSpc>
              <a:buFont typeface="Wingdings" panose="05000000000000000000" charset="0"/>
              <a:buChar char="Ø"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这件事用到了他的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哪一项本领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、哪一句话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像是他本人说的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855470" y="7972425"/>
            <a:ext cx="8909050" cy="11099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同学们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听的时候只判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一件事：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这一段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描写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，是不是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专属这个人物的特点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 descr="我来编童话-23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775" y="3023870"/>
            <a:ext cx="8150225" cy="6317615"/>
          </a:xfrm>
          <a:prstGeom prst="rect">
            <a:avLst/>
          </a:prstGeom>
        </p:spPr>
      </p:pic>
      <p:pic>
        <p:nvPicPr>
          <p:cNvPr id="6" name="图片 5" descr="e586ea7d877a0135e2b6db8a802a3d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75285" y="8025765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44" name="图片 43" descr="我来编童话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80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761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58290"/>
            <a:ext cx="3846830" cy="876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自检与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</a:t>
            </a:r>
            <a:endParaRPr lang="zh-CN" alt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47750" y="8388985"/>
            <a:ext cx="15462885" cy="7150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这篇作文的亮点，不在于想象多么花哨，而在于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立得住、事件专属于他、换人就不行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9810750" y="2872740"/>
            <a:ext cx="7394575" cy="546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如果你的作文有下面几个问题，请对应修改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047750" y="2872740"/>
            <a:ext cx="61144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对照下面三个要点，检查自己的作文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6"/>
          <p:cNvSpPr/>
          <p:nvPr>
            <p:custDataLst>
              <p:tags r:id="rId3"/>
            </p:custDataLst>
          </p:nvPr>
        </p:nvSpPr>
        <p:spPr>
          <a:xfrm>
            <a:off x="1047750" y="3543300"/>
            <a:ext cx="8072755" cy="1259840"/>
          </a:xfrm>
          <a:prstGeom prst="roundRect">
            <a:avLst>
              <a:gd name="adj" fmla="val 11821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0" name="Shape 7"/>
          <p:cNvSpPr/>
          <p:nvPr>
            <p:custDataLst>
              <p:tags r:id="rId4"/>
            </p:custDataLst>
          </p:nvPr>
        </p:nvSpPr>
        <p:spPr>
          <a:xfrm>
            <a:off x="1047750" y="3543300"/>
            <a:ext cx="76200" cy="1260000"/>
          </a:xfrm>
          <a:prstGeom prst="rect">
            <a:avLst/>
          </a:prstGeom>
          <a:solidFill>
            <a:srgbClr val="9AA6B6"/>
          </a:solidFill>
        </p:spPr>
        <p:txBody>
          <a:bodyPr/>
          <a:lstStyle/>
          <a:p/>
        </p:txBody>
      </p:sp>
      <p:sp>
        <p:nvSpPr>
          <p:cNvPr id="32" name="Shape 9"/>
          <p:cNvSpPr/>
          <p:nvPr>
            <p:custDataLst>
              <p:tags r:id="rId5"/>
            </p:custDataLst>
          </p:nvPr>
        </p:nvSpPr>
        <p:spPr>
          <a:xfrm>
            <a:off x="1047750" y="4993005"/>
            <a:ext cx="8072755" cy="1259840"/>
          </a:xfrm>
          <a:prstGeom prst="roundRect">
            <a:avLst>
              <a:gd name="adj" fmla="val 7988"/>
            </a:avLst>
          </a:prstGeom>
          <a:solidFill>
            <a:srgbClr val="FBF3E6"/>
          </a:solidFill>
        </p:spPr>
        <p:txBody>
          <a:bodyPr/>
          <a:lstStyle/>
          <a:p/>
        </p:txBody>
      </p:sp>
      <p:sp>
        <p:nvSpPr>
          <p:cNvPr id="33" name="Shape 10"/>
          <p:cNvSpPr/>
          <p:nvPr>
            <p:custDataLst>
              <p:tags r:id="rId6"/>
            </p:custDataLst>
          </p:nvPr>
        </p:nvSpPr>
        <p:spPr>
          <a:xfrm>
            <a:off x="1047750" y="4992945"/>
            <a:ext cx="76200" cy="1260000"/>
          </a:xfrm>
          <a:prstGeom prst="rect">
            <a:avLst/>
          </a:prstGeom>
          <a:solidFill>
            <a:srgbClr val="E0A43B"/>
          </a:solidFill>
        </p:spPr>
        <p:txBody>
          <a:bodyPr/>
          <a:lstStyle/>
          <a:p/>
        </p:txBody>
      </p:sp>
      <p:sp>
        <p:nvSpPr>
          <p:cNvPr id="35" name="Shape 12"/>
          <p:cNvSpPr/>
          <p:nvPr>
            <p:custDataLst>
              <p:tags r:id="rId7"/>
            </p:custDataLst>
          </p:nvPr>
        </p:nvSpPr>
        <p:spPr>
          <a:xfrm>
            <a:off x="1047750" y="6478905"/>
            <a:ext cx="8072755" cy="1259840"/>
          </a:xfrm>
          <a:prstGeom prst="roundRect">
            <a:avLst>
              <a:gd name="adj" fmla="val 1182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36" name="Shape 13"/>
          <p:cNvSpPr/>
          <p:nvPr>
            <p:custDataLst>
              <p:tags r:id="rId8"/>
            </p:custDataLst>
          </p:nvPr>
        </p:nvSpPr>
        <p:spPr>
          <a:xfrm>
            <a:off x="1047750" y="6478726"/>
            <a:ext cx="76200" cy="1260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39" name="Shape 16"/>
          <p:cNvSpPr/>
          <p:nvPr>
            <p:custDataLst>
              <p:tags r:id="rId9"/>
            </p:custDataLst>
          </p:nvPr>
        </p:nvSpPr>
        <p:spPr>
          <a:xfrm>
            <a:off x="9627870" y="3543300"/>
            <a:ext cx="7577455" cy="1259840"/>
          </a:xfrm>
          <a:prstGeom prst="roundRect">
            <a:avLst>
              <a:gd name="adj" fmla="val 15802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41" name="Shape 18"/>
          <p:cNvSpPr/>
          <p:nvPr>
            <p:custDataLst>
              <p:tags r:id="rId10"/>
            </p:custDataLst>
          </p:nvPr>
        </p:nvSpPr>
        <p:spPr>
          <a:xfrm>
            <a:off x="9627870" y="4993005"/>
            <a:ext cx="7577455" cy="1259840"/>
          </a:xfrm>
          <a:prstGeom prst="roundRect">
            <a:avLst>
              <a:gd name="adj" fmla="val 10837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2" name="Shape 20"/>
          <p:cNvSpPr/>
          <p:nvPr>
            <p:custDataLst>
              <p:tags r:id="rId11"/>
            </p:custDataLst>
          </p:nvPr>
        </p:nvSpPr>
        <p:spPr>
          <a:xfrm>
            <a:off x="9627870" y="6478726"/>
            <a:ext cx="7577455" cy="1259840"/>
          </a:xfrm>
          <a:prstGeom prst="roundRect">
            <a:avLst>
              <a:gd name="adj" fmla="val 15802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6" name="Text 8"/>
          <p:cNvSpPr/>
          <p:nvPr>
            <p:custDataLst>
              <p:tags r:id="rId12"/>
            </p:custDataLst>
          </p:nvPr>
        </p:nvSpPr>
        <p:spPr>
          <a:xfrm>
            <a:off x="1390650" y="3773805"/>
            <a:ext cx="7729855" cy="920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文章结构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文章完整，写出了怎么遇上、这一天做了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什么事、最后怎么分开的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11"/>
          <p:cNvSpPr/>
          <p:nvPr>
            <p:custDataLst>
              <p:tags r:id="rId13"/>
            </p:custDataLst>
          </p:nvPr>
        </p:nvSpPr>
        <p:spPr>
          <a:xfrm>
            <a:off x="1390650" y="5194369"/>
            <a:ext cx="7729538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细节达标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精彩场景写全：他的动作、他说的一句话、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我心里的想法，三样都写了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14"/>
            </p:custDataLst>
          </p:nvPr>
        </p:nvSpPr>
        <p:spPr>
          <a:xfrm>
            <a:off x="1390650" y="6682740"/>
            <a:ext cx="8194040" cy="783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人设贴合</a:t>
            </a:r>
            <a:r>
              <a:rPr lang="en-US" altLang="zh-CN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这一天里的事，换一个人做不成；同组同学在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我的文中画出了那道横线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（只有文中人物能完成的情节）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17"/>
          <p:cNvSpPr/>
          <p:nvPr>
            <p:custDataLst>
              <p:tags r:id="rId15"/>
            </p:custDataLst>
          </p:nvPr>
        </p:nvSpPr>
        <p:spPr>
          <a:xfrm>
            <a:off x="9913620" y="3930015"/>
            <a:ext cx="6786563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相遇、告别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场景的，及时补齐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19"/>
          <p:cNvSpPr/>
          <p:nvPr>
            <p:custDataLst>
              <p:tags r:id="rId16"/>
            </p:custDataLst>
          </p:nvPr>
        </p:nvSpPr>
        <p:spPr>
          <a:xfrm>
            <a:off x="9913620" y="5177790"/>
            <a:ext cx="7467600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被标注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“换谁都行”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的，增加人物专属本领的动作，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优化事件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Text 21"/>
          <p:cNvSpPr/>
          <p:nvPr>
            <p:custDataLst>
              <p:tags r:id="rId17"/>
            </p:custDataLst>
          </p:nvPr>
        </p:nvSpPr>
        <p:spPr>
          <a:xfrm>
            <a:off x="9913620" y="6873240"/>
            <a:ext cx="7411720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细节不全的，补全动作、语言、心理描写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8" grpId="0"/>
      <p:bldP spid="29" grpId="0" bldLvl="0" animBg="1"/>
      <p:bldP spid="30" grpId="0" bldLvl="0" animBg="1"/>
      <p:bldP spid="32" grpId="0" bldLvl="0" animBg="1"/>
      <p:bldP spid="33" grpId="0" bldLvl="0" animBg="1"/>
      <p:bldP spid="35" grpId="0" bldLvl="0" animBg="1"/>
      <p:bldP spid="36" grpId="0" bldLvl="0" animBg="1"/>
      <p:bldP spid="39" grpId="0" bldLvl="0" animBg="1"/>
      <p:bldP spid="41" grpId="0" bldLvl="0" animBg="1"/>
      <p:bldP spid="2" grpId="0" bldLvl="0" animBg="1"/>
      <p:bldP spid="6" grpId="0"/>
      <p:bldP spid="26" grpId="0"/>
      <p:bldP spid="27" grpId="0"/>
      <p:bldP spid="31" grpId="0"/>
      <p:bldP spid="34" grpId="0"/>
      <p:bldP spid="3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3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15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15716250" cy="5810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这一天写什么，由你请来的人物决定：挑一件非他不可的事，把最热闹的那一幕写慢。</a:t>
            </a:r>
            <a:endParaRPr lang="en-US" sz="2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68125984251964,&quot;left&quot;:82.5,&quot;top&quot;:218.45,&quot;width&quot;:1297.5}"/>
</p:tagLst>
</file>

<file path=ppt/tags/tag2.xml><?xml version="1.0" encoding="utf-8"?>
<p:tagLst xmlns:p="http://schemas.openxmlformats.org/presentationml/2006/main">
  <p:tag name="KSO_WM_DIAGRAM_VIRTUALLY_FRAME" val="{&quot;height&quot;:379.68125984251964,&quot;left&quot;:82.5,&quot;top&quot;:218.45,&quot;width&quot;:1297.5}"/>
</p:tagLst>
</file>

<file path=ppt/tags/tag3.xml><?xml version="1.0" encoding="utf-8"?>
<p:tagLst xmlns:p="http://schemas.openxmlformats.org/presentationml/2006/main">
  <p:tag name="KSO_WM_DIAGRAM_VIRTUALLY_FRAME" val="{&quot;height&quot;:379.68125984251964,&quot;left&quot;:82.5,&quot;top&quot;:218.45,&quot;width&quot;:1297.5}"/>
</p:tagLst>
</file>

<file path=ppt/tags/tag4.xml><?xml version="1.0" encoding="utf-8"?>
<p:tagLst xmlns:p="http://schemas.openxmlformats.org/presentationml/2006/main">
  <p:tag name="KSO_WM_DIAGRAM_VIRTUALLY_FRAME" val="{&quot;height&quot;:379.68125984251964,&quot;left&quot;:82.5,&quot;top&quot;:218.45,&quot;width&quot;:1297.5}"/>
</p:tagLst>
</file>

<file path=ppt/tags/tag5.xml><?xml version="1.0" encoding="utf-8"?>
<p:tagLst xmlns:p="http://schemas.openxmlformats.org/presentationml/2006/main">
  <p:tag name="KSO_WM_DIAGRAM_VIRTUALLY_FRAME" val="{&quot;height&quot;:379.68125984251964,&quot;left&quot;:82.5,&quot;top&quot;:218.45,&quot;width&quot;:1297.5}"/>
</p:tagLst>
</file>

<file path=ppt/tags/tag6.xml><?xml version="1.0" encoding="utf-8"?>
<p:tagLst xmlns:p="http://schemas.openxmlformats.org/presentationml/2006/main">
  <p:tag name="KSO_WM_DIAGRAM_VIRTUALLY_FRAME" val="{&quot;height&quot;:379.68125984251964,&quot;left&quot;:82.5,&quot;top&quot;:218.45,&quot;width&quot;:1297.5}"/>
</p:tagLst>
</file>

<file path=ppt/tags/tag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8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9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10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11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12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13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14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15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16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17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18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19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0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21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22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3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4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5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6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7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8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29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0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1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2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3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4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5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6.xml><?xml version="1.0" encoding="utf-8"?>
<p:tagLst xmlns:p="http://schemas.openxmlformats.org/presentationml/2006/main">
  <p:tag name="KSO_WM_DIAGRAM_VIRTUALLY_FRAME" val="{&quot;height&quot;:226.8,&quot;left&quot;:68,&quot;top&quot;:238.5,&quot;width&quot;:1085.75}"/>
</p:tagLst>
</file>

<file path=ppt/tags/tag3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38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39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0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1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2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3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4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5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6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47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48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49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0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1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2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3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4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5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6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7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8.xml><?xml version="1.0" encoding="utf-8"?>
<p:tagLst xmlns:p="http://schemas.openxmlformats.org/presentationml/2006/main">
  <p:tag name="KSO_WM_DIAGRAM_VIRTUALLY_FRAME" val="{&quot;height&quot;:131.25,&quot;left&quot;:115.5,&quot;top&quot;:315.75,&quot;width&quot;:1248.05}"/>
</p:tagLst>
</file>

<file path=ppt/tags/tag59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60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61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62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3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4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5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6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7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8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69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70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71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72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3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4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5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6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7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8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79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0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1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2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3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4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5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ags/tag86.xml><?xml version="1.0" encoding="utf-8"?>
<p:tagLst xmlns:p="http://schemas.openxmlformats.org/presentationml/2006/main">
  <p:tag name="KSO_WM_DIAGRAM_VIRTUALLY_FRAME" val="{&quot;height&quot;:330.35,&quot;left&quot;:82.5,&quot;top&quot;:279,&quot;width&quot;:1286.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4522</Words>
  <Application>WPS 演示</Application>
  <PresentationFormat>自定义</PresentationFormat>
  <Paragraphs>498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楷体</vt:lpstr>
      <vt:lpstr>Calibri</vt:lpstr>
      <vt:lpstr>Arial Unicode MS</vt:lpstr>
      <vt:lpstr>Wingdings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61</cp:revision>
  <dcterms:created xsi:type="dcterms:W3CDTF">2026-08-05T16:27:00Z</dcterms:created>
  <dcterms:modified xsi:type="dcterms:W3CDTF">2026-09-01T16:05:06Z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AA92E0C68F884E8AA0E13EBE6F421268_13</vt:lpwstr>
  </property>
  <property fmtid="{D5CDD505-2E9C-101B-9397-08002B2CF9AE}" pid="3" name="KSOProductBuildVer">
    <vt:lpwstr>2052-12.1.0.20305</vt:lpwstr>
  </property>
</Properties>
</file>