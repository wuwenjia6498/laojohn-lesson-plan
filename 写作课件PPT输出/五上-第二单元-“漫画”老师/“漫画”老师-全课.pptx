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课前导入：五上第二单元《“漫画”老师》，写人习作，2课时连排。用文字给一位老师“画”一幅漫画像——写完当堂念，听的人从没见过他，几个人说出的是同一处特点，这幅像就画准了。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第1课时·写作指导课。线索：想一位老师→放大写你愿不愿意→漫画像跟照片比→任务《“漫画”老师》→学他上课的样子→两段对照学写法→三档说法定分寸→人物特点卡→教师示范文与找句。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点头认下一位想得起上课样子的老师。再问跟自己有关的事：假如有人把你写进文章，专门抓住你最鲜明的一个特点放大描写——你希望他写哪一点？最不希望写哪一点？抽三四位分享，教师不评价、只复述两类。收束：同样是放大刻画，有的写法让你欣然接受，有的让你心生抵触。今天写老师，分寸边界同样要守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念挽袖子片段：有位老师总把袖子挽到胳膊肘，一年到头没放下来过。放大刻画就写成屏上这句。学生笑了——描写就到位了。可这样写到底算不算取笑老师？分寸怎么拿捏？先不定，留到讲写法的时候专门确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漫画都见过：报纸上、书上给真人画的漫画像。跟照片比哪儿不一样？抽两三位。参考：头画得特别大／鼻子特别夸张／画得不太像可一眼就知道是谁／很好笑。总结：说的是同一件事——画的人根本没打算样样画像，可你一眼就认出他了，还觉得有意思。他怎么做到的，讲写法时再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任务：题目《“漫画”老师》，“漫画”加了引号——不用画笔，用文字给一位学校里教过你的老师“画”一幅像，现在教的、以前教的都可以。写完当堂念：听的人谁也没见过他。两位同学在稿末各写一句“看见的那一处”——两人写的是同一处，这幅像就画准了；写的完全不一样或写不上来，就没画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心里那位老师选好了。再想：他上课有没有一个常做的动作、一句老挂嘴边的话？答不上来的从三个方向引导：讲到高兴的地方什么样；要你们安静时怎么做；手里除了粉笔还老拿着什么。同桌互相扮演：做那个动作，或用他的口气说那句话——同桌看完能说出他是个什么样的人，扮演就过关。提醒：学的是最有意思的那个动作，不是挑毛病；学口吃、走路姿势这类短处的当场换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还是那个动作，再往他身上仔细看一眼：他做这个动作的时候，手上、脸上、身上，哪一处动作或表情神态最显眼？同桌各说一句。再请三位同学当众模仿，其余同学看完说：你看出他模仿的是个什么样的老师。教师不复述，只点评一句他们说到的那一处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认真回想：他上一次是在发生什么事情时做的这个动作？那天班里发生了什么？想得起来的跟同桌说说；一时想不起的，就说他做这个动作最多的是什么时候。教师旁听三四组，记下说得具体的同学，构思时请他先答。收束：一个字没解释，只学一个动作、说一句话，就看出三位老师不一样了——那个动作、那句话、那回事，就是今天最重要的材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段写同一位语文老师。第一段：个子、短发、眼镜、说话温和、字漂亮、爱看书、下雨天提醒……五六样都交代了。第二段：只写“讲课一投入就下意识推眼镜”一处，配那节课眼镜反复滑落的事。问：哪一段听完，这位老师的模样是清楚的？有学生选第一段很正常——先接住他：第一段确实不算简单，五六样都到了，还有画面。追问一句：读完第一段，你记住她哪一处了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差别：第一段样样都写了，但一样也没写充分，读完像看了一张人物标签清单；第二段只抓一处写到底，老师反倒有了模样。画漫画不能鼻子眼睛平均使劲，写老师一样：五六处平均分配着墨，人物形象鲜活不起来。要做的是挑出最突出的一两处特点，重点展开刻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找出第二段做的几件事，归成两条写法。第一条：一个特点单独写成一个段落，段落开头先把这一处点明——如“我们的语文老师有个改不掉的小习惯：讲课一投入，就会下意识推眼镜”。第二条：点明不算完，还要配一件专属于这个人的典型事例把特点写饱满。数一数那件事里写了三样：人物的动作、人物说的一句话、人物当时的样子——三者都要兼顾。缺动作人物没动态；没话语神态，听不见心声、看不清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留下的问题：放大刻画和取笑，分寸在哪？同一件小事三种写法，学生辨析：哪一种最有意思？哪一种过头了？第一种是个结论，套谁都行；第二种围绕真实小事展开，同学憋笑的场面只有她的课堂才有，读者会心一笑；第三种滑十几次是编造，“配不好眼镜”是抓短处刻意放大——就成了取笑。第三条写法：放大只放大真事。自问一句：这段话敢不敢当着他的面念。回看挽袖子那句：真事、玩笑、说得出口——是合理放大，不是取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发人物特点卡：一格几个词就够，不写句子，自己回头看得懂就行。当众看老师填好的一张——教科学的刘老师，等会儿还会读到写他的那篇作文。学生先填前四格约2分钟，教师巡视。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范圈法：老师圈的是那双手和那两个口袋——洗不掉的颜色换一位老师说不通；口袋鼓着随手掏也是他一个人才有。“手上有活先干完”没圈：好些老师都这样，圈了也认不出是他。学生自己圈一两处，不圈三处——三处都圈就又回到面面俱到。拿不定主意的问一句：哪一处你刚才学给同桌看过？第六格配一件事，写不出往三个方向想。之后抽两位说，其余同学听着判断：换一位老师来，这件事干得成干不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卡填到这一步材料就齐了。完整读示范文，写的就是卡上那位科学老师。读时留意：卡上那几个词，最后是怎么铺开成一段一段的话的。上半篇：开头一句点出写谁；第二段段首“他有全年级最脏的两只手”，打赌一句是放大描写，但紧跟着写了真跟到水池边看、水是清的——没把玩笑猜想当真实情况。标色：动作红、话蓝、样子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半篇：第二处特点单起一句过渡——“除了这双手，他身上第二显眼的是那件深灰色夹克上的两个口袋”。修眼镜一件事里三样齐全：动作一步一步（拿过去、对灯看断口、掏铁丝、抵桌角、一圈圈绕、按平毛刺、比划几下）、他说的话（先用着，比原来那个结实）、当时的样子（说完转身接着讲，半节课一个字没再提）。结尾不夸他，只写现在我们怎么看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体看：这一篇写了几处？各在哪儿？——两处，一处一段，段首点明；开头一句点出写谁，结尾一句写自己现在怎么看他。然后交给学生：六条提示说的是六个句子各自在做什么，回文中把对应的句子找出来划线。同桌分工：前三条一人、后三条一人，找完互相对一遍。教师巡视，找错的先不纠正，留到核对时由别的同学说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条核对（学生报句）。②那句打赌好笑，可紧跟着写了真跟到水池边看、水是清的——放大了但没把玩笑当真事。中间三样全在修眼镜一件事里。追问：换一位老师碰上眼镜腿掉了，多半怎么办？——让他凑合戴着、回家找人修。可这位老师口袋里正好有铁丝、正好肯当场修。这件事别的老师身上发生不了——刻画人物，最重要的就是写这样一件独属于他的事。收束三条，内容不必照这一篇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第2课时·当堂写作与评改课。拿出特点卡，看着圈出的那一处：先写第一段，再一口气写完整篇，然后两轮换人互念、全班朗读、对照自检表修改收束。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着特点卡写下第一段。①开头空两格，一句话说清写的是哪位老师——听你念的人一个都没见过他，这一句不能省。②另起一段，段首句把圈的那一处点明——老师卡上是“那双手”，段首句就是“他有全年级最脏的两只手”。③接着写三四句，四个方向挑着用，哪一样最像他就先写哪一样。④笔停一停从头读一遍：光凭这几行，没见过他的人能不能对上号。站住了，接着写那件事：从那天怎么开的头写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约20分钟一口气写完整篇，中间不要停，不用回头修改。三件事记心里（见屏）。写到最后添一句：说说你现在怎么看这位老师。巡视四类处理——接不下去的：把特点卡摆手边，写第六格那件事；空泛的：先学一遍那个动作再顺着问；顺畅的：不打断；草草收尾的：补上他说了什么、说完你们又怎么样。临近时间提醒把手上这一句写完整再停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轮换人互念：第一轮同桌、第二轮前后桌换人。每人只念写那一处特点、那件事的那一段，约40秒。听的人不评好坏，只在稿末写三五个字：看见了这位老师身上的哪一处。两轮后拿回自己的稿子比对。写的一样=画准了：两个人都没见过他，光凭这几行字看见的是同一样东西。不一样也不急——等会儿改稿先改这里：多半是特点铺得太分散、平均用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三位同学念给全班听，只念写那件事的那一段，约40秒。每读完一位，请两位听众各说一句：听出来的是他身上的哪一处。教师针对文中某一处具体语句点评肯定：哪一句让台下认出了他。三位都念完，把六个答案摆到一起比一次：落在同一处的是哪几位写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检表自己看，不带读。看完回自己稿上改三条：①把“他很严”“他很关心我们”这样谁都写得出的话找出一句，换成他真做过的那件事；②那件事只交代了结果的，补上他当时的动作、他嘴里那句话、他的神态模样；③看看有没有放大过头的——编出来的、专说短处的，划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后自查：两句话写同一位老师，更相信哪一句写的是他本人？改出来的句子像左边的，等会儿还得再改一次。随后同桌互评（不换稿）：结合第一轮听到的那一段，对照自检表说——对方停在哪一档、往上提一档还缺哪一处。说不出的，问他：那位老师说的原话你听到了吗？神态模样写出来了吗？最后把同桌指的那一点补进去，用修改符号订正错别字、补细节、删多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今天这些稿子上没有一幅图画，可几位同学一读，台下很快就抓住了人物标志性的细节。写作就是这个道理：不必面面俱到，抓住最鲜明的特点，读者就记住这个人。放大描写之前先问：这段话敢当面念给这位老师听吗。今天的方法以后写任何人物都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选环节，不计入两节连排；课后集中讲评或下次课开场约15-20分钟。从当堂稿里挑2-3篇：一篇三条都做到的、一篇事写出来了可两三处平摊着写的、一篇通篇是评价看不出哪处特别的。不具名、不排名次。屏上＿＿＿处务必换成本班学生习作里的真实句子，切勿虚构。看的还是那一条：没见过这位老师的人，读完能不能说出他身上的哪一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收束：写人不必面面俱到——挑一两处独有的细节，一处一段写足，放大只放大真事。往后写长辈、写同学，也是这么办。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589" y="323850"/>
            <a:ext cx="1668661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143000"/>
            <a:ext cx="16573500" cy="5715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EE7B2E">
                  <a:alpha val="100000"/>
                </a:srgbClr>
              </a:gs>
              <a:gs pos="42000">
                <a:srgbClr val="F0A63C">
                  <a:alpha val="100000"/>
                </a:srgbClr>
              </a:gs>
              <a:gs pos="100000">
                <a:srgbClr val="57B0A6">
                  <a:alpha val="100000"/>
                </a:srgbClr>
              </a:gs>
            </a:gsLst>
            <a:lin ang="9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2952750" y="1428750"/>
            <a:ext cx="3429000" cy="3429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810250" y="4191000"/>
            <a:ext cx="4095750" cy="409575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810000" y="2667000"/>
            <a:ext cx="11734800" cy="144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51"/>
              </a:lnSpc>
              <a:buNone/>
            </a:pPr>
            <a:r>
              <a:rPr lang="en-US" sz="885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“漫画”老师</a:t>
            </a:r>
            <a:endParaRPr lang="en-US" sz="8850" dirty="0"/>
          </a:p>
        </p:txBody>
      </p:sp>
      <p:sp>
        <p:nvSpPr>
          <p:cNvPr id="7" name="Text 4"/>
          <p:cNvSpPr/>
          <p:nvPr/>
        </p:nvSpPr>
        <p:spPr>
          <a:xfrm>
            <a:off x="3848100" y="4476750"/>
            <a:ext cx="11734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五年级上册 · 第二单元 · 校内同步写作（写人）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0" y="2857500"/>
            <a:ext cx="1066800" cy="1333500"/>
          </a:xfrm>
          <a:prstGeom prst="rect">
            <a:avLst/>
          </a:prstGeom>
          <a:solidFill>
            <a:srgbClr val="3D4A6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0"/>
            <a:ext cx="1066800" cy="13335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6953250"/>
            <a:ext cx="4095750" cy="266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五年级上册 · 第二单元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31432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866734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 · 观察体验 · 学写法 · 人物特点卡 · 教师示范文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15903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15291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假如有人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放大着写你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——你愿意他写哪一点？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2956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09700" y="3143250"/>
            <a:ext cx="922543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先想一位老师——不用看照片，也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想得起他上课的样子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1047750" y="41529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09700" y="4000500"/>
            <a:ext cx="960262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再想你自己：有人抓住你最鲜明的一个特点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放大描写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1047750" y="50101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09700" y="4857750"/>
            <a:ext cx="837070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他写你的哪一点？又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最不希望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写哪一点？</a:t>
            </a:r>
            <a:endParaRPr lang="en-US" sz="27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0" y="3333750"/>
            <a:ext cx="4953000" cy="40005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47750" y="7958138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1428750" y="8186738"/>
            <a:ext cx="169735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“写我跑得快就行” / “怕他写我个子矮” / “写我上课爱走神那就完了”……</a:t>
            </a:r>
            <a:endParaRPr lang="en-US" sz="2325" dirty="0"/>
          </a:p>
        </p:txBody>
      </p:sp>
      <p:sp>
        <p:nvSpPr>
          <p:cNvPr id="17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同样是放大刻画，有的让你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欣然接受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，有的让你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心生抵触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——今天写老师，分寸同样要守住。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686925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73359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先听这个片段——写的是一位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总挽着袖子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的老师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11239500" cy="2171700"/>
          </a:xfrm>
          <a:prstGeom prst="roundRect">
            <a:avLst>
              <a:gd name="adj" fmla="val 12281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733550" y="5181600"/>
            <a:ext cx="457200" cy="28575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5181600"/>
            <a:ext cx="457200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62100" y="3486150"/>
            <a:ext cx="10517124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30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“我上了三年他的课，没见他把袖子 </a:t>
            </a:r>
            <a:pPr algn="l" indent="0" marL="0">
              <a:lnSpc>
                <a:spcPct val="130769"/>
              </a:lnSpc>
              <a:buNone/>
            </a:pPr>
            <a:r>
              <a:rPr lang="en-US" sz="3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放下来过 </a:t>
            </a:r>
            <a:pPr algn="l" indent="0" marL="0">
              <a:lnSpc>
                <a:spcPct val="130769"/>
              </a:lnSpc>
              <a:buNone/>
            </a:pPr>
            <a:r>
              <a:rPr lang="en-US" sz="30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 我怀疑那两只袖子是 </a:t>
            </a:r>
            <a:pPr algn="l" indent="0" marL="0">
              <a:lnSpc>
                <a:spcPct val="130769"/>
              </a:lnSpc>
              <a:buNone/>
            </a:pPr>
            <a:r>
              <a:rPr lang="en-US" sz="3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缝上去的</a:t>
            </a:r>
            <a:pPr algn="l" indent="0" marL="0">
              <a:lnSpc>
                <a:spcPct val="130769"/>
              </a:lnSpc>
              <a:buNone/>
            </a:pPr>
            <a:r>
              <a:rPr lang="en-US" sz="30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。”</a:t>
            </a:r>
            <a:endParaRPr lang="en-US" sz="3000" dirty="0"/>
          </a:p>
        </p:txBody>
      </p:sp>
      <p:sp>
        <p:nvSpPr>
          <p:cNvPr id="11" name="Shape 7"/>
          <p:cNvSpPr/>
          <p:nvPr/>
        </p:nvSpPr>
        <p:spPr>
          <a:xfrm>
            <a:off x="1047750" y="59055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409700" y="5753100"/>
            <a:ext cx="7716679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你们笑了——这个细节的描写，就已经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到位了</a:t>
            </a:r>
            <a:endParaRPr lang="en-US" sz="2700" dirty="0"/>
          </a:p>
        </p:txBody>
      </p:sp>
      <p:sp>
        <p:nvSpPr>
          <p:cNvPr id="13" name="Shape 9"/>
          <p:cNvSpPr/>
          <p:nvPr/>
        </p:nvSpPr>
        <p:spPr>
          <a:xfrm>
            <a:off x="1047750" y="6688336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409700" y="6535936"/>
            <a:ext cx="5015939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可这样写，算不算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取笑老师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750" y="3238500"/>
            <a:ext cx="4572000" cy="4572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描写的分寸该怎么拿捏——这个问题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先留着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，等下讲写法的时候专门确定。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46685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29152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一幅漫画像，跟照片比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哪儿不一样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234315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33500" y="3238500"/>
            <a:ext cx="194881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头画得特别大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3581400" y="3048000"/>
            <a:ext cx="293370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67150" y="3238500"/>
            <a:ext cx="259842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鼻子画得特别夸张</a:t>
            </a:r>
            <a:endParaRPr lang="en-US" sz="2325" dirty="0"/>
          </a:p>
        </p:txBody>
      </p:sp>
      <p:sp>
        <p:nvSpPr>
          <p:cNvPr id="11" name="Shape 8"/>
          <p:cNvSpPr/>
          <p:nvPr/>
        </p:nvSpPr>
        <p:spPr>
          <a:xfrm>
            <a:off x="6705600" y="3048000"/>
            <a:ext cx="470535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991350" y="3238500"/>
            <a:ext cx="454723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画得不太像，可一眼就知道是谁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11601450" y="3048000"/>
            <a:ext cx="234315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1887200" y="3238500"/>
            <a:ext cx="194881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画出来很好笑</a:t>
            </a:r>
            <a:endParaRPr lang="en-US" sz="2325" dirty="0"/>
          </a:p>
        </p:txBody>
      </p:sp>
      <p:sp>
        <p:nvSpPr>
          <p:cNvPr id="15" name="Shape 12"/>
          <p:cNvSpPr/>
          <p:nvPr/>
        </p:nvSpPr>
        <p:spPr>
          <a:xfrm>
            <a:off x="1047750" y="48196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09700" y="4667250"/>
            <a:ext cx="953604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画的人根本没打算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一样一样都画像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——眼睛、鼻子、嘴巴都没画准</a:t>
            </a:r>
            <a:endParaRPr lang="en-US" sz="2700" dirty="0"/>
          </a:p>
        </p:txBody>
      </p:sp>
      <p:sp>
        <p:nvSpPr>
          <p:cNvPr id="17" name="Shape 14"/>
          <p:cNvSpPr/>
          <p:nvPr/>
        </p:nvSpPr>
        <p:spPr>
          <a:xfrm>
            <a:off x="1047750" y="61722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09700" y="6019800"/>
            <a:ext cx="690188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可你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一眼就把他认出来了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，还觉得有意思</a:t>
            </a:r>
            <a:endParaRPr lang="en-US" sz="27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4667250"/>
            <a:ext cx="4953000" cy="38100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他到底是怎么做到的——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等会儿讲写法的时候再说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56577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60033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今天的任务——用文字给老师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“画”一幅漫画像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667000"/>
            <a:ext cx="16192500" cy="847725"/>
          </a:xfrm>
          <a:prstGeom prst="roundRect">
            <a:avLst>
              <a:gd name="adj" fmla="val 1797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876550"/>
            <a:ext cx="169735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“漫画”加了引号——一支画笔也用不着。写一位 </a:t>
            </a:r>
            <a:pPr algn="l" indent="0" marL="0"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学校里教过你的老师</a:t>
            </a:r>
            <a:pPr algn="l" indent="0" marL="0">
              <a:buNone/>
            </a:pPr>
            <a:r>
              <a:rPr lang="en-US" sz="25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，现在教的、以前教的都可以。</a:t>
            </a:r>
            <a:endParaRPr lang="en-US" sz="2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3905250"/>
            <a:ext cx="3810000" cy="43815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96000" y="396240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306741" y="406717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953250" y="4019550"/>
            <a:ext cx="8037304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写完当堂念——听的人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谁也没见过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你写的这位老师</a:t>
            </a:r>
            <a:endParaRPr lang="en-US" sz="2700" dirty="0"/>
          </a:p>
        </p:txBody>
      </p:sp>
      <p:sp>
        <p:nvSpPr>
          <p:cNvPr id="13" name="Shape 9"/>
          <p:cNvSpPr/>
          <p:nvPr/>
        </p:nvSpPr>
        <p:spPr>
          <a:xfrm>
            <a:off x="6096000" y="495300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6306741" y="505777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953250" y="5010150"/>
            <a:ext cx="7770114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两位同学在稿末各写一句：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看见了他身上的哪一处</a:t>
            </a:r>
            <a:endParaRPr lang="en-US" sz="2700" dirty="0"/>
          </a:p>
        </p:txBody>
      </p:sp>
      <p:sp>
        <p:nvSpPr>
          <p:cNvPr id="16" name="Shape 12"/>
          <p:cNvSpPr/>
          <p:nvPr/>
        </p:nvSpPr>
        <p:spPr>
          <a:xfrm>
            <a:off x="6096000" y="594360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306741" y="604837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6953250" y="6000750"/>
            <a:ext cx="1040430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两人写的是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同一处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——这幅像就画准了；写的不一样，就还没画成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漫画就是这么回事：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一眼认出，而且认出的是同一样东西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观察体验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34553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25807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学一学——他上课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常做的动作、常说的话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3819525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33500" y="3238500"/>
            <a:ext cx="357282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讲着讲着就把眼镜往上推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5057775" y="3048000"/>
            <a:ext cx="352425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343525" y="3238500"/>
            <a:ext cx="32480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老说“坐正了坐正了”</a:t>
            </a:r>
            <a:endParaRPr lang="en-US" sz="2325" dirty="0"/>
          </a:p>
        </p:txBody>
      </p:sp>
      <p:sp>
        <p:nvSpPr>
          <p:cNvPr id="11" name="Shape 8"/>
          <p:cNvSpPr/>
          <p:nvPr/>
        </p:nvSpPr>
        <p:spPr>
          <a:xfrm>
            <a:off x="8772525" y="3048000"/>
            <a:ext cx="2638425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058275" y="3238500"/>
            <a:ext cx="227361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喜欢敲两下桌子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11601450" y="3048000"/>
            <a:ext cx="352425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1887200" y="3238500"/>
            <a:ext cx="32480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一转身粉笔就在手里转</a:t>
            </a:r>
            <a:endParaRPr lang="en-US" sz="2325" dirty="0"/>
          </a:p>
        </p:txBody>
      </p:sp>
      <p:sp>
        <p:nvSpPr>
          <p:cNvPr id="15" name="Shape 12"/>
          <p:cNvSpPr/>
          <p:nvPr/>
        </p:nvSpPr>
        <p:spPr>
          <a:xfrm>
            <a:off x="1047750" y="4476750"/>
            <a:ext cx="16192500" cy="1409700"/>
          </a:xfrm>
          <a:prstGeom prst="roundRect">
            <a:avLst>
              <a:gd name="adj" fmla="val 1081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28750" y="4724400"/>
            <a:ext cx="1589341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跟同桌 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互相扮演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：把那个动作做一遍，或用他的口气把那句话说出来——同桌看完，能说出你学的是个 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什么样的老师 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，扮演就过关。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1047750" y="6000750"/>
            <a:ext cx="16192500" cy="1584722"/>
          </a:xfrm>
          <a:prstGeom prst="roundRect">
            <a:avLst>
              <a:gd name="adj" fmla="val 10819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85900" y="6305550"/>
            <a:ext cx="15775686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想不出的，往三个方向找：他 </a:t>
            </a:r>
            <a:pPr algn="l" indent="0" marL="0">
              <a:lnSpc>
                <a:spcPct val="12190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讲到高兴的地方 </a:t>
            </a:r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是什么样子；他要你们 </a:t>
            </a:r>
            <a:pPr algn="l" indent="0" marL="0">
              <a:lnSpc>
                <a:spcPct val="12190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安静下来 </a:t>
            </a:r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的时候怎么做；他手里除了粉笔 </a:t>
            </a:r>
            <a:pPr algn="l" indent="0" marL="0">
              <a:lnSpc>
                <a:spcPct val="12190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还老拿着什么</a:t>
            </a:r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学的是他上课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最有意思的那个动作、那句话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——不是挑他的毛病。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观察体验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44448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46691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再看一眼——他做这个动作时，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哪一处最显眼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2956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143250"/>
            <a:ext cx="528066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他一推眼镜，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眉毛就跟着往上跑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1047750" y="41529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000500"/>
            <a:ext cx="663716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他手指头上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全是粉笔灰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；一着急就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脸红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047750" y="50101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4857750"/>
            <a:ext cx="539312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讲课的时候，手里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老攥着那支笔</a:t>
            </a:r>
            <a:endParaRPr lang="en-US" sz="27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40005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47750" y="7920038"/>
            <a:ext cx="16192500" cy="938213"/>
          </a:xfrm>
          <a:prstGeom prst="roundRect">
            <a:avLst>
              <a:gd name="adj" fmla="val 1624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428750" y="8167687"/>
            <a:ext cx="169735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请三位同学 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模仿给大家看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——其余同学看完说一说：你看出他模仿的是个什么样的老师。</a:t>
            </a:r>
            <a:endParaRPr lang="en-US" sz="2325" dirty="0"/>
          </a:p>
        </p:txBody>
      </p:sp>
      <p:sp>
        <p:nvSpPr>
          <p:cNvPr id="16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手上、脸上、身上最显眼的那一处——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跟同桌一人说一句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观察体验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025797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036175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想一回事——他上一次做这个动作，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是在什么事上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2956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143250"/>
            <a:ext cx="671018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上回我们吵得太厉害，他就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敲了两下桌子</a:t>
            </a:r>
            <a:endParaRPr lang="en-US" sz="2625" dirty="0"/>
          </a:p>
        </p:txBody>
      </p:sp>
      <p:sp>
        <p:nvSpPr>
          <p:cNvPr id="9" name="Shape 6"/>
          <p:cNvSpPr/>
          <p:nvPr/>
        </p:nvSpPr>
        <p:spPr>
          <a:xfrm>
            <a:off x="1047750" y="4081463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3929063"/>
            <a:ext cx="671018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他讲他小时候的事，眼镜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往上推了好几回</a:t>
            </a:r>
            <a:endParaRPr lang="en-US" sz="2625" dirty="0"/>
          </a:p>
        </p:txBody>
      </p:sp>
      <p:sp>
        <p:nvSpPr>
          <p:cNvPr id="11" name="Shape 8"/>
          <p:cNvSpPr/>
          <p:nvPr/>
        </p:nvSpPr>
        <p:spPr>
          <a:xfrm>
            <a:off x="1047750" y="4867275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4714875"/>
            <a:ext cx="9167813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有一次整张卷子都做错了，他把粉笔头一放，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反倒气笑了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905500"/>
            <a:ext cx="16192500" cy="1150590"/>
          </a:xfrm>
          <a:prstGeom prst="roundRect">
            <a:avLst>
              <a:gd name="adj" fmla="val 14901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85900" y="6229350"/>
            <a:ext cx="1684782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刚才那三位同学一个字都没解释，只学了一个动作、说了一句话，我们就 </a:t>
            </a:r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看出这三位老师不一样了</a:t>
            </a:r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那个动作、那句常说的话、刚说的那回事——就是今天习作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最重要的材料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025797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036175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两段写同一位老师——哪一段读完，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模样是清楚的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4381500"/>
          </a:xfrm>
          <a:prstGeom prst="roundRect">
            <a:avLst>
              <a:gd name="adj" fmla="val 3913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52488" y="3038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样样都写到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57275" y="3609975"/>
            <a:ext cx="7867650" cy="36195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1125" y="3895725"/>
            <a:ext cx="7436549" cy="2316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52450" marL="0">
              <a:lnSpc>
                <a:spcPct val="122692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语文老师姓周。她个子不高，剪着齐耳的短发，戴一副细边的眼镜，笑起来眼睛弯弯的。她说话不紧不慢，声音很温和，从来没有跟我们发过脾气。她的字写得特别漂亮，一笔一画都很工整，我们都想照着她的字练。她还很爱看书，办公桌上常年摞着一摞书，摞得比水杯还高。下雨天她会站在门口，提醒我们路上小心。她对我们非常关心，是一位好老师。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9353550" y="2857500"/>
            <a:ext cx="7886700" cy="4381500"/>
          </a:xfrm>
          <a:prstGeom prst="roundRect">
            <a:avLst>
              <a:gd name="adj" fmla="val 3913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363075" y="286702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158288" y="3038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只写一处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363075" y="3609975"/>
            <a:ext cx="7867650" cy="36195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86925" y="3895725"/>
            <a:ext cx="7436549" cy="2772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52450" marL="0">
              <a:lnSpc>
                <a:spcPct val="122692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我们的语文老师有个改不掉的小习惯： </a:t>
            </a:r>
            <a:pPr algn="l" indent="552450" marL="0">
              <a:lnSpc>
                <a:spcPct val="122692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讲课一投入，就会下意识推眼镜 </a:t>
            </a:r>
            <a:pPr algn="l" indent="552450" marL="0">
              <a:lnSpc>
                <a:spcPct val="122692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。上个星期分析课文，她越讲越投入，身子不住往前倾，眼镜一次次滑到鼻尖。她习惯性地一皱鼻子，耸起鼻梁把眼镜顶回去。可那副眼镜总是不听话，没一会儿又滑下来，她无奈地小声嘀咕： </a:t>
            </a:r>
            <a:pPr algn="l" indent="552450" marL="0">
              <a:lnSpc>
                <a:spcPct val="122692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“这眼镜怎么总往下滑。” </a:t>
            </a:r>
            <a:pPr algn="l" indent="552450" marL="0">
              <a:lnSpc>
                <a:spcPct val="122692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台下不少同学看见了，低着头憋住笑，她自己浑然不觉，依旧专注地讲着课文。</a:t>
            </a:r>
            <a:endParaRPr lang="en-US" sz="2175" dirty="0"/>
          </a:p>
        </p:txBody>
      </p:sp>
      <p:sp>
        <p:nvSpPr>
          <p:cNvPr id="17" name="Text 14"/>
          <p:cNvSpPr/>
          <p:nvPr/>
        </p:nvSpPr>
        <p:spPr>
          <a:xfrm>
            <a:off x="1047750" y="93154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选第一段的也有道理——那我问一句：读完第一段，你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记住她哪一处了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81764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7738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今天这一招——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只挑一两处，放大着写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143250"/>
            <a:ext cx="6096000" cy="5715000"/>
          </a:xfrm>
          <a:prstGeom prst="roundRect">
            <a:avLst>
              <a:gd name="adj" fmla="val 3667"/>
            </a:avLst>
          </a:prstGeom>
          <a:gradFill rotWithShape="1">
            <a:gsLst>
              <a:gs pos="0">
                <a:srgbClr val="3D4A63">
                  <a:alpha val="100000"/>
                </a:srgbClr>
              </a:gs>
              <a:gs pos="100000">
                <a:srgbClr val="2C3650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055114" y="4613970"/>
            <a:ext cx="4081272" cy="2811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277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一处一段 写到饱满</a:t>
            </a:r>
            <a:endParaRPr lang="en-US" sz="7800" dirty="0"/>
          </a:p>
        </p:txBody>
      </p:sp>
      <p:sp>
        <p:nvSpPr>
          <p:cNvPr id="10" name="Shape 7"/>
          <p:cNvSpPr/>
          <p:nvPr/>
        </p:nvSpPr>
        <p:spPr>
          <a:xfrm>
            <a:off x="8001000" y="34861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362950" y="3352800"/>
            <a:ext cx="914361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第一段样样都写了，可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一样也没写充分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——像一张人物标签清单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8001000" y="48958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362950" y="4762500"/>
            <a:ext cx="847105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第二段只抓一处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写到底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——那位老师反倒有了模样</a:t>
            </a:r>
            <a:endParaRPr lang="en-US" sz="2700" dirty="0"/>
          </a:p>
        </p:txBody>
      </p:sp>
      <p:sp>
        <p:nvSpPr>
          <p:cNvPr id="14" name="Shape 11"/>
          <p:cNvSpPr/>
          <p:nvPr/>
        </p:nvSpPr>
        <p:spPr>
          <a:xfrm>
            <a:off x="8001000" y="57912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362950" y="5657850"/>
            <a:ext cx="847105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画漫画不能鼻子、眼睛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平均使劲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——写老师也一样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从五六处里挑出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最突出的一两处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，重点展开刻画——人物形象才鲜活得起来。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61992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415989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第二段做对了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两件事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58491" y="296227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905000" y="2895600"/>
            <a:ext cx="1579530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一个特点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单独写成一个段落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，段落开头先把这一处点明 </a:t>
            </a:r>
            <a:pPr algn="l" indent="0" marL="0">
              <a:lnSpc>
                <a:spcPct val="114130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——“我们的语文老师有个改不掉的小习惯：讲课一投入，就会下意识推眼镜。”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16242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58491" y="4267200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905000" y="4200525"/>
            <a:ext cx="12277847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再配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一件专属于他的事例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把特点写饱满——换别的老师，未必会出现这样的情景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619750"/>
            <a:ext cx="5194250" cy="1527721"/>
          </a:xfrm>
          <a:prstGeom prst="roundRect">
            <a:avLst>
              <a:gd name="adj" fmla="val 997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81125" y="5915025"/>
            <a:ext cx="49802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人物的动作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1381125" y="6438900"/>
            <a:ext cx="498025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皱鼻子、耸起鼻梁把眼镜顶回去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6546800" y="5619750"/>
            <a:ext cx="5194250" cy="1527721"/>
          </a:xfrm>
          <a:prstGeom prst="roundRect">
            <a:avLst>
              <a:gd name="adj" fmla="val 997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880175" y="5915025"/>
            <a:ext cx="49802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人物说的一句话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6880175" y="6438900"/>
            <a:ext cx="498025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“这眼镜怎么总往下滑。”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12045851" y="5619750"/>
            <a:ext cx="5194399" cy="1527721"/>
          </a:xfrm>
          <a:prstGeom prst="roundRect">
            <a:avLst>
              <a:gd name="adj" fmla="val 997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2379226" y="5915025"/>
            <a:ext cx="498041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人物当时的样子</a:t>
            </a:r>
            <a:endParaRPr lang="en-US" sz="2325" dirty="0"/>
          </a:p>
        </p:txBody>
      </p:sp>
      <p:sp>
        <p:nvSpPr>
          <p:cNvPr id="21" name="Text 18"/>
          <p:cNvSpPr/>
          <p:nvPr/>
        </p:nvSpPr>
        <p:spPr>
          <a:xfrm>
            <a:off x="12379226" y="6438900"/>
            <a:ext cx="4980414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浑然不觉，依旧专注地讲课文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那件事里正好三样——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动作、一句话、当时的样子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，三者都要兼顾。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631138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7223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同一件小事，三种说法——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哪一种过头了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938213"/>
          </a:xfrm>
          <a:prstGeom prst="roundRect">
            <a:avLst>
              <a:gd name="adj" fmla="val 1015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2857500"/>
            <a:ext cx="76200" cy="938213"/>
          </a:xfrm>
          <a:prstGeom prst="rect">
            <a:avLst/>
          </a:prstGeom>
          <a:solidFill>
            <a:srgbClr val="9AA6B6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47800" y="3105150"/>
            <a:ext cx="1701546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“语文老师上课总被滑落的眼镜困扰。”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——是个结论，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套到哪个老师身上都说得通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047750" y="3986213"/>
            <a:ext cx="16192500" cy="1381125"/>
          </a:xfrm>
          <a:prstGeom prst="roundRect">
            <a:avLst>
              <a:gd name="adj" fmla="val 6897"/>
            </a:avLst>
          </a:prstGeom>
          <a:solidFill>
            <a:srgbClr val="FBF3E6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047750" y="3986213"/>
            <a:ext cx="76200" cy="1381125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47800" y="4233863"/>
            <a:ext cx="1593265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“她低声念叨‘这眼镜怎么总往下滑’，底下不少同学悄悄低下头憋着笑。”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——真实的小事，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读者会心一笑，认出这个人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047750" y="5557838"/>
            <a:ext cx="16192500" cy="1381125"/>
          </a:xfrm>
          <a:prstGeom prst="roundRect">
            <a:avLst>
              <a:gd name="adj" fmla="val 689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047750" y="5557838"/>
            <a:ext cx="76200" cy="1381125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447800" y="5805488"/>
            <a:ext cx="1593265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“她一节课眼镜要滑下来十几次，我们怀疑她连一副合适的眼镜都配不好。”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——编造情节、专挑短处放大，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就变成了取笑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1047750" y="7799189"/>
            <a:ext cx="16192500" cy="1059061"/>
          </a:xfrm>
          <a:prstGeom prst="roundRect">
            <a:avLst>
              <a:gd name="adj" fmla="val 16189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466850" y="8084939"/>
            <a:ext cx="16889730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第三条写法：</a:t>
            </a:r>
            <a:pPr algn="l" indent="0" marL="0">
              <a:lnSpc>
                <a:spcPct val="12190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放大只放大真实发生的事</a:t>
            </a:r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。动笔前先问自己一句——这段话，</a:t>
            </a:r>
            <a:pPr algn="l" indent="0" marL="0">
              <a:lnSpc>
                <a:spcPct val="12190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敢不敢当着他的面念给他听</a:t>
            </a:r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回看挽袖子那句：真事、玩笑、说得出口——是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合理的放大刻画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，不是取笑。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人物特点卡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1428750"/>
            <a:ext cx="272415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71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人物特点卡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47750" y="2133600"/>
            <a:ext cx="1042314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一格里几个词就够，不用写成句子（看老师填的这张——教科学的刘老师）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047750" y="2819400"/>
            <a:ext cx="16192500" cy="4800600"/>
          </a:xfrm>
          <a:prstGeom prst="roundRect">
            <a:avLst>
              <a:gd name="adj" fmla="val 2778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28925"/>
            <a:ext cx="16173450" cy="7239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00375"/>
            <a:ext cx="58654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7343775" y="28289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658100" y="3000375"/>
            <a:ext cx="95644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我的关键词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552825"/>
            <a:ext cx="16173450" cy="6762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705225"/>
            <a:ext cx="58654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写哪位老师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7343775" y="3552825"/>
            <a:ext cx="9525" cy="6762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658100" y="3705225"/>
            <a:ext cx="95644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教科学的刘老师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1057275" y="4229100"/>
            <a:ext cx="16173450" cy="676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381500"/>
            <a:ext cx="58654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长相上最突出的一处</a:t>
            </a:r>
            <a:endParaRPr lang="en-US" sz="2175" dirty="0"/>
          </a:p>
        </p:txBody>
      </p:sp>
      <p:sp>
        <p:nvSpPr>
          <p:cNvPr id="18" name="Shape 15"/>
          <p:cNvSpPr/>
          <p:nvPr/>
        </p:nvSpPr>
        <p:spPr>
          <a:xfrm>
            <a:off x="7343775" y="4229100"/>
            <a:ext cx="9525" cy="6762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658100" y="4381500"/>
            <a:ext cx="95644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十指洗不掉的颜色</a:t>
            </a:r>
            <a:endParaRPr lang="en-US" sz="2175" dirty="0"/>
          </a:p>
        </p:txBody>
      </p:sp>
      <p:sp>
        <p:nvSpPr>
          <p:cNvPr id="20" name="Shape 17"/>
          <p:cNvSpPr/>
          <p:nvPr/>
        </p:nvSpPr>
        <p:spPr>
          <a:xfrm>
            <a:off x="1057275" y="4905375"/>
            <a:ext cx="16173450" cy="6762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5057775"/>
            <a:ext cx="58654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说话或脾气方面最突出的一处</a:t>
            </a:r>
            <a:endParaRPr lang="en-US" sz="2175" dirty="0"/>
          </a:p>
        </p:txBody>
      </p:sp>
      <p:sp>
        <p:nvSpPr>
          <p:cNvPr id="22" name="Shape 19"/>
          <p:cNvSpPr/>
          <p:nvPr/>
        </p:nvSpPr>
        <p:spPr>
          <a:xfrm>
            <a:off x="7343775" y="4905375"/>
            <a:ext cx="9525" cy="6762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658100" y="5057775"/>
            <a:ext cx="95644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手上有活就先干完再说</a:t>
            </a:r>
            <a:endParaRPr lang="en-US" sz="2175" dirty="0"/>
          </a:p>
        </p:txBody>
      </p:sp>
      <p:sp>
        <p:nvSpPr>
          <p:cNvPr id="24" name="Shape 21"/>
          <p:cNvSpPr/>
          <p:nvPr/>
        </p:nvSpPr>
        <p:spPr>
          <a:xfrm>
            <a:off x="1057275" y="5581650"/>
            <a:ext cx="16173450" cy="676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5734050"/>
            <a:ext cx="58654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上课时的习惯动作、常说的话</a:t>
            </a:r>
            <a:endParaRPr lang="en-US" sz="2175" dirty="0"/>
          </a:p>
        </p:txBody>
      </p:sp>
      <p:sp>
        <p:nvSpPr>
          <p:cNvPr id="26" name="Shape 23"/>
          <p:cNvSpPr/>
          <p:nvPr/>
        </p:nvSpPr>
        <p:spPr>
          <a:xfrm>
            <a:off x="7343775" y="5581650"/>
            <a:ext cx="9525" cy="6762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7658100" y="5734050"/>
            <a:ext cx="95644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随手往外套口袋里掏</a:t>
            </a:r>
            <a:endParaRPr lang="en-US" sz="2175" dirty="0"/>
          </a:p>
        </p:txBody>
      </p:sp>
      <p:sp>
        <p:nvSpPr>
          <p:cNvPr id="28" name="Shape 25"/>
          <p:cNvSpPr/>
          <p:nvPr/>
        </p:nvSpPr>
        <p:spPr>
          <a:xfrm>
            <a:off x="1057275" y="6257925"/>
            <a:ext cx="16173450" cy="6762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6410325"/>
            <a:ext cx="58654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圈定：最突出的一两处特点</a:t>
            </a:r>
            <a:endParaRPr lang="en-US" sz="2175" dirty="0"/>
          </a:p>
        </p:txBody>
      </p:sp>
      <p:sp>
        <p:nvSpPr>
          <p:cNvPr id="30" name="Shape 27"/>
          <p:cNvSpPr/>
          <p:nvPr/>
        </p:nvSpPr>
        <p:spPr>
          <a:xfrm>
            <a:off x="7343775" y="6257925"/>
            <a:ext cx="9525" cy="6762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7658100" y="6410325"/>
            <a:ext cx="95644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那双手 · 那两个口袋 ◯←老师圈了这里</a:t>
            </a:r>
            <a:endParaRPr lang="en-US" sz="2175" dirty="0"/>
          </a:p>
        </p:txBody>
      </p:sp>
      <p:sp>
        <p:nvSpPr>
          <p:cNvPr id="32" name="Shape 29"/>
          <p:cNvSpPr/>
          <p:nvPr/>
        </p:nvSpPr>
        <p:spPr>
          <a:xfrm>
            <a:off x="1057275" y="6934200"/>
            <a:ext cx="16173450" cy="676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7086600"/>
            <a:ext cx="58654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这一两处各配一件什么事</a:t>
            </a:r>
            <a:endParaRPr lang="en-US" sz="2175" dirty="0"/>
          </a:p>
        </p:txBody>
      </p:sp>
      <p:sp>
        <p:nvSpPr>
          <p:cNvPr id="34" name="Shape 31"/>
          <p:cNvSpPr/>
          <p:nvPr/>
        </p:nvSpPr>
        <p:spPr>
          <a:xfrm>
            <a:off x="7343775" y="6934200"/>
            <a:ext cx="9525" cy="6762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7658100" y="7086600"/>
            <a:ext cx="95644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跟到水池边看他洗手 / 用铁丝修眼镜腿</a:t>
            </a:r>
            <a:endParaRPr lang="en-US" sz="2175" dirty="0"/>
          </a:p>
        </p:txBody>
      </p:sp>
      <p:sp>
        <p:nvSpPr>
          <p:cNvPr id="36" name="Text 33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卡上全是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词，不是句子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——完整的句子，留到动笔的时候再写。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人物特点卡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00414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8254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轮到你——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圈一两处，再配一件事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1432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58491" y="324802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905000" y="3219450"/>
            <a:ext cx="7711556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圈的时候想——哪一处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换个老师就说不通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？就圈它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0576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58491" y="416242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905000" y="4133850"/>
            <a:ext cx="8639438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圈一处或两处，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不要三处都圈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——都圈就又回到面面俱到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49720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58491" y="507682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905000" y="5048250"/>
            <a:ext cx="9025890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给圈出的那处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配一件事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——不用大，只要是因为这一处才发生的</a:t>
            </a:r>
            <a:endParaRPr lang="en-US" sz="26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40005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972425"/>
            <a:ext cx="16192500" cy="885825"/>
          </a:xfrm>
          <a:prstGeom prst="roundRect">
            <a:avLst>
              <a:gd name="adj" fmla="val 1720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09700" y="8201025"/>
            <a:ext cx="1701546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配事写不出？往三个方向想：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这一处在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哪件事上表现得最明显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；因为这一处，班里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出过什么事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；这印象是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哪一天留下的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说给大家听时，其余同学帮着判断：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换一位老师来，这件事干得成干不成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9775031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991433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卡上那几个词，怎么变成了文章（上）——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那双手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381250"/>
            <a:ext cx="16192500" cy="6762750"/>
          </a:xfrm>
          <a:prstGeom prst="roundRect">
            <a:avLst>
              <a:gd name="adj" fmla="val 2535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600200" y="2762250"/>
            <a:ext cx="1554022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52450" marL="0">
              <a:lnSpc>
                <a:spcPct val="122692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教我们科学的是刘老师。第一次上他的课，我盯着他的手看了半节课。</a:t>
            </a:r>
            <a:endParaRPr lang="en-US" sz="2175" dirty="0"/>
          </a:p>
        </p:txBody>
      </p:sp>
      <p:sp>
        <p:nvSpPr>
          <p:cNvPr id="9" name="Text 6"/>
          <p:cNvSpPr/>
          <p:nvPr/>
        </p:nvSpPr>
        <p:spPr>
          <a:xfrm>
            <a:off x="1600200" y="3351312"/>
            <a:ext cx="15540228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52450" marL="0">
              <a:lnSpc>
                <a:spcPct val="122692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他有全年级最脏的两只手。 </a:t>
            </a:r>
            <a:pPr algn="just" indent="552450" marL="0">
              <a:lnSpc>
                <a:spcPct val="122692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说脏也不准确，是洗不掉：十个指头上总带着颜色，今天蓝一块，明天紫一道，指甲缝里还黑黑的。我们私下打赌，他洗手的时候，从指缝里流下去的水一定是彩色的。</a:t>
            </a:r>
            <a:endParaRPr lang="en-US" sz="2175" dirty="0"/>
          </a:p>
        </p:txBody>
      </p:sp>
      <p:sp>
        <p:nvSpPr>
          <p:cNvPr id="10" name="Text 7"/>
          <p:cNvSpPr/>
          <p:nvPr/>
        </p:nvSpPr>
        <p:spPr>
          <a:xfrm>
            <a:off x="1600200" y="4396085"/>
            <a:ext cx="15540228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52450" marL="0">
              <a:lnSpc>
                <a:spcPct val="122692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上个学期有一回，几个同学特意跟到水池边上去看。他 </a:t>
            </a:r>
            <a:pPr algn="just" indent="552450" marL="0">
              <a:lnSpc>
                <a:spcPct val="122692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一边搓手一边问我们围着干什么 </a:t>
            </a:r>
            <a:pPr algn="just" indent="552450" marL="0">
              <a:lnSpc>
                <a:spcPct val="122692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。水哗哗地流，清的，一点颜色也没有。他 </a:t>
            </a:r>
            <a:pPr algn="just" indent="552450" marL="0">
              <a:lnSpc>
                <a:spcPct val="122692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把湿手一举</a:t>
            </a:r>
            <a:pPr algn="just" indent="552450" marL="0">
              <a:lnSpc>
                <a:spcPct val="122692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，说：</a:t>
            </a:r>
            <a:pPr algn="just" indent="552450" marL="0">
              <a:lnSpc>
                <a:spcPct val="122692"/>
              </a:lnSpc>
              <a:buNone/>
            </a:pPr>
            <a:r>
              <a:rPr lang="en-US" sz="21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“这不叫脏，这是做实验留下的痕迹。”</a:t>
            </a:r>
            <a:endParaRPr lang="en-US" sz="2175" dirty="0"/>
          </a:p>
        </p:txBody>
      </p:sp>
      <p:sp>
        <p:nvSpPr>
          <p:cNvPr id="11" name="TextBox 10"/>
          <p:cNvSpPr txBox="1"/>
          <p:nvPr/>
        </p:nvSpPr>
        <p:spPr>
          <a:xfrm>
            <a:off x="1005840" y="9418320"/>
            <a:ext cx="1371600" cy="365760"/>
          </a:xfrm>
          <a:prstGeom prst="rect">
            <a:avLst/>
          </a:prstGeom>
          <a:noFill/>
        </p:spPr>
        <p:txBody>
          <a:bodyPr wrap="none" lIns="25400" rIns="254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0392B"/>
                </a:solidFill>
                <a:latin typeface="Calibri"/>
                <a:ea typeface="Microsoft YaHei"/>
              </a:rPr>
              <a:t>■ 他的动作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9418320"/>
            <a:ext cx="1371600" cy="365760"/>
          </a:xfrm>
          <a:prstGeom prst="rect">
            <a:avLst/>
          </a:prstGeom>
          <a:noFill/>
        </p:spPr>
        <p:txBody>
          <a:bodyPr wrap="none" lIns="25400" rIns="254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2F72B8"/>
                </a:solidFill>
                <a:latin typeface="Calibri"/>
                <a:ea typeface="Microsoft YaHei"/>
              </a:rPr>
              <a:t>■ 他说的话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9418320"/>
            <a:ext cx="1920240" cy="365760"/>
          </a:xfrm>
          <a:prstGeom prst="rect">
            <a:avLst/>
          </a:prstGeom>
          <a:noFill/>
        </p:spPr>
        <p:txBody>
          <a:bodyPr wrap="none" lIns="25400" rIns="254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8E5AA8"/>
                </a:solidFill>
                <a:latin typeface="Calibri"/>
                <a:ea typeface="Microsoft YaHei"/>
              </a:rPr>
              <a:t>■ 他当时的样子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10588377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1080901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卡上那几个词，怎么变成了文章（下）——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那两个口袋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381250"/>
            <a:ext cx="16192500" cy="6762750"/>
          </a:xfrm>
          <a:prstGeom prst="roundRect">
            <a:avLst>
              <a:gd name="adj" fmla="val 2535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600200" y="2724150"/>
            <a:ext cx="16596360" cy="43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04825" marL="0">
              <a:lnSpc>
                <a:spcPct val="119629"/>
              </a:lnSpc>
              <a:buNone/>
            </a:pPr>
            <a:r>
              <a:rPr lang="en-US" sz="1988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除了这双手，他身上第二显眼的是他那件深灰色夹克上的两个口袋。</a:t>
            </a:r>
            <a:endParaRPr lang="en-US" sz="1988" dirty="0"/>
          </a:p>
        </p:txBody>
      </p:sp>
      <p:sp>
        <p:nvSpPr>
          <p:cNvPr id="9" name="Text 6"/>
          <p:cNvSpPr/>
          <p:nvPr/>
        </p:nvSpPr>
        <p:spPr>
          <a:xfrm>
            <a:off x="1600200" y="3227636"/>
            <a:ext cx="15540228" cy="835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04825" marL="0">
              <a:lnSpc>
                <a:spcPct val="119629"/>
              </a:lnSpc>
              <a:buNone/>
            </a:pPr>
            <a:r>
              <a:rPr lang="en-US" sz="1988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两个口袋从来没有瘪下去过，走起路来两边都往下坠。上课要用的东西他基本不拿箱子装，全在口袋里头：磁铁、放大镜、几节干电池，还有一小卷细铁丝。我们私下说，那两个口袋底下通着实验室，只管掏，掏一整个学期也掏不空。</a:t>
            </a:r>
            <a:endParaRPr lang="en-US" sz="1988" dirty="0"/>
          </a:p>
        </p:txBody>
      </p:sp>
      <p:sp>
        <p:nvSpPr>
          <p:cNvPr id="10" name="Text 7"/>
          <p:cNvSpPr/>
          <p:nvPr/>
        </p:nvSpPr>
        <p:spPr>
          <a:xfrm>
            <a:off x="1600200" y="4129832"/>
            <a:ext cx="15540228" cy="1234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04825" marL="0">
              <a:lnSpc>
                <a:spcPct val="119629"/>
              </a:lnSpc>
              <a:buNone/>
            </a:pPr>
            <a:r>
              <a:rPr lang="en-US" sz="1988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上个月有一节课，讲到一半，前排一个同学的眼镜腿掉了，低着头在桌上摸。他走下讲台，把那副眼镜拿过去， </a:t>
            </a:r>
            <a:pPr algn="just" indent="504825" marL="0">
              <a:lnSpc>
                <a:spcPct val="119629"/>
              </a:lnSpc>
              <a:buNone/>
            </a:pPr>
            <a:r>
              <a:rPr lang="en-US" sz="1988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对着灯先看了看断口，从口袋里摸出那卷铁丝，剪下一小段，把镜腿抵在桌角上，然后一圈一圈往镜腿上绕铁丝，绕完用指甲把毛刺按平，又把眼镜在自己鼻梁前比划了几下 </a:t>
            </a:r>
            <a:pPr algn="just" indent="504825" marL="0">
              <a:lnSpc>
                <a:spcPct val="119629"/>
              </a:lnSpc>
              <a:buNone/>
            </a:pPr>
            <a:r>
              <a:rPr lang="en-US" sz="1988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，才递回去： </a:t>
            </a:r>
            <a:pPr algn="just" indent="504825" marL="0">
              <a:lnSpc>
                <a:spcPct val="119629"/>
              </a:lnSpc>
              <a:buNone/>
            </a:pPr>
            <a:r>
              <a:rPr lang="en-US" sz="1988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“先用着，比原来那个结实。”</a:t>
            </a:r>
            <a:pPr algn="just" indent="504825" marL="0">
              <a:lnSpc>
                <a:spcPct val="119629"/>
              </a:lnSpc>
              <a:buNone/>
            </a:pPr>
            <a:r>
              <a:rPr lang="en-US" sz="1988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说完转身接着往下讲。剩下的半节课，他一个字也没再提这件事。</a:t>
            </a:r>
            <a:endParaRPr lang="en-US" sz="1988" dirty="0"/>
          </a:p>
        </p:txBody>
      </p:sp>
      <p:sp>
        <p:nvSpPr>
          <p:cNvPr id="11" name="Text 8"/>
          <p:cNvSpPr/>
          <p:nvPr/>
        </p:nvSpPr>
        <p:spPr>
          <a:xfrm>
            <a:off x="1600200" y="5430738"/>
            <a:ext cx="15540228" cy="835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04825" marL="0">
              <a:lnSpc>
                <a:spcPct val="119629"/>
              </a:lnSpc>
              <a:buNone/>
            </a:pPr>
            <a:r>
              <a:rPr lang="en-US" sz="1988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从那以后，我们班有个说法：东西坏了先别急着扔，去翻翻刘老师的口袋——里面总能掏出点物件来修好它。他那两只手为什么老也洗不干净，我大概也想明白了。</a:t>
            </a:r>
            <a:endParaRPr lang="en-US" sz="1988" dirty="0"/>
          </a:p>
        </p:txBody>
      </p:sp>
      <p:sp>
        <p:nvSpPr>
          <p:cNvPr id="12" name="TextBox 11"/>
          <p:cNvSpPr txBox="1"/>
          <p:nvPr/>
        </p:nvSpPr>
        <p:spPr>
          <a:xfrm>
            <a:off x="1005840" y="9418320"/>
            <a:ext cx="1371600" cy="365760"/>
          </a:xfrm>
          <a:prstGeom prst="rect">
            <a:avLst/>
          </a:prstGeom>
          <a:noFill/>
        </p:spPr>
        <p:txBody>
          <a:bodyPr wrap="none" lIns="25400" rIns="254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0392B"/>
                </a:solidFill>
                <a:latin typeface="Calibri"/>
                <a:ea typeface="Microsoft YaHei"/>
              </a:rPr>
              <a:t>■ 他的动作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9418320"/>
            <a:ext cx="1371600" cy="365760"/>
          </a:xfrm>
          <a:prstGeom prst="rect">
            <a:avLst/>
          </a:prstGeom>
          <a:noFill/>
        </p:spPr>
        <p:txBody>
          <a:bodyPr wrap="none" lIns="25400" rIns="254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2F72B8"/>
                </a:solidFill>
                <a:latin typeface="Calibri"/>
                <a:ea typeface="Microsoft YaHei"/>
              </a:rPr>
              <a:t>■ 他说的话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9418320"/>
            <a:ext cx="1920240" cy="365760"/>
          </a:xfrm>
          <a:prstGeom prst="rect">
            <a:avLst/>
          </a:prstGeom>
          <a:noFill/>
        </p:spPr>
        <p:txBody>
          <a:bodyPr wrap="none" lIns="25400" rIns="254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8E5AA8"/>
                </a:solidFill>
                <a:latin typeface="Calibri"/>
                <a:ea typeface="Microsoft YaHei"/>
              </a:rPr>
              <a:t>■ 他当时的样子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读样稿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53204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3632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六条提示——回文中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把那一句找出来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19400"/>
            <a:ext cx="16192500" cy="5067300"/>
          </a:xfrm>
          <a:prstGeom prst="roundRect">
            <a:avLst>
              <a:gd name="adj" fmla="val 2632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28925"/>
            <a:ext cx="16173450" cy="11049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00375"/>
            <a:ext cx="6096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2200275" y="2828925"/>
            <a:ext cx="9525" cy="11049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2514600" y="3000375"/>
            <a:ext cx="1486223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这一句在做什么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933825"/>
            <a:ext cx="16173450" cy="6572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4076700"/>
            <a:ext cx="609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2200275" y="3933825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2514600" y="4076700"/>
            <a:ext cx="148622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段落开头一句就把最突出的那一处点明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1057275" y="4591050"/>
            <a:ext cx="16173450" cy="6572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733925"/>
            <a:ext cx="609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175" dirty="0"/>
          </a:p>
        </p:txBody>
      </p:sp>
      <p:sp>
        <p:nvSpPr>
          <p:cNvPr id="18" name="Shape 15"/>
          <p:cNvSpPr/>
          <p:nvPr/>
        </p:nvSpPr>
        <p:spPr>
          <a:xfrm>
            <a:off x="2200275" y="4591050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2514600" y="4733925"/>
            <a:ext cx="148622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把这一处放大描写，读着好笑，可放大的是真实存在的痕迹</a:t>
            </a:r>
            <a:endParaRPr lang="en-US" sz="2175" dirty="0"/>
          </a:p>
        </p:txBody>
      </p:sp>
      <p:sp>
        <p:nvSpPr>
          <p:cNvPr id="20" name="Shape 17"/>
          <p:cNvSpPr/>
          <p:nvPr/>
        </p:nvSpPr>
        <p:spPr>
          <a:xfrm>
            <a:off x="1057275" y="5248275"/>
            <a:ext cx="16173450" cy="6572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5391150"/>
            <a:ext cx="609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175" dirty="0"/>
          </a:p>
        </p:txBody>
      </p:sp>
      <p:sp>
        <p:nvSpPr>
          <p:cNvPr id="22" name="Shape 19"/>
          <p:cNvSpPr/>
          <p:nvPr/>
        </p:nvSpPr>
        <p:spPr>
          <a:xfrm>
            <a:off x="2200275" y="5248275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2514600" y="5391150"/>
            <a:ext cx="148622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那件事里他的动作，一步一步写下来</a:t>
            </a:r>
            <a:endParaRPr lang="en-US" sz="2175" dirty="0"/>
          </a:p>
        </p:txBody>
      </p:sp>
      <p:sp>
        <p:nvSpPr>
          <p:cNvPr id="24" name="Shape 21"/>
          <p:cNvSpPr/>
          <p:nvPr/>
        </p:nvSpPr>
        <p:spPr>
          <a:xfrm>
            <a:off x="1057275" y="5905500"/>
            <a:ext cx="16173450" cy="6572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6048375"/>
            <a:ext cx="609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175" dirty="0"/>
          </a:p>
        </p:txBody>
      </p:sp>
      <p:sp>
        <p:nvSpPr>
          <p:cNvPr id="26" name="Shape 23"/>
          <p:cNvSpPr/>
          <p:nvPr/>
        </p:nvSpPr>
        <p:spPr>
          <a:xfrm>
            <a:off x="2200275" y="5905500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2514600" y="6048375"/>
            <a:ext cx="148622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那件事里他说的话，换个人说不出来</a:t>
            </a:r>
            <a:endParaRPr lang="en-US" sz="2175" dirty="0"/>
          </a:p>
        </p:txBody>
      </p:sp>
      <p:sp>
        <p:nvSpPr>
          <p:cNvPr id="28" name="Shape 25"/>
          <p:cNvSpPr/>
          <p:nvPr/>
        </p:nvSpPr>
        <p:spPr>
          <a:xfrm>
            <a:off x="1057275" y="6562725"/>
            <a:ext cx="16173450" cy="6572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6705600"/>
            <a:ext cx="609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2175" dirty="0"/>
          </a:p>
        </p:txBody>
      </p:sp>
      <p:sp>
        <p:nvSpPr>
          <p:cNvPr id="30" name="Shape 27"/>
          <p:cNvSpPr/>
          <p:nvPr/>
        </p:nvSpPr>
        <p:spPr>
          <a:xfrm>
            <a:off x="2200275" y="6562725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2514600" y="6705600"/>
            <a:ext cx="148622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那件事里他当时的样子</a:t>
            </a:r>
            <a:endParaRPr lang="en-US" sz="2175" dirty="0"/>
          </a:p>
        </p:txBody>
      </p:sp>
      <p:sp>
        <p:nvSpPr>
          <p:cNvPr id="32" name="Shape 29"/>
          <p:cNvSpPr/>
          <p:nvPr/>
        </p:nvSpPr>
        <p:spPr>
          <a:xfrm>
            <a:off x="1057275" y="7219950"/>
            <a:ext cx="16173450" cy="6572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7362825"/>
            <a:ext cx="609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</a:t>
            </a:r>
            <a:endParaRPr lang="en-US" sz="2175" dirty="0"/>
          </a:p>
        </p:txBody>
      </p:sp>
      <p:sp>
        <p:nvSpPr>
          <p:cNvPr id="34" name="Shape 31"/>
          <p:cNvSpPr/>
          <p:nvPr/>
        </p:nvSpPr>
        <p:spPr>
          <a:xfrm>
            <a:off x="2200275" y="7219950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2514600" y="7362825"/>
            <a:ext cx="148622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结尾不夸他，只写现在我们怎么看他</a:t>
            </a:r>
            <a:endParaRPr lang="en-US" sz="2175" dirty="0"/>
          </a:p>
        </p:txBody>
      </p:sp>
      <p:sp>
        <p:nvSpPr>
          <p:cNvPr id="36" name="Shape 33"/>
          <p:cNvSpPr/>
          <p:nvPr/>
        </p:nvSpPr>
        <p:spPr>
          <a:xfrm>
            <a:off x="1047750" y="8105775"/>
            <a:ext cx="16192500" cy="847725"/>
          </a:xfrm>
          <a:prstGeom prst="roundRect">
            <a:avLst>
              <a:gd name="adj" fmla="val 1797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409700" y="8334375"/>
            <a:ext cx="1701546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同桌分工：</a:t>
            </a:r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前三条一人、后三条一人</a:t>
            </a:r>
            <a:pPr algn="l" indent="0" marL="0"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——找到就在示范文上划线，找完互相对一遍。</a:t>
            </a:r>
            <a:endParaRPr lang="en-US" sz="2325" dirty="0"/>
          </a:p>
        </p:txBody>
      </p:sp>
      <p:sp>
        <p:nvSpPr>
          <p:cNvPr id="38" name="Text 35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先整体看一遍：这一篇写了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几处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？各写在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哪儿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读样稿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0602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84426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换一位老师，这件事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发生得了吗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3000375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219450"/>
            <a:ext cx="77533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别的老师碰上眼镜腿掉了——</a:t>
            </a:r>
            <a:endParaRPr lang="en-US" sz="2475" dirty="0"/>
          </a:p>
        </p:txBody>
      </p:sp>
      <p:sp>
        <p:nvSpPr>
          <p:cNvPr id="9" name="Text 6"/>
          <p:cNvSpPr/>
          <p:nvPr/>
        </p:nvSpPr>
        <p:spPr>
          <a:xfrm>
            <a:off x="1466850" y="3867150"/>
            <a:ext cx="361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885950" y="3867150"/>
            <a:ext cx="22002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让他先凑合戴着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466850" y="4467225"/>
            <a:ext cx="361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885950" y="4467225"/>
            <a:ext cx="28289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叫他放学回家找人修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466850" y="5067300"/>
            <a:ext cx="361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885950" y="5067300"/>
            <a:ext cx="47148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可能就说一句“怎么这么不小心”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9353550" y="2857500"/>
            <a:ext cx="7886700" cy="3000375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772650" y="3219450"/>
            <a:ext cx="77533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可这位刘老师——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9772650" y="3867150"/>
            <a:ext cx="361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0191750" y="3867150"/>
            <a:ext cx="260775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口袋里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正好有铁丝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9772650" y="4467225"/>
            <a:ext cx="361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0191750" y="4467225"/>
            <a:ext cx="458685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正好肯当场 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把眼镜接过去修好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9772650" y="5067300"/>
            <a:ext cx="361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10191750" y="5067300"/>
            <a:ext cx="44005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这件事，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别的老师身上发生不了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1047750" y="7867204"/>
            <a:ext cx="16192500" cy="991046"/>
          </a:xfrm>
          <a:prstGeom prst="roundRect">
            <a:avLst>
              <a:gd name="adj" fmla="val 1730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466850" y="8133904"/>
            <a:ext cx="1688973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要守住的三条：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一处一段、段首点明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；配一件 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只有他才做得出来的事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（动作·一句话·当时的样子）；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放大只放大真事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25" name="Text 2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第一节课就上到这里——中间休息一下，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回来我们就动笔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50292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694576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写下第一段 · 自由写作 · 换人互念 · 修改收束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写作热身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004298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8270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看着特点卡——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先把第一段写下来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2895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76312" y="3181350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说清是谁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724150" y="3157835"/>
            <a:ext cx="15967383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开头空两格，一句话说清写的是哪位老师 </a:t>
            </a:r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——“教我们科学的是刘老师。”听的人没见过他，这一句不能省。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1047750" y="400943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76312" y="4161830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点明特点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2724150" y="3924300"/>
            <a:ext cx="14951583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另起一段，段首句把圈的那一处点明 </a:t>
            </a:r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——老师卡上圈的是“那双手”，段首句就是“他有全年级最脏的两只手”。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1047750" y="5075039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76312" y="5227439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写三四句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2724150" y="4989909"/>
            <a:ext cx="14951583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四个方向挑着用：这一处什么样、别人没有的是哪点；做动作时 </a:t>
            </a:r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手上脸上的样子；他常说的那句话；可以放大的细节。</a:t>
            </a:r>
            <a:endParaRPr lang="en-US" sz="2325" dirty="0"/>
          </a:p>
        </p:txBody>
      </p:sp>
      <p:sp>
        <p:nvSpPr>
          <p:cNvPr id="16" name="Shape 13"/>
          <p:cNvSpPr/>
          <p:nvPr/>
        </p:nvSpPr>
        <p:spPr>
          <a:xfrm>
            <a:off x="1047750" y="6055519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76312" y="6207919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读一遍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2724150" y="6184404"/>
            <a:ext cx="10120938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笔停一停，从头读一遍——光凭这几行，</a:t>
            </a:r>
            <a:pPr algn="l" indent="0" marL="0">
              <a:lnSpc>
                <a:spcPct val="109634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没见过他的人能不能对上号</a:t>
            </a:r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325" dirty="0"/>
          </a:p>
        </p:txBody>
      </p:sp>
      <p:sp>
        <p:nvSpPr>
          <p:cNvPr id="19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这几行站住了，接下来就好写了——接着写那件事，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从那天怎么开的头写起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41089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22996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一口气写完整篇——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三件事记在心里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5168801" cy="3152775"/>
          </a:xfrm>
          <a:prstGeom prst="roundRect">
            <a:avLst>
              <a:gd name="adj" fmla="val 5438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3409950"/>
            <a:ext cx="484748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1428750" y="4381500"/>
            <a:ext cx="453900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一处一段，段落开头 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先把这一处特点点明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6559451" y="3048000"/>
            <a:ext cx="5168950" cy="3152775"/>
          </a:xfrm>
          <a:prstGeom prst="roundRect">
            <a:avLst>
              <a:gd name="adj" fmla="val 5438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940451" y="3409950"/>
            <a:ext cx="484764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6940451" y="4381500"/>
            <a:ext cx="4539158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那件事里，他的 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动作、一句话、当时的样子 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——三样都得有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2071300" y="3048000"/>
            <a:ext cx="5168950" cy="3152775"/>
          </a:xfrm>
          <a:prstGeom prst="roundRect">
            <a:avLst>
              <a:gd name="adj" fmla="val 5438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452300" y="3409950"/>
            <a:ext cx="484764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12452300" y="4381500"/>
            <a:ext cx="4539158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放大刻画， 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只放大真实发生的事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1047750" y="8639175"/>
            <a:ext cx="135159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写到最后添一句：说说你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现在怎么看这位老师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。中间不要停、不用回头修改，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先一路写到底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13452277" y="8791575"/>
            <a:ext cx="3787973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833277" y="8982075"/>
            <a:ext cx="332857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大约写 20 分钟</a:t>
            </a:r>
            <a:endParaRPr lang="en-US" sz="2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15903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15291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两轮换人互念——稿末写下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“看见的那一处”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1432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58491" y="324802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905000" y="3200400"/>
            <a:ext cx="902589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第一轮同桌、第二轮前后桌换人——只念那一段，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四十秒左右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52437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58491" y="4629150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905000" y="4581525"/>
            <a:ext cx="902589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听的人不评好坏，只在稿末写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三五个字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：看见了他身上的哪一处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90550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58491" y="601027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905000" y="5962650"/>
            <a:ext cx="736818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拿回稿子比一比——两个人写的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是不是同一处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409575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962454"/>
            <a:ext cx="16192500" cy="991046"/>
          </a:xfrm>
          <a:prstGeom prst="roundRect">
            <a:avLst>
              <a:gd name="adj" fmla="val 1730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66850" y="8229154"/>
            <a:ext cx="1688973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写的一样——这幅像 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画准了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；写的不一样也不急，多半是特点 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铺得太分散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，等会儿改稿先改这里。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两个人都没见过他——光凭你这几行字，看见的是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同一样东西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81764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7738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三位念给全班听——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六个答案摆一起比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2956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143250"/>
            <a:ext cx="727907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念的人只念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写那件事的那一段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，四十秒左右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1047750" y="41529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000500"/>
            <a:ext cx="905256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每念完一位，请两位听众各说一句：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听出来的是哪一处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047750" y="50101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4857750"/>
            <a:ext cx="953604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三位都念完——把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六个答案摆到一起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比一次：落在同一处的，是哪几位写的</a:t>
            </a:r>
            <a:endParaRPr lang="en-US" sz="27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44767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哪一句让台下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认出了他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——老师就点评肯定那一句。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81779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7755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对着表看一眼——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再回自己稿上改三条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86963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自检表（自己看，写到了哪一档）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47750" y="3467100"/>
            <a:ext cx="7905750" cy="1164729"/>
          </a:xfrm>
          <a:prstGeom prst="roundRect">
            <a:avLst>
              <a:gd name="adj" fmla="val 8178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47750" y="3467100"/>
            <a:ext cx="76200" cy="1164729"/>
          </a:xfrm>
          <a:prstGeom prst="rect">
            <a:avLst/>
          </a:prstGeom>
          <a:solidFill>
            <a:srgbClr val="9AA6B6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90650" y="3676650"/>
            <a:ext cx="7515035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写得认得出 </a:t>
            </a:r>
            <a:pPr algn="l" indent="0" marL="0">
              <a:lnSpc>
                <a:spcPct val="10875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写的是哪位老师、最突出的是哪一处，别人读了说得出来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1047750" y="4803279"/>
            <a:ext cx="7905750" cy="1164729"/>
          </a:xfrm>
          <a:prstGeom prst="roundRect">
            <a:avLst>
              <a:gd name="adj" fmla="val 8178"/>
            </a:avLst>
          </a:prstGeom>
          <a:solidFill>
            <a:srgbClr val="FBF3E6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047750" y="4803279"/>
            <a:ext cx="76200" cy="1164729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90650" y="5012829"/>
            <a:ext cx="7515035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写得够具体 </a:t>
            </a:r>
            <a:pPr algn="l" indent="0" marL="0">
              <a:lnSpc>
                <a:spcPct val="10875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围绕特点配真实事例，写清动作、说的话、神态模样</a:t>
            </a:r>
            <a:endParaRPr lang="en-US" sz="2025" dirty="0"/>
          </a:p>
        </p:txBody>
      </p:sp>
      <p:sp>
        <p:nvSpPr>
          <p:cNvPr id="14" name="Shape 11"/>
          <p:cNvSpPr/>
          <p:nvPr/>
        </p:nvSpPr>
        <p:spPr>
          <a:xfrm>
            <a:off x="1047750" y="6139458"/>
            <a:ext cx="7905750" cy="1164729"/>
          </a:xfrm>
          <a:prstGeom prst="roundRect">
            <a:avLst>
              <a:gd name="adj" fmla="val 8178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1047750" y="6139458"/>
            <a:ext cx="76200" cy="1164729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390650" y="6349008"/>
            <a:ext cx="7515035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写得有张力 </a:t>
            </a:r>
            <a:pPr algn="l" indent="0" marL="0">
              <a:lnSpc>
                <a:spcPct val="10875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对真实细节适度放大，内容得体——这段话可以当面读给这位老师听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9906000" y="2857500"/>
            <a:ext cx="80676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改三条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9906000" y="3467100"/>
            <a:ext cx="7334250" cy="1228725"/>
          </a:xfrm>
          <a:prstGeom prst="roundRect">
            <a:avLst>
              <a:gd name="adj" fmla="val 10853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0191750" y="3695700"/>
            <a:ext cx="69656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把“他很严”这样 </a:t>
            </a:r>
            <a:pPr algn="l" indent="0" marL="0">
              <a:lnSpc>
                <a:spcPct val="1125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谁都写得出的话 </a:t>
            </a:r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找出一句，换成他真做过的那件事</a:t>
            </a:r>
            <a:endParaRPr lang="en-US" sz="2025" dirty="0"/>
          </a:p>
        </p:txBody>
      </p:sp>
      <p:sp>
        <p:nvSpPr>
          <p:cNvPr id="20" name="Shape 17"/>
          <p:cNvSpPr/>
          <p:nvPr/>
        </p:nvSpPr>
        <p:spPr>
          <a:xfrm>
            <a:off x="9906000" y="4867275"/>
            <a:ext cx="7334250" cy="1228725"/>
          </a:xfrm>
          <a:prstGeom prst="roundRect">
            <a:avLst>
              <a:gd name="adj" fmla="val 10853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0191750" y="5095875"/>
            <a:ext cx="69656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那件事只交代了结果的，补上他的 </a:t>
            </a:r>
            <a:pPr algn="l" indent="0" marL="0">
              <a:lnSpc>
                <a:spcPct val="1125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动作、那句话、神态模样</a:t>
            </a:r>
            <a:endParaRPr lang="en-US" sz="2025" dirty="0"/>
          </a:p>
        </p:txBody>
      </p:sp>
      <p:sp>
        <p:nvSpPr>
          <p:cNvPr id="22" name="Shape 19"/>
          <p:cNvSpPr/>
          <p:nvPr/>
        </p:nvSpPr>
        <p:spPr>
          <a:xfrm>
            <a:off x="9906000" y="6267450"/>
            <a:ext cx="7334250" cy="842963"/>
          </a:xfrm>
          <a:prstGeom prst="roundRect">
            <a:avLst>
              <a:gd name="adj" fmla="val 15819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0191750" y="6496050"/>
            <a:ext cx="74390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放大过了头的——</a:t>
            </a:r>
            <a:pPr algn="l" indent="0" marL="0">
              <a:lnSpc>
                <a:spcPct val="1125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编出来的、专说短处的，划掉</a:t>
            </a:r>
            <a:endParaRPr lang="en-US" sz="2025" dirty="0"/>
          </a:p>
        </p:txBody>
      </p:sp>
      <p:sp>
        <p:nvSpPr>
          <p:cNvPr id="24" name="Text 21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这张表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自己看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，不用念——看完就回稿子上动笔改。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631138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7223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两句话写同一位老师——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你更相信哪一句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3050679"/>
          </a:xfrm>
          <a:prstGeom prst="roundRect">
            <a:avLst>
              <a:gd name="adj" fmla="val 562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42950"/>
          </a:xfrm>
          <a:prstGeom prst="rect">
            <a:avLst/>
          </a:prstGeom>
          <a:solidFill>
            <a:srgbClr val="9AA6B6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52488" y="3038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左边这句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57275" y="3609975"/>
            <a:ext cx="7867650" cy="20955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38275" y="3952875"/>
            <a:ext cx="7318820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“他对我们要求很严。” </a:t>
            </a:r>
            <a:pPr algn="l" indent="0" marL="0">
              <a:lnSpc>
                <a:spcPct val="127500"/>
              </a:lnSpc>
              <a:buNone/>
            </a:pPr>
            <a:r>
              <a:rPr lang="en-US" sz="2175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——谁都能写，套哪位老师都行。</a:t>
            </a:r>
            <a:endParaRPr lang="en-US" sz="2475" dirty="0"/>
          </a:p>
        </p:txBody>
      </p:sp>
      <p:sp>
        <p:nvSpPr>
          <p:cNvPr id="12" name="Shape 9"/>
          <p:cNvSpPr/>
          <p:nvPr/>
        </p:nvSpPr>
        <p:spPr>
          <a:xfrm>
            <a:off x="9353550" y="2857500"/>
            <a:ext cx="7886700" cy="3050679"/>
          </a:xfrm>
          <a:prstGeom prst="roundRect">
            <a:avLst>
              <a:gd name="adj" fmla="val 562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363075" y="286702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158288" y="3038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右边这句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363075" y="3609975"/>
            <a:ext cx="7867650" cy="2288679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744075" y="3952875"/>
            <a:ext cx="7318820" cy="1640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“他讲评作业从来不念名字，只把本子举起来， </a:t>
            </a:r>
            <a:pPr algn="l" indent="0" marL="0">
              <a:lnSpc>
                <a:spcPct val="127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让全班看一眼那一页 </a:t>
            </a:r>
            <a:pPr algn="l" indent="0" marL="0">
              <a:lnSpc>
                <a:spcPct val="127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。” </a:t>
            </a:r>
            <a:pPr algn="l" indent="0" marL="0">
              <a:lnSpc>
                <a:spcPct val="127500"/>
              </a:lnSpc>
              <a:buNone/>
            </a:pPr>
            <a:r>
              <a:rPr lang="en-US" sz="2175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——这是他自己的做法。</a:t>
            </a:r>
            <a:endParaRPr lang="en-US" sz="2475" dirty="0"/>
          </a:p>
        </p:txBody>
      </p:sp>
      <p:sp>
        <p:nvSpPr>
          <p:cNvPr id="17" name="Shape 14"/>
          <p:cNvSpPr/>
          <p:nvPr/>
        </p:nvSpPr>
        <p:spPr>
          <a:xfrm>
            <a:off x="1047750" y="7447657"/>
            <a:ext cx="16192500" cy="1410593"/>
          </a:xfrm>
          <a:prstGeom prst="roundRect">
            <a:avLst>
              <a:gd name="adj" fmla="val 1080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28750" y="7695307"/>
            <a:ext cx="15893415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同桌互评（稿子不用换）：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结合刚才听到的那一段，对照自检表说两句——对方停在 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哪一档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？往上提一档，还缺 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哪一处 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？把它补进稿子里。</a:t>
            </a:r>
            <a:endParaRPr lang="en-US" sz="2325" dirty="0"/>
          </a:p>
        </p:txBody>
      </p:sp>
      <p:sp>
        <p:nvSpPr>
          <p:cNvPr id="19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低头看一眼你改出来的那句——像左边的，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还得再改一次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6858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22439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12481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没有一幅图画——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可大家都“看见”他了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4480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09700" y="3295650"/>
            <a:ext cx="864426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先挑出他身上 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别人没有的那一两处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，一处写成一段</a:t>
            </a:r>
            <a:endParaRPr lang="en-US" sz="2775" dirty="0"/>
          </a:p>
        </p:txBody>
      </p:sp>
      <p:sp>
        <p:nvSpPr>
          <p:cNvPr id="10" name="Shape 7"/>
          <p:cNvSpPr/>
          <p:nvPr/>
        </p:nvSpPr>
        <p:spPr>
          <a:xfrm>
            <a:off x="1047750" y="4357688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09700" y="4205288"/>
            <a:ext cx="9437942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段首点明，再配一件 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只有他才会发生的事 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——动作、原话、神态都写出来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1047750" y="5795963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09700" y="5643563"/>
            <a:ext cx="820322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放大之前问一句——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敢当面念给这位老师听吗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75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0" y="3429000"/>
            <a:ext cx="4953000" cy="44767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一个人的故事有很多，不必全写——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选准少数重点细节写充分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，读者反而记得住这个鲜活的人。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20234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 · 习作讲评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8625185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864950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习作讲评环节 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（可选 · 课后或下次课开场）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571750"/>
            <a:ext cx="1307886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 2–3 篇投屏（不具名、不排名次），每篇约 3–5 分钟；＿＿＿处换成本班学生的真实句子。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3238500"/>
            <a:ext cx="5181600" cy="447675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3248025"/>
            <a:ext cx="5162550" cy="762000"/>
          </a:xfrm>
          <a:prstGeom prst="rect">
            <a:avLst/>
          </a:prstGeom>
          <a:solidFill>
            <a:srgbClr val="4E9A57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23975" y="34385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三条都在的一篇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343025" y="4295775"/>
            <a:ext cx="4745926" cy="316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一处一段、段首点得清楚，事里有动作有话，放大的那一句也是真事。 念他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段首那一句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最见样子的一两句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——没见过他，也认得出他了。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6553200" y="3238500"/>
            <a:ext cx="5181600" cy="447675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562725" y="3248025"/>
            <a:ext cx="5162550" cy="762000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829425" y="34385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平摊着写的一篇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6848475" y="4295775"/>
            <a:ext cx="4745926" cy="316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事情选得准，可前半篇一口气写了好几处，一样长——读完不知道该记住哪一处。 缺的不是材料，是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舍不得删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：留一处写足，剩下的删掉或一笔带过。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12058650" y="3238500"/>
            <a:ext cx="5181600" cy="447675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2068175" y="3248025"/>
            <a:ext cx="5162550" cy="762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2334875" y="34385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只有评价的一篇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2353925" y="4295775"/>
            <a:ext cx="4745926" cy="316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通篇是“他很好”“他很严”——放到别的老师身上也说得通。 补一件他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真做过的事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，哪怕只是一节课上的一分钟：他做了什么、说了哪一句。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来回还是那三条——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挑一两处、一处一段写足、放大只放大真事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943100" y="3657600"/>
            <a:ext cx="8064892" cy="1900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7"/>
              </a:lnSpc>
              <a:buNone/>
            </a:pPr>
            <a:r>
              <a:rPr lang="en-US" sz="12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END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2057400" y="5676900"/>
            <a:ext cx="1161005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写人，挑一两处独有的细节——一处一段写足，放大只放大真事。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792200" y="8058150"/>
            <a:ext cx="2095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5925800" y="8039100"/>
            <a:ext cx="419100" cy="533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0" y="8039100"/>
            <a:ext cx="419100" cy="53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2026-08-25T05:39:33Z</dcterms:created>
  <dcterms:modified xsi:type="dcterms:W3CDTF">2026-08-25T05:39:33Z</dcterms:modified>
</cp:coreProperties>
</file>