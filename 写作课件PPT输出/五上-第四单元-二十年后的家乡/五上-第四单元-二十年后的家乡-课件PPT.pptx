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83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84" r:id="rId27"/>
    <p:sldId id="277" r:id="rId28"/>
    <p:sldId id="278" r:id="rId29"/>
    <p:sldId id="279" r:id="rId30"/>
    <p:sldId id="281" r:id="rId31"/>
  </p:sldIdLst>
  <p:sldSz cx="18288000" cy="10287000"/>
  <p:notesSz cx="10287000" cy="18288000"/>
  <p:custDataLst>
    <p:tags r:id="rId35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5" Type="http://schemas.openxmlformats.org/officeDocument/2006/relationships/tags" Target="tags/tag6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课前导入：五上第四单元想象习作《二十年后的家乡》，2课时连排。这两节课开启一场时空穿越，亲眼看一看二十年后家乡的模样，并学会列提纲、把重点部分写具体。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课时·写作指导课。线索：老师的片段被朋友听成'三年后'设疑导入，任务发布；从近三年身边变化打开想象（环境·工作·生活）；学两个方法（今昔对照、写成看得见的画面）；列提纲填构思表圈详写；读教师示范文与旁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备课时老师写了一小段读给朋友听（读屏上片段）。朋友想了想说：这变化也没多大，听上去像也就过了三年。明明设想的是二十年后，听的人却只感受到三年——这个问题先放一放，后面再来找原因。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任务：每人写一篇《二十年后的家乡》，开启时空穿越。写完开'未来分享会'：四人小组内每人朗读一个片段，其他同学只听不看文稿，给两点反馈（想象最有意思处、画面最具体处）；再请几位读给全班。算一算：二十年后是2046年，那时你三十岁出头。结尾还要写下对故土的心里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想写好二十年后，先从当下找灵感。回想最近三年身边什么变样了：小区、上学的路、常去的小店、楼下空地。四人小组轮流说，每人两句：以前什么样，现在什么样。教师到三四个小组旁倾听，请两三位说得具体的分享给全班。学生说'什么都没变'时换小问题：书包里有没有三年前没有的东西？它二十年后会变成什么样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胆想二十年后的巨变，从三方面展开：①环境——小河、池塘、绿地、大马路、街边花草；②工作——长辈的工作还这样干吗？由谁来做？（货车自己开、机器摘果子、超市不用收银员）；③生活——学校、菜市场、买东西、看病、出行。再想一个温暖细节：穿越过去可能遇见谁（儿时伙伴、小学老师、老街坊）。不必面面俱到，选两三处最熟悉的记在心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示两段开头，都写二十年后的家乡，只有一段写对了。第一段（现在的菜市场）写得细，有人选它——肯定优点后只追问一件事：里面有没有现在还没有的事物？没有——全是现在的样子，没写出二十年后的改变。第二段写对了：菜市场入地下、传送带送菜；它也写了从前（妈妈拎沉甸甸的袋子），写从前是为了衬出变化。追问：地下菜市场搬到你家乡合适吗？想象要贴合家乡真实情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看开场片段找原因。这几句话本身没错，表意清晰，做概括性总起是可行的。请学生判断：放到别的城市成立吗？成立。放到三年以后成立吗？也成立——三年街道也能更干净。所以朋友猜三年不奇怪：语句放在任何时间、任何城市都适用，缺少专属于二十年后的独特变化，归根结底是缺少具体独特的画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师示范：还是'街道变得更干净了'这条街，换一种写法（读屏上段落）。读完问：哪一处画面让你真切感受到这条街就在眼前？（车停进地下车库/停车位种上树/孩子们走在路中央不用避让）。标色提示：紫=从前的样子，红=二十年后的样子，绿=人物·动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理两个写作小方法：①把现在的样子也写进去——'现在……二十年后……'或'从前……如今……'对照着写，变化才显出来；②把变化后的场景写成看得见的画面——有人物、有动作、有地点。概括句不用扔：放在段首点明这一处的变化，后面用细节撑住它。'一处变化写一段、段首点明'的写法，写人写事物同样适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人挑一个最想写的变化（从刚想过的里选），用上两个方法轻声试说：先一句话点明这里发生的变化，再接着讲变化之后具体的画面。教师巡视，挑两三位能说出具体画面的向全班展示。学生只说得出概括句时顺势启发：改造过后，来到这里的人会做些什么？你仿佛能看到怎样的景象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动笔前列提纲。出示课本提纲范例，四部分：题目；开头（穿越到二十年后，回到家乡）；中间三处变化（环境/工作/生活）；结尾（抒发向往）。中间文字都很简短——提纲不是作文，只帮自己理清写哪几方面、先后怎么排。开头结尾篇幅短但缺一不可：缺开头没铺垫，缺结尾没落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细化中间段落（本节重点）。表格三列，只填关键词，每格三五个字。老师示范填一行：门口那条街（交通）/傍晚拥堵，人车拥挤/车进地库、路边种两排树、行人畅行——关键词就是刚才示范片段的要点，写作文时反过来由关键词扩成段落。第三栏要落到具体事物、人物活动，不写'更好了'。巡视重点看第三列；同桌交换浏览：哪一栏冒出画面、哪一栏还不够具体。只填得出两处不勉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步：把三处变化誊回整篇框架（仿照课本格式：环境的变化——……），在打算重点描写的一到两处前画圆圈。画圈代表详写：三处篇幅不用均等，最感兴趣、想象最丰富的多写几句，剩下的简单交代——课本提示'分段叙述，把重点部分写具体'。只填得出两处也可以成文：两处写充实好过三处都单薄。请一位同学从题目到结尾把框架读一遍（中间只报方面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动笔前列提纲。出示课本提纲范例，四部分：题目；开头（穿越到二十年后，回到家乡）；中间三处变化（环境/工作/生活）；结尾（抒发向往）。中间文字都很简短——提纲不是作文，只帮自己理清写哪几方面、先后怎么排。开头结尾篇幅短但缺一不可：缺开头没铺垫，缺结尾没落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示教师示范文，按今天的方法写的完整片段。请学生认真听朗读，一边听一边数：文章一共写了家乡哪几处变化。标色：蓝=段首点明句，紫=从前的样子，红=二十年后的样子，绿=人物·动作——与后面旁批表同色呼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题①：写了几处？小河、小学操场、奶奶抓药三处。篇幅一样长吗？不一样——操场最短，只简单交代过去和现在，点到为止；小河、抓药是重点，多展开几句。三处篇幅相同，读者就看不出你最想表达什么。问题②：每段第一句在做什么？'最先让我认不出来的是村东那条小河'……——段首概括句，开门见山点明本段描写对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默读示范文，找一处画面感最强的句子举手读一读（孩子蹲在水边、奶奶摊开药袋清点、奶奶和老伙伴聊天）。共同点：有人物、有具体动作——把变化和人的活动结合，文字就有了鲜活画面。投屏旁批对照表，颜色与示范文标色一一对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结尾：没有直白喊'家乡变得越来越美好'，而是回到小河，写水边那个孩子。读'替我完成了这个小小的心愿'，能体会到什么心情？（开心、有点遗憾、喜爱现在的小河——都对。）结尾不用刻意抒情：可以回扣前面写过的一处景物收尾，也可以直接说出内心真实感受，选贴合自己想法的。总结全课写法后布置：下节课按提纲动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第2课时·当堂写作与评改课。先拿出上节课的提纲，三分钟只写画圈详写那一处打草稿；再正式完成整篇；四人小组分享会；对照六条自检，只做增补修改。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拿出提纲和草稿纸，找到画圈详写那一行，重点看'二十年后什么样'栏。三分钟只写这一处，不写开头结尾。动笔就别停：想到什么写什么，写错不擦，不会写的字做记号空出。这三分钟不评好坏——先把全文最难的重点片段打成草稿。限时期间教师不讲话不巡视打断，站讲台侧计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式稿纸从头完成整篇。草稿上的重点片段可参考或直接誊抄。紧扣提纲：开头一两句交代怎么穿越；中间对应表格三行，一处变化独立成段，画圈的多展开，没圈的两三句；结尾把记下的感受扩写成完整句子。两个核心：段首概括句点明对象；从前和二十年后对照写。不停下改错字、不数字数。巡视四类提示：不动笔的问提纲第一行；只有一两句的问变化后的场景；全是笼统句的问谁能感受到便利；提前完成的自查详略。学生问能不能写整座城市飞起来——可以，但要写出人们怎样生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堂分享会：四人小组轮流读自己最满意的片段，听的同学只听不看文稿；读完每位听众给两点反馈：哪里的想象最有意思；哪一句最具体、仿佛看见了什么——反馈第二点要复述那一句。说不出具体句子时引导：你脑海里记住的是哪一处画面？之后三个小组各推选一人向全班朗读（标准：想象新奇，或读完仿佛看得见画面），每篇请两位反馈'我从哪一句看见了什么'。教师点评紧扣技法与情感，不打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各自看稿子，对着六条过一遍：前三条（分段/段首/详略）数一数就行；第四、五条要自己挑得出、说得出为什么；最后一条看结尾。你找到的写得最好的段落句子，就是自己修改的参照标准。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照自检只做增补，不大段删除。四处：①别的段落只写了二十年后的，补一句从前的样子；②详写段没有人物，补一个人加一个简单动作（散步、观望、清点），略写段不强加；③缺段首概括句的，段前补一句点明；④结尾只有空洞赞美的，补上真实感受。'越来越美好'这类概括句不划掉——移到段首当总起，后面用画面撑住。几段篇幅差不多？不删字，给详写段加细节。改完小声读改动处，想想能不能读出画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收束：一处变化一个段落，段首点明描写对象，新旧景象对照，用人物的活动写出鲜活画面。今天写的不只是想象作文，更是心中对家乡的美好期盼。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image" Target="../media/image5.png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8" Type="http://schemas.openxmlformats.org/officeDocument/2006/relationships/notesSlide" Target="../notesSlides/notesSlide6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8.xml"/><Relationship Id="rId15" Type="http://schemas.openxmlformats.org/officeDocument/2006/relationships/image" Target="../media/image7.png"/><Relationship Id="rId14" Type="http://schemas.openxmlformats.org/officeDocument/2006/relationships/tags" Target="../tags/tag17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image" Target="../media/image8.png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5" Type="http://schemas.openxmlformats.org/officeDocument/2006/relationships/notesSlide" Target="../notesSlides/notesSlide7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image" Target="../media/image9.png"/><Relationship Id="rId10" Type="http://schemas.openxmlformats.org/officeDocument/2006/relationships/tags" Target="../tags/tag26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6" Type="http://schemas.openxmlformats.org/officeDocument/2006/relationships/notesSlide" Target="../notesSlides/notesSlide14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2.svg"/><Relationship Id="rId13" Type="http://schemas.openxmlformats.org/officeDocument/2006/relationships/image" Target="../media/image11.png"/><Relationship Id="rId12" Type="http://schemas.openxmlformats.org/officeDocument/2006/relationships/tags" Target="../tags/tag38.xml"/><Relationship Id="rId11" Type="http://schemas.openxmlformats.org/officeDocument/2006/relationships/image" Target="../media/image10.png"/><Relationship Id="rId10" Type="http://schemas.openxmlformats.org/officeDocument/2006/relationships/tags" Target="../tags/tag37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3" Type="http://schemas.openxmlformats.org/officeDocument/2006/relationships/notesSlide" Target="../notesSlides/notesSlide17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5" Type="http://schemas.openxmlformats.org/officeDocument/2006/relationships/notesSlide" Target="../notesSlides/notesSlide25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tags" Target="../tags/tag58.xml"/><Relationship Id="rId10" Type="http://schemas.openxmlformats.org/officeDocument/2006/relationships/tags" Target="../tags/tag57.xml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1589" y="323850"/>
            <a:ext cx="1668661" cy="6286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7250" y="1143000"/>
            <a:ext cx="16573500" cy="5715000"/>
          </a:xfrm>
          <a:prstGeom prst="roundRect">
            <a:avLst>
              <a:gd name="adj" fmla="val 2667"/>
            </a:avLst>
          </a:prstGeom>
          <a:gradFill rotWithShape="1">
            <a:gsLst>
              <a:gs pos="0">
                <a:srgbClr val="EE7B2E">
                  <a:alpha val="100000"/>
                </a:srgbClr>
              </a:gs>
              <a:gs pos="42000">
                <a:srgbClr val="F0A63C">
                  <a:alpha val="100000"/>
                </a:srgbClr>
              </a:gs>
              <a:gs pos="100000">
                <a:srgbClr val="57B0A6">
                  <a:alpha val="100000"/>
                </a:srgbClr>
              </a:gs>
            </a:gsLst>
            <a:lin ang="900000" scaled="0"/>
          </a:gradFill>
        </p:spPr>
      </p:sp>
      <p:sp>
        <p:nvSpPr>
          <p:cNvPr id="4" name="Shape 1"/>
          <p:cNvSpPr/>
          <p:nvPr/>
        </p:nvSpPr>
        <p:spPr>
          <a:xfrm>
            <a:off x="2952750" y="1428750"/>
            <a:ext cx="3429000" cy="3429000"/>
          </a:xfrm>
          <a:prstGeom prst="ellipse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5810250" y="4191000"/>
            <a:ext cx="4095750" cy="4095750"/>
          </a:xfrm>
          <a:prstGeom prst="ellipse">
            <a:avLst/>
          </a:prstGeom>
          <a:solidFill>
            <a:srgbClr val="FFFFFF">
              <a:alpha val="8000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3810000" y="2667000"/>
            <a:ext cx="11734800" cy="13477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250" b="1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二十年后的家乡</a:t>
            </a:r>
            <a:endParaRPr lang="en-US" sz="8250" dirty="0"/>
          </a:p>
        </p:txBody>
      </p:sp>
      <p:sp>
        <p:nvSpPr>
          <p:cNvPr id="7" name="Text 4"/>
          <p:cNvSpPr/>
          <p:nvPr/>
        </p:nvSpPr>
        <p:spPr>
          <a:xfrm>
            <a:off x="3848100" y="4476750"/>
            <a:ext cx="11734800" cy="571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五年级上册 · 第四单元 · 校内同步写作（想象）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0" y="2857500"/>
            <a:ext cx="1066800" cy="1333500"/>
          </a:xfrm>
          <a:prstGeom prst="rect">
            <a:avLst/>
          </a:prstGeom>
          <a:solidFill>
            <a:srgbClr val="3D4A63"/>
          </a:solidFill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00"/>
            <a:ext cx="1066800" cy="13335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47750" y="8943975"/>
            <a:ext cx="3574956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五年级上册 · 第四单元</a:t>
            </a:r>
            <a:endParaRPr lang="en-US" sz="2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</p:spPr>
      </p:sp>
      <p:sp>
        <p:nvSpPr>
          <p:cNvPr id="4" name="Text 2"/>
          <p:cNvSpPr/>
          <p:nvPr/>
        </p:nvSpPr>
        <p:spPr>
          <a:xfrm>
            <a:off x="2038350" y="3181350"/>
            <a:ext cx="2455500" cy="21193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2228850" y="5676900"/>
            <a:ext cx="3143250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写作指导课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247900" y="6572250"/>
            <a:ext cx="7954878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 · 打开想象 · 学写法 · 列提纲 · 教师示范文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31041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</p:spPr>
      </p:sp>
      <p:sp>
        <p:nvSpPr>
          <p:cNvPr id="6" name="Text 3"/>
          <p:cNvSpPr/>
          <p:nvPr/>
        </p:nvSpPr>
        <p:spPr>
          <a:xfrm>
            <a:off x="1466850" y="1581150"/>
            <a:ext cx="8219435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老师写了一段,读给朋友听——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他却说……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</p:spPr>
      </p:sp>
      <p:sp>
        <p:nvSpPr>
          <p:cNvPr id="8" name="Shape 5"/>
          <p:cNvSpPr/>
          <p:nvPr/>
        </p:nvSpPr>
        <p:spPr>
          <a:xfrm>
            <a:off x="1047750" y="3143250"/>
            <a:ext cx="8763000" cy="3329583"/>
          </a:xfrm>
          <a:prstGeom prst="roundRect">
            <a:avLst>
              <a:gd name="adj" fmla="val 8010"/>
            </a:avLst>
          </a:prstGeom>
          <a:solidFill>
            <a:srgbClr val="EAF1FB"/>
          </a:solidFill>
          <a:ln w="19050">
            <a:solidFill>
              <a:srgbClr val="C3D6F0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733550" y="6434733"/>
            <a:ext cx="457200" cy="285750"/>
          </a:xfrm>
          <a:prstGeom prst="rect">
            <a:avLst/>
          </a:prstGeom>
          <a:solidFill>
            <a:srgbClr val="EAF1FB"/>
          </a:solidFill>
        </p:spPr>
        <p:txBody>
          <a:bodyPr/>
          <a:p/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50" y="6434733"/>
            <a:ext cx="457200" cy="285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85900" y="3505200"/>
            <a:ext cx="867537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8A92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老师的片段 ——</a:t>
            </a:r>
            <a:endParaRPr lang="en-US" sz="2250" dirty="0"/>
          </a:p>
        </p:txBody>
      </p:sp>
      <p:sp>
        <p:nvSpPr>
          <p:cNvPr id="12" name="Text 8"/>
          <p:cNvSpPr/>
          <p:nvPr/>
        </p:nvSpPr>
        <p:spPr>
          <a:xfrm>
            <a:off x="1485900" y="4038600"/>
            <a:ext cx="8123301" cy="211038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60960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穿越到二十年后，我看见了我的家乡。家乡的变化真大呀。街道变得更干净了，楼房也更高了，人们的生活比以前方便了许多。到处都是绿树和鲜花，家乡变得越来越美丽了。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10229850" y="3143250"/>
            <a:ext cx="7010400" cy="3329583"/>
          </a:xfrm>
          <a:prstGeom prst="roundRect">
            <a:avLst>
              <a:gd name="adj" fmla="val 8010"/>
            </a:avLst>
          </a:prstGeom>
          <a:solidFill>
            <a:srgbClr val="EAF1FB"/>
          </a:solidFill>
          <a:ln w="19050">
            <a:solidFill>
              <a:srgbClr val="C3D6F0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10915650" y="6434733"/>
            <a:ext cx="457200" cy="285750"/>
          </a:xfrm>
          <a:prstGeom prst="rect">
            <a:avLst/>
          </a:prstGeom>
          <a:solidFill>
            <a:srgbClr val="EAF1FB"/>
          </a:solidFill>
        </p:spPr>
        <p:txBody>
          <a:bodyPr/>
          <a:p/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5650" y="6434733"/>
            <a:ext cx="457200" cy="2857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668000" y="3505200"/>
            <a:ext cx="674751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8A92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朋友想了想 ——</a:t>
            </a:r>
            <a:endParaRPr lang="en-US" sz="2250" dirty="0"/>
          </a:p>
        </p:txBody>
      </p:sp>
      <p:sp>
        <p:nvSpPr>
          <p:cNvPr id="17" name="Text 12"/>
          <p:cNvSpPr/>
          <p:nvPr/>
        </p:nvSpPr>
        <p:spPr>
          <a:xfrm>
            <a:off x="10668000" y="4038600"/>
            <a:ext cx="6318123" cy="120372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"这变化也没多大，听上去好像 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也就过了三年 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的样子。"</a:t>
            </a:r>
            <a:endParaRPr lang="en-US" sz="2700" dirty="0"/>
          </a:p>
        </p:txBody>
      </p:sp>
      <p:sp>
        <p:nvSpPr>
          <p:cNvPr id="18" name="Shape 13"/>
          <p:cNvSpPr/>
          <p:nvPr/>
        </p:nvSpPr>
        <p:spPr>
          <a:xfrm>
            <a:off x="1047750" y="7814370"/>
            <a:ext cx="16192500" cy="1043880"/>
          </a:xfrm>
          <a:prstGeom prst="roundRect">
            <a:avLst>
              <a:gd name="adj" fmla="val 16424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1466850" y="8100120"/>
            <a:ext cx="16889730" cy="5104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心里设想的明明是 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二十年之后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，听的人却只感受到三年的变化——这个问题先放一放，待会儿再来好好找原因。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猜一猜：问题出在哪儿？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答案就藏在今天要学的写法里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9565779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</p:spPr>
      </p:sp>
      <p:sp>
        <p:nvSpPr>
          <p:cNvPr id="6" name="Text 3"/>
          <p:cNvSpPr/>
          <p:nvPr/>
        </p:nvSpPr>
        <p:spPr>
          <a:xfrm>
            <a:off x="1466850" y="1581150"/>
            <a:ext cx="9600337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这两节课的任务——写一篇 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《二十年后的家乡》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667000"/>
            <a:ext cx="16192500" cy="847725"/>
          </a:xfrm>
          <a:prstGeom prst="roundRect">
            <a:avLst>
              <a:gd name="adj" fmla="val 17978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28750" y="2876550"/>
            <a:ext cx="1697355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开启一场时空穿越，亲眼看一看二十年后家乡的模样；全部写完之后，还要开一场 </a:t>
            </a:r>
            <a:r>
              <a:rPr 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"未来分享会"</a:t>
            </a:r>
            <a:r>
              <a:rPr lang="en-US" sz="255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550" dirty="0"/>
          </a:p>
        </p:txBody>
      </p:sp>
      <p:sp>
        <p:nvSpPr>
          <p:cNvPr id="9" name="Shape 6"/>
          <p:cNvSpPr/>
          <p:nvPr/>
        </p:nvSpPr>
        <p:spPr>
          <a:xfrm>
            <a:off x="12684760" y="4000500"/>
            <a:ext cx="4572000" cy="2634258"/>
          </a:xfrm>
          <a:prstGeom prst="roundRect">
            <a:avLst>
              <a:gd name="adj" fmla="val 6508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3037185" y="4314825"/>
            <a:ext cx="4253865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325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不妨</a:t>
            </a:r>
            <a:r>
              <a:rPr lang="en-US" sz="2325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算一算 ——</a:t>
            </a:r>
            <a:endParaRPr lang="en-US" sz="2325" dirty="0"/>
          </a:p>
        </p:txBody>
      </p:sp>
      <p:sp>
        <p:nvSpPr>
          <p:cNvPr id="11" name="Text 8"/>
          <p:cNvSpPr/>
          <p:nvPr/>
        </p:nvSpPr>
        <p:spPr>
          <a:xfrm>
            <a:off x="13037185" y="4857750"/>
            <a:ext cx="3983165" cy="150078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二十年后是 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2046 年 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，那时你 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三十岁出头 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——再回到这片从小长大的土地。</a:t>
            </a:r>
            <a:endParaRPr lang="en-US" sz="2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4760" y="6882408"/>
            <a:ext cx="4572000" cy="22860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126490" y="405765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1337231" y="4162425"/>
            <a:ext cx="26417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1983740" y="4114800"/>
            <a:ext cx="10399395" cy="10048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四人小组内，每人朗读自己习作中的一个片段——其他同学 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只听、不看文稿</a:t>
            </a:r>
            <a:endParaRPr lang="en-US" sz="2625" dirty="0"/>
          </a:p>
        </p:txBody>
      </p:sp>
      <p:sp>
        <p:nvSpPr>
          <p:cNvPr id="16" name="Shape 12"/>
          <p:cNvSpPr/>
          <p:nvPr/>
        </p:nvSpPr>
        <p:spPr>
          <a:xfrm>
            <a:off x="1126490" y="5443538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1337231" y="5548313"/>
            <a:ext cx="26417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1983740" y="5500688"/>
            <a:ext cx="10399395" cy="10048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听完给两点反馈：哪里的想象 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最有意思</a:t>
            </a: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；哪一处画面 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最具体 </a:t>
            </a: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，仿佛亲眼看见</a:t>
            </a:r>
            <a:endParaRPr lang="en-US" sz="2625" dirty="0"/>
          </a:p>
        </p:txBody>
      </p:sp>
      <p:sp>
        <p:nvSpPr>
          <p:cNvPr id="19" name="Shape 15"/>
          <p:cNvSpPr/>
          <p:nvPr/>
        </p:nvSpPr>
        <p:spPr>
          <a:xfrm>
            <a:off x="1126490" y="6829425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1337231" y="6934200"/>
            <a:ext cx="26417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1983740" y="6886575"/>
            <a:ext cx="6969925" cy="52149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再邀请几位同学，把自己的片段 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读给全班欣赏</a:t>
            </a:r>
            <a:endParaRPr lang="en-US" sz="2625" dirty="0"/>
          </a:p>
        </p:txBody>
      </p:sp>
      <p:sp>
        <p:nvSpPr>
          <p:cNvPr id="22" name="Text 18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这里是你长大的地方——文章结尾，还要写下你 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对这片故土的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感受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打开想象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940105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</p:spPr>
      </p:sp>
      <p:sp>
        <p:nvSpPr>
          <p:cNvPr id="6" name="Text 3"/>
          <p:cNvSpPr/>
          <p:nvPr/>
        </p:nvSpPr>
        <p:spPr>
          <a:xfrm>
            <a:off x="1466850" y="1581150"/>
            <a:ext cx="8912096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先从当下找灵感——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这三年,身边什么变样了?</a:t>
            </a:r>
            <a:endParaRPr lang="en-US" sz="3205" dirty="0"/>
          </a:p>
        </p:txBody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1047750" y="4688840"/>
            <a:ext cx="3819525" cy="771525"/>
          </a:xfrm>
          <a:prstGeom prst="roundRect">
            <a:avLst>
              <a:gd name="adj" fmla="val 17284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8" name="Text 5"/>
          <p:cNvSpPr/>
          <p:nvPr>
            <p:custDataLst>
              <p:tags r:id="rId3"/>
            </p:custDataLst>
          </p:nvPr>
        </p:nvSpPr>
        <p:spPr>
          <a:xfrm>
            <a:off x="1333500" y="4879340"/>
            <a:ext cx="3572828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楼下空地铺上了塑胶跑道</a:t>
            </a:r>
            <a:endParaRPr lang="en-US" sz="2325" dirty="0"/>
          </a:p>
        </p:txBody>
      </p:sp>
      <p:sp>
        <p:nvSpPr>
          <p:cNvPr id="9" name="Shape 6"/>
          <p:cNvSpPr/>
          <p:nvPr>
            <p:custDataLst>
              <p:tags r:id="rId4"/>
            </p:custDataLst>
          </p:nvPr>
        </p:nvSpPr>
        <p:spPr>
          <a:xfrm>
            <a:off x="5057775" y="4688840"/>
            <a:ext cx="3524250" cy="771525"/>
          </a:xfrm>
          <a:prstGeom prst="roundRect">
            <a:avLst>
              <a:gd name="adj" fmla="val 17284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10" name="Text 7"/>
          <p:cNvSpPr/>
          <p:nvPr>
            <p:custDataLst>
              <p:tags r:id="rId5"/>
            </p:custDataLst>
          </p:nvPr>
        </p:nvSpPr>
        <p:spPr>
          <a:xfrm>
            <a:off x="5343525" y="4879340"/>
            <a:ext cx="3248025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路口去年装上了红绿灯</a:t>
            </a:r>
            <a:endParaRPr lang="en-US" sz="2325" dirty="0"/>
          </a:p>
        </p:txBody>
      </p:sp>
      <p:sp>
        <p:nvSpPr>
          <p:cNvPr id="11" name="Shape 8"/>
          <p:cNvSpPr/>
          <p:nvPr>
            <p:custDataLst>
              <p:tags r:id="rId6"/>
            </p:custDataLst>
          </p:nvPr>
        </p:nvSpPr>
        <p:spPr>
          <a:xfrm>
            <a:off x="8772525" y="4688840"/>
            <a:ext cx="3903911" cy="771525"/>
          </a:xfrm>
          <a:prstGeom prst="roundRect">
            <a:avLst>
              <a:gd name="adj" fmla="val 17284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12" name="Text 9"/>
          <p:cNvSpPr/>
          <p:nvPr>
            <p:custDataLst>
              <p:tags r:id="rId7"/>
            </p:custDataLst>
          </p:nvPr>
        </p:nvSpPr>
        <p:spPr>
          <a:xfrm>
            <a:off x="9058275" y="4879340"/>
            <a:ext cx="3665652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文具店关了,新开了水果店</a:t>
            </a:r>
            <a:endParaRPr lang="en-US" sz="2325" dirty="0"/>
          </a:p>
        </p:txBody>
      </p:sp>
      <p:sp>
        <p:nvSpPr>
          <p:cNvPr id="15" name="Shape 12"/>
          <p:cNvSpPr/>
          <p:nvPr/>
        </p:nvSpPr>
        <p:spPr>
          <a:xfrm>
            <a:off x="1047750" y="2814320"/>
            <a:ext cx="16192500" cy="1295400"/>
          </a:xfrm>
          <a:prstGeom prst="roundRect">
            <a:avLst>
              <a:gd name="adj" fmla="val 11765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428750" y="3061970"/>
            <a:ext cx="15893415" cy="838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四人小组轮流说，每人简单两句就行：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以前什么样，现在什么样 </a:t>
            </a:r>
            <a:r>
              <a:rPr lang="en-US" sz="24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——小区、上学的路、常去的小店、楼下的空地，都可以。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1047750" y="6355080"/>
            <a:ext cx="16192500" cy="1150590"/>
          </a:xfrm>
          <a:prstGeom prst="roundRect">
            <a:avLst>
              <a:gd name="adj" fmla="val 14901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485900" y="6678930"/>
            <a:ext cx="16847820" cy="5409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短短三年，身边就有这么多改变——</a:t>
            </a:r>
            <a:r>
              <a:rPr lang="en-US" sz="24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二十年，可比三年漫长得多</a:t>
            </a:r>
            <a:r>
              <a:rPr lang="en-US" sz="24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475" dirty="0"/>
          </a:p>
        </p:txBody>
      </p:sp>
      <p:sp>
        <p:nvSpPr>
          <p:cNvPr id="19" name="Text 16"/>
          <p:cNvSpPr/>
          <p:nvPr/>
        </p:nvSpPr>
        <p:spPr>
          <a:xfrm>
            <a:off x="1047750" y="8470900"/>
            <a:ext cx="1781175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觉得"我家那儿什么都没变"？想想家里 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最近添的新东西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——它二十年后又会变成什么样？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打开想象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060085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</p:spPr>
      </p:sp>
      <p:sp>
        <p:nvSpPr>
          <p:cNvPr id="6" name="Text 3"/>
          <p:cNvSpPr/>
          <p:nvPr/>
        </p:nvSpPr>
        <p:spPr>
          <a:xfrm>
            <a:off x="1466850" y="1581150"/>
            <a:ext cx="7944073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二十年后的巨变——从 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三个方面 </a:t>
            </a: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想开去</a:t>
            </a:r>
            <a:endParaRPr lang="en-US" sz="3205" dirty="0"/>
          </a:p>
        </p:txBody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1047750" y="2952750"/>
            <a:ext cx="5181600" cy="2531864"/>
          </a:xfrm>
          <a:prstGeom prst="roundRect">
            <a:avLst>
              <a:gd name="adj" fmla="val 6772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>
            <p:custDataLst>
              <p:tags r:id="rId3"/>
            </p:custDataLst>
          </p:nvPr>
        </p:nvSpPr>
        <p:spPr>
          <a:xfrm>
            <a:off x="1057275" y="2962275"/>
            <a:ext cx="5162550" cy="733425"/>
          </a:xfrm>
          <a:custGeom>
            <a:avLst/>
            <a:gdLst/>
            <a:ahLst/>
            <a:cxnLst/>
            <a:rect l="l" t="t" r="r" b="b"/>
            <a:pathLst>
              <a:path w="5162550" h="733425">
                <a:moveTo>
                  <a:pt x="171450" y="0"/>
                </a:moveTo>
                <a:lnTo>
                  <a:pt x="4991100" y="0"/>
                </a:lnTo>
                <a:arcTo wR="171450" hR="171450" stAng="16200000" swAng="5400000"/>
                <a:lnTo>
                  <a:pt x="5162550" y="733425"/>
                </a:lnTo>
                <a:lnTo>
                  <a:pt x="0" y="733425"/>
                </a:lnTo>
                <a:lnTo>
                  <a:pt x="0" y="171450"/>
                </a:lnTo>
                <a:arcTo wR="171450" hR="171450" stAng="10800000" swAng="5400000"/>
                <a:close/>
              </a:path>
            </a:pathLst>
          </a:custGeom>
          <a:solidFill>
            <a:srgbClr val="3D4A63"/>
          </a:solidFill>
        </p:spPr>
        <p:txBody>
          <a:bodyPr/>
          <a:p/>
        </p:txBody>
      </p:sp>
      <p:pic>
        <p:nvPicPr>
          <p:cNvPr id="9" name="Image 1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57275" y="2962275"/>
            <a:ext cx="5162550" cy="733425"/>
          </a:xfrm>
          <a:prstGeom prst="rect">
            <a:avLst/>
          </a:prstGeom>
        </p:spPr>
      </p:pic>
      <p:sp>
        <p:nvSpPr>
          <p:cNvPr id="11" name="Text 7"/>
          <p:cNvSpPr/>
          <p:nvPr>
            <p:custDataLst>
              <p:tags r:id="rId6"/>
            </p:custDataLst>
          </p:nvPr>
        </p:nvSpPr>
        <p:spPr>
          <a:xfrm>
            <a:off x="1343025" y="3943350"/>
            <a:ext cx="4745926" cy="1322189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家乡的小河、池塘、成片的绿地，天天走的大马路、街边的花草——二十年后是什么样子？</a:t>
            </a:r>
            <a:endParaRPr lang="en-US" sz="2175" dirty="0"/>
          </a:p>
        </p:txBody>
      </p:sp>
      <p:sp>
        <p:nvSpPr>
          <p:cNvPr id="12" name="Shape 8"/>
          <p:cNvSpPr/>
          <p:nvPr>
            <p:custDataLst>
              <p:tags r:id="rId7"/>
            </p:custDataLst>
          </p:nvPr>
        </p:nvSpPr>
        <p:spPr>
          <a:xfrm>
            <a:off x="6553200" y="2952750"/>
            <a:ext cx="5181600" cy="2531864"/>
          </a:xfrm>
          <a:prstGeom prst="roundRect">
            <a:avLst>
              <a:gd name="adj" fmla="val 6772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>
            <p:custDataLst>
              <p:tags r:id="rId8"/>
            </p:custDataLst>
          </p:nvPr>
        </p:nvSpPr>
        <p:spPr>
          <a:xfrm>
            <a:off x="6562725" y="2962275"/>
            <a:ext cx="5162550" cy="733425"/>
          </a:xfrm>
          <a:custGeom>
            <a:avLst/>
            <a:gdLst/>
            <a:ahLst/>
            <a:cxnLst/>
            <a:rect l="l" t="t" r="r" b="b"/>
            <a:pathLst>
              <a:path w="5162550" h="733425">
                <a:moveTo>
                  <a:pt x="171450" y="0"/>
                </a:moveTo>
                <a:lnTo>
                  <a:pt x="4991100" y="0"/>
                </a:lnTo>
                <a:arcTo wR="171450" hR="171450" stAng="16200000" swAng="5400000"/>
                <a:lnTo>
                  <a:pt x="5162550" y="733425"/>
                </a:lnTo>
                <a:lnTo>
                  <a:pt x="0" y="733425"/>
                </a:lnTo>
                <a:lnTo>
                  <a:pt x="0" y="171450"/>
                </a:lnTo>
                <a:arcTo wR="171450" hR="171450" stAng="10800000" swAng="5400000"/>
                <a:close/>
              </a:path>
            </a:pathLst>
          </a:custGeom>
          <a:solidFill>
            <a:srgbClr val="3D4A63"/>
          </a:solidFill>
        </p:spPr>
        <p:txBody>
          <a:bodyPr/>
          <a:p/>
        </p:txBody>
      </p:sp>
      <p:pic>
        <p:nvPicPr>
          <p:cNvPr id="14" name="Image 2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562725" y="2962275"/>
            <a:ext cx="5162550" cy="733425"/>
          </a:xfrm>
          <a:prstGeom prst="rect">
            <a:avLst/>
          </a:prstGeom>
        </p:spPr>
      </p:pic>
      <p:sp>
        <p:nvSpPr>
          <p:cNvPr id="16" name="Text 11"/>
          <p:cNvSpPr/>
          <p:nvPr>
            <p:custDataLst>
              <p:tags r:id="rId11"/>
            </p:custDataLst>
          </p:nvPr>
        </p:nvSpPr>
        <p:spPr>
          <a:xfrm>
            <a:off x="6848475" y="3943350"/>
            <a:ext cx="4745926" cy="1322189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家里长辈现在的工作，还会像现在这样干吗？又会由谁来做？ </a:t>
            </a: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货车自己开、果子机器摘 </a:t>
            </a: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……</a:t>
            </a:r>
            <a:endParaRPr lang="en-US" sz="2175" dirty="0"/>
          </a:p>
        </p:txBody>
      </p:sp>
      <p:sp>
        <p:nvSpPr>
          <p:cNvPr id="17" name="Shape 12"/>
          <p:cNvSpPr/>
          <p:nvPr>
            <p:custDataLst>
              <p:tags r:id="rId12"/>
            </p:custDataLst>
          </p:nvPr>
        </p:nvSpPr>
        <p:spPr>
          <a:xfrm>
            <a:off x="12058650" y="2952750"/>
            <a:ext cx="5181600" cy="2531864"/>
          </a:xfrm>
          <a:prstGeom prst="roundRect">
            <a:avLst>
              <a:gd name="adj" fmla="val 6772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8" name="Shape 13"/>
          <p:cNvSpPr/>
          <p:nvPr>
            <p:custDataLst>
              <p:tags r:id="rId13"/>
            </p:custDataLst>
          </p:nvPr>
        </p:nvSpPr>
        <p:spPr>
          <a:xfrm>
            <a:off x="12068175" y="2962275"/>
            <a:ext cx="5162550" cy="733425"/>
          </a:xfrm>
          <a:custGeom>
            <a:avLst/>
            <a:gdLst/>
            <a:ahLst/>
            <a:cxnLst/>
            <a:rect l="l" t="t" r="r" b="b"/>
            <a:pathLst>
              <a:path w="5162550" h="733425">
                <a:moveTo>
                  <a:pt x="171450" y="0"/>
                </a:moveTo>
                <a:lnTo>
                  <a:pt x="4991100" y="0"/>
                </a:lnTo>
                <a:arcTo wR="171450" hR="171450" stAng="16200000" swAng="5400000"/>
                <a:lnTo>
                  <a:pt x="5162550" y="733425"/>
                </a:lnTo>
                <a:lnTo>
                  <a:pt x="0" y="733425"/>
                </a:lnTo>
                <a:lnTo>
                  <a:pt x="0" y="171450"/>
                </a:lnTo>
                <a:arcTo wR="171450" hR="171450" stAng="10800000" swAng="5400000"/>
                <a:close/>
              </a:path>
            </a:pathLst>
          </a:custGeom>
          <a:solidFill>
            <a:srgbClr val="3D4A63"/>
          </a:solidFill>
        </p:spPr>
        <p:txBody>
          <a:bodyPr/>
          <a:p/>
        </p:txBody>
      </p:sp>
      <p:pic>
        <p:nvPicPr>
          <p:cNvPr id="19" name="Image 3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12068175" y="2962275"/>
            <a:ext cx="5162550" cy="733425"/>
          </a:xfrm>
          <a:prstGeom prst="rect">
            <a:avLst/>
          </a:prstGeom>
        </p:spPr>
      </p:pic>
      <p:sp>
        <p:nvSpPr>
          <p:cNvPr id="21" name="Text 15"/>
          <p:cNvSpPr/>
          <p:nvPr>
            <p:custDataLst>
              <p:tags r:id="rId16"/>
            </p:custDataLst>
          </p:nvPr>
        </p:nvSpPr>
        <p:spPr>
          <a:xfrm>
            <a:off x="12353925" y="3943350"/>
            <a:ext cx="4745926" cy="1322189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学校、操场、菜市场、街边小店；买东西、看病、坐车、吃饭这些日常小事，会有哪些不一样？</a:t>
            </a:r>
            <a:endParaRPr lang="en-US" sz="2175" dirty="0"/>
          </a:p>
        </p:txBody>
      </p:sp>
      <p:sp>
        <p:nvSpPr>
          <p:cNvPr id="22" name="Shape 16"/>
          <p:cNvSpPr/>
          <p:nvPr/>
        </p:nvSpPr>
        <p:spPr>
          <a:xfrm>
            <a:off x="1047750" y="7246739"/>
            <a:ext cx="16192500" cy="1516261"/>
          </a:xfrm>
          <a:prstGeom prst="roundRect">
            <a:avLst>
              <a:gd name="adj" fmla="val 11307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23" name="Text 17"/>
          <p:cNvSpPr/>
          <p:nvPr/>
        </p:nvSpPr>
        <p:spPr>
          <a:xfrm>
            <a:off x="1466850" y="7532489"/>
            <a:ext cx="15814929" cy="98286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还有一个温暖的小细节——穿越过去，你可能 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遇见谁 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？儿时的伙伴、很久没见的小学老师、熟悉的街坊……写进去，文章更动人。</a:t>
            </a:r>
            <a:endParaRPr lang="en-US" sz="2400" dirty="0"/>
          </a:p>
        </p:txBody>
      </p:sp>
      <p:sp>
        <p:nvSpPr>
          <p:cNvPr id="24" name="Text 18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不用面面俱到——选 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两三处你最熟悉、最有话说 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的，记在心里，等会儿填进提纲。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9159032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</p:spPr>
      </p:sp>
      <p:sp>
        <p:nvSpPr>
          <p:cNvPr id="6" name="Text 3"/>
          <p:cNvSpPr/>
          <p:nvPr/>
        </p:nvSpPr>
        <p:spPr>
          <a:xfrm>
            <a:off x="1466850" y="1581150"/>
            <a:ext cx="9152915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两段开头，只有一段 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真正写对了</a:t>
            </a: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——是哪段？</a:t>
            </a:r>
            <a:endParaRPr lang="en-US" sz="3205" dirty="0"/>
          </a:p>
        </p:txBody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1047750" y="2857500"/>
            <a:ext cx="7886700" cy="3905250"/>
          </a:xfrm>
          <a:prstGeom prst="roundRect">
            <a:avLst>
              <a:gd name="adj" fmla="val 4390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>
            <p:custDataLst>
              <p:tags r:id="rId3"/>
            </p:custDataLst>
          </p:nvPr>
        </p:nvSpPr>
        <p:spPr>
          <a:xfrm>
            <a:off x="1057275" y="2867025"/>
            <a:ext cx="7867650" cy="742950"/>
          </a:xfrm>
          <a:custGeom>
            <a:avLst/>
            <a:gdLst/>
            <a:ahLst/>
            <a:cxnLst/>
            <a:rect l="l" t="t" r="r" b="b"/>
            <a:pathLst>
              <a:path w="7867650" h="742950">
                <a:moveTo>
                  <a:pt x="171450" y="0"/>
                </a:moveTo>
                <a:lnTo>
                  <a:pt x="7696200" y="0"/>
                </a:lnTo>
                <a:arcTo wR="171450" hR="171450" stAng="16200000" swAng="5400000"/>
                <a:lnTo>
                  <a:pt x="7867650" y="742950"/>
                </a:lnTo>
                <a:lnTo>
                  <a:pt x="0" y="742950"/>
                </a:lnTo>
                <a:lnTo>
                  <a:pt x="0" y="171450"/>
                </a:lnTo>
                <a:arcTo wR="171450" hR="171450" stAng="10800000" swAng="5400000"/>
                <a:close/>
              </a:path>
            </a:pathLst>
          </a:custGeom>
          <a:solidFill>
            <a:srgbClr val="3D4A63"/>
          </a:solidFill>
        </p:spPr>
        <p:txBody>
          <a:bodyPr/>
          <a:p/>
        </p:txBody>
      </p:sp>
      <p:pic>
        <p:nvPicPr>
          <p:cNvPr id="9" name="Image 1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57275" y="2867025"/>
            <a:ext cx="7867650" cy="742950"/>
          </a:xfrm>
          <a:prstGeom prst="rect">
            <a:avLst/>
          </a:prstGeom>
        </p:spPr>
      </p:pic>
      <p:sp>
        <p:nvSpPr>
          <p:cNvPr id="11" name="Shape 7"/>
          <p:cNvSpPr/>
          <p:nvPr>
            <p:custDataLst>
              <p:tags r:id="rId6"/>
            </p:custDataLst>
          </p:nvPr>
        </p:nvSpPr>
        <p:spPr>
          <a:xfrm>
            <a:off x="1057275" y="3609975"/>
            <a:ext cx="7867650" cy="3143250"/>
          </a:xfrm>
          <a:prstGeom prst="rect">
            <a:avLst/>
          </a:prstGeom>
          <a:solidFill>
            <a:srgbClr val="F7F8FA"/>
          </a:solidFill>
        </p:spPr>
        <p:txBody>
          <a:bodyPr/>
          <a:p/>
        </p:txBody>
      </p:sp>
      <p:sp>
        <p:nvSpPr>
          <p:cNvPr id="12" name="Text 8"/>
          <p:cNvSpPr/>
          <p:nvPr>
            <p:custDataLst>
              <p:tags r:id="rId7"/>
            </p:custDataLst>
          </p:nvPr>
        </p:nvSpPr>
        <p:spPr>
          <a:xfrm>
            <a:off x="1381125" y="3895725"/>
            <a:ext cx="7436549" cy="186094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552450" algn="l">
              <a:lnSpc>
                <a:spcPct val="123000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清早的菜市场里挤满了人，卖菜的阿姨把青菜一把把码在木板上，水珠还挂在叶子上。旁边卖豆浆的推车冒着白气，几个上学的孩子端着杯子，一边吹一边喝。街口的早点摊前排着队，油条刚捞出来，滋滋地响。</a:t>
            </a:r>
            <a:endParaRPr lang="en-US" sz="2175" dirty="0"/>
          </a:p>
        </p:txBody>
      </p:sp>
      <p:sp>
        <p:nvSpPr>
          <p:cNvPr id="13" name="Shape 9"/>
          <p:cNvSpPr/>
          <p:nvPr>
            <p:custDataLst>
              <p:tags r:id="rId8"/>
            </p:custDataLst>
          </p:nvPr>
        </p:nvSpPr>
        <p:spPr>
          <a:xfrm>
            <a:off x="9353550" y="2857500"/>
            <a:ext cx="7886700" cy="3905250"/>
          </a:xfrm>
          <a:prstGeom prst="roundRect">
            <a:avLst>
              <a:gd name="adj" fmla="val 4390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>
            <p:custDataLst>
              <p:tags r:id="rId9"/>
            </p:custDataLst>
          </p:nvPr>
        </p:nvSpPr>
        <p:spPr>
          <a:xfrm>
            <a:off x="9363075" y="2867025"/>
            <a:ext cx="7867650" cy="742950"/>
          </a:xfrm>
          <a:custGeom>
            <a:avLst/>
            <a:gdLst/>
            <a:ahLst/>
            <a:cxnLst/>
            <a:rect l="l" t="t" r="r" b="b"/>
            <a:pathLst>
              <a:path w="7867650" h="742950">
                <a:moveTo>
                  <a:pt x="171450" y="0"/>
                </a:moveTo>
                <a:lnTo>
                  <a:pt x="7696200" y="0"/>
                </a:lnTo>
                <a:arcTo wR="171450" hR="171450" stAng="16200000" swAng="5400000"/>
                <a:lnTo>
                  <a:pt x="7867650" y="742950"/>
                </a:lnTo>
                <a:lnTo>
                  <a:pt x="0" y="742950"/>
                </a:lnTo>
                <a:lnTo>
                  <a:pt x="0" y="171450"/>
                </a:lnTo>
                <a:arcTo wR="171450" hR="171450" stAng="10800000" swAng="5400000"/>
                <a:close/>
              </a:path>
            </a:pathLst>
          </a:custGeom>
          <a:solidFill>
            <a:srgbClr val="3D4A63"/>
          </a:solidFill>
        </p:spPr>
        <p:txBody>
          <a:bodyPr/>
          <a:p/>
        </p:txBody>
      </p:sp>
      <p:pic>
        <p:nvPicPr>
          <p:cNvPr id="15" name="Image 2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363075" y="2867025"/>
            <a:ext cx="7867650" cy="742950"/>
          </a:xfrm>
          <a:prstGeom prst="rect">
            <a:avLst/>
          </a:prstGeom>
        </p:spPr>
      </p:pic>
      <p:sp>
        <p:nvSpPr>
          <p:cNvPr id="17" name="Shape 12"/>
          <p:cNvSpPr/>
          <p:nvPr>
            <p:custDataLst>
              <p:tags r:id="rId12"/>
            </p:custDataLst>
          </p:nvPr>
        </p:nvSpPr>
        <p:spPr>
          <a:xfrm>
            <a:off x="9363075" y="3609975"/>
            <a:ext cx="7867650" cy="3143250"/>
          </a:xfrm>
          <a:prstGeom prst="rect">
            <a:avLst/>
          </a:prstGeom>
          <a:solidFill>
            <a:srgbClr val="F7F8FA"/>
          </a:solidFill>
        </p:spPr>
        <p:txBody>
          <a:bodyPr/>
          <a:p/>
        </p:txBody>
      </p:sp>
      <p:sp>
        <p:nvSpPr>
          <p:cNvPr id="18" name="Text 13"/>
          <p:cNvSpPr/>
          <p:nvPr>
            <p:custDataLst>
              <p:tags r:id="rId13"/>
            </p:custDataLst>
          </p:nvPr>
        </p:nvSpPr>
        <p:spPr>
          <a:xfrm>
            <a:off x="9686925" y="3895725"/>
            <a:ext cx="7436549" cy="186094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552450" algn="l">
              <a:lnSpc>
                <a:spcPct val="123000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菜市场搬到了地下一层，地面上原来摆摊的那条街，成了一条长长的花廊。挑好菜扫一下码，菜就顺着小传送带送到地面取货口。 </a:t>
            </a: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从前买完菜，妈妈得马上拎着沉甸甸的袋子；如今她慢悠悠走过花廊，到取货口才拎起封装好的菜。</a:t>
            </a:r>
            <a:endParaRPr lang="en-US" sz="2175" dirty="0"/>
          </a:p>
        </p:txBody>
      </p:sp>
      <p:sp>
        <p:nvSpPr>
          <p:cNvPr id="19" name="Text 14"/>
          <p:cNvSpPr/>
          <p:nvPr/>
        </p:nvSpPr>
        <p:spPr>
          <a:xfrm>
            <a:off x="1047750" y="8772525"/>
            <a:ext cx="17811750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第一段写得</a:t>
            </a: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很细致</a:t>
            </a: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但</a:t>
            </a: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写的 </a:t>
            </a: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全是现在就有的</a:t>
            </a: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——没有一样是二十年后才有的变化。</a:t>
            </a:r>
            <a:endParaRPr lang="en-US" sz="2250" dirty="0"/>
          </a:p>
        </p:txBody>
      </p:sp>
      <p:sp>
        <p:nvSpPr>
          <p:cNvPr id="20" name="Text 15"/>
          <p:cNvSpPr/>
          <p:nvPr/>
        </p:nvSpPr>
        <p:spPr>
          <a:xfrm>
            <a:off x="1047750" y="9339263"/>
            <a:ext cx="17811750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第二段也写了从前——</a:t>
            </a: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写从前，是为了对比、衬出二十年后的变化</a:t>
            </a: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；可以写现在，但不能只写现在。</a:t>
            </a:r>
            <a:endParaRPr lang="en-US" sz="2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010525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</p:spPr>
      </p:sp>
      <p:sp>
        <p:nvSpPr>
          <p:cNvPr id="6" name="Text 3"/>
          <p:cNvSpPr/>
          <p:nvPr/>
        </p:nvSpPr>
        <p:spPr>
          <a:xfrm>
            <a:off x="1466850" y="1581150"/>
            <a:ext cx="7889558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回头看开场那段——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为什么听着像三年?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952750"/>
            <a:ext cx="16192500" cy="1683841"/>
          </a:xfrm>
          <a:prstGeom prst="roundRect">
            <a:avLst>
              <a:gd name="adj" fmla="val 10182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504950" y="3276600"/>
            <a:ext cx="15736443" cy="107424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60960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"街道变得更干净了，楼房也更高了，人们的生活比以前方便了许多。到处都是绿树和鲜花，家乡变得越来越美丽了。"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047750" y="510540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09700" y="4953000"/>
            <a:ext cx="5524500" cy="535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放到 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别的城市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，这几句还成立吗？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1047750" y="5926336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409700" y="5773936"/>
            <a:ext cx="10357009" cy="53518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放到 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三年以后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，还成立吗？</a:t>
            </a:r>
            <a:endParaRPr lang="en-US" sz="2700" dirty="0"/>
          </a:p>
        </p:txBody>
      </p:sp>
      <p:sp>
        <p:nvSpPr>
          <p:cNvPr id="13" name="Shape 10"/>
          <p:cNvSpPr/>
          <p:nvPr/>
        </p:nvSpPr>
        <p:spPr>
          <a:xfrm>
            <a:off x="1047750" y="6747272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409700" y="6594872"/>
            <a:ext cx="10734199" cy="53518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哪个时间、哪座城都适用</a:t>
            </a:r>
            <a:endParaRPr lang="en-US" sz="2700" dirty="0"/>
          </a:p>
        </p:txBody>
      </p:sp>
      <p:sp>
        <p:nvSpPr>
          <p:cNvPr id="15" name="Shape 12"/>
          <p:cNvSpPr/>
          <p:nvPr/>
        </p:nvSpPr>
        <p:spPr>
          <a:xfrm>
            <a:off x="1047750" y="7958138"/>
            <a:ext cx="16192500" cy="900113"/>
          </a:xfrm>
          <a:prstGeom prst="roundRect">
            <a:avLst>
              <a:gd name="adj" fmla="val 16931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428750" y="8186738"/>
            <a:ext cx="16973550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这几句话 </a:t>
            </a:r>
            <a:r>
              <a:rPr 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本身并没有错</a:t>
            </a:r>
            <a:r>
              <a:rPr 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——用来做概括性的总起是可行的；问题在于 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只有概括，没有画面</a:t>
            </a:r>
            <a:r>
              <a:rPr 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325" dirty="0"/>
          </a:p>
        </p:txBody>
      </p:sp>
      <p:sp>
        <p:nvSpPr>
          <p:cNvPr id="17" name="Text 14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句子没错，位置不对——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概括句先留着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，待会儿有它的用处。</a:t>
            </a:r>
            <a:endParaRPr lang="en-US" sz="2605" dirty="0"/>
          </a:p>
        </p:txBody>
      </p:sp>
      <p:sp>
        <p:nvSpPr>
          <p:cNvPr id="18" name="Text 7"/>
          <p:cNvSpPr/>
          <p:nvPr/>
        </p:nvSpPr>
        <p:spPr>
          <a:xfrm>
            <a:off x="6884670" y="4953000"/>
            <a:ext cx="4881880" cy="535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——成立，哪儿都能这么说</a:t>
            </a:r>
            <a:endParaRPr lang="en-US" sz="2700" dirty="0"/>
          </a:p>
        </p:txBody>
      </p:sp>
      <p:sp>
        <p:nvSpPr>
          <p:cNvPr id="19" name="Text 9"/>
          <p:cNvSpPr/>
          <p:nvPr/>
        </p:nvSpPr>
        <p:spPr>
          <a:xfrm>
            <a:off x="5830570" y="5773936"/>
            <a:ext cx="10357009" cy="53518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——也成立，三年街道也能更干净</a:t>
            </a:r>
            <a:endParaRPr lang="en-US" sz="2700" dirty="0"/>
          </a:p>
        </p:txBody>
      </p:sp>
      <p:sp>
        <p:nvSpPr>
          <p:cNvPr id="20" name="Text 11"/>
          <p:cNvSpPr/>
          <p:nvPr/>
        </p:nvSpPr>
        <p:spPr>
          <a:xfrm>
            <a:off x="5453380" y="6619637"/>
            <a:ext cx="10734199" cy="53518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——缺的是 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专属于二十年后的具体画面</a:t>
            </a:r>
            <a:endParaRPr lang="en-US" sz="2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311950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</p:spPr>
      </p:sp>
      <p:sp>
        <p:nvSpPr>
          <p:cNvPr id="6" name="Text 3"/>
          <p:cNvSpPr/>
          <p:nvPr/>
        </p:nvSpPr>
        <p:spPr>
          <a:xfrm>
            <a:off x="1466850" y="1581150"/>
            <a:ext cx="6021125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看老师改——还是 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门口那条街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16192500" cy="2924175"/>
          </a:xfrm>
          <a:prstGeom prst="roundRect">
            <a:avLst>
              <a:gd name="adj" fmla="val 5863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543050" y="3219450"/>
            <a:ext cx="15657957" cy="2238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628650" algn="l">
              <a:lnSpc>
                <a:spcPct val="131000"/>
              </a:lnSpc>
              <a:buNone/>
            </a:pPr>
            <a:r>
              <a:rPr lang="en-US" sz="2475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现在这条街，一到下午四点半就堵得动不了，喇叭声连成一片，路两边停满了车，走路的人得从车缝里侧着身子挤过去。 </a:t>
            </a:r>
            <a:r>
              <a:rPr lang="en-US" sz="24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二十年后， </a:t>
            </a:r>
            <a:r>
              <a:rPr lang="en-US" sz="24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车辆全都停进了地下车库，地面空出来的整片道路，改成了行人步道；原先划停车位的地方，种上了两排大树。 </a:t>
            </a:r>
            <a:r>
              <a:rPr lang="en-US" sz="2475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放学时分，孩子们沿着林荫道走回家，走在道路正中央，再也不用避让来往的车辆。</a:t>
            </a:r>
            <a:endParaRPr lang="en-US" sz="2475" dirty="0"/>
          </a:p>
        </p:txBody>
      </p:sp>
      <p:sp>
        <p:nvSpPr>
          <p:cNvPr id="9" name="Shape 6"/>
          <p:cNvSpPr/>
          <p:nvPr/>
        </p:nvSpPr>
        <p:spPr>
          <a:xfrm>
            <a:off x="1047750" y="7505700"/>
            <a:ext cx="5219700" cy="1385888"/>
          </a:xfrm>
          <a:prstGeom prst="roundRect">
            <a:avLst>
              <a:gd name="adj" fmla="val 10997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323975" y="7762875"/>
            <a:ext cx="513397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从前的样子</a:t>
            </a:r>
            <a:endParaRPr lang="en-US" sz="2175" dirty="0"/>
          </a:p>
        </p:txBody>
      </p:sp>
      <p:sp>
        <p:nvSpPr>
          <p:cNvPr id="11" name="Text 8"/>
          <p:cNvSpPr/>
          <p:nvPr/>
        </p:nvSpPr>
        <p:spPr>
          <a:xfrm>
            <a:off x="1323975" y="8248650"/>
            <a:ext cx="5133975" cy="4238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2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堵得动不了、车缝里侧身挤过去</a:t>
            </a:r>
            <a:endParaRPr lang="en-US" sz="2025" dirty="0"/>
          </a:p>
        </p:txBody>
      </p:sp>
      <p:sp>
        <p:nvSpPr>
          <p:cNvPr id="12" name="Shape 9"/>
          <p:cNvSpPr/>
          <p:nvPr/>
        </p:nvSpPr>
        <p:spPr>
          <a:xfrm>
            <a:off x="6534150" y="7505700"/>
            <a:ext cx="5219700" cy="1385888"/>
          </a:xfrm>
          <a:prstGeom prst="roundRect">
            <a:avLst>
              <a:gd name="adj" fmla="val 10997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810375" y="7762875"/>
            <a:ext cx="513397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二十年后的样子</a:t>
            </a:r>
            <a:endParaRPr lang="en-US" sz="2175" dirty="0"/>
          </a:p>
        </p:txBody>
      </p:sp>
      <p:sp>
        <p:nvSpPr>
          <p:cNvPr id="14" name="Text 11"/>
          <p:cNvSpPr/>
          <p:nvPr/>
        </p:nvSpPr>
        <p:spPr>
          <a:xfrm>
            <a:off x="6810375" y="8248650"/>
            <a:ext cx="5133975" cy="4238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2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车进地库、种上两排大树</a:t>
            </a:r>
            <a:endParaRPr lang="en-US" sz="2025" dirty="0"/>
          </a:p>
        </p:txBody>
      </p:sp>
      <p:sp>
        <p:nvSpPr>
          <p:cNvPr id="15" name="Shape 12"/>
          <p:cNvSpPr/>
          <p:nvPr/>
        </p:nvSpPr>
        <p:spPr>
          <a:xfrm>
            <a:off x="12020550" y="7505700"/>
            <a:ext cx="5219700" cy="1385888"/>
          </a:xfrm>
          <a:prstGeom prst="roundRect">
            <a:avLst>
              <a:gd name="adj" fmla="val 10997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2296775" y="7762875"/>
            <a:ext cx="513397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人物 · 动作</a:t>
            </a:r>
            <a:endParaRPr lang="en-US" sz="2175" dirty="0"/>
          </a:p>
        </p:txBody>
      </p:sp>
      <p:sp>
        <p:nvSpPr>
          <p:cNvPr id="17" name="Text 14"/>
          <p:cNvSpPr/>
          <p:nvPr/>
        </p:nvSpPr>
        <p:spPr>
          <a:xfrm>
            <a:off x="12296775" y="8248650"/>
            <a:ext cx="5133975" cy="4238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2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孩子们走在路中央</a:t>
            </a:r>
            <a:r>
              <a:rPr lang="zh-CN" altLang="en-US" sz="202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202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不用避让</a:t>
            </a:r>
            <a:endParaRPr lang="en-US" sz="2025" dirty="0"/>
          </a:p>
        </p:txBody>
      </p:sp>
      <p:sp>
        <p:nvSpPr>
          <p:cNvPr id="18" name="Text 15"/>
          <p:cNvSpPr/>
          <p:nvPr/>
        </p:nvSpPr>
        <p:spPr>
          <a:xfrm>
            <a:off x="1047750" y="6417945"/>
            <a:ext cx="1781175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哪一处画面让你觉得 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这条街就在眼前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？——说说看。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611838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</p:spPr>
      </p:sp>
      <p:sp>
        <p:nvSpPr>
          <p:cNvPr id="6" name="Text 3"/>
          <p:cNvSpPr/>
          <p:nvPr/>
        </p:nvSpPr>
        <p:spPr>
          <a:xfrm>
            <a:off x="1466850" y="1581150"/>
            <a:ext cx="6351002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今天这两招——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照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 · 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画面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</p:spPr>
      </p:sp>
      <p:sp>
        <p:nvSpPr>
          <p:cNvPr id="8" name="Shape 5"/>
          <p:cNvSpPr/>
          <p:nvPr/>
        </p:nvSpPr>
        <p:spPr>
          <a:xfrm>
            <a:off x="1047750" y="3143250"/>
            <a:ext cx="6096000" cy="5715000"/>
          </a:xfrm>
          <a:prstGeom prst="roundRect">
            <a:avLst>
              <a:gd name="adj" fmla="val 3667"/>
            </a:avLst>
          </a:prstGeom>
          <a:gradFill rotWithShape="1">
            <a:gsLst>
              <a:gs pos="0">
                <a:srgbClr val="3D4A63">
                  <a:alpha val="100000"/>
                </a:srgbClr>
              </a:gs>
              <a:gs pos="100000">
                <a:srgbClr val="2C3650">
                  <a:alpha val="100000"/>
                </a:srgbClr>
              </a:gs>
            </a:gsLst>
            <a:lin ang="2700000" scaled="0"/>
          </a:gra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2565273" y="4613970"/>
            <a:ext cx="3060954" cy="281166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7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对照写 </a:t>
            </a:r>
            <a:r>
              <a:rPr lang="zh-CN" altLang="en-US" sz="7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</a:t>
            </a:r>
            <a:r>
              <a:rPr lang="en-US" sz="7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画面</a:t>
            </a:r>
            <a:endParaRPr lang="en-US" sz="7800" dirty="0"/>
          </a:p>
        </p:txBody>
      </p:sp>
      <p:sp>
        <p:nvSpPr>
          <p:cNvPr id="10" name="Shape 7"/>
          <p:cNvSpPr/>
          <p:nvPr/>
        </p:nvSpPr>
        <p:spPr>
          <a:xfrm>
            <a:off x="8001000" y="348615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362950" y="3352800"/>
            <a:ext cx="9143619" cy="1066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方法一：把现在的样子也写进去——用 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"从前……如今……" 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对照着写，变化才</a:t>
            </a: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展现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出来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8001000" y="489585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362950" y="4762500"/>
            <a:ext cx="9143619" cy="1066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方法二：把变化写成 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看得见的画面 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——有人物、有动作、有地点</a:t>
            </a: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，读者眼前就能浮现出真实的画面</a:t>
            </a:r>
            <a:endParaRPr lang="zh-CN" altLang="en-US" sz="27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001000" y="630555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362950" y="6172200"/>
            <a:ext cx="9143619" cy="1066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概括句别扔——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放在段首点明这一处的变化 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，后面用细节撑住它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一处变化写一个段落、段首先点明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本段内容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——写人、写事物，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这招以后都用得上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410896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</p:spPr>
      </p:sp>
      <p:sp>
        <p:nvSpPr>
          <p:cNvPr id="6" name="Text 3"/>
          <p:cNvSpPr/>
          <p:nvPr/>
        </p:nvSpPr>
        <p:spPr>
          <a:xfrm>
            <a:off x="1466850" y="1581150"/>
            <a:ext cx="7229966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轮到你——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先一句点明，再说出画面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320040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09700" y="3048000"/>
            <a:ext cx="6901889" cy="53518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从刚才想过的变化里，挑 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你最想写的一个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1047750" y="4021336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09700" y="3868936"/>
            <a:ext cx="6901889" cy="53518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第一句：一句话 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点明这里发生了什么变化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1047750" y="4842272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409700" y="4689872"/>
            <a:ext cx="9979819" cy="53518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接着说：变化之后 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具体的画面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——那里有谁？他在做什么？</a:t>
            </a:r>
            <a:endParaRPr lang="en-US" sz="2700" dirty="0"/>
          </a:p>
        </p:txBody>
      </p:sp>
      <p:sp>
        <p:nvSpPr>
          <p:cNvPr id="13" name="Shape 10"/>
          <p:cNvSpPr/>
          <p:nvPr/>
        </p:nvSpPr>
        <p:spPr>
          <a:xfrm>
            <a:off x="1047750" y="5810250"/>
            <a:ext cx="16192500" cy="1613297"/>
          </a:xfrm>
          <a:prstGeom prst="roundRect">
            <a:avLst>
              <a:gd name="adj" fmla="val 10627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485900" y="6115050"/>
            <a:ext cx="15775686" cy="104179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590550" algn="l">
              <a:lnSpc>
                <a:spcPct val="129000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我们小区旁的河边步道，二十年后变得热闹宜人。以前这里杂草丛生，很少有人过来散步；二十年后河岸修整一新，岸边种满花草， </a:t>
            </a:r>
            <a:r>
              <a:rPr lang="en-US" sz="2325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傍晚常有居民沿着河边悠闲散步</a:t>
            </a: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325" dirty="0"/>
          </a:p>
        </p:txBody>
      </p:sp>
      <p:sp>
        <p:nvSpPr>
          <p:cNvPr id="15" name="Shape 12"/>
          <p:cNvSpPr/>
          <p:nvPr/>
        </p:nvSpPr>
        <p:spPr>
          <a:xfrm>
            <a:off x="1047750" y="7958138"/>
            <a:ext cx="16192500" cy="900113"/>
          </a:xfrm>
          <a:prstGeom prst="roundRect">
            <a:avLst>
              <a:gd name="adj" fmla="val 16931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428750" y="8186738"/>
            <a:ext cx="16973550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说不出画面？问问自己——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改造之后，来到这里的人会做些什么？</a:t>
            </a:r>
            <a:r>
              <a:rPr 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抓住一处人物活动往下说。</a:t>
            </a:r>
            <a:endParaRPr lang="en-US" sz="2325" dirty="0"/>
          </a:p>
        </p:txBody>
      </p:sp>
      <p:sp>
        <p:nvSpPr>
          <p:cNvPr id="17" name="Text 14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轻声说给自己听——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说得出画面，就写得出段落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列提纲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597551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</p:spPr>
      </p:sp>
      <p:sp>
        <p:nvSpPr>
          <p:cNvPr id="6" name="Text 3"/>
          <p:cNvSpPr/>
          <p:nvPr/>
        </p:nvSpPr>
        <p:spPr>
          <a:xfrm>
            <a:off x="1466850" y="1581150"/>
            <a:ext cx="6335286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课本提纲</a:t>
            </a: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范例</a:t>
            </a: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四个部分</a:t>
            </a:r>
            <a:endParaRPr lang="en-US" sz="3205" dirty="0"/>
          </a:p>
        </p:txBody>
      </p:sp>
      <p:sp>
        <p:nvSpPr>
          <p:cNvPr id="7" name="Text 4"/>
          <p:cNvSpPr/>
          <p:nvPr/>
        </p:nvSpPr>
        <p:spPr>
          <a:xfrm>
            <a:off x="1047750" y="6702425"/>
            <a:ext cx="8860363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8A92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开头结尾篇幅短，但缺一不可——缺开头没铺垫，缺结尾没落脚。</a:t>
            </a:r>
            <a:endParaRPr lang="en-US" sz="2175" dirty="0"/>
          </a:p>
        </p:txBody>
      </p:sp>
      <p:sp>
        <p:nvSpPr>
          <p:cNvPr id="8" name="Shape 5"/>
          <p:cNvSpPr/>
          <p:nvPr/>
        </p:nvSpPr>
        <p:spPr>
          <a:xfrm>
            <a:off x="1047750" y="2479675"/>
            <a:ext cx="16192500" cy="3895725"/>
          </a:xfrm>
          <a:prstGeom prst="roundRect">
            <a:avLst>
              <a:gd name="adj" fmla="val 3423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57275" y="2489200"/>
            <a:ext cx="16173450" cy="72390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362075" y="2660650"/>
            <a:ext cx="292227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部分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4486275" y="2489200"/>
            <a:ext cx="9525" cy="723900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800600" y="2660650"/>
            <a:ext cx="12507659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写什么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1057275" y="3213100"/>
            <a:ext cx="16173450" cy="69532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362075" y="3375025"/>
            <a:ext cx="292227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题目</a:t>
            </a:r>
            <a:endParaRPr lang="en-US" sz="2175" dirty="0"/>
          </a:p>
        </p:txBody>
      </p:sp>
      <p:sp>
        <p:nvSpPr>
          <p:cNvPr id="15" name="Shape 12"/>
          <p:cNvSpPr/>
          <p:nvPr/>
        </p:nvSpPr>
        <p:spPr>
          <a:xfrm>
            <a:off x="4486275" y="3213100"/>
            <a:ext cx="9525" cy="6953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800600" y="3375025"/>
            <a:ext cx="12507659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二十年后的家乡</a:t>
            </a:r>
            <a:endParaRPr lang="en-US" sz="2175" dirty="0"/>
          </a:p>
        </p:txBody>
      </p:sp>
      <p:sp>
        <p:nvSpPr>
          <p:cNvPr id="17" name="Shape 14"/>
          <p:cNvSpPr/>
          <p:nvPr/>
        </p:nvSpPr>
        <p:spPr>
          <a:xfrm>
            <a:off x="1057275" y="3908425"/>
            <a:ext cx="16173450" cy="6953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362075" y="4070350"/>
            <a:ext cx="292227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</a:t>
            </a:r>
            <a:endParaRPr lang="en-US" sz="2175" dirty="0"/>
          </a:p>
        </p:txBody>
      </p:sp>
      <p:sp>
        <p:nvSpPr>
          <p:cNvPr id="19" name="Shape 16"/>
          <p:cNvSpPr/>
          <p:nvPr/>
        </p:nvSpPr>
        <p:spPr>
          <a:xfrm>
            <a:off x="4486275" y="3908425"/>
            <a:ext cx="9525" cy="6953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4800600" y="4070350"/>
            <a:ext cx="12507659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穿越到二十年后，回到我的家乡</a:t>
            </a:r>
            <a:endParaRPr lang="en-US" sz="2175" dirty="0"/>
          </a:p>
        </p:txBody>
      </p:sp>
      <p:sp>
        <p:nvSpPr>
          <p:cNvPr id="21" name="Shape 18"/>
          <p:cNvSpPr/>
          <p:nvPr/>
        </p:nvSpPr>
        <p:spPr>
          <a:xfrm>
            <a:off x="1057275" y="4603750"/>
            <a:ext cx="16173450" cy="1066800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1362075" y="4765675"/>
            <a:ext cx="2922270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中间 · 三处变化</a:t>
            </a:r>
            <a:endParaRPr lang="en-US" sz="2175" dirty="0"/>
          </a:p>
        </p:txBody>
      </p:sp>
      <p:sp>
        <p:nvSpPr>
          <p:cNvPr id="23" name="Shape 20"/>
          <p:cNvSpPr/>
          <p:nvPr/>
        </p:nvSpPr>
        <p:spPr>
          <a:xfrm>
            <a:off x="4486275" y="4603750"/>
            <a:ext cx="9525" cy="1066800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4800600" y="4765675"/>
            <a:ext cx="12507659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环境：河水清澈，绿树成荫 │ 工作：机器人照料果园 │ 生活：遇见老同学，他开着 3D 打印汽车去郊游</a:t>
            </a:r>
            <a:endParaRPr lang="en-US" sz="2175" dirty="0"/>
          </a:p>
        </p:txBody>
      </p:sp>
      <p:sp>
        <p:nvSpPr>
          <p:cNvPr id="25" name="Shape 22"/>
          <p:cNvSpPr/>
          <p:nvPr/>
        </p:nvSpPr>
        <p:spPr>
          <a:xfrm>
            <a:off x="1057275" y="5670550"/>
            <a:ext cx="16173450" cy="6953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362075" y="5832475"/>
            <a:ext cx="292227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结尾</a:t>
            </a:r>
            <a:endParaRPr lang="en-US" sz="2175" dirty="0"/>
          </a:p>
        </p:txBody>
      </p:sp>
      <p:sp>
        <p:nvSpPr>
          <p:cNvPr id="27" name="Shape 24"/>
          <p:cNvSpPr/>
          <p:nvPr/>
        </p:nvSpPr>
        <p:spPr>
          <a:xfrm>
            <a:off x="4486275" y="5670550"/>
            <a:ext cx="9525" cy="6953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4800600" y="5832475"/>
            <a:ext cx="12507659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抒发自己对二十年后家乡生活的向往</a:t>
            </a:r>
            <a:endParaRPr lang="en-US" sz="2175" dirty="0"/>
          </a:p>
        </p:txBody>
      </p:sp>
      <p:sp>
        <p:nvSpPr>
          <p:cNvPr id="29" name="Shape 26"/>
          <p:cNvSpPr/>
          <p:nvPr/>
        </p:nvSpPr>
        <p:spPr>
          <a:xfrm>
            <a:off x="1047750" y="7324725"/>
            <a:ext cx="16192500" cy="1343025"/>
          </a:xfrm>
          <a:prstGeom prst="roundRect">
            <a:avLst>
              <a:gd name="adj" fmla="val 11348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1428750" y="7553325"/>
            <a:ext cx="15893415" cy="923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现在搭你自己的框架：开头想好一句话——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怎么穿越过去的 </a:t>
            </a:r>
            <a:r>
              <a:rPr 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（一场梦、一次时空穿梭）；结尾先用几个字记下最想表达的感受；中间三行先空着。</a:t>
            </a:r>
            <a:endParaRPr lang="en-US" sz="2325" dirty="0"/>
          </a:p>
        </p:txBody>
      </p:sp>
      <p:sp>
        <p:nvSpPr>
          <p:cNvPr id="31" name="Text 28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提纲不是作文——只帮你理清 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写哪几方面、先写谁后写谁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，文字越短越好。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列提纲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1428750"/>
            <a:ext cx="6625218" cy="6819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9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中间三行怎么填——构思表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1047750" y="2133600"/>
            <a:ext cx="1005840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8A92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只填关键词，每格三五个字，自己看得懂就行（看老师示范填的第一行）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1047750" y="2819400"/>
            <a:ext cx="16192500" cy="2886075"/>
          </a:xfrm>
          <a:prstGeom prst="roundRect">
            <a:avLst>
              <a:gd name="adj" fmla="val 4620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28925"/>
            <a:ext cx="16173450" cy="72390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3000375"/>
            <a:ext cx="370713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哪一方面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5248275" y="2828925"/>
            <a:ext cx="9525" cy="723900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562600" y="3000375"/>
            <a:ext cx="428625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现在什么样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10010775" y="2828925"/>
            <a:ext cx="9525" cy="723900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0325100" y="3000375"/>
            <a:ext cx="6817424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二十年后什么样</a:t>
            </a:r>
            <a:endParaRPr lang="en-US" sz="2250" dirty="0"/>
          </a:p>
        </p:txBody>
      </p:sp>
      <p:sp>
        <p:nvSpPr>
          <p:cNvPr id="14" name="Shape 11"/>
          <p:cNvSpPr/>
          <p:nvPr/>
        </p:nvSpPr>
        <p:spPr>
          <a:xfrm>
            <a:off x="1057275" y="3552825"/>
            <a:ext cx="16173450" cy="71437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362075" y="3724275"/>
            <a:ext cx="370713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门口那条街（交通）</a:t>
            </a:r>
            <a:endParaRPr lang="en-US" sz="2175" dirty="0"/>
          </a:p>
        </p:txBody>
      </p:sp>
      <p:sp>
        <p:nvSpPr>
          <p:cNvPr id="16" name="Shape 13"/>
          <p:cNvSpPr/>
          <p:nvPr/>
        </p:nvSpPr>
        <p:spPr>
          <a:xfrm>
            <a:off x="5248275" y="3552825"/>
            <a:ext cx="9525" cy="7143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5562600" y="3724275"/>
            <a:ext cx="428625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傍晚拥堵，人车拥挤</a:t>
            </a:r>
            <a:endParaRPr lang="en-US" sz="2175" dirty="0"/>
          </a:p>
        </p:txBody>
      </p:sp>
      <p:sp>
        <p:nvSpPr>
          <p:cNvPr id="18" name="Shape 15"/>
          <p:cNvSpPr/>
          <p:nvPr/>
        </p:nvSpPr>
        <p:spPr>
          <a:xfrm>
            <a:off x="10010775" y="3552825"/>
            <a:ext cx="9525" cy="7143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0325100" y="3724275"/>
            <a:ext cx="6817424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车进地库、路边种两排树、行人畅行</a:t>
            </a:r>
            <a:endParaRPr lang="en-US" sz="2175" dirty="0"/>
          </a:p>
        </p:txBody>
      </p:sp>
      <p:sp>
        <p:nvSpPr>
          <p:cNvPr id="20" name="Shape 17"/>
          <p:cNvSpPr/>
          <p:nvPr/>
        </p:nvSpPr>
        <p:spPr>
          <a:xfrm>
            <a:off x="1057275" y="4267200"/>
            <a:ext cx="16173450" cy="71437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362075" y="4438650"/>
            <a:ext cx="370713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9AA6B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＿＿＿＿＿＿＿</a:t>
            </a:r>
            <a:endParaRPr lang="en-US" sz="2175" dirty="0"/>
          </a:p>
        </p:txBody>
      </p:sp>
      <p:sp>
        <p:nvSpPr>
          <p:cNvPr id="22" name="Shape 19"/>
          <p:cNvSpPr/>
          <p:nvPr/>
        </p:nvSpPr>
        <p:spPr>
          <a:xfrm>
            <a:off x="5248275" y="4267200"/>
            <a:ext cx="9525" cy="7143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562600" y="4438650"/>
            <a:ext cx="428625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9AA6B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＿＿＿＿＿＿＿＿＿</a:t>
            </a:r>
            <a:endParaRPr lang="en-US" sz="2175" dirty="0"/>
          </a:p>
        </p:txBody>
      </p:sp>
      <p:sp>
        <p:nvSpPr>
          <p:cNvPr id="24" name="Shape 21"/>
          <p:cNvSpPr/>
          <p:nvPr/>
        </p:nvSpPr>
        <p:spPr>
          <a:xfrm>
            <a:off x="10010775" y="4267200"/>
            <a:ext cx="9525" cy="7143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325100" y="4438650"/>
            <a:ext cx="6817424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9AA6B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＿＿＿＿＿＿＿＿＿＿＿＿</a:t>
            </a:r>
            <a:endParaRPr lang="en-US" sz="2175" dirty="0"/>
          </a:p>
        </p:txBody>
      </p:sp>
      <p:sp>
        <p:nvSpPr>
          <p:cNvPr id="26" name="Shape 23"/>
          <p:cNvSpPr/>
          <p:nvPr/>
        </p:nvSpPr>
        <p:spPr>
          <a:xfrm>
            <a:off x="1057275" y="4981575"/>
            <a:ext cx="16173450" cy="71437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362075" y="5153025"/>
            <a:ext cx="370713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9AA6B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＿＿＿＿＿＿＿</a:t>
            </a:r>
            <a:endParaRPr lang="en-US" sz="2175" dirty="0"/>
          </a:p>
        </p:txBody>
      </p:sp>
      <p:sp>
        <p:nvSpPr>
          <p:cNvPr id="28" name="Shape 25"/>
          <p:cNvSpPr/>
          <p:nvPr/>
        </p:nvSpPr>
        <p:spPr>
          <a:xfrm>
            <a:off x="5248275" y="4981575"/>
            <a:ext cx="9525" cy="7143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5562600" y="5153025"/>
            <a:ext cx="428625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9AA6B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＿＿＿＿＿＿＿＿＿</a:t>
            </a:r>
            <a:endParaRPr lang="en-US" sz="2175" dirty="0"/>
          </a:p>
        </p:txBody>
      </p:sp>
      <p:sp>
        <p:nvSpPr>
          <p:cNvPr id="30" name="Shape 27"/>
          <p:cNvSpPr/>
          <p:nvPr/>
        </p:nvSpPr>
        <p:spPr>
          <a:xfrm>
            <a:off x="10010775" y="4981575"/>
            <a:ext cx="9525" cy="7143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0325100" y="5153025"/>
            <a:ext cx="6817424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9AA6B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＿＿＿＿＿＿＿＿＿＿＿＿</a:t>
            </a:r>
            <a:endParaRPr lang="en-US" sz="2175" dirty="0"/>
          </a:p>
        </p:txBody>
      </p:sp>
      <p:sp>
        <p:nvSpPr>
          <p:cNvPr id="32" name="Shape 29"/>
          <p:cNvSpPr/>
          <p:nvPr/>
        </p:nvSpPr>
        <p:spPr>
          <a:xfrm>
            <a:off x="1047750" y="6441758"/>
            <a:ext cx="16192500" cy="900113"/>
          </a:xfrm>
          <a:prstGeom prst="roundRect">
            <a:avLst>
              <a:gd name="adj" fmla="val 16931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1428750" y="6670358"/>
            <a:ext cx="16973550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选三处变化：环境、交通、日常生活、工作场景、久别重逢的亲友都行——优先填 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能想象出人物活动画面 </a:t>
            </a:r>
            <a:r>
              <a:rPr 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的那几处。</a:t>
            </a:r>
            <a:endParaRPr lang="en-US" sz="2325" dirty="0"/>
          </a:p>
        </p:txBody>
      </p:sp>
      <p:sp>
        <p:nvSpPr>
          <p:cNvPr id="34" name="Text 31"/>
          <p:cNvSpPr/>
          <p:nvPr/>
        </p:nvSpPr>
        <p:spPr>
          <a:xfrm>
            <a:off x="1047750" y="8595360"/>
            <a:ext cx="1781175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填完同桌交换看一眼，只交流两点：哪一栏的关键词让你 </a:t>
            </a:r>
            <a:r>
              <a:rPr lang="en-US" sz="225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脑海里出现画面</a:t>
            </a:r>
            <a:r>
              <a:rPr lang="en-US" sz="225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，哪一栏 </a:t>
            </a:r>
            <a:r>
              <a:rPr lang="en-US" sz="225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还不够具体</a:t>
            </a:r>
            <a:r>
              <a:rPr lang="en-US" sz="225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250" dirty="0"/>
          </a:p>
        </p:txBody>
      </p:sp>
      <p:sp>
        <p:nvSpPr>
          <p:cNvPr id="35" name="Text 32"/>
          <p:cNvSpPr/>
          <p:nvPr/>
        </p:nvSpPr>
        <p:spPr>
          <a:xfrm>
            <a:off x="1047750" y="7647940"/>
            <a:ext cx="1781175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第三栏要落到 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具体事物、人物活动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——别写"更好了""更方便了"。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列提纲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060257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</p:spPr>
      </p:sp>
      <p:sp>
        <p:nvSpPr>
          <p:cNvPr id="6" name="Text 3"/>
          <p:cNvSpPr/>
          <p:nvPr/>
        </p:nvSpPr>
        <p:spPr>
          <a:xfrm>
            <a:off x="1466850" y="1581150"/>
            <a:ext cx="6844263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誊回框架，再 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圈出要详写的一两处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变化</a:t>
            </a:r>
            <a:endParaRPr lang="zh-CN" altLang="en-US" sz="3205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1047750" y="314325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8" name="Text 5"/>
          <p:cNvSpPr/>
          <p:nvPr>
            <p:custDataLst>
              <p:tags r:id="rId3"/>
            </p:custDataLst>
          </p:nvPr>
        </p:nvSpPr>
        <p:spPr>
          <a:xfrm>
            <a:off x="1258491" y="3248025"/>
            <a:ext cx="26417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1905000" y="3219450"/>
            <a:ext cx="9025890" cy="10048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把三处变化誊写到框架里——仿照课本：" 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环境的变化——……；生活的变化——…… </a:t>
            </a: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</a:t>
            </a:r>
            <a:endParaRPr lang="en-US" sz="2625" dirty="0"/>
          </a:p>
        </p:txBody>
      </p:sp>
      <p:sp>
        <p:nvSpPr>
          <p:cNvPr id="10" name="Shape 7"/>
          <p:cNvSpPr/>
          <p:nvPr>
            <p:custDataLst>
              <p:tags r:id="rId5"/>
            </p:custDataLst>
          </p:nvPr>
        </p:nvSpPr>
        <p:spPr>
          <a:xfrm>
            <a:off x="1047750" y="4548188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1" name="Text 8"/>
          <p:cNvSpPr/>
          <p:nvPr>
            <p:custDataLst>
              <p:tags r:id="rId6"/>
            </p:custDataLst>
          </p:nvPr>
        </p:nvSpPr>
        <p:spPr>
          <a:xfrm>
            <a:off x="1258491" y="4652963"/>
            <a:ext cx="26417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9"/>
          <p:cNvSpPr/>
          <p:nvPr>
            <p:custDataLst>
              <p:tags r:id="rId7"/>
            </p:custDataLst>
          </p:nvPr>
        </p:nvSpPr>
        <p:spPr>
          <a:xfrm>
            <a:off x="1905000" y="4624387"/>
            <a:ext cx="9025890" cy="10048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在打算 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重点描写的一到两处 </a:t>
            </a: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前面，画上圆圈——画圈就代表这一处要详写</a:t>
            </a:r>
            <a:endParaRPr lang="en-US" sz="2625" dirty="0"/>
          </a:p>
        </p:txBody>
      </p:sp>
      <p:sp>
        <p:nvSpPr>
          <p:cNvPr id="13" name="Shape 10"/>
          <p:cNvSpPr/>
          <p:nvPr>
            <p:custDataLst>
              <p:tags r:id="rId8"/>
            </p:custDataLst>
          </p:nvPr>
        </p:nvSpPr>
        <p:spPr>
          <a:xfrm>
            <a:off x="1047750" y="5953125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>
            <p:custDataLst>
              <p:tags r:id="rId9"/>
            </p:custDataLst>
          </p:nvPr>
        </p:nvSpPr>
        <p:spPr>
          <a:xfrm>
            <a:off x="1258491" y="6057900"/>
            <a:ext cx="26417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2"/>
          <p:cNvSpPr/>
          <p:nvPr>
            <p:custDataLst>
              <p:tags r:id="rId10"/>
            </p:custDataLst>
          </p:nvPr>
        </p:nvSpPr>
        <p:spPr>
          <a:xfrm>
            <a:off x="1905000" y="6029325"/>
            <a:ext cx="9025890" cy="10048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篇幅 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不用均等 </a:t>
            </a: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——最感兴趣的多写几句，剩下一处简单交代；都一样长，文章就没了主次</a:t>
            </a:r>
            <a:endParaRPr lang="en-US" sz="2625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0" y="3238500"/>
            <a:ext cx="4953000" cy="40005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47750" y="7920038"/>
            <a:ext cx="16192500" cy="938213"/>
          </a:xfrm>
          <a:prstGeom prst="roundRect">
            <a:avLst>
              <a:gd name="adj" fmla="val 16244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428750" y="8167687"/>
            <a:ext cx="16973550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只想得出两处</a:t>
            </a:r>
            <a:r>
              <a:rPr lang="zh-CN" alt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变化</a:t>
            </a:r>
            <a:r>
              <a:rPr 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r>
              <a:rPr 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不用勉强凑齐三处——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两处写充实，好过三处都单薄</a:t>
            </a:r>
            <a:r>
              <a:rPr 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325" dirty="0"/>
          </a:p>
        </p:txBody>
      </p:sp>
      <p:sp>
        <p:nvSpPr>
          <p:cNvPr id="19" name="Text 15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课本的提示——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分段叙述，把重点部分写具体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；这一圈，就是你的"重点"。</a:t>
            </a:r>
            <a:endParaRPr lang="en-US" sz="2605" dirty="0"/>
          </a:p>
        </p:txBody>
      </p:sp>
      <p:pic>
        <p:nvPicPr>
          <p:cNvPr id="20" name="图片 19" descr="191ef1cd430a80e48e2b3a499eba503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588115" y="5327015"/>
            <a:ext cx="248285" cy="2482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3" name="Text 1"/>
          <p:cNvSpPr/>
          <p:nvPr/>
        </p:nvSpPr>
        <p:spPr>
          <a:xfrm>
            <a:off x="1219200" y="609600"/>
            <a:ext cx="371856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列提纲·</a:t>
            </a: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学生互动分享</a:t>
            </a:r>
            <a:endParaRPr lang="zh-CN" altLang="en-US" sz="24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597551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</p:spPr>
      </p:sp>
      <p:sp>
        <p:nvSpPr>
          <p:cNvPr id="6" name="Text 3"/>
          <p:cNvSpPr/>
          <p:nvPr/>
        </p:nvSpPr>
        <p:spPr>
          <a:xfrm>
            <a:off x="1466850" y="1581150"/>
            <a:ext cx="6335286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提纲</a:t>
            </a: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</a:t>
            </a: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四个部分</a:t>
            </a:r>
            <a:endParaRPr lang="en-US" sz="3205" dirty="0"/>
          </a:p>
        </p:txBody>
      </p:sp>
      <p:sp>
        <p:nvSpPr>
          <p:cNvPr id="8" name="Shape 5"/>
          <p:cNvSpPr/>
          <p:nvPr/>
        </p:nvSpPr>
        <p:spPr>
          <a:xfrm>
            <a:off x="1047750" y="2479675"/>
            <a:ext cx="16192500" cy="3895725"/>
          </a:xfrm>
          <a:prstGeom prst="roundRect">
            <a:avLst>
              <a:gd name="adj" fmla="val 3423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57275" y="2489200"/>
            <a:ext cx="16173450" cy="72390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362075" y="2660650"/>
            <a:ext cx="292227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部分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4486275" y="2489200"/>
            <a:ext cx="9525" cy="723900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800600" y="2660650"/>
            <a:ext cx="12507659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写什么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1057275" y="3213100"/>
            <a:ext cx="16173450" cy="69532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362075" y="3375025"/>
            <a:ext cx="292227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题目</a:t>
            </a:r>
            <a:endParaRPr lang="en-US" sz="2175" dirty="0"/>
          </a:p>
        </p:txBody>
      </p:sp>
      <p:sp>
        <p:nvSpPr>
          <p:cNvPr id="15" name="Shape 12"/>
          <p:cNvSpPr/>
          <p:nvPr/>
        </p:nvSpPr>
        <p:spPr>
          <a:xfrm>
            <a:off x="4486275" y="3213100"/>
            <a:ext cx="9525" cy="6953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800600" y="3375025"/>
            <a:ext cx="12507659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二十年后的家乡</a:t>
            </a:r>
            <a:endParaRPr lang="en-US" sz="2175" dirty="0"/>
          </a:p>
        </p:txBody>
      </p:sp>
      <p:sp>
        <p:nvSpPr>
          <p:cNvPr id="17" name="Shape 14"/>
          <p:cNvSpPr/>
          <p:nvPr/>
        </p:nvSpPr>
        <p:spPr>
          <a:xfrm>
            <a:off x="1057275" y="3908425"/>
            <a:ext cx="16173450" cy="6953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362075" y="4070350"/>
            <a:ext cx="292227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</a:t>
            </a:r>
            <a:endParaRPr lang="en-US" sz="2175" dirty="0"/>
          </a:p>
        </p:txBody>
      </p:sp>
      <p:sp>
        <p:nvSpPr>
          <p:cNvPr id="19" name="Shape 16"/>
          <p:cNvSpPr/>
          <p:nvPr/>
        </p:nvSpPr>
        <p:spPr>
          <a:xfrm>
            <a:off x="4486275" y="3908425"/>
            <a:ext cx="9525" cy="6953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4800600" y="4070350"/>
            <a:ext cx="12507659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一场梦境带我穿越回到家乡</a:t>
            </a:r>
            <a:endParaRPr lang="zh-CN" altLang="en-US" sz="2175" dirty="0">
              <a:solidFill>
                <a:srgbClr val="5B647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1057275" y="4603750"/>
            <a:ext cx="16173450" cy="1066800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1362075" y="4765675"/>
            <a:ext cx="2922270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中间 · 三处变化</a:t>
            </a:r>
            <a:endParaRPr lang="en-US" sz="2175" dirty="0"/>
          </a:p>
        </p:txBody>
      </p:sp>
      <p:sp>
        <p:nvSpPr>
          <p:cNvPr id="23" name="Shape 20"/>
          <p:cNvSpPr/>
          <p:nvPr/>
        </p:nvSpPr>
        <p:spPr>
          <a:xfrm>
            <a:off x="4486275" y="4603750"/>
            <a:ext cx="9525" cy="1066800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4800600" y="4765675"/>
            <a:ext cx="12507659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环境：</a:t>
            </a:r>
            <a:r>
              <a:rPr lang="zh-CN" alt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家门前的小河，更清了</a:t>
            </a: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│ </a:t>
            </a:r>
            <a:r>
              <a:rPr lang="zh-CN" alt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生活</a:t>
            </a: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zh-CN" alt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小区休闲广场，纳米材料地面，按摩双脚</a:t>
            </a: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│ </a:t>
            </a:r>
            <a:r>
              <a:rPr lang="zh-CN" alt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</a:t>
            </a: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zh-CN" alt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爸爸经营的工厂，机器人化身全能维修工</a:t>
            </a:r>
            <a:endParaRPr lang="zh-CN" altLang="en-US" sz="2175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1057275" y="5670550"/>
            <a:ext cx="16173450" cy="6953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362075" y="5832475"/>
            <a:ext cx="292227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结尾</a:t>
            </a:r>
            <a:endParaRPr lang="en-US" sz="2175" dirty="0"/>
          </a:p>
        </p:txBody>
      </p:sp>
      <p:sp>
        <p:nvSpPr>
          <p:cNvPr id="27" name="Shape 24"/>
          <p:cNvSpPr/>
          <p:nvPr/>
        </p:nvSpPr>
        <p:spPr>
          <a:xfrm>
            <a:off x="4486275" y="5670550"/>
            <a:ext cx="9525" cy="6953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4800600" y="5832475"/>
            <a:ext cx="12507659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真希望家乡能够越来越美好</a:t>
            </a:r>
            <a:endParaRPr lang="zh-CN" altLang="en-US" sz="2175" dirty="0">
              <a:solidFill>
                <a:srgbClr val="5B647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教师示范文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09700"/>
            <a:ext cx="9082832" cy="838200"/>
          </a:xfrm>
          <a:prstGeom prst="roundRect">
            <a:avLst>
              <a:gd name="adj" fmla="val 22727"/>
            </a:avLst>
          </a:prstGeom>
          <a:solidFill>
            <a:srgbClr val="FCE7EA"/>
          </a:solidFill>
        </p:spPr>
      </p:sp>
      <p:sp>
        <p:nvSpPr>
          <p:cNvPr id="6" name="Text 3"/>
          <p:cNvSpPr/>
          <p:nvPr/>
        </p:nvSpPr>
        <p:spPr>
          <a:xfrm>
            <a:off x="1428750" y="1562100"/>
            <a:ext cx="9152915" cy="571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听老师读——一边听，一边 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数数写了几处变化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266950"/>
            <a:ext cx="16192500" cy="6877050"/>
          </a:xfrm>
          <a:prstGeom prst="roundRect">
            <a:avLst>
              <a:gd name="adj" fmla="val 2493"/>
            </a:avLst>
          </a:prstGeom>
          <a:solidFill>
            <a:srgbClr val="F7F5F2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600200" y="2552700"/>
            <a:ext cx="1659636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495300" algn="just">
              <a:lnSpc>
                <a:spcPct val="111000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一阵微光闪过，我竟然穿越来到了二十年后的家乡。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600200" y="3009900"/>
            <a:ext cx="15540228" cy="1152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495300" algn="just">
              <a:lnSpc>
                <a:spcPct val="111000"/>
              </a:lnSpc>
              <a:buNone/>
            </a:pPr>
            <a:r>
              <a:rPr lang="en-US" sz="195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最先让我认不出来的是村东那条小河。 </a:t>
            </a:r>
            <a:r>
              <a:rPr lang="en-US" sz="1950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小时候河水浑浊，一到夏天水面就泛着绿藻，岸边散落着塑料袋、碎砖块，大人都不许我们靠近。 </a:t>
            </a:r>
            <a:r>
              <a:rPr lang="en-US" sz="19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二十年后再去看，</a:t>
            </a:r>
            <a:r>
              <a:rPr lang="en-US" sz="19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河水清澈见底，水底的鹅卵石看得一清二楚，小鱼贴着水底自在地游动</a:t>
            </a:r>
            <a:r>
              <a:rPr lang="en-US" sz="19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。河边建起了木栈道， </a:t>
            </a:r>
            <a:r>
              <a:rPr lang="en-US" sz="1950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几位老人坐在栈道边垂钓；还有一个孩子卷起裤腿，蹲在浅水边玩耍，一旁的妈妈微笑着守在他身边 </a:t>
            </a:r>
            <a:r>
              <a:rPr lang="en-US" sz="19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600200" y="4210050"/>
            <a:ext cx="15540228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495300" algn="just">
              <a:lnSpc>
                <a:spcPct val="111000"/>
              </a:lnSpc>
              <a:buNone/>
            </a:pPr>
            <a:r>
              <a:rPr lang="en-US" sz="195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我曾经就读的小学，操场也焕然一新。</a:t>
            </a:r>
            <a:r>
              <a:rPr lang="en-US" sz="1950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从前这里是硬邦邦的水泥地，摔一下很容易擦伤皮肤。 </a:t>
            </a:r>
            <a:r>
              <a:rPr lang="en-US" sz="19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如今操场铺上了柔软的暗红色塑胶地面 </a:t>
            </a:r>
            <a:r>
              <a:rPr lang="en-US" sz="19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，看上去漂亮极了。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600200" y="5038725"/>
            <a:ext cx="15540228" cy="1152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495300" algn="just">
              <a:lnSpc>
                <a:spcPct val="111000"/>
              </a:lnSpc>
              <a:buNone/>
            </a:pPr>
            <a:r>
              <a:rPr lang="en-US" sz="195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最不起眼，却最让我感慨的，是奶奶抓药这件小事。 </a:t>
            </a:r>
            <a:r>
              <a:rPr lang="en-US" sz="1950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从前奶奶抓药，得坐四十分钟汽车赶到县城，排一上午长队，常常下午才能到家。 </a:t>
            </a:r>
            <a:r>
              <a:rPr lang="en-US" sz="19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现在镇上卫生院添置了智能配药机，医生录入药方，机器很快就能把药材分装好，药袋上清楚印着服药的时间和次数。 </a:t>
            </a:r>
            <a:r>
              <a:rPr lang="en-US" sz="1950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奶奶把一袋袋药摊在桌上清点，笑着说，这下不用来回折腾赶路，总算有更多时间跟老姐妹们搓搓麻将、唠唠家常了。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600200" y="6238875"/>
            <a:ext cx="15540228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495300" algn="just">
              <a:lnSpc>
                <a:spcPct val="111000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离开家乡的时候，我的脑海里一直浮现着那条小河。儿时的我没能在清澈的河水里嬉戏，而那个蹲在水边的孩子，替我完成了这个小小的心愿。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047750" y="9410700"/>
            <a:ext cx="1669688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段首点明句</a:t>
            </a:r>
            <a:endParaRPr lang="en-US" sz="2025" dirty="0"/>
          </a:p>
        </p:txBody>
      </p:sp>
      <p:sp>
        <p:nvSpPr>
          <p:cNvPr id="14" name="Text 11"/>
          <p:cNvSpPr/>
          <p:nvPr/>
        </p:nvSpPr>
        <p:spPr>
          <a:xfrm>
            <a:off x="2870448" y="9410700"/>
            <a:ext cx="1669688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从前的样子</a:t>
            </a:r>
            <a:endParaRPr lang="en-US" sz="2025" dirty="0"/>
          </a:p>
        </p:txBody>
      </p:sp>
      <p:sp>
        <p:nvSpPr>
          <p:cNvPr id="15" name="Text 12"/>
          <p:cNvSpPr/>
          <p:nvPr/>
        </p:nvSpPr>
        <p:spPr>
          <a:xfrm>
            <a:off x="4693146" y="9410700"/>
            <a:ext cx="2235473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二十年后的样子</a:t>
            </a:r>
            <a:endParaRPr lang="en-US" sz="2025" dirty="0"/>
          </a:p>
        </p:txBody>
      </p:sp>
      <p:sp>
        <p:nvSpPr>
          <p:cNvPr id="16" name="Text 13"/>
          <p:cNvSpPr/>
          <p:nvPr/>
        </p:nvSpPr>
        <p:spPr>
          <a:xfrm>
            <a:off x="7030194" y="9410700"/>
            <a:ext cx="1679674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人物 · 动作</a:t>
            </a:r>
            <a:endParaRPr lang="en-US" sz="20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读示范文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4619923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</p:spPr>
      </p:sp>
      <p:sp>
        <p:nvSpPr>
          <p:cNvPr id="6" name="Text 3"/>
          <p:cNvSpPr/>
          <p:nvPr/>
        </p:nvSpPr>
        <p:spPr>
          <a:xfrm>
            <a:off x="1466850" y="1581150"/>
            <a:ext cx="4159895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读完，先想 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两个问题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952750"/>
            <a:ext cx="7886700" cy="2986088"/>
          </a:xfrm>
          <a:prstGeom prst="roundRect">
            <a:avLst>
              <a:gd name="adj" fmla="val 5742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66850" y="3333750"/>
            <a:ext cx="775335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问题① 写了几处？篇幅一样长吗？</a:t>
            </a:r>
            <a:endParaRPr lang="en-US" sz="2550" dirty="0"/>
          </a:p>
        </p:txBody>
      </p:sp>
      <p:sp>
        <p:nvSpPr>
          <p:cNvPr id="9" name="Text 6"/>
          <p:cNvSpPr/>
          <p:nvPr>
            <p:custDataLst>
              <p:tags r:id="rId2"/>
            </p:custDataLst>
          </p:nvPr>
        </p:nvSpPr>
        <p:spPr>
          <a:xfrm>
            <a:off x="1466850" y="4010025"/>
            <a:ext cx="361950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详</a:t>
            </a:r>
            <a:endParaRPr lang="en-US" sz="2250" dirty="0"/>
          </a:p>
        </p:txBody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1885950" y="4010025"/>
            <a:ext cx="6336923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村东的小河——写得最长，一笔一笔都在河上</a:t>
            </a:r>
            <a:endParaRPr lang="en-US" sz="2250" dirty="0"/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1466850" y="4576763"/>
            <a:ext cx="361950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b="1" dirty="0">
                <a:solidFill>
                  <a:srgbClr val="9AA6B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略</a:t>
            </a:r>
            <a:endParaRPr lang="en-US" sz="2250" dirty="0"/>
          </a:p>
        </p:txBody>
      </p:sp>
      <p:sp>
        <p:nvSpPr>
          <p:cNvPr id="12" name="Text 9"/>
          <p:cNvSpPr/>
          <p:nvPr>
            <p:custDataLst>
              <p:tags r:id="rId5"/>
            </p:custDataLst>
          </p:nvPr>
        </p:nvSpPr>
        <p:spPr>
          <a:xfrm>
            <a:off x="1885950" y="4576763"/>
            <a:ext cx="5079623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小学操场——只有两三句，点到为止</a:t>
            </a:r>
            <a:endParaRPr lang="en-US" sz="2250" dirty="0"/>
          </a:p>
        </p:txBody>
      </p:sp>
      <p:sp>
        <p:nvSpPr>
          <p:cNvPr id="13" name="Text 10"/>
          <p:cNvSpPr/>
          <p:nvPr>
            <p:custDataLst>
              <p:tags r:id="rId6"/>
            </p:custDataLst>
          </p:nvPr>
        </p:nvSpPr>
        <p:spPr>
          <a:xfrm>
            <a:off x="1466850" y="5143500"/>
            <a:ext cx="361950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详</a:t>
            </a:r>
            <a:endParaRPr lang="en-US" sz="2250" dirty="0"/>
          </a:p>
        </p:txBody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1885950" y="5143500"/>
            <a:ext cx="5393948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奶奶抓药——重点展开，写到了人和事</a:t>
            </a:r>
            <a:endParaRPr lang="en-US" sz="2250" dirty="0"/>
          </a:p>
        </p:txBody>
      </p:sp>
      <p:sp>
        <p:nvSpPr>
          <p:cNvPr id="15" name="Shape 12"/>
          <p:cNvSpPr/>
          <p:nvPr/>
        </p:nvSpPr>
        <p:spPr>
          <a:xfrm>
            <a:off x="9353550" y="2952750"/>
            <a:ext cx="7886700" cy="2986088"/>
          </a:xfrm>
          <a:prstGeom prst="roundRect">
            <a:avLst>
              <a:gd name="adj" fmla="val 5742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772650" y="3333750"/>
            <a:ext cx="775335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问题② 每段的第一句在做什么？</a:t>
            </a:r>
            <a:endParaRPr lang="en-US" sz="2550" dirty="0"/>
          </a:p>
        </p:txBody>
      </p:sp>
      <p:sp>
        <p:nvSpPr>
          <p:cNvPr id="17" name="Text 14"/>
          <p:cNvSpPr/>
          <p:nvPr>
            <p:custDataLst>
              <p:tags r:id="rId8"/>
            </p:custDataLst>
          </p:nvPr>
        </p:nvSpPr>
        <p:spPr>
          <a:xfrm>
            <a:off x="9772650" y="4010025"/>
            <a:ext cx="371475" cy="923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325" dirty="0"/>
          </a:p>
        </p:txBody>
      </p:sp>
      <p:sp>
        <p:nvSpPr>
          <p:cNvPr id="18" name="Text 15"/>
          <p:cNvSpPr/>
          <p:nvPr>
            <p:custDataLst>
              <p:tags r:id="rId9"/>
            </p:custDataLst>
          </p:nvPr>
        </p:nvSpPr>
        <p:spPr>
          <a:xfrm>
            <a:off x="10201275" y="4010025"/>
            <a:ext cx="6818471" cy="923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"最先让我认不出来的是村东那条小河"—— </a:t>
            </a:r>
            <a:r>
              <a:rPr lang="en-US" sz="2325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段首概括句</a:t>
            </a:r>
            <a:endParaRPr lang="en-US" sz="2325" dirty="0"/>
          </a:p>
        </p:txBody>
      </p:sp>
      <p:sp>
        <p:nvSpPr>
          <p:cNvPr id="19" name="Text 16"/>
          <p:cNvSpPr/>
          <p:nvPr>
            <p:custDataLst>
              <p:tags r:id="rId10"/>
            </p:custDataLst>
          </p:nvPr>
        </p:nvSpPr>
        <p:spPr>
          <a:xfrm>
            <a:off x="9772650" y="5105400"/>
            <a:ext cx="371475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325" dirty="0"/>
          </a:p>
        </p:txBody>
      </p:sp>
      <p:sp>
        <p:nvSpPr>
          <p:cNvPr id="20" name="Text 17"/>
          <p:cNvSpPr/>
          <p:nvPr>
            <p:custDataLst>
              <p:tags r:id="rId11"/>
            </p:custDataLst>
          </p:nvPr>
        </p:nvSpPr>
        <p:spPr>
          <a:xfrm>
            <a:off x="10201275" y="5105400"/>
            <a:ext cx="6872913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开门见山，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点明本段的描写对象</a:t>
            </a:r>
            <a:endParaRPr lang="en-US" sz="2325" dirty="0"/>
          </a:p>
        </p:txBody>
      </p:sp>
      <p:sp>
        <p:nvSpPr>
          <p:cNvPr id="21" name="Text 18"/>
          <p:cNvSpPr/>
          <p:nvPr/>
        </p:nvSpPr>
        <p:spPr>
          <a:xfrm>
            <a:off x="1047750" y="9315450"/>
            <a:ext cx="1781175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三处篇幅要是完全相同，读者就看不出你 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最想表达的内容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——详略，是自己定的。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旁批表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483798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</p:spPr>
      </p:sp>
      <p:sp>
        <p:nvSpPr>
          <p:cNvPr id="6" name="Text 3"/>
          <p:cNvSpPr/>
          <p:nvPr/>
        </p:nvSpPr>
        <p:spPr>
          <a:xfrm>
            <a:off x="1466850" y="1581150"/>
            <a:ext cx="8410158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每句在做什么——把 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"变化"的秘密 </a:t>
            </a: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摆出来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933700"/>
            <a:ext cx="16192500" cy="5191125"/>
          </a:xfrm>
          <a:prstGeom prst="roundRect">
            <a:avLst>
              <a:gd name="adj" fmla="val 2569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943225"/>
            <a:ext cx="16173450" cy="771525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3133725"/>
            <a:ext cx="9966389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示范文里的句子</a:t>
            </a:r>
            <a:endParaRPr lang="en-US" sz="2325" dirty="0"/>
          </a:p>
        </p:txBody>
      </p:sp>
      <p:sp>
        <p:nvSpPr>
          <p:cNvPr id="10" name="Shape 7"/>
          <p:cNvSpPr/>
          <p:nvPr/>
        </p:nvSpPr>
        <p:spPr>
          <a:xfrm>
            <a:off x="11325225" y="2943225"/>
            <a:ext cx="9525" cy="771525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1639550" y="3133725"/>
            <a:ext cx="5463540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这一句在做什么</a:t>
            </a:r>
            <a:endParaRPr lang="en-US" sz="2325" dirty="0"/>
          </a:p>
        </p:txBody>
      </p:sp>
      <p:sp>
        <p:nvSpPr>
          <p:cNvPr id="12" name="Shape 9"/>
          <p:cNvSpPr/>
          <p:nvPr/>
        </p:nvSpPr>
        <p:spPr>
          <a:xfrm>
            <a:off x="1057275" y="3714750"/>
            <a:ext cx="16173450" cy="73342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62075" y="3895725"/>
            <a:ext cx="9966389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最先让我认不出来的是村东那条小河</a:t>
            </a:r>
            <a:endParaRPr lang="en-US" sz="2175" dirty="0"/>
          </a:p>
        </p:txBody>
      </p:sp>
      <p:sp>
        <p:nvSpPr>
          <p:cNvPr id="14" name="Shape 11"/>
          <p:cNvSpPr/>
          <p:nvPr/>
        </p:nvSpPr>
        <p:spPr>
          <a:xfrm>
            <a:off x="11325225" y="3714750"/>
            <a:ext cx="9525" cy="7334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1639550" y="3895725"/>
            <a:ext cx="546354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段首点明描写对象：这一段写小河</a:t>
            </a:r>
            <a:endParaRPr lang="en-US" sz="2175" dirty="0"/>
          </a:p>
        </p:txBody>
      </p:sp>
      <p:sp>
        <p:nvSpPr>
          <p:cNvPr id="16" name="Shape 13"/>
          <p:cNvSpPr/>
          <p:nvPr/>
        </p:nvSpPr>
        <p:spPr>
          <a:xfrm>
            <a:off x="1057275" y="4448175"/>
            <a:ext cx="16173450" cy="7334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362075" y="4629150"/>
            <a:ext cx="9966389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小时候河水浑浊，一到夏天就泛着绿藻</a:t>
            </a:r>
            <a:endParaRPr lang="en-US" sz="2175" dirty="0"/>
          </a:p>
        </p:txBody>
      </p:sp>
      <p:sp>
        <p:nvSpPr>
          <p:cNvPr id="18" name="Shape 15"/>
          <p:cNvSpPr/>
          <p:nvPr/>
        </p:nvSpPr>
        <p:spPr>
          <a:xfrm>
            <a:off x="11325225" y="4448175"/>
            <a:ext cx="9525" cy="7334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1639550" y="4629150"/>
            <a:ext cx="546354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写从前的样子</a:t>
            </a:r>
            <a:endParaRPr lang="en-US" sz="2175" dirty="0"/>
          </a:p>
        </p:txBody>
      </p:sp>
      <p:sp>
        <p:nvSpPr>
          <p:cNvPr id="20" name="Shape 17"/>
          <p:cNvSpPr/>
          <p:nvPr/>
        </p:nvSpPr>
        <p:spPr>
          <a:xfrm>
            <a:off x="1057275" y="5181600"/>
            <a:ext cx="16173450" cy="73342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362075" y="5362575"/>
            <a:ext cx="9966389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河水清澈见底，鹅卵石看得一清二楚</a:t>
            </a:r>
            <a:endParaRPr lang="en-US" sz="2175" dirty="0"/>
          </a:p>
        </p:txBody>
      </p:sp>
      <p:sp>
        <p:nvSpPr>
          <p:cNvPr id="22" name="Shape 19"/>
          <p:cNvSpPr/>
          <p:nvPr/>
        </p:nvSpPr>
        <p:spPr>
          <a:xfrm>
            <a:off x="11325225" y="5181600"/>
            <a:ext cx="9525" cy="7334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1639550" y="5362575"/>
            <a:ext cx="546354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二十年后什么样，新旧形成对比</a:t>
            </a:r>
            <a:endParaRPr lang="en-US" sz="2175" dirty="0"/>
          </a:p>
        </p:txBody>
      </p:sp>
      <p:sp>
        <p:nvSpPr>
          <p:cNvPr id="24" name="Shape 21"/>
          <p:cNvSpPr/>
          <p:nvPr/>
        </p:nvSpPr>
        <p:spPr>
          <a:xfrm>
            <a:off x="1057275" y="5915025"/>
            <a:ext cx="16173450" cy="7334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362075" y="6096000"/>
            <a:ext cx="9966389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一个孩子卷起裤腿，蹲在浅水边玩耍</a:t>
            </a:r>
            <a:endParaRPr lang="en-US" sz="2175" dirty="0"/>
          </a:p>
        </p:txBody>
      </p:sp>
      <p:sp>
        <p:nvSpPr>
          <p:cNvPr id="26" name="Shape 23"/>
          <p:cNvSpPr/>
          <p:nvPr/>
        </p:nvSpPr>
        <p:spPr>
          <a:xfrm>
            <a:off x="11325225" y="5915025"/>
            <a:ext cx="9525" cy="7334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1639550" y="6096000"/>
            <a:ext cx="546354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有人、有动作，画面变得鲜活</a:t>
            </a:r>
            <a:endParaRPr lang="en-US" sz="2175" dirty="0"/>
          </a:p>
        </p:txBody>
      </p:sp>
      <p:sp>
        <p:nvSpPr>
          <p:cNvPr id="28" name="Shape 25"/>
          <p:cNvSpPr/>
          <p:nvPr/>
        </p:nvSpPr>
        <p:spPr>
          <a:xfrm>
            <a:off x="1057275" y="6648450"/>
            <a:ext cx="16173450" cy="73342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362075" y="6829425"/>
            <a:ext cx="9966389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我曾经就读的小学，操场也焕然一新</a:t>
            </a:r>
            <a:endParaRPr lang="en-US" sz="2175" dirty="0"/>
          </a:p>
        </p:txBody>
      </p:sp>
      <p:sp>
        <p:nvSpPr>
          <p:cNvPr id="30" name="Shape 27"/>
          <p:cNvSpPr/>
          <p:nvPr/>
        </p:nvSpPr>
        <p:spPr>
          <a:xfrm>
            <a:off x="11325225" y="6648450"/>
            <a:ext cx="9525" cy="7334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1639550" y="6829425"/>
            <a:ext cx="546354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略写部分，同样先用一句话点题</a:t>
            </a:r>
            <a:endParaRPr lang="en-US" sz="2175" dirty="0"/>
          </a:p>
        </p:txBody>
      </p:sp>
      <p:sp>
        <p:nvSpPr>
          <p:cNvPr id="32" name="Shape 29"/>
          <p:cNvSpPr/>
          <p:nvPr/>
        </p:nvSpPr>
        <p:spPr>
          <a:xfrm>
            <a:off x="1057275" y="7381875"/>
            <a:ext cx="16173450" cy="7334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1362075" y="7562850"/>
            <a:ext cx="9966389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现在镇上卫生院添置了智能配药机</a:t>
            </a:r>
            <a:endParaRPr lang="en-US" sz="2175" dirty="0"/>
          </a:p>
        </p:txBody>
      </p:sp>
      <p:sp>
        <p:nvSpPr>
          <p:cNvPr id="34" name="Shape 31"/>
          <p:cNvSpPr/>
          <p:nvPr/>
        </p:nvSpPr>
        <p:spPr>
          <a:xfrm>
            <a:off x="11325225" y="7381875"/>
            <a:ext cx="9525" cy="7334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11639550" y="7562850"/>
            <a:ext cx="546354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二十年后的样子，变化一目了然</a:t>
            </a:r>
            <a:endParaRPr lang="en-US" sz="2175" dirty="0"/>
          </a:p>
        </p:txBody>
      </p:sp>
      <p:sp>
        <p:nvSpPr>
          <p:cNvPr id="36" name="Text 33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从头到尾没喊一句"变化真大"——全靠 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今昔一对照、画面一亮出来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，变化自己就说了话。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读示范文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769251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</p:spPr>
      </p:sp>
      <p:sp>
        <p:nvSpPr>
          <p:cNvPr id="6" name="Text 3"/>
          <p:cNvSpPr/>
          <p:nvPr/>
        </p:nvSpPr>
        <p:spPr>
          <a:xfrm>
            <a:off x="1466850" y="1581150"/>
            <a:ext cx="8724156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结尾没喊"我爱家乡"——而是 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回到那条小河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3048000"/>
            <a:ext cx="9715500" cy="2374106"/>
          </a:xfrm>
          <a:prstGeom prst="roundRect">
            <a:avLst>
              <a:gd name="adj" fmla="val 7222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504950" y="3409950"/>
            <a:ext cx="9065133" cy="168830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628650" algn="l">
              <a:lnSpc>
                <a:spcPct val="1310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离开家乡的时候，我的脑海里一直浮现着那条小河。儿时的我没能在清澈的河水里嬉戏， </a:t>
            </a:r>
            <a:r>
              <a:rPr lang="en-US" sz="24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而那个蹲在水边的孩子，替我完成了这个小小的心愿 </a:t>
            </a:r>
            <a:r>
              <a:rPr lang="en-US" sz="24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475" dirty="0"/>
          </a:p>
        </p:txBody>
      </p:sp>
      <p:sp>
        <p:nvSpPr>
          <p:cNvPr id="9" name="Shape 6"/>
          <p:cNvSpPr/>
          <p:nvPr/>
        </p:nvSpPr>
        <p:spPr>
          <a:xfrm>
            <a:off x="1047750" y="5945981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09700" y="5803106"/>
            <a:ext cx="9593297" cy="52149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没有直白抒情——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回扣前面写过的景物</a:t>
            </a: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，心情自己流露出来</a:t>
            </a:r>
            <a:endParaRPr lang="en-US" sz="2625" dirty="0"/>
          </a:p>
        </p:txBody>
      </p:sp>
      <p:sp>
        <p:nvSpPr>
          <p:cNvPr id="11" name="Shape 8"/>
          <p:cNvSpPr/>
          <p:nvPr/>
        </p:nvSpPr>
        <p:spPr>
          <a:xfrm>
            <a:off x="1047750" y="6696075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409700" y="6553200"/>
            <a:ext cx="9634157" cy="10048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你也可以：回扣一处景物收尾，或 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直接说出心里话 </a:t>
            </a: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——选读着自然的那种</a:t>
            </a:r>
            <a:endParaRPr lang="en-US" sz="2625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3143250"/>
            <a:ext cx="4953000" cy="43815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一处变化一段、段首点明、今昔对照、写出画面——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下节课就按提纲动笔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</p:spPr>
      </p:sp>
      <p:sp>
        <p:nvSpPr>
          <p:cNvPr id="4" name="Text 2"/>
          <p:cNvSpPr/>
          <p:nvPr/>
        </p:nvSpPr>
        <p:spPr>
          <a:xfrm>
            <a:off x="2038350" y="3181350"/>
            <a:ext cx="2455500" cy="21193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2228850" y="5676900"/>
            <a:ext cx="5029200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当堂写作与评改课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247900" y="6572250"/>
            <a:ext cx="8370704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FFFFFF">
                    <a:alpha val="9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三分钟写重点段 · 自由写作 · 课堂分享会 · 自检与修改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写作热身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769735" cy="833755"/>
          </a:xfrm>
          <a:prstGeom prst="roundRect">
            <a:avLst>
              <a:gd name="adj" fmla="val 22857"/>
            </a:avLst>
          </a:prstGeom>
          <a:solidFill>
            <a:srgbClr val="FCE7EA"/>
          </a:solidFill>
        </p:spPr>
      </p:sp>
      <p:sp>
        <p:nvSpPr>
          <p:cNvPr id="6" name="Text 3"/>
          <p:cNvSpPr/>
          <p:nvPr/>
        </p:nvSpPr>
        <p:spPr>
          <a:xfrm>
            <a:off x="1466850" y="1581150"/>
            <a:ext cx="6370955" cy="5194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三分钟——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只写画圈的那一处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变化</a:t>
            </a:r>
            <a:endParaRPr lang="zh-CN" altLang="en-US" sz="3205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047750" y="3028950"/>
            <a:ext cx="1428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76312" y="3181350"/>
            <a:ext cx="157162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找那行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2724150" y="3157835"/>
            <a:ext cx="9625548" cy="4661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拿出提纲，找到画圈标记的那一行，盯住 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"二十年后什么样" </a:t>
            </a: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这一栏</a:t>
            </a:r>
            <a:endParaRPr lang="en-US" sz="2325" dirty="0"/>
          </a:p>
        </p:txBody>
      </p:sp>
      <p:sp>
        <p:nvSpPr>
          <p:cNvPr id="10" name="Shape 7"/>
          <p:cNvSpPr/>
          <p:nvPr/>
        </p:nvSpPr>
        <p:spPr>
          <a:xfrm>
            <a:off x="1047750" y="3924300"/>
            <a:ext cx="1428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976312" y="4076700"/>
            <a:ext cx="157162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只写它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2724150" y="4053185"/>
            <a:ext cx="6820853" cy="4661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草稿纸上只写这一处详写的变化，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不写开头结尾</a:t>
            </a:r>
            <a:endParaRPr lang="en-US" sz="2325" dirty="0"/>
          </a:p>
        </p:txBody>
      </p:sp>
      <p:sp>
        <p:nvSpPr>
          <p:cNvPr id="13" name="Shape 10"/>
          <p:cNvSpPr/>
          <p:nvPr/>
        </p:nvSpPr>
        <p:spPr>
          <a:xfrm>
            <a:off x="1047750" y="4819650"/>
            <a:ext cx="1428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76312" y="4972050"/>
            <a:ext cx="157162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别停笔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2724150" y="4948535"/>
            <a:ext cx="10165140" cy="4661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想到什么写什么；写错不用擦，不会写的字 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做个记号空出来</a:t>
            </a: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，后面再补</a:t>
            </a:r>
            <a:endParaRPr lang="en-US" sz="2325" dirty="0"/>
          </a:p>
        </p:txBody>
      </p:sp>
      <p:sp>
        <p:nvSpPr>
          <p:cNvPr id="16" name="Shape 13"/>
          <p:cNvSpPr/>
          <p:nvPr/>
        </p:nvSpPr>
        <p:spPr>
          <a:xfrm>
            <a:off x="1047750" y="5715000"/>
            <a:ext cx="1428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76312" y="5867400"/>
            <a:ext cx="157162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挑角度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2724150" y="5843885"/>
            <a:ext cx="12017693" cy="4661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任选其一写起：这里现在什么样？二十年后什么样？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那里会出现谁，他正在做什么？</a:t>
            </a:r>
            <a:endParaRPr lang="en-US" sz="2325" dirty="0"/>
          </a:p>
        </p:txBody>
      </p:sp>
      <p:sp>
        <p:nvSpPr>
          <p:cNvPr id="19" name="Text 16"/>
          <p:cNvSpPr/>
          <p:nvPr/>
        </p:nvSpPr>
        <p:spPr>
          <a:xfrm>
            <a:off x="1047750" y="7395845"/>
            <a:ext cx="1351597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这三分钟不评判写得好坏——先把 </a:t>
            </a: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全文最难写的重点片段 </a:t>
            </a:r>
            <a:r>
              <a:rPr lang="en-US" sz="225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打好草稿，等会儿写作文就有了底气。</a:t>
            </a:r>
            <a:endParaRPr lang="en-US" sz="2250" dirty="0"/>
          </a:p>
        </p:txBody>
      </p:sp>
      <p:sp>
        <p:nvSpPr>
          <p:cNvPr id="20" name="Shape 17"/>
          <p:cNvSpPr/>
          <p:nvPr/>
        </p:nvSpPr>
        <p:spPr>
          <a:xfrm>
            <a:off x="14037469" y="8086725"/>
            <a:ext cx="3202781" cy="866775"/>
          </a:xfrm>
          <a:prstGeom prst="roundRect">
            <a:avLst>
              <a:gd name="adj" fmla="val 17582"/>
            </a:avLst>
          </a:prstGeom>
          <a:solidFill>
            <a:srgbClr val="C0392B"/>
          </a:solidFill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4418469" y="8277225"/>
            <a:ext cx="2684859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⏱ 限时 3 分钟</a:t>
            </a:r>
            <a:endParaRPr lang="en-US" sz="2850" dirty="0"/>
          </a:p>
        </p:txBody>
      </p:sp>
      <p:sp>
        <p:nvSpPr>
          <p:cNvPr id="22" name="Text 19"/>
          <p:cNvSpPr/>
          <p:nvPr/>
        </p:nvSpPr>
        <p:spPr>
          <a:xfrm>
            <a:off x="1047750" y="8300720"/>
            <a:ext cx="1781175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剩下几处变化的段落，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写法和这段完全一样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，只是篇幅短些。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自由写作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597551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</p:spPr>
      </p:sp>
      <p:sp>
        <p:nvSpPr>
          <p:cNvPr id="6" name="Text 3"/>
          <p:cNvSpPr/>
          <p:nvPr/>
        </p:nvSpPr>
        <p:spPr>
          <a:xfrm>
            <a:off x="1466850" y="1581150"/>
            <a:ext cx="6335286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从头写完整篇——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记住两个核心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3987800"/>
            <a:ext cx="7886700" cy="3048000"/>
          </a:xfrm>
          <a:prstGeom prst="roundRect">
            <a:avLst>
              <a:gd name="adj" fmla="val 5625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66850" y="4368800"/>
            <a:ext cx="7753350" cy="800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60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1466850" y="5321300"/>
            <a:ext cx="7259955" cy="103227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每段开头用 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概括句 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，点明本段写的是哪一处变化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9353550" y="3987800"/>
            <a:ext cx="7886700" cy="3048000"/>
          </a:xfrm>
          <a:prstGeom prst="roundRect">
            <a:avLst>
              <a:gd name="adj" fmla="val 5625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9772650" y="4368800"/>
            <a:ext cx="7753350" cy="800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60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</a:t>
            </a:r>
            <a:endParaRPr lang="en-US" sz="6000" dirty="0"/>
          </a:p>
        </p:txBody>
      </p:sp>
      <p:sp>
        <p:nvSpPr>
          <p:cNvPr id="12" name="Text 9"/>
          <p:cNvSpPr/>
          <p:nvPr/>
        </p:nvSpPr>
        <p:spPr>
          <a:xfrm>
            <a:off x="9772650" y="5321300"/>
            <a:ext cx="7259955" cy="103227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 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从前和二十年后 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的景象对照着写——画圈的多展开，没圈的两三句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1124585" y="2879725"/>
            <a:ext cx="16210915" cy="8667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开头一两句交代怎么穿越；中间对应提纲三行，一处变化独立成段；结尾把感受扩写成完整句子。错字先做记号空着， </a:t>
            </a: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别停下来</a:t>
            </a:r>
            <a:r>
              <a:rPr lang="en-US" sz="225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250" dirty="0"/>
          </a:p>
        </p:txBody>
      </p:sp>
      <p:sp>
        <p:nvSpPr>
          <p:cNvPr id="14" name="Shape 11"/>
          <p:cNvSpPr/>
          <p:nvPr/>
        </p:nvSpPr>
        <p:spPr>
          <a:xfrm>
            <a:off x="13452277" y="8791575"/>
            <a:ext cx="3787973" cy="866775"/>
          </a:xfrm>
          <a:prstGeom prst="roundRect">
            <a:avLst>
              <a:gd name="adj" fmla="val 17582"/>
            </a:avLst>
          </a:prstGeom>
          <a:solidFill>
            <a:srgbClr val="C0392B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3833277" y="8982075"/>
            <a:ext cx="3328571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⏱ 大约写 24 分钟</a:t>
            </a:r>
            <a:endParaRPr lang="en-US" sz="2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自由写作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3452277" y="8791575"/>
            <a:ext cx="3787973" cy="866775"/>
          </a:xfrm>
          <a:prstGeom prst="roundRect">
            <a:avLst>
              <a:gd name="adj" fmla="val 17582"/>
            </a:avLst>
          </a:prstGeom>
          <a:solidFill>
            <a:srgbClr val="C0392B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3833277" y="8982075"/>
            <a:ext cx="3328571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⏱ 大约写 24 分钟</a:t>
            </a:r>
            <a:endParaRPr lang="en-US" sz="2850" dirty="0"/>
          </a:p>
        </p:txBody>
      </p:sp>
      <p:sp>
        <p:nvSpPr>
          <p:cNvPr id="5" name="文本框 4"/>
          <p:cNvSpPr txBox="1"/>
          <p:nvPr/>
        </p:nvSpPr>
        <p:spPr>
          <a:xfrm>
            <a:off x="1710690" y="3655060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插入学生用作文稿纸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交流评议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4637038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</p:spPr>
      </p:sp>
      <p:sp>
        <p:nvSpPr>
          <p:cNvPr id="6" name="Text 3"/>
          <p:cNvSpPr/>
          <p:nvPr/>
        </p:nvSpPr>
        <p:spPr>
          <a:xfrm>
            <a:off x="1466850" y="1581150"/>
            <a:ext cx="4178722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开一场 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"未来分享会"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329565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09700" y="3143250"/>
            <a:ext cx="9979819" cy="53518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四人小组轮流读 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最满意的片段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——听的同学只听、不看文稿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1047750" y="4116586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09700" y="3964186"/>
            <a:ext cx="5015939" cy="53518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反馈①：哪里的想象 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最有意思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1047750" y="4937522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409700" y="4785122"/>
            <a:ext cx="9536049" cy="103227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反馈②：哪一句 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最具体、仿佛看见了 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——要把那一句复述出来</a:t>
            </a:r>
            <a:endParaRPr lang="en-US" sz="27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3238500"/>
            <a:ext cx="4953000" cy="40005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47750" y="7920038"/>
            <a:ext cx="16192500" cy="938213"/>
          </a:xfrm>
          <a:prstGeom prst="roundRect">
            <a:avLst>
              <a:gd name="adj" fmla="val 16244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1428750" y="8167687"/>
            <a:ext cx="16973550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说不出具体的句子？</a:t>
            </a:r>
            <a:r>
              <a:rPr 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说说 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你脑海里记住的画面</a:t>
            </a:r>
            <a:r>
              <a:rPr 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——朗读的同学就知道哪里该补细节了。</a:t>
            </a:r>
            <a:endParaRPr lang="en-US" sz="2325" dirty="0"/>
          </a:p>
        </p:txBody>
      </p:sp>
      <p:sp>
        <p:nvSpPr>
          <p:cNvPr id="16" name="Text 12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每组再推选一位读给全班——标准：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想象新奇，或一句就让人看见画面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3" name="Text 1"/>
          <p:cNvSpPr/>
          <p:nvPr/>
        </p:nvSpPr>
        <p:spPr>
          <a:xfrm>
            <a:off x="1219200" y="609600"/>
            <a:ext cx="6858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自检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5433417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</p:spPr>
      </p:sp>
      <p:sp>
        <p:nvSpPr>
          <p:cNvPr id="6" name="Text 3"/>
          <p:cNvSpPr/>
          <p:nvPr/>
        </p:nvSpPr>
        <p:spPr>
          <a:xfrm>
            <a:off x="1466850" y="1581150"/>
            <a:ext cx="5054739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对着这 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六条</a:t>
            </a: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，自己过一遍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16192500" cy="4552950"/>
          </a:xfrm>
          <a:prstGeom prst="roundRect">
            <a:avLst>
              <a:gd name="adj" fmla="val 2929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16173450" cy="70485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3028950"/>
            <a:ext cx="272605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查一查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4295775" y="2867025"/>
            <a:ext cx="9525" cy="704850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610100" y="3028950"/>
            <a:ext cx="12703874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问自己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1057275" y="3571875"/>
            <a:ext cx="16173450" cy="63817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62075" y="3714750"/>
            <a:ext cx="272605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分段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4295775" y="3571875"/>
            <a:ext cx="9525" cy="6381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610100" y="3714750"/>
            <a:ext cx="1270387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写了几个方面？是不是一个方面一段？开头和结尾齐了吗？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1057275" y="4210050"/>
            <a:ext cx="16173450" cy="63817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362075" y="4352925"/>
            <a:ext cx="272605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段首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4295775" y="4210050"/>
            <a:ext cx="9525" cy="6381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610100" y="4352925"/>
            <a:ext cx="1270387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每段开头，有没有一句话点明本段写的是哪一处变化？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1057275" y="4848225"/>
            <a:ext cx="16173450" cy="63817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362075" y="4991100"/>
            <a:ext cx="272605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详略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4295775" y="4848225"/>
            <a:ext cx="9525" cy="6381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4610100" y="4991100"/>
            <a:ext cx="1270387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提纲圈出来详写的那段，篇幅是不是更长？还是几段差不多？</a:t>
            </a:r>
            <a:endParaRPr lang="en-US" sz="2100" dirty="0"/>
          </a:p>
        </p:txBody>
      </p:sp>
      <p:sp>
        <p:nvSpPr>
          <p:cNvPr id="24" name="Shape 21"/>
          <p:cNvSpPr/>
          <p:nvPr/>
        </p:nvSpPr>
        <p:spPr>
          <a:xfrm>
            <a:off x="1057275" y="5486400"/>
            <a:ext cx="16173450" cy="63817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362075" y="5629275"/>
            <a:ext cx="272605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对比写变化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4295775" y="5486400"/>
            <a:ext cx="9525" cy="6381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4610100" y="5629275"/>
            <a:ext cx="1270387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哪一段把"从前"和"二十年后"对照得最清楚？其他段缺什么？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1057275" y="6124575"/>
            <a:ext cx="16173450" cy="63817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362075" y="6267450"/>
            <a:ext cx="272605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看得见的画面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4295775" y="6124575"/>
            <a:ext cx="9525" cy="6381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4610100" y="6267450"/>
            <a:ext cx="1270387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全文哪一句最能展现二十年后的家乡？它好在哪里？</a:t>
            </a:r>
            <a:endParaRPr lang="en-US" sz="2100" dirty="0"/>
          </a:p>
        </p:txBody>
      </p:sp>
      <p:sp>
        <p:nvSpPr>
          <p:cNvPr id="32" name="Shape 29"/>
          <p:cNvSpPr/>
          <p:nvPr/>
        </p:nvSpPr>
        <p:spPr>
          <a:xfrm>
            <a:off x="1057275" y="6762750"/>
            <a:ext cx="16173450" cy="63817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1362075" y="6905625"/>
            <a:ext cx="272605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内心的感受</a:t>
            </a:r>
            <a:endParaRPr lang="en-US" sz="2100" dirty="0"/>
          </a:p>
        </p:txBody>
      </p:sp>
      <p:sp>
        <p:nvSpPr>
          <p:cNvPr id="34" name="Shape 31"/>
          <p:cNvSpPr/>
          <p:nvPr/>
        </p:nvSpPr>
        <p:spPr>
          <a:xfrm>
            <a:off x="4295775" y="6762750"/>
            <a:ext cx="9525" cy="6381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4610100" y="6905625"/>
            <a:ext cx="1270387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结尾写出真实想法了吗？还是只有一句"家乡越来越美好"？</a:t>
            </a:r>
            <a:endParaRPr lang="en-US" sz="2100" dirty="0"/>
          </a:p>
        </p:txBody>
      </p:sp>
      <p:sp>
        <p:nvSpPr>
          <p:cNvPr id="36" name="Text 33"/>
          <p:cNvSpPr/>
          <p:nvPr/>
        </p:nvSpPr>
        <p:spPr>
          <a:xfrm>
            <a:off x="1057275" y="8077200"/>
            <a:ext cx="1781175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前三条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对照你的作文看一下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就行；后三条要 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自己挑得出、说得出为什么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——你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写得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最好的那段，就是修改的参照。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修改收束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597551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</p:spPr>
      </p:sp>
      <p:sp>
        <p:nvSpPr>
          <p:cNvPr id="6" name="Text 3"/>
          <p:cNvSpPr/>
          <p:nvPr/>
        </p:nvSpPr>
        <p:spPr>
          <a:xfrm>
            <a:off x="1466850" y="1581150"/>
            <a:ext cx="6335286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只做增补、不大段删——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改四处</a:t>
            </a:r>
            <a:endParaRPr lang="en-US" sz="3205" dirty="0"/>
          </a:p>
        </p:txBody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1047750" y="2990850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8" name="Text 5"/>
          <p:cNvSpPr/>
          <p:nvPr>
            <p:custDataLst>
              <p:tags r:id="rId3"/>
            </p:custDataLst>
          </p:nvPr>
        </p:nvSpPr>
        <p:spPr>
          <a:xfrm>
            <a:off x="1245245" y="3086100"/>
            <a:ext cx="252561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250" dirty="0"/>
          </a:p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1866900" y="3048000"/>
            <a:ext cx="8212824" cy="4799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只写了二十年后的段落——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补一句从前的样子</a:t>
            </a: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，一句话就够</a:t>
            </a:r>
            <a:endParaRPr lang="en-US" sz="2400" dirty="0"/>
          </a:p>
        </p:txBody>
      </p:sp>
      <p:sp>
        <p:nvSpPr>
          <p:cNvPr id="10" name="Shape 7"/>
          <p:cNvSpPr/>
          <p:nvPr>
            <p:custDataLst>
              <p:tags r:id="rId5"/>
            </p:custDataLst>
          </p:nvPr>
        </p:nvSpPr>
        <p:spPr>
          <a:xfrm>
            <a:off x="1047750" y="3810000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1" name="Text 8"/>
          <p:cNvSpPr/>
          <p:nvPr>
            <p:custDataLst>
              <p:tags r:id="rId6"/>
            </p:custDataLst>
          </p:nvPr>
        </p:nvSpPr>
        <p:spPr>
          <a:xfrm>
            <a:off x="1245245" y="3905250"/>
            <a:ext cx="252561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250" dirty="0"/>
          </a:p>
        </p:txBody>
      </p:sp>
      <p:sp>
        <p:nvSpPr>
          <p:cNvPr id="12" name="Text 9"/>
          <p:cNvSpPr/>
          <p:nvPr>
            <p:custDataLst>
              <p:tags r:id="rId7"/>
            </p:custDataLst>
          </p:nvPr>
        </p:nvSpPr>
        <p:spPr>
          <a:xfrm>
            <a:off x="1866900" y="3867150"/>
            <a:ext cx="14443075" cy="7010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详写的段落没有人物——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补一个人，加一个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具体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动作</a:t>
            </a: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（散步、观望、清点</a:t>
            </a: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物品等</a:t>
            </a: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）；略写段不用强加</a:t>
            </a:r>
            <a:endParaRPr lang="en-US" sz="2400" dirty="0"/>
          </a:p>
        </p:txBody>
      </p:sp>
      <p:sp>
        <p:nvSpPr>
          <p:cNvPr id="13" name="Shape 10"/>
          <p:cNvSpPr/>
          <p:nvPr>
            <p:custDataLst>
              <p:tags r:id="rId8"/>
            </p:custDataLst>
          </p:nvPr>
        </p:nvSpPr>
        <p:spPr>
          <a:xfrm>
            <a:off x="1047750" y="4629150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>
            <p:custDataLst>
              <p:tags r:id="rId9"/>
            </p:custDataLst>
          </p:nvPr>
        </p:nvSpPr>
        <p:spPr>
          <a:xfrm>
            <a:off x="1245245" y="4724400"/>
            <a:ext cx="252561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250" dirty="0"/>
          </a:p>
        </p:txBody>
      </p:sp>
      <p:sp>
        <p:nvSpPr>
          <p:cNvPr id="15" name="Text 12"/>
          <p:cNvSpPr/>
          <p:nvPr>
            <p:custDataLst>
              <p:tags r:id="rId10"/>
            </p:custDataLst>
          </p:nvPr>
        </p:nvSpPr>
        <p:spPr>
          <a:xfrm>
            <a:off x="1866900" y="4686300"/>
            <a:ext cx="8620277" cy="4799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哪段缺段首概括句——在段落最前面 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补一句点明写哪一处变化</a:t>
            </a:r>
            <a:endParaRPr lang="en-US" sz="2400" dirty="0"/>
          </a:p>
        </p:txBody>
      </p:sp>
      <p:sp>
        <p:nvSpPr>
          <p:cNvPr id="16" name="Shape 13"/>
          <p:cNvSpPr/>
          <p:nvPr>
            <p:custDataLst>
              <p:tags r:id="rId11"/>
            </p:custDataLst>
          </p:nvPr>
        </p:nvSpPr>
        <p:spPr>
          <a:xfrm>
            <a:off x="1047750" y="5448300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7" name="Text 14"/>
          <p:cNvSpPr/>
          <p:nvPr>
            <p:custDataLst>
              <p:tags r:id="rId12"/>
            </p:custDataLst>
          </p:nvPr>
        </p:nvSpPr>
        <p:spPr>
          <a:xfrm>
            <a:off x="1245245" y="5543550"/>
            <a:ext cx="252561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2250" dirty="0"/>
          </a:p>
        </p:txBody>
      </p:sp>
      <p:sp>
        <p:nvSpPr>
          <p:cNvPr id="18" name="Text 15"/>
          <p:cNvSpPr/>
          <p:nvPr>
            <p:custDataLst>
              <p:tags r:id="rId13"/>
            </p:custDataLst>
          </p:nvPr>
        </p:nvSpPr>
        <p:spPr>
          <a:xfrm>
            <a:off x="1866900" y="5505450"/>
            <a:ext cx="10817885" cy="4799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结尾只有一句空赞美——补上 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真实的感受</a:t>
            </a: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：最留恋哪一处景象，或心里的期许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047750" y="7958138"/>
            <a:ext cx="16192500" cy="900113"/>
          </a:xfrm>
          <a:prstGeom prst="roundRect">
            <a:avLst>
              <a:gd name="adj" fmla="val 16931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428750" y="8186738"/>
            <a:ext cx="16973550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"家乡越来越美好"这类概括句 </a:t>
            </a:r>
            <a:r>
              <a:rPr 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不要划掉</a:t>
            </a:r>
            <a:r>
              <a:rPr 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移到段首当总起句</a:t>
            </a:r>
            <a:r>
              <a:rPr 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，在它后面用画面撑住它。</a:t>
            </a:r>
            <a:endParaRPr lang="en-US" sz="2325" dirty="0"/>
          </a:p>
        </p:txBody>
      </p:sp>
      <p:sp>
        <p:nvSpPr>
          <p:cNvPr id="21" name="Text 18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几段篇幅差不多？不删字——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给画圈的详写段加细节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，详略自然拉开。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</p:spPr>
      </p:sp>
      <p:sp>
        <p:nvSpPr>
          <p:cNvPr id="4" name="Text 2"/>
          <p:cNvSpPr/>
          <p:nvPr/>
        </p:nvSpPr>
        <p:spPr>
          <a:xfrm>
            <a:off x="1943100" y="3657600"/>
            <a:ext cx="8064892" cy="19002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2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THE END</a:t>
            </a:r>
            <a:endParaRPr lang="en-US" sz="12750" dirty="0"/>
          </a:p>
        </p:txBody>
      </p:sp>
      <p:sp>
        <p:nvSpPr>
          <p:cNvPr id="5" name="Text 3"/>
          <p:cNvSpPr/>
          <p:nvPr/>
        </p:nvSpPr>
        <p:spPr>
          <a:xfrm>
            <a:off x="2057400" y="5676900"/>
            <a:ext cx="13600777" cy="514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FFFFFF">
                    <a:alpha val="9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一处变化一个段落——段首点明，今昔对照，用人的活动写出看得见的画面。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3792200" y="8058150"/>
            <a:ext cx="2095500" cy="5334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下一次再见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5925800" y="8039100"/>
            <a:ext cx="419100" cy="533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25800" y="8039100"/>
            <a:ext cx="419100" cy="533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4.2,&quot;left&quot;:82.5,&quot;top&quot;:240,&quot;width&quot;:919.3840157480314}"/>
</p:tagLst>
</file>

<file path=ppt/tags/tag2.xml><?xml version="1.0" encoding="utf-8"?>
<p:tagLst xmlns:p="http://schemas.openxmlformats.org/presentationml/2006/main">
  <p:tag name="KSO_WM_DIAGRAM_VIRTUALLY_FRAME" val="{&quot;height&quot;:274.2,&quot;left&quot;:82.5,&quot;top&quot;:240,&quot;width&quot;:919.3840157480314}"/>
</p:tagLst>
</file>

<file path=ppt/tags/tag3.xml><?xml version="1.0" encoding="utf-8"?>
<p:tagLst xmlns:p="http://schemas.openxmlformats.org/presentationml/2006/main">
  <p:tag name="KSO_WM_DIAGRAM_VIRTUALLY_FRAME" val="{&quot;height&quot;:274.2,&quot;left&quot;:82.5,&quot;top&quot;:240,&quot;width&quot;:919.3840157480314}"/>
</p:tagLst>
</file>

<file path=ppt/tags/tag4.xml><?xml version="1.0" encoding="utf-8"?>
<p:tagLst xmlns:p="http://schemas.openxmlformats.org/presentationml/2006/main">
  <p:tag name="KSO_WM_DIAGRAM_VIRTUALLY_FRAME" val="{&quot;height&quot;:274.2,&quot;left&quot;:82.5,&quot;top&quot;:240,&quot;width&quot;:919.3840157480314}"/>
</p:tagLst>
</file>

<file path=ppt/tags/tag5.xml><?xml version="1.0" encoding="utf-8"?>
<p:tagLst xmlns:p="http://schemas.openxmlformats.org/presentationml/2006/main">
  <p:tag name="KSO_WM_DIAGRAM_VIRTUALLY_FRAME" val="{&quot;height&quot;:274.2,&quot;left&quot;:82.5,&quot;top&quot;:240,&quot;width&quot;:919.3840157480314}"/>
</p:tagLst>
</file>

<file path=ppt/tags/tag6.xml><?xml version="1.0" encoding="utf-8"?>
<p:tagLst xmlns:p="http://schemas.openxmlformats.org/presentationml/2006/main">
  <p:tag name="KSO_WM_DIAGRAM_VIRTUALLY_FRAME" val="{&quot;height&quot;:274.2,&quot;left&quot;:82.5,&quot;top&quot;:240,&quot;width&quot;:919.3840157480314}"/>
</p:tagLst>
</file>

<file path=ppt/tags/tag7.xml><?xml version="1.0" encoding="utf-8"?>
<p:tagLst xmlns:p="http://schemas.openxmlformats.org/presentationml/2006/main">
  <p:tag name="KSO_WM_DIAGRAM_VIRTUALLY_FRAME" val="{&quot;height&quot;:199.35937007874017,&quot;left&quot;:82.5,&quot;top&quot;:232.5,&quot;width&quot;:1275}"/>
</p:tagLst>
</file>

<file path=ppt/tags/tag8.xml><?xml version="1.0" encoding="utf-8"?>
<p:tagLst xmlns:p="http://schemas.openxmlformats.org/presentationml/2006/main">
  <p:tag name="KSO_WM_DIAGRAM_VIRTUALLY_FRAME" val="{&quot;height&quot;:199.35937007874017,&quot;left&quot;:82.5,&quot;top&quot;:232.5,&quot;width&quot;:1275}"/>
</p:tagLst>
</file>

<file path=ppt/tags/tag9.xml><?xml version="1.0" encoding="utf-8"?>
<p:tagLst xmlns:p="http://schemas.openxmlformats.org/presentationml/2006/main">
  <p:tag name="KSO_WM_DIAGRAM_VIRTUALLY_FRAME" val="{&quot;height&quot;:199.35937007874017,&quot;left&quot;:82.5,&quot;top&quot;:232.5,&quot;width&quot;:1275}"/>
</p:tagLst>
</file>

<file path=ppt/tags/tag10.xml><?xml version="1.0" encoding="utf-8"?>
<p:tagLst xmlns:p="http://schemas.openxmlformats.org/presentationml/2006/main">
  <p:tag name="KSO_WM_DIAGRAM_VIRTUALLY_FRAME" val="{&quot;height&quot;:199.35937007874017,&quot;left&quot;:82.5,&quot;top&quot;:232.5,&quot;width&quot;:1275}"/>
</p:tagLst>
</file>

<file path=ppt/tags/tag11.xml><?xml version="1.0" encoding="utf-8"?>
<p:tagLst xmlns:p="http://schemas.openxmlformats.org/presentationml/2006/main">
  <p:tag name="KSO_WM_DIAGRAM_VIRTUALLY_FRAME" val="{&quot;height&quot;:199.35937007874017,&quot;left&quot;:82.5,&quot;top&quot;:232.5,&quot;width&quot;:1275}"/>
</p:tagLst>
</file>

<file path=ppt/tags/tag12.xml><?xml version="1.0" encoding="utf-8"?>
<p:tagLst xmlns:p="http://schemas.openxmlformats.org/presentationml/2006/main">
  <p:tag name="KSO_WM_DIAGRAM_VIRTUALLY_FRAME" val="{&quot;height&quot;:199.35937007874017,&quot;left&quot;:82.5,&quot;top&quot;:232.5,&quot;width&quot;:1275}"/>
</p:tagLst>
</file>

<file path=ppt/tags/tag13.xml><?xml version="1.0" encoding="utf-8"?>
<p:tagLst xmlns:p="http://schemas.openxmlformats.org/presentationml/2006/main">
  <p:tag name="KSO_WM_DIAGRAM_VIRTUALLY_FRAME" val="{&quot;height&quot;:199.35937007874017,&quot;left&quot;:82.5,&quot;top&quot;:232.5,&quot;width&quot;:1275}"/>
</p:tagLst>
</file>

<file path=ppt/tags/tag14.xml><?xml version="1.0" encoding="utf-8"?>
<p:tagLst xmlns:p="http://schemas.openxmlformats.org/presentationml/2006/main">
  <p:tag name="KSO_WM_DIAGRAM_VIRTUALLY_FRAME" val="{&quot;height&quot;:199.35937007874017,&quot;left&quot;:82.5,&quot;top&quot;:232.5,&quot;width&quot;:1275}"/>
</p:tagLst>
</file>

<file path=ppt/tags/tag15.xml><?xml version="1.0" encoding="utf-8"?>
<p:tagLst xmlns:p="http://schemas.openxmlformats.org/presentationml/2006/main">
  <p:tag name="KSO_WM_DIAGRAM_VIRTUALLY_FRAME" val="{&quot;height&quot;:199.35937007874017,&quot;left&quot;:82.5,&quot;top&quot;:232.5,&quot;width&quot;:1275}"/>
</p:tagLst>
</file>

<file path=ppt/tags/tag16.xml><?xml version="1.0" encoding="utf-8"?>
<p:tagLst xmlns:p="http://schemas.openxmlformats.org/presentationml/2006/main">
  <p:tag name="KSO_WM_DIAGRAM_VIRTUALLY_FRAME" val="{&quot;height&quot;:199.35937007874017,&quot;left&quot;:82.5,&quot;top&quot;:232.5,&quot;width&quot;:1275}"/>
</p:tagLst>
</file>

<file path=ppt/tags/tag17.xml><?xml version="1.0" encoding="utf-8"?>
<p:tagLst xmlns:p="http://schemas.openxmlformats.org/presentationml/2006/main">
  <p:tag name="KSO_WM_DIAGRAM_VIRTUALLY_FRAME" val="{&quot;height&quot;:199.35937007874017,&quot;left&quot;:82.5,&quot;top&quot;:232.5,&quot;width&quot;:1275}"/>
</p:tagLst>
</file>

<file path=ppt/tags/tag18.xml><?xml version="1.0" encoding="utf-8"?>
<p:tagLst xmlns:p="http://schemas.openxmlformats.org/presentationml/2006/main">
  <p:tag name="KSO_WM_DIAGRAM_VIRTUALLY_FRAME" val="{&quot;height&quot;:199.35937007874017,&quot;left&quot;:82.5,&quot;top&quot;:232.5,&quot;width&quot;:1275}"/>
</p:tagLst>
</file>

<file path=ppt/tags/tag19.xml><?xml version="1.0" encoding="utf-8"?>
<p:tagLst xmlns:p="http://schemas.openxmlformats.org/presentationml/2006/main">
  <p:tag name="KSO_WM_DIAGRAM_VIRTUALLY_FRAME" val="{&quot;height&quot;:307.5,&quot;left&quot;:82.5,&quot;top&quot;:225,&quot;width&quot;:1275}"/>
</p:tagLst>
</file>

<file path=ppt/tags/tag20.xml><?xml version="1.0" encoding="utf-8"?>
<p:tagLst xmlns:p="http://schemas.openxmlformats.org/presentationml/2006/main">
  <p:tag name="KSO_WM_DIAGRAM_VIRTUALLY_FRAME" val="{&quot;height&quot;:307.5,&quot;left&quot;:82.5,&quot;top&quot;:225,&quot;width&quot;:1275}"/>
</p:tagLst>
</file>

<file path=ppt/tags/tag21.xml><?xml version="1.0" encoding="utf-8"?>
<p:tagLst xmlns:p="http://schemas.openxmlformats.org/presentationml/2006/main">
  <p:tag name="KSO_WM_DIAGRAM_VIRTUALLY_FRAME" val="{&quot;height&quot;:307.5,&quot;left&quot;:82.5,&quot;top&quot;:225,&quot;width&quot;:1275}"/>
</p:tagLst>
</file>

<file path=ppt/tags/tag22.xml><?xml version="1.0" encoding="utf-8"?>
<p:tagLst xmlns:p="http://schemas.openxmlformats.org/presentationml/2006/main">
  <p:tag name="KSO_WM_DIAGRAM_VIRTUALLY_FRAME" val="{&quot;height&quot;:307.5,&quot;left&quot;:82.5,&quot;top&quot;:225,&quot;width&quot;:1275}"/>
</p:tagLst>
</file>

<file path=ppt/tags/tag23.xml><?xml version="1.0" encoding="utf-8"?>
<p:tagLst xmlns:p="http://schemas.openxmlformats.org/presentationml/2006/main">
  <p:tag name="KSO_WM_DIAGRAM_VIRTUALLY_FRAME" val="{&quot;height&quot;:307.5,&quot;left&quot;:82.5,&quot;top&quot;:225,&quot;width&quot;:1275}"/>
</p:tagLst>
</file>

<file path=ppt/tags/tag24.xml><?xml version="1.0" encoding="utf-8"?>
<p:tagLst xmlns:p="http://schemas.openxmlformats.org/presentationml/2006/main">
  <p:tag name="KSO_WM_DIAGRAM_VIRTUALLY_FRAME" val="{&quot;height&quot;:307.5,&quot;left&quot;:82.5,&quot;top&quot;:225,&quot;width&quot;:1275}"/>
</p:tagLst>
</file>

<file path=ppt/tags/tag25.xml><?xml version="1.0" encoding="utf-8"?>
<p:tagLst xmlns:p="http://schemas.openxmlformats.org/presentationml/2006/main">
  <p:tag name="KSO_WM_DIAGRAM_VIRTUALLY_FRAME" val="{&quot;height&quot;:307.5,&quot;left&quot;:82.5,&quot;top&quot;:225,&quot;width&quot;:1275}"/>
</p:tagLst>
</file>

<file path=ppt/tags/tag26.xml><?xml version="1.0" encoding="utf-8"?>
<p:tagLst xmlns:p="http://schemas.openxmlformats.org/presentationml/2006/main">
  <p:tag name="KSO_WM_DIAGRAM_VIRTUALLY_FRAME" val="{&quot;height&quot;:307.5,&quot;left&quot;:82.5,&quot;top&quot;:225,&quot;width&quot;:1275}"/>
</p:tagLst>
</file>

<file path=ppt/tags/tag27.xml><?xml version="1.0" encoding="utf-8"?>
<p:tagLst xmlns:p="http://schemas.openxmlformats.org/presentationml/2006/main">
  <p:tag name="KSO_WM_DIAGRAM_VIRTUALLY_FRAME" val="{&quot;height&quot;:307.5,&quot;left&quot;:82.5,&quot;top&quot;:225,&quot;width&quot;:1275}"/>
</p:tagLst>
</file>

<file path=ppt/tags/tag28.xml><?xml version="1.0" encoding="utf-8"?>
<p:tagLst xmlns:p="http://schemas.openxmlformats.org/presentationml/2006/main">
  <p:tag name="KSO_WM_DIAGRAM_VIRTUALLY_FRAME" val="{&quot;height&quot;:307.5,&quot;left&quot;:82.5,&quot;top&quot;:225,&quot;width&quot;:1275}"/>
</p:tagLst>
</file>

<file path=ppt/tags/tag29.xml><?xml version="1.0" encoding="utf-8"?>
<p:tagLst xmlns:p="http://schemas.openxmlformats.org/presentationml/2006/main">
  <p:tag name="KSO_WM_DIAGRAM_VIRTUALLY_FRAME" val="{&quot;height&quot;:306.37503937007875,&quot;left&quot;:82.5,&quot;top&quot;:247.5,&quot;width&quot;:778.2}"/>
</p:tagLst>
</file>

<file path=ppt/tags/tag30.xml><?xml version="1.0" encoding="utf-8"?>
<p:tagLst xmlns:p="http://schemas.openxmlformats.org/presentationml/2006/main">
  <p:tag name="KSO_WM_DIAGRAM_VIRTUALLY_FRAME" val="{&quot;height&quot;:306.37503937007875,&quot;left&quot;:82.5,&quot;top&quot;:247.5,&quot;width&quot;:778.2}"/>
</p:tagLst>
</file>

<file path=ppt/tags/tag31.xml><?xml version="1.0" encoding="utf-8"?>
<p:tagLst xmlns:p="http://schemas.openxmlformats.org/presentationml/2006/main">
  <p:tag name="KSO_WM_DIAGRAM_VIRTUALLY_FRAME" val="{&quot;height&quot;:306.37503937007875,&quot;left&quot;:82.5,&quot;top&quot;:247.5,&quot;width&quot;:778.2}"/>
</p:tagLst>
</file>

<file path=ppt/tags/tag32.xml><?xml version="1.0" encoding="utf-8"?>
<p:tagLst xmlns:p="http://schemas.openxmlformats.org/presentationml/2006/main">
  <p:tag name="KSO_WM_DIAGRAM_VIRTUALLY_FRAME" val="{&quot;height&quot;:306.37503937007875,&quot;left&quot;:82.5,&quot;top&quot;:247.5,&quot;width&quot;:778.2}"/>
</p:tagLst>
</file>

<file path=ppt/tags/tag33.xml><?xml version="1.0" encoding="utf-8"?>
<p:tagLst xmlns:p="http://schemas.openxmlformats.org/presentationml/2006/main">
  <p:tag name="KSO_WM_DIAGRAM_VIRTUALLY_FRAME" val="{&quot;height&quot;:306.37503937007875,&quot;left&quot;:82.5,&quot;top&quot;:247.5,&quot;width&quot;:778.2}"/>
</p:tagLst>
</file>

<file path=ppt/tags/tag34.xml><?xml version="1.0" encoding="utf-8"?>
<p:tagLst xmlns:p="http://schemas.openxmlformats.org/presentationml/2006/main">
  <p:tag name="KSO_WM_DIAGRAM_VIRTUALLY_FRAME" val="{&quot;height&quot;:306.37503937007875,&quot;left&quot;:82.5,&quot;top&quot;:247.5,&quot;width&quot;:778.2}"/>
</p:tagLst>
</file>

<file path=ppt/tags/tag35.xml><?xml version="1.0" encoding="utf-8"?>
<p:tagLst xmlns:p="http://schemas.openxmlformats.org/presentationml/2006/main">
  <p:tag name="KSO_WM_DIAGRAM_VIRTUALLY_FRAME" val="{&quot;height&quot;:306.37503937007875,&quot;left&quot;:82.5,&quot;top&quot;:247.5,&quot;width&quot;:778.2}"/>
</p:tagLst>
</file>

<file path=ppt/tags/tag36.xml><?xml version="1.0" encoding="utf-8"?>
<p:tagLst xmlns:p="http://schemas.openxmlformats.org/presentationml/2006/main">
  <p:tag name="KSO_WM_DIAGRAM_VIRTUALLY_FRAME" val="{&quot;height&quot;:306.37503937007875,&quot;left&quot;:82.5,&quot;top&quot;:247.5,&quot;width&quot;:778.2}"/>
</p:tagLst>
</file>

<file path=ppt/tags/tag37.xml><?xml version="1.0" encoding="utf-8"?>
<p:tagLst xmlns:p="http://schemas.openxmlformats.org/presentationml/2006/main">
  <p:tag name="KSO_WM_DIAGRAM_VIRTUALLY_FRAME" val="{&quot;height&quot;:306.37503937007875,&quot;left&quot;:82.5,&quot;top&quot;:247.5,&quot;width&quot;:778.2}"/>
</p:tagLst>
</file>

<file path=ppt/tags/tag38.xml><?xml version="1.0" encoding="utf-8"?>
<p:tagLst xmlns:p="http://schemas.openxmlformats.org/presentationml/2006/main">
  <p:tag name="KSO_DOCER_RESOURCE_TRACE_INFO" val="{&quot;id&quot;:&quot;50059480&quot;,&quot;origin&quot;:0,&quot;type&quot;:&quot;icons&quot;,&quot;user&quot;:&quot;465116955&quot;}"/>
</p:tagLst>
</file>

<file path=ppt/tags/tag39.xml><?xml version="1.0" encoding="utf-8"?>
<p:tagLst xmlns:p="http://schemas.openxmlformats.org/presentationml/2006/main">
  <p:tag name="KSO_WM_DIAGRAM_VIRTUALLY_FRAME" val="{&quot;height&quot;:124.87503937007878,&quot;left&quot;:115.5,&quot;top&quot;:315.75,&quot;width&quot;:1228.9242519685038}"/>
</p:tagLst>
</file>

<file path=ppt/tags/tag40.xml><?xml version="1.0" encoding="utf-8"?>
<p:tagLst xmlns:p="http://schemas.openxmlformats.org/presentationml/2006/main">
  <p:tag name="KSO_WM_DIAGRAM_VIRTUALLY_FRAME" val="{&quot;height&quot;:124.87503937007878,&quot;left&quot;:115.5,&quot;top&quot;:315.75,&quot;width&quot;:1228.9242519685038}"/>
</p:tagLst>
</file>

<file path=ppt/tags/tag41.xml><?xml version="1.0" encoding="utf-8"?>
<p:tagLst xmlns:p="http://schemas.openxmlformats.org/presentationml/2006/main">
  <p:tag name="KSO_WM_DIAGRAM_VIRTUALLY_FRAME" val="{&quot;height&quot;:124.87503937007878,&quot;left&quot;:115.5,&quot;top&quot;:315.75,&quot;width&quot;:1228.9242519685038}"/>
</p:tagLst>
</file>

<file path=ppt/tags/tag42.xml><?xml version="1.0" encoding="utf-8"?>
<p:tagLst xmlns:p="http://schemas.openxmlformats.org/presentationml/2006/main">
  <p:tag name="KSO_WM_DIAGRAM_VIRTUALLY_FRAME" val="{&quot;height&quot;:124.87503937007878,&quot;left&quot;:115.5,&quot;top&quot;:315.75,&quot;width&quot;:1228.9242519685038}"/>
</p:tagLst>
</file>

<file path=ppt/tags/tag43.xml><?xml version="1.0" encoding="utf-8"?>
<p:tagLst xmlns:p="http://schemas.openxmlformats.org/presentationml/2006/main">
  <p:tag name="KSO_WM_DIAGRAM_VIRTUALLY_FRAME" val="{&quot;height&quot;:124.87503937007878,&quot;left&quot;:115.5,&quot;top&quot;:315.75,&quot;width&quot;:1228.9242519685038}"/>
</p:tagLst>
</file>

<file path=ppt/tags/tag44.xml><?xml version="1.0" encoding="utf-8"?>
<p:tagLst xmlns:p="http://schemas.openxmlformats.org/presentationml/2006/main">
  <p:tag name="KSO_WM_DIAGRAM_VIRTUALLY_FRAME" val="{&quot;height&quot;:124.87503937007878,&quot;left&quot;:115.5,&quot;top&quot;:315.75,&quot;width&quot;:1228.9242519685038}"/>
</p:tagLst>
</file>

<file path=ppt/tags/tag45.xml><?xml version="1.0" encoding="utf-8"?>
<p:tagLst xmlns:p="http://schemas.openxmlformats.org/presentationml/2006/main">
  <p:tag name="KSO_WM_DIAGRAM_VIRTUALLY_FRAME" val="{&quot;height&quot;:124.87503937007878,&quot;left&quot;:115.5,&quot;top&quot;:315.75,&quot;width&quot;:1228.9242519685038}"/>
</p:tagLst>
</file>

<file path=ppt/tags/tag46.xml><?xml version="1.0" encoding="utf-8"?>
<p:tagLst xmlns:p="http://schemas.openxmlformats.org/presentationml/2006/main">
  <p:tag name="KSO_WM_DIAGRAM_VIRTUALLY_FRAME" val="{&quot;height&quot;:124.87503937007878,&quot;left&quot;:115.5,&quot;top&quot;:315.75,&quot;width&quot;:1228.9242519685038}"/>
</p:tagLst>
</file>

<file path=ppt/tags/tag47.xml><?xml version="1.0" encoding="utf-8"?>
<p:tagLst xmlns:p="http://schemas.openxmlformats.org/presentationml/2006/main">
  <p:tag name="KSO_WM_DIAGRAM_VIRTUALLY_FRAME" val="{&quot;height&quot;:124.87503937007878,&quot;left&quot;:115.5,&quot;top&quot;:315.75,&quot;width&quot;:1228.9242519685038}"/>
</p:tagLst>
</file>

<file path=ppt/tags/tag48.xml><?xml version="1.0" encoding="utf-8"?>
<p:tagLst xmlns:p="http://schemas.openxmlformats.org/presentationml/2006/main">
  <p:tag name="KSO_WM_DIAGRAM_VIRTUALLY_FRAME" val="{&quot;height&quot;:124.87503937007878,&quot;left&quot;:115.5,&quot;top&quot;:315.75,&quot;width&quot;:1228.9242519685038}"/>
</p:tagLst>
</file>

<file path=ppt/tags/tag49.xml><?xml version="1.0" encoding="utf-8"?>
<p:tagLst xmlns:p="http://schemas.openxmlformats.org/presentationml/2006/main">
  <p:tag name="KSO_WM_DIAGRAM_VIRTUALLY_FRAME" val="{&quot;height&quot;:238.5,&quot;left&quot;:82.5,&quot;top&quot;:235.5,&quot;width&quot;:1201.75}"/>
</p:tagLst>
</file>

<file path=ppt/tags/tag50.xml><?xml version="1.0" encoding="utf-8"?>
<p:tagLst xmlns:p="http://schemas.openxmlformats.org/presentationml/2006/main">
  <p:tag name="KSO_WM_DIAGRAM_VIRTUALLY_FRAME" val="{&quot;height&quot;:238.5,&quot;left&quot;:82.5,&quot;top&quot;:235.5,&quot;width&quot;:1201.75}"/>
</p:tagLst>
</file>

<file path=ppt/tags/tag51.xml><?xml version="1.0" encoding="utf-8"?>
<p:tagLst xmlns:p="http://schemas.openxmlformats.org/presentationml/2006/main">
  <p:tag name="KSO_WM_DIAGRAM_VIRTUALLY_FRAME" val="{&quot;height&quot;:238.5,&quot;left&quot;:82.5,&quot;top&quot;:235.5,&quot;width&quot;:1201.75}"/>
</p:tagLst>
</file>

<file path=ppt/tags/tag52.xml><?xml version="1.0" encoding="utf-8"?>
<p:tagLst xmlns:p="http://schemas.openxmlformats.org/presentationml/2006/main">
  <p:tag name="KSO_WM_DIAGRAM_VIRTUALLY_FRAME" val="{&quot;height&quot;:238.5,&quot;left&quot;:82.5,&quot;top&quot;:235.5,&quot;width&quot;:1201.75}"/>
</p:tagLst>
</file>

<file path=ppt/tags/tag53.xml><?xml version="1.0" encoding="utf-8"?>
<p:tagLst xmlns:p="http://schemas.openxmlformats.org/presentationml/2006/main">
  <p:tag name="KSO_WM_DIAGRAM_VIRTUALLY_FRAME" val="{&quot;height&quot;:238.5,&quot;left&quot;:82.5,&quot;top&quot;:235.5,&quot;width&quot;:1201.75}"/>
</p:tagLst>
</file>

<file path=ppt/tags/tag54.xml><?xml version="1.0" encoding="utf-8"?>
<p:tagLst xmlns:p="http://schemas.openxmlformats.org/presentationml/2006/main">
  <p:tag name="KSO_WM_DIAGRAM_VIRTUALLY_FRAME" val="{&quot;height&quot;:238.5,&quot;left&quot;:82.5,&quot;top&quot;:235.5,&quot;width&quot;:1201.75}"/>
</p:tagLst>
</file>

<file path=ppt/tags/tag55.xml><?xml version="1.0" encoding="utf-8"?>
<p:tagLst xmlns:p="http://schemas.openxmlformats.org/presentationml/2006/main">
  <p:tag name="KSO_WM_DIAGRAM_VIRTUALLY_FRAME" val="{&quot;height&quot;:238.5,&quot;left&quot;:82.5,&quot;top&quot;:235.5,&quot;width&quot;:1201.75}"/>
</p:tagLst>
</file>

<file path=ppt/tags/tag56.xml><?xml version="1.0" encoding="utf-8"?>
<p:tagLst xmlns:p="http://schemas.openxmlformats.org/presentationml/2006/main">
  <p:tag name="KSO_WM_DIAGRAM_VIRTUALLY_FRAME" val="{&quot;height&quot;:238.5,&quot;left&quot;:82.5,&quot;top&quot;:235.5,&quot;width&quot;:1201.75}"/>
</p:tagLst>
</file>

<file path=ppt/tags/tag57.xml><?xml version="1.0" encoding="utf-8"?>
<p:tagLst xmlns:p="http://schemas.openxmlformats.org/presentationml/2006/main">
  <p:tag name="KSO_WM_DIAGRAM_VIRTUALLY_FRAME" val="{&quot;height&quot;:238.5,&quot;left&quot;:82.5,&quot;top&quot;:235.5,&quot;width&quot;:1201.75}"/>
</p:tagLst>
</file>

<file path=ppt/tags/tag58.xml><?xml version="1.0" encoding="utf-8"?>
<p:tagLst xmlns:p="http://schemas.openxmlformats.org/presentationml/2006/main">
  <p:tag name="KSO_WM_DIAGRAM_VIRTUALLY_FRAME" val="{&quot;height&quot;:238.5,&quot;left&quot;:82.5,&quot;top&quot;:235.5,&quot;width&quot;:1201.75}"/>
</p:tagLst>
</file>

<file path=ppt/tags/tag59.xml><?xml version="1.0" encoding="utf-8"?>
<p:tagLst xmlns:p="http://schemas.openxmlformats.org/presentationml/2006/main">
  <p:tag name="KSO_WM_DIAGRAM_VIRTUALLY_FRAME" val="{&quot;height&quot;:238.5,&quot;left&quot;:82.5,&quot;top&quot;:235.5,&quot;width&quot;:1201.75}"/>
</p:tagLst>
</file>

<file path=ppt/tags/tag60.xml><?xml version="1.0" encoding="utf-8"?>
<p:tagLst xmlns:p="http://schemas.openxmlformats.org/presentationml/2006/main">
  <p:tag name="KSO_WM_DIAGRAM_VIRTUALLY_FRAME" val="{&quot;height&quot;:238.5,&quot;left&quot;:82.5,&quot;top&quot;:235.5,&quot;width&quot;:1201.75}"/>
</p:tagLst>
</file>

<file path=ppt/tags/tag61.xml><?xml version="1.0" encoding="utf-8"?>
<p:tagLst xmlns:p="http://schemas.openxmlformats.org/presentationml/2006/main">
  <p:tag name="resource_record_key" val="{&quot;10&quot;:[50059480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5288</Words>
  <Application>WPS 演示</Application>
  <PresentationFormat>On-screen Show (16:9)</PresentationFormat>
  <Paragraphs>506</Paragraphs>
  <Slides>27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37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飞鱼</cp:lastModifiedBy>
  <cp:revision>10</cp:revision>
  <dcterms:created xsi:type="dcterms:W3CDTF">2026-09-07T06:54:00Z</dcterms:created>
  <dcterms:modified xsi:type="dcterms:W3CDTF">2026-09-07T09:18:20Z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EA118DB1CF3C49EEA2145D9795150507_12</vt:lpwstr>
  </property>
</Properties>
</file>