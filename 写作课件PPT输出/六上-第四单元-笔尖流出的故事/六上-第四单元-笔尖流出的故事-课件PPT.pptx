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6" r:id="rId29"/>
    <p:sldId id="281" r:id="rId30"/>
    <p:sldId id="282" r:id="rId31"/>
    <p:sldId id="283" r:id="rId32"/>
    <p:sldId id="285" r:id="rId3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686550" cy="18351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27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8740379" y="0"/>
            <a:ext cx="6686550" cy="18351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27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34740852"/>
            <a:ext cx="6686550" cy="18351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7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8740379" y="34740852"/>
            <a:ext cx="6686550" cy="18351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7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jpe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52400" y="-244475"/>
            <a:ext cx="20288885" cy="8912225"/>
            <a:chOff x="-240" y="-385"/>
            <a:chExt cx="31951" cy="14035"/>
          </a:xfrm>
        </p:grpSpPr>
        <p:sp>
          <p:nvSpPr>
            <p:cNvPr id="14" name="Shape 1"/>
            <p:cNvSpPr/>
            <p:nvPr/>
          </p:nvSpPr>
          <p:spPr>
            <a:xfrm>
              <a:off x="728" y="2595"/>
              <a:ext cx="27293" cy="8400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EE7B2E">
                    <a:alpha val="100000"/>
                  </a:srgbClr>
                </a:gs>
                <a:gs pos="42000">
                  <a:srgbClr val="F0A63C">
                    <a:alpha val="100000"/>
                  </a:srgbClr>
                </a:gs>
                <a:gs pos="100000">
                  <a:srgbClr val="57B0A6">
                    <a:alpha val="100000"/>
                  </a:srgbClr>
                </a:gs>
              </a:gsLst>
              <a:lin ang="900000" scaled="0"/>
            </a:gradFill>
          </p:spPr>
          <p:txBody>
            <a:bodyPr/>
            <a:lstStyle/>
            <a:p/>
          </p:txBody>
        </p:sp>
        <p:sp>
          <p:nvSpPr>
            <p:cNvPr id="15" name="Shape 3"/>
            <p:cNvSpPr/>
            <p:nvPr/>
          </p:nvSpPr>
          <p:spPr>
            <a:xfrm>
              <a:off x="23495" y="-385"/>
              <a:ext cx="8216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Shape 2"/>
            <p:cNvSpPr/>
            <p:nvPr/>
          </p:nvSpPr>
          <p:spPr>
            <a:xfrm>
              <a:off x="4650" y="2250"/>
              <a:ext cx="5400" cy="54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Shape 3"/>
            <p:cNvSpPr/>
            <p:nvPr/>
          </p:nvSpPr>
          <p:spPr>
            <a:xfrm>
              <a:off x="9150" y="7200"/>
              <a:ext cx="6450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/>
          </p:txBody>
        </p:sp>
        <p:pic>
          <p:nvPicPr>
            <p:cNvPr id="19" name="Picture 3" descr="logo-r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569" y="893"/>
              <a:ext cx="3355" cy="1415"/>
            </a:xfrm>
            <a:prstGeom prst="rect">
              <a:avLst/>
            </a:prstGeom>
          </p:spPr>
        </p:pic>
        <p:sp>
          <p:nvSpPr>
            <p:cNvPr id="18" name="Shape 1"/>
            <p:cNvSpPr/>
            <p:nvPr/>
          </p:nvSpPr>
          <p:spPr>
            <a:xfrm>
              <a:off x="-240" y="810"/>
              <a:ext cx="1560" cy="1110"/>
            </a:xfrm>
            <a:prstGeom prst="roundRect">
              <a:avLst>
                <a:gd name="adj" fmla="val 4054"/>
              </a:avLst>
            </a:prstGeom>
            <a:solidFill>
              <a:srgbClr val="3D4A63"/>
            </a:solidFill>
          </p:spPr>
          <p:txBody>
            <a:bodyPr/>
            <a:lstStyle/>
            <a:p/>
          </p:txBody>
        </p:sp>
      </p:grpSp>
      <p:sp>
        <p:nvSpPr>
          <p:cNvPr id="6" name="Text 3"/>
          <p:cNvSpPr/>
          <p:nvPr/>
        </p:nvSpPr>
        <p:spPr>
          <a:xfrm>
            <a:off x="4800600" y="2659380"/>
            <a:ext cx="9878695" cy="1371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笔尖流出的故事</a:t>
            </a:r>
            <a:endParaRPr lang="en-US" sz="8000" b="1" i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38700" y="3994785"/>
            <a:ext cx="1081532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六年级上册 · 第四单元 · 校内同步写作（想象习作）</a:t>
            </a:r>
            <a:endParaRPr lang="en-US" sz="3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0" y="6953250"/>
            <a:ext cx="4095750" cy="266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六年级上册 · 第四单元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solidFill>
            <a:srgbClr val="9EC37D"/>
          </a:solidFill>
        </p:spPr>
        <p:txBody>
          <a:bodyPr/>
          <a:lstStyle/>
          <a:p/>
        </p:txBody>
      </p:sp>
      <p:sp>
        <p:nvSpPr>
          <p:cNvPr id="12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038350" y="3181350"/>
            <a:ext cx="2581230" cy="2428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0" b="1" kern="0" spc="4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0448523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 · 想象环境 · 一道坎与一处转折 · 故事构思表 · 教师示范文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9"/>
          <p:cNvSpPr/>
          <p:nvPr/>
        </p:nvSpPr>
        <p:spPr>
          <a:xfrm>
            <a:off x="7359015" y="8162925"/>
            <a:ext cx="9976485" cy="1104900"/>
          </a:xfrm>
          <a:prstGeom prst="roundRect">
            <a:avLst>
              <a:gd name="adj" fmla="val 1649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Shape 2"/>
          <p:cNvSpPr/>
          <p:nvPr>
            <p:custDataLst>
              <p:tags r:id="rId1"/>
            </p:custDataLst>
          </p:nvPr>
        </p:nvSpPr>
        <p:spPr>
          <a:xfrm>
            <a:off x="1047750" y="1428750"/>
            <a:ext cx="13319999" cy="833755"/>
          </a:xfrm>
          <a:prstGeom prst="roundRect">
            <a:avLst>
              <a:gd name="adj" fmla="val 22857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5816158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先看这幅画：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三个人，一盏灯</a:t>
            </a:r>
            <a:endParaRPr lang="en-US" sz="3205" dirty="0"/>
          </a:p>
        </p:txBody>
      </p:sp>
      <p:sp>
        <p:nvSpPr>
          <p:cNvPr id="10" name="Text 6"/>
          <p:cNvSpPr/>
          <p:nvPr/>
        </p:nvSpPr>
        <p:spPr>
          <a:xfrm>
            <a:off x="7992745" y="3694430"/>
            <a:ext cx="9748520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看半分钟，猜一猜：这三个人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互相认识吗 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？你从哪里看出来的？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7992745" y="4997450"/>
            <a:ext cx="9748520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最前面这一个正在做事，他在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做什么 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？后面那两个人呢？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7992745" y="6300470"/>
            <a:ext cx="9748520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画上没有答案，可是大家都能从画面上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找到自己的理由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7992745" y="8477250"/>
            <a:ext cx="8589010" cy="5448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刚才大家说的这几句，已经是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一个故事的开头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了。</a:t>
            </a:r>
            <a:endParaRPr lang="en-US" sz="2605" dirty="0"/>
          </a:p>
        </p:txBody>
      </p:sp>
      <p:sp>
        <p:nvSpPr>
          <p:cNvPr id="16" name="Shape 9"/>
          <p:cNvSpPr/>
          <p:nvPr>
            <p:custDataLst>
              <p:tags r:id="rId3"/>
            </p:custDataLst>
          </p:nvPr>
        </p:nvSpPr>
        <p:spPr>
          <a:xfrm>
            <a:off x="7359015" y="3700780"/>
            <a:ext cx="504825" cy="504825"/>
          </a:xfrm>
          <a:prstGeom prst="roundRect">
            <a:avLst>
              <a:gd name="adj" fmla="val 21875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7" name="Text 10"/>
          <p:cNvSpPr/>
          <p:nvPr>
            <p:custDataLst>
              <p:tags r:id="rId4"/>
            </p:custDataLst>
          </p:nvPr>
        </p:nvSpPr>
        <p:spPr>
          <a:xfrm>
            <a:off x="7517368" y="3753167"/>
            <a:ext cx="26417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20" name="Shape 12"/>
          <p:cNvSpPr/>
          <p:nvPr>
            <p:custDataLst>
              <p:tags r:id="rId5"/>
            </p:custDataLst>
          </p:nvPr>
        </p:nvSpPr>
        <p:spPr>
          <a:xfrm>
            <a:off x="7359015" y="5009833"/>
            <a:ext cx="504825" cy="504825"/>
          </a:xfrm>
          <a:prstGeom prst="roundRect">
            <a:avLst>
              <a:gd name="adj" fmla="val 21875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1" name="Text 13"/>
          <p:cNvSpPr/>
          <p:nvPr>
            <p:custDataLst>
              <p:tags r:id="rId6"/>
            </p:custDataLst>
          </p:nvPr>
        </p:nvSpPr>
        <p:spPr>
          <a:xfrm>
            <a:off x="7517368" y="5062220"/>
            <a:ext cx="26417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22" name="Shape 15"/>
          <p:cNvSpPr/>
          <p:nvPr>
            <p:custDataLst>
              <p:tags r:id="rId7"/>
            </p:custDataLst>
          </p:nvPr>
        </p:nvSpPr>
        <p:spPr>
          <a:xfrm>
            <a:off x="7359015" y="6323330"/>
            <a:ext cx="504825" cy="504825"/>
          </a:xfrm>
          <a:prstGeom prst="roundRect">
            <a:avLst>
              <a:gd name="adj" fmla="val 21875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3" name="Text 16"/>
          <p:cNvSpPr/>
          <p:nvPr>
            <p:custDataLst>
              <p:tags r:id="rId8"/>
            </p:custDataLst>
          </p:nvPr>
        </p:nvSpPr>
        <p:spPr>
          <a:xfrm>
            <a:off x="7517368" y="6375717"/>
            <a:ext cx="26417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pic>
        <p:nvPicPr>
          <p:cNvPr id="25" name="图片 24" descr="笔尖流出的故事-1"/>
          <p:cNvPicPr>
            <a:picLocks noChangeAspect="1"/>
          </p:cNvPicPr>
          <p:nvPr/>
        </p:nvPicPr>
        <p:blipFill>
          <a:blip r:embed="rId9"/>
          <a:srcRect t="1698" b="14637"/>
          <a:stretch>
            <a:fillRect/>
          </a:stretch>
        </p:blipFill>
        <p:spPr>
          <a:xfrm>
            <a:off x="1075055" y="2675255"/>
            <a:ext cx="5838825" cy="6908165"/>
          </a:xfrm>
          <a:prstGeom prst="roundRect">
            <a:avLst>
              <a:gd name="adj" fmla="val 5110"/>
            </a:avLst>
          </a:prstGeom>
          <a:ln>
            <a:solidFill>
              <a:schemeClr val="accent2"/>
            </a:solidFill>
          </a:ln>
        </p:spPr>
      </p:pic>
      <p:pic>
        <p:nvPicPr>
          <p:cNvPr id="26" name="图片 25" descr="我的家人-28-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22960" y="590550"/>
            <a:ext cx="1022727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"/>
          <p:cNvSpPr/>
          <p:nvPr>
            <p:custDataLst>
              <p:tags r:id="rId1"/>
            </p:custDataLst>
          </p:nvPr>
        </p:nvSpPr>
        <p:spPr>
          <a:xfrm>
            <a:off x="1047750" y="1428750"/>
            <a:ext cx="13319999" cy="833755"/>
          </a:xfrm>
          <a:prstGeom prst="roundRect">
            <a:avLst>
              <a:gd name="adj" fmla="val 22857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6" name="图片 25" descr="我的家人-28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960" y="590550"/>
            <a:ext cx="1022727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760584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这次习作：编一个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像真的发生过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的故事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133350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733550" y="4152900"/>
            <a:ext cx="457200" cy="285750"/>
          </a:xfrm>
          <a:prstGeom prst="rect">
            <a:avLst/>
          </a:prstGeom>
          <a:solidFill>
            <a:srgbClr val="EAF1FB"/>
          </a:solidFill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550" y="4152900"/>
            <a:ext cx="457200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43050" y="3219450"/>
            <a:ext cx="12325985" cy="647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本单元</a:t>
            </a: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导语页上写着：“小说大多是</a:t>
            </a:r>
            <a:r>
              <a:rPr lang="en-US" sz="3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虚构</a:t>
            </a: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的，却又有</a:t>
            </a:r>
            <a:r>
              <a:rPr lang="en-US" sz="3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生活的影子</a:t>
            </a: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。”</a:t>
            </a:r>
            <a:endParaRPr lang="en-US" sz="3000" dirty="0"/>
          </a:p>
        </p:txBody>
      </p:sp>
      <p:sp>
        <p:nvSpPr>
          <p:cNvPr id="11" name="Shape 7"/>
          <p:cNvSpPr/>
          <p:nvPr/>
        </p:nvSpPr>
        <p:spPr>
          <a:xfrm>
            <a:off x="1047750" y="51054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409700" y="4953000"/>
            <a:ext cx="12447270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这个单元的课文都是小说：故事是作家编的，读起来却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像真的在哪里发生过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1047750" y="5907286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409700" y="5755005"/>
            <a:ext cx="12824460" cy="7054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这次请你也来编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人物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是编的，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事件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是编的，读的人却觉得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这样的事，是会发生的</a:t>
            </a:r>
            <a:endParaRPr lang="en-US" sz="2700" dirty="0"/>
          </a:p>
        </p:txBody>
      </p:sp>
      <p:sp>
        <p:nvSpPr>
          <p:cNvPr id="15" name="Shape 11"/>
          <p:cNvSpPr/>
          <p:nvPr/>
        </p:nvSpPr>
        <p:spPr>
          <a:xfrm>
            <a:off x="1047750" y="7920038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1428750" y="8167370"/>
            <a:ext cx="16322675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编出来的故事要有人听：第二节课交流分享，听的人要能说出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这个故事里的 “坎” 出现在哪一句，转折点发生在哪一处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325" dirty="0"/>
          </a:p>
        </p:txBody>
      </p:sp>
      <p:sp>
        <p:nvSpPr>
          <p:cNvPr id="17" name="Text 13"/>
          <p:cNvSpPr/>
          <p:nvPr/>
        </p:nvSpPr>
        <p:spPr>
          <a:xfrm>
            <a:off x="1047750" y="9334500"/>
            <a:ext cx="114947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听的人说得清楚，你这个故事就写好了；说不清楚，第二节课就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还要再改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"/>
          <p:cNvSpPr/>
          <p:nvPr>
            <p:custDataLst>
              <p:tags r:id="rId1"/>
            </p:custDataLst>
          </p:nvPr>
        </p:nvSpPr>
        <p:spPr>
          <a:xfrm>
            <a:off x="1047750" y="1428750"/>
            <a:ext cx="13319999" cy="833755"/>
          </a:xfrm>
          <a:prstGeom prst="roundRect">
            <a:avLst>
              <a:gd name="adj" fmla="val 22857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7" name="图片 26" descr="我的家人-28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960" y="590550"/>
            <a:ext cx="1022727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5816158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三组环境和人物，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选一组来写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5181600" cy="2838450"/>
          </a:xfrm>
          <a:prstGeom prst="roundRect">
            <a:avLst>
              <a:gd name="adj" fmla="val 604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51625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3975" y="3038475"/>
            <a:ext cx="509206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第一组 · 开满丁香花的校园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343025" y="3857625"/>
            <a:ext cx="4728782" cy="13637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淘气包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张明 </a:t>
            </a: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雷厉风行的班长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王寒冰 </a:t>
            </a: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充满活力的年轻班主任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李军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6553200" y="2857500"/>
            <a:ext cx="5181600" cy="2838450"/>
          </a:xfrm>
          <a:prstGeom prst="roundRect">
            <a:avLst>
              <a:gd name="adj" fmla="val 604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562725" y="2867025"/>
            <a:ext cx="51625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829425" y="3038475"/>
            <a:ext cx="509206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第二组 · 冬日黄昏时车来人往的街头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6848475" y="3857625"/>
            <a:ext cx="4728782" cy="92184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充满爱心的少年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陆天 </a:t>
            </a: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志愿者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徐明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12058650" y="2857500"/>
            <a:ext cx="5181600" cy="2838450"/>
          </a:xfrm>
          <a:prstGeom prst="roundRect">
            <a:avLst>
              <a:gd name="adj" fmla="val 604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2068175" y="2867025"/>
            <a:ext cx="51625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2334875" y="3038475"/>
            <a:ext cx="509206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第三组 · 月光下的村庄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2353925" y="3857625"/>
            <a:ext cx="4728782" cy="92184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铁蛋 </a:t>
            </a: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铁蛋远道而来的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表哥</a:t>
            </a:r>
            <a:endParaRPr lang="en-US" sz="2175" dirty="0"/>
          </a:p>
        </p:txBody>
      </p:sp>
      <p:sp>
        <p:nvSpPr>
          <p:cNvPr id="19" name="Shape 16"/>
          <p:cNvSpPr/>
          <p:nvPr/>
        </p:nvSpPr>
        <p:spPr>
          <a:xfrm>
            <a:off x="1047750" y="65913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09700" y="6477000"/>
            <a:ext cx="3688080" cy="4647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故事要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围绕主要人物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展开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047750" y="720849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409700" y="7094190"/>
            <a:ext cx="5029200" cy="4647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把故事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写完整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，情节尽可能吸引人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047750" y="782568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409700" y="7711380"/>
            <a:ext cx="8382000" cy="4647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试着写出故事发生的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</a:t>
            </a: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，还可以写一写人物的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心理活动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047750" y="8907780"/>
            <a:ext cx="15541625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选一组，也可以自己创设一组。选哪一组现在不用定，这节课三组都会讲到，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快下课的时候再定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"/>
          <p:cNvSpPr/>
          <p:nvPr>
            <p:custDataLst>
              <p:tags r:id="rId1"/>
            </p:custDataLst>
          </p:nvPr>
        </p:nvSpPr>
        <p:spPr>
          <a:xfrm>
            <a:off x="1047750" y="1428750"/>
            <a:ext cx="13319999" cy="833755"/>
          </a:xfrm>
          <a:prstGeom prst="roundRect">
            <a:avLst>
              <a:gd name="adj" fmla="val 22857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6" name="图片 25" descr="我的家人-28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960" y="590550"/>
            <a:ext cx="1022727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想象环境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7158424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把一行字，想成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一个真正存在的地方</a:t>
            </a:r>
            <a:endParaRPr lang="en-US" sz="3205" dirty="0"/>
          </a:p>
        </p:txBody>
      </p:sp>
      <p:sp>
        <p:nvSpPr>
          <p:cNvPr id="8" name="Shape 5"/>
          <p:cNvSpPr/>
          <p:nvPr/>
        </p:nvSpPr>
        <p:spPr>
          <a:xfrm>
            <a:off x="1047750" y="3048000"/>
            <a:ext cx="9715500" cy="1410593"/>
          </a:xfrm>
          <a:prstGeom prst="roundRect">
            <a:avLst>
              <a:gd name="adj" fmla="val 1080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28750" y="3295650"/>
            <a:ext cx="9222105" cy="9533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闭上眼睛想半分钟：天已经黑了，村里没有路灯，只有月亮， 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铁蛋要带表哥从村口走回家 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，两个人一前一后走在路上。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47750" y="4972943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09700" y="4839593"/>
            <a:ext cx="9901238" cy="521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铁蛋有什么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，表哥有什么动作，他们路上可能说什么话？</a:t>
            </a:r>
            <a:endParaRPr lang="en-US" sz="2625" dirty="0"/>
          </a:p>
        </p:txBody>
      </p:sp>
      <p:sp>
        <p:nvSpPr>
          <p:cNvPr id="12" name="Shape 9"/>
          <p:cNvSpPr/>
          <p:nvPr/>
        </p:nvSpPr>
        <p:spPr>
          <a:xfrm>
            <a:off x="1047750" y="5761137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09700" y="5627787"/>
            <a:ext cx="10267950" cy="521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站在村口往里看，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看得见什么，听得见什么，脚底下踩着什么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625" dirty="0"/>
          </a:p>
        </p:txBody>
      </p:sp>
      <p:sp>
        <p:nvSpPr>
          <p:cNvPr id="14" name="Shape 11"/>
          <p:cNvSpPr/>
          <p:nvPr/>
        </p:nvSpPr>
        <p:spPr>
          <a:xfrm>
            <a:off x="1047750" y="654933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409700" y="6415980"/>
            <a:ext cx="9901238" cy="521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刚才说到的动作和景物，选第三组的同学都可以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直接写进故事</a:t>
            </a:r>
            <a:endParaRPr lang="en-US" sz="2625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3143250"/>
            <a:ext cx="4953000" cy="4953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47750" y="8892540"/>
            <a:ext cx="10859135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这就是把“月光下的村庄”六个字，变成了一个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真正存在的地方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>
            <p:custDataLst>
              <p:tags r:id="rId1"/>
            </p:custDataLst>
          </p:nvPr>
        </p:nvSpPr>
        <p:spPr>
          <a:xfrm>
            <a:off x="1047750" y="1428750"/>
            <a:ext cx="13319999" cy="833755"/>
          </a:xfrm>
          <a:prstGeom prst="roundRect">
            <a:avLst>
              <a:gd name="adj" fmla="val 22857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6" name="图片 25" descr="我的家人-28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960" y="590550"/>
            <a:ext cx="1022727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想象环境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轮到你了：用同样的办法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走进另外两组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21945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200400"/>
            <a:ext cx="7554278" cy="521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前后桌四人一组，从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校园和街头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这两组里任选一组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007644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083844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064794"/>
            <a:ext cx="9133808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用两分钟说出：这个环境里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看得见的两样景物、听得见的一种声音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355431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431631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412581"/>
            <a:ext cx="9133808" cy="10048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再说出：你最想让谁当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主要人物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，他今天 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最想做成一件什么事</a:t>
            </a:r>
            <a:endParaRPr lang="en-US" sz="2625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3238500"/>
            <a:ext cx="4953000" cy="40005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8015288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8263255"/>
            <a:ext cx="15528925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说完不用汇报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：各自记在稿纸上方，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只记关键词，不写句子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：选定或候选的一组、主要人物、他最想做成的事。</a:t>
            </a:r>
            <a:endParaRPr lang="en-US" sz="23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"/>
          <p:cNvSpPr/>
          <p:nvPr>
            <p:custDataLst>
              <p:tags r:id="rId1"/>
            </p:custDataLst>
          </p:nvPr>
        </p:nvSpPr>
        <p:spPr>
          <a:xfrm>
            <a:off x="1047750" y="1428750"/>
            <a:ext cx="13319999" cy="833755"/>
          </a:xfrm>
          <a:prstGeom prst="roundRect">
            <a:avLst>
              <a:gd name="adj" fmla="val 22857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6" name="图片 25" descr="我的家人-28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960" y="590550"/>
            <a:ext cx="1022727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45034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81150"/>
            <a:ext cx="841248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两段的开头一个字不差，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比后面那半段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7905750" cy="4819650"/>
          </a:xfrm>
          <a:prstGeom prst="roundRect">
            <a:avLst>
              <a:gd name="adj" fmla="val 3557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7886700" cy="7048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30580" y="2924175"/>
            <a:ext cx="834009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476625"/>
            <a:ext cx="7886700" cy="409575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762375"/>
            <a:ext cx="7456170" cy="25375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14350" algn="l">
              <a:lnSpc>
                <a:spcPct val="1220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冬天的傍晚，街上的车一辆接一辆，车灯把马路照得发白。陆天背着书包往公交站走，呼出的气一团一团的，散在路灯底下。路边一位老奶奶提着两个装满菜的袋子，走几步就停一下，把袋子换到另一只手上。陆天跑过去接过袋子，扶着她等绿灯，过了马路，一直送到小区门口。老奶奶连声道谢，陆天摆摆手，跑回公交站，正好赶上了车。</a:t>
            </a:r>
            <a:endParaRPr lang="en-US" sz="2025" dirty="0"/>
          </a:p>
        </p:txBody>
      </p:sp>
      <p:sp>
        <p:nvSpPr>
          <p:cNvPr id="12" name="Shape 9"/>
          <p:cNvSpPr/>
          <p:nvPr/>
        </p:nvSpPr>
        <p:spPr>
          <a:xfrm>
            <a:off x="9334500" y="2762250"/>
            <a:ext cx="7905750" cy="4819650"/>
          </a:xfrm>
          <a:prstGeom prst="roundRect">
            <a:avLst>
              <a:gd name="adj" fmla="val 3557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44025" y="2771775"/>
            <a:ext cx="7886700" cy="7048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17330" y="2924175"/>
            <a:ext cx="834009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344025" y="3476625"/>
            <a:ext cx="7886700" cy="409575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67875" y="3762375"/>
            <a:ext cx="7456170" cy="337065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14350" algn="l">
              <a:lnSpc>
                <a:spcPct val="1220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冬天的傍晚，街上的车一辆接一辆，车灯把马路照得发白。陆天站在公交站牌底下跺脚，一只手在口袋里攥着公交卡。这时候他看见不远处的电线杆底下蹲着一个小男孩，一个人，脸埋在胳膊里，看样子是在哭。他想：最后一班车还有五分钟就到，车一走，今天就得走回家。陆天往路口望了一眼，两束车灯的光由远到近照了过来。车在他面前停下，门开了， </a:t>
            </a: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他抬起一只脚，又放下了 </a:t>
            </a:r>
            <a:r>
              <a:rPr lang="en-US" sz="20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。他走到电线杆底下蹲下来，小男孩抬起头，手里攥着一只红手套。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1047750" y="8953500"/>
            <a:ext cx="1504950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两段都是老师用第二组的陆天写的。默读一遍，判断：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哪一段更符合这次习作的要求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？说出理由。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"/>
          <p:cNvSpPr/>
          <p:nvPr>
            <p:custDataLst>
              <p:tags r:id="rId1"/>
            </p:custDataLst>
          </p:nvPr>
        </p:nvSpPr>
        <p:spPr>
          <a:xfrm>
            <a:off x="1047750" y="1428750"/>
            <a:ext cx="13319999" cy="833755"/>
          </a:xfrm>
          <a:prstGeom prst="roundRect">
            <a:avLst>
              <a:gd name="adj" fmla="val 22857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6" name="图片 25" descr="我的家人-28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960" y="590550"/>
            <a:ext cx="1022727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8053268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再读一遍，找一找：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哪一句让你停了下来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990850"/>
            <a:ext cx="169735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读到哪一句，你停了一下、想知道后面怎么样？有，就在那一句底下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画一道线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；没有，就不画。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1047750" y="4095750"/>
            <a:ext cx="7905750" cy="2809875"/>
          </a:xfrm>
          <a:prstGeom prst="roundRect">
            <a:avLst>
              <a:gd name="adj" fmla="val 610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47800" y="4438650"/>
            <a:ext cx="781621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第一段：</a:t>
            </a:r>
            <a:r>
              <a:rPr lang="zh-CN" altLang="en-US" sz="24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不用画</a:t>
            </a:r>
            <a:r>
              <a:rPr lang="en-US" sz="24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这道线</a:t>
            </a:r>
            <a:endParaRPr lang="zh-CN" altLang="en-US" sz="2475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47800" y="5086350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866900" y="5086350"/>
            <a:ext cx="722947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一看见老奶奶提袋子，大家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已经知道后面会怎么样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447800" y="5705475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866900" y="5705475"/>
            <a:ext cx="56578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帮人和赶车，一件也不耽误，事情一路顺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9334500" y="4095750"/>
            <a:ext cx="7905750" cy="2809875"/>
          </a:xfrm>
          <a:prstGeom prst="roundRect">
            <a:avLst>
              <a:gd name="adj" fmla="val 610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734550" y="4438650"/>
            <a:ext cx="781621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第二段：线落在同一句上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9734550" y="5086350"/>
            <a:ext cx="361950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0153650" y="5086350"/>
            <a:ext cx="6887147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“他抬起一只脚，又放下了”，读到这里 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不知道他上不上车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9734550" y="6134100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0153650" y="6134100"/>
            <a:ext cx="377190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他上了车，小孩就没人管了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047750" y="8846820"/>
            <a:ext cx="12437745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两个陆天处境不同：第二段里，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最后一班车和哭着的小孩，只能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一样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>
            <p:custDataLst>
              <p:tags r:id="rId1"/>
            </p:custDataLst>
          </p:nvPr>
        </p:nvSpPr>
        <p:spPr>
          <a:xfrm>
            <a:off x="1047750" y="1428750"/>
            <a:ext cx="13319999" cy="833755"/>
          </a:xfrm>
          <a:prstGeom prst="roundRect">
            <a:avLst>
              <a:gd name="adj" fmla="val 22857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6" name="图片 25" descr="我的家人-28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960" y="590550"/>
            <a:ext cx="1022727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760584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让读的人停下来的，是故事里的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一道坎</a:t>
            </a:r>
            <a:endParaRPr lang="en-US" sz="3205" dirty="0"/>
          </a:p>
        </p:txBody>
      </p:sp>
      <p:sp>
        <p:nvSpPr>
          <p:cNvPr id="8" name="Shape 5"/>
          <p:cNvSpPr/>
          <p:nvPr/>
        </p:nvSpPr>
        <p:spPr>
          <a:xfrm>
            <a:off x="1047750" y="3143250"/>
            <a:ext cx="6096000" cy="5334000"/>
          </a:xfrm>
          <a:prstGeom prst="roundRect">
            <a:avLst>
              <a:gd name="adj" fmla="val 3929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544955" y="4423470"/>
            <a:ext cx="5101590" cy="28116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两样 只能要一样</a:t>
            </a:r>
            <a:endParaRPr lang="en-US" sz="7800" dirty="0"/>
          </a:p>
        </p:txBody>
      </p:sp>
      <p:sp>
        <p:nvSpPr>
          <p:cNvPr id="10" name="Shape 7"/>
          <p:cNvSpPr/>
          <p:nvPr/>
        </p:nvSpPr>
        <p:spPr>
          <a:xfrm>
            <a:off x="8001000" y="33718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362950" y="3238500"/>
            <a:ext cx="8801100" cy="538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主要人物想做成一件事，另一件事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挡住了他</a:t>
            </a: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，这就是坎</a:t>
            </a:r>
            <a:endParaRPr lang="en-US" sz="2625" dirty="0"/>
          </a:p>
        </p:txBody>
      </p:sp>
      <p:sp>
        <p:nvSpPr>
          <p:cNvPr id="12" name="Shape 9"/>
          <p:cNvSpPr/>
          <p:nvPr/>
        </p:nvSpPr>
        <p:spPr>
          <a:xfrm>
            <a:off x="8001000" y="4195763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362950" y="4062412"/>
            <a:ext cx="7334250" cy="538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有了坎，读的人才会停下来，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想知道他怎么办</a:t>
            </a:r>
            <a:endParaRPr lang="en-US" sz="2625" dirty="0"/>
          </a:p>
        </p:txBody>
      </p:sp>
      <p:sp>
        <p:nvSpPr>
          <p:cNvPr id="14" name="Shape 11"/>
          <p:cNvSpPr/>
          <p:nvPr/>
        </p:nvSpPr>
        <p:spPr>
          <a:xfrm>
            <a:off x="8001000" y="501967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362950" y="4886325"/>
            <a:ext cx="7334250" cy="538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情节吸引人，靠的是坎，</a:t>
            </a:r>
            <a:r>
              <a:rPr 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事情多不多倒在其次</a:t>
            </a:r>
            <a:endParaRPr lang="en-US" sz="2625" dirty="0"/>
          </a:p>
        </p:txBody>
      </p:sp>
      <p:sp>
        <p:nvSpPr>
          <p:cNvPr id="16" name="Shape 13"/>
          <p:cNvSpPr/>
          <p:nvPr/>
        </p:nvSpPr>
        <p:spPr>
          <a:xfrm>
            <a:off x="8001000" y="5710238"/>
            <a:ext cx="9239250" cy="1351359"/>
          </a:xfrm>
          <a:prstGeom prst="roundRect">
            <a:avLst>
              <a:gd name="adj" fmla="val 12687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43900" y="5957888"/>
            <a:ext cx="8810054" cy="89415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课文</a:t>
            </a: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《桥》 </a:t>
            </a: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整篇就是一道坎：山洪来了，全村人要从一座窄桥上过去，水一步一步往上涨，读的人从头到尾 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替桥上的人捏着一把汗</a:t>
            </a: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619250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更符合要求的是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：它缺的只是后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半部分内容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，补上就完整；第一段缺的是一道坎，要从头重新想起。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"/>
          <p:cNvSpPr/>
          <p:nvPr>
            <p:custDataLst>
              <p:tags r:id="rId1"/>
            </p:custDataLst>
          </p:nvPr>
        </p:nvSpPr>
        <p:spPr>
          <a:xfrm>
            <a:off x="1047750" y="1428750"/>
            <a:ext cx="13319999" cy="833755"/>
          </a:xfrm>
          <a:prstGeom prst="roundRect">
            <a:avLst>
              <a:gd name="adj" fmla="val 22857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6" name="图片 25" descr="我的家人-28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960" y="590550"/>
            <a:ext cx="1022727" cy="1800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事情变方向的那一刻，就是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转折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16192500" cy="1302990"/>
          </a:xfrm>
          <a:prstGeom prst="roundRect">
            <a:avLst>
              <a:gd name="adj" fmla="val 20468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543050" y="3314700"/>
            <a:ext cx="16722090" cy="6171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“车在他面前停下，门开了，</a:t>
            </a:r>
            <a:r>
              <a:rPr lang="en-US" sz="28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他抬起一只脚，又放下了</a:t>
            </a: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。”</a:t>
            </a:r>
            <a:endParaRPr lang="en-US" sz="2850" dirty="0"/>
          </a:p>
        </p:txBody>
      </p:sp>
      <p:sp>
        <p:nvSpPr>
          <p:cNvPr id="11" name="Shape 7"/>
          <p:cNvSpPr/>
          <p:nvPr/>
        </p:nvSpPr>
        <p:spPr>
          <a:xfrm>
            <a:off x="1047750" y="52768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409700" y="5143500"/>
            <a:ext cx="12447270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到这一句，事情的方向变了：前面一直是他要赶车，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从这一句起，他不赶了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1047750" y="61150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409700" y="5981700"/>
            <a:ext cx="12700000" cy="893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坎让读的人停下来，转折告诉读的人：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做了哪个选择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，事情往哪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个方向发展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</a:t>
            </a:r>
            <a:endParaRPr lang="en-US" sz="2700" dirty="0"/>
          </a:p>
        </p:txBody>
      </p:sp>
      <p:sp>
        <p:nvSpPr>
          <p:cNvPr id="15" name="Shape 11"/>
          <p:cNvSpPr/>
          <p:nvPr/>
        </p:nvSpPr>
        <p:spPr>
          <a:xfrm>
            <a:off x="1047750" y="69532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1409700" y="6819900"/>
            <a:ext cx="6789420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一个故事，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有坎有转折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，情节就有了构思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1047750" y="8862060"/>
            <a:ext cx="12851765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老师的第二段是故意停在半路的：把转折之后的事写完，就是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一篇完整的故事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37944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9395371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心理活动写在哪里：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遇到坎的时候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，写一句他心里的话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16192500" cy="1302990"/>
          </a:xfrm>
          <a:prstGeom prst="roundRect">
            <a:avLst>
              <a:gd name="adj" fmla="val 20468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733550" y="4217640"/>
            <a:ext cx="457200" cy="285750"/>
          </a:xfrm>
          <a:prstGeom prst="rect">
            <a:avLst/>
          </a:prstGeom>
          <a:solidFill>
            <a:srgbClr val="EAF1FB"/>
          </a:solidFill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4217640"/>
            <a:ext cx="457200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43050" y="3314700"/>
            <a:ext cx="16722090" cy="6171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“他想：</a:t>
            </a:r>
            <a:r>
              <a:rPr lang="en-US" sz="28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最后一班车还有五分钟就到，车一走，今天就得走回家</a:t>
            </a: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。”</a:t>
            </a:r>
            <a:endParaRPr lang="en-US" sz="2850" dirty="0"/>
          </a:p>
        </p:txBody>
      </p:sp>
      <p:sp>
        <p:nvSpPr>
          <p:cNvPr id="11" name="Shape 7"/>
          <p:cNvSpPr/>
          <p:nvPr/>
        </p:nvSpPr>
        <p:spPr>
          <a:xfrm>
            <a:off x="1047750" y="52768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409700" y="5143500"/>
            <a:ext cx="11315700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第二段写他心里想什么的只有这一句，写在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遇到坎、他最为难的时候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1047750" y="61150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409700" y="5981700"/>
            <a:ext cx="10561320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有了这一句，后面他抬起脚又放下，读的人就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明白他为什么放下</a:t>
            </a:r>
            <a:endParaRPr lang="en-US" sz="2700" dirty="0"/>
          </a:p>
        </p:txBody>
      </p:sp>
      <p:sp>
        <p:nvSpPr>
          <p:cNvPr id="15" name="Shape 11"/>
          <p:cNvSpPr/>
          <p:nvPr/>
        </p:nvSpPr>
        <p:spPr>
          <a:xfrm>
            <a:off x="1047750" y="69532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1409700" y="6819900"/>
            <a:ext cx="13201650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《穷人》用了很长一段写桑娜心里翻来覆去地想；大家不用写那么长，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一句就够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中间只写这一句，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的地方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让动作替他说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719018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36890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替第一段的陆天，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想一道坎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3714750" cy="762000"/>
          </a:xfrm>
          <a:prstGeom prst="roundRect">
            <a:avLst>
              <a:gd name="adj" fmla="val 17500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33500" y="3048000"/>
            <a:ext cx="345757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他自己也要赶最后一班车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4953000" y="2857500"/>
            <a:ext cx="3429000" cy="762000"/>
          </a:xfrm>
          <a:prstGeom prst="roundRect">
            <a:avLst>
              <a:gd name="adj" fmla="val 17500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238750" y="3048000"/>
            <a:ext cx="31432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袋子破了，菜撒了一地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8572500" y="2857500"/>
            <a:ext cx="4286250" cy="762000"/>
          </a:xfrm>
          <a:prstGeom prst="roundRect">
            <a:avLst>
              <a:gd name="adj" fmla="val 17500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858250" y="3048000"/>
            <a:ext cx="408622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老奶奶不让他帮，怕他是骗子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3049250" y="2857500"/>
            <a:ext cx="4000500" cy="762000"/>
          </a:xfrm>
          <a:prstGeom prst="roundRect">
            <a:avLst>
              <a:gd name="adj" fmla="val 17500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335000" y="3048000"/>
            <a:ext cx="377190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绿灯太短，走到一半变红了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1047750" y="4381500"/>
            <a:ext cx="16192500" cy="1584722"/>
          </a:xfrm>
          <a:prstGeom prst="roundRect">
            <a:avLst>
              <a:gd name="adj" fmla="val 10819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85900" y="4686300"/>
            <a:ext cx="15775686" cy="101322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挑一挑：哪几道最像冬天傍晚的街头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真会有的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？留得住的坎，都是这个环境和这个人身上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本来就有的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：天黑得早，车少，老人对陌生人有戒心。坎是编的，可是编得像生活里真会有的，这就是导语页说的 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“生活的影子”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047750" y="6667500"/>
            <a:ext cx="16192500" cy="1381125"/>
          </a:xfrm>
          <a:prstGeom prst="roundRect">
            <a:avLst>
              <a:gd name="adj" fmla="val 1103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28750" y="6915150"/>
            <a:ext cx="15893415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写环境，不只是开头交代天气地点：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在遇到坎的时候、在转折的地方，各再写上一句 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。第二段里，冬天、黄昏、最后一班车，都是在让这道坎更难过去。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1047750" y="8896350"/>
            <a:ext cx="16678275" cy="914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“忽然来了一个坏人”这样的坎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不合适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，先问一句：这件事在这个环境里，是常有的，还是 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很偶然才会发生的 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90552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447405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写这个故事，做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三件事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1432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217861" y="321945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800225" y="3181350"/>
            <a:ext cx="7365683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给主要人物一道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从环境和人物特点里来的坎</a:t>
            </a:r>
            <a:endParaRPr lang="en-US" sz="2775" dirty="0"/>
          </a:p>
        </p:txBody>
      </p:sp>
      <p:sp>
        <p:nvSpPr>
          <p:cNvPr id="11" name="Shape 8"/>
          <p:cNvSpPr/>
          <p:nvPr/>
        </p:nvSpPr>
        <p:spPr>
          <a:xfrm>
            <a:off x="1047750" y="4073277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217861" y="4149477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800225" y="4111377"/>
            <a:ext cx="7753350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遇到坎的时候写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一句他心里的话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，别处让动作替他说</a:t>
            </a:r>
            <a:endParaRPr lang="en-US" sz="2775" dirty="0"/>
          </a:p>
        </p:txBody>
      </p:sp>
      <p:sp>
        <p:nvSpPr>
          <p:cNvPr id="14" name="Shape 11"/>
          <p:cNvSpPr/>
          <p:nvPr/>
        </p:nvSpPr>
        <p:spPr>
          <a:xfrm>
            <a:off x="1047750" y="5003304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17861" y="5079504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1800225" y="5041404"/>
            <a:ext cx="4652010" cy="54902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写清事情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从哪一刻转了方向</a:t>
            </a:r>
            <a:endParaRPr lang="en-US" sz="2775" dirty="0"/>
          </a:p>
        </p:txBody>
      </p:sp>
      <p:sp>
        <p:nvSpPr>
          <p:cNvPr id="17" name="Shape 14"/>
          <p:cNvSpPr/>
          <p:nvPr/>
        </p:nvSpPr>
        <p:spPr>
          <a:xfrm>
            <a:off x="1047750" y="6667500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28750" y="6915150"/>
            <a:ext cx="169735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环境在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开头交代一次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，到了坎和转折的地方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各再写上一句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写完整，第一段做到了；让人想读下去，第二段做到了。这次习作，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这两样都要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故事构思表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故事构思表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33600"/>
            <a:ext cx="974407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老师先用第一组填一遍，主要人物选的是淘气包张明；每格只填关键词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4552950"/>
          </a:xfrm>
          <a:prstGeom prst="roundRect">
            <a:avLst>
              <a:gd name="adj" fmla="val 2929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70485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33700"/>
            <a:ext cx="603504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7153275" y="2771775"/>
            <a:ext cx="9525" cy="70485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67600" y="2933700"/>
            <a:ext cx="10404158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47662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619500"/>
            <a:ext cx="566928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环境（选一组或自创）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7153275" y="347662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467600" y="3619500"/>
            <a:ext cx="976064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开满丁香花的校园 · 四月 · 教学楼后面那一排丁香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411480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257675"/>
            <a:ext cx="566928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主要人物 · 他最想做成的事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7153275" y="411480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467600" y="4257675"/>
            <a:ext cx="976064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张明 · 养活丁香丛里一只掉下来的小麻雀，</a:t>
            </a: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不让人知道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475297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4895850"/>
            <a:ext cx="566928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坎：什么挡住了他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7153275" y="475297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467600" y="4895850"/>
            <a:ext cx="976064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王寒冰查午休 · 第三次抓到他溜出教室 · 再有一次就报告李老师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539115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534025"/>
            <a:ext cx="566928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遇到坎的时候他心里的一句话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7153275" y="539115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467600" y="5534025"/>
            <a:ext cx="976064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报告了，麻雀就会被送走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6029325"/>
            <a:ext cx="16173450" cy="63817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172200"/>
            <a:ext cx="566928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转折：事情从哪一刻变了方向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7153275" y="6029325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467600" y="6172200"/>
            <a:ext cx="976064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下雨那天中午 · 王寒冰自己出了后门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6667500"/>
            <a:ext cx="16173450" cy="63817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6810375"/>
            <a:ext cx="566928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结果：和开头比，什么变了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7153275" y="6667500"/>
            <a:ext cx="9525" cy="63817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467600" y="6810375"/>
            <a:ext cx="976064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鞋盒换成带盖的塑料盒 · 午休记录本上写着张明名字的那一行被划掉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六格里，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第三格（坎）和第五格（转折）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是这张表的关键。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故事构思表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填表的时候才看得出来的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三件事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086100"/>
            <a:ext cx="15010447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第二格加上“不让人知道”五个字，坎才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立得住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：如果全班都知道他养麻雀，王寒冰查午休就挡不住他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47750" y="391477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3990975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3952875"/>
            <a:ext cx="10340531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第五格的转折要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从坎那边来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，不能凭空掉下来一个新人物把事情解决了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47750" y="47815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485775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4819650"/>
            <a:ext cx="14009751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第六格填变化，最好落在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一样看得见的变化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上，比只写“最后大家都很开心”更能让读的人看见</a:t>
            </a:r>
            <a:endParaRPr lang="en-US" sz="2550" dirty="0"/>
          </a:p>
        </p:txBody>
      </p:sp>
      <p:sp>
        <p:nvSpPr>
          <p:cNvPr id="16" name="Shape 13"/>
          <p:cNvSpPr/>
          <p:nvPr/>
        </p:nvSpPr>
        <p:spPr>
          <a:xfrm>
            <a:off x="1047750" y="6667500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28750" y="6915150"/>
            <a:ext cx="169735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一组里的人物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不必都写进去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：老师只挑张明做主要人物，王寒冰挡在他前面，李军老师没有出场，只是被提到过。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教材的第一条要求就是：故事要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围绕主要人物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展开。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故事构思表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轮到你了：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先填表，再和同桌互说第三格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05150"/>
            <a:ext cx="9133808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填表或者在稿纸背面列提纲都可以，只有一条要求： 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第二、第三、第五这三格必须定下来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47750" y="434905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425255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406205"/>
            <a:ext cx="9133808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只写关键词；稿纸上方记下的那几个词，可以直接填进 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第一格和第二格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47750" y="5650111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726311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707261"/>
            <a:ext cx="9133808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填好后和同桌互说第三格，一句话：我的主要人物想做成一件什么事， 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什么挡住了他</a:t>
            </a:r>
            <a:endParaRPr lang="en-US" sz="25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3810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572375"/>
            <a:ext cx="16192500" cy="1381125"/>
          </a:xfrm>
          <a:prstGeom prst="roundRect">
            <a:avLst>
              <a:gd name="adj" fmla="val 1103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7820025"/>
            <a:ext cx="15893415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听的一方只答一声：“信”或者“不信” 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。说不信的，要说出为什么不信；听到“不信”的，把第三格改一改。同桌说“信”的，再看第五格， 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转折是不是从坎那边来的</a:t>
            </a:r>
            <a:r>
              <a:rPr 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这道坎，在你的环境里、在这个人身上，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本来就有吗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？本来就有，就留着。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10116741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28750" y="1562100"/>
            <a:ext cx="10290215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刚才那张表，写成了一篇故事：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《丁香丛里的秘密》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305050"/>
            <a:ext cx="16192500" cy="6858000"/>
          </a:xfrm>
          <a:prstGeom prst="roundRect">
            <a:avLst>
              <a:gd name="adj" fmla="val 2500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81150" y="2590800"/>
            <a:ext cx="15579471" cy="114538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85775" algn="just">
              <a:lnSpc>
                <a:spcPct val="114000"/>
              </a:lnSpc>
              <a:buNone/>
            </a:pPr>
            <a:r>
              <a:rPr lang="en-US" sz="191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四月，教学楼后面那一排丁香开花了，风一吹，香气从后窗飘进教室。 </a:t>
            </a:r>
            <a:r>
              <a:rPr lang="en-US" sz="191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第三丛丁香底下有一只小麻雀，一边翅膀无力地垂下来，一只脚也受了伤，身子缩在地上，几乎没法挪动。小麻雀是张明星期一捡到的，他用一只鞋盒给它做了窝，每天午休溜出去喂它一次面包。 </a:t>
            </a:r>
            <a:r>
              <a:rPr lang="en-US" sz="191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他去喂麻雀的事，全班没有一个人知道。</a:t>
            </a:r>
            <a:endParaRPr lang="en-US" sz="1915" dirty="0"/>
          </a:p>
        </p:txBody>
      </p:sp>
      <p:sp>
        <p:nvSpPr>
          <p:cNvPr id="9" name="Text 6"/>
          <p:cNvSpPr/>
          <p:nvPr/>
        </p:nvSpPr>
        <p:spPr>
          <a:xfrm>
            <a:off x="1581150" y="3774281"/>
            <a:ext cx="15579471" cy="114538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85775" algn="just">
              <a:lnSpc>
                <a:spcPct val="114000"/>
              </a:lnSpc>
              <a:buNone/>
            </a:pPr>
            <a:r>
              <a:rPr lang="en-US" sz="191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星期三中午，张明刚从后门出去，就听见后面有人叫他。是班长王寒冰，手里拿着午休记录本。 </a:t>
            </a:r>
            <a:r>
              <a:rPr lang="en-US" sz="191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“张明，午休溜出教室，这个星期你第三次了。”她说，“再有一次，我就报告李老师。” </a:t>
            </a:r>
            <a:r>
              <a:rPr lang="en-US" sz="191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她没问他出去干什么，张明也不敢说。</a:t>
            </a:r>
            <a:r>
              <a:rPr lang="en-US" sz="191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走廊尽头的后窗开着，丁香的香气一阵一阵飘进来。 </a:t>
            </a:r>
            <a:r>
              <a:rPr lang="en-US" sz="191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一想到要是被报告老师，麻雀就会被送走，张明心里沉甸甸的。</a:t>
            </a:r>
            <a:r>
              <a:rPr lang="en-US" sz="191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他只好含糊应了一声，垂着脑袋，挪回了教室。</a:t>
            </a:r>
            <a:endParaRPr lang="en-US" sz="1915" dirty="0"/>
          </a:p>
        </p:txBody>
      </p:sp>
      <p:sp>
        <p:nvSpPr>
          <p:cNvPr id="10" name="Text 7"/>
          <p:cNvSpPr/>
          <p:nvPr/>
        </p:nvSpPr>
        <p:spPr>
          <a:xfrm>
            <a:off x="1581150" y="4957763"/>
            <a:ext cx="15579471" cy="7762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85775" algn="just">
              <a:lnSpc>
                <a:spcPct val="114000"/>
              </a:lnSpc>
              <a:buNone/>
            </a:pPr>
            <a:r>
              <a:rPr lang="en-US" sz="191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星期四中午下起了雨。张明趴在后窗往外看，鞋盒就在第三丛丁香底下，他做窝的时候没有加盖子。王寒冰坐在后门边上写记录本。他就这么在窗前待了很久，眼睛一直盯着那第三丛丁香，视线没移开过。 </a:t>
            </a:r>
            <a:r>
              <a:rPr lang="en-US" sz="191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这一切都被王寒冰看在眼里。</a:t>
            </a:r>
            <a:endParaRPr lang="en-US" sz="1915" dirty="0"/>
          </a:p>
        </p:txBody>
      </p:sp>
      <p:sp>
        <p:nvSpPr>
          <p:cNvPr id="11" name="Text 8"/>
          <p:cNvSpPr/>
          <p:nvPr/>
        </p:nvSpPr>
        <p:spPr>
          <a:xfrm>
            <a:off x="1581150" y="5772150"/>
            <a:ext cx="15579471" cy="7762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85775" algn="just">
              <a:lnSpc>
                <a:spcPct val="114000"/>
              </a:lnSpc>
              <a:buNone/>
            </a:pPr>
            <a:r>
              <a:rPr lang="en-US" sz="191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雨小下来的时候，王寒冰忽然站起来，出了后门。 </a:t>
            </a:r>
            <a:r>
              <a:rPr lang="en-US" sz="191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张明愣了一下，跟了出去。她走到第三丛丁香前蹲下去，拨开湿淋淋的枝条，把进了水的鞋盒端出来，脱下外套裹住，端回了教室。</a:t>
            </a:r>
            <a:endParaRPr lang="en-US" sz="1915" dirty="0"/>
          </a:p>
        </p:txBody>
      </p:sp>
      <p:sp>
        <p:nvSpPr>
          <p:cNvPr id="12" name="Text 9"/>
          <p:cNvSpPr/>
          <p:nvPr/>
        </p:nvSpPr>
        <p:spPr>
          <a:xfrm>
            <a:off x="1581150" y="6586538"/>
            <a:ext cx="15579471" cy="7762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85775" algn="just">
              <a:lnSpc>
                <a:spcPct val="114000"/>
              </a:lnSpc>
              <a:buNone/>
            </a:pPr>
            <a:r>
              <a:rPr lang="en-US" sz="191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第二天中午，张明去丁香丛的时候，王寒冰已经蹲在那里了。鞋盒换成了一只带盖的塑料盒，盖子上扎了一排小孔。午休记录本放在她脚边，翻开的那一页上， </a:t>
            </a:r>
            <a:r>
              <a:rPr lang="en-US" sz="191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写着他名字的那一行被划掉了</a:t>
            </a:r>
            <a:r>
              <a:rPr lang="en-US" sz="191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。张明心里一下子热了：这个查了他三次午休的班长，把那只麻雀护得比他还周到。</a:t>
            </a:r>
            <a:endParaRPr lang="en-US" sz="1915" dirty="0"/>
          </a:p>
        </p:txBody>
      </p:sp>
      <p:sp>
        <p:nvSpPr>
          <p:cNvPr id="13" name="Text 10"/>
          <p:cNvSpPr/>
          <p:nvPr/>
        </p:nvSpPr>
        <p:spPr>
          <a:xfrm>
            <a:off x="1047750" y="9458325"/>
            <a:ext cx="1335390" cy="371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坎与转折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2566541" y="9458325"/>
            <a:ext cx="1880220" cy="371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心里的一句话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4580632" y="9458325"/>
            <a:ext cx="1880220" cy="371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环境再写一句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594723" y="9458325"/>
            <a:ext cx="2979539" cy="371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要紧处 · 看得见的变化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092178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357937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读完，想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两个问题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905750" cy="4338638"/>
          </a:xfrm>
          <a:prstGeom prst="roundRect">
            <a:avLst>
              <a:gd name="adj" fmla="val 395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47800" y="3200400"/>
            <a:ext cx="7318820" cy="876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问题① 王寒冰开口之前，写了什么，让这道坎挡得住他？</a:t>
            </a:r>
            <a:endParaRPr lang="en-US" sz="2475" dirty="0"/>
          </a:p>
        </p:txBody>
      </p:sp>
      <p:sp>
        <p:nvSpPr>
          <p:cNvPr id="9" name="Text 6"/>
          <p:cNvSpPr/>
          <p:nvPr/>
        </p:nvSpPr>
        <p:spPr>
          <a:xfrm>
            <a:off x="1447800" y="4267200"/>
            <a:ext cx="35242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1857375" y="4267200"/>
            <a:ext cx="5165408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喂麻雀是个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秘密</a:t>
            </a: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，全班没有一个人知道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1447800" y="4852988"/>
            <a:ext cx="35242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175" dirty="0"/>
          </a:p>
        </p:txBody>
      </p:sp>
      <p:sp>
        <p:nvSpPr>
          <p:cNvPr id="12" name="Text 9"/>
          <p:cNvSpPr/>
          <p:nvPr/>
        </p:nvSpPr>
        <p:spPr>
          <a:xfrm>
            <a:off x="1857375" y="4852988"/>
            <a:ext cx="486156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麻雀飞不起来，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每天中午等着他去喂</a:t>
            </a:r>
            <a:endParaRPr lang="en-US" sz="2175" dirty="0"/>
          </a:p>
        </p:txBody>
      </p:sp>
      <p:sp>
        <p:nvSpPr>
          <p:cNvPr id="13" name="Text 10"/>
          <p:cNvSpPr/>
          <p:nvPr/>
        </p:nvSpPr>
        <p:spPr>
          <a:xfrm>
            <a:off x="1447800" y="5438775"/>
            <a:ext cx="35242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175" dirty="0"/>
          </a:p>
        </p:txBody>
      </p:sp>
      <p:sp>
        <p:nvSpPr>
          <p:cNvPr id="14" name="Text 11"/>
          <p:cNvSpPr/>
          <p:nvPr/>
        </p:nvSpPr>
        <p:spPr>
          <a:xfrm>
            <a:off x="1857375" y="5438775"/>
            <a:ext cx="5165408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午休溜出教室，这个星期已经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第三次</a:t>
            </a: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了</a:t>
            </a:r>
            <a:endParaRPr lang="en-US" sz="2175" dirty="0"/>
          </a:p>
        </p:txBody>
      </p:sp>
      <p:sp>
        <p:nvSpPr>
          <p:cNvPr id="15" name="Text 12"/>
          <p:cNvSpPr/>
          <p:nvPr/>
        </p:nvSpPr>
        <p:spPr>
          <a:xfrm>
            <a:off x="1447800" y="6024563"/>
            <a:ext cx="352425" cy="866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175" dirty="0"/>
          </a:p>
        </p:txBody>
      </p:sp>
      <p:sp>
        <p:nvSpPr>
          <p:cNvPr id="16" name="Text 13"/>
          <p:cNvSpPr/>
          <p:nvPr/>
        </p:nvSpPr>
        <p:spPr>
          <a:xfrm>
            <a:off x="1857375" y="6024563"/>
            <a:ext cx="6896957" cy="866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正因为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说不得 </a:t>
            </a: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，这道坎才难过去：一解释，麻雀就藏不住了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9334500" y="2857500"/>
            <a:ext cx="7905750" cy="4338638"/>
          </a:xfrm>
          <a:prstGeom prst="roundRect">
            <a:avLst>
              <a:gd name="adj" fmla="val 395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734550" y="3200400"/>
            <a:ext cx="781621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问题② 从下雨到她出后门，中间写了什么？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9734550" y="3848100"/>
            <a:ext cx="35242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175" dirty="0"/>
          </a:p>
        </p:txBody>
      </p:sp>
      <p:sp>
        <p:nvSpPr>
          <p:cNvPr id="20" name="Text 17"/>
          <p:cNvSpPr/>
          <p:nvPr/>
        </p:nvSpPr>
        <p:spPr>
          <a:xfrm>
            <a:off x="10144125" y="3848100"/>
            <a:ext cx="546925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一场雨让鞋盒进了水，张明在窗前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坐不住</a:t>
            </a:r>
            <a:endParaRPr lang="en-US" sz="2175" dirty="0"/>
          </a:p>
        </p:txBody>
      </p:sp>
      <p:sp>
        <p:nvSpPr>
          <p:cNvPr id="21" name="Text 18"/>
          <p:cNvSpPr/>
          <p:nvPr/>
        </p:nvSpPr>
        <p:spPr>
          <a:xfrm>
            <a:off x="9734550" y="4433888"/>
            <a:ext cx="35242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175" dirty="0"/>
          </a:p>
        </p:txBody>
      </p:sp>
      <p:sp>
        <p:nvSpPr>
          <p:cNvPr id="22" name="Text 19"/>
          <p:cNvSpPr/>
          <p:nvPr/>
        </p:nvSpPr>
        <p:spPr>
          <a:xfrm>
            <a:off x="10144125" y="4433888"/>
            <a:ext cx="6988493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他的眼睛一直盯着那第三丛丁香，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被王寒冰看在眼里</a:t>
            </a:r>
            <a:endParaRPr lang="en-US" sz="2175" dirty="0"/>
          </a:p>
        </p:txBody>
      </p:sp>
      <p:sp>
        <p:nvSpPr>
          <p:cNvPr id="23" name="Text 20"/>
          <p:cNvSpPr/>
          <p:nvPr/>
        </p:nvSpPr>
        <p:spPr>
          <a:xfrm>
            <a:off x="9734550" y="5019675"/>
            <a:ext cx="35242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175" dirty="0"/>
          </a:p>
        </p:txBody>
      </p:sp>
      <p:sp>
        <p:nvSpPr>
          <p:cNvPr id="24" name="Text 21"/>
          <p:cNvSpPr/>
          <p:nvPr/>
        </p:nvSpPr>
        <p:spPr>
          <a:xfrm>
            <a:off x="10144125" y="5019675"/>
            <a:ext cx="5165408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她这才知道，他天天跑出去是为了什么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9734550" y="5605463"/>
            <a:ext cx="35242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175" dirty="0"/>
          </a:p>
        </p:txBody>
      </p:sp>
      <p:sp>
        <p:nvSpPr>
          <p:cNvPr id="26" name="Text 23"/>
          <p:cNvSpPr/>
          <p:nvPr/>
        </p:nvSpPr>
        <p:spPr>
          <a:xfrm>
            <a:off x="10144125" y="5605463"/>
            <a:ext cx="729234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她出后门不是忽然想到的：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转折要有来处</a:t>
            </a:r>
            <a:r>
              <a:rPr 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，这就是来处</a:t>
            </a:r>
            <a:endParaRPr lang="en-US" sz="2175" dirty="0"/>
          </a:p>
        </p:txBody>
      </p:sp>
      <p:sp>
        <p:nvSpPr>
          <p:cNvPr id="27" name="Text 2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坎要挡得住，先要让读的人知道，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这件事对他有多要紧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896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710839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每一句用了什么写法：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从开头到坎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4924425"/>
          </a:xfrm>
          <a:prstGeom prst="roundRect">
            <a:avLst>
              <a:gd name="adj" fmla="val 2708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38475"/>
            <a:ext cx="1041463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示范文里的句子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1134725" y="28670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1449050" y="3038475"/>
            <a:ext cx="6024562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这一句用了什么写法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590925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762375"/>
            <a:ext cx="97701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风一吹，香气从后窗飘进教室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1134725" y="359092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449050" y="3762375"/>
            <a:ext cx="56597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环境在开头交代：丁香花的校园先立起来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4286250"/>
            <a:ext cx="16173450" cy="104775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457700"/>
            <a:ext cx="9770174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他去喂麻雀的事，全班没有一个人知道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1134725" y="4286250"/>
            <a:ext cx="9525" cy="104775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1449050" y="4457700"/>
            <a:ext cx="5659755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交代他最想做成的事，也交代这件事对他有多要紧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5334000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505450"/>
            <a:ext cx="97701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午休溜出教室，这个星期你第三次了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11134725" y="5334000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449050" y="5505450"/>
            <a:ext cx="56597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坎：从王寒冰“雷厉风行”这个特点里来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6029325"/>
            <a:ext cx="16173450" cy="104775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6200775"/>
            <a:ext cx="9770174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走廊尽头的后窗开着，丁香的香气一阵一阵飘进来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11134725" y="6029325"/>
            <a:ext cx="9525" cy="104775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449050" y="6200775"/>
            <a:ext cx="5659755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环境在坎的地方再写一句：香气提醒读的人，麻雀就在那排丁香底下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7077075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7248525"/>
            <a:ext cx="97701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一想到要是被报告老师，麻雀就会被送走，张明心里沉甸甸的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11134725" y="707707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1449050" y="7248525"/>
            <a:ext cx="56597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遇到坎的时候写一句他心里的话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1047750" y="8915400"/>
            <a:ext cx="16678275" cy="914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表上只有一句“第三次抓到他溜出教室”，文章里在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班长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开口之前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交代了两件事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，凑齐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班长阻拦这第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三件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，这道坎才真的挡得住。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71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158261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每一句用了什么写法：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从转折到结果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5629275"/>
          </a:xfrm>
          <a:prstGeom prst="roundRect">
            <a:avLst>
              <a:gd name="adj" fmla="val 2369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38475"/>
            <a:ext cx="1041463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示范文里的句子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1134725" y="28670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1449050" y="3038475"/>
            <a:ext cx="6024562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这一句用了什么写法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590925"/>
            <a:ext cx="16173450" cy="1047750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762375"/>
            <a:ext cx="9770174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他就这么在窗前待了很久，眼睛一直盯着那第三丛丁香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1134725" y="3590925"/>
            <a:ext cx="9525" cy="104775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1449050" y="3762375"/>
            <a:ext cx="5659755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心里的话中间只写一句（就写在遇到坎的时候），别处让动作替他说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4638675"/>
            <a:ext cx="16173450" cy="104775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810125"/>
            <a:ext cx="9770174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这一切都被王寒冰看在眼里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1134725" y="4638675"/>
            <a:ext cx="9525" cy="104775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1449050" y="4810125"/>
            <a:ext cx="5659755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转折的来处：张明盯着丁香的样子被她看见了，她才知道该往哪里去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5686425"/>
            <a:ext cx="16173450" cy="6953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857875"/>
            <a:ext cx="977017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雨小下来的时候，王寒冰忽然站起来，出了后门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11134725" y="5686425"/>
            <a:ext cx="9525" cy="6953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1449050" y="5857875"/>
            <a:ext cx="5659755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转折：事情从这一刻变了方向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6381750"/>
            <a:ext cx="16173450" cy="104775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6553200"/>
            <a:ext cx="9770174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写着他名字的那一行被划掉了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11134725" y="6381750"/>
            <a:ext cx="9525" cy="104775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1449050" y="6553200"/>
            <a:ext cx="5659755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结果落在一样看得见的变化上，比写“他们后来成了好朋友”更让人看得见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7429500"/>
            <a:ext cx="16173450" cy="1047750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7600950"/>
            <a:ext cx="9770174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这个查了他三次午休的班长，把那只麻雀护得比他还周到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11134725" y="7429500"/>
            <a:ext cx="9525" cy="1047750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1449050" y="7600950"/>
            <a:ext cx="5659755" cy="742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看得见的变化之后，再添一句他心里的感受；不添也可以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转折不是忽然想到的，是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因为下了雨，又看见张明一直盯着丁香丛</a:t>
            </a:r>
            <a:r>
              <a:rPr lang="zh-CN" altLang="en-US" sz="260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，她才做出这个举动。</a:t>
            </a:r>
            <a:endParaRPr lang="zh-CN" altLang="en-US" sz="260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12561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5816158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结尾怎么收，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两种写法自己选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7905750" cy="3619500"/>
          </a:xfrm>
          <a:prstGeom prst="roundRect">
            <a:avLst>
              <a:gd name="adj" fmla="val 4737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333750"/>
            <a:ext cx="7774305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66850" y="4305300"/>
            <a:ext cx="7774305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停在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看得见的细节</a:t>
            </a: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上，把体会留给读者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466850" y="4981575"/>
            <a:ext cx="7279577" cy="89415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故事停在“写着他名字的那一行被划掉了”，不额外写心理。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334500" y="2952750"/>
            <a:ext cx="7905750" cy="3619500"/>
          </a:xfrm>
          <a:prstGeom prst="roundRect">
            <a:avLst>
              <a:gd name="adj" fmla="val 4737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753600" y="3333750"/>
            <a:ext cx="7774305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9753600" y="4305300"/>
            <a:ext cx="7774305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细节之后，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再添一句心里的感受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9753600" y="4981575"/>
            <a:ext cx="7279577" cy="894159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“张明心里一下子热了：这个查了他三次午休的班长，把那只麻雀护得比他还周到。”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1047750" y="7920038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28750" y="8167687"/>
            <a:ext cx="1697355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老师这一篇只是示范：大家写自己选的那一组，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人物和坎都自己定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，不必照着老师的写。</a:t>
            </a:r>
            <a:endParaRPr lang="en-US" sz="23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solidFill>
            <a:srgbClr val="9EC37D"/>
          </a:solidFill>
        </p:spPr>
        <p:txBody>
          <a:bodyPr/>
          <a:lstStyle/>
          <a:p/>
        </p:txBody>
      </p:sp>
      <p:sp>
        <p:nvSpPr>
          <p:cNvPr id="12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038350" y="3181350"/>
            <a:ext cx="2581230" cy="2428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0" b="1" kern="0" spc="4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7301999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定详略与起笔 · 自由写作 · 交流评议 · 修改收束</a:t>
            </a:r>
            <a:endParaRPr lang="en-US" sz="2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90552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447405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动笔之前，先定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两件事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7905750" cy="3810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333750"/>
            <a:ext cx="7774305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66850" y="4305300"/>
            <a:ext cx="7279577" cy="9810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看第三格和第五格：坎和转折， </a:t>
            </a:r>
            <a:r>
              <a:rPr 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哪一处你更有话说 </a:t>
            </a:r>
            <a:r>
              <a:rPr 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，就在那一格旁边写上“详细”两个字</a:t>
            </a:r>
            <a:endParaRPr lang="en-US" sz="2475" dirty="0"/>
          </a:p>
        </p:txBody>
      </p:sp>
      <p:sp>
        <p:nvSpPr>
          <p:cNvPr id="10" name="Text 7"/>
          <p:cNvSpPr/>
          <p:nvPr/>
        </p:nvSpPr>
        <p:spPr>
          <a:xfrm>
            <a:off x="1466850" y="5419725"/>
            <a:ext cx="7279577" cy="86469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整篇里最该写详细的，就是从坎到转折这一段；标了“详细”的那一格，写的时候要比别处多出两三句。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9334500" y="2952750"/>
            <a:ext cx="7905750" cy="3810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753600" y="3333750"/>
            <a:ext cx="7774305" cy="800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9753600" y="4305300"/>
            <a:ext cx="7774305" cy="5095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</a:t>
            </a:r>
            <a:r>
              <a:rPr 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起笔的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句子</a:t>
            </a:r>
            <a:r>
              <a:rPr 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，写在稿纸第一行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9753600" y="4948238"/>
            <a:ext cx="7279577" cy="12779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1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可以从环境起笔，先写天气、街道或者花香；也可以从主要人物正在做的一件事起笔，比如“陆天把公交卡从口袋里摸出来，又塞了回去”，天气和车流放到下一句再说。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写下起笔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的句子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，再想一想：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为什么从它起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从起笔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的那一</a:t>
            </a: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句顺着往下，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一口气写完整篇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43250"/>
            <a:ext cx="4903470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开头交代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环境和他想做成的事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047750" y="41529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000500"/>
            <a:ext cx="9536049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写到标了“详细”那一格，把它写详细， 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遇到坎的时候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他心里的那一句话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写进去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47750" y="55245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372100"/>
            <a:ext cx="3394710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再往后写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转折和结果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1047750" y="63817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09700" y="6229350"/>
            <a:ext cx="9536049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五百字左右，写到六百字也不算长；写的过程中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不停下来改字改句</a:t>
            </a:r>
            <a:endParaRPr lang="en-US" sz="27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005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47750" y="8524875"/>
            <a:ext cx="1351597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写不完的，当堂至少把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坎到转折那一段</a:t>
            </a:r>
            <a:r>
              <a:rPr lang="en-US" sz="225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写完；结果来不及写的先停在转折处。</a:t>
            </a:r>
            <a:endParaRPr lang="en-US" sz="2250" dirty="0"/>
          </a:p>
        </p:txBody>
      </p:sp>
      <p:sp>
        <p:nvSpPr>
          <p:cNvPr id="17" name="Shape 13"/>
          <p:cNvSpPr/>
          <p:nvPr/>
        </p:nvSpPr>
        <p:spPr>
          <a:xfrm>
            <a:off x="12847439" y="8791575"/>
            <a:ext cx="43928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3228439" y="8982075"/>
            <a:ext cx="3993892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26 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2847439" y="8791575"/>
            <a:ext cx="43928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3228439" y="8982075"/>
            <a:ext cx="3993892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26 分钟</a:t>
            </a:r>
            <a:endParaRPr lang="en-US" sz="285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1590675"/>
            <a:ext cx="13220700" cy="71056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交流分享：听的人要答出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两个问题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7905750" cy="3429000"/>
          </a:xfrm>
          <a:prstGeom prst="roundRect">
            <a:avLst>
              <a:gd name="adj" fmla="val 5000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47800" y="3314700"/>
            <a:ext cx="781621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读的同学</a:t>
            </a:r>
            <a:endParaRPr lang="en-US" sz="2475" dirty="0"/>
          </a:p>
        </p:txBody>
      </p:sp>
      <p:sp>
        <p:nvSpPr>
          <p:cNvPr id="9" name="Text 6"/>
          <p:cNvSpPr/>
          <p:nvPr/>
        </p:nvSpPr>
        <p:spPr>
          <a:xfrm>
            <a:off x="1447800" y="3962400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866900" y="3962400"/>
            <a:ext cx="66008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先用一句话说清楚：主要人物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想做成一件什么事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447800" y="4581525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866900" y="4581525"/>
            <a:ext cx="597217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然后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从坎读起，读过转折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，再往后读一两句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9334500" y="2952750"/>
            <a:ext cx="7905750" cy="3429000"/>
          </a:xfrm>
          <a:prstGeom prst="roundRect">
            <a:avLst>
              <a:gd name="adj" fmla="val 5000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34550" y="3314700"/>
            <a:ext cx="781621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听的同学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9734550" y="3962400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0153650" y="3962400"/>
            <a:ext cx="40862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最过不去的地方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是哪一句？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9734550" y="4581525"/>
            <a:ext cx="36195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0153650" y="4581525"/>
            <a:ext cx="345757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事情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从哪一句变了方向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1047750" y="7371457"/>
            <a:ext cx="16192500" cy="1486793"/>
          </a:xfrm>
          <a:prstGeom prst="roundRect">
            <a:avLst>
              <a:gd name="adj" fmla="val 11532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66850" y="7657207"/>
            <a:ext cx="15814929" cy="9533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答得出，坎和转折就写清楚了；答不出，作者自己记下来，稍后改。两位听众都说不出哪里难？先想一想：你的主要人物 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两样只能要一样，是哪两样</a:t>
            </a:r>
            <a:r>
              <a:rPr 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325" dirty="0"/>
          </a:p>
        </p:txBody>
      </p:sp>
      <p:sp>
        <p:nvSpPr>
          <p:cNvPr id="21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说得出，就把这两样在稿子上标出来，稍后补写；说不出，就在第三格旁边记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“换坎”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两个字。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60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05846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同桌交换稿子，在末尾填一句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故事大意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16192500" cy="1546771"/>
          </a:xfrm>
          <a:prstGeom prst="roundRect">
            <a:avLst>
              <a:gd name="adj" fmla="val 17242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733550" y="4461421"/>
            <a:ext cx="457200" cy="285750"/>
          </a:xfrm>
          <a:prstGeom prst="rect">
            <a:avLst/>
          </a:prstGeom>
          <a:solidFill>
            <a:srgbClr val="EAF1FB"/>
          </a:solidFill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4461421"/>
            <a:ext cx="457200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2955" y="3390900"/>
            <a:ext cx="16722090" cy="7085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3300" b="1" u="sng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</a:t>
            </a:r>
            <a:r>
              <a:rPr lang="en-US" sz="33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zh-CN" altLang="en-US" sz="33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谁</a:t>
            </a:r>
            <a:r>
              <a:rPr lang="en-US" sz="33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）想</a:t>
            </a:r>
            <a:r>
              <a:rPr lang="en-US" sz="3300" b="1" u="sng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      </a:t>
            </a:r>
            <a:r>
              <a:rPr lang="en-US" sz="33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zh-CN" altLang="en-US" sz="33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做什么</a:t>
            </a:r>
            <a:r>
              <a:rPr lang="en-US" sz="33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），可是</a:t>
            </a:r>
            <a:r>
              <a:rPr lang="en-US" sz="3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＿＿</a:t>
            </a:r>
            <a:r>
              <a:rPr lang="en-US" sz="33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，最后</a:t>
            </a:r>
            <a:r>
              <a:rPr lang="en-US" sz="3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＿＿</a:t>
            </a:r>
            <a:r>
              <a:rPr lang="en-US" sz="33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3300" dirty="0"/>
          </a:p>
        </p:txBody>
      </p:sp>
      <p:sp>
        <p:nvSpPr>
          <p:cNvPr id="11" name="Shape 7"/>
          <p:cNvSpPr/>
          <p:nvPr/>
        </p:nvSpPr>
        <p:spPr>
          <a:xfrm>
            <a:off x="1047750" y="56578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409700" y="5524500"/>
            <a:ext cx="8193405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四个空都填得上就填，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填不上的空就空着，实话实说</a:t>
            </a:r>
            <a:endParaRPr lang="en-US" sz="2550" dirty="0"/>
          </a:p>
        </p:txBody>
      </p:sp>
      <p:sp>
        <p:nvSpPr>
          <p:cNvPr id="13" name="Shape 9"/>
          <p:cNvSpPr/>
          <p:nvPr/>
        </p:nvSpPr>
        <p:spPr>
          <a:xfrm>
            <a:off x="1047750" y="642937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409700" y="6296025"/>
            <a:ext cx="11755755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作者还没写到结果的，填到他写到的地方，</a:t>
            </a:r>
            <a:r>
              <a:rPr 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后面那一空留着，不算他写坏了</a:t>
            </a:r>
            <a:endParaRPr lang="en-US" sz="2550" dirty="0"/>
          </a:p>
        </p:txBody>
      </p:sp>
      <p:sp>
        <p:nvSpPr>
          <p:cNvPr id="15" name="Text 1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写完把稿子传回作者：同桌填的这一句，就是你稍后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定改哪一处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的依据。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看同桌填的那一句，</a:t>
            </a:r>
            <a:r>
              <a:rPr 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定下改哪一处</a:t>
            </a:r>
            <a:endParaRPr lang="en-US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2190750" cy="676275"/>
          </a:xfrm>
          <a:prstGeom prst="roundRect">
            <a:avLst>
              <a:gd name="adj" fmla="val 19718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38212" y="3009900"/>
            <a:ext cx="240982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前两空空着</a:t>
            </a:r>
            <a:endParaRPr lang="en-US" sz="2175" dirty="0"/>
          </a:p>
        </p:txBody>
      </p:sp>
      <p:sp>
        <p:nvSpPr>
          <p:cNvPr id="9" name="Text 6"/>
          <p:cNvSpPr/>
          <p:nvPr/>
        </p:nvSpPr>
        <p:spPr>
          <a:xfrm>
            <a:off x="3486150" y="2988469"/>
            <a:ext cx="911542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开头没交代清楚主要人物是谁、他想做成什么事，就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在开头补一句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047750" y="3743325"/>
            <a:ext cx="2190750" cy="676275"/>
          </a:xfrm>
          <a:prstGeom prst="roundRect">
            <a:avLst>
              <a:gd name="adj" fmla="val 19718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38212" y="3895725"/>
            <a:ext cx="240982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“可是”空着</a:t>
            </a:r>
            <a:endParaRPr lang="en-US" sz="2175" dirty="0"/>
          </a:p>
        </p:txBody>
      </p:sp>
      <p:sp>
        <p:nvSpPr>
          <p:cNvPr id="12" name="Text 9"/>
          <p:cNvSpPr/>
          <p:nvPr/>
        </p:nvSpPr>
        <p:spPr>
          <a:xfrm>
            <a:off x="3486150" y="3874294"/>
            <a:ext cx="10372725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坎没有写清楚，就在坎那一段补上两句：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他想要的是什么，挡住他的是什么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47750" y="4629150"/>
            <a:ext cx="2190750" cy="676275"/>
          </a:xfrm>
          <a:prstGeom prst="roundRect">
            <a:avLst>
              <a:gd name="adj" fmla="val 19718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38212" y="4781550"/>
            <a:ext cx="240982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“最后”对不上</a:t>
            </a:r>
            <a:endParaRPr lang="en-US" sz="2175" dirty="0"/>
          </a:p>
        </p:txBody>
      </p:sp>
      <p:sp>
        <p:nvSpPr>
          <p:cNvPr id="15" name="Text 12"/>
          <p:cNvSpPr/>
          <p:nvPr/>
        </p:nvSpPr>
        <p:spPr>
          <a:xfrm>
            <a:off x="3486150" y="4760119"/>
            <a:ext cx="1508760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转折没有写清，就在转折那一刻补写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他做的第一个动作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；因为还没写到结果才空着的，不算，接着往下写即可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1047750" y="5514975"/>
            <a:ext cx="2190750" cy="676275"/>
          </a:xfrm>
          <a:prstGeom prst="roundRect">
            <a:avLst>
              <a:gd name="adj" fmla="val 19718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38212" y="5667375"/>
            <a:ext cx="240982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四个空都对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3486150" y="5645944"/>
            <a:ext cx="1257300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回头看遇到坎的时候有没有他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心里的那一句话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；有了，就看环境在坎或转折那里有没有再写上一句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1047750" y="7543800"/>
            <a:ext cx="16192500" cy="1314450"/>
          </a:xfrm>
          <a:prstGeom prst="roundRect">
            <a:avLst>
              <a:gd name="adj" fmla="val 1159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28750" y="7772400"/>
            <a:ext cx="15893415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只改这一处 </a:t>
            </a:r>
            <a:r>
              <a:rPr 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，给大家四分钟；最后一分钟，把整篇从头看一遍，用修改符号把多余的字划掉、漏掉的字补上、写错的字改正。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编出来的人，编出来的事，读的人替他捏了一把汗，这个故事就有了</a:t>
            </a:r>
            <a:r>
              <a:rPr 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生活的影子</a:t>
            </a:r>
            <a:r>
              <a:rPr 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"/>
          <p:cNvSpPr/>
          <p:nvPr/>
        </p:nvSpPr>
        <p:spPr>
          <a:xfrm>
            <a:off x="635" y="-1905"/>
            <a:ext cx="18289905" cy="10288905"/>
          </a:xfrm>
          <a:prstGeom prst="roundRect">
            <a:avLst>
              <a:gd name="adj" fmla="val 0"/>
            </a:avLst>
          </a:prstGeom>
          <a:solidFill>
            <a:srgbClr val="9EC37D"/>
          </a:solidFill>
        </p:spPr>
        <p:txBody>
          <a:bodyPr/>
          <a:lstStyle/>
          <a:p/>
        </p:txBody>
      </p:sp>
      <p:sp>
        <p:nvSpPr>
          <p:cNvPr id="14" name="Text 3"/>
          <p:cNvSpPr/>
          <p:nvPr/>
        </p:nvSpPr>
        <p:spPr>
          <a:xfrm>
            <a:off x="2057400" y="3674110"/>
            <a:ext cx="8232775" cy="19926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END</a:t>
            </a:r>
            <a:endParaRPr lang="en-US" sz="127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4157325" y="8804910"/>
            <a:ext cx="2700655" cy="6807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17" name="Shape 7"/>
          <p:cNvSpPr/>
          <p:nvPr/>
        </p:nvSpPr>
        <p:spPr>
          <a:xfrm>
            <a:off x="720725" y="8625840"/>
            <a:ext cx="2266315" cy="97409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705" y="8773795"/>
            <a:ext cx="1808480" cy="681355"/>
          </a:xfrm>
          <a:prstGeom prst="rect">
            <a:avLst/>
          </a:prstGeom>
        </p:spPr>
      </p:pic>
      <p:sp>
        <p:nvSpPr>
          <p:cNvPr id="19" name="Freeform 2"/>
          <p:cNvSpPr/>
          <p:nvPr/>
        </p:nvSpPr>
        <p:spPr>
          <a:xfrm>
            <a:off x="16277590" y="8688070"/>
            <a:ext cx="549275" cy="71564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2740640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编出来的故事，也要有生活的影子：一道坎，一句心里的话，一处转折。</a:t>
            </a:r>
            <a:endParaRPr lang="en-US" sz="28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9.8203149606299,&quot;left&quot;:82.5,&quot;top&quot;:112.5,&quot;width&quot;:726.85}"/>
</p:tagLst>
</file>

<file path=ppt/tags/tag2.xml><?xml version="1.0" encoding="utf-8"?>
<p:tagLst xmlns:p="http://schemas.openxmlformats.org/presentationml/2006/main">
  <p:tag name="KSO_WM_DIAGRAM_VIRTUALLY_FRAME" val="{&quot;height&quot;:201.3,&quot;left&quot;:88.7,&quot;top&quot;:312,&quot;width&quot;:962.4}"/>
</p:tagLst>
</file>

<file path=ppt/tags/tag3.xml><?xml version="1.0" encoding="utf-8"?>
<p:tagLst xmlns:p="http://schemas.openxmlformats.org/presentationml/2006/main">
  <p:tag name="KSO_WM_DIAGRAM_VIRTUALLY_FRAME" val="{&quot;height&quot;:201.3,&quot;left&quot;:88.7,&quot;top&quot;:312,&quot;width&quot;:962.4}"/>
</p:tagLst>
</file>

<file path=ppt/tags/tag4.xml><?xml version="1.0" encoding="utf-8"?>
<p:tagLst xmlns:p="http://schemas.openxmlformats.org/presentationml/2006/main">
  <p:tag name="KSO_WM_DIAGRAM_VIRTUALLY_FRAME" val="{&quot;height&quot;:201.3,&quot;left&quot;:88.7,&quot;top&quot;:312,&quot;width&quot;:962.4}"/>
</p:tagLst>
</file>

<file path=ppt/tags/tag5.xml><?xml version="1.0" encoding="utf-8"?>
<p:tagLst xmlns:p="http://schemas.openxmlformats.org/presentationml/2006/main">
  <p:tag name="KSO_WM_DIAGRAM_VIRTUALLY_FRAME" val="{&quot;height&quot;:201.3,&quot;left&quot;:88.7,&quot;top&quot;:312,&quot;width&quot;:962.4}"/>
</p:tagLst>
</file>

<file path=ppt/tags/tag6.xml><?xml version="1.0" encoding="utf-8"?>
<p:tagLst xmlns:p="http://schemas.openxmlformats.org/presentationml/2006/main">
  <p:tag name="KSO_WM_DIAGRAM_VIRTUALLY_FRAME" val="{&quot;height&quot;:201.3,&quot;left&quot;:88.7,&quot;top&quot;:312,&quot;width&quot;:962.4}"/>
</p:tagLst>
</file>

<file path=ppt/tags/tag7.xml><?xml version="1.0" encoding="utf-8"?>
<p:tagLst xmlns:p="http://schemas.openxmlformats.org/presentationml/2006/main">
  <p:tag name="KSO_WM_DIAGRAM_VIRTUALLY_FRAME" val="{&quot;height&quot;:201.3,&quot;left&quot;:88.7,&quot;top&quot;:312,&quot;width&quot;:962.4}"/>
</p:tagLst>
</file>

<file path=ppt/tags/tag8.xml><?xml version="1.0" encoding="utf-8"?>
<p:tagLst xmlns:p="http://schemas.openxmlformats.org/presentationml/2006/main">
  <p:tag name="KSO_WM_DIAGRAM_VIRTUALLY_FRAME" val="{&quot;height&quot;:429.8203149606299,&quot;left&quot;:82.5,&quot;top&quot;:112.5,&quot;width&quot;:726.85}"/>
</p:tagLst>
</file>

<file path=ppt/tags/tag9.xml><?xml version="1.0" encoding="utf-8"?>
<p:tagLst xmlns:p="http://schemas.openxmlformats.org/presentationml/2006/main">
  <p:tag name="KSO_WM_DIAGRAM_VIRTUALLY_FRAME" val="{&quot;height&quot;:429.8203149606299,&quot;left&quot;:82.5,&quot;top&quot;:112.5,&quot;width&quot;:726.85}"/>
</p:tagLst>
</file>

<file path=ppt/tags/tag10.xml><?xml version="1.0" encoding="utf-8"?>
<p:tagLst xmlns:p="http://schemas.openxmlformats.org/presentationml/2006/main">
  <p:tag name="KSO_WM_DIAGRAM_VIRTUALLY_FRAME" val="{&quot;height&quot;:429.8203149606299,&quot;left&quot;:82.5,&quot;top&quot;:112.5,&quot;width&quot;:726.85}"/>
</p:tagLst>
</file>

<file path=ppt/tags/tag11.xml><?xml version="1.0" encoding="utf-8"?>
<p:tagLst xmlns:p="http://schemas.openxmlformats.org/presentationml/2006/main">
  <p:tag name="KSO_WM_DIAGRAM_VIRTUALLY_FRAME" val="{&quot;height&quot;:429.8203149606299,&quot;left&quot;:82.5,&quot;top&quot;:112.5,&quot;width&quot;:726.85}"/>
</p:tagLst>
</file>

<file path=ppt/tags/tag12.xml><?xml version="1.0" encoding="utf-8"?>
<p:tagLst xmlns:p="http://schemas.openxmlformats.org/presentationml/2006/main">
  <p:tag name="KSO_WM_DIAGRAM_VIRTUALLY_FRAME" val="{&quot;height&quot;:429.8203149606299,&quot;left&quot;:82.5,&quot;top&quot;:112.5,&quot;width&quot;:726.85}"/>
</p:tagLst>
</file>

<file path=ppt/tags/tag13.xml><?xml version="1.0" encoding="utf-8"?>
<p:tagLst xmlns:p="http://schemas.openxmlformats.org/presentationml/2006/main">
  <p:tag name="KSO_WM_DIAGRAM_VIRTUALLY_FRAME" val="{&quot;height&quot;:429.8203149606299,&quot;left&quot;:82.5,&quot;top&quot;:112.5,&quot;width&quot;:726.85}"/>
</p:tagLst>
</file>

<file path=ppt/tags/tag14.xml><?xml version="1.0" encoding="utf-8"?>
<p:tagLst xmlns:p="http://schemas.openxmlformats.org/presentationml/2006/main">
  <p:tag name="KSO_WM_DIAGRAM_VIRTUALLY_FRAME" val="{&quot;height&quot;:429.8203149606299,&quot;left&quot;:82.5,&quot;top&quot;:112.5,&quot;width&quot;:726.85}"/>
</p:tagLst>
</file>

<file path=ppt/tags/tag15.xml><?xml version="1.0" encoding="utf-8"?>
<p:tagLst xmlns:p="http://schemas.openxmlformats.org/presentationml/2006/main">
  <p:tag name="KSO_WM_DIAGRAM_VIRTUALLY_FRAME" val="{&quot;height&quot;:429.8203149606299,&quot;left&quot;:82.5,&quot;top&quot;:112.5,&quot;width&quot;:726.8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6062</Words>
  <Application>WPS 演示</Application>
  <PresentationFormat>On-screen Show (16:9)</PresentationFormat>
  <Paragraphs>556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飞鱼</cp:lastModifiedBy>
  <cp:revision>22</cp:revision>
  <dcterms:created xsi:type="dcterms:W3CDTF">2026-09-18T02:23:00Z</dcterms:created>
  <dcterms:modified xsi:type="dcterms:W3CDTF">2026-09-24T04:31:20Z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94DE155422444987864D6C8ED99797CB_13</vt:lpwstr>
  </property>
</Properties>
</file>