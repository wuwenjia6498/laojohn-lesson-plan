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1589" y="323850"/>
            <a:ext cx="1668661" cy="6286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57250" y="1143000"/>
            <a:ext cx="16573500" cy="5715000"/>
          </a:xfrm>
          <a:prstGeom prst="roundRect">
            <a:avLst>
              <a:gd name="adj" fmla="val 2667"/>
            </a:avLst>
          </a:prstGeom>
          <a:gradFill rotWithShape="1">
            <a:gsLst>
              <a:gs pos="0">
                <a:srgbClr val="EE7B2E">
                  <a:alpha val="100000"/>
                </a:srgbClr>
              </a:gs>
              <a:gs pos="42000">
                <a:srgbClr val="F0A63C">
                  <a:alpha val="100000"/>
                </a:srgbClr>
              </a:gs>
              <a:gs pos="100000">
                <a:srgbClr val="57B0A6">
                  <a:alpha val="100000"/>
                </a:srgbClr>
              </a:gs>
            </a:gsLst>
            <a:lin ang="900000" scaled="0"/>
          </a:gradFill>
          <a:ln/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2952750" y="1428750"/>
            <a:ext cx="3429000" cy="3429000"/>
          </a:xfrm>
          <a:prstGeom prst="ellipse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5810250" y="4191000"/>
            <a:ext cx="4095750" cy="409575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3048000" y="2571750"/>
            <a:ext cx="1362075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595"/>
              </a:lnSpc>
              <a:buNone/>
            </a:pPr>
            <a:r>
              <a:rPr lang="en-US" sz="8400" b="1" i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笔尖流出的故事</a:t>
            </a:r>
            <a:endParaRPr lang="en-US" sz="8400" dirty="0"/>
          </a:p>
        </p:txBody>
      </p:sp>
      <p:sp>
        <p:nvSpPr>
          <p:cNvPr id="7" name="Text 4"/>
          <p:cNvSpPr/>
          <p:nvPr/>
        </p:nvSpPr>
        <p:spPr>
          <a:xfrm>
            <a:off x="3086100" y="4476750"/>
            <a:ext cx="125730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692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六年级上册 · 第四单元 · 校内同步写作（想象习作）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0" y="2857500"/>
            <a:ext cx="1066800" cy="133350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500"/>
            <a:ext cx="1066800" cy="133350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0" y="6953250"/>
            <a:ext cx="4095750" cy="26670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47750" y="8943975"/>
            <a:ext cx="3574956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六年级上册 · 第四单元</a:t>
            </a:r>
            <a:endParaRPr lang="en-US" sz="2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gradFill rotWithShape="1">
            <a:gsLst>
              <a:gs pos="0">
                <a:srgbClr val="6FB8AD">
                  <a:alpha val="100000"/>
                </a:srgbClr>
              </a:gs>
              <a:gs pos="60000">
                <a:srgbClr val="4E93A0">
                  <a:alpha val="100000"/>
                </a:srgbClr>
              </a:gs>
              <a:gs pos="100000">
                <a:srgbClr val="3D6E82">
                  <a:alpha val="100000"/>
                </a:srgbClr>
              </a:gs>
            </a:gsLst>
            <a:lin ang="1800000" scaled="0"/>
          </a:gra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038350" y="3181350"/>
            <a:ext cx="2455500" cy="2119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52"/>
              </a:lnSpc>
              <a:buNone/>
            </a:pPr>
            <a:r>
              <a:rPr lang="en-US" sz="14250" b="1" dirty="0">
                <a:solidFill>
                  <a:srgbClr val="FFFFFF">
                    <a:alpha val="9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250" dirty="0"/>
          </a:p>
        </p:txBody>
      </p:sp>
      <p:sp>
        <p:nvSpPr>
          <p:cNvPr id="5" name="Text 3"/>
          <p:cNvSpPr/>
          <p:nvPr/>
        </p:nvSpPr>
        <p:spPr>
          <a:xfrm>
            <a:off x="2228850" y="5676900"/>
            <a:ext cx="314325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734"/>
              </a:lnSpc>
              <a:buNone/>
            </a:pPr>
            <a:r>
              <a:rPr lang="en-US" sz="4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写作指导课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247900" y="6572250"/>
            <a:ext cx="10448523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FFFFFF">
                    <a:alpha val="9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创设情境 · 想象环境 · 一道坎与一处转折 · 故事起伏表 · 教师示范文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创设情境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6125617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5816158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先看这幅画：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三个人，一盏灯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3143250"/>
            <a:ext cx="7239000" cy="53340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953500" y="344805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9315450" y="3295650"/>
            <a:ext cx="8162544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看半分钟，猜一猜：这三个人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互相认识吗 </a:t>
            </a: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？你从哪里看出来的？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8953500" y="483870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9315450" y="4686300"/>
            <a:ext cx="8162544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最前面这一个正在做事，他在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做什么 </a:t>
            </a: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？后面那两个人呢？</a:t>
            </a:r>
            <a:endParaRPr lang="en-US" sz="2700" dirty="0"/>
          </a:p>
        </p:txBody>
      </p:sp>
      <p:sp>
        <p:nvSpPr>
          <p:cNvPr id="13" name="Shape 9"/>
          <p:cNvSpPr/>
          <p:nvPr/>
        </p:nvSpPr>
        <p:spPr>
          <a:xfrm>
            <a:off x="8953500" y="622935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9315450" y="6076950"/>
            <a:ext cx="8162544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画上没有答案，可是大家都能从画面上 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找到自己的理由</a:t>
            </a:r>
            <a:endParaRPr lang="en-US" sz="2700" dirty="0"/>
          </a:p>
        </p:txBody>
      </p:sp>
      <p:sp>
        <p:nvSpPr>
          <p:cNvPr id="15" name="Text 11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刚才大家说的这几句，已经是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一个故事的开头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了。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创设情境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7752606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846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这次习作：编一个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像真的发生过</a:t>
            </a: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的故事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16192500" cy="1333500"/>
          </a:xfrm>
          <a:prstGeom prst="roundRect">
            <a:avLst>
              <a:gd name="adj" fmla="val 20000"/>
            </a:avLst>
          </a:prstGeom>
          <a:solidFill>
            <a:srgbClr val="EAF1FB"/>
          </a:solidFill>
          <a:ln w="19050">
            <a:solidFill>
              <a:srgbClr val="C3D6F0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733550" y="4152900"/>
            <a:ext cx="457200" cy="285750"/>
          </a:xfrm>
          <a:prstGeom prst="rect">
            <a:avLst/>
          </a:prstGeom>
          <a:solidFill>
            <a:srgbClr val="EAF1FB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50" y="4152900"/>
            <a:ext cx="457200" cy="2857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43050" y="3219450"/>
            <a:ext cx="15657957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077"/>
              </a:lnSpc>
              <a:buNone/>
            </a:pPr>
            <a:pPr algn="l" indent="0" marL="0">
              <a:lnSpc>
                <a:spcPct val="123077"/>
              </a:lnSpc>
              <a:buNone/>
            </a:pPr>
            <a:pPr algn="l" indent="0" marL="0">
              <a:lnSpc>
                <a:spcPct val="123077"/>
              </a:lnSpc>
              <a:buNone/>
            </a:pPr>
            <a:pPr algn="l" indent="0" marL="0">
              <a:lnSpc>
                <a:spcPct val="123077"/>
              </a:lnSpc>
              <a:buNone/>
            </a:pPr>
            <a:pPr algn="l" indent="0" marL="0">
              <a:lnSpc>
                <a:spcPct val="123077"/>
              </a:lnSpc>
              <a:buNone/>
            </a:pPr>
            <a:r>
              <a:rPr lang="en-US" sz="30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导语页上写着：“小说大多是</a:t>
            </a:r>
            <a:r>
              <a:rPr lang="en-US" sz="3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虚构</a:t>
            </a:r>
            <a:r>
              <a:rPr lang="en-US" sz="30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的，却又有</a:t>
            </a:r>
            <a:r>
              <a:rPr lang="en-US" sz="3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生活的影子</a:t>
            </a:r>
            <a:r>
              <a:rPr lang="en-US" sz="30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。”</a:t>
            </a:r>
            <a:endParaRPr lang="en-US" sz="3000" dirty="0"/>
          </a:p>
        </p:txBody>
      </p:sp>
      <p:sp>
        <p:nvSpPr>
          <p:cNvPr id="11" name="Shape 7"/>
          <p:cNvSpPr/>
          <p:nvPr/>
        </p:nvSpPr>
        <p:spPr>
          <a:xfrm>
            <a:off x="1047750" y="510540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1409700" y="4953000"/>
            <a:ext cx="12447270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064"/>
              </a:lnSpc>
              <a:buNone/>
            </a:pPr>
            <a:pPr algn="l" indent="0" marL="0">
              <a:lnSpc>
                <a:spcPct val="11106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这个单元的课文都是小说：故事是作家编的，读起来却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像真的在哪里发生过</a:t>
            </a:r>
            <a:endParaRPr lang="en-US" sz="2700" dirty="0"/>
          </a:p>
        </p:txBody>
      </p:sp>
      <p:sp>
        <p:nvSpPr>
          <p:cNvPr id="13" name="Shape 9"/>
          <p:cNvSpPr/>
          <p:nvPr/>
        </p:nvSpPr>
        <p:spPr>
          <a:xfrm>
            <a:off x="1047750" y="5907286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1409700" y="5754886"/>
            <a:ext cx="12824460" cy="5351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064"/>
              </a:lnSpc>
              <a:buNone/>
            </a:pPr>
            <a:pPr algn="l" indent="0" marL="0">
              <a:lnSpc>
                <a:spcPct val="11106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这次请你也来编：人是编的，事是编的，读的人却觉得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这样的事，是会发生的</a:t>
            </a:r>
            <a:endParaRPr lang="en-US" sz="2700" dirty="0"/>
          </a:p>
        </p:txBody>
      </p:sp>
      <p:sp>
        <p:nvSpPr>
          <p:cNvPr id="15" name="Shape 11"/>
          <p:cNvSpPr/>
          <p:nvPr/>
        </p:nvSpPr>
        <p:spPr>
          <a:xfrm>
            <a:off x="1047750" y="7920038"/>
            <a:ext cx="16192500" cy="938213"/>
          </a:xfrm>
          <a:prstGeom prst="roundRect">
            <a:avLst>
              <a:gd name="adj" fmla="val 16244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1428750" y="8167687"/>
            <a:ext cx="16973550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编出来的故事要有人听：第二节课交流分享，听的人要能说出</a:t>
            </a:r>
            <a:r>
              <a:rPr lang="en-US" sz="23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他最过不去的地方是哪一句、事情从哪一句变了方向</a:t>
            </a: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325" dirty="0"/>
          </a:p>
        </p:txBody>
      </p:sp>
      <p:sp>
        <p:nvSpPr>
          <p:cNvPr id="17" name="Text 13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听的人说得清楚，你这个故事就写好了；说不清楚，第二节课就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还要再改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创设情境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6125617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5816158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三组环境和人物，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选一组来写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5181600" cy="2838450"/>
          </a:xfrm>
          <a:prstGeom prst="roundRect">
            <a:avLst>
              <a:gd name="adj" fmla="val 6040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67025"/>
            <a:ext cx="5162550" cy="72390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23975" y="3038475"/>
            <a:ext cx="509206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第一组 · 开满丁香花的校园</a:t>
            </a:r>
            <a:endParaRPr lang="en-US" sz="2250" dirty="0"/>
          </a:p>
        </p:txBody>
      </p:sp>
      <p:sp>
        <p:nvSpPr>
          <p:cNvPr id="10" name="Text 7"/>
          <p:cNvSpPr/>
          <p:nvPr/>
        </p:nvSpPr>
        <p:spPr>
          <a:xfrm>
            <a:off x="1343025" y="3857625"/>
            <a:ext cx="4728782" cy="136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974"/>
              </a:lnSpc>
              <a:buNone/>
            </a:pPr>
            <a:pPr algn="l" indent="0" marL="0">
              <a:lnSpc>
                <a:spcPct val="118974"/>
              </a:lnSpc>
              <a:buNone/>
            </a:pPr>
            <a:pPr algn="l" indent="0" marL="0">
              <a:lnSpc>
                <a:spcPct val="118974"/>
              </a:lnSpc>
              <a:buNone/>
            </a:pPr>
            <a:pPr algn="l" indent="0" marL="0">
              <a:lnSpc>
                <a:spcPct val="118974"/>
              </a:lnSpc>
              <a:buNone/>
            </a:pPr>
            <a:pPr algn="l" indent="0" marL="0">
              <a:lnSpc>
                <a:spcPct val="118974"/>
              </a:lnSpc>
              <a:buNone/>
            </a:pPr>
            <a:pPr algn="l" indent="0" marL="0">
              <a:lnSpc>
                <a:spcPct val="118974"/>
              </a:lnSpc>
              <a:buNone/>
            </a:pP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淘气包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张明 </a:t>
            </a: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雷厉风行的班长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王寒冰 </a:t>
            </a: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充满活力的年轻班主任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李军</a:t>
            </a:r>
            <a:endParaRPr lang="en-US" sz="2175" dirty="0"/>
          </a:p>
        </p:txBody>
      </p:sp>
      <p:sp>
        <p:nvSpPr>
          <p:cNvPr id="11" name="Shape 8"/>
          <p:cNvSpPr/>
          <p:nvPr/>
        </p:nvSpPr>
        <p:spPr>
          <a:xfrm>
            <a:off x="6553200" y="2857500"/>
            <a:ext cx="5181600" cy="2838450"/>
          </a:xfrm>
          <a:prstGeom prst="roundRect">
            <a:avLst>
              <a:gd name="adj" fmla="val 6040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562725" y="2867025"/>
            <a:ext cx="5162550" cy="72390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829425" y="3038475"/>
            <a:ext cx="509206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第二组 · 冬日黄昏时车来人往的街头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6848475" y="3857625"/>
            <a:ext cx="4728782" cy="9218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974"/>
              </a:lnSpc>
              <a:buNone/>
            </a:pPr>
            <a:pPr algn="l" indent="0" marL="0">
              <a:lnSpc>
                <a:spcPct val="118974"/>
              </a:lnSpc>
              <a:buNone/>
            </a:pPr>
            <a:pPr algn="l" indent="0" marL="0">
              <a:lnSpc>
                <a:spcPct val="118974"/>
              </a:lnSpc>
              <a:buNone/>
            </a:pPr>
            <a:pPr algn="l" indent="0" marL="0">
              <a:lnSpc>
                <a:spcPct val="118974"/>
              </a:lnSpc>
              <a:buNone/>
            </a:pP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充满爱心的少年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陆天 </a:t>
            </a: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志愿者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徐明</a:t>
            </a:r>
            <a:endParaRPr lang="en-US" sz="2175" dirty="0"/>
          </a:p>
        </p:txBody>
      </p:sp>
      <p:sp>
        <p:nvSpPr>
          <p:cNvPr id="15" name="Shape 12"/>
          <p:cNvSpPr/>
          <p:nvPr/>
        </p:nvSpPr>
        <p:spPr>
          <a:xfrm>
            <a:off x="12058650" y="2857500"/>
            <a:ext cx="5181600" cy="2838450"/>
          </a:xfrm>
          <a:prstGeom prst="roundRect">
            <a:avLst>
              <a:gd name="adj" fmla="val 6040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12068175" y="2867025"/>
            <a:ext cx="5162550" cy="72390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2334875" y="3038475"/>
            <a:ext cx="509206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第三组 · 月光下的村庄</a:t>
            </a:r>
            <a:endParaRPr lang="en-US" sz="2250" dirty="0"/>
          </a:p>
        </p:txBody>
      </p:sp>
      <p:sp>
        <p:nvSpPr>
          <p:cNvPr id="18" name="Text 15"/>
          <p:cNvSpPr/>
          <p:nvPr/>
        </p:nvSpPr>
        <p:spPr>
          <a:xfrm>
            <a:off x="12353925" y="3857625"/>
            <a:ext cx="4728782" cy="9218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974"/>
              </a:lnSpc>
              <a:buNone/>
            </a:pPr>
            <a:pPr algn="l" indent="0" marL="0">
              <a:lnSpc>
                <a:spcPct val="118974"/>
              </a:lnSpc>
              <a:buNone/>
            </a:pPr>
            <a:pPr algn="l" indent="0" marL="0">
              <a:lnSpc>
                <a:spcPct val="118974"/>
              </a:lnSpc>
              <a:buNone/>
            </a:pP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铁蛋 </a:t>
            </a: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铁蛋远道而来的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表哥</a:t>
            </a:r>
            <a:endParaRPr lang="en-US" sz="2175" dirty="0"/>
          </a:p>
        </p:txBody>
      </p:sp>
      <p:sp>
        <p:nvSpPr>
          <p:cNvPr id="19" name="Shape 16"/>
          <p:cNvSpPr/>
          <p:nvPr/>
        </p:nvSpPr>
        <p:spPr>
          <a:xfrm>
            <a:off x="1047750" y="659130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409700" y="6477000"/>
            <a:ext cx="3688080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pPr algn="l" indent="0" marL="0">
              <a:lnSpc>
                <a:spcPct val="106667"/>
              </a:lnSpc>
              <a:buNone/>
            </a:pPr>
            <a:pPr algn="l" indent="0" marL="0">
              <a:lnSpc>
                <a:spcPct val="106667"/>
              </a:lnSpc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故事要</a:t>
            </a:r>
            <a:r>
              <a:rPr lang="en-US" sz="2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围绕主要人物</a:t>
            </a: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展开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047750" y="720849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1409700" y="7094190"/>
            <a:ext cx="5029200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pPr algn="l" indent="0" marL="0">
              <a:lnSpc>
                <a:spcPct val="106667"/>
              </a:lnSpc>
              <a:buNone/>
            </a:pPr>
            <a:pPr algn="l" indent="0" marL="0">
              <a:lnSpc>
                <a:spcPct val="106667"/>
              </a:lnSpc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把故事</a:t>
            </a:r>
            <a:r>
              <a:rPr lang="en-US" sz="2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写完整</a:t>
            </a: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，情节尽可能吸引人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1047750" y="782568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1409700" y="7711380"/>
            <a:ext cx="8382000" cy="464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pPr algn="l" indent="0" marL="0">
              <a:lnSpc>
                <a:spcPct val="106667"/>
              </a:lnSpc>
              <a:buNone/>
            </a:pPr>
            <a:pPr algn="l" indent="0" marL="0">
              <a:lnSpc>
                <a:spcPct val="106667"/>
              </a:lnSpc>
              <a:buNone/>
            </a:pPr>
            <a:pPr algn="l" indent="0" marL="0">
              <a:lnSpc>
                <a:spcPct val="106667"/>
              </a:lnSpc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试着写出故事发生的</a:t>
            </a:r>
            <a:r>
              <a:rPr lang="en-US" sz="2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</a:t>
            </a: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，还可以写一写人物的</a:t>
            </a:r>
            <a:r>
              <a:rPr lang="en-US" sz="2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心理活动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选一组，也可以自己创设一组。选哪一组现在不用定，这节课三组都会讲到，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快下课的时候再定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想象环境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7345859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158424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把一行字，想成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一个真正存在的地方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048000"/>
            <a:ext cx="9715500" cy="1410593"/>
          </a:xfrm>
          <a:prstGeom prst="roundRect">
            <a:avLst>
              <a:gd name="adj" fmla="val 10804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28750" y="3295650"/>
            <a:ext cx="9222105" cy="9533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195"/>
              </a:lnSpc>
              <a:buNone/>
            </a:pPr>
            <a:pPr algn="l" indent="0" marL="0">
              <a:lnSpc>
                <a:spcPct val="117195"/>
              </a:lnSpc>
              <a:buNone/>
            </a:pPr>
            <a:pPr algn="l" indent="0" marL="0">
              <a:lnSpc>
                <a:spcPct val="117195"/>
              </a:lnSpc>
              <a:buNone/>
            </a:pP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闭上眼睛想半分钟：天已经黑了，村里没有路灯，只有月亮， </a:t>
            </a:r>
            <a:r>
              <a:rPr lang="en-US" sz="23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铁蛋要带表哥从村口走回家 </a:t>
            </a: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，两个人一前一后走在路上。</a:t>
            </a:r>
            <a:endParaRPr lang="en-US" sz="2325" dirty="0"/>
          </a:p>
        </p:txBody>
      </p:sp>
      <p:sp>
        <p:nvSpPr>
          <p:cNvPr id="10" name="Shape 7"/>
          <p:cNvSpPr/>
          <p:nvPr/>
        </p:nvSpPr>
        <p:spPr>
          <a:xfrm>
            <a:off x="1047750" y="4972943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09700" y="4839593"/>
            <a:ext cx="9901238" cy="52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326"/>
              </a:lnSpc>
              <a:buNone/>
            </a:pPr>
            <a:pPr algn="l" indent="0" marL="0">
              <a:lnSpc>
                <a:spcPct val="110326"/>
              </a:lnSpc>
              <a:buNone/>
            </a:pPr>
            <a:pPr algn="l" indent="0" marL="0">
              <a:lnSpc>
                <a:spcPct val="110326"/>
              </a:lnSpc>
              <a:buNone/>
            </a:pPr>
            <a:r>
              <a:rPr lang="en-US" sz="262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铁蛋有什么</a:t>
            </a:r>
            <a:r>
              <a:rPr lang="en-US" sz="26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动作</a:t>
            </a:r>
            <a:r>
              <a:rPr lang="en-US" sz="262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，表哥有什么动作，他们路上可能说什么话？</a:t>
            </a:r>
            <a:endParaRPr lang="en-US" sz="2625" dirty="0"/>
          </a:p>
        </p:txBody>
      </p:sp>
      <p:sp>
        <p:nvSpPr>
          <p:cNvPr id="12" name="Shape 9"/>
          <p:cNvSpPr/>
          <p:nvPr/>
        </p:nvSpPr>
        <p:spPr>
          <a:xfrm>
            <a:off x="1047750" y="5761137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409700" y="5627787"/>
            <a:ext cx="10267950" cy="52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326"/>
              </a:lnSpc>
              <a:buNone/>
            </a:pPr>
            <a:pPr algn="l" indent="0" marL="0">
              <a:lnSpc>
                <a:spcPct val="110326"/>
              </a:lnSpc>
              <a:buNone/>
            </a:pPr>
            <a:pPr algn="l" indent="0" marL="0">
              <a:lnSpc>
                <a:spcPct val="110326"/>
              </a:lnSpc>
              <a:buNone/>
            </a:pPr>
            <a:r>
              <a:rPr lang="en-US" sz="262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站在村口往里看，</a:t>
            </a:r>
            <a:r>
              <a:rPr lang="en-US" sz="26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看得见什么，听得见什么，脚底下踩着什么</a:t>
            </a:r>
            <a:r>
              <a:rPr lang="en-US" sz="262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625" dirty="0"/>
          </a:p>
        </p:txBody>
      </p:sp>
      <p:sp>
        <p:nvSpPr>
          <p:cNvPr id="14" name="Shape 11"/>
          <p:cNvSpPr/>
          <p:nvPr/>
        </p:nvSpPr>
        <p:spPr>
          <a:xfrm>
            <a:off x="1047750" y="654933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409700" y="6415980"/>
            <a:ext cx="9901238" cy="52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326"/>
              </a:lnSpc>
              <a:buNone/>
            </a:pPr>
            <a:pPr algn="l" indent="0" marL="0">
              <a:lnSpc>
                <a:spcPct val="110326"/>
              </a:lnSpc>
              <a:buNone/>
            </a:pPr>
            <a:r>
              <a:rPr lang="en-US" sz="262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刚才说到的动作和景物，选第三组的同学都可以</a:t>
            </a:r>
            <a:r>
              <a:rPr lang="en-US" sz="26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直接写进故事</a:t>
            </a:r>
            <a:endParaRPr lang="en-US" sz="2625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0" y="3143250"/>
            <a:ext cx="4953000" cy="49530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这就是把“月光下的村庄”六个字，变成了一个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真正存在的地方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想象环境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7752457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683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轮到你了：用同样的办法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走进另外两组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31432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21945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3200400"/>
            <a:ext cx="7554278" cy="5214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326"/>
              </a:lnSpc>
              <a:buNone/>
            </a:pPr>
            <a:pPr algn="l" indent="0" marL="0">
              <a:lnSpc>
                <a:spcPct val="110326"/>
              </a:lnSpc>
              <a:buNone/>
            </a:pPr>
            <a:pPr algn="l" indent="0" marL="0">
              <a:lnSpc>
                <a:spcPct val="110326"/>
              </a:lnSpc>
              <a:buNone/>
            </a:pPr>
            <a:r>
              <a:rPr lang="en-US" sz="262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前后桌四人一组，从</a:t>
            </a:r>
            <a:r>
              <a:rPr lang="en-US" sz="26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校园和街头</a:t>
            </a:r>
            <a:r>
              <a:rPr lang="en-US" sz="262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这两组里任选一组</a:t>
            </a:r>
            <a:endParaRPr lang="en-US" sz="2625" dirty="0"/>
          </a:p>
        </p:txBody>
      </p:sp>
      <p:sp>
        <p:nvSpPr>
          <p:cNvPr id="10" name="Shape 7"/>
          <p:cNvSpPr/>
          <p:nvPr/>
        </p:nvSpPr>
        <p:spPr>
          <a:xfrm>
            <a:off x="1047750" y="4007644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4083844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4064794"/>
            <a:ext cx="9133808" cy="1004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326"/>
              </a:lnSpc>
              <a:buNone/>
            </a:pPr>
            <a:pPr algn="l" indent="0" marL="0">
              <a:lnSpc>
                <a:spcPct val="110326"/>
              </a:lnSpc>
              <a:buNone/>
            </a:pPr>
            <a:r>
              <a:rPr lang="en-US" sz="262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用两分钟说出：这个环境里 </a:t>
            </a:r>
            <a:r>
              <a:rPr lang="en-US" sz="26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看得见的两样景物、听得见的一种声音</a:t>
            </a:r>
            <a:endParaRPr lang="en-US" sz="2625" dirty="0"/>
          </a:p>
        </p:txBody>
      </p:sp>
      <p:sp>
        <p:nvSpPr>
          <p:cNvPr id="13" name="Shape 10"/>
          <p:cNvSpPr/>
          <p:nvPr/>
        </p:nvSpPr>
        <p:spPr>
          <a:xfrm>
            <a:off x="1047750" y="5355431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5431631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5412581"/>
            <a:ext cx="9133808" cy="1004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326"/>
              </a:lnSpc>
              <a:buNone/>
            </a:pPr>
            <a:pPr algn="l" indent="0" marL="0">
              <a:lnSpc>
                <a:spcPct val="110326"/>
              </a:lnSpc>
              <a:buNone/>
            </a:pPr>
            <a:pPr algn="l" indent="0" marL="0">
              <a:lnSpc>
                <a:spcPct val="110326"/>
              </a:lnSpc>
              <a:buNone/>
            </a:pPr>
            <a:pPr algn="l" indent="0" marL="0">
              <a:lnSpc>
                <a:spcPct val="110326"/>
              </a:lnSpc>
              <a:buNone/>
            </a:pPr>
            <a:r>
              <a:rPr lang="en-US" sz="262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再说出：你最想让谁当</a:t>
            </a:r>
            <a:r>
              <a:rPr lang="en-US" sz="26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主要人物</a:t>
            </a:r>
            <a:r>
              <a:rPr lang="en-US" sz="262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，他今天 </a:t>
            </a:r>
            <a:r>
              <a:rPr lang="en-US" sz="26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最想做成一件什么事</a:t>
            </a:r>
            <a:endParaRPr lang="en-US" sz="2625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0" y="3238500"/>
            <a:ext cx="4953000" cy="40005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47750" y="8015288"/>
            <a:ext cx="16192500" cy="938213"/>
          </a:xfrm>
          <a:prstGeom prst="roundRect">
            <a:avLst>
              <a:gd name="adj" fmla="val 16244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428750" y="8262938"/>
            <a:ext cx="16973550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说完不用汇报</a:t>
            </a:r>
            <a:r>
              <a:rPr lang="en-US" sz="2325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：各自记在稿纸上方，</a:t>
            </a:r>
            <a:r>
              <a:rPr lang="en-US" sz="23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只记关键词，不写句子</a:t>
            </a:r>
            <a:r>
              <a:rPr lang="en-US" sz="2325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：选定或候选的一组、主要人物、他最想做成的事。</a:t>
            </a:r>
            <a:endParaRPr lang="en-US" sz="2325" dirty="0"/>
          </a:p>
        </p:txBody>
      </p:sp>
      <p:sp>
        <p:nvSpPr>
          <p:cNvPr id="19" name="Text 15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只写了人物名字还不够，再问自己一句：他今天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最想办成的，是哪一件事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学写法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8159204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053105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两段的开头一个字不差，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只比后面那半段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7905750" cy="4819650"/>
          </a:xfrm>
          <a:prstGeom prst="roundRect">
            <a:avLst>
              <a:gd name="adj" fmla="val 3557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771775"/>
            <a:ext cx="7886700" cy="70485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30580" y="2924175"/>
            <a:ext cx="834009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第一段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1057275" y="3476625"/>
            <a:ext cx="7886700" cy="409575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81125" y="3762375"/>
            <a:ext cx="7456170" cy="2537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514350" marL="0">
              <a:lnSpc>
                <a:spcPct val="121500"/>
              </a:lnSpc>
              <a:buNone/>
            </a:pPr>
            <a:r>
              <a:rPr lang="en-US" sz="202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冬天的傍晚，街上的车一辆接一辆，车灯把马路照得发白。陆天背着书包往公交站走，呼出的气一团一团的，散在路灯底下。路边一位老奶奶提着两个装满菜的袋子，走几步就停一下，把袋子换到另一只手上。陆天跑过去接过袋子，扶着她等绿灯，过了马路，一直送到小区门口。老奶奶连声道谢，陆天摆摆手，跑回公交站，正好赶上了车。</a:t>
            </a:r>
            <a:endParaRPr lang="en-US" sz="2025" dirty="0"/>
          </a:p>
        </p:txBody>
      </p:sp>
      <p:sp>
        <p:nvSpPr>
          <p:cNvPr id="12" name="Shape 9"/>
          <p:cNvSpPr/>
          <p:nvPr/>
        </p:nvSpPr>
        <p:spPr>
          <a:xfrm>
            <a:off x="9334500" y="2762250"/>
            <a:ext cx="7905750" cy="4819650"/>
          </a:xfrm>
          <a:prstGeom prst="roundRect">
            <a:avLst>
              <a:gd name="adj" fmla="val 3557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9344025" y="2771775"/>
            <a:ext cx="7886700" cy="70485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117330" y="2924175"/>
            <a:ext cx="834009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9344025" y="3476625"/>
            <a:ext cx="7886700" cy="409575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667875" y="3762375"/>
            <a:ext cx="7456170" cy="33706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514350" marL="0">
              <a:lnSpc>
                <a:spcPct val="121500"/>
              </a:lnSpc>
              <a:buNone/>
            </a:pPr>
            <a:pPr algn="l" indent="514350" marL="0">
              <a:lnSpc>
                <a:spcPct val="121500"/>
              </a:lnSpc>
              <a:buNone/>
            </a:pPr>
            <a:pPr algn="l" indent="514350" marL="0">
              <a:lnSpc>
                <a:spcPct val="121500"/>
              </a:lnSpc>
              <a:buNone/>
            </a:pPr>
            <a:r>
              <a:rPr lang="en-US" sz="202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冬天的傍晚，街上的车一辆接一辆，车灯把马路照得发白。陆天站在公交站牌底下跺脚，一只手在口袋里攥着公交卡。这时候他看见不远处的电线杆底下蹲着一个小男孩，一个人，脸埋在胳膊里，看样子是在哭。他想：最后一班车还有五分钟就到，车一走，今天就得走回家。陆天往路口望了一眼，两束车灯的光由远到近照了过来。车在他面前停下，门开了， </a:t>
            </a:r>
            <a:r>
              <a:rPr lang="en-US" sz="20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他抬起一只脚，又放下了 </a:t>
            </a:r>
            <a:r>
              <a:rPr lang="en-US" sz="202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。他走到电线杆底下蹲下来，小男孩抬起头，手里攥着一只红手套。</a:t>
            </a:r>
            <a:endParaRPr lang="en-US" sz="2025" dirty="0"/>
          </a:p>
        </p:txBody>
      </p:sp>
      <p:sp>
        <p:nvSpPr>
          <p:cNvPr id="17" name="Text 14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两段都是老师用第二组的陆天写的。默读一遍，判断：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哪一段更符合这次习作的要求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？说出理由。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学写法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8159353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053268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再读一遍，找一找：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哪一句让你停了下来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16192500" cy="900113"/>
          </a:xfrm>
          <a:prstGeom prst="roundRect">
            <a:avLst>
              <a:gd name="adj" fmla="val 16931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28750" y="2990850"/>
            <a:ext cx="16973550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读到哪一句，你停了一下、想知道后面怎么样？有，就在那一句底下</a:t>
            </a:r>
            <a:r>
              <a:rPr lang="en-US" sz="23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画一道线</a:t>
            </a: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；没有，就不画。</a:t>
            </a:r>
            <a:endParaRPr lang="en-US" sz="2325" dirty="0"/>
          </a:p>
        </p:txBody>
      </p:sp>
      <p:sp>
        <p:nvSpPr>
          <p:cNvPr id="9" name="Shape 6"/>
          <p:cNvSpPr/>
          <p:nvPr/>
        </p:nvSpPr>
        <p:spPr>
          <a:xfrm>
            <a:off x="1047750" y="4095750"/>
            <a:ext cx="7905750" cy="2809875"/>
          </a:xfrm>
          <a:prstGeom prst="roundRect">
            <a:avLst>
              <a:gd name="adj" fmla="val 610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447800" y="4438650"/>
            <a:ext cx="781621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75" b="1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第一段：画不下这道线</a:t>
            </a:r>
            <a:endParaRPr lang="en-US" sz="2475" dirty="0"/>
          </a:p>
        </p:txBody>
      </p:sp>
      <p:sp>
        <p:nvSpPr>
          <p:cNvPr id="11" name="Text 8"/>
          <p:cNvSpPr/>
          <p:nvPr/>
        </p:nvSpPr>
        <p:spPr>
          <a:xfrm>
            <a:off x="1447800" y="5086350"/>
            <a:ext cx="3619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1866900" y="5086350"/>
            <a:ext cx="722947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一看见老奶奶提袋子，大家</a:t>
            </a: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已经知道后面会怎么样</a:t>
            </a: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了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447800" y="5705475"/>
            <a:ext cx="3619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1866900" y="5705475"/>
            <a:ext cx="56578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帮人和赶车，一件也不耽误，事情一路顺</a:t>
            </a:r>
            <a:endParaRPr lang="en-US" sz="2250" dirty="0"/>
          </a:p>
        </p:txBody>
      </p:sp>
      <p:sp>
        <p:nvSpPr>
          <p:cNvPr id="15" name="Shape 12"/>
          <p:cNvSpPr/>
          <p:nvPr/>
        </p:nvSpPr>
        <p:spPr>
          <a:xfrm>
            <a:off x="9334500" y="4095750"/>
            <a:ext cx="7905750" cy="2809875"/>
          </a:xfrm>
          <a:prstGeom prst="roundRect">
            <a:avLst>
              <a:gd name="adj" fmla="val 610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734550" y="4438650"/>
            <a:ext cx="781621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75" b="1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第二段：线落在同一句上</a:t>
            </a:r>
            <a:endParaRPr lang="en-US" sz="2475" dirty="0"/>
          </a:p>
        </p:txBody>
      </p:sp>
      <p:sp>
        <p:nvSpPr>
          <p:cNvPr id="17" name="Text 14"/>
          <p:cNvSpPr/>
          <p:nvPr/>
        </p:nvSpPr>
        <p:spPr>
          <a:xfrm>
            <a:off x="9734550" y="5086350"/>
            <a:ext cx="36195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250" dirty="0"/>
          </a:p>
        </p:txBody>
      </p:sp>
      <p:sp>
        <p:nvSpPr>
          <p:cNvPr id="18" name="Text 15"/>
          <p:cNvSpPr/>
          <p:nvPr/>
        </p:nvSpPr>
        <p:spPr>
          <a:xfrm>
            <a:off x="10153650" y="5086350"/>
            <a:ext cx="6887147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“他抬起一只脚，又放下了”，读到这里 </a:t>
            </a: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不知道他上不上车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9734550" y="6134100"/>
            <a:ext cx="3619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10153650" y="6134100"/>
            <a:ext cx="37719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他上了车，小孩就没人管了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两个陆天处境不同：第二段里，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最后一班车和哭着的小孩，只能要一样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学写法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7752606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846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让读的人停下来的，是故事里的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一道坎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143250"/>
            <a:ext cx="6096000" cy="5334000"/>
          </a:xfrm>
          <a:prstGeom prst="roundRect">
            <a:avLst>
              <a:gd name="adj" fmla="val 3929"/>
            </a:avLst>
          </a:prstGeom>
          <a:gradFill rotWithShape="1">
            <a:gsLst>
              <a:gs pos="0">
                <a:srgbClr val="3D4A63">
                  <a:alpha val="100000"/>
                </a:srgbClr>
              </a:gs>
              <a:gs pos="100000">
                <a:srgbClr val="2C3650">
                  <a:alpha val="100000"/>
                </a:srgbClr>
              </a:gs>
            </a:gsLst>
            <a:lin ang="2700000" scaled="0"/>
          </a:gra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544955" y="4423470"/>
            <a:ext cx="5101590" cy="28116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06277"/>
              </a:lnSpc>
              <a:buNone/>
            </a:pPr>
            <a:r>
              <a:rPr lang="en-US" sz="7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两样 只能要一样</a:t>
            </a:r>
            <a:endParaRPr lang="en-US" sz="7800" dirty="0"/>
          </a:p>
        </p:txBody>
      </p:sp>
      <p:sp>
        <p:nvSpPr>
          <p:cNvPr id="10" name="Shape 7"/>
          <p:cNvSpPr/>
          <p:nvPr/>
        </p:nvSpPr>
        <p:spPr>
          <a:xfrm>
            <a:off x="8001000" y="337185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8362950" y="3238500"/>
            <a:ext cx="880110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pPr algn="l" indent="0" marL="0">
              <a:lnSpc>
                <a:spcPct val="114130"/>
              </a:lnSpc>
              <a:buNone/>
            </a:pPr>
            <a:pPr algn="l" indent="0" marL="0">
              <a:lnSpc>
                <a:spcPct val="114130"/>
              </a:lnSpc>
              <a:buNone/>
            </a:pPr>
            <a:r>
              <a:rPr lang="en-US" sz="262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主要人物想做成一件事，另一件事</a:t>
            </a:r>
            <a:r>
              <a:rPr lang="en-US" sz="26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挡住了他</a:t>
            </a:r>
            <a:r>
              <a:rPr lang="en-US" sz="262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，这就是坎</a:t>
            </a:r>
            <a:endParaRPr lang="en-US" sz="2625" dirty="0"/>
          </a:p>
        </p:txBody>
      </p:sp>
      <p:sp>
        <p:nvSpPr>
          <p:cNvPr id="12" name="Shape 9"/>
          <p:cNvSpPr/>
          <p:nvPr/>
        </p:nvSpPr>
        <p:spPr>
          <a:xfrm>
            <a:off x="8001000" y="4195763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362950" y="4062412"/>
            <a:ext cx="733425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pPr algn="l" indent="0" marL="0">
              <a:lnSpc>
                <a:spcPct val="114130"/>
              </a:lnSpc>
              <a:buNone/>
            </a:pPr>
            <a:r>
              <a:rPr lang="en-US" sz="262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有了坎，读的人才会停下来，</a:t>
            </a:r>
            <a:r>
              <a:rPr lang="en-US" sz="26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想知道他怎么办</a:t>
            </a:r>
            <a:endParaRPr lang="en-US" sz="2625" dirty="0"/>
          </a:p>
        </p:txBody>
      </p:sp>
      <p:sp>
        <p:nvSpPr>
          <p:cNvPr id="14" name="Shape 11"/>
          <p:cNvSpPr/>
          <p:nvPr/>
        </p:nvSpPr>
        <p:spPr>
          <a:xfrm>
            <a:off x="8001000" y="5019675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362950" y="4886325"/>
            <a:ext cx="7334250" cy="5381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130"/>
              </a:lnSpc>
              <a:buNone/>
            </a:pPr>
            <a:pPr algn="l" indent="0" marL="0">
              <a:lnSpc>
                <a:spcPct val="114130"/>
              </a:lnSpc>
              <a:buNone/>
            </a:pPr>
            <a:r>
              <a:rPr lang="en-US" sz="262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情节吸引人，靠的是坎，</a:t>
            </a:r>
            <a:r>
              <a:rPr lang="en-US" sz="26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事情多不多倒在其次</a:t>
            </a:r>
            <a:endParaRPr lang="en-US" sz="2625" dirty="0"/>
          </a:p>
        </p:txBody>
      </p:sp>
      <p:sp>
        <p:nvSpPr>
          <p:cNvPr id="16" name="Shape 13"/>
          <p:cNvSpPr/>
          <p:nvPr/>
        </p:nvSpPr>
        <p:spPr>
          <a:xfrm>
            <a:off x="8001000" y="5710238"/>
            <a:ext cx="9239250" cy="1351359"/>
          </a:xfrm>
          <a:prstGeom prst="roundRect">
            <a:avLst>
              <a:gd name="adj" fmla="val 12687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343900" y="5957888"/>
            <a:ext cx="8810054" cy="894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256"/>
              </a:lnSpc>
              <a:buNone/>
            </a:pPr>
            <a:pPr algn="l" indent="0" marL="0">
              <a:lnSpc>
                <a:spcPct val="115256"/>
              </a:lnSpc>
              <a:buNone/>
            </a:pPr>
            <a:pPr algn="l" indent="0" marL="0">
              <a:lnSpc>
                <a:spcPct val="115256"/>
              </a:lnSpc>
              <a:buNone/>
            </a:pPr>
            <a:pPr algn="l" indent="0" marL="0">
              <a:lnSpc>
                <a:spcPct val="115256"/>
              </a:lnSpc>
              <a:buNone/>
            </a:pPr>
            <a:pPr algn="l" indent="0" marL="0">
              <a:lnSpc>
                <a:spcPct val="115256"/>
              </a:lnSpc>
              <a:buNone/>
            </a:pP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课文</a:t>
            </a:r>
            <a:r>
              <a:rPr lang="en-US" sz="217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《桥》 </a:t>
            </a: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整篇就是一道坎：山洪来了，全村人要从一座窄桥上过去，水一步一步往上涨，读的人从头到尾 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替桥上的人捏着一把汗</a:t>
            </a: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175" dirty="0"/>
          </a:p>
        </p:txBody>
      </p:sp>
      <p:sp>
        <p:nvSpPr>
          <p:cNvPr id="18" name="Text 15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更符合要求的是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：它缺的只是后半截，补上就完整；第一段缺的是一道坎，要从头重新想起。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学写法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6532364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263580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事情变方向的那一刻，就是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转折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16192500" cy="1302990"/>
          </a:xfrm>
          <a:prstGeom prst="roundRect">
            <a:avLst>
              <a:gd name="adj" fmla="val 20468"/>
            </a:avLst>
          </a:prstGeom>
          <a:solidFill>
            <a:srgbClr val="EAF1FB"/>
          </a:solidFill>
          <a:ln w="19050">
            <a:solidFill>
              <a:srgbClr val="C3D6F0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733550" y="4217640"/>
            <a:ext cx="457200" cy="285750"/>
          </a:xfrm>
          <a:prstGeom prst="rect">
            <a:avLst/>
          </a:prstGeom>
          <a:solidFill>
            <a:srgbClr val="EAF1FB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50" y="4217640"/>
            <a:ext cx="457200" cy="2857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43050" y="3314700"/>
            <a:ext cx="16722090" cy="617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600"/>
              </a:lnSpc>
              <a:buNone/>
            </a:pPr>
            <a:pPr algn="l" indent="0" marL="0">
              <a:lnSpc>
                <a:spcPct val="121600"/>
              </a:lnSpc>
              <a:buNone/>
            </a:pPr>
            <a:pPr algn="l" indent="0" marL="0">
              <a:lnSpc>
                <a:spcPct val="121600"/>
              </a:lnSpc>
              <a:buNone/>
            </a:pPr>
            <a:r>
              <a:rPr lang="en-US" sz="28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“车在他面前停下，门开了，</a:t>
            </a:r>
            <a:r>
              <a:rPr lang="en-US" sz="2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他抬起一只脚，又放下了</a:t>
            </a:r>
            <a:r>
              <a:rPr lang="en-US" sz="28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。”</a:t>
            </a:r>
            <a:endParaRPr lang="en-US" sz="2850" dirty="0"/>
          </a:p>
        </p:txBody>
      </p:sp>
      <p:sp>
        <p:nvSpPr>
          <p:cNvPr id="11" name="Shape 7"/>
          <p:cNvSpPr/>
          <p:nvPr/>
        </p:nvSpPr>
        <p:spPr>
          <a:xfrm>
            <a:off x="1047750" y="527685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1409700" y="5143500"/>
            <a:ext cx="1244727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到这一句，事情的方向变了：前面一直是他要赶车，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从这一句起，他不赶了</a:t>
            </a:r>
            <a:endParaRPr lang="en-US" sz="2700" dirty="0"/>
          </a:p>
        </p:txBody>
      </p:sp>
      <p:sp>
        <p:nvSpPr>
          <p:cNvPr id="13" name="Shape 9"/>
          <p:cNvSpPr/>
          <p:nvPr/>
        </p:nvSpPr>
        <p:spPr>
          <a:xfrm>
            <a:off x="1047750" y="611505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1409700" y="5981700"/>
            <a:ext cx="1169289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坎让读的人停下来，转折告诉读的人：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他选了哪一边，事情往哪边去了</a:t>
            </a:r>
            <a:endParaRPr lang="en-US" sz="2700" dirty="0"/>
          </a:p>
        </p:txBody>
      </p:sp>
      <p:sp>
        <p:nvSpPr>
          <p:cNvPr id="15" name="Shape 11"/>
          <p:cNvSpPr/>
          <p:nvPr/>
        </p:nvSpPr>
        <p:spPr>
          <a:xfrm>
            <a:off x="1047750" y="695325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1409700" y="6819900"/>
            <a:ext cx="678942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一个故事，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有坎有转折</a:t>
            </a: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，情节就有了起伏</a:t>
            </a:r>
            <a:endParaRPr lang="en-US" sz="2700" dirty="0"/>
          </a:p>
        </p:txBody>
      </p:sp>
      <p:sp>
        <p:nvSpPr>
          <p:cNvPr id="17" name="Text 13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老师的第二段是故意停在半路的：把转折之后的事写完，就是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一篇完整的故事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学写法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9379446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9395371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心理活动写在哪里：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坎跟前，写一句他心里的话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16192500" cy="1302990"/>
          </a:xfrm>
          <a:prstGeom prst="roundRect">
            <a:avLst>
              <a:gd name="adj" fmla="val 20468"/>
            </a:avLst>
          </a:prstGeom>
          <a:solidFill>
            <a:srgbClr val="EAF1FB"/>
          </a:solidFill>
          <a:ln w="19050">
            <a:solidFill>
              <a:srgbClr val="C3D6F0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733550" y="4217640"/>
            <a:ext cx="457200" cy="285750"/>
          </a:xfrm>
          <a:prstGeom prst="rect">
            <a:avLst/>
          </a:prstGeom>
          <a:solidFill>
            <a:srgbClr val="EAF1FB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50" y="4217640"/>
            <a:ext cx="457200" cy="2857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43050" y="3314700"/>
            <a:ext cx="16722090" cy="617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600"/>
              </a:lnSpc>
              <a:buNone/>
            </a:pPr>
            <a:pPr algn="l" indent="0" marL="0">
              <a:lnSpc>
                <a:spcPct val="121600"/>
              </a:lnSpc>
              <a:buNone/>
            </a:pPr>
            <a:pPr algn="l" indent="0" marL="0">
              <a:lnSpc>
                <a:spcPct val="121600"/>
              </a:lnSpc>
              <a:buNone/>
            </a:pPr>
            <a:r>
              <a:rPr lang="en-US" sz="28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“他想：</a:t>
            </a:r>
            <a:r>
              <a:rPr lang="en-US" sz="28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最后一班车还有五分钟就到，车一走，今天就得走回家</a:t>
            </a:r>
            <a:r>
              <a:rPr lang="en-US" sz="28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。”</a:t>
            </a:r>
            <a:endParaRPr lang="en-US" sz="2850" dirty="0"/>
          </a:p>
        </p:txBody>
      </p:sp>
      <p:sp>
        <p:nvSpPr>
          <p:cNvPr id="11" name="Shape 7"/>
          <p:cNvSpPr/>
          <p:nvPr/>
        </p:nvSpPr>
        <p:spPr>
          <a:xfrm>
            <a:off x="1047750" y="527685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1409700" y="5143500"/>
            <a:ext cx="1131570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第二段写他心里想什么的只有这一句，写在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坎跟前、他最为难的时候</a:t>
            </a:r>
            <a:endParaRPr lang="en-US" sz="2700" dirty="0"/>
          </a:p>
        </p:txBody>
      </p:sp>
      <p:sp>
        <p:nvSpPr>
          <p:cNvPr id="13" name="Shape 9"/>
          <p:cNvSpPr/>
          <p:nvPr/>
        </p:nvSpPr>
        <p:spPr>
          <a:xfrm>
            <a:off x="1047750" y="611505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1409700" y="5981700"/>
            <a:ext cx="1056132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有了这一句，后面他抬起脚又放下，读的人就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明白他为什么放下</a:t>
            </a:r>
            <a:endParaRPr lang="en-US" sz="2700" dirty="0"/>
          </a:p>
        </p:txBody>
      </p:sp>
      <p:sp>
        <p:nvSpPr>
          <p:cNvPr id="15" name="Shape 11"/>
          <p:cNvSpPr/>
          <p:nvPr/>
        </p:nvSpPr>
        <p:spPr>
          <a:xfrm>
            <a:off x="1047750" y="695325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1409700" y="6819900"/>
            <a:ext cx="1320165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《穷人》用了很长一段写桑娜心里翻来覆去地想；大家不用写那么长，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一句就够</a:t>
            </a:r>
            <a:endParaRPr lang="en-US" sz="2700" dirty="0"/>
          </a:p>
        </p:txBody>
      </p:sp>
      <p:sp>
        <p:nvSpPr>
          <p:cNvPr id="17" name="Text 13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中间只写这一句，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别处让动作替他说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学写法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5719018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5368900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替第一段的陆天，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想一道坎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3714750" cy="762000"/>
          </a:xfrm>
          <a:prstGeom prst="roundRect">
            <a:avLst>
              <a:gd name="adj" fmla="val 17500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333500" y="3048000"/>
            <a:ext cx="345757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他自己也要赶最后一班车</a:t>
            </a:r>
            <a:endParaRPr lang="en-US" sz="2250" dirty="0"/>
          </a:p>
        </p:txBody>
      </p:sp>
      <p:sp>
        <p:nvSpPr>
          <p:cNvPr id="9" name="Shape 6"/>
          <p:cNvSpPr/>
          <p:nvPr/>
        </p:nvSpPr>
        <p:spPr>
          <a:xfrm>
            <a:off x="4953000" y="2857500"/>
            <a:ext cx="3429000" cy="762000"/>
          </a:xfrm>
          <a:prstGeom prst="roundRect">
            <a:avLst>
              <a:gd name="adj" fmla="val 17500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238750" y="3048000"/>
            <a:ext cx="314325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袋子破了，菜撒了一地</a:t>
            </a:r>
            <a:endParaRPr lang="en-US" sz="2250" dirty="0"/>
          </a:p>
        </p:txBody>
      </p:sp>
      <p:sp>
        <p:nvSpPr>
          <p:cNvPr id="11" name="Shape 8"/>
          <p:cNvSpPr/>
          <p:nvPr/>
        </p:nvSpPr>
        <p:spPr>
          <a:xfrm>
            <a:off x="8572500" y="2857500"/>
            <a:ext cx="4286250" cy="762000"/>
          </a:xfrm>
          <a:prstGeom prst="roundRect">
            <a:avLst>
              <a:gd name="adj" fmla="val 17500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858250" y="3048000"/>
            <a:ext cx="408622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老奶奶不让他帮，怕他是骗子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13049250" y="2857500"/>
            <a:ext cx="4000500" cy="762000"/>
          </a:xfrm>
          <a:prstGeom prst="roundRect">
            <a:avLst>
              <a:gd name="adj" fmla="val 17500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3335000" y="3048000"/>
            <a:ext cx="377190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绿灯太短，走到一半变红了</a:t>
            </a:r>
            <a:endParaRPr lang="en-US" sz="2250" dirty="0"/>
          </a:p>
        </p:txBody>
      </p:sp>
      <p:sp>
        <p:nvSpPr>
          <p:cNvPr id="15" name="Shape 12"/>
          <p:cNvSpPr/>
          <p:nvPr/>
        </p:nvSpPr>
        <p:spPr>
          <a:xfrm>
            <a:off x="1047750" y="4381500"/>
            <a:ext cx="16192500" cy="1584722"/>
          </a:xfrm>
          <a:prstGeom prst="roundRect">
            <a:avLst>
              <a:gd name="adj" fmla="val 10819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485900" y="4686300"/>
            <a:ext cx="15775686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905"/>
              </a:lnSpc>
              <a:buNone/>
            </a:pPr>
            <a:pPr algn="l" indent="0" marL="0">
              <a:lnSpc>
                <a:spcPct val="121905"/>
              </a:lnSpc>
              <a:buNone/>
            </a:pPr>
            <a:pPr algn="l" indent="0" marL="0">
              <a:lnSpc>
                <a:spcPct val="121905"/>
              </a:lnSpc>
              <a:buNone/>
            </a:pPr>
            <a:pPr algn="l" indent="0" marL="0">
              <a:lnSpc>
                <a:spcPct val="121905"/>
              </a:lnSpc>
              <a:buNone/>
            </a:pPr>
            <a:pPr algn="l" indent="0" marL="0">
              <a:lnSpc>
                <a:spcPct val="121905"/>
              </a:lnSpc>
              <a:buNone/>
            </a:pPr>
            <a:pPr algn="l" indent="0" marL="0">
              <a:lnSpc>
                <a:spcPct val="121905"/>
              </a:lnSpc>
              <a:buNone/>
            </a:pPr>
            <a:pPr algn="l" indent="0" marL="0">
              <a:lnSpc>
                <a:spcPct val="121905"/>
              </a:lnSpc>
              <a:buNone/>
            </a:pPr>
            <a:r>
              <a:rPr lang="en-US" sz="240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挑一挑：哪几道最像冬天傍晚的街头</a:t>
            </a:r>
            <a:r>
              <a:rPr lang="en-US" sz="2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真会有的</a:t>
            </a:r>
            <a:r>
              <a:rPr lang="en-US" sz="240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？留得住的坎，都是这个环境和这个人身上</a:t>
            </a:r>
            <a:r>
              <a:rPr lang="en-US" sz="2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本来就有的 </a:t>
            </a:r>
            <a:r>
              <a:rPr lang="en-US" sz="240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：天黑得早，车少，老人对陌生人有戒心。坎是编的，可是编得像生活里真会有的，这就是导语页说的 </a:t>
            </a:r>
            <a:r>
              <a:rPr lang="en-US" sz="2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“生活的影子”</a:t>
            </a:r>
            <a:r>
              <a:rPr lang="en-US" sz="240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1047750" y="6667500"/>
            <a:ext cx="16192500" cy="1381125"/>
          </a:xfrm>
          <a:prstGeom prst="roundRect">
            <a:avLst>
              <a:gd name="adj" fmla="val 11034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428750" y="6915150"/>
            <a:ext cx="15893415" cy="923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写环境，不只是开头交代天气地点：</a:t>
            </a:r>
            <a:r>
              <a:rPr lang="en-US" sz="23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在坎跟前、在转折的地方，各再写上一句 </a:t>
            </a: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。第二段里，冬天、黄昏、最后一班车，都是在让这道坎更难过去。</a:t>
            </a:r>
            <a:endParaRPr lang="en-US" sz="2325" dirty="0"/>
          </a:p>
        </p:txBody>
      </p:sp>
      <p:sp>
        <p:nvSpPr>
          <p:cNvPr id="19" name="Text 16"/>
          <p:cNvSpPr/>
          <p:nvPr/>
        </p:nvSpPr>
        <p:spPr>
          <a:xfrm>
            <a:off x="1047750" y="8896350"/>
            <a:ext cx="16678275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“忽然来了一个坏人”这样的坎留不住，先问一句：这件事在这个环境里，是常有的，还是 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很偶然才会发生的 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学写法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4905524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4474056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写这个故事，做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1432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217861" y="321945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1800225" y="3181350"/>
            <a:ext cx="7365683" cy="5490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490"/>
              </a:lnSpc>
              <a:buNone/>
            </a:pPr>
            <a:pPr algn="l" indent="0" marL="0">
              <a:lnSpc>
                <a:spcPct val="109490"/>
              </a:lnSpc>
              <a:buNone/>
            </a:pPr>
            <a:r>
              <a:rPr lang="en-US" sz="277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给主要人物一道</a:t>
            </a:r>
            <a:r>
              <a:rPr lang="en-US" sz="27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从环境和人物特点里来的坎</a:t>
            </a:r>
            <a:endParaRPr lang="en-US" sz="2775" dirty="0"/>
          </a:p>
        </p:txBody>
      </p:sp>
      <p:sp>
        <p:nvSpPr>
          <p:cNvPr id="11" name="Shape 8"/>
          <p:cNvSpPr/>
          <p:nvPr/>
        </p:nvSpPr>
        <p:spPr>
          <a:xfrm>
            <a:off x="1047750" y="4073277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217861" y="4149477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1800225" y="4111377"/>
            <a:ext cx="7753350" cy="5490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490"/>
              </a:lnSpc>
              <a:buNone/>
            </a:pPr>
            <a:pPr algn="l" indent="0" marL="0">
              <a:lnSpc>
                <a:spcPct val="109490"/>
              </a:lnSpc>
              <a:buNone/>
            </a:pPr>
            <a:pPr algn="l" indent="0" marL="0">
              <a:lnSpc>
                <a:spcPct val="109490"/>
              </a:lnSpc>
              <a:buNone/>
            </a:pPr>
            <a:r>
              <a:rPr lang="en-US" sz="277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坎跟前写</a:t>
            </a:r>
            <a:r>
              <a:rPr lang="en-US" sz="27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一句他心里的话</a:t>
            </a:r>
            <a:r>
              <a:rPr lang="en-US" sz="277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，别处让动作替他说</a:t>
            </a:r>
            <a:endParaRPr lang="en-US" sz="2775" dirty="0"/>
          </a:p>
        </p:txBody>
      </p:sp>
      <p:sp>
        <p:nvSpPr>
          <p:cNvPr id="14" name="Shape 11"/>
          <p:cNvSpPr/>
          <p:nvPr/>
        </p:nvSpPr>
        <p:spPr>
          <a:xfrm>
            <a:off x="1047750" y="5003304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217861" y="5079504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1800225" y="5041404"/>
            <a:ext cx="4652010" cy="5490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490"/>
              </a:lnSpc>
              <a:buNone/>
            </a:pPr>
            <a:pPr algn="l" indent="0" marL="0">
              <a:lnSpc>
                <a:spcPct val="109490"/>
              </a:lnSpc>
              <a:buNone/>
            </a:pPr>
            <a:r>
              <a:rPr lang="en-US" sz="277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写清事情</a:t>
            </a:r>
            <a:r>
              <a:rPr lang="en-US" sz="27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从哪一刻转了方向</a:t>
            </a:r>
            <a:endParaRPr lang="en-US" sz="2775" dirty="0"/>
          </a:p>
        </p:txBody>
      </p:sp>
      <p:sp>
        <p:nvSpPr>
          <p:cNvPr id="17" name="Shape 14"/>
          <p:cNvSpPr/>
          <p:nvPr/>
        </p:nvSpPr>
        <p:spPr>
          <a:xfrm>
            <a:off x="1047750" y="6667500"/>
            <a:ext cx="16192500" cy="938213"/>
          </a:xfrm>
          <a:prstGeom prst="roundRect">
            <a:avLst>
              <a:gd name="adj" fmla="val 16244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428750" y="6915150"/>
            <a:ext cx="16973550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环境在</a:t>
            </a:r>
            <a:r>
              <a:rPr lang="en-US" sz="23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开头交代一次</a:t>
            </a: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，到了坎和转折的地方</a:t>
            </a:r>
            <a:r>
              <a:rPr lang="en-US" sz="23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各再写上一句</a:t>
            </a: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325" dirty="0"/>
          </a:p>
        </p:txBody>
      </p:sp>
      <p:sp>
        <p:nvSpPr>
          <p:cNvPr id="19" name="Text 16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写完整，第一段做到了；让人想读下去，第二段做到了。这次习作，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这两样都要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故事起伏表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7750" y="1428750"/>
            <a:ext cx="2724150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971"/>
              </a:lnSpc>
              <a:buNone/>
            </a:pPr>
            <a:r>
              <a:rPr lang="en-US" sz="39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故事起伏表</a:t>
            </a:r>
            <a:endParaRPr lang="en-US" sz="3900" dirty="0"/>
          </a:p>
        </p:txBody>
      </p:sp>
      <p:sp>
        <p:nvSpPr>
          <p:cNvPr id="6" name="Text 3"/>
          <p:cNvSpPr/>
          <p:nvPr/>
        </p:nvSpPr>
        <p:spPr>
          <a:xfrm>
            <a:off x="1047750" y="2133600"/>
            <a:ext cx="974407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8A9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老师先用第一组填一遍，主要人物选的是淘气包张明；每格只填关键词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16192500" cy="4552950"/>
          </a:xfrm>
          <a:prstGeom prst="roundRect">
            <a:avLst>
              <a:gd name="adj" fmla="val 2929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771775"/>
            <a:ext cx="16173450" cy="70485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2933700"/>
            <a:ext cx="603504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7153275" y="2771775"/>
            <a:ext cx="9525" cy="7048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467600" y="2933700"/>
            <a:ext cx="10404158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2250" dirty="0"/>
          </a:p>
        </p:txBody>
      </p:sp>
      <p:sp>
        <p:nvSpPr>
          <p:cNvPr id="12" name="Shape 9"/>
          <p:cNvSpPr/>
          <p:nvPr/>
        </p:nvSpPr>
        <p:spPr>
          <a:xfrm>
            <a:off x="1057275" y="3476625"/>
            <a:ext cx="16173450" cy="6381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62075" y="3619500"/>
            <a:ext cx="56692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环境（选一组或自创）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7153275" y="3476625"/>
            <a:ext cx="9525" cy="63817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467600" y="3619500"/>
            <a:ext cx="976064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开满丁香花的校园 · 四月 · 教学楼后面那一排丁香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1057275" y="4114800"/>
            <a:ext cx="16173450" cy="6381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362075" y="4257675"/>
            <a:ext cx="56692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主要人物 · 他最想做成的事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7153275" y="4114800"/>
            <a:ext cx="9525" cy="63817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467600" y="4257675"/>
            <a:ext cx="976064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r>
              <a:rPr lang="en-US" sz="2100" dirty="0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张明 · 养活丁香丛里一只掉下来的小麻雀，</a:t>
            </a:r>
            <a:r>
              <a:rPr lang="en-US" sz="2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不让人知道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1057275" y="4752975"/>
            <a:ext cx="16173450" cy="6381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362075" y="4895850"/>
            <a:ext cx="56692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坎：什么挡住了他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7153275" y="4752975"/>
            <a:ext cx="9525" cy="63817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7467600" y="4895850"/>
            <a:ext cx="976064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王寒冰查午休 · 第三次抓到他溜出教室 · 再有一次就报告李老师</a:t>
            </a:r>
            <a:endParaRPr lang="en-US" sz="2100" dirty="0"/>
          </a:p>
        </p:txBody>
      </p:sp>
      <p:sp>
        <p:nvSpPr>
          <p:cNvPr id="24" name="Shape 21"/>
          <p:cNvSpPr/>
          <p:nvPr/>
        </p:nvSpPr>
        <p:spPr>
          <a:xfrm>
            <a:off x="1057275" y="5391150"/>
            <a:ext cx="16173450" cy="6381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362075" y="5534025"/>
            <a:ext cx="56692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坎跟前他心里的一句话</a:t>
            </a:r>
            <a:endParaRPr lang="en-US" sz="2100" dirty="0"/>
          </a:p>
        </p:txBody>
      </p:sp>
      <p:sp>
        <p:nvSpPr>
          <p:cNvPr id="26" name="Shape 23"/>
          <p:cNvSpPr/>
          <p:nvPr/>
        </p:nvSpPr>
        <p:spPr>
          <a:xfrm>
            <a:off x="7153275" y="5391150"/>
            <a:ext cx="9525" cy="63817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7467600" y="5534025"/>
            <a:ext cx="976064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报告了，麻雀就会被送走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1057275" y="6029325"/>
            <a:ext cx="16173450" cy="63817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362075" y="6172200"/>
            <a:ext cx="56692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转折：事情从哪一刻变了方向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7153275" y="6029325"/>
            <a:ext cx="9525" cy="63817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467600" y="6172200"/>
            <a:ext cx="976064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下雨那天中午 · 王寒冰自己出了后门</a:t>
            </a:r>
            <a:endParaRPr lang="en-US" sz="2100" dirty="0"/>
          </a:p>
        </p:txBody>
      </p:sp>
      <p:sp>
        <p:nvSpPr>
          <p:cNvPr id="32" name="Shape 29"/>
          <p:cNvSpPr/>
          <p:nvPr/>
        </p:nvSpPr>
        <p:spPr>
          <a:xfrm>
            <a:off x="1057275" y="6667500"/>
            <a:ext cx="16173450" cy="6381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362075" y="6810375"/>
            <a:ext cx="56692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结果：和开头比，什么变了</a:t>
            </a:r>
            <a:endParaRPr lang="en-US" sz="2100" dirty="0"/>
          </a:p>
        </p:txBody>
      </p:sp>
      <p:sp>
        <p:nvSpPr>
          <p:cNvPr id="34" name="Shape 31"/>
          <p:cNvSpPr/>
          <p:nvPr/>
        </p:nvSpPr>
        <p:spPr>
          <a:xfrm>
            <a:off x="7153275" y="6667500"/>
            <a:ext cx="9525" cy="63817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7467600" y="6810375"/>
            <a:ext cx="976064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鞋盒换成带盖的塑料盒 · 午休记录本上写着张明名字的那一行被划掉</a:t>
            </a:r>
            <a:endParaRPr lang="en-US" sz="2100" dirty="0"/>
          </a:p>
        </p:txBody>
      </p:sp>
      <p:sp>
        <p:nvSpPr>
          <p:cNvPr id="36" name="Text 33"/>
          <p:cNvSpPr/>
          <p:nvPr/>
        </p:nvSpPr>
        <p:spPr>
          <a:xfrm>
            <a:off x="1047750" y="935355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六格里，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第三格（坎）和第五格（转折）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是这张表的关键。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故事起伏表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6532364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263580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填表的时候才看得出来的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30480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12420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3086100"/>
            <a:ext cx="15010447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333"/>
              </a:lnSpc>
              <a:buNone/>
            </a:pPr>
            <a:pPr algn="l" indent="0" marL="0">
              <a:lnSpc>
                <a:spcPct val="113333"/>
              </a:lnSpc>
              <a:buNone/>
            </a:pPr>
            <a:pPr algn="l" indent="0" marL="0">
              <a:lnSpc>
                <a:spcPct val="113333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第二格加上“不让人知道”五个字，坎才</a:t>
            </a:r>
            <a:r>
              <a:rPr lang="en-US" sz="25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立得住</a:t>
            </a:r>
            <a:r>
              <a:rPr lang="en-US" sz="25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：如果全班都知道他养麻雀，王寒冰查午休就挡不住他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47750" y="391477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3990975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3952875"/>
            <a:ext cx="10340531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333"/>
              </a:lnSpc>
              <a:buNone/>
            </a:pPr>
            <a:pPr algn="l" indent="0" marL="0">
              <a:lnSpc>
                <a:spcPct val="113333"/>
              </a:lnSpc>
              <a:buNone/>
            </a:pPr>
            <a:pPr algn="l" indent="0" marL="0">
              <a:lnSpc>
                <a:spcPct val="113333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第五格的转折要</a:t>
            </a:r>
            <a:r>
              <a:rPr lang="en-US" sz="25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从坎那边来</a:t>
            </a:r>
            <a:r>
              <a:rPr lang="en-US" sz="25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，不能凭空掉下来一个新人物把事情解决了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047750" y="478155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485775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4819650"/>
            <a:ext cx="14009751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333"/>
              </a:lnSpc>
              <a:buNone/>
            </a:pPr>
            <a:pPr algn="l" indent="0" marL="0">
              <a:lnSpc>
                <a:spcPct val="113333"/>
              </a:lnSpc>
              <a:buNone/>
            </a:pPr>
            <a:pPr algn="l" indent="0" marL="0">
              <a:lnSpc>
                <a:spcPct val="113333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第六格填变化，最好落在</a:t>
            </a:r>
            <a:r>
              <a:rPr lang="en-US" sz="25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一样看得见的变化</a:t>
            </a:r>
            <a:r>
              <a:rPr lang="en-US" sz="25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上，比只写“最后大家都很开心”更能让读的人看见</a:t>
            </a:r>
            <a:endParaRPr lang="en-US" sz="2550" dirty="0"/>
          </a:p>
        </p:txBody>
      </p:sp>
      <p:sp>
        <p:nvSpPr>
          <p:cNvPr id="16" name="Shape 13"/>
          <p:cNvSpPr/>
          <p:nvPr/>
        </p:nvSpPr>
        <p:spPr>
          <a:xfrm>
            <a:off x="1047750" y="6667500"/>
            <a:ext cx="16192500" cy="938213"/>
          </a:xfrm>
          <a:prstGeom prst="roundRect">
            <a:avLst>
              <a:gd name="adj" fmla="val 16244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428750" y="6915150"/>
            <a:ext cx="16973550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一组里的人物</a:t>
            </a:r>
            <a:r>
              <a:rPr lang="en-US" sz="23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不必都写进去</a:t>
            </a: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：老师只挑张明做主要人物，王寒冰挡在他前面，李军老师没有出场，只是被提到过。</a:t>
            </a:r>
            <a:endParaRPr lang="en-US" sz="2325" dirty="0"/>
          </a:p>
        </p:txBody>
      </p:sp>
      <p:sp>
        <p:nvSpPr>
          <p:cNvPr id="18" name="Text 15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教材的第一条要求就是：故事要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围绕主要人物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展开。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故事起伏表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8159204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053105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轮到你了：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先填表，再和同桌互说第三格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30480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124200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3105150"/>
            <a:ext cx="9133808" cy="977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56"/>
              </a:lnSpc>
              <a:buNone/>
            </a:pPr>
            <a:pPr algn="l" indent="0" marL="0">
              <a:lnSpc>
                <a:spcPct val="109556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填表或者在稿纸背面列提纲都可以，只有一条要求： </a:t>
            </a:r>
            <a:r>
              <a:rPr lang="en-US" sz="25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第二、第三、第五这三格必须定下来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47750" y="434905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4425255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4406205"/>
            <a:ext cx="9133808" cy="977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56"/>
              </a:lnSpc>
              <a:buNone/>
            </a:pPr>
            <a:pPr algn="l" indent="0" marL="0">
              <a:lnSpc>
                <a:spcPct val="109556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只写关键词；稿纸上方记下的那几个词，可以直接填进 </a:t>
            </a:r>
            <a:r>
              <a:rPr lang="en-US" sz="25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第一格和第二格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047750" y="5650111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5726311"/>
            <a:ext cx="24080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5707261"/>
            <a:ext cx="9133808" cy="977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56"/>
              </a:lnSpc>
              <a:buNone/>
            </a:pPr>
            <a:pPr algn="l" indent="0" marL="0">
              <a:lnSpc>
                <a:spcPct val="109556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填好后和同桌互说第三格，一句话：我的主要人物想做成一件什么事， </a:t>
            </a:r>
            <a:r>
              <a:rPr lang="en-US" sz="25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什么挡住了他</a:t>
            </a:r>
            <a:endParaRPr lang="en-US" sz="25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0" y="3238500"/>
            <a:ext cx="4953000" cy="38100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47750" y="7572375"/>
            <a:ext cx="16192500" cy="1381125"/>
          </a:xfrm>
          <a:prstGeom prst="roundRect">
            <a:avLst>
              <a:gd name="adj" fmla="val 11034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428750" y="7820025"/>
            <a:ext cx="15893415" cy="923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听的一方只答一声：“信”或者“不信” </a:t>
            </a:r>
            <a:r>
              <a:rPr lang="en-US" sz="2325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。说不信的，要说出为什么不信；听到“不信”的，把第三格改一改。同桌说“信”的，再看第五格， </a:t>
            </a:r>
            <a:r>
              <a:rPr lang="en-US" sz="23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转折是不是从坎那边来的</a:t>
            </a:r>
            <a:r>
              <a:rPr lang="en-US" sz="2325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325" dirty="0"/>
          </a:p>
        </p:txBody>
      </p:sp>
      <p:sp>
        <p:nvSpPr>
          <p:cNvPr id="19" name="Text 15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这道坎，在你的环境里、在这个人身上，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本来就有吗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？本来就有，就留着。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教师示范文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09700"/>
            <a:ext cx="10116741" cy="838200"/>
          </a:xfrm>
          <a:prstGeom prst="roundRect">
            <a:avLst>
              <a:gd name="adj" fmla="val 2272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28750" y="1562100"/>
            <a:ext cx="10290215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刚才那张表，写成了一篇故事：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《丁香丛里的秘密》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305050"/>
            <a:ext cx="16192500" cy="6858000"/>
          </a:xfrm>
          <a:prstGeom prst="roundRect">
            <a:avLst>
              <a:gd name="adj" fmla="val 2500"/>
            </a:avLst>
          </a:prstGeom>
          <a:solidFill>
            <a:srgbClr val="F7F5F2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581150" y="2590800"/>
            <a:ext cx="15579471" cy="1145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485775" marL="0">
              <a:lnSpc>
                <a:spcPct val="114000"/>
              </a:lnSpc>
              <a:buNone/>
            </a:pPr>
            <a:pPr algn="just" indent="485775" marL="0">
              <a:lnSpc>
                <a:spcPct val="114000"/>
              </a:lnSpc>
              <a:buNone/>
            </a:pPr>
            <a:pPr algn="just" indent="485775" marL="0">
              <a:lnSpc>
                <a:spcPct val="114000"/>
              </a:lnSpc>
              <a:buNone/>
            </a:pPr>
            <a:r>
              <a:rPr lang="en-US" sz="1913" b="1" dirty="0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四月，教学楼后面那一排丁香开花了，风一吹，香气从后窗飘进教室。 </a:t>
            </a:r>
            <a:r>
              <a:rPr lang="en-US" sz="1913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第三丛丁香底下有一只小麻雀，一边翅膀无力地垂下来，一只脚也受了伤，身子缩在地上，几乎没法挪动。小麻雀是张明星期一捡到的，他用一只鞋盒给它做了窝，每天午休溜出去喂它一次面包。 </a:t>
            </a:r>
            <a:r>
              <a:rPr lang="en-US" sz="1913" b="1" dirty="0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他去喂麻雀的事，全班没有一个人知道。</a:t>
            </a:r>
            <a:endParaRPr lang="en-US" sz="1913" dirty="0"/>
          </a:p>
        </p:txBody>
      </p:sp>
      <p:sp>
        <p:nvSpPr>
          <p:cNvPr id="9" name="Text 6"/>
          <p:cNvSpPr/>
          <p:nvPr/>
        </p:nvSpPr>
        <p:spPr>
          <a:xfrm>
            <a:off x="1581150" y="3774281"/>
            <a:ext cx="15579471" cy="1145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485775" marL="0">
              <a:lnSpc>
                <a:spcPct val="114000"/>
              </a:lnSpc>
              <a:buNone/>
            </a:pPr>
            <a:pPr algn="just" indent="485775" marL="0">
              <a:lnSpc>
                <a:spcPct val="114000"/>
              </a:lnSpc>
              <a:buNone/>
            </a:pPr>
            <a:pPr algn="just" indent="485775" marL="0">
              <a:lnSpc>
                <a:spcPct val="114000"/>
              </a:lnSpc>
              <a:buNone/>
            </a:pPr>
            <a:pPr algn="just" indent="485775" marL="0">
              <a:lnSpc>
                <a:spcPct val="114000"/>
              </a:lnSpc>
              <a:buNone/>
            </a:pPr>
            <a:pPr algn="just" indent="485775" marL="0">
              <a:lnSpc>
                <a:spcPct val="114000"/>
              </a:lnSpc>
              <a:buNone/>
            </a:pPr>
            <a:pPr algn="just" indent="485775" marL="0">
              <a:lnSpc>
                <a:spcPct val="114000"/>
              </a:lnSpc>
              <a:buNone/>
            </a:pPr>
            <a:r>
              <a:rPr lang="en-US" sz="1913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星期三中午，张明刚从后门出去，就听见后面有人叫他。是班长王寒冰，手里拿着午休记录本。 </a:t>
            </a:r>
            <a:r>
              <a:rPr lang="en-US" sz="191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“张明，午休溜出教室，这个星期你第三次了。”她说，“再有一次，我就报告李老师。” </a:t>
            </a:r>
            <a:r>
              <a:rPr lang="en-US" sz="1913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她没问他出去干什么，张明也不敢说。</a:t>
            </a:r>
            <a:r>
              <a:rPr lang="en-US" sz="1913" b="1" dirty="0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走廊尽头的后窗开着，丁香的香气一阵一阵飘进来。 </a:t>
            </a:r>
            <a:r>
              <a:rPr lang="en-US" sz="1913" b="1" dirty="0">
                <a:solidFill>
                  <a:srgbClr val="8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一想到要是被报告老师，麻雀就会被送走，张明心里沉甸甸的。</a:t>
            </a:r>
            <a:r>
              <a:rPr lang="en-US" sz="1913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他只好含糊应了一声，垂着脑袋，挪回了教室。</a:t>
            </a:r>
            <a:endParaRPr lang="en-US" sz="1913" dirty="0"/>
          </a:p>
        </p:txBody>
      </p:sp>
      <p:sp>
        <p:nvSpPr>
          <p:cNvPr id="10" name="Text 7"/>
          <p:cNvSpPr/>
          <p:nvPr/>
        </p:nvSpPr>
        <p:spPr>
          <a:xfrm>
            <a:off x="1581150" y="4957763"/>
            <a:ext cx="15579471" cy="776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485775" marL="0">
              <a:lnSpc>
                <a:spcPct val="114000"/>
              </a:lnSpc>
              <a:buNone/>
            </a:pPr>
            <a:pPr algn="just" indent="485775" marL="0">
              <a:lnSpc>
                <a:spcPct val="114000"/>
              </a:lnSpc>
              <a:buNone/>
            </a:pPr>
            <a:r>
              <a:rPr lang="en-US" sz="1913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星期四中午下起了雨。张明趴在后窗往外看，鞋盒就在第三丛丁香底下，他做窝的时候没有加盖子。王寒冰坐在后门边上写记录本。他就这么在窗前待了很久，眼睛一直盯着那第三丛丁香，视线没移开过。 </a:t>
            </a:r>
            <a:r>
              <a:rPr lang="en-US" sz="1913" b="1" dirty="0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这一切都被王寒冰看在眼里。</a:t>
            </a:r>
            <a:endParaRPr lang="en-US" sz="1913" dirty="0"/>
          </a:p>
        </p:txBody>
      </p:sp>
      <p:sp>
        <p:nvSpPr>
          <p:cNvPr id="11" name="Text 8"/>
          <p:cNvSpPr/>
          <p:nvPr/>
        </p:nvSpPr>
        <p:spPr>
          <a:xfrm>
            <a:off x="1581150" y="5772150"/>
            <a:ext cx="15579471" cy="776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485775" marL="0">
              <a:lnSpc>
                <a:spcPct val="114000"/>
              </a:lnSpc>
              <a:buNone/>
            </a:pPr>
            <a:pPr algn="just" indent="485775" marL="0">
              <a:lnSpc>
                <a:spcPct val="114000"/>
              </a:lnSpc>
              <a:buNone/>
            </a:pPr>
            <a:r>
              <a:rPr lang="en-US" sz="191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雨小下来的时候，王寒冰忽然站起来，出了后门。 </a:t>
            </a:r>
            <a:r>
              <a:rPr lang="en-US" sz="1913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张明愣了一下，跟了出去。她走到第三丛丁香前蹲下去，拨开湿淋淋的枝条，把进了水的鞋盒端出来，脱下外套裹住，端回了教室。</a:t>
            </a:r>
            <a:endParaRPr lang="en-US" sz="1913" dirty="0"/>
          </a:p>
        </p:txBody>
      </p:sp>
      <p:sp>
        <p:nvSpPr>
          <p:cNvPr id="12" name="Text 9"/>
          <p:cNvSpPr/>
          <p:nvPr/>
        </p:nvSpPr>
        <p:spPr>
          <a:xfrm>
            <a:off x="1581150" y="6586538"/>
            <a:ext cx="15579471" cy="776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485775" marL="0">
              <a:lnSpc>
                <a:spcPct val="114000"/>
              </a:lnSpc>
              <a:buNone/>
            </a:pPr>
            <a:pPr algn="just" indent="485775" marL="0">
              <a:lnSpc>
                <a:spcPct val="114000"/>
              </a:lnSpc>
              <a:buNone/>
            </a:pPr>
            <a:pPr algn="just" indent="485775" marL="0">
              <a:lnSpc>
                <a:spcPct val="114000"/>
              </a:lnSpc>
              <a:buNone/>
            </a:pPr>
            <a:r>
              <a:rPr lang="en-US" sz="1913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第二天中午，张明去丁香丛的时候，王寒冰已经蹲在那里了。鞋盒换成了一只带盖的塑料盒，盖子上扎了一排小孔。午休记录本放在她脚边，翻开的那一页上， </a:t>
            </a:r>
            <a:r>
              <a:rPr lang="en-US" sz="1913" b="1" dirty="0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写着他名字的那一行被划掉了</a:t>
            </a:r>
            <a:r>
              <a:rPr lang="en-US" sz="1913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。张明心里一下子热了：这个查了他三次午休的班长，把那只麻雀护得比他还周到。</a:t>
            </a:r>
            <a:endParaRPr lang="en-US" sz="1913" dirty="0"/>
          </a:p>
        </p:txBody>
      </p:sp>
      <p:sp>
        <p:nvSpPr>
          <p:cNvPr id="13" name="Text 10"/>
          <p:cNvSpPr/>
          <p:nvPr/>
        </p:nvSpPr>
        <p:spPr>
          <a:xfrm>
            <a:off x="1047750" y="9458325"/>
            <a:ext cx="133539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■ 坎与转折</a:t>
            </a:r>
            <a:endParaRPr lang="en-US" sz="1950" dirty="0"/>
          </a:p>
        </p:txBody>
      </p:sp>
      <p:sp>
        <p:nvSpPr>
          <p:cNvPr id="14" name="Text 11"/>
          <p:cNvSpPr/>
          <p:nvPr/>
        </p:nvSpPr>
        <p:spPr>
          <a:xfrm>
            <a:off x="2566541" y="9458325"/>
            <a:ext cx="18802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8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■ 心里的一句话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4580632" y="9458325"/>
            <a:ext cx="188022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■ 环境再写一句</a:t>
            </a:r>
            <a:endParaRPr lang="en-US" sz="1950" dirty="0"/>
          </a:p>
        </p:txBody>
      </p:sp>
      <p:sp>
        <p:nvSpPr>
          <p:cNvPr id="16" name="Text 13"/>
          <p:cNvSpPr/>
          <p:nvPr/>
        </p:nvSpPr>
        <p:spPr>
          <a:xfrm>
            <a:off x="6594723" y="9458325"/>
            <a:ext cx="297953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■ 要紧处 · 看得见的变化</a:t>
            </a:r>
            <a:endParaRPr lang="en-US" sz="1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教师示范文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4092178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3579376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读完，想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905750" cy="4338638"/>
          </a:xfrm>
          <a:prstGeom prst="roundRect">
            <a:avLst>
              <a:gd name="adj" fmla="val 395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47800" y="3200400"/>
            <a:ext cx="7318820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75" b="1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问题① 王寒冰开口之前，写了什么，让这道坎挡得住他？</a:t>
            </a:r>
            <a:endParaRPr lang="en-US" sz="2475" dirty="0"/>
          </a:p>
        </p:txBody>
      </p:sp>
      <p:sp>
        <p:nvSpPr>
          <p:cNvPr id="9" name="Text 6"/>
          <p:cNvSpPr/>
          <p:nvPr/>
        </p:nvSpPr>
        <p:spPr>
          <a:xfrm>
            <a:off x="1447800" y="4267200"/>
            <a:ext cx="3524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175" dirty="0"/>
          </a:p>
        </p:txBody>
      </p:sp>
      <p:sp>
        <p:nvSpPr>
          <p:cNvPr id="10" name="Text 7"/>
          <p:cNvSpPr/>
          <p:nvPr/>
        </p:nvSpPr>
        <p:spPr>
          <a:xfrm>
            <a:off x="1857375" y="4267200"/>
            <a:ext cx="516540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pPr algn="l" indent="0" marL="0">
              <a:lnSpc>
                <a:spcPct val="111538"/>
              </a:lnSpc>
              <a:buNone/>
            </a:pPr>
            <a:pPr algn="l" indent="0" marL="0">
              <a:lnSpc>
                <a:spcPct val="111538"/>
              </a:lnSpc>
              <a:buNone/>
            </a:pP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喂麻雀是个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秘密</a:t>
            </a: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，全班没有一个人知道</a:t>
            </a:r>
            <a:endParaRPr lang="en-US" sz="2175" dirty="0"/>
          </a:p>
        </p:txBody>
      </p:sp>
      <p:sp>
        <p:nvSpPr>
          <p:cNvPr id="11" name="Text 8"/>
          <p:cNvSpPr/>
          <p:nvPr/>
        </p:nvSpPr>
        <p:spPr>
          <a:xfrm>
            <a:off x="1447800" y="4852988"/>
            <a:ext cx="3524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175" dirty="0"/>
          </a:p>
        </p:txBody>
      </p:sp>
      <p:sp>
        <p:nvSpPr>
          <p:cNvPr id="12" name="Text 9"/>
          <p:cNvSpPr/>
          <p:nvPr/>
        </p:nvSpPr>
        <p:spPr>
          <a:xfrm>
            <a:off x="1857375" y="4852988"/>
            <a:ext cx="486156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pPr algn="l" indent="0" marL="0">
              <a:lnSpc>
                <a:spcPct val="111538"/>
              </a:lnSpc>
              <a:buNone/>
            </a:pP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麻雀飞不起来，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每天中午等着他去喂</a:t>
            </a:r>
            <a:endParaRPr lang="en-US" sz="2175" dirty="0"/>
          </a:p>
        </p:txBody>
      </p:sp>
      <p:sp>
        <p:nvSpPr>
          <p:cNvPr id="13" name="Text 10"/>
          <p:cNvSpPr/>
          <p:nvPr/>
        </p:nvSpPr>
        <p:spPr>
          <a:xfrm>
            <a:off x="1447800" y="5438775"/>
            <a:ext cx="3524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175" dirty="0"/>
          </a:p>
        </p:txBody>
      </p:sp>
      <p:sp>
        <p:nvSpPr>
          <p:cNvPr id="14" name="Text 11"/>
          <p:cNvSpPr/>
          <p:nvPr/>
        </p:nvSpPr>
        <p:spPr>
          <a:xfrm>
            <a:off x="1857375" y="5438775"/>
            <a:ext cx="516540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pPr algn="l" indent="0" marL="0">
              <a:lnSpc>
                <a:spcPct val="111538"/>
              </a:lnSpc>
              <a:buNone/>
            </a:pPr>
            <a:pPr algn="l" indent="0" marL="0">
              <a:lnSpc>
                <a:spcPct val="111538"/>
              </a:lnSpc>
              <a:buNone/>
            </a:pP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午休溜出教室，这个星期已经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第三次</a:t>
            </a: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了</a:t>
            </a:r>
            <a:endParaRPr lang="en-US" sz="2175" dirty="0"/>
          </a:p>
        </p:txBody>
      </p:sp>
      <p:sp>
        <p:nvSpPr>
          <p:cNvPr id="15" name="Text 12"/>
          <p:cNvSpPr/>
          <p:nvPr/>
        </p:nvSpPr>
        <p:spPr>
          <a:xfrm>
            <a:off x="1447800" y="6024563"/>
            <a:ext cx="352425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175" dirty="0"/>
          </a:p>
        </p:txBody>
      </p:sp>
      <p:sp>
        <p:nvSpPr>
          <p:cNvPr id="16" name="Text 13"/>
          <p:cNvSpPr/>
          <p:nvPr/>
        </p:nvSpPr>
        <p:spPr>
          <a:xfrm>
            <a:off x="1857375" y="6024563"/>
            <a:ext cx="6896957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pPr algn="l" indent="0" marL="0">
              <a:lnSpc>
                <a:spcPct val="111538"/>
              </a:lnSpc>
              <a:buNone/>
            </a:pPr>
            <a:pPr algn="l" indent="0" marL="0">
              <a:lnSpc>
                <a:spcPct val="111538"/>
              </a:lnSpc>
              <a:buNone/>
            </a:pP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正因为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说不得 </a:t>
            </a: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，这道坎才难过去：一解释，麻雀就藏不住了</a:t>
            </a:r>
            <a:endParaRPr lang="en-US" sz="2175" dirty="0"/>
          </a:p>
        </p:txBody>
      </p:sp>
      <p:sp>
        <p:nvSpPr>
          <p:cNvPr id="17" name="Shape 14"/>
          <p:cNvSpPr/>
          <p:nvPr/>
        </p:nvSpPr>
        <p:spPr>
          <a:xfrm>
            <a:off x="9334500" y="2857500"/>
            <a:ext cx="7905750" cy="4338638"/>
          </a:xfrm>
          <a:prstGeom prst="roundRect">
            <a:avLst>
              <a:gd name="adj" fmla="val 3952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734550" y="3200400"/>
            <a:ext cx="781621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75" b="1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问题② 从下雨到她出后门，中间写了什么？</a:t>
            </a:r>
            <a:endParaRPr lang="en-US" sz="2475" dirty="0"/>
          </a:p>
        </p:txBody>
      </p:sp>
      <p:sp>
        <p:nvSpPr>
          <p:cNvPr id="19" name="Text 16"/>
          <p:cNvSpPr/>
          <p:nvPr/>
        </p:nvSpPr>
        <p:spPr>
          <a:xfrm>
            <a:off x="9734550" y="3848100"/>
            <a:ext cx="3524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175" dirty="0"/>
          </a:p>
        </p:txBody>
      </p:sp>
      <p:sp>
        <p:nvSpPr>
          <p:cNvPr id="20" name="Text 17"/>
          <p:cNvSpPr/>
          <p:nvPr/>
        </p:nvSpPr>
        <p:spPr>
          <a:xfrm>
            <a:off x="10144125" y="3848100"/>
            <a:ext cx="546925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pPr algn="l" indent="0" marL="0">
              <a:lnSpc>
                <a:spcPct val="111538"/>
              </a:lnSpc>
              <a:buNone/>
            </a:pP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一场雨让鞋盒进了水，张明在窗前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坐不住</a:t>
            </a:r>
            <a:endParaRPr lang="en-US" sz="2175" dirty="0"/>
          </a:p>
        </p:txBody>
      </p:sp>
      <p:sp>
        <p:nvSpPr>
          <p:cNvPr id="21" name="Text 18"/>
          <p:cNvSpPr/>
          <p:nvPr/>
        </p:nvSpPr>
        <p:spPr>
          <a:xfrm>
            <a:off x="9734550" y="4433888"/>
            <a:ext cx="3524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175" dirty="0"/>
          </a:p>
        </p:txBody>
      </p:sp>
      <p:sp>
        <p:nvSpPr>
          <p:cNvPr id="22" name="Text 19"/>
          <p:cNvSpPr/>
          <p:nvPr/>
        </p:nvSpPr>
        <p:spPr>
          <a:xfrm>
            <a:off x="10144125" y="4433888"/>
            <a:ext cx="6988493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pPr algn="l" indent="0" marL="0">
              <a:lnSpc>
                <a:spcPct val="111538"/>
              </a:lnSpc>
              <a:buNone/>
            </a:pP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他的眼睛一直盯着那第三丛丁香，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被王寒冰看在眼里</a:t>
            </a:r>
            <a:endParaRPr lang="en-US" sz="2175" dirty="0"/>
          </a:p>
        </p:txBody>
      </p:sp>
      <p:sp>
        <p:nvSpPr>
          <p:cNvPr id="23" name="Text 20"/>
          <p:cNvSpPr/>
          <p:nvPr/>
        </p:nvSpPr>
        <p:spPr>
          <a:xfrm>
            <a:off x="9734550" y="5019675"/>
            <a:ext cx="3524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175" dirty="0"/>
          </a:p>
        </p:txBody>
      </p:sp>
      <p:sp>
        <p:nvSpPr>
          <p:cNvPr id="24" name="Text 21"/>
          <p:cNvSpPr/>
          <p:nvPr/>
        </p:nvSpPr>
        <p:spPr>
          <a:xfrm>
            <a:off x="10144125" y="5019675"/>
            <a:ext cx="5165408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她这才知道，他天天跑出去是为了什么</a:t>
            </a:r>
            <a:endParaRPr lang="en-US" sz="2175" dirty="0"/>
          </a:p>
        </p:txBody>
      </p:sp>
      <p:sp>
        <p:nvSpPr>
          <p:cNvPr id="25" name="Text 22"/>
          <p:cNvSpPr/>
          <p:nvPr/>
        </p:nvSpPr>
        <p:spPr>
          <a:xfrm>
            <a:off x="9734550" y="5605463"/>
            <a:ext cx="3524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r>
              <a:rPr lang="en-US" sz="2175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175" dirty="0"/>
          </a:p>
        </p:txBody>
      </p:sp>
      <p:sp>
        <p:nvSpPr>
          <p:cNvPr id="26" name="Text 23"/>
          <p:cNvSpPr/>
          <p:nvPr/>
        </p:nvSpPr>
        <p:spPr>
          <a:xfrm>
            <a:off x="10144125" y="5605463"/>
            <a:ext cx="729234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38"/>
              </a:lnSpc>
              <a:buNone/>
            </a:pPr>
            <a:pPr algn="l" indent="0" marL="0">
              <a:lnSpc>
                <a:spcPct val="111538"/>
              </a:lnSpc>
              <a:buNone/>
            </a:pPr>
            <a:pPr algn="l" indent="0" marL="0">
              <a:lnSpc>
                <a:spcPct val="111538"/>
              </a:lnSpc>
              <a:buNone/>
            </a:pP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她出后门不是忽然想到的：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转折要有来处</a:t>
            </a: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，这就是来处</a:t>
            </a:r>
            <a:endParaRPr lang="en-US" sz="2175" dirty="0"/>
          </a:p>
        </p:txBody>
      </p:sp>
      <p:sp>
        <p:nvSpPr>
          <p:cNvPr id="27" name="Text 24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坎要挡得住，先要让读的人知道，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这件事对他有多要紧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旁批表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6938963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710839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每一句用了什么写法：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从开头到坎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16192500" cy="4924425"/>
          </a:xfrm>
          <a:prstGeom prst="roundRect">
            <a:avLst>
              <a:gd name="adj" fmla="val 2708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67025"/>
            <a:ext cx="16173450" cy="72390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3038475"/>
            <a:ext cx="1041463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示范文里的句子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11134725" y="2867025"/>
            <a:ext cx="9525" cy="72390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1449050" y="3038475"/>
            <a:ext cx="6024562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这一句用了什么写法</a:t>
            </a:r>
            <a:endParaRPr lang="en-US" sz="2250" dirty="0"/>
          </a:p>
        </p:txBody>
      </p:sp>
      <p:sp>
        <p:nvSpPr>
          <p:cNvPr id="12" name="Shape 9"/>
          <p:cNvSpPr/>
          <p:nvPr/>
        </p:nvSpPr>
        <p:spPr>
          <a:xfrm>
            <a:off x="1057275" y="3590925"/>
            <a:ext cx="16173450" cy="6953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62075" y="3762375"/>
            <a:ext cx="977017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风一吹，香气从后窗飘进教室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11134725" y="3590925"/>
            <a:ext cx="9525" cy="6953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449050" y="3762375"/>
            <a:ext cx="565975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环境在开头交代：丁香花的校园先立起来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1057275" y="4286250"/>
            <a:ext cx="16173450" cy="10477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362075" y="4457700"/>
            <a:ext cx="9770174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他去喂麻雀的事，全班没有一个人知道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11134725" y="4286250"/>
            <a:ext cx="9525" cy="1047750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1449050" y="4457700"/>
            <a:ext cx="5659755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交代他最想做成的事，也交代这件事对他有多要紧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1057275" y="5334000"/>
            <a:ext cx="16173450" cy="6953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362075" y="5505450"/>
            <a:ext cx="977017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午休溜出教室，这个星期你第三次了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11134725" y="5334000"/>
            <a:ext cx="9525" cy="6953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1449050" y="5505450"/>
            <a:ext cx="565975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坎：从王寒冰“雷厉风行”这个特点里来</a:t>
            </a:r>
            <a:endParaRPr lang="en-US" sz="2100" dirty="0"/>
          </a:p>
        </p:txBody>
      </p:sp>
      <p:sp>
        <p:nvSpPr>
          <p:cNvPr id="24" name="Shape 21"/>
          <p:cNvSpPr/>
          <p:nvPr/>
        </p:nvSpPr>
        <p:spPr>
          <a:xfrm>
            <a:off x="1057275" y="6029325"/>
            <a:ext cx="16173450" cy="10477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362075" y="6200775"/>
            <a:ext cx="9770174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走廊尽头的后窗开着，丁香的香气一阵一阵飘进来</a:t>
            </a:r>
            <a:endParaRPr lang="en-US" sz="2100" dirty="0"/>
          </a:p>
        </p:txBody>
      </p:sp>
      <p:sp>
        <p:nvSpPr>
          <p:cNvPr id="26" name="Shape 23"/>
          <p:cNvSpPr/>
          <p:nvPr/>
        </p:nvSpPr>
        <p:spPr>
          <a:xfrm>
            <a:off x="11134725" y="6029325"/>
            <a:ext cx="9525" cy="1047750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1449050" y="6200775"/>
            <a:ext cx="5659755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E9A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环境在坎的地方再写一句：香气提醒读的人，麻雀就在那排丁香底下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1057275" y="7077075"/>
            <a:ext cx="16173450" cy="6953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362075" y="7248525"/>
            <a:ext cx="977017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一想到要是被报告老师，麻雀就会被送走，张明心里沉甸甸的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11134725" y="7077075"/>
            <a:ext cx="9525" cy="6953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1449050" y="7248525"/>
            <a:ext cx="565975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坎跟前写一句他心里的话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1047750" y="8915400"/>
            <a:ext cx="16678275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表上只有一句“第三次抓到他溜出教室”，文章里在她开口之前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先铺了两件，凑齐三件 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，这道坎才真的挡得住。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旁批表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7345710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158261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每一句用了什么写法：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从转折到结果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16192500" cy="5629275"/>
          </a:xfrm>
          <a:prstGeom prst="roundRect">
            <a:avLst>
              <a:gd name="adj" fmla="val 2369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67025"/>
            <a:ext cx="16173450" cy="723900"/>
          </a:xfrm>
          <a:prstGeom prst="rect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3038475"/>
            <a:ext cx="1041463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示范文里的句子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11134725" y="2867025"/>
            <a:ext cx="9525" cy="72390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1449050" y="3038475"/>
            <a:ext cx="6024562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这一句用了什么写法</a:t>
            </a:r>
            <a:endParaRPr lang="en-US" sz="2250" dirty="0"/>
          </a:p>
        </p:txBody>
      </p:sp>
      <p:sp>
        <p:nvSpPr>
          <p:cNvPr id="12" name="Shape 9"/>
          <p:cNvSpPr/>
          <p:nvPr/>
        </p:nvSpPr>
        <p:spPr>
          <a:xfrm>
            <a:off x="1057275" y="3590925"/>
            <a:ext cx="16173450" cy="104775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62075" y="3762375"/>
            <a:ext cx="9770174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他就这么在窗前待了很久，眼睛一直盯着那第三丛丁香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11134725" y="3590925"/>
            <a:ext cx="9525" cy="1047750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449050" y="3762375"/>
            <a:ext cx="5659755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心里的话中间只写一句（就写在坎跟前），别处让动作替他说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1057275" y="4638675"/>
            <a:ext cx="16173450" cy="10477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362075" y="4810125"/>
            <a:ext cx="9770174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这一切都被王寒冰看在眼里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11134725" y="4638675"/>
            <a:ext cx="9525" cy="1047750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1449050" y="4810125"/>
            <a:ext cx="5659755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转折的来处：张明盯着丁香的样子被她看见了，她才知道该往哪里去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1057275" y="5686425"/>
            <a:ext cx="16173450" cy="695325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362075" y="5857875"/>
            <a:ext cx="977017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雨小下来的时候，王寒冰忽然站起来，出了后门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11134725" y="5686425"/>
            <a:ext cx="9525" cy="695325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1449050" y="5857875"/>
            <a:ext cx="5659755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转折：事情从这一刻变了方向</a:t>
            </a:r>
            <a:endParaRPr lang="en-US" sz="2100" dirty="0"/>
          </a:p>
        </p:txBody>
      </p:sp>
      <p:sp>
        <p:nvSpPr>
          <p:cNvPr id="24" name="Shape 21"/>
          <p:cNvSpPr/>
          <p:nvPr/>
        </p:nvSpPr>
        <p:spPr>
          <a:xfrm>
            <a:off x="1057275" y="6381750"/>
            <a:ext cx="16173450" cy="10477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362075" y="6553200"/>
            <a:ext cx="9770174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写着他名字的那一行被划掉了</a:t>
            </a:r>
            <a:endParaRPr lang="en-US" sz="2100" dirty="0"/>
          </a:p>
        </p:txBody>
      </p:sp>
      <p:sp>
        <p:nvSpPr>
          <p:cNvPr id="26" name="Shape 23"/>
          <p:cNvSpPr/>
          <p:nvPr/>
        </p:nvSpPr>
        <p:spPr>
          <a:xfrm>
            <a:off x="11134725" y="6381750"/>
            <a:ext cx="9525" cy="1047750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1449050" y="6553200"/>
            <a:ext cx="5659755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F72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结果落在一样看得见的变化上，比写“他们后来成了好朋友”更让人看得见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1057275" y="7429500"/>
            <a:ext cx="16173450" cy="1047750"/>
          </a:xfrm>
          <a:prstGeom prst="rect">
            <a:avLst/>
          </a:prstGeom>
          <a:solidFill>
            <a:srgbClr val="EEF1F5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362075" y="7600950"/>
            <a:ext cx="9770174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这个查了他三次午休的班长，把那只麻雀护得比他还周到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11134725" y="7429500"/>
            <a:ext cx="9525" cy="1047750"/>
          </a:xfrm>
          <a:prstGeom prst="rect">
            <a:avLst/>
          </a:prstGeom>
          <a:solidFill>
            <a:srgbClr val="DFE3E9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1449050" y="7600950"/>
            <a:ext cx="5659755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看得见的变化之后，再添一句他心里的感受；不添也可以</a:t>
            </a:r>
            <a:endParaRPr lang="en-US" sz="2100" dirty="0"/>
          </a:p>
        </p:txBody>
      </p:sp>
      <p:sp>
        <p:nvSpPr>
          <p:cNvPr id="32" name="Text 29"/>
          <p:cNvSpPr/>
          <p:nvPr/>
        </p:nvSpPr>
        <p:spPr>
          <a:xfrm>
            <a:off x="1047750" y="935355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转折不是忽然想到的，是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前面那场雨和那双眼睛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一起把她带出去的。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学写法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6125617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5816158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结尾怎么收，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两种写法自己选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7905750" cy="36195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66850" y="3333750"/>
            <a:ext cx="777430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5472"/>
              </a:lnSpc>
              <a:buNone/>
            </a:pPr>
            <a:r>
              <a:rPr lang="en-US" sz="6000" b="1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1466850" y="4305300"/>
            <a:ext cx="777430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333"/>
              </a:lnSpc>
              <a:buNone/>
            </a:pPr>
            <a:pPr algn="l" indent="0" marL="0">
              <a:lnSpc>
                <a:spcPct val="113333"/>
              </a:lnSpc>
              <a:buNone/>
            </a:pPr>
            <a:pPr algn="l" indent="0" marL="0">
              <a:lnSpc>
                <a:spcPct val="113333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停在</a:t>
            </a:r>
            <a:r>
              <a:rPr lang="en-US" sz="25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看得见的细节</a:t>
            </a:r>
            <a:r>
              <a:rPr lang="en-US" sz="25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上，把体会留给读者</a:t>
            </a:r>
            <a:endParaRPr lang="en-US" sz="2550" dirty="0"/>
          </a:p>
        </p:txBody>
      </p:sp>
      <p:sp>
        <p:nvSpPr>
          <p:cNvPr id="10" name="Text 7"/>
          <p:cNvSpPr/>
          <p:nvPr/>
        </p:nvSpPr>
        <p:spPr>
          <a:xfrm>
            <a:off x="1466850" y="4981575"/>
            <a:ext cx="7279577" cy="894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256"/>
              </a:lnSpc>
              <a:buNone/>
            </a:pPr>
            <a:r>
              <a:rPr lang="en-US" sz="2175" dirty="0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故事停在“写着他名字的那一行被划掉了”，不额外写心理。</a:t>
            </a:r>
            <a:endParaRPr lang="en-US" sz="2175" dirty="0"/>
          </a:p>
        </p:txBody>
      </p:sp>
      <p:sp>
        <p:nvSpPr>
          <p:cNvPr id="11" name="Shape 8"/>
          <p:cNvSpPr/>
          <p:nvPr/>
        </p:nvSpPr>
        <p:spPr>
          <a:xfrm>
            <a:off x="9334500" y="2952750"/>
            <a:ext cx="7905750" cy="36195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753600" y="3333750"/>
            <a:ext cx="777430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5472"/>
              </a:lnSpc>
              <a:buNone/>
            </a:pPr>
            <a:r>
              <a:rPr lang="en-US" sz="6000" b="1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9753600" y="4305300"/>
            <a:ext cx="777430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333"/>
              </a:lnSpc>
              <a:buNone/>
            </a:pPr>
            <a:pPr algn="l" indent="0" marL="0">
              <a:lnSpc>
                <a:spcPct val="113333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细节之后，</a:t>
            </a:r>
            <a:r>
              <a:rPr lang="en-US" sz="25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再添一句心里的感受</a:t>
            </a:r>
            <a:endParaRPr lang="en-US" sz="2550" dirty="0"/>
          </a:p>
        </p:txBody>
      </p:sp>
      <p:sp>
        <p:nvSpPr>
          <p:cNvPr id="14" name="Text 11"/>
          <p:cNvSpPr/>
          <p:nvPr/>
        </p:nvSpPr>
        <p:spPr>
          <a:xfrm>
            <a:off x="9753600" y="4981575"/>
            <a:ext cx="7279577" cy="894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256"/>
              </a:lnSpc>
              <a:buNone/>
            </a:pPr>
            <a:r>
              <a:rPr lang="en-US" sz="2175" dirty="0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“张明心里一下子热了：这个查了他三次午休的班长，把那只麻雀护得比他还周到。”</a:t>
            </a:r>
            <a:endParaRPr lang="en-US" sz="2175" dirty="0"/>
          </a:p>
        </p:txBody>
      </p:sp>
      <p:sp>
        <p:nvSpPr>
          <p:cNvPr id="15" name="Shape 12"/>
          <p:cNvSpPr/>
          <p:nvPr/>
        </p:nvSpPr>
        <p:spPr>
          <a:xfrm>
            <a:off x="1047750" y="7920038"/>
            <a:ext cx="16192500" cy="938213"/>
          </a:xfrm>
          <a:prstGeom prst="roundRect">
            <a:avLst>
              <a:gd name="adj" fmla="val 16244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428750" y="8167687"/>
            <a:ext cx="16973550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pPr algn="l" indent="0" marL="0">
              <a:lnSpc>
                <a:spcPct val="113415"/>
              </a:lnSpc>
              <a:buNone/>
            </a:pP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老师这一篇只是示范：大家写自己选的那一组，</a:t>
            </a:r>
            <a:r>
              <a:rPr lang="en-US" sz="23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人物和坎都自己定</a:t>
            </a:r>
            <a:r>
              <a:rPr lang="en-US" sz="2325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，不必照着老师的写。</a:t>
            </a:r>
            <a:endParaRPr lang="en-US" sz="2325" dirty="0"/>
          </a:p>
        </p:txBody>
      </p:sp>
      <p:sp>
        <p:nvSpPr>
          <p:cNvPr id="17" name="Text 14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故事起伏表请夹进稿纸，休息回来直接动笔写这个故事。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gradFill rotWithShape="1">
            <a:gsLst>
              <a:gs pos="0">
                <a:srgbClr val="6FB8AD">
                  <a:alpha val="100000"/>
                </a:srgbClr>
              </a:gs>
              <a:gs pos="60000">
                <a:srgbClr val="4E93A0">
                  <a:alpha val="100000"/>
                </a:srgbClr>
              </a:gs>
              <a:gs pos="100000">
                <a:srgbClr val="3D6E82">
                  <a:alpha val="100000"/>
                </a:srgbClr>
              </a:gs>
            </a:gsLst>
            <a:lin ang="1800000" scaled="0"/>
          </a:gra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2038350" y="3181350"/>
            <a:ext cx="2455500" cy="2119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52"/>
              </a:lnSpc>
              <a:buNone/>
            </a:pPr>
            <a:r>
              <a:rPr lang="en-US" sz="14250" b="1" dirty="0">
                <a:solidFill>
                  <a:srgbClr val="FFFFFF">
                    <a:alpha val="9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250" dirty="0"/>
          </a:p>
        </p:txBody>
      </p:sp>
      <p:sp>
        <p:nvSpPr>
          <p:cNvPr id="5" name="Text 3"/>
          <p:cNvSpPr/>
          <p:nvPr/>
        </p:nvSpPr>
        <p:spPr>
          <a:xfrm>
            <a:off x="2228850" y="5676900"/>
            <a:ext cx="502920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734"/>
              </a:lnSpc>
              <a:buNone/>
            </a:pPr>
            <a:r>
              <a:rPr lang="en-US" sz="4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当堂写作与评改课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247900" y="6572250"/>
            <a:ext cx="7301999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dirty="0">
                <a:solidFill>
                  <a:srgbClr val="FFFFFF">
                    <a:alpha val="92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定详略与起笔 · 自由写作 · 交流评议 · 修改收束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自由写作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4905524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4474056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动笔之前，先定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7905750" cy="3810000"/>
          </a:xfrm>
          <a:prstGeom prst="roundRect">
            <a:avLst>
              <a:gd name="adj" fmla="val 4500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66850" y="3333750"/>
            <a:ext cx="777430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5472"/>
              </a:lnSpc>
              <a:buNone/>
            </a:pPr>
            <a:r>
              <a:rPr lang="en-US" sz="6000" b="1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1466850" y="4305300"/>
            <a:ext cx="7279577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r>
              <a:rPr lang="en-US" sz="247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看第三格和第五格：坎和转折， </a:t>
            </a:r>
            <a:r>
              <a:rPr lang="en-US" sz="24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哪一处你更有话说 </a:t>
            </a:r>
            <a:r>
              <a:rPr lang="en-US" sz="247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，就在那一格旁边写上“详细”两个字</a:t>
            </a:r>
            <a:endParaRPr lang="en-US" sz="2475" dirty="0"/>
          </a:p>
        </p:txBody>
      </p:sp>
      <p:sp>
        <p:nvSpPr>
          <p:cNvPr id="10" name="Text 7"/>
          <p:cNvSpPr/>
          <p:nvPr/>
        </p:nvSpPr>
        <p:spPr>
          <a:xfrm>
            <a:off x="1466850" y="5419725"/>
            <a:ext cx="7279577" cy="8646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297"/>
              </a:lnSpc>
              <a:buNone/>
            </a:pPr>
            <a:r>
              <a:rPr lang="en-US" sz="2100" dirty="0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整篇里最该写详细的，就是从坎到转折这一段；标了“详细”的那一格，写的时候要比别处多出两三句。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9334500" y="2952750"/>
            <a:ext cx="7905750" cy="3810000"/>
          </a:xfrm>
          <a:prstGeom prst="roundRect">
            <a:avLst>
              <a:gd name="adj" fmla="val 4500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753600" y="3333750"/>
            <a:ext cx="7774305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5472"/>
              </a:lnSpc>
              <a:buNone/>
            </a:pPr>
            <a:r>
              <a:rPr lang="en-US" sz="6000" b="1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9753600" y="4305300"/>
            <a:ext cx="7774305" cy="5095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r>
              <a:rPr lang="en-US" sz="247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</a:t>
            </a:r>
            <a:r>
              <a:rPr lang="en-US" sz="24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起笔的那半句</a:t>
            </a:r>
            <a:r>
              <a:rPr lang="en-US" sz="2475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，写在稿纸第一行</a:t>
            </a:r>
            <a:endParaRPr lang="en-US" sz="2475" dirty="0"/>
          </a:p>
        </p:txBody>
      </p:sp>
      <p:sp>
        <p:nvSpPr>
          <p:cNvPr id="14" name="Text 11"/>
          <p:cNvSpPr/>
          <p:nvPr/>
        </p:nvSpPr>
        <p:spPr>
          <a:xfrm>
            <a:off x="9753600" y="4948238"/>
            <a:ext cx="7279577" cy="12779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297"/>
              </a:lnSpc>
              <a:buNone/>
            </a:pPr>
            <a:r>
              <a:rPr lang="en-US" sz="2100" dirty="0">
                <a:solidFill>
                  <a:srgbClr val="5B64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可以从环境起笔，先写天气、街道或者花香；也可以从主要人物正在做的一件事起笔，比如“陆天把公交卡从口袋里摸出来，又塞了回去”，天气和车流放到下一句再说。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写下起笔那半句，再想一想：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为什么从它起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自由写作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8159204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053105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从起笔那半句顺着往下，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一口气写完整篇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329565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09700" y="3143250"/>
            <a:ext cx="490347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开头交代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环境和他想做成的事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1047750" y="415290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409700" y="4000500"/>
            <a:ext cx="953604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写到标了“详细”那一格，把它写详细， 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坎跟前他心里的那一句话 </a:t>
            </a: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写进去</a:t>
            </a:r>
            <a:endParaRPr lang="en-US" sz="2700" dirty="0"/>
          </a:p>
        </p:txBody>
      </p:sp>
      <p:sp>
        <p:nvSpPr>
          <p:cNvPr id="11" name="Shape 8"/>
          <p:cNvSpPr/>
          <p:nvPr/>
        </p:nvSpPr>
        <p:spPr>
          <a:xfrm>
            <a:off x="1047750" y="552450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409700" y="5372100"/>
            <a:ext cx="3394710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再往后写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转折和结果</a:t>
            </a:r>
            <a:endParaRPr lang="en-US" sz="2700" dirty="0"/>
          </a:p>
        </p:txBody>
      </p:sp>
      <p:sp>
        <p:nvSpPr>
          <p:cNvPr id="13" name="Shape 10"/>
          <p:cNvSpPr/>
          <p:nvPr/>
        </p:nvSpPr>
        <p:spPr>
          <a:xfrm>
            <a:off x="1047750" y="638175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409700" y="6229350"/>
            <a:ext cx="953604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894"/>
              </a:lnSpc>
              <a:buNone/>
            </a:pPr>
            <a:pPr algn="l" indent="0" marL="0">
              <a:lnSpc>
                <a:spcPct val="114894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五百字左右，写到六百字也不算长；写的过程中 </a:t>
            </a:r>
            <a:r>
              <a:rPr lang="en-US" sz="2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不停下来改字改句</a:t>
            </a:r>
            <a:endParaRPr lang="en-US" sz="27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0" y="3238500"/>
            <a:ext cx="4953000" cy="40005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047750" y="8524875"/>
            <a:ext cx="1351597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r>
              <a:rPr lang="en-US" sz="2250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写不完的，当堂至少把</a:t>
            </a: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坎到转折那一段</a:t>
            </a:r>
            <a:r>
              <a:rPr lang="en-US" sz="2250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写完；结果来不及写的先停在转折处。</a:t>
            </a:r>
            <a:endParaRPr lang="en-US" sz="2250" dirty="0"/>
          </a:p>
        </p:txBody>
      </p:sp>
      <p:sp>
        <p:nvSpPr>
          <p:cNvPr id="17" name="Shape 13"/>
          <p:cNvSpPr/>
          <p:nvPr/>
        </p:nvSpPr>
        <p:spPr>
          <a:xfrm>
            <a:off x="12847439" y="8791575"/>
            <a:ext cx="4392811" cy="866775"/>
          </a:xfrm>
          <a:prstGeom prst="roundRect">
            <a:avLst>
              <a:gd name="adj" fmla="val 17582"/>
            </a:avLst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3228439" y="8982075"/>
            <a:ext cx="3993892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写作时间约 26 分钟</a:t>
            </a:r>
            <a:endParaRPr lang="en-US" sz="28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交流评议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6939111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711002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交流分享：听的人要答出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7905750" cy="342900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47800" y="3314700"/>
            <a:ext cx="781621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75" b="1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读的同学</a:t>
            </a:r>
            <a:endParaRPr lang="en-US" sz="2475" dirty="0"/>
          </a:p>
        </p:txBody>
      </p:sp>
      <p:sp>
        <p:nvSpPr>
          <p:cNvPr id="9" name="Text 6"/>
          <p:cNvSpPr/>
          <p:nvPr/>
        </p:nvSpPr>
        <p:spPr>
          <a:xfrm>
            <a:off x="1447800" y="3962400"/>
            <a:ext cx="3619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250" dirty="0"/>
          </a:p>
        </p:txBody>
      </p:sp>
      <p:sp>
        <p:nvSpPr>
          <p:cNvPr id="10" name="Text 7"/>
          <p:cNvSpPr/>
          <p:nvPr/>
        </p:nvSpPr>
        <p:spPr>
          <a:xfrm>
            <a:off x="1866900" y="3962400"/>
            <a:ext cx="660082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先用一句话说清楚：主要人物</a:t>
            </a: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想做成一件什么事</a:t>
            </a:r>
            <a:endParaRPr lang="en-US" sz="2250" dirty="0"/>
          </a:p>
        </p:txBody>
      </p:sp>
      <p:sp>
        <p:nvSpPr>
          <p:cNvPr id="11" name="Text 8"/>
          <p:cNvSpPr/>
          <p:nvPr/>
        </p:nvSpPr>
        <p:spPr>
          <a:xfrm>
            <a:off x="1447800" y="4581525"/>
            <a:ext cx="3619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1866900" y="4581525"/>
            <a:ext cx="597217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然后</a:t>
            </a: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从坎读起，读过转折</a:t>
            </a: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，再往后读一两句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9334500" y="2952750"/>
            <a:ext cx="7905750" cy="3429000"/>
          </a:xfrm>
          <a:prstGeom prst="roundRect">
            <a:avLst>
              <a:gd name="adj" fmla="val 5000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734550" y="3314700"/>
            <a:ext cx="781621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75" b="1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听的同学</a:t>
            </a:r>
            <a:endParaRPr lang="en-US" sz="2475" dirty="0"/>
          </a:p>
        </p:txBody>
      </p:sp>
      <p:sp>
        <p:nvSpPr>
          <p:cNvPr id="15" name="Text 12"/>
          <p:cNvSpPr/>
          <p:nvPr/>
        </p:nvSpPr>
        <p:spPr>
          <a:xfrm>
            <a:off x="9734550" y="3962400"/>
            <a:ext cx="3619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10153650" y="3962400"/>
            <a:ext cx="408622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</a:t>
            </a: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最过不去的地方</a:t>
            </a: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是哪一句？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9734550" y="4581525"/>
            <a:ext cx="36195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➤</a:t>
            </a:r>
            <a:endParaRPr lang="en-US" sz="2250" dirty="0"/>
          </a:p>
        </p:txBody>
      </p:sp>
      <p:sp>
        <p:nvSpPr>
          <p:cNvPr id="18" name="Text 15"/>
          <p:cNvSpPr/>
          <p:nvPr/>
        </p:nvSpPr>
        <p:spPr>
          <a:xfrm>
            <a:off x="10153650" y="4581525"/>
            <a:ext cx="3457575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事情</a:t>
            </a: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从哪一句变了方向</a:t>
            </a: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250" dirty="0"/>
          </a:p>
        </p:txBody>
      </p:sp>
      <p:sp>
        <p:nvSpPr>
          <p:cNvPr id="19" name="Shape 16"/>
          <p:cNvSpPr/>
          <p:nvPr/>
        </p:nvSpPr>
        <p:spPr>
          <a:xfrm>
            <a:off x="1047750" y="7371457"/>
            <a:ext cx="16192500" cy="1486793"/>
          </a:xfrm>
          <a:prstGeom prst="roundRect">
            <a:avLst>
              <a:gd name="adj" fmla="val 11532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466850" y="7657207"/>
            <a:ext cx="15814929" cy="9533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195"/>
              </a:lnSpc>
              <a:buNone/>
            </a:pPr>
            <a:pPr algn="l" indent="0" marL="0">
              <a:lnSpc>
                <a:spcPct val="117195"/>
              </a:lnSpc>
              <a:buNone/>
            </a:pPr>
            <a:pPr algn="l" indent="0" marL="0">
              <a:lnSpc>
                <a:spcPct val="117195"/>
              </a:lnSpc>
              <a:buNone/>
            </a:pPr>
            <a:r>
              <a:rPr lang="en-US" sz="232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答得出，坎和转折就写清楚了；答不出，作者自己记下来，稍后改。两位听众都说不出哪里难？先想一想：你的主要人物 </a:t>
            </a:r>
            <a:r>
              <a:rPr lang="en-US" sz="232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两样只能要一样，是哪两样</a:t>
            </a:r>
            <a:r>
              <a:rPr lang="en-US" sz="232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325" dirty="0"/>
          </a:p>
        </p:txBody>
      </p:sp>
      <p:sp>
        <p:nvSpPr>
          <p:cNvPr id="21" name="Text 18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说得出，就把这两样在稿子上标出来，稍后补写；说不出，就在第三格旁边记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“换坎”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两个字。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交流评议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7752606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846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同桌交换稿子，在末尾填一句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故事大意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952750"/>
            <a:ext cx="16192500" cy="1546771"/>
          </a:xfrm>
          <a:prstGeom prst="roundRect">
            <a:avLst>
              <a:gd name="adj" fmla="val 17242"/>
            </a:avLst>
          </a:prstGeom>
          <a:solidFill>
            <a:srgbClr val="EAF1FB"/>
          </a:solidFill>
          <a:ln w="19050">
            <a:solidFill>
              <a:srgbClr val="C3D6F0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733550" y="4461421"/>
            <a:ext cx="457200" cy="285750"/>
          </a:xfrm>
          <a:prstGeom prst="rect">
            <a:avLst/>
          </a:prstGeom>
          <a:solidFill>
            <a:srgbClr val="EAF1FB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50" y="4461421"/>
            <a:ext cx="457200" cy="2857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82955" y="3390900"/>
            <a:ext cx="16722090" cy="7085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9322"/>
              </a:lnSpc>
              <a:buNone/>
            </a:pPr>
            <a:pPr algn="ctr" indent="0" marL="0">
              <a:lnSpc>
                <a:spcPct val="119322"/>
              </a:lnSpc>
              <a:buNone/>
            </a:pPr>
            <a:pPr algn="ctr" indent="0" marL="0">
              <a:lnSpc>
                <a:spcPct val="119322"/>
              </a:lnSpc>
              <a:buNone/>
            </a:pPr>
            <a:pPr algn="ctr" indent="0" marL="0">
              <a:lnSpc>
                <a:spcPct val="119322"/>
              </a:lnSpc>
              <a:buNone/>
            </a:pPr>
            <a:pPr algn="ctr" indent="0" marL="0">
              <a:lnSpc>
                <a:spcPct val="119322"/>
              </a:lnSpc>
              <a:buNone/>
            </a:pPr>
            <a:pPr algn="ctr" indent="0" marL="0">
              <a:lnSpc>
                <a:spcPct val="119322"/>
              </a:lnSpc>
              <a:buNone/>
            </a:pPr>
            <a:pPr algn="ctr" indent="0" marL="0">
              <a:lnSpc>
                <a:spcPct val="119322"/>
              </a:lnSpc>
              <a:buNone/>
            </a:pPr>
            <a:pPr algn="ctr" indent="0" marL="0">
              <a:lnSpc>
                <a:spcPct val="119322"/>
              </a:lnSpc>
              <a:buNone/>
            </a:pPr>
            <a:r>
              <a:rPr lang="en-US" sz="3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＿＿</a:t>
            </a:r>
            <a:r>
              <a:rPr lang="en-US" sz="33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（填人物）想</a:t>
            </a:r>
            <a:r>
              <a:rPr lang="en-US" sz="3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＿＿</a:t>
            </a:r>
            <a:r>
              <a:rPr lang="en-US" sz="33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（填目标），可是</a:t>
            </a:r>
            <a:r>
              <a:rPr lang="en-US" sz="3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＿＿</a:t>
            </a:r>
            <a:r>
              <a:rPr lang="en-US" sz="33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</a:t>
            </a:r>
            <a:r>
              <a:rPr lang="en-US" sz="3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＿＿</a:t>
            </a:r>
            <a:r>
              <a:rPr lang="en-US" sz="33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3300" dirty="0"/>
          </a:p>
        </p:txBody>
      </p:sp>
      <p:sp>
        <p:nvSpPr>
          <p:cNvPr id="11" name="Shape 7"/>
          <p:cNvSpPr/>
          <p:nvPr/>
        </p:nvSpPr>
        <p:spPr>
          <a:xfrm>
            <a:off x="1047750" y="5657850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1409700" y="5524500"/>
            <a:ext cx="819340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333"/>
              </a:lnSpc>
              <a:buNone/>
            </a:pPr>
            <a:pPr algn="l" indent="0" marL="0">
              <a:lnSpc>
                <a:spcPct val="113333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四个空都填得上就填，</a:t>
            </a:r>
            <a:r>
              <a:rPr lang="en-US" sz="25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填不上的空就空着，实话实说</a:t>
            </a:r>
            <a:endParaRPr lang="en-US" sz="2550" dirty="0"/>
          </a:p>
        </p:txBody>
      </p:sp>
      <p:sp>
        <p:nvSpPr>
          <p:cNvPr id="13" name="Shape 9"/>
          <p:cNvSpPr/>
          <p:nvPr/>
        </p:nvSpPr>
        <p:spPr>
          <a:xfrm>
            <a:off x="1047750" y="6429375"/>
            <a:ext cx="152400" cy="152400"/>
          </a:xfrm>
          <a:prstGeom prst="ellipse">
            <a:avLst/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1409700" y="6296025"/>
            <a:ext cx="1175575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3333"/>
              </a:lnSpc>
              <a:buNone/>
            </a:pPr>
            <a:pPr algn="l" indent="0" marL="0">
              <a:lnSpc>
                <a:spcPct val="113333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作者还没写到结果的，填到他写到的地方，</a:t>
            </a:r>
            <a:r>
              <a:rPr lang="en-US" sz="25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后面那一空留着，不算他写坏了</a:t>
            </a:r>
            <a:endParaRPr lang="en-US" sz="2550" dirty="0"/>
          </a:p>
        </p:txBody>
      </p:sp>
      <p:sp>
        <p:nvSpPr>
          <p:cNvPr id="15" name="Text 11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写完把稿子传回作者：同桌填的这一句，就是你稍后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定改哪一处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的依据。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修改收束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6939111" cy="833438"/>
          </a:xfrm>
          <a:prstGeom prst="roundRect">
            <a:avLst>
              <a:gd name="adj" fmla="val 2285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711002" cy="566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125"/>
              </a:lnSpc>
              <a:buNone/>
            </a:pPr>
            <a:pPr algn="l" indent="0" marL="0">
              <a:lnSpc>
                <a:spcPct val="99125"/>
              </a:lnSpc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看同桌填的那一句，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定下改哪一处</a:t>
            </a:r>
            <a:endParaRPr lang="en-US" sz="3203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2190750" cy="676275"/>
          </a:xfrm>
          <a:prstGeom prst="roundRect">
            <a:avLst>
              <a:gd name="adj" fmla="val 19718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38212" y="3009900"/>
            <a:ext cx="240982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7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前两空空着</a:t>
            </a:r>
            <a:endParaRPr lang="en-US" sz="2175" dirty="0"/>
          </a:p>
        </p:txBody>
      </p:sp>
      <p:sp>
        <p:nvSpPr>
          <p:cNvPr id="9" name="Text 6"/>
          <p:cNvSpPr/>
          <p:nvPr/>
        </p:nvSpPr>
        <p:spPr>
          <a:xfrm>
            <a:off x="3486150" y="2988469"/>
            <a:ext cx="91154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750"/>
              </a:lnSpc>
              <a:buNone/>
            </a:pPr>
            <a:pPr algn="l" indent="0" marL="0">
              <a:lnSpc>
                <a:spcPct val="10875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开头没交代清楚主要人物是谁、他想做成什么事，就</a:t>
            </a: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在开头补一句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1047750" y="3743325"/>
            <a:ext cx="2190750" cy="676275"/>
          </a:xfrm>
          <a:prstGeom prst="roundRect">
            <a:avLst>
              <a:gd name="adj" fmla="val 19718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38212" y="3895725"/>
            <a:ext cx="240982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7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“可是”空着</a:t>
            </a:r>
            <a:endParaRPr lang="en-US" sz="2175" dirty="0"/>
          </a:p>
        </p:txBody>
      </p:sp>
      <p:sp>
        <p:nvSpPr>
          <p:cNvPr id="12" name="Text 9"/>
          <p:cNvSpPr/>
          <p:nvPr/>
        </p:nvSpPr>
        <p:spPr>
          <a:xfrm>
            <a:off x="3486150" y="3874294"/>
            <a:ext cx="10372725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750"/>
              </a:lnSpc>
              <a:buNone/>
            </a:pPr>
            <a:pPr algn="l" indent="0" marL="0">
              <a:lnSpc>
                <a:spcPct val="10875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坎没有写清楚，就在坎那一段补上两句：</a:t>
            </a: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他想要的是什么，挡住他的是什么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1047750" y="4629150"/>
            <a:ext cx="2190750" cy="676275"/>
          </a:xfrm>
          <a:prstGeom prst="roundRect">
            <a:avLst>
              <a:gd name="adj" fmla="val 19718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38212" y="4781550"/>
            <a:ext cx="240982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7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“最后”对不上</a:t>
            </a:r>
            <a:endParaRPr lang="en-US" sz="2175" dirty="0"/>
          </a:p>
        </p:txBody>
      </p:sp>
      <p:sp>
        <p:nvSpPr>
          <p:cNvPr id="15" name="Text 12"/>
          <p:cNvSpPr/>
          <p:nvPr/>
        </p:nvSpPr>
        <p:spPr>
          <a:xfrm>
            <a:off x="3486150" y="4760119"/>
            <a:ext cx="1508760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750"/>
              </a:lnSpc>
              <a:buNone/>
            </a:pPr>
            <a:pPr algn="l" indent="0" marL="0">
              <a:lnSpc>
                <a:spcPct val="108750"/>
              </a:lnSpc>
              <a:buNone/>
            </a:pPr>
            <a:pPr algn="l" indent="0" marL="0">
              <a:lnSpc>
                <a:spcPct val="10875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转折没有写清，就在转折那一刻补写</a:t>
            </a: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他做的第一个动作</a:t>
            </a: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；因为还没写到结果才空着的，不算，接着往下写即可</a:t>
            </a:r>
            <a:endParaRPr lang="en-US" sz="2250" dirty="0"/>
          </a:p>
        </p:txBody>
      </p:sp>
      <p:sp>
        <p:nvSpPr>
          <p:cNvPr id="16" name="Shape 13"/>
          <p:cNvSpPr/>
          <p:nvPr/>
        </p:nvSpPr>
        <p:spPr>
          <a:xfrm>
            <a:off x="1047750" y="5514975"/>
            <a:ext cx="2190750" cy="676275"/>
          </a:xfrm>
          <a:prstGeom prst="roundRect">
            <a:avLst>
              <a:gd name="adj" fmla="val 19718"/>
            </a:avLst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38212" y="5667375"/>
            <a:ext cx="240982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175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四个空都对</a:t>
            </a:r>
            <a:endParaRPr lang="en-US" sz="2175" dirty="0"/>
          </a:p>
        </p:txBody>
      </p:sp>
      <p:sp>
        <p:nvSpPr>
          <p:cNvPr id="18" name="Text 15"/>
          <p:cNvSpPr/>
          <p:nvPr/>
        </p:nvSpPr>
        <p:spPr>
          <a:xfrm>
            <a:off x="3486150" y="5645944"/>
            <a:ext cx="12573000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750"/>
              </a:lnSpc>
              <a:buNone/>
            </a:pPr>
            <a:pPr algn="l" indent="0" marL="0">
              <a:lnSpc>
                <a:spcPct val="108750"/>
              </a:lnSpc>
              <a:buNone/>
            </a:pPr>
            <a:pPr algn="l" indent="0" marL="0">
              <a:lnSpc>
                <a:spcPct val="10875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回头看坎跟前有没有他</a:t>
            </a: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心里的那一句话</a:t>
            </a:r>
            <a:r>
              <a:rPr lang="en-US" sz="2250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；有了，就看环境在坎或转折那里有没有再写上一句</a:t>
            </a:r>
            <a:endParaRPr lang="en-US" sz="2250" dirty="0"/>
          </a:p>
        </p:txBody>
      </p:sp>
      <p:sp>
        <p:nvSpPr>
          <p:cNvPr id="19" name="Shape 16"/>
          <p:cNvSpPr/>
          <p:nvPr/>
        </p:nvSpPr>
        <p:spPr>
          <a:xfrm>
            <a:off x="1047750" y="7543800"/>
            <a:ext cx="16192500" cy="1314450"/>
          </a:xfrm>
          <a:prstGeom prst="roundRect">
            <a:avLst>
              <a:gd name="adj" fmla="val 11594"/>
            </a:avLst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1428750" y="7772400"/>
            <a:ext cx="1589341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pPr algn="l" indent="0" marL="0">
              <a:lnSpc>
                <a:spcPct val="112500"/>
              </a:lnSpc>
              <a:buNone/>
            </a:pPr>
            <a:r>
              <a:rPr lang="en-US" sz="2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只改这一处 </a:t>
            </a:r>
            <a:r>
              <a:rPr lang="en-US" sz="2250" b="1" dirty="0">
                <a:solidFill>
                  <a:srgbClr val="2C3A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，给大家四分钟；最后一分钟，把整篇从头看一遍，用修改符号把多余的字划掉、漏掉的字补上、写错的字改正。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1047750" y="933450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编出来的人，编出来的事，读的人替他捏了一把汗，这个故事就有了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生活的影子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202346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 · 习作讲评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09700"/>
            <a:ext cx="8504039" cy="838200"/>
          </a:xfrm>
          <a:prstGeom prst="roundRect">
            <a:avLst>
              <a:gd name="adj" fmla="val 22727"/>
            </a:avLst>
          </a:prstGeom>
          <a:solidFill>
            <a:srgbClr val="FCE7E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28750" y="1562100"/>
            <a:ext cx="8516243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r>
              <a:rPr lang="en-US" sz="3203" b="1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习作讲评环节</a:t>
            </a:r>
            <a:r>
              <a:rPr lang="en-US" sz="32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（可选 · 课后或下次课开场）</a:t>
            </a:r>
            <a:endParaRPr lang="en-US" sz="3203" dirty="0"/>
          </a:p>
        </p:txBody>
      </p:sp>
      <p:sp>
        <p:nvSpPr>
          <p:cNvPr id="7" name="Text 4"/>
          <p:cNvSpPr/>
          <p:nvPr/>
        </p:nvSpPr>
        <p:spPr>
          <a:xfrm>
            <a:off x="1047750" y="2571750"/>
            <a:ext cx="1540192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8A929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挑两三篇当堂完成的习作投屏（不具名），每篇约三到五分钟，只看两件事：坎写没写清楚，转折有没有来处。</a:t>
            </a:r>
            <a:endParaRPr lang="en-US" sz="2250" dirty="0"/>
          </a:p>
        </p:txBody>
      </p:sp>
      <p:sp>
        <p:nvSpPr>
          <p:cNvPr id="8" name="Shape 5"/>
          <p:cNvSpPr/>
          <p:nvPr/>
        </p:nvSpPr>
        <p:spPr>
          <a:xfrm>
            <a:off x="1047750" y="3238500"/>
            <a:ext cx="5181600" cy="4476750"/>
          </a:xfrm>
          <a:prstGeom prst="roundRect">
            <a:avLst>
              <a:gd name="adj" fmla="val 3830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057275" y="3248025"/>
            <a:ext cx="5162550" cy="762000"/>
          </a:xfrm>
          <a:prstGeom prst="rect">
            <a:avLst/>
          </a:prstGeom>
          <a:solidFill>
            <a:srgbClr val="4E9A57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323975" y="3438525"/>
            <a:ext cx="509206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较好的一篇</a:t>
            </a:r>
            <a:endParaRPr lang="en-US" sz="2250" dirty="0"/>
          </a:p>
        </p:txBody>
      </p:sp>
      <p:sp>
        <p:nvSpPr>
          <p:cNvPr id="11" name="Text 8"/>
          <p:cNvSpPr/>
          <p:nvPr/>
        </p:nvSpPr>
        <p:spPr>
          <a:xfrm>
            <a:off x="1343025" y="4295775"/>
            <a:ext cx="4745926" cy="3162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256"/>
              </a:lnSpc>
              <a:buNone/>
            </a:pPr>
            <a:pPr algn="l" indent="0" marL="0">
              <a:lnSpc>
                <a:spcPct val="115256"/>
              </a:lnSpc>
              <a:buNone/>
            </a:pPr>
            <a:pPr algn="l" indent="0" marL="0">
              <a:lnSpc>
                <a:spcPct val="115256"/>
              </a:lnSpc>
              <a:buNone/>
            </a:pP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坎从环境和人物特点里来，坎跟前有一句他心里的话，转折有来处。 读结尾那一句： 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落在一样看得见的变化上 </a:t>
            </a: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，后面添不添那一句感受都算。</a:t>
            </a:r>
            <a:endParaRPr lang="en-US" sz="2175" dirty="0"/>
          </a:p>
        </p:txBody>
      </p:sp>
      <p:sp>
        <p:nvSpPr>
          <p:cNvPr id="12" name="Shape 9"/>
          <p:cNvSpPr/>
          <p:nvPr/>
        </p:nvSpPr>
        <p:spPr>
          <a:xfrm>
            <a:off x="6553200" y="3238500"/>
            <a:ext cx="5181600" cy="4476750"/>
          </a:xfrm>
          <a:prstGeom prst="roundRect">
            <a:avLst>
              <a:gd name="adj" fmla="val 3830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562725" y="3248025"/>
            <a:ext cx="5162550" cy="762000"/>
          </a:xfrm>
          <a:prstGeom prst="rect">
            <a:avLst/>
          </a:prstGeom>
          <a:solidFill>
            <a:srgbClr val="E0A43B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829425" y="3438525"/>
            <a:ext cx="509206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中等的一篇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6848475" y="4295775"/>
            <a:ext cx="4745926" cy="3162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256"/>
              </a:lnSpc>
              <a:buNone/>
            </a:pPr>
            <a:pPr algn="l" indent="0" marL="0">
              <a:lnSpc>
                <a:spcPct val="115256"/>
              </a:lnSpc>
              <a:buNone/>
            </a:pPr>
            <a:pPr algn="l" indent="0" marL="0">
              <a:lnSpc>
                <a:spcPct val="115256"/>
              </a:lnSpc>
              <a:buNone/>
            </a:pP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坎写清楚了，读的人替他捏了一把汗，可是 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转折一句带过 </a:t>
            </a: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，或者靠一个新出现的人物解决。 全班帮他想：在这个环境里，从坎到转折之间还能发生一件什么事，引出这个转折？</a:t>
            </a:r>
            <a:endParaRPr lang="en-US" sz="2175" dirty="0"/>
          </a:p>
        </p:txBody>
      </p:sp>
      <p:sp>
        <p:nvSpPr>
          <p:cNvPr id="16" name="Shape 13"/>
          <p:cNvSpPr/>
          <p:nvPr/>
        </p:nvSpPr>
        <p:spPr>
          <a:xfrm>
            <a:off x="12058650" y="3238500"/>
            <a:ext cx="5181600" cy="4476750"/>
          </a:xfrm>
          <a:prstGeom prst="roundRect">
            <a:avLst>
              <a:gd name="adj" fmla="val 3830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12068175" y="3248025"/>
            <a:ext cx="5162550" cy="7620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2334875" y="3438525"/>
            <a:ext cx="509206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有典型问题的一篇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12353925" y="4295775"/>
            <a:ext cx="4745926" cy="3162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256"/>
              </a:lnSpc>
              <a:buNone/>
            </a:pPr>
            <a:pPr algn="l" indent="0" marL="0">
              <a:lnSpc>
                <a:spcPct val="115256"/>
              </a:lnSpc>
              <a:buNone/>
            </a:pPr>
            <a:pPr algn="l" indent="0" marL="0">
              <a:lnSpc>
                <a:spcPct val="115256"/>
              </a:lnSpc>
              <a:buNone/>
            </a:pP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环境和人物都写了，可是事情从头到尾 </a:t>
            </a:r>
            <a:r>
              <a:rPr lang="en-US" sz="2175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一路顺 </a:t>
            </a:r>
            <a:r>
              <a:rPr lang="en-US" sz="2175" dirty="0">
                <a:solidFill>
                  <a:srgbClr val="2A2E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，没有一处让人想知道后来怎么样。 改的办法：想一想他最想做成哪一件事，再从这个环境里找一件事挡住他。</a:t>
            </a:r>
            <a:endParaRPr lang="en-US" sz="2175" dirty="0"/>
          </a:p>
        </p:txBody>
      </p:sp>
      <p:sp>
        <p:nvSpPr>
          <p:cNvPr id="20" name="Text 17"/>
          <p:cNvSpPr/>
          <p:nvPr/>
        </p:nvSpPr>
        <p:spPr>
          <a:xfrm>
            <a:off x="1047750" y="9353550"/>
            <a:ext cx="1781175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pPr algn="l" indent="0" marL="0">
              <a:buNone/>
            </a:pPr>
            <a:pPr algn="l" indent="0" marL="0">
              <a:buNone/>
            </a:pP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这个写法以后写任何故事都用得上：</a:t>
            </a:r>
            <a:r>
              <a:rPr lang="en-US" sz="2603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一道坎，一句心里的话，一处有来处的转折</a:t>
            </a:r>
            <a:r>
              <a:rPr lang="en-US" sz="2603" dirty="0">
                <a:solidFill>
                  <a:srgbClr val="3D4A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260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gradFill rotWithShape="1">
            <a:gsLst>
              <a:gs pos="0">
                <a:srgbClr val="6FB8AD">
                  <a:alpha val="100000"/>
                </a:srgbClr>
              </a:gs>
              <a:gs pos="60000">
                <a:srgbClr val="4E93A0">
                  <a:alpha val="100000"/>
                </a:srgbClr>
              </a:gs>
              <a:gs pos="100000">
                <a:srgbClr val="3D6E82">
                  <a:alpha val="100000"/>
                </a:srgbClr>
              </a:gs>
            </a:gsLst>
            <a:lin ang="1800000" scaled="0"/>
          </a:gra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943100" y="3657600"/>
            <a:ext cx="8064892" cy="1900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7"/>
              </a:lnSpc>
              <a:buNone/>
            </a:pPr>
            <a:r>
              <a:rPr lang="en-US" sz="127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END</a:t>
            </a:r>
            <a:endParaRPr lang="en-US" sz="12750" dirty="0"/>
          </a:p>
        </p:txBody>
      </p:sp>
      <p:sp>
        <p:nvSpPr>
          <p:cNvPr id="5" name="Text 3"/>
          <p:cNvSpPr/>
          <p:nvPr/>
        </p:nvSpPr>
        <p:spPr>
          <a:xfrm>
            <a:off x="2057400" y="5676900"/>
            <a:ext cx="1274064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dirty="0">
                <a:solidFill>
                  <a:srgbClr val="FFFFFF">
                    <a:alpha val="92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编出来的故事，也要有生活的影子：一道坎，一句心里的话，一处转折。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3792200" y="8058150"/>
            <a:ext cx="2095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下一次再见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5925800" y="8039100"/>
            <a:ext cx="419100" cy="5334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25800" y="8039100"/>
            <a:ext cx="419100" cy="53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2026-09-18T02:23:09Z</dcterms:created>
  <dcterms:modified xsi:type="dcterms:W3CDTF">2026-09-18T02:23:09Z</dcterms:modified>
</cp:coreProperties>
</file>