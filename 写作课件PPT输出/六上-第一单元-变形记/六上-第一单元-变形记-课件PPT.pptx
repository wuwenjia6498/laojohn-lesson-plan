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1589" y="323850"/>
            <a:ext cx="1668661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250" y="1143000"/>
            <a:ext cx="16573500" cy="571500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EE7B2E">
                  <a:alpha val="100000"/>
                </a:srgbClr>
              </a:gs>
              <a:gs pos="42000">
                <a:srgbClr val="F0A63C">
                  <a:alpha val="100000"/>
                </a:srgbClr>
              </a:gs>
              <a:gs pos="100000">
                <a:srgbClr val="57B0A6">
                  <a:alpha val="100000"/>
                </a:srgbClr>
              </a:gs>
            </a:gsLst>
            <a:lin ang="9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2952750" y="1428750"/>
            <a:ext cx="3429000" cy="3429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810250" y="4191000"/>
            <a:ext cx="4095750" cy="409575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810000" y="2667000"/>
            <a:ext cx="11734800" cy="1443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51"/>
              </a:lnSpc>
              <a:buNone/>
            </a:pPr>
            <a:r>
              <a:rPr lang="en-US" sz="885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变形记</a:t>
            </a:r>
            <a:endParaRPr lang="en-US" sz="8850" dirty="0"/>
          </a:p>
        </p:txBody>
      </p:sp>
      <p:sp>
        <p:nvSpPr>
          <p:cNvPr id="7" name="Text 4"/>
          <p:cNvSpPr/>
          <p:nvPr/>
        </p:nvSpPr>
        <p:spPr>
          <a:xfrm>
            <a:off x="3848100" y="4476750"/>
            <a:ext cx="117348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六年级上册 · 第一单元 · 校内同步写作（想象）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0" y="2857500"/>
            <a:ext cx="1066800" cy="1333500"/>
          </a:xfrm>
          <a:prstGeom prst="rect">
            <a:avLst/>
          </a:prstGeom>
          <a:solidFill>
            <a:srgbClr val="3D4A6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00"/>
            <a:ext cx="1066800" cy="13335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0" y="6953250"/>
            <a:ext cx="4095750" cy="2667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六年级上册 · 第一单元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31432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937981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 · 换一个高度看 · 学写法 · 变形视角表 · 教师示范文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56595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50052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先听老师说一段话，猜一猜：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老师说的是谁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333750"/>
            <a:ext cx="16192500" cy="2576513"/>
          </a:xfrm>
          <a:prstGeom prst="roundRect">
            <a:avLst>
              <a:gd name="adj" fmla="val 10351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924050" y="5872163"/>
            <a:ext cx="457200" cy="30480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0" y="5872163"/>
            <a:ext cx="4572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3771900"/>
            <a:ext cx="15540228" cy="1738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22"/>
              </a:lnSpc>
              <a:buNone/>
            </a:pPr>
            <a:r>
              <a:rPr lang="en-US" sz="25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每天开工最早。早上第一个推我的，总是来得最早的那个同学，他的手总是凉的。一天下来，我被推开又合上几十次，每一双手用了多大的力气，我都记得：有人一把把我推到底，撞得我背后那面墙嗡嗡响；有人只把我推开一条缝，侧着身子挤进来。教室里没有人的时候，我才能好好地靠着墙歇一会儿。</a:t>
            </a:r>
            <a:endParaRPr lang="en-US" sz="2550" dirty="0"/>
          </a:p>
        </p:txBody>
      </p:sp>
      <p:sp>
        <p:nvSpPr>
          <p:cNvPr id="12" name="Shape 8"/>
          <p:cNvSpPr/>
          <p:nvPr/>
        </p:nvSpPr>
        <p:spPr>
          <a:xfrm>
            <a:off x="1047750" y="7962900"/>
            <a:ext cx="16192500" cy="895350"/>
          </a:xfrm>
          <a:prstGeom prst="roundRect">
            <a:avLst>
              <a:gd name="adj" fmla="val 1702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1428750" y="8210550"/>
            <a:ext cx="169735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听完请说一说：老师说的是谁？你是</a:t>
            </a:r>
            <a:pPr algn="l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从哪一句听出来的</a:t>
            </a:r>
            <a:pPr algn="l" indent="0" marL="0"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这段话里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一个“门”字也没有出现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，身份却藏在每一句话里。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53236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揭晓答案：老师说的是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教室的门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857500"/>
            <a:ext cx="107918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让人认出来的是这几句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047750" y="36385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09700" y="3486150"/>
            <a:ext cx="339471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推开又合上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几十次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1047750" y="4364236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09700" y="4211836"/>
            <a:ext cx="377190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撞得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背后那面墙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嗡嗡响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1047750" y="5089922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09700" y="4937522"/>
            <a:ext cx="603504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没有人的时候，才能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靠着墙歇一会儿</a:t>
            </a:r>
            <a:endParaRPr lang="en-US" sz="27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0" y="3143250"/>
            <a:ext cx="5143500" cy="409575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047750" y="7814370"/>
            <a:ext cx="16192500" cy="1043880"/>
          </a:xfrm>
          <a:prstGeom prst="roundRect">
            <a:avLst>
              <a:gd name="adj" fmla="val 16424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1466850" y="8100120"/>
            <a:ext cx="168897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这几句写的事，</a:t>
            </a:r>
            <a:pPr algn="l" indent="0" marL="0">
              <a:lnSpc>
                <a:spcPct val="11809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只有一扇门才会遇到</a:t>
            </a:r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。老师没有报出身份，大家还是认出来了。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今天的习作就写这样一件事：想象自己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变成另一种事物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，用它的身份写它看到的世界。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53236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今天的任务：写一篇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《变形记》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628900"/>
            <a:ext cx="16192500" cy="928688"/>
          </a:xfrm>
          <a:prstGeom prst="roundRect">
            <a:avLst>
              <a:gd name="adj" fmla="val 16410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2857500"/>
            <a:ext cx="1697355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教材要求：把变形后看到的景物、发生的事情写下来，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重点部分要写得详细一些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75" dirty="0"/>
          </a:p>
        </p:txBody>
      </p:sp>
      <p:sp>
        <p:nvSpPr>
          <p:cNvPr id="9" name="Shape 6"/>
          <p:cNvSpPr/>
          <p:nvPr/>
        </p:nvSpPr>
        <p:spPr>
          <a:xfrm>
            <a:off x="1047750" y="3905250"/>
            <a:ext cx="7886700" cy="1867793"/>
          </a:xfrm>
          <a:prstGeom prst="roundRect">
            <a:avLst>
              <a:gd name="adj" fmla="val 9179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057275" y="3914775"/>
            <a:ext cx="7867650" cy="742950"/>
          </a:xfrm>
          <a:custGeom>
            <a:avLst/>
            <a:gdLst/>
            <a:ahLst/>
            <a:cxnLst/>
            <a:rect l="l" t="t" r="r" b="b"/>
            <a:pathLst>
              <a:path w="7867650" h="742950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42950"/>
                </a:lnTo>
                <a:lnTo>
                  <a:pt x="0" y="74295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3914775"/>
            <a:ext cx="7867650" cy="7429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2488" y="408622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可以变得很小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1057275" y="4657725"/>
            <a:ext cx="7867650" cy="1105793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400175" y="4943475"/>
            <a:ext cx="7397306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一只蚂蚁、一棵草、一粒石子</a:t>
            </a:r>
            <a:endParaRPr lang="en-US" sz="2475" dirty="0"/>
          </a:p>
        </p:txBody>
      </p:sp>
      <p:sp>
        <p:nvSpPr>
          <p:cNvPr id="15" name="Shape 11"/>
          <p:cNvSpPr/>
          <p:nvPr/>
        </p:nvSpPr>
        <p:spPr>
          <a:xfrm>
            <a:off x="9353550" y="3905250"/>
            <a:ext cx="7886700" cy="1867793"/>
          </a:xfrm>
          <a:prstGeom prst="roundRect">
            <a:avLst>
              <a:gd name="adj" fmla="val 9179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9363075" y="3914775"/>
            <a:ext cx="7867650" cy="742950"/>
          </a:xfrm>
          <a:custGeom>
            <a:avLst/>
            <a:gdLst/>
            <a:ahLst/>
            <a:cxnLst/>
            <a:rect l="l" t="t" r="r" b="b"/>
            <a:pathLst>
              <a:path w="7867650" h="742950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42950"/>
                </a:lnTo>
                <a:lnTo>
                  <a:pt x="0" y="74295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075" y="3914775"/>
            <a:ext cx="7867650" cy="7429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58288" y="408622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也可以变得很大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9363075" y="4657725"/>
            <a:ext cx="7867650" cy="1105793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9705975" y="4943475"/>
            <a:ext cx="7397306" cy="572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一头大象、一辆汽车，甚至是一个星球</a:t>
            </a:r>
            <a:endParaRPr lang="en-US" sz="2475" dirty="0"/>
          </a:p>
        </p:txBody>
      </p:sp>
      <p:sp>
        <p:nvSpPr>
          <p:cNvPr id="21" name="Text 16"/>
          <p:cNvSpPr/>
          <p:nvPr/>
        </p:nvSpPr>
        <p:spPr>
          <a:xfrm>
            <a:off x="1047750" y="666750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教材给的四个题目，也可以自己拟一个</a:t>
            </a:r>
            <a:endParaRPr lang="en-US" sz="2250" dirty="0"/>
          </a:p>
        </p:txBody>
      </p:sp>
      <p:sp>
        <p:nvSpPr>
          <p:cNvPr id="22" name="Shape 17"/>
          <p:cNvSpPr/>
          <p:nvPr/>
        </p:nvSpPr>
        <p:spPr>
          <a:xfrm>
            <a:off x="1047750" y="7239000"/>
            <a:ext cx="1714500" cy="733425"/>
          </a:xfrm>
          <a:prstGeom prst="roundRect">
            <a:avLst>
              <a:gd name="adj" fmla="val 18182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3" name="Text 18"/>
          <p:cNvSpPr/>
          <p:nvPr/>
        </p:nvSpPr>
        <p:spPr>
          <a:xfrm>
            <a:off x="1314450" y="7410450"/>
            <a:ext cx="1257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地球自述</a:t>
            </a:r>
            <a:endParaRPr lang="en-US" sz="2325" dirty="0"/>
          </a:p>
        </p:txBody>
      </p:sp>
      <p:sp>
        <p:nvSpPr>
          <p:cNvPr id="24" name="Shape 19"/>
          <p:cNvSpPr/>
          <p:nvPr/>
        </p:nvSpPr>
        <p:spPr>
          <a:xfrm>
            <a:off x="2952750" y="7239000"/>
            <a:ext cx="3190875" cy="733425"/>
          </a:xfrm>
          <a:prstGeom prst="roundRect">
            <a:avLst>
              <a:gd name="adj" fmla="val 18182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5" name="Text 20"/>
          <p:cNvSpPr/>
          <p:nvPr/>
        </p:nvSpPr>
        <p:spPr>
          <a:xfrm>
            <a:off x="3219450" y="7410450"/>
            <a:ext cx="292322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我是一条幸福的蚯蚓</a:t>
            </a:r>
            <a:endParaRPr lang="en-US" sz="2325" dirty="0"/>
          </a:p>
        </p:txBody>
      </p:sp>
      <p:sp>
        <p:nvSpPr>
          <p:cNvPr id="26" name="Shape 21"/>
          <p:cNvSpPr/>
          <p:nvPr/>
        </p:nvSpPr>
        <p:spPr>
          <a:xfrm>
            <a:off x="6334125" y="7239000"/>
            <a:ext cx="2305050" cy="733425"/>
          </a:xfrm>
          <a:prstGeom prst="roundRect">
            <a:avLst>
              <a:gd name="adj" fmla="val 18182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7" name="Text 22"/>
          <p:cNvSpPr/>
          <p:nvPr/>
        </p:nvSpPr>
        <p:spPr>
          <a:xfrm>
            <a:off x="6600825" y="7410450"/>
            <a:ext cx="194881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在房间里旅行</a:t>
            </a:r>
            <a:endParaRPr lang="en-US" sz="2325" dirty="0"/>
          </a:p>
        </p:txBody>
      </p:sp>
      <p:sp>
        <p:nvSpPr>
          <p:cNvPr id="28" name="Shape 23"/>
          <p:cNvSpPr/>
          <p:nvPr/>
        </p:nvSpPr>
        <p:spPr>
          <a:xfrm>
            <a:off x="8829675" y="7239000"/>
            <a:ext cx="3781425" cy="733425"/>
          </a:xfrm>
          <a:prstGeom prst="roundRect">
            <a:avLst>
              <a:gd name="adj" fmla="val 18182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9" name="Text 24"/>
          <p:cNvSpPr/>
          <p:nvPr/>
        </p:nvSpPr>
        <p:spPr>
          <a:xfrm>
            <a:off x="9096375" y="7410450"/>
            <a:ext cx="357282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夜晚，一棵大树下的故事</a:t>
            </a:r>
            <a:endParaRPr lang="en-US" sz="2325" dirty="0"/>
          </a:p>
        </p:txBody>
      </p:sp>
      <p:sp>
        <p:nvSpPr>
          <p:cNvPr id="30" name="Text 2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写完以后要和同学交换习作，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看一看别人对你的“世界”感不感兴趣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34571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158261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第二节课的最后，开一次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变形分享会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2385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3147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295650"/>
            <a:ext cx="9330023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几位同学读自己故事里最神奇的那一段，读的时候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不说自己变成了什么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462438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70058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681538"/>
            <a:ext cx="9330023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听的同学闭上眼睛，听完说出两件事：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眼前看见了什么，作者变成了什么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601027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6086475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6067425"/>
            <a:ext cx="9330023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分享会之后和同桌交换习作，请他在稿子末尾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写下一个还想知道的问题</a:t>
            </a:r>
            <a:endParaRPr lang="en-US" sz="262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333750"/>
            <a:ext cx="4953000" cy="41910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别人闭着眼睛能看见你那个世界，还能猜出你是谁，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这篇故事就写成了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观察体验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34571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158261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变形以后最先变的，是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看世界的高度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143250"/>
            <a:ext cx="16192500" cy="966788"/>
          </a:xfrm>
          <a:prstGeom prst="roundRect">
            <a:avLst>
              <a:gd name="adj" fmla="val 1576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28750" y="3390900"/>
            <a:ext cx="1697355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现在做一件事：把下巴放在桌面上，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眼睛和桌面一样平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，不要抬头，这样看半分钟。不要动桌上的物品，只看。</a:t>
            </a:r>
            <a:endParaRPr lang="en-US" sz="2475" dirty="0"/>
          </a:p>
        </p:txBody>
      </p:sp>
      <p:sp>
        <p:nvSpPr>
          <p:cNvPr id="10" name="Text 7"/>
          <p:cNvSpPr/>
          <p:nvPr/>
        </p:nvSpPr>
        <p:spPr>
          <a:xfrm>
            <a:off x="1047750" y="4476750"/>
            <a:ext cx="107918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抬起头以后说出三样：哪几件物品和平时看到的不一样了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1047750" y="5067300"/>
            <a:ext cx="4962525" cy="733425"/>
          </a:xfrm>
          <a:prstGeom prst="roundRect">
            <a:avLst>
              <a:gd name="adj" fmla="val 18182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314450" y="5238750"/>
            <a:ext cx="487203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铅笔变得好长，像一根横倒的木头</a:t>
            </a:r>
            <a:endParaRPr lang="en-US" sz="2325" dirty="0"/>
          </a:p>
        </p:txBody>
      </p:sp>
      <p:sp>
        <p:nvSpPr>
          <p:cNvPr id="13" name="Shape 10"/>
          <p:cNvSpPr/>
          <p:nvPr/>
        </p:nvSpPr>
        <p:spPr>
          <a:xfrm>
            <a:off x="6200775" y="5067300"/>
            <a:ext cx="2600325" cy="733425"/>
          </a:xfrm>
          <a:prstGeom prst="roundRect">
            <a:avLst>
              <a:gd name="adj" fmla="val 18182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467475" y="5238750"/>
            <a:ext cx="227361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橡皮屑像小石头</a:t>
            </a:r>
            <a:endParaRPr lang="en-US" sz="2325" dirty="0"/>
          </a:p>
        </p:txBody>
      </p:sp>
      <p:sp>
        <p:nvSpPr>
          <p:cNvPr id="15" name="Shape 12"/>
          <p:cNvSpPr/>
          <p:nvPr/>
        </p:nvSpPr>
        <p:spPr>
          <a:xfrm>
            <a:off x="1047750" y="5991225"/>
            <a:ext cx="4076700" cy="733425"/>
          </a:xfrm>
          <a:prstGeom prst="roundRect">
            <a:avLst>
              <a:gd name="adj" fmla="val 18182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314450" y="6162675"/>
            <a:ext cx="389763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同桌的手伸过来，像一堵墙</a:t>
            </a:r>
            <a:endParaRPr lang="en-US" sz="2325" dirty="0"/>
          </a:p>
        </p:txBody>
      </p:sp>
      <p:sp>
        <p:nvSpPr>
          <p:cNvPr id="17" name="Shape 14"/>
          <p:cNvSpPr/>
          <p:nvPr/>
        </p:nvSpPr>
        <p:spPr>
          <a:xfrm>
            <a:off x="5314950" y="5991225"/>
            <a:ext cx="4667250" cy="733425"/>
          </a:xfrm>
          <a:prstGeom prst="roundRect">
            <a:avLst>
              <a:gd name="adj" fmla="val 18182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581650" y="6162675"/>
            <a:ext cx="454723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笔袋的拉链一格一格的，像铁轨</a:t>
            </a:r>
            <a:endParaRPr lang="en-US" sz="2325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4476750"/>
            <a:ext cx="4953000" cy="371475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眼睛离桌面只有几厘米的时候，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桌面就成了另一个地方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，一只蚂蚁的眼睛就在这个高度。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观察体验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45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换一个方向：假如你有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几十层楼那么高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5168801" cy="1690688"/>
          </a:xfrm>
          <a:prstGeom prst="roundRect">
            <a:avLst>
              <a:gd name="adj" fmla="val 1014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0175" y="3381375"/>
            <a:ext cx="491034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脚边的教学楼像什么</a:t>
            </a:r>
            <a:endParaRPr lang="en-US" sz="2325" dirty="0"/>
          </a:p>
        </p:txBody>
      </p:sp>
      <p:sp>
        <p:nvSpPr>
          <p:cNvPr id="9" name="Text 6"/>
          <p:cNvSpPr/>
          <p:nvPr/>
        </p:nvSpPr>
        <p:spPr>
          <a:xfrm>
            <a:off x="1400175" y="3962400"/>
            <a:ext cx="4910346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像一排积木</a:t>
            </a:r>
            <a:endParaRPr lang="en-US" sz="2325" dirty="0"/>
          </a:p>
        </p:txBody>
      </p:sp>
      <p:sp>
        <p:nvSpPr>
          <p:cNvPr id="10" name="Shape 7"/>
          <p:cNvSpPr/>
          <p:nvPr/>
        </p:nvSpPr>
        <p:spPr>
          <a:xfrm>
            <a:off x="6559451" y="3048000"/>
            <a:ext cx="5168950" cy="1690688"/>
          </a:xfrm>
          <a:prstGeom prst="roundRect">
            <a:avLst>
              <a:gd name="adj" fmla="val 1014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911876" y="3381375"/>
            <a:ext cx="491051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路上走的人像什么</a:t>
            </a:r>
            <a:endParaRPr lang="en-US" sz="2325" dirty="0"/>
          </a:p>
        </p:txBody>
      </p:sp>
      <p:sp>
        <p:nvSpPr>
          <p:cNvPr id="12" name="Text 9"/>
          <p:cNvSpPr/>
          <p:nvPr/>
        </p:nvSpPr>
        <p:spPr>
          <a:xfrm>
            <a:off x="6911876" y="3962400"/>
            <a:ext cx="491051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像一只只蚂蚁在爬</a:t>
            </a:r>
            <a:endParaRPr lang="en-US" sz="2325" dirty="0"/>
          </a:p>
        </p:txBody>
      </p:sp>
      <p:sp>
        <p:nvSpPr>
          <p:cNvPr id="13" name="Shape 10"/>
          <p:cNvSpPr/>
          <p:nvPr/>
        </p:nvSpPr>
        <p:spPr>
          <a:xfrm>
            <a:off x="12071300" y="3048000"/>
            <a:ext cx="5168950" cy="1690688"/>
          </a:xfrm>
          <a:prstGeom prst="roundRect">
            <a:avLst>
              <a:gd name="adj" fmla="val 1014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423725" y="3381375"/>
            <a:ext cx="491051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街边的树呢</a:t>
            </a:r>
            <a:endParaRPr lang="en-US" sz="2325" dirty="0"/>
          </a:p>
        </p:txBody>
      </p:sp>
      <p:sp>
        <p:nvSpPr>
          <p:cNvPr id="15" name="Text 12"/>
          <p:cNvSpPr/>
          <p:nvPr/>
        </p:nvSpPr>
        <p:spPr>
          <a:xfrm>
            <a:off x="12423725" y="3962400"/>
            <a:ext cx="491051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像一根根牙签插在地上</a:t>
            </a:r>
            <a:endParaRPr lang="en-US" sz="2325" dirty="0"/>
          </a:p>
        </p:txBody>
      </p:sp>
      <p:sp>
        <p:nvSpPr>
          <p:cNvPr id="16" name="Shape 13"/>
          <p:cNvSpPr/>
          <p:nvPr/>
        </p:nvSpPr>
        <p:spPr>
          <a:xfrm>
            <a:off x="1047750" y="5334000"/>
            <a:ext cx="16192500" cy="1786830"/>
          </a:xfrm>
          <a:prstGeom prst="roundRect">
            <a:avLst>
              <a:gd name="adj" fmla="val 959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504950" y="5676900"/>
            <a:ext cx="15736443" cy="1139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44"/>
              </a:lnSpc>
              <a:buNone/>
            </a:pPr>
            <a:r>
              <a:rPr lang="en-US" sz="25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变大以后，周围的一切都变小了；变小以后，周围的一切都变大了。 </a:t>
            </a:r>
            <a:pPr algn="l" indent="0" marL="0">
              <a:lnSpc>
                <a:spcPct val="128444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大小一变，位置一变，同一个地方就变成了另一个世界。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47750" y="7239000"/>
            <a:ext cx="7886700" cy="1343025"/>
          </a:xfrm>
          <a:prstGeom prst="roundRect">
            <a:avLst>
              <a:gd name="adj" fmla="val 11348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90650" y="7467600"/>
            <a:ext cx="7416927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在稿纸上记第一项： 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你打算变成什么，还没想好的先写两个候选对象</a:t>
            </a:r>
            <a:endParaRPr lang="en-US" sz="2325" dirty="0"/>
          </a:p>
        </p:txBody>
      </p:sp>
      <p:sp>
        <p:nvSpPr>
          <p:cNvPr id="20" name="Shape 17"/>
          <p:cNvSpPr/>
          <p:nvPr/>
        </p:nvSpPr>
        <p:spPr>
          <a:xfrm>
            <a:off x="9353550" y="7239000"/>
            <a:ext cx="7886700" cy="1343025"/>
          </a:xfrm>
          <a:prstGeom prst="roundRect">
            <a:avLst>
              <a:gd name="adj" fmla="val 11348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9696450" y="7467600"/>
            <a:ext cx="792099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记第二项：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哪一处变化你觉得最神奇，记下那个词</a:t>
            </a:r>
            <a:endParaRPr lang="en-US" sz="2325" dirty="0"/>
          </a:p>
        </p:txBody>
      </p:sp>
      <p:sp>
        <p:nvSpPr>
          <p:cNvPr id="22" name="Text 19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两项都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只写词，不写句子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，时间约一分钟。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786193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984279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两段都写“我变成了一只麻雀”，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哪一段符合要求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204972"/>
            <a:ext cx="7886700" cy="5238750"/>
          </a:xfrm>
          <a:prstGeom prst="roundRect">
            <a:avLst>
              <a:gd name="adj" fmla="val 3273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3214497"/>
            <a:ext cx="7867650" cy="742950"/>
          </a:xfrm>
          <a:custGeom>
            <a:avLst/>
            <a:gdLst/>
            <a:ahLst/>
            <a:cxnLst/>
            <a:rect l="l" t="t" r="r" b="b"/>
            <a:pathLst>
              <a:path w="7867650" h="742950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42950"/>
                </a:lnTo>
                <a:lnTo>
                  <a:pt x="0" y="74295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3214497"/>
            <a:ext cx="7867650" cy="7429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2488" y="3385947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1057275" y="3957447"/>
            <a:ext cx="7867650" cy="44767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419225" y="4281297"/>
            <a:ext cx="7358063" cy="2466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71500" marL="0">
              <a:lnSpc>
                <a:spcPct val="127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变成了一只麻雀。早上我飞到学校，落在教室的窗台上。教室里，同学们正在早读，读得很响亮。老师站在讲台前，手里拿着书，一边讲一边在教室里走。下课铃一响，大家跑到操场上，有的跳绳，有的踢毽子，热闹极了。我看了一上午，觉得学校真是个好地方。</a:t>
            </a:r>
            <a:endParaRPr lang="en-US" sz="2250" dirty="0"/>
          </a:p>
        </p:txBody>
      </p:sp>
      <p:sp>
        <p:nvSpPr>
          <p:cNvPr id="13" name="Shape 9"/>
          <p:cNvSpPr/>
          <p:nvPr/>
        </p:nvSpPr>
        <p:spPr>
          <a:xfrm>
            <a:off x="9353550" y="3204972"/>
            <a:ext cx="7886700" cy="5238750"/>
          </a:xfrm>
          <a:prstGeom prst="roundRect">
            <a:avLst>
              <a:gd name="adj" fmla="val 3273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9363075" y="3214497"/>
            <a:ext cx="7867650" cy="742950"/>
          </a:xfrm>
          <a:custGeom>
            <a:avLst/>
            <a:gdLst/>
            <a:ahLst/>
            <a:cxnLst/>
            <a:rect l="l" t="t" r="r" b="b"/>
            <a:pathLst>
              <a:path w="7867650" h="742950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42950"/>
                </a:lnTo>
                <a:lnTo>
                  <a:pt x="0" y="74295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075" y="3214497"/>
            <a:ext cx="7867650" cy="7429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58288" y="3385947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9363075" y="3957447"/>
            <a:ext cx="7867650" cy="44767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725025" y="4281297"/>
            <a:ext cx="7358063" cy="295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71500" marL="0">
              <a:lnSpc>
                <a:spcPct val="127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变成了一只麻雀。我落在教室的窗台上，窗台比我想的宽得多，像一条马路，上面落着一层灰，我的脚一踩，灰就粘在爪子上。玻璃里面有几十个巨人在张嘴，声音隔着玻璃传出来，闷闷的，震得我的胸口发麻。忽然一个巨人转过头来看我，我吓得一蹬，飞起来了才想起来，我现在是能飞的。</a:t>
            </a:r>
            <a:endParaRPr lang="en-US" sz="2250" dirty="0"/>
          </a:p>
        </p:txBody>
      </p:sp>
      <p:sp>
        <p:nvSpPr>
          <p:cNvPr id="19" name="Text 14"/>
          <p:cNvSpPr/>
          <p:nvPr/>
        </p:nvSpPr>
        <p:spPr>
          <a:xfrm>
            <a:off x="1047750" y="2395728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先读一读这两段，再说一说：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你选哪一段，理由是什么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379446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9395371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第一段写的都是真事，可是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麻雀的眼睛没有用上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3909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238500"/>
            <a:ext cx="9634157" cy="103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早读、下课、跳绳、踢毽子，这几样确实看准了，都是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真会发生的事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1047750" y="4727972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575572"/>
            <a:ext cx="905256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可是每一句换成一个人趴在窗台上看，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一个字都不用改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1047750" y="5567958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5415558"/>
            <a:ext cx="565785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所以它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不符合今天这个题目的要求</a:t>
            </a:r>
            <a:endParaRPr lang="en-US" sz="27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333750"/>
            <a:ext cx="4953000" cy="40005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47750" y="7814370"/>
            <a:ext cx="16192500" cy="1043880"/>
          </a:xfrm>
          <a:prstGeom prst="roundRect">
            <a:avLst>
              <a:gd name="adj" fmla="val 16424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1466850" y="8100120"/>
            <a:ext cx="168897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判断一段话有没有换上它的眼睛，有一个办法：</a:t>
            </a:r>
            <a:pPr algn="l" indent="0" marL="0">
              <a:lnSpc>
                <a:spcPct val="11809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把这几句换成一个人来写，看要不要改</a:t>
            </a:r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真事写清楚了，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不等于换上了它的眼睛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56595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50052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第二段里，哪几句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只有一只麻雀才看得出来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16192500" cy="3990975"/>
          </a:xfrm>
          <a:prstGeom prst="roundRect">
            <a:avLst>
              <a:gd name="adj" fmla="val 3341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962275"/>
            <a:ext cx="16173450" cy="771525"/>
          </a:xfrm>
          <a:custGeom>
            <a:avLst/>
            <a:gdLst/>
            <a:ahLst/>
            <a:cxnLst/>
            <a:rect l="l" t="t" r="r" b="b"/>
            <a:pathLst>
              <a:path w="16173450" h="771525">
                <a:moveTo>
                  <a:pt x="133350" y="0"/>
                </a:moveTo>
                <a:lnTo>
                  <a:pt x="16040100" y="0"/>
                </a:lnTo>
                <a:arcTo hR="133350" wR="133350" stAng="16200000" swAng="5400000"/>
                <a:lnTo>
                  <a:pt x="16173450" y="771525"/>
                </a:lnTo>
                <a:lnTo>
                  <a:pt x="0" y="771525"/>
                </a:lnTo>
                <a:lnTo>
                  <a:pt x="0" y="133350"/>
                </a:lnTo>
                <a:arcTo hR="133350" wR="1333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2962275"/>
            <a:ext cx="16173450" cy="7715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62075" y="3152775"/>
            <a:ext cx="918152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第二段里的句子</a:t>
            </a:r>
            <a:endParaRPr lang="en-US" sz="2325" dirty="0"/>
          </a:p>
        </p:txBody>
      </p:sp>
      <p:sp>
        <p:nvSpPr>
          <p:cNvPr id="11" name="Text 7"/>
          <p:cNvSpPr/>
          <p:nvPr/>
        </p:nvSpPr>
        <p:spPr>
          <a:xfrm>
            <a:off x="10868025" y="3152775"/>
            <a:ext cx="62579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为什么只有它才会遇到</a:t>
            </a:r>
            <a:endParaRPr lang="en-US" sz="2325" dirty="0"/>
          </a:p>
        </p:txBody>
      </p:sp>
      <p:sp>
        <p:nvSpPr>
          <p:cNvPr id="12" name="Shape 8"/>
          <p:cNvSpPr/>
          <p:nvPr/>
        </p:nvSpPr>
        <p:spPr>
          <a:xfrm>
            <a:off x="1057275" y="3733800"/>
            <a:ext cx="16173450" cy="8001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1362075" y="3943350"/>
            <a:ext cx="978598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窗台比我想的宽得多，像一条马路</a:t>
            </a:r>
            <a:endParaRPr lang="en-US" sz="2250" dirty="0"/>
          </a:p>
        </p:txBody>
      </p:sp>
      <p:sp>
        <p:nvSpPr>
          <p:cNvPr id="14" name="Shape 10"/>
          <p:cNvSpPr/>
          <p:nvPr/>
        </p:nvSpPr>
        <p:spPr>
          <a:xfrm>
            <a:off x="10563225" y="3733800"/>
            <a:ext cx="9525" cy="8001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10877550" y="3943350"/>
            <a:ext cx="665321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它小，所以周围的一切看起来都很大</a:t>
            </a:r>
            <a:endParaRPr lang="en-US" sz="2250" dirty="0"/>
          </a:p>
        </p:txBody>
      </p:sp>
      <p:sp>
        <p:nvSpPr>
          <p:cNvPr id="16" name="Text 12"/>
          <p:cNvSpPr/>
          <p:nvPr/>
        </p:nvSpPr>
        <p:spPr>
          <a:xfrm>
            <a:off x="1362075" y="4743450"/>
            <a:ext cx="918152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脚一踩，灰就粘在爪子上</a:t>
            </a:r>
            <a:endParaRPr lang="en-US" sz="2250" dirty="0"/>
          </a:p>
        </p:txBody>
      </p:sp>
      <p:sp>
        <p:nvSpPr>
          <p:cNvPr id="17" name="Shape 13"/>
          <p:cNvSpPr/>
          <p:nvPr/>
        </p:nvSpPr>
        <p:spPr>
          <a:xfrm>
            <a:off x="10563225" y="4533900"/>
            <a:ext cx="9525" cy="8001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0877550" y="4743450"/>
            <a:ext cx="665321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它有爪子，是人没有的</a:t>
            </a:r>
            <a:endParaRPr lang="en-US" sz="2250" dirty="0"/>
          </a:p>
        </p:txBody>
      </p:sp>
      <p:sp>
        <p:nvSpPr>
          <p:cNvPr id="19" name="Shape 15"/>
          <p:cNvSpPr/>
          <p:nvPr/>
        </p:nvSpPr>
        <p:spPr>
          <a:xfrm>
            <a:off x="1057275" y="5334000"/>
            <a:ext cx="16173450" cy="8001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1362075" y="5543550"/>
            <a:ext cx="978598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读书声闷闷的，震得我的胸口发麻</a:t>
            </a:r>
            <a:endParaRPr lang="en-US" sz="2250" dirty="0"/>
          </a:p>
        </p:txBody>
      </p:sp>
      <p:sp>
        <p:nvSpPr>
          <p:cNvPr id="21" name="Shape 17"/>
          <p:cNvSpPr/>
          <p:nvPr/>
        </p:nvSpPr>
        <p:spPr>
          <a:xfrm>
            <a:off x="10563225" y="5334000"/>
            <a:ext cx="9525" cy="8001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10877550" y="5543550"/>
            <a:ext cx="665321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身子小，声音传到身上就成了震动</a:t>
            </a:r>
            <a:endParaRPr lang="en-US" sz="2250" dirty="0"/>
          </a:p>
        </p:txBody>
      </p:sp>
      <p:sp>
        <p:nvSpPr>
          <p:cNvPr id="23" name="Text 19"/>
          <p:cNvSpPr/>
          <p:nvPr/>
        </p:nvSpPr>
        <p:spPr>
          <a:xfrm>
            <a:off x="1362075" y="6343650"/>
            <a:ext cx="918152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吓得一蹬，飞起来了</a:t>
            </a:r>
            <a:endParaRPr lang="en-US" sz="2250" dirty="0"/>
          </a:p>
        </p:txBody>
      </p:sp>
      <p:sp>
        <p:nvSpPr>
          <p:cNvPr id="24" name="Shape 20"/>
          <p:cNvSpPr/>
          <p:nvPr/>
        </p:nvSpPr>
        <p:spPr>
          <a:xfrm>
            <a:off x="10563225" y="6134100"/>
            <a:ext cx="9525" cy="8001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10877550" y="6343650"/>
            <a:ext cx="665321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它是一只鸟，能飞</a:t>
            </a:r>
            <a:endParaRPr lang="en-US" sz="2250" dirty="0"/>
          </a:p>
        </p:txBody>
      </p:sp>
      <p:sp>
        <p:nvSpPr>
          <p:cNvPr id="26" name="Shape 22"/>
          <p:cNvSpPr/>
          <p:nvPr/>
        </p:nvSpPr>
        <p:spPr>
          <a:xfrm>
            <a:off x="1047750" y="7905750"/>
            <a:ext cx="16192500" cy="952500"/>
          </a:xfrm>
          <a:prstGeom prst="roundRect">
            <a:avLst>
              <a:gd name="adj" fmla="val 16000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1428750" y="8153400"/>
            <a:ext cx="169735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第二段从头到尾都是</a:t>
            </a:r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麻雀在看、麻雀在感觉</a:t>
            </a:r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。这就是今天的写法：变成了它，就换上它的一双眼睛看世界。</a:t>
            </a:r>
            <a:endParaRPr lang="en-US" sz="2400" dirty="0"/>
          </a:p>
        </p:txBody>
      </p:sp>
      <p:sp>
        <p:nvSpPr>
          <p:cNvPr id="28" name="Text 24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开课时大家认出老师是一扇门，也是同一个道理：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被推、撞墙、靠墙，都是一扇门才会遇到的事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34585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15842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换一双它的眼睛看世界，要做到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4290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17861" y="35052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838325" y="3467100"/>
            <a:ext cx="762295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从头到尾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用“我”说话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，不跳回人的角度来评说</a:t>
            </a:r>
            <a:endParaRPr lang="en-US" sz="2775" dirty="0"/>
          </a:p>
        </p:txBody>
      </p:sp>
      <p:sp>
        <p:nvSpPr>
          <p:cNvPr id="11" name="Shape 8"/>
          <p:cNvSpPr/>
          <p:nvPr/>
        </p:nvSpPr>
        <p:spPr>
          <a:xfrm>
            <a:off x="1047750" y="441483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217861" y="449103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838325" y="4481513"/>
            <a:ext cx="21907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只写这个身份</a:t>
            </a:r>
            <a:endParaRPr lang="en-US" sz="2775" dirty="0"/>
          </a:p>
        </p:txBody>
      </p:sp>
      <p:sp>
        <p:nvSpPr>
          <p:cNvPr id="14" name="Text 11"/>
          <p:cNvSpPr/>
          <p:nvPr/>
        </p:nvSpPr>
        <p:spPr>
          <a:xfrm>
            <a:off x="3952875" y="4481513"/>
            <a:ext cx="3489008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看得到、做得到的事</a:t>
            </a:r>
            <a:endParaRPr lang="en-US" sz="2775" dirty="0"/>
          </a:p>
        </p:txBody>
      </p:sp>
      <p:sp>
        <p:nvSpPr>
          <p:cNvPr id="15" name="Text 12"/>
          <p:cNvSpPr/>
          <p:nvPr/>
        </p:nvSpPr>
        <p:spPr>
          <a:xfrm>
            <a:off x="7124700" y="4481513"/>
            <a:ext cx="362997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，也要写它做不到的事</a:t>
            </a:r>
            <a:endParaRPr lang="en-US" sz="2775" dirty="0"/>
          </a:p>
        </p:txBody>
      </p:sp>
      <p:sp>
        <p:nvSpPr>
          <p:cNvPr id="16" name="Text 13"/>
          <p:cNvSpPr/>
          <p:nvPr/>
        </p:nvSpPr>
        <p:spPr>
          <a:xfrm>
            <a:off x="1838325" y="5114925"/>
            <a:ext cx="1234249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教材举的路灯的例子：它无法移动，正因为不能动，才能天天看到一整条路上的故事。</a:t>
            </a:r>
            <a:endParaRPr lang="en-US" sz="2325" dirty="0"/>
          </a:p>
        </p:txBody>
      </p:sp>
      <p:sp>
        <p:nvSpPr>
          <p:cNvPr id="17" name="Shape 14"/>
          <p:cNvSpPr/>
          <p:nvPr/>
        </p:nvSpPr>
        <p:spPr>
          <a:xfrm>
            <a:off x="1047750" y="597693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217861" y="605313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1838325" y="6043613"/>
            <a:ext cx="290398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大小和位置变了，</a:t>
            </a:r>
            <a:endParaRPr lang="en-US" sz="2775" dirty="0"/>
          </a:p>
        </p:txBody>
      </p:sp>
      <p:sp>
        <p:nvSpPr>
          <p:cNvPr id="20" name="Text 17"/>
          <p:cNvSpPr/>
          <p:nvPr/>
        </p:nvSpPr>
        <p:spPr>
          <a:xfrm>
            <a:off x="4657725" y="6043613"/>
            <a:ext cx="310134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看到的世界跟着变</a:t>
            </a:r>
            <a:endParaRPr lang="en-US" sz="2775" dirty="0"/>
          </a:p>
        </p:txBody>
      </p:sp>
      <p:sp>
        <p:nvSpPr>
          <p:cNvPr id="21" name="Text 18"/>
          <p:cNvSpPr/>
          <p:nvPr/>
        </p:nvSpPr>
        <p:spPr>
          <a:xfrm>
            <a:off x="1838325" y="6677025"/>
            <a:ext cx="714565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窗台成了马路，读书声成了震得胸口发麻的声音。</a:t>
            </a:r>
            <a:endParaRPr lang="en-US" sz="2325" dirty="0"/>
          </a:p>
        </p:txBody>
      </p:sp>
      <p:sp>
        <p:nvSpPr>
          <p:cNvPr id="22" name="Text 19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做到这三条，读的人就知道，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说话的是一只麻雀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93911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71100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最神奇的那一处，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拆成三步写详细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5168801" cy="1905000"/>
          </a:xfrm>
          <a:prstGeom prst="roundRect">
            <a:avLst>
              <a:gd name="adj" fmla="val 900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0175" y="3190875"/>
            <a:ext cx="491034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45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1400175" y="3933825"/>
            <a:ext cx="4910346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它先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看见了什么</a:t>
            </a:r>
            <a:endParaRPr lang="en-US" sz="2475" dirty="0"/>
          </a:p>
        </p:txBody>
      </p:sp>
      <p:sp>
        <p:nvSpPr>
          <p:cNvPr id="10" name="Shape 7"/>
          <p:cNvSpPr/>
          <p:nvPr/>
        </p:nvSpPr>
        <p:spPr>
          <a:xfrm>
            <a:off x="6559451" y="2857500"/>
            <a:ext cx="5168950" cy="1905000"/>
          </a:xfrm>
          <a:prstGeom prst="roundRect">
            <a:avLst>
              <a:gd name="adj" fmla="val 900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911876" y="3190875"/>
            <a:ext cx="491051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45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4500" dirty="0"/>
          </a:p>
        </p:txBody>
      </p:sp>
      <p:sp>
        <p:nvSpPr>
          <p:cNvPr id="12" name="Text 9"/>
          <p:cNvSpPr/>
          <p:nvPr/>
        </p:nvSpPr>
        <p:spPr>
          <a:xfrm>
            <a:off x="6911876" y="3933825"/>
            <a:ext cx="491051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身体有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什么反应</a:t>
            </a:r>
            <a:endParaRPr lang="en-US" sz="2475" dirty="0"/>
          </a:p>
        </p:txBody>
      </p:sp>
      <p:sp>
        <p:nvSpPr>
          <p:cNvPr id="13" name="Shape 10"/>
          <p:cNvSpPr/>
          <p:nvPr/>
        </p:nvSpPr>
        <p:spPr>
          <a:xfrm>
            <a:off x="12071300" y="2857500"/>
            <a:ext cx="5168950" cy="1905000"/>
          </a:xfrm>
          <a:prstGeom prst="roundRect">
            <a:avLst>
              <a:gd name="adj" fmla="val 900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423725" y="3190875"/>
            <a:ext cx="491051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45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4500" dirty="0"/>
          </a:p>
        </p:txBody>
      </p:sp>
      <p:sp>
        <p:nvSpPr>
          <p:cNvPr id="15" name="Text 12"/>
          <p:cNvSpPr/>
          <p:nvPr/>
        </p:nvSpPr>
        <p:spPr>
          <a:xfrm>
            <a:off x="12423725" y="3933825"/>
            <a:ext cx="491051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</a:t>
            </a:r>
            <a:pPr algn="l" indent="0" marL="0">
              <a:lnSpc>
                <a:spcPct val="10875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又看见了什么</a:t>
            </a:r>
            <a:endParaRPr lang="en-US" sz="2475" dirty="0"/>
          </a:p>
        </p:txBody>
      </p:sp>
      <p:sp>
        <p:nvSpPr>
          <p:cNvPr id="16" name="Shape 13"/>
          <p:cNvSpPr/>
          <p:nvPr/>
        </p:nvSpPr>
        <p:spPr>
          <a:xfrm>
            <a:off x="1047750" y="5334000"/>
            <a:ext cx="16192500" cy="952500"/>
          </a:xfrm>
          <a:prstGeom prst="roundRect">
            <a:avLst>
              <a:gd name="adj" fmla="val 16000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428750" y="5581650"/>
            <a:ext cx="169735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现在试一试，材料用第一段：把“下课铃一响，大家跑到操场上”，</a:t>
            </a:r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改成麻雀会怎么听、怎么动</a:t>
            </a:r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1047750" y="6667500"/>
            <a:ext cx="16192500" cy="2169616"/>
          </a:xfrm>
          <a:prstGeom prst="roundRect">
            <a:avLst>
              <a:gd name="adj" fmla="val 7902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485900" y="6972300"/>
            <a:ext cx="168478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</a:t>
            </a:r>
            <a:endParaRPr lang="en-US" sz="2175" dirty="0"/>
          </a:p>
        </p:txBody>
      </p:sp>
      <p:sp>
        <p:nvSpPr>
          <p:cNvPr id="20" name="Text 17"/>
          <p:cNvSpPr/>
          <p:nvPr/>
        </p:nvSpPr>
        <p:spPr>
          <a:xfrm>
            <a:off x="1485900" y="7496175"/>
            <a:ext cx="15775686" cy="1074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24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一阵响声从墙里钻出来，我的爪子一滑，差点从窗台上掉下去。我扑腾着飞到旗杆顶上，往下一看，好多脑袋从楼里探出来，散到操场上。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听到什么、身体先有什么反应、飞起来又看见了什么，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三步说全，这一刻就写详细了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变形视角表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1428750"/>
            <a:ext cx="272415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71"/>
              </a:lnSpc>
              <a:buNone/>
            </a:pPr>
            <a:r>
              <a:rPr lang="en-US" sz="39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变形视角表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1047750" y="2133600"/>
            <a:ext cx="132016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每格只写关键词（老师选的题目是《夜晚，一棵大树下的故事》，变成小区门口的一棵老槐树）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047750" y="2590800"/>
            <a:ext cx="16192500" cy="4943475"/>
          </a:xfrm>
          <a:prstGeom prst="roundRect">
            <a:avLst>
              <a:gd name="adj" fmla="val 2697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600325"/>
            <a:ext cx="16173450" cy="723900"/>
          </a:xfrm>
          <a:custGeom>
            <a:avLst/>
            <a:gdLst/>
            <a:ahLst/>
            <a:cxnLst/>
            <a:rect l="l" t="t" r="r" b="b"/>
            <a:pathLst>
              <a:path w="16173450" h="723900">
                <a:moveTo>
                  <a:pt x="133350" y="0"/>
                </a:moveTo>
                <a:lnTo>
                  <a:pt x="16040100" y="0"/>
                </a:lnTo>
                <a:arcTo hR="133350" wR="133350" stAng="16200000" swAng="5400000"/>
                <a:lnTo>
                  <a:pt x="16173450" y="723900"/>
                </a:lnTo>
                <a:lnTo>
                  <a:pt x="0" y="723900"/>
                </a:lnTo>
                <a:lnTo>
                  <a:pt x="0" y="133350"/>
                </a:lnTo>
                <a:arcTo hR="133350" wR="1333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2600325"/>
            <a:ext cx="16173450" cy="723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62075" y="2771775"/>
            <a:ext cx="52768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2250" dirty="0"/>
          </a:p>
        </p:txBody>
      </p:sp>
      <p:sp>
        <p:nvSpPr>
          <p:cNvPr id="11" name="Text 7"/>
          <p:cNvSpPr/>
          <p:nvPr/>
        </p:nvSpPr>
        <p:spPr>
          <a:xfrm>
            <a:off x="7077075" y="2771775"/>
            <a:ext cx="1016260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2250" dirty="0"/>
          </a:p>
        </p:txBody>
      </p:sp>
      <p:sp>
        <p:nvSpPr>
          <p:cNvPr id="12" name="Shape 8"/>
          <p:cNvSpPr/>
          <p:nvPr/>
        </p:nvSpPr>
        <p:spPr>
          <a:xfrm>
            <a:off x="1057275" y="3324225"/>
            <a:ext cx="16173450" cy="6381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1362075" y="3457575"/>
            <a:ext cx="56159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我变成了</a:t>
            </a:r>
            <a:endParaRPr lang="en-US" sz="2175" dirty="0"/>
          </a:p>
        </p:txBody>
      </p:sp>
      <p:sp>
        <p:nvSpPr>
          <p:cNvPr id="14" name="Shape 10"/>
          <p:cNvSpPr/>
          <p:nvPr/>
        </p:nvSpPr>
        <p:spPr>
          <a:xfrm>
            <a:off x="6772275" y="3324225"/>
            <a:ext cx="9525" cy="6381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086600" y="3457575"/>
            <a:ext cx="108232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小区门口的一棵老槐树</a:t>
            </a:r>
            <a:endParaRPr lang="en-US" sz="2175" dirty="0"/>
          </a:p>
        </p:txBody>
      </p:sp>
      <p:sp>
        <p:nvSpPr>
          <p:cNvPr id="16" name="Text 12"/>
          <p:cNvSpPr/>
          <p:nvPr/>
        </p:nvSpPr>
        <p:spPr>
          <a:xfrm>
            <a:off x="1362075" y="4095750"/>
            <a:ext cx="52768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多大 · 在哪里 · 能动吗</a:t>
            </a:r>
            <a:endParaRPr lang="en-US" sz="2175" dirty="0"/>
          </a:p>
        </p:txBody>
      </p:sp>
      <p:sp>
        <p:nvSpPr>
          <p:cNvPr id="17" name="Shape 13"/>
          <p:cNvSpPr/>
          <p:nvPr/>
        </p:nvSpPr>
        <p:spPr>
          <a:xfrm>
            <a:off x="6772275" y="3962400"/>
            <a:ext cx="9525" cy="6381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7086600" y="4095750"/>
            <a:ext cx="108232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比路灯高 · 门口 · 不能动，只能让叶子响</a:t>
            </a:r>
            <a:endParaRPr lang="en-US" sz="2175" dirty="0"/>
          </a:p>
        </p:txBody>
      </p:sp>
      <p:sp>
        <p:nvSpPr>
          <p:cNvPr id="19" name="Shape 15"/>
          <p:cNvSpPr/>
          <p:nvPr/>
        </p:nvSpPr>
        <p:spPr>
          <a:xfrm>
            <a:off x="1057275" y="4600575"/>
            <a:ext cx="16173450" cy="100965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1362075" y="4733925"/>
            <a:ext cx="56159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只有我才看得到、做得到的（三样）</a:t>
            </a:r>
            <a:endParaRPr lang="en-US" sz="2175" dirty="0"/>
          </a:p>
        </p:txBody>
      </p:sp>
      <p:sp>
        <p:nvSpPr>
          <p:cNvPr id="21" name="Shape 17"/>
          <p:cNvSpPr/>
          <p:nvPr/>
        </p:nvSpPr>
        <p:spPr>
          <a:xfrm>
            <a:off x="6772275" y="4600575"/>
            <a:ext cx="9525" cy="100965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7086600" y="4733925"/>
            <a:ext cx="1013450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根能感到脚步的震动；往下看人只剩帽子和肩膀；背靠上来，隔着树皮能感觉到起伏</a:t>
            </a:r>
            <a:endParaRPr lang="en-US" sz="2175" dirty="0"/>
          </a:p>
        </p:txBody>
      </p:sp>
      <p:sp>
        <p:nvSpPr>
          <p:cNvPr id="23" name="Text 19"/>
          <p:cNvSpPr/>
          <p:nvPr/>
        </p:nvSpPr>
        <p:spPr>
          <a:xfrm>
            <a:off x="1362075" y="5743575"/>
            <a:ext cx="52768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做不到的一件事</a:t>
            </a:r>
            <a:endParaRPr lang="en-US" sz="2175" dirty="0"/>
          </a:p>
        </p:txBody>
      </p:sp>
      <p:sp>
        <p:nvSpPr>
          <p:cNvPr id="24" name="Shape 20"/>
          <p:cNvSpPr/>
          <p:nvPr/>
        </p:nvSpPr>
        <p:spPr>
          <a:xfrm>
            <a:off x="6772275" y="5610225"/>
            <a:ext cx="9525" cy="6381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7086600" y="5743575"/>
            <a:ext cx="108232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想把枝子挪过去挡露水，挪不动</a:t>
            </a:r>
            <a:endParaRPr lang="en-US" sz="2175" dirty="0"/>
          </a:p>
        </p:txBody>
      </p:sp>
      <p:sp>
        <p:nvSpPr>
          <p:cNvPr id="26" name="Shape 22"/>
          <p:cNvSpPr/>
          <p:nvPr/>
        </p:nvSpPr>
        <p:spPr>
          <a:xfrm>
            <a:off x="1057275" y="6248400"/>
            <a:ext cx="16173450" cy="6381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1362075" y="6381750"/>
            <a:ext cx="56159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最神奇的一处（要写详细的那一刻）</a:t>
            </a:r>
            <a:endParaRPr lang="en-US" sz="2175" dirty="0"/>
          </a:p>
        </p:txBody>
      </p:sp>
      <p:sp>
        <p:nvSpPr>
          <p:cNvPr id="28" name="Shape 24"/>
          <p:cNvSpPr/>
          <p:nvPr/>
        </p:nvSpPr>
        <p:spPr>
          <a:xfrm>
            <a:off x="6772275" y="6248400"/>
            <a:ext cx="9525" cy="6381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7086600" y="6381750"/>
            <a:ext cx="108232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收纸箱的老人夜里靠着我睡着了</a:t>
            </a:r>
            <a:endParaRPr lang="en-US" sz="2175" dirty="0"/>
          </a:p>
        </p:txBody>
      </p:sp>
      <p:sp>
        <p:nvSpPr>
          <p:cNvPr id="30" name="Text 26"/>
          <p:cNvSpPr/>
          <p:nvPr/>
        </p:nvSpPr>
        <p:spPr>
          <a:xfrm>
            <a:off x="1362075" y="7019925"/>
            <a:ext cx="52768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结尾停在哪一处感受或画面上</a:t>
            </a:r>
            <a:endParaRPr lang="en-US" sz="2175" dirty="0"/>
          </a:p>
        </p:txBody>
      </p:sp>
      <p:sp>
        <p:nvSpPr>
          <p:cNvPr id="31" name="Shape 27"/>
          <p:cNvSpPr/>
          <p:nvPr/>
        </p:nvSpPr>
        <p:spPr>
          <a:xfrm>
            <a:off x="6772275" y="6886575"/>
            <a:ext cx="9525" cy="6381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7086600" y="7019925"/>
            <a:ext cx="108232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三轮车驶远，响声消失，余响仿佛在枝叶间回荡</a:t>
            </a:r>
            <a:endParaRPr lang="en-US" sz="2175" dirty="0"/>
          </a:p>
        </p:txBody>
      </p:sp>
      <p:sp>
        <p:nvSpPr>
          <p:cNvPr id="33" name="Shape 29"/>
          <p:cNvSpPr/>
          <p:nvPr/>
        </p:nvSpPr>
        <p:spPr>
          <a:xfrm>
            <a:off x="1047750" y="7753350"/>
            <a:ext cx="16192500" cy="1314450"/>
          </a:xfrm>
          <a:prstGeom prst="roundRect">
            <a:avLst>
              <a:gd name="adj" fmla="val 13043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1466850" y="7981950"/>
            <a:ext cx="1581492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六格里最重要的是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第三格和第五格 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：第三格定的是它和人不一样的地方，第五格定的是整篇要写详细的那一刻。第四格不要空着。</a:t>
            </a:r>
            <a:endParaRPr lang="en-US" sz="2250" dirty="0"/>
          </a:p>
        </p:txBody>
      </p:sp>
      <p:sp>
        <p:nvSpPr>
          <p:cNvPr id="35" name="Text 31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第六格可以先空着，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看完老师的示范文再定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变形视角表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34571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158261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轮到你了：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先填表，再四人一组互说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1432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21945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200400"/>
            <a:ext cx="9231916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只写关键词。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第一、第三、第五格一定要定下来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，缺一格，动笔就会不顺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449103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56723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548188"/>
            <a:ext cx="9231916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构思的方式可以自己定：照表填、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在旁边添一格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，或者在稿纸背面按自己的顺序列提纲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583882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915025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895975"/>
            <a:ext cx="8584406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前后桌四人一组，轮流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只说第一格和第三格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，每人半分钟</a:t>
            </a:r>
            <a:endParaRPr lang="en-US" sz="262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238500"/>
            <a:ext cx="4953000" cy="409575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7477125"/>
            <a:ext cx="16192500" cy="1381125"/>
          </a:xfrm>
          <a:prstGeom prst="roundRect">
            <a:avLst>
              <a:gd name="adj" fmla="val 1103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28750" y="7724775"/>
            <a:ext cx="1589341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听的三位同学各帮他想一样：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变成了这一事物，它还能看见什么、感觉到什么，是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人做不到的 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。一个人站在同一个地方也能做到的，就不记。</a:t>
            </a:r>
            <a:endParaRPr lang="en-US" sz="2325" dirty="0"/>
          </a:p>
        </p:txBody>
      </p:sp>
      <p:sp>
        <p:nvSpPr>
          <p:cNvPr id="19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听到的比自己原来写的更贴合这一事物，就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换进第三格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；没有要换的，把第五格再添一处细节。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10523339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1562100"/>
            <a:ext cx="1073747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老师照着这张表，写成了</a:t>
            </a:r>
            <a:pPr algn="l" indent="0" marL="0"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《夜晚，一棵大树下的故事》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400300"/>
            <a:ext cx="16192500" cy="6743700"/>
          </a:xfrm>
          <a:prstGeom prst="roundRect">
            <a:avLst>
              <a:gd name="adj" fmla="val 2542"/>
            </a:avLst>
          </a:prstGeom>
          <a:solidFill>
            <a:srgbClr val="F7F5F2"/>
          </a:solidFill>
          <a:ln/>
        </p:spPr>
      </p:sp>
      <p:sp>
        <p:nvSpPr>
          <p:cNvPr id="8" name="Text 5"/>
          <p:cNvSpPr/>
          <p:nvPr/>
        </p:nvSpPr>
        <p:spPr>
          <a:xfrm>
            <a:off x="1600200" y="2724150"/>
            <a:ext cx="15540228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5245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我是小区门口的一棵老槐树。白天门口太吵，进进出出的人和车把我的根震得发麻，我顾不上细看。到了夜里，路灯亮起来，门口安静了，我才把周边看了个清楚。 </a:t>
            </a:r>
            <a:pPr algn="just" indent="55245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从我这个高度往下看，人只剩一顶帽子和两个肩膀。</a:t>
            </a:r>
            <a:endParaRPr lang="en-US" sz="2175" dirty="0"/>
          </a:p>
        </p:txBody>
      </p:sp>
      <p:sp>
        <p:nvSpPr>
          <p:cNvPr id="9" name="Text 6"/>
          <p:cNvSpPr/>
          <p:nvPr/>
        </p:nvSpPr>
        <p:spPr>
          <a:xfrm>
            <a:off x="1600200" y="3760291"/>
            <a:ext cx="15540228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5245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我不能动。 </a:t>
            </a:r>
            <a:pPr algn="just" indent="55245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这一点，变成树的第一天我就知道了。风来的时候，我只能让叶子响一响；有人靠在我身上，我只能站着让他靠。不过我有别的本事： </a:t>
            </a:r>
            <a:pPr algn="just" indent="55245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我的根在地底下铺得很远，谁从门口走过，走得急还是走得慢，我从脚步的震动里就能分出来。</a:t>
            </a:r>
            <a:endParaRPr lang="en-US" sz="2175" dirty="0"/>
          </a:p>
        </p:txBody>
      </p:sp>
      <p:sp>
        <p:nvSpPr>
          <p:cNvPr id="10" name="Text 7"/>
          <p:cNvSpPr/>
          <p:nvPr/>
        </p:nvSpPr>
        <p:spPr>
          <a:xfrm>
            <a:off x="1600200" y="4796433"/>
            <a:ext cx="15540228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5245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那天夜里十一点多，一辆三轮车停在我的树下，链条哗啦响了一下，就安静下来了。是白天在小区里收纸箱的那位老人。他没有回家，把车斗里的纸箱理了理，拿一件外套盖在身上，靠着我的树干坐了下来。 </a:t>
            </a:r>
            <a:pPr algn="just" indent="55245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他的背贴在我身上，隔着一层树皮，我能感觉到他的背一起一伏。 </a:t>
            </a:r>
            <a:pPr algn="just" indent="55245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慢慢地，起伏得越来越慢。他睡着了。</a:t>
            </a:r>
            <a:endParaRPr lang="en-US" sz="2175" dirty="0"/>
          </a:p>
        </p:txBody>
      </p:sp>
      <p:sp>
        <p:nvSpPr>
          <p:cNvPr id="11" name="Text 8"/>
          <p:cNvSpPr/>
          <p:nvPr/>
        </p:nvSpPr>
        <p:spPr>
          <a:xfrm>
            <a:off x="1047750" y="9410700"/>
            <a:ext cx="44986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大小位置变了，看到的世界跟着变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5518398" y="9410700"/>
            <a:ext cx="28012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只有它才做得到的事</a:t>
            </a:r>
            <a:endParaRPr lang="en-US" sz="2025" dirty="0"/>
          </a:p>
        </p:txBody>
      </p:sp>
      <p:sp>
        <p:nvSpPr>
          <p:cNvPr id="13" name="Text 10"/>
          <p:cNvSpPr/>
          <p:nvPr/>
        </p:nvSpPr>
        <p:spPr>
          <a:xfrm>
            <a:off x="8445996" y="9410700"/>
            <a:ext cx="19525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它做不到的事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10602069" y="9410700"/>
            <a:ext cx="22354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结尾停在感受上</a:t>
            </a:r>
            <a:endParaRPr lang="en-US" sz="20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7269659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1562100"/>
            <a:ext cx="71584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示范文（接上页）：</a:t>
            </a:r>
            <a:pPr algn="l" indent="0" marL="0"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最神奇的那一夜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400300"/>
            <a:ext cx="16192500" cy="6743700"/>
          </a:xfrm>
          <a:prstGeom prst="roundRect">
            <a:avLst>
              <a:gd name="adj" fmla="val 2542"/>
            </a:avLst>
          </a:prstGeom>
          <a:solidFill>
            <a:srgbClr val="F7F5F2"/>
          </a:solidFill>
          <a:ln/>
        </p:spPr>
      </p:sp>
      <p:sp>
        <p:nvSpPr>
          <p:cNvPr id="8" name="Text 5"/>
          <p:cNvSpPr/>
          <p:nvPr/>
        </p:nvSpPr>
        <p:spPr>
          <a:xfrm>
            <a:off x="1600200" y="2724150"/>
            <a:ext cx="15540228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5245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后半夜起了露水。我的叶子一片一片变凉，水珠顺着叶尖往下滴，有一滴落在他的帽子上，他没有醒。 </a:t>
            </a:r>
            <a:pPr algn="just" indent="55245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我想把挂着露水的枝叶挪开他的头顶，可是我挪不动。 </a:t>
            </a:r>
            <a:pPr algn="just" indent="55245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好在他头顶正是我叶子最密的地方，露水都结在外面那一层叶子上，水珠大多从叶尖滴到了外面的石板上。</a:t>
            </a:r>
            <a:endParaRPr lang="en-US" sz="2175" dirty="0"/>
          </a:p>
        </p:txBody>
      </p:sp>
      <p:sp>
        <p:nvSpPr>
          <p:cNvPr id="9" name="Text 6"/>
          <p:cNvSpPr/>
          <p:nvPr/>
        </p:nvSpPr>
        <p:spPr>
          <a:xfrm>
            <a:off x="1600200" y="4202162"/>
            <a:ext cx="15540228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5245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凌晨四点多，脚步声从马路那边过来，一步一步，走得很慢。是一个穿黄马甲的人，扫帚拖在地上，沙沙地响。他扫到我跟前，停了一下，把扫帚提起来，绕过三轮车，从我的另一边扫过去了。 </a:t>
            </a:r>
            <a:pPr algn="just" indent="55245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扫帚蹭到我拱出地面的细根，我痒了一下。</a:t>
            </a:r>
            <a:endParaRPr lang="en-US" sz="2175" dirty="0"/>
          </a:p>
        </p:txBody>
      </p:sp>
      <p:sp>
        <p:nvSpPr>
          <p:cNvPr id="10" name="Text 7"/>
          <p:cNvSpPr/>
          <p:nvPr/>
        </p:nvSpPr>
        <p:spPr>
          <a:xfrm>
            <a:off x="1600200" y="5238304"/>
            <a:ext cx="15540228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5245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快亮的时候，老人醒了。他站起来，拍了拍裤子上的落叶，把那件外套叠好放进车斗，回头看了我一眼，像在看一个认识的人。三轮车的链条随着车子的移动又哗啦响起来，响声一点点飘向马路那头，渐渐听不见了。 </a:t>
            </a:r>
            <a:pPr algn="just" indent="55245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可过了好久，那哗啦哗啦的声响，仿佛还在我的枝叶间轻轻回荡。</a:t>
            </a:r>
            <a:endParaRPr lang="en-US" sz="2175" dirty="0"/>
          </a:p>
        </p:txBody>
      </p:sp>
      <p:sp>
        <p:nvSpPr>
          <p:cNvPr id="11" name="Text 8"/>
          <p:cNvSpPr/>
          <p:nvPr/>
        </p:nvSpPr>
        <p:spPr>
          <a:xfrm>
            <a:off x="1047750" y="9410700"/>
            <a:ext cx="44986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大小位置变了，看到的世界跟着变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5518398" y="9410700"/>
            <a:ext cx="280125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只有它才做得到的事</a:t>
            </a:r>
            <a:endParaRPr lang="en-US" sz="2025" dirty="0"/>
          </a:p>
        </p:txBody>
      </p:sp>
      <p:sp>
        <p:nvSpPr>
          <p:cNvPr id="13" name="Text 10"/>
          <p:cNvSpPr/>
          <p:nvPr/>
        </p:nvSpPr>
        <p:spPr>
          <a:xfrm>
            <a:off x="8445996" y="9410700"/>
            <a:ext cx="19525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它做不到的事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10602069" y="9410700"/>
            <a:ext cx="22354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结尾停在感受上</a:t>
            </a:r>
            <a:endParaRPr lang="en-US" sz="20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938963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710839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表上那几个字，在文里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变成了四段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3048000"/>
          </a:xfrm>
          <a:prstGeom prst="roundRect">
            <a:avLst>
              <a:gd name="adj" fmla="val 5625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7867650" cy="742950"/>
          </a:xfrm>
          <a:custGeom>
            <a:avLst/>
            <a:gdLst/>
            <a:ahLst/>
            <a:cxnLst/>
            <a:rect l="l" t="t" r="r" b="b"/>
            <a:pathLst>
              <a:path w="7867650" h="742950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42950"/>
                </a:lnTo>
                <a:lnTo>
                  <a:pt x="0" y="74295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2867025"/>
            <a:ext cx="7867650" cy="7429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2488" y="303847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表上第五格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1057275" y="3609975"/>
            <a:ext cx="7867650" cy="2286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438275" y="4029075"/>
            <a:ext cx="7816215" cy="55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89"/>
              </a:lnSpc>
              <a:buNone/>
            </a:pPr>
            <a:r>
              <a:rPr lang="en-US" sz="25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收纸箱的老人夜里靠着我睡着了</a:t>
            </a:r>
            <a:endParaRPr lang="en-US" sz="2550" dirty="0"/>
          </a:p>
        </p:txBody>
      </p:sp>
      <p:sp>
        <p:nvSpPr>
          <p:cNvPr id="13" name="Shape 9"/>
          <p:cNvSpPr/>
          <p:nvPr/>
        </p:nvSpPr>
        <p:spPr>
          <a:xfrm>
            <a:off x="9353550" y="2857500"/>
            <a:ext cx="7886700" cy="3048000"/>
          </a:xfrm>
          <a:prstGeom prst="roundRect">
            <a:avLst>
              <a:gd name="adj" fmla="val 5625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9363075" y="2867025"/>
            <a:ext cx="7867650" cy="742950"/>
          </a:xfrm>
          <a:custGeom>
            <a:avLst/>
            <a:gdLst/>
            <a:ahLst/>
            <a:cxnLst/>
            <a:rect l="l" t="t" r="r" b="b"/>
            <a:pathLst>
              <a:path w="7867650" h="742950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42950"/>
                </a:lnTo>
                <a:lnTo>
                  <a:pt x="0" y="74295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075" y="2867025"/>
            <a:ext cx="7867650" cy="7429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58288" y="303847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文里多出来的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9363075" y="3609975"/>
            <a:ext cx="7867650" cy="2286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744075" y="3895725"/>
            <a:ext cx="7318820" cy="14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链条响、外套盖在身上、背一起一伏、叶子一片一片变凉、露水滴在帽子上、扫地的人绕过三轮车、扫帚蹭到细根</a:t>
            </a:r>
            <a:endParaRPr lang="en-US" sz="2325" dirty="0"/>
          </a:p>
        </p:txBody>
      </p:sp>
      <p:sp>
        <p:nvSpPr>
          <p:cNvPr id="19" name="Shape 14"/>
          <p:cNvSpPr/>
          <p:nvPr/>
        </p:nvSpPr>
        <p:spPr>
          <a:xfrm>
            <a:off x="1047750" y="6286500"/>
            <a:ext cx="16192500" cy="1684734"/>
          </a:xfrm>
          <a:prstGeom prst="roundRect">
            <a:avLst>
              <a:gd name="adj" fmla="val 10177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1504950" y="6610350"/>
            <a:ext cx="15736443" cy="1075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添的都是</a:t>
            </a:r>
            <a:pPr algn="l" indent="0" marL="0">
              <a:lnSpc>
                <a:spcPct val="12375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那一夜这棵树能感觉到的细节 </a:t>
            </a:r>
            <a:pPr algn="l" indent="0" marL="0">
              <a:lnSpc>
                <a:spcPct val="12375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。从三轮车停下写到天亮，这就是把“老人靠着我睡着了”那一处写详细。</a:t>
            </a:r>
            <a:endParaRPr lang="en-US" sz="2475" dirty="0"/>
          </a:p>
        </p:txBody>
      </p:sp>
      <p:sp>
        <p:nvSpPr>
          <p:cNvPr id="21" name="Text 16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再看第四格：写了它挪不动枝子，紧接着写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它叶子最密的那一边正好在老人头顶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，读的人到这里就信了。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旁批表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379595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939553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每一句用了什么：把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换上它的眼睛的方法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找出来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16192500" cy="5857875"/>
          </a:xfrm>
          <a:prstGeom prst="roundRect">
            <a:avLst>
              <a:gd name="adj" fmla="val 2276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962275"/>
            <a:ext cx="16173450" cy="771525"/>
          </a:xfrm>
          <a:custGeom>
            <a:avLst/>
            <a:gdLst/>
            <a:ahLst/>
            <a:cxnLst/>
            <a:rect l="l" t="t" r="r" b="b"/>
            <a:pathLst>
              <a:path w="16173450" h="771525">
                <a:moveTo>
                  <a:pt x="133350" y="0"/>
                </a:moveTo>
                <a:lnTo>
                  <a:pt x="16040100" y="0"/>
                </a:lnTo>
                <a:arcTo hR="133350" wR="133350" stAng="16200000" swAng="5400000"/>
                <a:lnTo>
                  <a:pt x="16173450" y="771525"/>
                </a:lnTo>
                <a:lnTo>
                  <a:pt x="0" y="771525"/>
                </a:lnTo>
                <a:lnTo>
                  <a:pt x="0" y="133350"/>
                </a:lnTo>
                <a:arcTo hR="133350" wR="1333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2962275"/>
            <a:ext cx="16173450" cy="7715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62075" y="3152775"/>
            <a:ext cx="996638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示范文里的句子</a:t>
            </a:r>
            <a:endParaRPr lang="en-US" sz="2325" dirty="0"/>
          </a:p>
        </p:txBody>
      </p:sp>
      <p:sp>
        <p:nvSpPr>
          <p:cNvPr id="11" name="Text 7"/>
          <p:cNvSpPr/>
          <p:nvPr/>
        </p:nvSpPr>
        <p:spPr>
          <a:xfrm>
            <a:off x="11630025" y="3152775"/>
            <a:ext cx="547306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这一句用了什么写法</a:t>
            </a:r>
            <a:endParaRPr lang="en-US" sz="2325" dirty="0"/>
          </a:p>
        </p:txBody>
      </p:sp>
      <p:sp>
        <p:nvSpPr>
          <p:cNvPr id="12" name="Shape 8"/>
          <p:cNvSpPr/>
          <p:nvPr/>
        </p:nvSpPr>
        <p:spPr>
          <a:xfrm>
            <a:off x="1057275" y="3733800"/>
            <a:ext cx="16173450" cy="7905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1362075" y="3943350"/>
            <a:ext cx="106241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从我这个高度往下看，人只剩一顶帽子和两个肩膀</a:t>
            </a:r>
            <a:endParaRPr lang="en-US" sz="2175" dirty="0"/>
          </a:p>
        </p:txBody>
      </p:sp>
      <p:sp>
        <p:nvSpPr>
          <p:cNvPr id="14" name="Shape 10"/>
          <p:cNvSpPr/>
          <p:nvPr/>
        </p:nvSpPr>
        <p:spPr>
          <a:xfrm>
            <a:off x="11325225" y="3733800"/>
            <a:ext cx="9525" cy="7905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11639550" y="3943350"/>
            <a:ext cx="581501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位置变了，看到的世界跟着变</a:t>
            </a:r>
            <a:endParaRPr lang="en-US" sz="2175" dirty="0"/>
          </a:p>
        </p:txBody>
      </p:sp>
      <p:sp>
        <p:nvSpPr>
          <p:cNvPr id="16" name="Text 12"/>
          <p:cNvSpPr/>
          <p:nvPr/>
        </p:nvSpPr>
        <p:spPr>
          <a:xfrm>
            <a:off x="1362075" y="4733925"/>
            <a:ext cx="996638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谁从门口走过，我从脚步的震动里就能分出来</a:t>
            </a:r>
            <a:endParaRPr lang="en-US" sz="2175" dirty="0"/>
          </a:p>
        </p:txBody>
      </p:sp>
      <p:sp>
        <p:nvSpPr>
          <p:cNvPr id="17" name="Shape 13"/>
          <p:cNvSpPr/>
          <p:nvPr/>
        </p:nvSpPr>
        <p:spPr>
          <a:xfrm>
            <a:off x="11325225" y="4524375"/>
            <a:ext cx="9525" cy="116205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1639550" y="4733925"/>
            <a:ext cx="544496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只写这个身份才做得到的事：树有根，靠震动分辨</a:t>
            </a:r>
            <a:endParaRPr lang="en-US" sz="2175" dirty="0"/>
          </a:p>
        </p:txBody>
      </p:sp>
      <p:sp>
        <p:nvSpPr>
          <p:cNvPr id="19" name="Shape 15"/>
          <p:cNvSpPr/>
          <p:nvPr/>
        </p:nvSpPr>
        <p:spPr>
          <a:xfrm>
            <a:off x="1057275" y="5686425"/>
            <a:ext cx="16173450" cy="7905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1362075" y="5895975"/>
            <a:ext cx="106241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隔着一层树皮，我能感觉到他的背一起一伏</a:t>
            </a:r>
            <a:endParaRPr lang="en-US" sz="2175" dirty="0"/>
          </a:p>
        </p:txBody>
      </p:sp>
      <p:sp>
        <p:nvSpPr>
          <p:cNvPr id="21" name="Shape 17"/>
          <p:cNvSpPr/>
          <p:nvPr/>
        </p:nvSpPr>
        <p:spPr>
          <a:xfrm>
            <a:off x="11325225" y="5686425"/>
            <a:ext cx="9525" cy="7905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11639550" y="5895975"/>
            <a:ext cx="581501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最神奇的一处写详细：用树的身体去感觉</a:t>
            </a:r>
            <a:endParaRPr lang="en-US" sz="2175" dirty="0"/>
          </a:p>
        </p:txBody>
      </p:sp>
      <p:sp>
        <p:nvSpPr>
          <p:cNvPr id="23" name="Text 19"/>
          <p:cNvSpPr/>
          <p:nvPr/>
        </p:nvSpPr>
        <p:spPr>
          <a:xfrm>
            <a:off x="1362075" y="6686550"/>
            <a:ext cx="996638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我想把挂着露水的枝叶挪开他的头顶，可是我挪不动</a:t>
            </a:r>
            <a:endParaRPr lang="en-US" sz="2175" dirty="0"/>
          </a:p>
        </p:txBody>
      </p:sp>
      <p:sp>
        <p:nvSpPr>
          <p:cNvPr id="24" name="Shape 20"/>
          <p:cNvSpPr/>
          <p:nvPr/>
        </p:nvSpPr>
        <p:spPr>
          <a:xfrm>
            <a:off x="11325225" y="6477000"/>
            <a:ext cx="9525" cy="116205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11639550" y="6686550"/>
            <a:ext cx="544496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写它做不到的事，再接着写它做得到的那一点</a:t>
            </a:r>
            <a:endParaRPr lang="en-US" sz="2175" dirty="0"/>
          </a:p>
        </p:txBody>
      </p:sp>
      <p:sp>
        <p:nvSpPr>
          <p:cNvPr id="26" name="Shape 22"/>
          <p:cNvSpPr/>
          <p:nvPr/>
        </p:nvSpPr>
        <p:spPr>
          <a:xfrm>
            <a:off x="1057275" y="7639050"/>
            <a:ext cx="16173450" cy="116205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1362075" y="7848600"/>
            <a:ext cx="106241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过了好久，那哗啦哗啦的声响，仿佛还在我的枝叶间轻轻回荡</a:t>
            </a:r>
            <a:endParaRPr lang="en-US" sz="2175" dirty="0"/>
          </a:p>
        </p:txBody>
      </p:sp>
      <p:sp>
        <p:nvSpPr>
          <p:cNvPr id="28" name="Shape 24"/>
          <p:cNvSpPr/>
          <p:nvPr/>
        </p:nvSpPr>
        <p:spPr>
          <a:xfrm>
            <a:off x="11325225" y="7639050"/>
            <a:ext cx="9525" cy="116205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11639550" y="7848600"/>
            <a:ext cx="544496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结尾停在树最后的感受上，想说的话藏在里面</a:t>
            </a:r>
            <a:endParaRPr lang="en-US" sz="2175" dirty="0"/>
          </a:p>
        </p:txBody>
      </p:sp>
      <p:sp>
        <p:nvSpPr>
          <p:cNvPr id="30" name="Text 26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这几处的共同点：都是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树用身体感觉到的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：树皮、根，不是人的眼睛看到的。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059953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1073747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结尾没有写“我明白了什么”，而是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停在最后的感受上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16192500" cy="1415355"/>
          </a:xfrm>
          <a:prstGeom prst="roundRect">
            <a:avLst>
              <a:gd name="adj" fmla="val 12114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581150" y="3448050"/>
            <a:ext cx="15579471" cy="653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00"/>
              </a:lnSpc>
              <a:buNone/>
            </a:pPr>
            <a:r>
              <a:rPr lang="en-US" sz="28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“过了好久，那哗啦哗啦的声响，</a:t>
            </a:r>
            <a:pPr algn="l" indent="0" marL="0">
              <a:lnSpc>
                <a:spcPct val="129200"/>
              </a:lnSpc>
              <a:buNone/>
            </a:pPr>
            <a:r>
              <a:rPr lang="en-US" sz="285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仿佛还在我的枝叶间轻轻回荡</a:t>
            </a:r>
            <a:pPr algn="l" indent="0" marL="0">
              <a:lnSpc>
                <a:spcPct val="129200"/>
              </a:lnSpc>
              <a:buNone/>
            </a:pPr>
            <a:r>
              <a:rPr lang="en-US" sz="28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。”</a:t>
            </a:r>
            <a:endParaRPr lang="en-US" sz="2850" dirty="0"/>
          </a:p>
        </p:txBody>
      </p:sp>
      <p:sp>
        <p:nvSpPr>
          <p:cNvPr id="9" name="Shape 6"/>
          <p:cNvSpPr/>
          <p:nvPr/>
        </p:nvSpPr>
        <p:spPr>
          <a:xfrm>
            <a:off x="1047750" y="4762500"/>
            <a:ext cx="7886700" cy="228600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38275" y="5114925"/>
            <a:ext cx="781621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第一种</a:t>
            </a:r>
            <a:endParaRPr lang="en-US" sz="2325" dirty="0"/>
          </a:p>
        </p:txBody>
      </p:sp>
      <p:sp>
        <p:nvSpPr>
          <p:cNvPr id="11" name="Text 8"/>
          <p:cNvSpPr/>
          <p:nvPr/>
        </p:nvSpPr>
        <p:spPr>
          <a:xfrm>
            <a:off x="1438275" y="5695950"/>
            <a:ext cx="7816215" cy="525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停在</a:t>
            </a:r>
            <a:pPr algn="l" indent="0" marL="0">
              <a:lnSpc>
                <a:spcPct val="11625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最后的感受</a:t>
            </a:r>
            <a:pPr algn="l" indent="0" marL="0">
              <a:lnSpc>
                <a:spcPct val="11625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上，想说的话藏在这份感受里</a:t>
            </a:r>
            <a:endParaRPr lang="en-US" sz="2475" dirty="0"/>
          </a:p>
        </p:txBody>
      </p:sp>
      <p:sp>
        <p:nvSpPr>
          <p:cNvPr id="12" name="Shape 9"/>
          <p:cNvSpPr/>
          <p:nvPr/>
        </p:nvSpPr>
        <p:spPr>
          <a:xfrm>
            <a:off x="9353550" y="4762500"/>
            <a:ext cx="7886700" cy="228600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744075" y="5114925"/>
            <a:ext cx="781621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第二种</a:t>
            </a:r>
            <a:endParaRPr lang="en-US" sz="2325" dirty="0"/>
          </a:p>
        </p:txBody>
      </p:sp>
      <p:sp>
        <p:nvSpPr>
          <p:cNvPr id="14" name="Text 11"/>
          <p:cNvSpPr/>
          <p:nvPr/>
        </p:nvSpPr>
        <p:spPr>
          <a:xfrm>
            <a:off x="9744075" y="5695950"/>
            <a:ext cx="7816215" cy="5252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直接停在</a:t>
            </a:r>
            <a:pPr algn="l" indent="0" marL="0">
              <a:lnSpc>
                <a:spcPct val="11625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它最后看见的一处景物</a:t>
            </a:r>
            <a:pPr algn="l" indent="0" marL="0">
              <a:lnSpc>
                <a:spcPct val="11625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上，也可以</a:t>
            </a:r>
            <a:endParaRPr lang="en-US" sz="2475" dirty="0"/>
          </a:p>
        </p:txBody>
      </p:sp>
      <p:sp>
        <p:nvSpPr>
          <p:cNvPr id="15" name="Shape 12"/>
          <p:cNvSpPr/>
          <p:nvPr/>
        </p:nvSpPr>
        <p:spPr>
          <a:xfrm>
            <a:off x="1047750" y="7620000"/>
            <a:ext cx="16192500" cy="1381125"/>
          </a:xfrm>
          <a:prstGeom prst="roundRect">
            <a:avLst>
              <a:gd name="adj" fmla="val 1103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28750" y="7867650"/>
            <a:ext cx="1589341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请各选一句： 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整篇里读到哪一句，你觉得自己就站在树皮里面？参考：“隔着一层树皮，我能感觉到他的背一起一伏。”“扫帚蹭到我的细根，我痒了一下。”</a:t>
            </a:r>
            <a:endParaRPr lang="en-US" sz="2325" dirty="0"/>
          </a:p>
        </p:txBody>
      </p:sp>
      <p:sp>
        <p:nvSpPr>
          <p:cNvPr id="17" name="Text 14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两种结尾由自己定。请把变形视角表夹在稿纸里，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休息回来直接动笔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50292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866734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三种起笔 · 自由写作 · 变形分享会 · 同桌互读 · 修改收束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自由写作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15920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05310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整篇从哪里起笔：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三种方法，自己选一种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5168801" cy="3238500"/>
          </a:xfrm>
          <a:prstGeom prst="roundRect">
            <a:avLst>
              <a:gd name="adj" fmla="val 5294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19225" y="3305175"/>
            <a:ext cx="486843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45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4500" dirty="0"/>
          </a:p>
        </p:txBody>
      </p:sp>
      <p:sp>
        <p:nvSpPr>
          <p:cNvPr id="9" name="Text 6"/>
          <p:cNvSpPr/>
          <p:nvPr/>
        </p:nvSpPr>
        <p:spPr>
          <a:xfrm>
            <a:off x="1419225" y="4067175"/>
            <a:ext cx="4558626" cy="1452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变成它的那一刻 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起笔，怎么变的一句带过，接着写它看见的世界</a:t>
            </a:r>
            <a:endParaRPr lang="en-US" sz="2475" dirty="0"/>
          </a:p>
        </p:txBody>
      </p:sp>
      <p:sp>
        <p:nvSpPr>
          <p:cNvPr id="10" name="Shape 7"/>
          <p:cNvSpPr/>
          <p:nvPr/>
        </p:nvSpPr>
        <p:spPr>
          <a:xfrm>
            <a:off x="6559451" y="2952750"/>
            <a:ext cx="5168950" cy="3238500"/>
          </a:xfrm>
          <a:prstGeom prst="roundRect">
            <a:avLst>
              <a:gd name="adj" fmla="val 5294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930926" y="3305175"/>
            <a:ext cx="48686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45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4500" dirty="0"/>
          </a:p>
        </p:txBody>
      </p:sp>
      <p:sp>
        <p:nvSpPr>
          <p:cNvPr id="12" name="Text 9"/>
          <p:cNvSpPr/>
          <p:nvPr/>
        </p:nvSpPr>
        <p:spPr>
          <a:xfrm>
            <a:off x="6930926" y="4086225"/>
            <a:ext cx="390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endParaRPr lang="en-US" sz="2475" dirty="0"/>
          </a:p>
        </p:txBody>
      </p:sp>
      <p:sp>
        <p:nvSpPr>
          <p:cNvPr id="13" name="Text 10"/>
          <p:cNvSpPr/>
          <p:nvPr/>
        </p:nvSpPr>
        <p:spPr>
          <a:xfrm>
            <a:off x="7245251" y="4086225"/>
            <a:ext cx="13830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它的身份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6930926" y="4086225"/>
            <a:ext cx="4532567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起笔：先写它多大、在哪里、能做什么、做不到什么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6930926" y="5143500"/>
            <a:ext cx="48686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老师的示范文用的是这一种。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12071300" y="2952750"/>
            <a:ext cx="5168950" cy="3238500"/>
          </a:xfrm>
          <a:prstGeom prst="roundRect">
            <a:avLst>
              <a:gd name="adj" fmla="val 5294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2442775" y="3305175"/>
            <a:ext cx="48686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49"/>
              </a:lnSpc>
              <a:buNone/>
            </a:pPr>
            <a:r>
              <a:rPr lang="en-US" sz="45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4500" dirty="0"/>
          </a:p>
        </p:txBody>
      </p:sp>
      <p:sp>
        <p:nvSpPr>
          <p:cNvPr id="18" name="Text 15"/>
          <p:cNvSpPr/>
          <p:nvPr/>
        </p:nvSpPr>
        <p:spPr>
          <a:xfrm>
            <a:off x="12442775" y="4067175"/>
            <a:ext cx="4558780" cy="1452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直接从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第五格那一刻 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起笔，先写最神奇的一处，再回头交代自己是什么</a:t>
            </a:r>
            <a:endParaRPr lang="en-US" sz="2475" dirty="0"/>
          </a:p>
        </p:txBody>
      </p:sp>
      <p:sp>
        <p:nvSpPr>
          <p:cNvPr id="19" name="Shape 16"/>
          <p:cNvSpPr/>
          <p:nvPr/>
        </p:nvSpPr>
        <p:spPr>
          <a:xfrm>
            <a:off x="1047750" y="6667500"/>
            <a:ext cx="16192500" cy="952500"/>
          </a:xfrm>
          <a:prstGeom prst="roundRect">
            <a:avLst>
              <a:gd name="adj" fmla="val 16000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428750" y="6915150"/>
            <a:ext cx="169735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请在表上把你要起笔的那一格</a:t>
            </a:r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标上“1”</a:t>
            </a:r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，先只写这一处，写两三句即可。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哪一种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写起来最顺、最有话说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，就选哪一种。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自由写作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490552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447405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整篇写作，记住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3337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40995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38325" y="3371850"/>
            <a:ext cx="5964936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8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从头到尾用“我”，</a:t>
            </a:r>
            <a:pPr algn="l" indent="0" marL="0">
              <a:lnSpc>
                <a:spcPct val="114000"/>
              </a:lnSpc>
              <a:buNone/>
            </a:pPr>
            <a:r>
              <a:rPr lang="en-US" sz="28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不跳回人的角度</a:t>
            </a:r>
            <a:endParaRPr lang="en-US" sz="2850" dirty="0"/>
          </a:p>
        </p:txBody>
      </p:sp>
      <p:sp>
        <p:nvSpPr>
          <p:cNvPr id="10" name="Shape 7"/>
          <p:cNvSpPr/>
          <p:nvPr/>
        </p:nvSpPr>
        <p:spPr>
          <a:xfrm>
            <a:off x="1047750" y="431482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391025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38325" y="4352925"/>
            <a:ext cx="8574596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8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只写它看得到、做得到的事，也写</a:t>
            </a:r>
            <a:pPr algn="l" indent="0" marL="0">
              <a:lnSpc>
                <a:spcPct val="114000"/>
              </a:lnSpc>
              <a:buNone/>
            </a:pPr>
            <a:r>
              <a:rPr lang="en-US" sz="28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一件它做不到的事</a:t>
            </a:r>
            <a:endParaRPr lang="en-US" sz="2850" dirty="0"/>
          </a:p>
        </p:txBody>
      </p:sp>
      <p:sp>
        <p:nvSpPr>
          <p:cNvPr id="13" name="Shape 10"/>
          <p:cNvSpPr/>
          <p:nvPr/>
        </p:nvSpPr>
        <p:spPr>
          <a:xfrm>
            <a:off x="1047750" y="52959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3721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38325" y="5334000"/>
            <a:ext cx="11929872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8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最神奇的那一处写详细</a:t>
            </a:r>
            <a:pPr algn="l" indent="0" marL="0">
              <a:lnSpc>
                <a:spcPct val="114000"/>
              </a:lnSpc>
              <a:buNone/>
            </a:pPr>
            <a:r>
              <a:rPr lang="en-US" sz="28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：看见什么、身体有什么反应、接下来又看见什么</a:t>
            </a:r>
            <a:endParaRPr lang="en-US" sz="2850" dirty="0"/>
          </a:p>
        </p:txBody>
      </p:sp>
      <p:sp>
        <p:nvSpPr>
          <p:cNvPr id="16" name="Text 13"/>
          <p:cNvSpPr/>
          <p:nvPr/>
        </p:nvSpPr>
        <p:spPr>
          <a:xfrm>
            <a:off x="1047750" y="8162925"/>
            <a:ext cx="11674793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这个学期的习作在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五百字上下 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，写到六百字也可以。写不完的，先把最神奇的一处和结尾一句写完。</a:t>
            </a:r>
            <a:endParaRPr lang="en-US" sz="2325" dirty="0"/>
          </a:p>
        </p:txBody>
      </p:sp>
      <p:sp>
        <p:nvSpPr>
          <p:cNvPr id="17" name="Shape 14"/>
          <p:cNvSpPr/>
          <p:nvPr/>
        </p:nvSpPr>
        <p:spPr>
          <a:xfrm>
            <a:off x="12728377" y="8791575"/>
            <a:ext cx="4511873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3109377" y="8982075"/>
            <a:ext cx="412486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写作时间约 25 分钟</a:t>
            </a:r>
            <a:endParaRPr lang="en-US" sz="2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交流评议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56595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50052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变形分享会：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闭上眼睛听，猜他变成了什么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2956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143250"/>
            <a:ext cx="8434387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三位同学各读最神奇的那一段，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跳过交代身份的句子</a:t>
            </a:r>
            <a:endParaRPr lang="en-US" sz="2625" dirty="0"/>
          </a:p>
        </p:txBody>
      </p:sp>
      <p:sp>
        <p:nvSpPr>
          <p:cNvPr id="9" name="Shape 6"/>
          <p:cNvSpPr/>
          <p:nvPr/>
        </p:nvSpPr>
        <p:spPr>
          <a:xfrm>
            <a:off x="1047750" y="4102894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3950494"/>
            <a:ext cx="5867400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其余同学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闭上眼睛听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，只听不看稿子</a:t>
            </a:r>
            <a:endParaRPr lang="en-US" sz="2625" dirty="0"/>
          </a:p>
        </p:txBody>
      </p:sp>
      <p:sp>
        <p:nvSpPr>
          <p:cNvPr id="11" name="Shape 8"/>
          <p:cNvSpPr/>
          <p:nvPr/>
        </p:nvSpPr>
        <p:spPr>
          <a:xfrm>
            <a:off x="1047750" y="4910138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4757738"/>
            <a:ext cx="9634157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两位同学说三件事：眼前看见了什么，他变成了什么，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从哪一句猜出来的</a:t>
            </a:r>
            <a:endParaRPr lang="en-US" sz="262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238500"/>
            <a:ext cx="4953000" cy="3810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47750" y="7371457"/>
            <a:ext cx="16192500" cy="1486793"/>
          </a:xfrm>
          <a:prstGeom prst="roundRect">
            <a:avLst>
              <a:gd name="adj" fmla="val 11532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1466850" y="7657207"/>
            <a:ext cx="15814929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被猜出来，是因为那一段里有几句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只有它才会遇到的事 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；没有被猜出来，不是写得不好，是那一段还在用人的眼光看世界。</a:t>
            </a:r>
            <a:endParaRPr lang="en-US" sz="2325" dirty="0"/>
          </a:p>
        </p:txBody>
      </p:sp>
      <p:sp>
        <p:nvSpPr>
          <p:cNvPr id="16" name="Text 1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听众说“换成人也是这样”的同学，请记下这一处，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稍后就改这一段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交流评议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56595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50052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和同桌交换习作，在稿子末尾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写下一个问题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1432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21945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200400"/>
            <a:ext cx="8241030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通读一遍同桌的故事，写下一个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你读完还想知道的问题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3988594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064794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045744"/>
            <a:ext cx="9231916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要写成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一个问句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，问他那个世界里的事，不写“写得很好”“很有想象力”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5317331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393531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374481"/>
            <a:ext cx="9231916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问的正是你最神奇的那一处，就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把答案补进去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；问的是别处，记下即可</a:t>
            </a:r>
            <a:endParaRPr lang="en-US" sz="262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238500"/>
            <a:ext cx="4953000" cy="409575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7905750"/>
            <a:ext cx="16192500" cy="952500"/>
          </a:xfrm>
          <a:prstGeom prst="roundRect">
            <a:avLst>
              <a:gd name="adj" fmla="val 16000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28750" y="8153400"/>
            <a:ext cx="169735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举个例子：</a:t>
            </a:r>
            <a:pPr algn="l" indent="0" marL="0">
              <a:lnSpc>
                <a:spcPct val="114286"/>
              </a:lnSpc>
              <a:buNone/>
            </a:pPr>
            <a:r>
              <a:rPr lang="en-US" sz="240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他变成了井盖，可以问他：</a:t>
            </a:r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下雨的时候你怎么办</a:t>
            </a:r>
            <a:pPr algn="l" indent="0" marL="0">
              <a:lnSpc>
                <a:spcPct val="114286"/>
              </a:lnSpc>
              <a:buNone/>
            </a:pPr>
            <a:r>
              <a:rPr lang="en-US" sz="240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问题写得出来，就说明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他对你的世界有兴趣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修改收束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531227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4921478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对照三档标准，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只改一处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85750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从下往上看，先看看自己今天到了哪一档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3448050"/>
            <a:ext cx="16192500" cy="862013"/>
          </a:xfrm>
          <a:prstGeom prst="roundRect">
            <a:avLst>
              <a:gd name="adj" fmla="val 1105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47750" y="3448050"/>
            <a:ext cx="76200" cy="862013"/>
          </a:xfrm>
          <a:prstGeom prst="rect">
            <a:avLst/>
          </a:prstGeom>
          <a:solidFill>
            <a:srgbClr val="9AA6B6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47800" y="3657600"/>
            <a:ext cx="1701546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基础过关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我从头到尾用“我”说，没有中途变回人，读的人看得出我变成了什么。</a:t>
            </a:r>
            <a:endParaRPr lang="en-US" sz="2325" dirty="0"/>
          </a:p>
        </p:txBody>
      </p:sp>
      <p:sp>
        <p:nvSpPr>
          <p:cNvPr id="11" name="Shape 8"/>
          <p:cNvSpPr/>
          <p:nvPr/>
        </p:nvSpPr>
        <p:spPr>
          <a:xfrm>
            <a:off x="1047750" y="4500563"/>
            <a:ext cx="16192500" cy="862013"/>
          </a:xfrm>
          <a:prstGeom prst="roundRect">
            <a:avLst>
              <a:gd name="adj" fmla="val 11050"/>
            </a:avLst>
          </a:prstGeom>
          <a:solidFill>
            <a:srgbClr val="FBF3E6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1047750" y="4500563"/>
            <a:ext cx="76200" cy="862013"/>
          </a:xfrm>
          <a:prstGeom prst="rect">
            <a:avLst/>
          </a:prstGeom>
          <a:solidFill>
            <a:srgbClr val="E0A43B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47800" y="4710113"/>
            <a:ext cx="1701546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良好达标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我写出了三样只有它才看得到、做得到的事，还写了一样它做不到的。</a:t>
            </a:r>
            <a:endParaRPr lang="en-US" sz="2325" dirty="0"/>
          </a:p>
        </p:txBody>
      </p:sp>
      <p:sp>
        <p:nvSpPr>
          <p:cNvPr id="14" name="Shape 11"/>
          <p:cNvSpPr/>
          <p:nvPr/>
        </p:nvSpPr>
        <p:spPr>
          <a:xfrm>
            <a:off x="1047750" y="5553075"/>
            <a:ext cx="16192500" cy="862013"/>
          </a:xfrm>
          <a:prstGeom prst="roundRect">
            <a:avLst>
              <a:gd name="adj" fmla="val 11050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1047750" y="5553075"/>
            <a:ext cx="76200" cy="862013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47800" y="5762625"/>
            <a:ext cx="1701546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优秀进阶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我最神奇的那一处写了不止一句，闭着眼睛听的人说得出眼前看见了什么。</a:t>
            </a:r>
            <a:endParaRPr lang="en-US" sz="2325" dirty="0"/>
          </a:p>
        </p:txBody>
      </p:sp>
      <p:sp>
        <p:nvSpPr>
          <p:cNvPr id="17" name="Shape 14"/>
          <p:cNvSpPr/>
          <p:nvPr/>
        </p:nvSpPr>
        <p:spPr>
          <a:xfrm>
            <a:off x="1047750" y="6667500"/>
            <a:ext cx="7886700" cy="1352550"/>
          </a:xfrm>
          <a:prstGeom prst="roundRect">
            <a:avLst>
              <a:gd name="adj" fmla="val 11268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390650" y="6915150"/>
            <a:ext cx="741692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分享会上被说“换成人也是这样”的，往那一段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补一句只有它才会感觉到的事</a:t>
            </a:r>
            <a:endParaRPr lang="en-US" sz="2250" dirty="0"/>
          </a:p>
        </p:txBody>
      </p:sp>
      <p:sp>
        <p:nvSpPr>
          <p:cNvPr id="19" name="Shape 16"/>
          <p:cNvSpPr/>
          <p:nvPr/>
        </p:nvSpPr>
        <p:spPr>
          <a:xfrm>
            <a:off x="9353550" y="6667500"/>
            <a:ext cx="7886700" cy="1352550"/>
          </a:xfrm>
          <a:prstGeom prst="roundRect">
            <a:avLst>
              <a:gd name="adj" fmla="val 11268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696450" y="6915150"/>
            <a:ext cx="741692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被同桌问到最神奇那一处的，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把答案补进去 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；两处都不用改的，检查结尾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047750" y="8605838"/>
            <a:ext cx="1246822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改完通读一遍，用修改符号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把多的字划掉，漏的字补上，错的字改正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22" name="Shape 19"/>
          <p:cNvSpPr/>
          <p:nvPr/>
        </p:nvSpPr>
        <p:spPr>
          <a:xfrm>
            <a:off x="12951619" y="8791575"/>
            <a:ext cx="4288631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3332619" y="8982075"/>
            <a:ext cx="387929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修改时间约 4 分钟</a:t>
            </a:r>
            <a:endParaRPr lang="en-US" sz="2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6858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45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这一课的写法：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换一双它的眼睛看世界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4480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295650"/>
            <a:ext cx="1007935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先定自己是什么、多大、在哪里、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做得到什么、做不到什么</a:t>
            </a:r>
            <a:endParaRPr lang="en-US" sz="2775" dirty="0"/>
          </a:p>
        </p:txBody>
      </p:sp>
      <p:sp>
        <p:nvSpPr>
          <p:cNvPr id="9" name="Shape 6"/>
          <p:cNvSpPr/>
          <p:nvPr/>
        </p:nvSpPr>
        <p:spPr>
          <a:xfrm>
            <a:off x="1047750" y="4357688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205288"/>
            <a:ext cx="542734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再从头到尾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站在它的身体里说话</a:t>
            </a:r>
            <a:endParaRPr lang="en-US" sz="2775" dirty="0"/>
          </a:p>
        </p:txBody>
      </p:sp>
      <p:sp>
        <p:nvSpPr>
          <p:cNvPr id="11" name="Shape 8"/>
          <p:cNvSpPr/>
          <p:nvPr/>
        </p:nvSpPr>
        <p:spPr>
          <a:xfrm>
            <a:off x="1047750" y="5267325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5114925"/>
            <a:ext cx="969168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最神奇的一处写详细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，结尾停在它最后的感受或画面上</a:t>
            </a:r>
            <a:endParaRPr lang="en-US" sz="27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0" y="3333750"/>
            <a:ext cx="4953000" cy="4572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以后写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任何想象类的习作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都用得上：写科幻故事，写另一个时代的人，也按这个思路来写。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20234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 · 习作讲评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8504039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1562100"/>
            <a:ext cx="85162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习作讲评环节</a:t>
            </a:r>
            <a:pPr algn="l" indent="0" marL="0"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（可选 · 课后或下次课开场）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571750"/>
            <a:ext cx="182308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从当堂完成的习作里挑两三篇投屏（隐去姓名），每篇约三到五分钟，只看两件事：换没换上它的眼睛，最神奇的一处写没写详细。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3295650"/>
            <a:ext cx="5181600" cy="4381500"/>
          </a:xfrm>
          <a:prstGeom prst="roundRect">
            <a:avLst>
              <a:gd name="adj" fmla="val 3913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3305175"/>
            <a:ext cx="5162550" cy="762000"/>
          </a:xfrm>
          <a:custGeom>
            <a:avLst/>
            <a:gdLst/>
            <a:ahLst/>
            <a:cxnLst/>
            <a:rect l="l" t="t" r="r" b="b"/>
            <a:pathLst>
              <a:path w="5162550" h="762000">
                <a:moveTo>
                  <a:pt x="171450" y="0"/>
                </a:moveTo>
                <a:lnTo>
                  <a:pt x="4991100" y="0"/>
                </a:lnTo>
                <a:arcTo hR="171450" wR="171450" stAng="16200000" swAng="5400000"/>
                <a:lnTo>
                  <a:pt x="5162550" y="762000"/>
                </a:lnTo>
                <a:lnTo>
                  <a:pt x="0" y="76200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4E9A57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3305175"/>
            <a:ext cx="5162550" cy="762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3975" y="349567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一篇好的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1343025" y="4352925"/>
            <a:ext cx="4745926" cy="3067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从头到尾用“我”，有几句换成人就不成立，最神奇的一处写细了，还写了它做不到的事。 读他写做不到的那一句：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做不到的事写出来，读的人反而更信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13" name="Shape 9"/>
          <p:cNvSpPr/>
          <p:nvPr/>
        </p:nvSpPr>
        <p:spPr>
          <a:xfrm>
            <a:off x="6553200" y="3295650"/>
            <a:ext cx="5181600" cy="4381500"/>
          </a:xfrm>
          <a:prstGeom prst="roundRect">
            <a:avLst>
              <a:gd name="adj" fmla="val 3913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562725" y="3305175"/>
            <a:ext cx="5162550" cy="762000"/>
          </a:xfrm>
          <a:custGeom>
            <a:avLst/>
            <a:gdLst/>
            <a:ahLst/>
            <a:cxnLst/>
            <a:rect l="l" t="t" r="r" b="b"/>
            <a:pathLst>
              <a:path w="5162550" h="762000">
                <a:moveTo>
                  <a:pt x="171450" y="0"/>
                </a:moveTo>
                <a:lnTo>
                  <a:pt x="4991100" y="0"/>
                </a:lnTo>
                <a:arcTo hR="171450" wR="171450" stAng="16200000" swAng="5400000"/>
                <a:lnTo>
                  <a:pt x="5162550" y="762000"/>
                </a:lnTo>
                <a:lnTo>
                  <a:pt x="0" y="76200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E0A43B"/>
          </a:solidFill>
          <a:ln/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305175"/>
            <a:ext cx="5162550" cy="762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29425" y="349567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一篇中等的</a:t>
            </a:r>
            <a:endParaRPr lang="en-US" sz="2250" dirty="0"/>
          </a:p>
        </p:txBody>
      </p:sp>
      <p:sp>
        <p:nvSpPr>
          <p:cNvPr id="17" name="Text 12"/>
          <p:cNvSpPr/>
          <p:nvPr/>
        </p:nvSpPr>
        <p:spPr>
          <a:xfrm>
            <a:off x="6848475" y="4352925"/>
            <a:ext cx="4745926" cy="3067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变形对象选得有意思，可是该写详细的那一刻一带而过，或者结尾跳回人的角度讲了一段道理。 全班帮他想一想：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这一刻，它还能感觉到什么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250" dirty="0"/>
          </a:p>
        </p:txBody>
      </p:sp>
      <p:sp>
        <p:nvSpPr>
          <p:cNvPr id="18" name="Shape 13"/>
          <p:cNvSpPr/>
          <p:nvPr/>
        </p:nvSpPr>
        <p:spPr>
          <a:xfrm>
            <a:off x="12058650" y="3295650"/>
            <a:ext cx="5181600" cy="4381500"/>
          </a:xfrm>
          <a:prstGeom prst="roundRect">
            <a:avLst>
              <a:gd name="adj" fmla="val 3913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12068175" y="3305175"/>
            <a:ext cx="5162550" cy="762000"/>
          </a:xfrm>
          <a:custGeom>
            <a:avLst/>
            <a:gdLst/>
            <a:ahLst/>
            <a:cxnLst/>
            <a:rect l="l" t="t" r="r" b="b"/>
            <a:pathLst>
              <a:path w="5162550" h="762000">
                <a:moveTo>
                  <a:pt x="171450" y="0"/>
                </a:moveTo>
                <a:lnTo>
                  <a:pt x="4991100" y="0"/>
                </a:lnTo>
                <a:arcTo hR="171450" wR="171450" stAng="16200000" swAng="5400000"/>
                <a:lnTo>
                  <a:pt x="5162550" y="762000"/>
                </a:lnTo>
                <a:lnTo>
                  <a:pt x="0" y="76200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8175" y="3305175"/>
            <a:ext cx="5162550" cy="7620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34875" y="349567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一篇待改进的</a:t>
            </a:r>
            <a:endParaRPr lang="en-US" sz="2250" dirty="0"/>
          </a:p>
        </p:txBody>
      </p:sp>
      <p:sp>
        <p:nvSpPr>
          <p:cNvPr id="22" name="Text 16"/>
          <p:cNvSpPr/>
          <p:nvPr/>
        </p:nvSpPr>
        <p:spPr>
          <a:xfrm>
            <a:off x="12353925" y="4352925"/>
            <a:ext cx="4745926" cy="3067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经历写了不少，可是每一句换成人也一样，它的眼睛没有用上。 两个改法：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按它的大小和位置重新写它看到的景物，或者添一件它做不到的事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23" name="Text 17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投屏的句子一律换成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本班学生真实习作里的原句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，不用虚构的例子。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943100" y="3657600"/>
            <a:ext cx="8064892" cy="1900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7"/>
              </a:lnSpc>
              <a:buNone/>
            </a:pPr>
            <a:r>
              <a:rPr lang="en-US" sz="12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END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2057400" y="5676900"/>
            <a:ext cx="13411200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28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换一双它的眼睛看世界：站在它的身体里说话，把最神奇的一处写详细。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792200" y="8058150"/>
            <a:ext cx="2095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下一次再见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5925800" y="8039100"/>
            <a:ext cx="419100" cy="533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0" y="8039100"/>
            <a:ext cx="419100" cy="53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2026-09-15T05:40:15Z</dcterms:created>
  <dcterms:modified xsi:type="dcterms:W3CDTF">2026-09-15T05:40:15Z</dcterms:modified>
</cp:coreProperties>
</file>